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Subscriptions</c:v>
                </c:pt>
              </c:strCache>
            </c:strRef>
          </c:tx>
          <c:spPr>
            <a:solidFill>
              <a:srgbClr val="6C4FE0"/>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Sheet1!$B$2:$B$6</c:f>
              <c:numCache>
                <c:formatCode>General</c:formatCode>
                <c:ptCount val="5"/>
                <c:pt idx="0">
                  <c:v>0.026</c:v>
                </c:pt>
                <c:pt idx="1">
                  <c:v>0.151</c:v>
                </c:pt>
                <c:pt idx="2">
                  <c:v>0.475</c:v>
                </c:pt>
                <c:pt idx="3">
                  <c:v>1.118</c:v>
                </c:pt>
                <c:pt idx="4">
                  <c:v>2.102</c:v>
                </c:pt>
              </c:numCache>
            </c:numRef>
          </c:val>
        </c:ser>
        <c:ser>
          <c:idx val="1"/>
          <c:order val="1"/>
          <c:tx>
            <c:strRef>
              <c:f>Sheet1!$C$1</c:f>
              <c:strCache>
                <c:ptCount val="1"/>
                <c:pt idx="0">
                  <c:v>Business cohorts</c:v>
                </c:pt>
              </c:strCache>
            </c:strRef>
          </c:tx>
          <c:spPr>
            <a:solidFill>
              <a:srgbClr val="178A4C"/>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Sheet1!$C$2:$C$6</c:f>
              <c:numCache>
                <c:formatCode>General</c:formatCode>
                <c:ptCount val="5"/>
                <c:pt idx="0">
                  <c:v>0</c:v>
                </c:pt>
                <c:pt idx="1">
                  <c:v>0</c:v>
                </c:pt>
                <c:pt idx="2">
                  <c:v>0.078</c:v>
                </c:pt>
                <c:pt idx="3">
                  <c:v>0.295</c:v>
                </c:pt>
                <c:pt idx="4">
                  <c:v>0.68</c:v>
                </c:pt>
              </c:numCache>
            </c:numRef>
          </c:val>
        </c:ser>
        <c:ser>
          <c:idx val="2"/>
          <c:order val="2"/>
          <c:tx>
            <c:strRef>
              <c:f>Sheet1!$D$1</c:f>
              <c:strCache>
                <c:ptCount val="1"/>
                <c:pt idx="0">
                  <c:v>Books, cards, merch, YouTube</c:v>
                </c:pt>
              </c:strCache>
            </c:strRef>
          </c:tx>
          <c:spPr>
            <a:solidFill>
              <a:srgbClr val="F0B429"/>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Sheet1!$D$2:$D$6</c:f>
              <c:numCache>
                <c:formatCode>General</c:formatCode>
                <c:ptCount val="5"/>
                <c:pt idx="0">
                  <c:v>0</c:v>
                </c:pt>
                <c:pt idx="1">
                  <c:v>0.008</c:v>
                </c:pt>
                <c:pt idx="2">
                  <c:v>0.048</c:v>
                </c:pt>
                <c:pt idx="3">
                  <c:v>0.14</c:v>
                </c:pt>
                <c:pt idx="4">
                  <c:v>0.309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436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DCF2"/>
              </a:solidFill>
              <a:prstDash val="solid"/>
              <a:round/>
            </a:ln>
          </c:spPr>
        </c:majorGridlines>
        <c:title>
          <c:tx>
            <c:rich>
              <a:bodyPr/>
              <a:lstStyle/>
              <a:p>
                <a:pPr>
                  <a:defRPr sz="1000" b="0" i="0" u="none" strike="noStrike">
                    <a:solidFill>
                      <a:srgbClr val="7A7291"/>
                    </a:solidFill>
                    <a:latin typeface="Arial"/>
                  </a:defRPr>
                </a:pPr>
                <a:r>
                  <a:rPr sz="1000" b="0" i="0" u="none" strike="noStrike">
                    <a:solidFill>
                      <a:srgbClr val="7A7291"/>
                    </a:solidFill>
                    <a:latin typeface="Arial"/>
                  </a:rPr>
                  <a:t>Revenue, $M</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436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436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is the parent brand. Bizzing Bee is the first product, not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is deliberately about the child at 25, not the child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Culture is free and shareable; the language pack inside it is paid. That is the freemium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Bee — The best place in the world to prepare for a spelling bee.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India — A child who knows where they came from, and finds it genuinely interesting rather than dutiful.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Bhasha — The grandparent and the grandchild can hold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Eleven — The 11+ verbal paper stops being a mystery a family has to buy tutoring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Buzz — A child who cannot read yet still plays with words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English — A child who owns the language, rather than one who passes tests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Maths — A child who is fast and fearless with numbers, and knows why the trick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Business — A sixteen-year-old who has built something, pitched it to a room, and can explain why it worked or why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AI — A child who can build with AI, not just talk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pushed back on treating "needs teachers" as a risk. It is the moat.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prices, splits or targets anywhere — those are the CMO’s to set. This slide fixes what the streams are and the order they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is deliberately narrow and the caveats are on the slide: cash profit with unpaid founders, and deferred revenue means the P&amp;L lags the bank. Both are stated so nobody discovers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18% paid cap makes organic acquisition load-bearing. If only one metric survives, it is week-two return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explicit: never losing money and growing fast are not both available. This deck chooses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cash need $0. Break-even week 1. The two things that genuinely hurt are a price cut and a product families do not return to — not a slow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businesses, one asset. The hook half matters more: the finance model needs 58-83% of households earned rather than bought, and a free culturally-native game is the cheapest earning asset available. The shelf half is real but must stay pre-order funded or it breaks the week-one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Ranked by return on unlock, not by size. Bee networks and Amazon are near-free and should start in Year 1; districts are a 9–18 month enterprise sale and should 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brief, not a contact sheet. The NSF angle is the strongest because the product is already built to their word lists — that is verifiable in the repo (nsf-vocab26-data.js, nsf-finals500-data.js).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8092440" y="566928"/>
            <a:ext cx="914400" cy="914400"/>
          </a:xfrm>
          <a:prstGeom prst="hexagon">
            <a:avLst/>
          </a:prstGeom>
          <a:solidFill>
            <a:srgbClr val="F0B429">
              <a:alpha val="16000"/>
            </a:srgbClr>
          </a:solidFill>
          <a:ln/>
        </p:spPr>
      </p:sp>
      <p:sp>
        <p:nvSpPr>
          <p:cNvPr id="3" name="Shape 1"/>
          <p:cNvSpPr/>
          <p:nvPr/>
        </p:nvSpPr>
        <p:spPr>
          <a:xfrm rot="5400000">
            <a:off x="9235440" y="566928"/>
            <a:ext cx="914400" cy="914400"/>
          </a:xfrm>
          <a:prstGeom prst="hexagon">
            <a:avLst/>
          </a:prstGeom>
          <a:solidFill>
            <a:srgbClr val="F0B429">
              <a:alpha val="16000"/>
            </a:srgbClr>
          </a:solidFill>
          <a:ln/>
        </p:spPr>
      </p:sp>
      <p:sp>
        <p:nvSpPr>
          <p:cNvPr id="4" name="Shape 2"/>
          <p:cNvSpPr/>
          <p:nvPr/>
        </p:nvSpPr>
        <p:spPr>
          <a:xfrm rot="5400000">
            <a:off x="10378440" y="566928"/>
            <a:ext cx="914400" cy="914400"/>
          </a:xfrm>
          <a:prstGeom prst="hexagon">
            <a:avLst/>
          </a:prstGeom>
          <a:solidFill>
            <a:srgbClr val="F0B429">
              <a:alpha val="16000"/>
            </a:srgbClr>
          </a:solidFill>
          <a:ln/>
        </p:spPr>
      </p:sp>
      <p:sp>
        <p:nvSpPr>
          <p:cNvPr id="5" name="Shape 3"/>
          <p:cNvSpPr/>
          <p:nvPr/>
        </p:nvSpPr>
        <p:spPr>
          <a:xfrm rot="5400000">
            <a:off x="8663940" y="1549908"/>
            <a:ext cx="914400" cy="914400"/>
          </a:xfrm>
          <a:prstGeom prst="hexagon">
            <a:avLst/>
          </a:prstGeom>
          <a:solidFill>
            <a:srgbClr val="F0B429">
              <a:alpha val="16000"/>
            </a:srgbClr>
          </a:solidFill>
          <a:ln/>
        </p:spPr>
      </p:sp>
      <p:sp>
        <p:nvSpPr>
          <p:cNvPr id="6" name="Shape 4"/>
          <p:cNvSpPr/>
          <p:nvPr/>
        </p:nvSpPr>
        <p:spPr>
          <a:xfrm rot="5400000">
            <a:off x="9806940" y="1549908"/>
            <a:ext cx="914400" cy="914400"/>
          </a:xfrm>
          <a:prstGeom prst="hexagon">
            <a:avLst/>
          </a:prstGeom>
          <a:solidFill>
            <a:srgbClr val="F0B429">
              <a:alpha val="16000"/>
            </a:srgbClr>
          </a:solidFill>
          <a:ln/>
        </p:spPr>
      </p:sp>
      <p:sp>
        <p:nvSpPr>
          <p:cNvPr id="7" name="Shape 5"/>
          <p:cNvSpPr/>
          <p:nvPr/>
        </p:nvSpPr>
        <p:spPr>
          <a:xfrm rot="5400000">
            <a:off x="10949940" y="1549908"/>
            <a:ext cx="914400" cy="914400"/>
          </a:xfrm>
          <a:prstGeom prst="hexagon">
            <a:avLst/>
          </a:prstGeom>
          <a:solidFill>
            <a:srgbClr val="F0B429">
              <a:alpha val="16000"/>
            </a:srgbClr>
          </a:solidFill>
          <a:ln/>
        </p:spPr>
      </p:sp>
      <p:sp>
        <p:nvSpPr>
          <p:cNvPr id="8" name="Shape 6"/>
          <p:cNvSpPr/>
          <p:nvPr/>
        </p:nvSpPr>
        <p:spPr>
          <a:xfrm rot="5400000">
            <a:off x="8092440" y="2532888"/>
            <a:ext cx="914400" cy="914400"/>
          </a:xfrm>
          <a:prstGeom prst="hexagon">
            <a:avLst/>
          </a:prstGeom>
          <a:solidFill>
            <a:srgbClr val="F0B429">
              <a:alpha val="16000"/>
            </a:srgbClr>
          </a:solidFill>
          <a:ln/>
        </p:spPr>
      </p:sp>
      <p:sp>
        <p:nvSpPr>
          <p:cNvPr id="9" name="Shape 7"/>
          <p:cNvSpPr/>
          <p:nvPr/>
        </p:nvSpPr>
        <p:spPr>
          <a:xfrm rot="5400000">
            <a:off x="9235440" y="2532888"/>
            <a:ext cx="914400" cy="914400"/>
          </a:xfrm>
          <a:prstGeom prst="hexagon">
            <a:avLst/>
          </a:prstGeom>
          <a:solidFill>
            <a:srgbClr val="F0B429">
              <a:alpha val="16000"/>
            </a:srgbClr>
          </a:solidFill>
          <a:ln/>
        </p:spPr>
      </p:sp>
      <p:sp>
        <p:nvSpPr>
          <p:cNvPr id="10" name="Shape 8"/>
          <p:cNvSpPr/>
          <p:nvPr/>
        </p:nvSpPr>
        <p:spPr>
          <a:xfrm rot="5400000">
            <a:off x="10378440" y="2532888"/>
            <a:ext cx="914400" cy="914400"/>
          </a:xfrm>
          <a:prstGeom prst="hexagon">
            <a:avLst/>
          </a:prstGeom>
          <a:solidFill>
            <a:srgbClr val="F0B429">
              <a:alpha val="16000"/>
            </a:srgbClr>
          </a:solidFill>
          <a:ln/>
        </p:spPr>
      </p:sp>
      <p:pic>
        <p:nvPicPr>
          <p:cNvPr id="11" name="Image 0" descr="preencoded.png">    </p:cNvPr>
          <p:cNvPicPr>
            <a:picLocks noChangeAspect="1"/>
          </p:cNvPicPr>
          <p:nvPr/>
        </p:nvPicPr>
        <p:blipFill>
          <a:blip r:embed="rId1"/>
          <a:stretch>
            <a:fillRect/>
          </a:stretch>
        </p:blipFill>
        <p:spPr>
          <a:xfrm>
            <a:off x="8732520" y="1965960"/>
            <a:ext cx="2651760" cy="2651760"/>
          </a:xfrm>
          <a:prstGeom prst="rect">
            <a:avLst/>
          </a:prstGeom>
        </p:spPr>
      </p:pic>
      <p:pic>
        <p:nvPicPr>
          <p:cNvPr id="12" name="Image 1" descr="preencoded.png">    </p:cNvPr>
          <p:cNvPicPr>
            <a:picLocks noChangeAspect="1"/>
          </p:cNvPicPr>
          <p:nvPr/>
        </p:nvPicPr>
        <p:blipFill>
          <a:blip r:embed="rId2"/>
          <a:stretch>
            <a:fillRect/>
          </a:stretch>
        </p:blipFill>
        <p:spPr>
          <a:xfrm>
            <a:off x="640080" y="5257800"/>
            <a:ext cx="841248" cy="841248"/>
          </a:xfrm>
          <a:prstGeom prst="rect">
            <a:avLst/>
          </a:prstGeom>
        </p:spPr>
      </p:pic>
      <p:pic>
        <p:nvPicPr>
          <p:cNvPr id="13" name="Image 2" descr="preencoded.png">    </p:cNvPr>
          <p:cNvPicPr>
            <a:picLocks noChangeAspect="1"/>
          </p:cNvPicPr>
          <p:nvPr/>
        </p:nvPicPr>
        <p:blipFill>
          <a:blip r:embed="rId3"/>
          <a:stretch>
            <a:fillRect/>
          </a:stretch>
        </p:blipFill>
        <p:spPr>
          <a:xfrm>
            <a:off x="1572768" y="5257800"/>
            <a:ext cx="841248" cy="841248"/>
          </a:xfrm>
          <a:prstGeom prst="rect">
            <a:avLst/>
          </a:prstGeom>
        </p:spPr>
      </p:pic>
      <p:pic>
        <p:nvPicPr>
          <p:cNvPr id="14" name="Image 3" descr="preencoded.png">    </p:cNvPr>
          <p:cNvPicPr>
            <a:picLocks noChangeAspect="1"/>
          </p:cNvPicPr>
          <p:nvPr/>
        </p:nvPicPr>
        <p:blipFill>
          <a:blip r:embed="rId4"/>
          <a:stretch>
            <a:fillRect/>
          </a:stretch>
        </p:blipFill>
        <p:spPr>
          <a:xfrm>
            <a:off x="2505456" y="5257800"/>
            <a:ext cx="841248" cy="841248"/>
          </a:xfrm>
          <a:prstGeom prst="rect">
            <a:avLst/>
          </a:prstGeom>
        </p:spPr>
      </p:pic>
      <p:pic>
        <p:nvPicPr>
          <p:cNvPr id="15" name="Image 4" descr="preencoded.png">    </p:cNvPr>
          <p:cNvPicPr>
            <a:picLocks noChangeAspect="1"/>
          </p:cNvPicPr>
          <p:nvPr/>
        </p:nvPicPr>
        <p:blipFill>
          <a:blip r:embed="rId5"/>
          <a:stretch>
            <a:fillRect/>
          </a:stretch>
        </p:blipFill>
        <p:spPr>
          <a:xfrm>
            <a:off x="3438144" y="5257800"/>
            <a:ext cx="841248" cy="841248"/>
          </a:xfrm>
          <a:prstGeom prst="rect">
            <a:avLst/>
          </a:prstGeom>
        </p:spPr>
      </p:pic>
      <p:sp>
        <p:nvSpPr>
          <p:cNvPr id="16" name="Text 9"/>
          <p:cNvSpPr/>
          <p:nvPr/>
        </p:nvSpPr>
        <p:spPr>
          <a:xfrm>
            <a:off x="640080" y="1828800"/>
            <a:ext cx="8229600" cy="1188720"/>
          </a:xfrm>
          <a:prstGeom prst="rect">
            <a:avLst/>
          </a:prstGeom>
          <a:noFill/>
          <a:ln/>
        </p:spPr>
        <p:txBody>
          <a:bodyPr wrap="square" lIns="0" tIns="0" rIns="0" bIns="0" rtlCol="0" anchor="ctr"/>
          <a:lstStyle/>
          <a:p>
            <a:pPr indent="0" marL="0">
              <a:buNone/>
            </a:pPr>
            <a:r>
              <a:rPr lang="en-US" sz="7600" b="1" spc="200" kern="0" dirty="0">
                <a:solidFill>
                  <a:srgbClr val="FFFFFF"/>
                </a:solidFill>
                <a:latin typeface="Cambria" pitchFamily="34" charset="0"/>
                <a:ea typeface="Cambria" pitchFamily="34" charset="-122"/>
                <a:cs typeface="Cambria" pitchFamily="34" charset="-120"/>
              </a:rPr>
              <a:t>BIZZING</a:t>
            </a:r>
            <a:endParaRPr lang="en-US" sz="7600" dirty="0"/>
          </a:p>
        </p:txBody>
      </p:sp>
      <p:sp>
        <p:nvSpPr>
          <p:cNvPr id="17" name="Text 10"/>
          <p:cNvSpPr/>
          <p:nvPr/>
        </p:nvSpPr>
        <p:spPr>
          <a:xfrm>
            <a:off x="640080" y="3063240"/>
            <a:ext cx="7680960" cy="548640"/>
          </a:xfrm>
          <a:prstGeom prst="rect">
            <a:avLst/>
          </a:prstGeom>
          <a:noFill/>
          <a:ln/>
        </p:spPr>
        <p:txBody>
          <a:bodyPr wrap="square" lIns="0" tIns="0" rIns="0" bIns="0" rtlCol="0" anchor="ctr"/>
          <a:lstStyle/>
          <a:p>
            <a:pPr indent="0" marL="0">
              <a:buNone/>
            </a:pPr>
            <a:r>
              <a:rPr lang="en-US" sz="2100" i="1" dirty="0">
                <a:solidFill>
                  <a:srgbClr val="F0B429"/>
                </a:solidFill>
                <a:latin typeface="Cambria" pitchFamily="34" charset="0"/>
                <a:ea typeface="Cambria" pitchFamily="34" charset="-122"/>
                <a:cs typeface="Cambria" pitchFamily="34" charset="-120"/>
              </a:rPr>
              <a:t>Competitive learning for the children of the diaspora.</a:t>
            </a:r>
            <a:endParaRPr lang="en-US" sz="2100" dirty="0"/>
          </a:p>
        </p:txBody>
      </p:sp>
      <p:sp>
        <p:nvSpPr>
          <p:cNvPr id="18" name="Text 11"/>
          <p:cNvSpPr/>
          <p:nvPr/>
        </p:nvSpPr>
        <p:spPr>
          <a:xfrm>
            <a:off x="640080" y="3886200"/>
            <a:ext cx="7680960" cy="365760"/>
          </a:xfrm>
          <a:prstGeom prst="rect">
            <a:avLst/>
          </a:prstGeom>
          <a:noFill/>
          <a:ln/>
        </p:spPr>
        <p:txBody>
          <a:bodyPr wrap="square" lIns="0" tIns="0" rIns="0" bIns="0" rtlCol="0" anchor="ctr"/>
          <a:lstStyle/>
          <a:p>
            <a:pPr indent="0" marL="0">
              <a:buNone/>
            </a:pPr>
            <a:r>
              <a:rPr lang="en-US" sz="1400" dirty="0">
                <a:solidFill>
                  <a:srgbClr val="E3DCF2"/>
                </a:solidFill>
                <a:latin typeface="Calibri" pitchFamily="34" charset="0"/>
                <a:ea typeface="Calibri" pitchFamily="34" charset="-122"/>
                <a:cs typeface="Calibri" pitchFamily="34" charset="-120"/>
              </a:rPr>
              <a:t>Vision · Strategy · Roadmap · Money · Marketing · Content · Team</a:t>
            </a:r>
            <a:endParaRPr lang="en-US" sz="1400" dirty="0"/>
          </a:p>
        </p:txBody>
      </p:sp>
      <p:sp>
        <p:nvSpPr>
          <p:cNvPr id="19" name="Shape 12"/>
          <p:cNvSpPr/>
          <p:nvPr/>
        </p:nvSpPr>
        <p:spPr>
          <a:xfrm>
            <a:off x="640080" y="4709160"/>
            <a:ext cx="2926080" cy="0"/>
          </a:xfrm>
          <a:prstGeom prst="line">
            <a:avLst/>
          </a:prstGeom>
          <a:noFill/>
          <a:ln w="31750">
            <a:solidFill>
              <a:srgbClr val="6C4FE0"/>
            </a:solidFill>
            <a:prstDash val="solid"/>
          </a:ln>
        </p:spPr>
      </p:sp>
      <p:sp>
        <p:nvSpPr>
          <p:cNvPr id="20" name="Text 13"/>
          <p:cNvSpPr/>
          <p:nvPr/>
        </p:nvSpPr>
        <p:spPr>
          <a:xfrm>
            <a:off x="640080" y="4892040"/>
            <a:ext cx="7315200" cy="320040"/>
          </a:xfrm>
          <a:prstGeom prst="rect">
            <a:avLst/>
          </a:prstGeom>
          <a:noFill/>
          <a:ln/>
        </p:spPr>
        <p:txBody>
          <a:bodyPr wrap="square" lIns="0" tIns="0" rIns="0" bIns="0" rtlCol="0" anchor="ctr"/>
          <a:lstStyle/>
          <a:p>
            <a:pPr indent="0" marL="0">
              <a:buNone/>
            </a:pPr>
            <a:r>
              <a:rPr lang="en-US" sz="1250" dirty="0">
                <a:solidFill>
                  <a:srgbClr val="7A7291"/>
                </a:solidFill>
                <a:latin typeface="Calibri" pitchFamily="34" charset="0"/>
                <a:ea typeface="Calibri" pitchFamily="34" charset="-122"/>
                <a:cs typeface="Calibri" pitchFamily="34" charset="-120"/>
              </a:rPr>
              <a:t>Founding team · AI-first operating model</a:t>
            </a:r>
            <a:endParaRPr lang="en-US" sz="1250" dirty="0"/>
          </a:p>
        </p:txBody>
      </p:sp>
      <p:sp>
        <p:nvSpPr>
          <p:cNvPr id="21" name="Text 14"/>
          <p:cNvSpPr/>
          <p:nvPr/>
        </p:nvSpPr>
        <p:spPr>
          <a:xfrm>
            <a:off x="4480560" y="5541264"/>
            <a:ext cx="6766560" cy="29260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Marie Bolden · Frank Neuhauser · Pauline Bell · Dean Lucas — the first four champions, in the pack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STARTING POINT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They moved countries so their child could compete.</a:t>
            </a:r>
            <a:endParaRPr lang="en-US" sz="2900" dirty="0"/>
          </a:p>
        </p:txBody>
      </p:sp>
      <p:sp>
        <p:nvSpPr>
          <p:cNvPr id="4" name="Text 2"/>
          <p:cNvSpPr/>
          <p:nvPr/>
        </p:nvSpPr>
        <p:spPr>
          <a:xfrm>
            <a:off x="640080" y="1463040"/>
            <a:ext cx="10607040" cy="365760"/>
          </a:xfrm>
          <a:prstGeom prst="rect">
            <a:avLst/>
          </a:prstGeom>
          <a:noFill/>
          <a:ln/>
        </p:spPr>
        <p:txBody>
          <a:bodyPr wrap="square" lIns="0" tIns="0" rIns="0" bIns="0" rtlCol="0" anchor="ctr"/>
          <a:lstStyle/>
          <a:p>
            <a:pPr indent="0" marL="0">
              <a:buNone/>
            </a:pPr>
            <a:r>
              <a:rPr lang="en-US" sz="1550" dirty="0">
                <a:solidFill>
                  <a:srgbClr val="7A7291"/>
                </a:solidFill>
                <a:latin typeface="Calibri" pitchFamily="34" charset="0"/>
                <a:ea typeface="Calibri" pitchFamily="34" charset="-122"/>
                <a:cs typeface="Calibri" pitchFamily="34" charset="-120"/>
              </a:rPr>
              <a:t>Everything Bizzing builds answers a worry that parent already has.</a:t>
            </a:r>
            <a:endParaRPr lang="en-US" sz="1550" dirty="0"/>
          </a:p>
        </p:txBody>
      </p:sp>
      <p:sp>
        <p:nvSpPr>
          <p:cNvPr id="5" name="Shape 3"/>
          <p:cNvSpPr/>
          <p:nvPr/>
        </p:nvSpPr>
        <p:spPr>
          <a:xfrm>
            <a:off x="640080"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95728"/>
            <a:ext cx="457200" cy="457200"/>
          </a:xfrm>
          <a:prstGeom prst="hexagon">
            <a:avLst/>
          </a:prstGeom>
          <a:solidFill>
            <a:srgbClr val="6C4FE0"/>
          </a:solidFill>
          <a:ln/>
        </p:spPr>
      </p:sp>
      <p:sp>
        <p:nvSpPr>
          <p:cNvPr id="7" name="Text 5"/>
          <p:cNvSpPr/>
          <p:nvPr/>
        </p:nvSpPr>
        <p:spPr>
          <a:xfrm>
            <a:off x="914400"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school is not enough</a:t>
            </a:r>
            <a:endParaRPr lang="en-US" sz="1700" dirty="0"/>
          </a:p>
        </p:txBody>
      </p:sp>
      <p:sp>
        <p:nvSpPr>
          <p:cNvPr id="8" name="Text 6"/>
          <p:cNvSpPr/>
          <p:nvPr/>
        </p:nvSpPr>
        <p:spPr>
          <a:xfrm>
            <a:off x="914400"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Diaspora parents rarely believe the local curriculum is preparing their child for the contests, tests and admissions that actually decide outcomes.</a:t>
            </a:r>
            <a:endParaRPr lang="en-US" sz="1250" dirty="0"/>
          </a:p>
        </p:txBody>
      </p:sp>
      <p:sp>
        <p:nvSpPr>
          <p:cNvPr id="9" name="Shape 7"/>
          <p:cNvSpPr/>
          <p:nvPr/>
        </p:nvSpPr>
        <p:spPr>
          <a:xfrm>
            <a:off x="4325112"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95728"/>
            <a:ext cx="457200" cy="457200"/>
          </a:xfrm>
          <a:prstGeom prst="hexagon">
            <a:avLst/>
          </a:prstGeom>
          <a:solidFill>
            <a:srgbClr val="F0B429"/>
          </a:solidFill>
          <a:ln/>
        </p:spPr>
      </p:sp>
      <p:sp>
        <p:nvSpPr>
          <p:cNvPr id="11" name="Text 9"/>
          <p:cNvSpPr/>
          <p:nvPr/>
        </p:nvSpPr>
        <p:spPr>
          <a:xfrm>
            <a:off x="4599432"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child is between two worlds</a:t>
            </a:r>
            <a:endParaRPr lang="en-US" sz="1700" dirty="0"/>
          </a:p>
        </p:txBody>
      </p:sp>
      <p:sp>
        <p:nvSpPr>
          <p:cNvPr id="12" name="Text 10"/>
          <p:cNvSpPr/>
          <p:nvPr/>
        </p:nvSpPr>
        <p:spPr>
          <a:xfrm>
            <a:off x="4599432"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Expected to win at an adopted country’s competitions, and to keep a language and culture that country does not teach.</a:t>
            </a:r>
            <a:endParaRPr lang="en-US" sz="1250" dirty="0"/>
          </a:p>
        </p:txBody>
      </p:sp>
      <p:sp>
        <p:nvSpPr>
          <p:cNvPr id="13" name="Shape 11"/>
          <p:cNvSpPr/>
          <p:nvPr/>
        </p:nvSpPr>
        <p:spPr>
          <a:xfrm>
            <a:off x="8010144"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95728"/>
            <a:ext cx="457200" cy="457200"/>
          </a:xfrm>
          <a:prstGeom prst="hexagon">
            <a:avLst/>
          </a:prstGeom>
          <a:solidFill>
            <a:srgbClr val="178A4C"/>
          </a:solidFill>
          <a:ln/>
        </p:spPr>
      </p:sp>
      <p:sp>
        <p:nvSpPr>
          <p:cNvPr id="15" name="Text 13"/>
          <p:cNvSpPr/>
          <p:nvPr/>
        </p:nvSpPr>
        <p:spPr>
          <a:xfrm>
            <a:off x="8284464"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alternatives are poor</a:t>
            </a:r>
            <a:endParaRPr lang="en-US" sz="1700" dirty="0"/>
          </a:p>
        </p:txBody>
      </p:sp>
      <p:sp>
        <p:nvSpPr>
          <p:cNvPr id="16" name="Text 14"/>
          <p:cNvSpPr/>
          <p:nvPr/>
        </p:nvSpPr>
        <p:spPr>
          <a:xfrm>
            <a:off x="8284464"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Photocopied worksheets, tutors at $60–100 an hour, or apps built for a general audience that do not understand this family at all.</a:t>
            </a:r>
            <a:endParaRPr lang="en-US" sz="1250" dirty="0"/>
          </a:p>
        </p:txBody>
      </p:sp>
      <p:sp>
        <p:nvSpPr>
          <p:cNvPr id="17" name="Text 15"/>
          <p:cNvSpPr/>
          <p:nvPr/>
        </p:nvSpPr>
        <p:spPr>
          <a:xfrm>
            <a:off x="640080" y="5212080"/>
            <a:ext cx="10607040" cy="365760"/>
          </a:xfrm>
          <a:prstGeom prst="rect">
            <a:avLst/>
          </a:prstGeom>
          <a:noFill/>
          <a:ln/>
        </p:spPr>
        <p:txBody>
          <a:bodyPr wrap="square" lIns="0" tIns="0" rIns="0" bIns="0" rtlCol="0" anchor="ctr"/>
          <a:lstStyle/>
          <a:p>
            <a:pPr indent="0" marL="0">
              <a:buNone/>
            </a:pPr>
            <a:r>
              <a:rPr lang="en-US" sz="1600" i="1" dirty="0">
                <a:solidFill>
                  <a:srgbClr val="6C4FE0"/>
                </a:solidFill>
                <a:latin typeface="Cambria" pitchFamily="34" charset="0"/>
                <a:ea typeface="Cambria" pitchFamily="34" charset="-122"/>
                <a:cs typeface="Cambria" pitchFamily="34" charset="-120"/>
              </a:rPr>
              <a:t>That worry is large, permanent, and currently served badly. It is the whole opportunity.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182880" y="4343400"/>
            <a:ext cx="777240" cy="777240"/>
          </a:xfrm>
          <a:prstGeom prst="hexagon">
            <a:avLst/>
          </a:prstGeom>
          <a:solidFill>
            <a:srgbClr val="6C4FE0">
              <a:alpha val="20000"/>
            </a:srgbClr>
          </a:solidFill>
          <a:ln/>
        </p:spPr>
      </p:sp>
      <p:sp>
        <p:nvSpPr>
          <p:cNvPr id="3" name="Shape 1"/>
          <p:cNvSpPr/>
          <p:nvPr/>
        </p:nvSpPr>
        <p:spPr>
          <a:xfrm rot="5400000">
            <a:off x="1280160" y="4343400"/>
            <a:ext cx="777240" cy="777240"/>
          </a:xfrm>
          <a:prstGeom prst="hexagon">
            <a:avLst/>
          </a:prstGeom>
          <a:solidFill>
            <a:srgbClr val="6C4FE0">
              <a:alpha val="20000"/>
            </a:srgbClr>
          </a:solidFill>
          <a:ln/>
        </p:spPr>
      </p:sp>
      <p:sp>
        <p:nvSpPr>
          <p:cNvPr id="4" name="Shape 2"/>
          <p:cNvSpPr/>
          <p:nvPr/>
        </p:nvSpPr>
        <p:spPr>
          <a:xfrm rot="5400000">
            <a:off x="2377440" y="4343400"/>
            <a:ext cx="777240" cy="777240"/>
          </a:xfrm>
          <a:prstGeom prst="hexagon">
            <a:avLst/>
          </a:prstGeom>
          <a:solidFill>
            <a:srgbClr val="6C4FE0">
              <a:alpha val="20000"/>
            </a:srgbClr>
          </a:solidFill>
          <a:ln/>
        </p:spPr>
      </p:sp>
      <p:sp>
        <p:nvSpPr>
          <p:cNvPr id="5" name="Shape 3"/>
          <p:cNvSpPr/>
          <p:nvPr/>
        </p:nvSpPr>
        <p:spPr>
          <a:xfrm rot="5400000">
            <a:off x="731520" y="5287061"/>
            <a:ext cx="777240" cy="777240"/>
          </a:xfrm>
          <a:prstGeom prst="hexagon">
            <a:avLst/>
          </a:prstGeom>
          <a:solidFill>
            <a:srgbClr val="6C4FE0">
              <a:alpha val="20000"/>
            </a:srgbClr>
          </a:solidFill>
          <a:ln/>
        </p:spPr>
      </p:sp>
      <p:sp>
        <p:nvSpPr>
          <p:cNvPr id="6" name="Shape 4"/>
          <p:cNvSpPr/>
          <p:nvPr/>
        </p:nvSpPr>
        <p:spPr>
          <a:xfrm rot="5400000">
            <a:off x="1828800" y="5287061"/>
            <a:ext cx="777240" cy="777240"/>
          </a:xfrm>
          <a:prstGeom prst="hexagon">
            <a:avLst/>
          </a:prstGeom>
          <a:solidFill>
            <a:srgbClr val="6C4FE0">
              <a:alpha val="20000"/>
            </a:srgbClr>
          </a:solidFill>
          <a:ln/>
        </p:spPr>
      </p:sp>
      <p:sp>
        <p:nvSpPr>
          <p:cNvPr id="7" name="Shape 5"/>
          <p:cNvSpPr/>
          <p:nvPr/>
        </p:nvSpPr>
        <p:spPr>
          <a:xfrm rot="5400000">
            <a:off x="2926080" y="5287061"/>
            <a:ext cx="777240" cy="777240"/>
          </a:xfrm>
          <a:prstGeom prst="hexagon">
            <a:avLst/>
          </a:prstGeom>
          <a:solidFill>
            <a:srgbClr val="6C4FE0">
              <a:alpha val="20000"/>
            </a:srgbClr>
          </a:solidFill>
          <a:ln/>
        </p:spPr>
      </p:sp>
      <p:sp>
        <p:nvSpPr>
          <p:cNvPr id="8" name="Text 6"/>
          <p:cNvSpPr/>
          <p:nvPr/>
        </p:nvSpPr>
        <p:spPr>
          <a:xfrm>
            <a:off x="640080" y="914400"/>
            <a:ext cx="5486400" cy="32004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VISION</a:t>
            </a:r>
            <a:endParaRPr lang="en-US" sz="1200" dirty="0"/>
          </a:p>
        </p:txBody>
      </p:sp>
      <p:sp>
        <p:nvSpPr>
          <p:cNvPr id="9" name="Text 7"/>
          <p:cNvSpPr/>
          <p:nvPr/>
        </p:nvSpPr>
        <p:spPr>
          <a:xfrm>
            <a:off x="640080" y="1481328"/>
            <a:ext cx="8595360" cy="1051560"/>
          </a:xfrm>
          <a:prstGeom prst="rect">
            <a:avLst/>
          </a:prstGeom>
          <a:noFill/>
          <a:ln/>
        </p:spPr>
        <p:txBody>
          <a:bodyPr wrap="square" lIns="0" tIns="0" rIns="0" bIns="0" rtlCol="0" anchor="ctr"/>
          <a:lstStyle/>
          <a:p>
            <a:pPr indent="0" marL="0">
              <a:buNone/>
            </a:pPr>
            <a:r>
              <a:rPr lang="en-US" sz="6200" b="1" dirty="0">
                <a:solidFill>
                  <a:srgbClr val="F0B429"/>
                </a:solidFill>
                <a:latin typeface="Cambria" pitchFamily="34" charset="0"/>
                <a:ea typeface="Cambria" pitchFamily="34" charset="-122"/>
                <a:cs typeface="Cambria" pitchFamily="34" charset="-120"/>
              </a:rPr>
              <a:t>Own the stage.</a:t>
            </a:r>
            <a:endParaRPr lang="en-US" sz="6200" dirty="0"/>
          </a:p>
        </p:txBody>
      </p:sp>
      <p:sp>
        <p:nvSpPr>
          <p:cNvPr id="10" name="Text 8"/>
          <p:cNvSpPr/>
          <p:nvPr/>
        </p:nvSpPr>
        <p:spPr>
          <a:xfrm>
            <a:off x="640080" y="2670048"/>
            <a:ext cx="9326880" cy="1371600"/>
          </a:xfrm>
          <a:prstGeom prst="rect">
            <a:avLst/>
          </a:prstGeom>
          <a:noFill/>
          <a:ln/>
        </p:spPr>
        <p:txBody>
          <a:bodyPr wrap="square" lIns="0" tIns="0" rIns="0" bIns="0" rtlCol="0" anchor="ctr"/>
          <a:lstStyle/>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Every stage in the world has one of our kids on it.</a:t>
            </a:r>
            <a:endParaRPr lang="en-US" sz="3600" dirty="0"/>
          </a:p>
        </p:txBody>
      </p:sp>
      <p:sp>
        <p:nvSpPr>
          <p:cNvPr id="11" name="Text 9"/>
          <p:cNvSpPr/>
          <p:nvPr/>
        </p:nvSpPr>
        <p:spPr>
          <a:xfrm>
            <a:off x="640080" y="4224528"/>
            <a:ext cx="8686800" cy="960120"/>
          </a:xfrm>
          <a:prstGeom prst="rect">
            <a:avLst/>
          </a:prstGeom>
          <a:noFill/>
          <a:ln/>
        </p:spPr>
        <p:txBody>
          <a:bodyPr wrap="square" lIns="0" tIns="0" rIns="0" bIns="0" rtlCol="0" anchor="ctr"/>
          <a:lstStyle/>
          <a:p>
            <a:pPr indent="0" marL="0">
              <a:lnSpc>
                <a:spcPts val="2100"/>
              </a:lnSpc>
              <a:buNone/>
            </a:pPr>
            <a:r>
              <a:rPr lang="en-US" sz="1450" dirty="0">
                <a:solidFill>
                  <a:srgbClr val="E3DCF2"/>
                </a:solidFill>
                <a:latin typeface="Calibri" pitchFamily="34" charset="0"/>
                <a:ea typeface="Calibri" pitchFamily="34" charset="-122"/>
                <a:cs typeface="Calibri" pitchFamily="34" charset="-120"/>
              </a:rPr>
              <a:t>A spelling bee is a child at a microphone under lights. So is a debate, a pitch, a boardroom and a parliament. We are not raising children who fit in quietly — we are raising the ones who take the mic.</a:t>
            </a:r>
            <a:endParaRPr lang="en-US" sz="1450" dirty="0"/>
          </a:p>
        </p:txBody>
      </p:sp>
      <p:pic>
        <p:nvPicPr>
          <p:cNvPr id="12" name="Image 0" descr="preencoded.png">    </p:cNvPr>
          <p:cNvPicPr>
            <a:picLocks noChangeAspect="1"/>
          </p:cNvPicPr>
          <p:nvPr/>
        </p:nvPicPr>
        <p:blipFill>
          <a:blip r:embed="rId1"/>
          <a:stretch>
            <a:fillRect/>
          </a:stretch>
        </p:blipFill>
        <p:spPr>
          <a:xfrm>
            <a:off x="9464040" y="1417320"/>
            <a:ext cx="1920240" cy="1920240"/>
          </a:xfrm>
          <a:prstGeom prst="rect">
            <a:avLst/>
          </a:prstGeom>
        </p:spPr>
      </p:pic>
      <p:pic>
        <p:nvPicPr>
          <p:cNvPr id="13" name="Image 1" descr="preencoded.png">    </p:cNvPr>
          <p:cNvPicPr>
            <a:picLocks noChangeAspect="1"/>
          </p:cNvPicPr>
          <p:nvPr/>
        </p:nvPicPr>
        <p:blipFill>
          <a:blip r:embed="rId2"/>
          <a:stretch>
            <a:fillRect/>
          </a:stretch>
        </p:blipFill>
        <p:spPr>
          <a:xfrm>
            <a:off x="9829800" y="3429000"/>
            <a:ext cx="1371600" cy="1371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WHAT WE DO ABOUT IT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Mission</a:t>
            </a:r>
            <a:endParaRPr lang="en-US" sz="2900" dirty="0"/>
          </a:p>
        </p:txBody>
      </p:sp>
      <p:sp>
        <p:nvSpPr>
          <p:cNvPr id="4" name="Shape 2"/>
          <p:cNvSpPr/>
          <p:nvPr/>
        </p:nvSpPr>
        <p:spPr>
          <a:xfrm>
            <a:off x="640080" y="1417320"/>
            <a:ext cx="1060704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5" name="Text 3"/>
          <p:cNvSpPr/>
          <p:nvPr/>
        </p:nvSpPr>
        <p:spPr>
          <a:xfrm>
            <a:off x="1024128" y="1600200"/>
            <a:ext cx="9875520" cy="868680"/>
          </a:xfrm>
          <a:prstGeom prst="rect">
            <a:avLst/>
          </a:prstGeom>
          <a:noFill/>
          <a:ln/>
        </p:spPr>
        <p:txBody>
          <a:bodyPr wrap="square" lIns="0" tIns="0" rIns="0" bIns="0" rtlCol="0" anchor="ctr"/>
          <a:lstStyle/>
          <a:p>
            <a:pPr indent="0" marL="0">
              <a:lnSpc>
                <a:spcPts val="2800"/>
              </a:lnSpc>
              <a:buNone/>
            </a:pPr>
            <a:r>
              <a:rPr lang="en-US" sz="2100" b="1" dirty="0">
                <a:solidFill>
                  <a:srgbClr val="241E33"/>
                </a:solidFill>
                <a:latin typeface="Cambria" pitchFamily="34" charset="0"/>
                <a:ea typeface="Cambria" pitchFamily="34" charset="-122"/>
                <a:cs typeface="Cambria" pitchFamily="34" charset="-120"/>
              </a:rPr>
              <a:t>To give diaspora families world-class competitive learning — starting with words — in products children actually want to open.</a:t>
            </a:r>
            <a:endParaRPr lang="en-US" sz="2100" dirty="0"/>
          </a:p>
        </p:txBody>
      </p:sp>
      <p:sp>
        <p:nvSpPr>
          <p:cNvPr id="6" name="Shape 4"/>
          <p:cNvSpPr/>
          <p:nvPr/>
        </p:nvSpPr>
        <p:spPr>
          <a:xfrm rot="5400000">
            <a:off x="640080" y="3035808"/>
            <a:ext cx="384048" cy="384048"/>
          </a:xfrm>
          <a:prstGeom prst="hexagon">
            <a:avLst/>
          </a:prstGeom>
          <a:solidFill>
            <a:srgbClr val="6C4FE0"/>
          </a:solidFill>
          <a:ln/>
        </p:spPr>
      </p:sp>
      <p:sp>
        <p:nvSpPr>
          <p:cNvPr id="7" name="Text 5"/>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640080"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Competitive, not remedial</a:t>
            </a:r>
            <a:endParaRPr lang="en-US" sz="1650" dirty="0"/>
          </a:p>
        </p:txBody>
      </p:sp>
      <p:sp>
        <p:nvSpPr>
          <p:cNvPr id="9" name="Text 7"/>
          <p:cNvSpPr/>
          <p:nvPr/>
        </p:nvSpPr>
        <p:spPr>
          <a:xfrm>
            <a:off x="640080"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We prepare children to win things, not to catch up. That is the register the parent is already in.</a:t>
            </a:r>
            <a:endParaRPr lang="en-US" sz="1300" dirty="0"/>
          </a:p>
        </p:txBody>
      </p:sp>
      <p:sp>
        <p:nvSpPr>
          <p:cNvPr id="10" name="Shape 8"/>
          <p:cNvSpPr/>
          <p:nvPr/>
        </p:nvSpPr>
        <p:spPr>
          <a:xfrm rot="5400000">
            <a:off x="4325112" y="3035808"/>
            <a:ext cx="384048" cy="384048"/>
          </a:xfrm>
          <a:prstGeom prst="hexagon">
            <a:avLst/>
          </a:prstGeom>
          <a:solidFill>
            <a:srgbClr val="F0B429"/>
          </a:solidFill>
          <a:ln/>
        </p:spPr>
      </p:sp>
      <p:sp>
        <p:nvSpPr>
          <p:cNvPr id="11" name="Text 9"/>
          <p:cNvSpPr/>
          <p:nvPr/>
        </p:nvSpPr>
        <p:spPr>
          <a:xfrm>
            <a:off x="4325112" y="30358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4325112"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Built for this family</a:t>
            </a:r>
            <a:endParaRPr lang="en-US" sz="1650" dirty="0"/>
          </a:p>
        </p:txBody>
      </p:sp>
      <p:sp>
        <p:nvSpPr>
          <p:cNvPr id="13" name="Text 11"/>
          <p:cNvSpPr/>
          <p:nvPr/>
        </p:nvSpPr>
        <p:spPr>
          <a:xfrm>
            <a:off x="4325112"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Heritage, language and diaspora context are first-class, not a localisation afterthought.</a:t>
            </a:r>
            <a:endParaRPr lang="en-US" sz="1300" dirty="0"/>
          </a:p>
        </p:txBody>
      </p:sp>
      <p:sp>
        <p:nvSpPr>
          <p:cNvPr id="14" name="Shape 12"/>
          <p:cNvSpPr/>
          <p:nvPr/>
        </p:nvSpPr>
        <p:spPr>
          <a:xfrm rot="5400000">
            <a:off x="8010144" y="3035808"/>
            <a:ext cx="384048" cy="384048"/>
          </a:xfrm>
          <a:prstGeom prst="hexagon">
            <a:avLst/>
          </a:prstGeom>
          <a:solidFill>
            <a:srgbClr val="6C4FE0"/>
          </a:solidFill>
          <a:ln/>
        </p:spPr>
      </p:sp>
      <p:sp>
        <p:nvSpPr>
          <p:cNvPr id="15" name="Text 13"/>
          <p:cNvSpPr/>
          <p:nvPr/>
        </p:nvSpPr>
        <p:spPr>
          <a:xfrm>
            <a:off x="8010144"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8010144"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Fun enough to open unprompted</a:t>
            </a:r>
            <a:endParaRPr lang="en-US" sz="1650" dirty="0"/>
          </a:p>
        </p:txBody>
      </p:sp>
      <p:sp>
        <p:nvSpPr>
          <p:cNvPr id="17" name="Text 15"/>
          <p:cNvSpPr/>
          <p:nvPr/>
        </p:nvSpPr>
        <p:spPr>
          <a:xfrm>
            <a:off x="8010144"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A product a child opens on their own beats a better product they have to be nagged into.</a:t>
            </a:r>
            <a:endParaRPr lang="en-US" sz="1300" dirty="0"/>
          </a:p>
        </p:txBody>
      </p:sp>
      <p:sp>
        <p:nvSpPr>
          <p:cNvPr id="18" name="Text 16"/>
          <p:cNvSpPr/>
          <p:nvPr/>
        </p:nvSpPr>
        <p:spPr>
          <a:xfrm>
            <a:off x="640080" y="5532120"/>
            <a:ext cx="10607040" cy="457200"/>
          </a:xfrm>
          <a:prstGeom prst="rect">
            <a:avLst/>
          </a:prstGeom>
          <a:noFill/>
          <a:ln/>
        </p:spPr>
        <p:txBody>
          <a:bodyPr wrap="square" lIns="0" tIns="0" rIns="0" bIns="0" rtlCol="0" anchor="ctr"/>
          <a:lstStyle/>
          <a:p>
            <a:pPr indent="0" marL="0">
              <a:buNone/>
            </a:pPr>
            <a:r>
              <a:rPr lang="en-US" sz="1350" i="1" dirty="0">
                <a:solidFill>
                  <a:srgbClr val="7A7291"/>
                </a:solidFill>
                <a:latin typeface="Calibri" pitchFamily="34" charset="0"/>
                <a:ea typeface="Calibri" pitchFamily="34" charset="-122"/>
                <a:cs typeface="Calibri" pitchFamily="34" charset="-120"/>
              </a:rPr>
              <a:t>Success is a child who is measurably better at something their parent cares about — and who did the practice willingly.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THREE QUESTIONS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Why, what, how</a:t>
            </a:r>
            <a:endParaRPr lang="en-US" sz="2900" dirty="0"/>
          </a:p>
        </p:txBody>
      </p:sp>
      <p:sp>
        <p:nvSpPr>
          <p:cNvPr id="4" name="Shape 2"/>
          <p:cNvSpPr/>
          <p:nvPr/>
        </p:nvSpPr>
        <p:spPr>
          <a:xfrm>
            <a:off x="640080" y="1481328"/>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5" name="Shape 3"/>
          <p:cNvSpPr/>
          <p:nvPr/>
        </p:nvSpPr>
        <p:spPr>
          <a:xfrm rot="5400000">
            <a:off x="960120" y="1865376"/>
            <a:ext cx="603504" cy="603504"/>
          </a:xfrm>
          <a:prstGeom prst="hexagon">
            <a:avLst/>
          </a:prstGeom>
          <a:solidFill>
            <a:srgbClr val="6C4FE0"/>
          </a:solidFill>
          <a:ln/>
        </p:spPr>
      </p:sp>
      <p:sp>
        <p:nvSpPr>
          <p:cNvPr id="6" name="Text 4"/>
          <p:cNvSpPr/>
          <p:nvPr/>
        </p:nvSpPr>
        <p:spPr>
          <a:xfrm>
            <a:off x="960120" y="1865376"/>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p>
        </p:txBody>
      </p:sp>
      <p:sp>
        <p:nvSpPr>
          <p:cNvPr id="7" name="Text 5"/>
          <p:cNvSpPr/>
          <p:nvPr/>
        </p:nvSpPr>
        <p:spPr>
          <a:xfrm>
            <a:off x="1874520" y="1700784"/>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Because ability is not the constraint — access is.</a:t>
            </a:r>
            <a:endParaRPr lang="en-US" sz="1850" dirty="0"/>
          </a:p>
        </p:txBody>
      </p:sp>
      <p:sp>
        <p:nvSpPr>
          <p:cNvPr id="8" name="Text 6"/>
          <p:cNvSpPr/>
          <p:nvPr/>
        </p:nvSpPr>
        <p:spPr>
          <a:xfrm>
            <a:off x="1874520" y="2121408"/>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These children are not short of talent or of parental will. They are short of good, affordable, culturally-fluent practice. Every hour a parent spends worrying is an hour we can convert into something the child enjoys.</a:t>
            </a:r>
            <a:endParaRPr lang="en-US" sz="1280" dirty="0"/>
          </a:p>
        </p:txBody>
      </p:sp>
      <p:sp>
        <p:nvSpPr>
          <p:cNvPr id="9" name="Shape 7"/>
          <p:cNvSpPr/>
          <p:nvPr/>
        </p:nvSpPr>
        <p:spPr>
          <a:xfrm>
            <a:off x="640080" y="3054096"/>
            <a:ext cx="10607040" cy="1371600"/>
          </a:xfrm>
          <a:prstGeom prst="roundRect">
            <a:avLst>
              <a:gd name="adj" fmla="val 9333"/>
            </a:avLst>
          </a:prstGeom>
          <a:solidFill>
            <a:srgbClr val="FFFFFF"/>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960120" y="3438144"/>
            <a:ext cx="603504" cy="603504"/>
          </a:xfrm>
          <a:prstGeom prst="hexagon">
            <a:avLst/>
          </a:prstGeom>
          <a:solidFill>
            <a:srgbClr val="F0B429"/>
          </a:solidFill>
          <a:ln/>
        </p:spPr>
      </p:sp>
      <p:sp>
        <p:nvSpPr>
          <p:cNvPr id="11" name="Text 9"/>
          <p:cNvSpPr/>
          <p:nvPr/>
        </p:nvSpPr>
        <p:spPr>
          <a:xfrm>
            <a:off x="960120" y="3438144"/>
            <a:ext cx="603504" cy="603504"/>
          </a:xfrm>
          <a:prstGeom prst="rect">
            <a:avLst/>
          </a:prstGeom>
          <a:noFill/>
          <a:ln/>
        </p:spPr>
        <p:txBody>
          <a:bodyPr wrap="square" lIns="0" tIns="0" rIns="0" bIns="0" rtlCol="0" anchor="ctr"/>
          <a:lstStyle/>
          <a:p>
            <a:pPr algn="ctr" indent="0" marL="0">
              <a:buNone/>
            </a:pPr>
            <a:r>
              <a:rPr lang="en-US" sz="950" b="1" dirty="0">
                <a:solidFill>
                  <a:srgbClr val="241E33"/>
                </a:solidFill>
                <a:latin typeface="Calibri" pitchFamily="34" charset="0"/>
                <a:ea typeface="Calibri" pitchFamily="34" charset="-122"/>
                <a:cs typeface="Calibri" pitchFamily="34" charset="-120"/>
              </a:rPr>
              <a:t>WHAT</a:t>
            </a:r>
            <a:endParaRPr lang="en-US" sz="950" dirty="0"/>
          </a:p>
        </p:txBody>
      </p:sp>
      <p:sp>
        <p:nvSpPr>
          <p:cNvPr id="12" name="Text 10"/>
          <p:cNvSpPr/>
          <p:nvPr/>
        </p:nvSpPr>
        <p:spPr>
          <a:xfrm>
            <a:off x="1874520" y="3273552"/>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 house of competitive-learning products for ages 8–15.</a:t>
            </a:r>
            <a:endParaRPr lang="en-US" sz="1850" dirty="0"/>
          </a:p>
        </p:txBody>
      </p:sp>
      <p:sp>
        <p:nvSpPr>
          <p:cNvPr id="13" name="Text 11"/>
          <p:cNvSpPr/>
          <p:nvPr/>
        </p:nvSpPr>
        <p:spPr>
          <a:xfrm>
            <a:off x="1874520" y="3694176"/>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One engine, many subjects. Spelling first, because it is the contest this community already organises around. Then the adjacent word products, then heritage language, then numeracy.</a:t>
            </a:r>
            <a:endParaRPr lang="en-US" sz="1280" dirty="0"/>
          </a:p>
        </p:txBody>
      </p:sp>
      <p:sp>
        <p:nvSpPr>
          <p:cNvPr id="14" name="Shape 12"/>
          <p:cNvSpPr/>
          <p:nvPr/>
        </p:nvSpPr>
        <p:spPr>
          <a:xfrm>
            <a:off x="640080" y="4626864"/>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15" name="Shape 13"/>
          <p:cNvSpPr/>
          <p:nvPr/>
        </p:nvSpPr>
        <p:spPr>
          <a:xfrm rot="5400000">
            <a:off x="960120" y="5010912"/>
            <a:ext cx="603504" cy="603504"/>
          </a:xfrm>
          <a:prstGeom prst="hexagon">
            <a:avLst/>
          </a:prstGeom>
          <a:solidFill>
            <a:srgbClr val="178A4C"/>
          </a:solidFill>
          <a:ln/>
        </p:spPr>
      </p:sp>
      <p:sp>
        <p:nvSpPr>
          <p:cNvPr id="16" name="Text 14"/>
          <p:cNvSpPr/>
          <p:nvPr/>
        </p:nvSpPr>
        <p:spPr>
          <a:xfrm>
            <a:off x="960120" y="5010912"/>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a:t>
            </a:r>
            <a:endParaRPr lang="en-US" sz="950" dirty="0"/>
          </a:p>
        </p:txBody>
      </p:sp>
      <p:sp>
        <p:nvSpPr>
          <p:cNvPr id="17" name="Text 15"/>
          <p:cNvSpPr/>
          <p:nvPr/>
        </p:nvSpPr>
        <p:spPr>
          <a:xfrm>
            <a:off x="1874520" y="4846320"/>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AI-first, founder-run, content-owned.</a:t>
            </a:r>
            <a:endParaRPr lang="en-US" sz="1850" dirty="0"/>
          </a:p>
        </p:txBody>
      </p:sp>
      <p:sp>
        <p:nvSpPr>
          <p:cNvPr id="18" name="Text 16"/>
          <p:cNvSpPr/>
          <p:nvPr/>
        </p:nvSpPr>
        <p:spPr>
          <a:xfrm>
            <a:off x="1874520" y="5266944"/>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Two founders and no agency. The product is built with AI coding tools, the marketing is produced with AI tools, and the content bank — which is the actual moat — is generated, verified and owned in-house.</a:t>
            </a:r>
            <a:endParaRPr lang="en-US" sz="12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54864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STRATEGY</a:t>
            </a:r>
            <a:endParaRPr lang="en-US" sz="1200" dirty="0"/>
          </a:p>
        </p:txBody>
      </p:sp>
      <p:sp>
        <p:nvSpPr>
          <p:cNvPr id="3" name="Text 1"/>
          <p:cNvSpPr/>
          <p:nvPr/>
        </p:nvSpPr>
        <p:spPr>
          <a:xfrm>
            <a:off x="640080" y="896112"/>
            <a:ext cx="1060704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Win one contest completely, then reuse the engine.</a:t>
            </a:r>
            <a:endParaRPr lang="en-US" sz="2900" dirty="0"/>
          </a:p>
        </p:txBody>
      </p:sp>
      <p:sp>
        <p:nvSpPr>
          <p:cNvPr id="4" name="Shape 2"/>
          <p:cNvSpPr/>
          <p:nvPr/>
        </p:nvSpPr>
        <p:spPr>
          <a:xfrm>
            <a:off x="640080"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5" name="Shape 3"/>
          <p:cNvSpPr/>
          <p:nvPr/>
        </p:nvSpPr>
        <p:spPr>
          <a:xfrm rot="5400000">
            <a:off x="896112" y="2267712"/>
            <a:ext cx="384048" cy="384048"/>
          </a:xfrm>
          <a:prstGeom prst="hexagon">
            <a:avLst/>
          </a:prstGeom>
          <a:solidFill>
            <a:srgbClr val="F0B429"/>
          </a:solidFill>
          <a:ln/>
        </p:spPr>
      </p:sp>
      <p:sp>
        <p:nvSpPr>
          <p:cNvPr id="6" name="Text 4"/>
          <p:cNvSpPr/>
          <p:nvPr/>
        </p:nvSpPr>
        <p:spPr>
          <a:xfrm>
            <a:off x="896112" y="22677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WEDGE</a:t>
            </a:r>
            <a:endParaRPr lang="en-US" sz="950" dirty="0"/>
          </a:p>
        </p:txBody>
      </p:sp>
      <p:sp>
        <p:nvSpPr>
          <p:cNvPr id="8" name="Text 6"/>
          <p:cNvSpPr/>
          <p:nvPr/>
        </p:nvSpPr>
        <p:spPr>
          <a:xfrm>
            <a:off x="896112"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Spelling bee</a:t>
            </a:r>
            <a:endParaRPr lang="en-US" sz="1700" dirty="0"/>
          </a:p>
        </p:txBody>
      </p:sp>
      <p:sp>
        <p:nvSpPr>
          <p:cNvPr id="9" name="Text 7"/>
          <p:cNvSpPr/>
          <p:nvPr/>
        </p:nvSpPr>
        <p:spPr>
          <a:xfrm>
            <a:off x="896112"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one competition this community already organises around — and dominates. We do not have to create the demand or explain the category.</a:t>
            </a:r>
            <a:endParaRPr lang="en-US" sz="1150" dirty="0"/>
          </a:p>
        </p:txBody>
      </p:sp>
      <p:sp>
        <p:nvSpPr>
          <p:cNvPr id="10" name="Shape 8"/>
          <p:cNvSpPr/>
          <p:nvPr/>
        </p:nvSpPr>
        <p:spPr>
          <a:xfrm>
            <a:off x="3401568"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1" name="Shape 9"/>
          <p:cNvSpPr/>
          <p:nvPr/>
        </p:nvSpPr>
        <p:spPr>
          <a:xfrm rot="5400000">
            <a:off x="3657600" y="2267712"/>
            <a:ext cx="384048" cy="384048"/>
          </a:xfrm>
          <a:prstGeom prst="hexagon">
            <a:avLst/>
          </a:prstGeom>
          <a:solidFill>
            <a:srgbClr val="6C4FE0"/>
          </a:solidFill>
          <a:ln/>
        </p:spPr>
      </p:sp>
      <p:sp>
        <p:nvSpPr>
          <p:cNvPr id="12" name="Text 10"/>
          <p:cNvSpPr/>
          <p:nvPr/>
        </p:nvSpPr>
        <p:spPr>
          <a:xfrm>
            <a:off x="3657600"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3657600"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EXPAND BY ENGINE REUSE</a:t>
            </a:r>
            <a:endParaRPr lang="en-US" sz="950" dirty="0"/>
          </a:p>
        </p:txBody>
      </p:sp>
      <p:sp>
        <p:nvSpPr>
          <p:cNvPr id="14" name="Text 12"/>
          <p:cNvSpPr/>
          <p:nvPr/>
        </p:nvSpPr>
        <p:spPr>
          <a:xfrm>
            <a:off x="3657600"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Adjacent word products</a:t>
            </a:r>
            <a:endParaRPr lang="en-US" sz="1700" dirty="0"/>
          </a:p>
        </p:txBody>
      </p:sp>
      <p:sp>
        <p:nvSpPr>
          <p:cNvPr id="15" name="Text 13"/>
          <p:cNvSpPr/>
          <p:nvPr/>
        </p:nvSpPr>
        <p:spPr>
          <a:xfrm>
            <a:off x="3657600"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Verbal reasoning, vocabulary and test prep run on the drill engine that already exists. New revenue, near-zero new infrastructure.</a:t>
            </a:r>
            <a:endParaRPr lang="en-US" sz="1150" dirty="0"/>
          </a:p>
        </p:txBody>
      </p:sp>
      <p:sp>
        <p:nvSpPr>
          <p:cNvPr id="16" name="Shape 14"/>
          <p:cNvSpPr/>
          <p:nvPr/>
        </p:nvSpPr>
        <p:spPr>
          <a:xfrm>
            <a:off x="6163056"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7" name="Shape 15"/>
          <p:cNvSpPr/>
          <p:nvPr/>
        </p:nvSpPr>
        <p:spPr>
          <a:xfrm rot="5400000">
            <a:off x="6419088" y="2267712"/>
            <a:ext cx="384048" cy="384048"/>
          </a:xfrm>
          <a:prstGeom prst="hexagon">
            <a:avLst/>
          </a:prstGeom>
          <a:solidFill>
            <a:srgbClr val="6C4FE0"/>
          </a:solidFill>
          <a:ln/>
        </p:spPr>
      </p:sp>
      <p:sp>
        <p:nvSpPr>
          <p:cNvPr id="18" name="Text 16"/>
          <p:cNvSpPr/>
          <p:nvPr/>
        </p:nvSpPr>
        <p:spPr>
          <a:xfrm>
            <a:off x="6419088"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6419088"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DEEPEN THE MOAT</a:t>
            </a:r>
            <a:endParaRPr lang="en-US" sz="950" dirty="0"/>
          </a:p>
        </p:txBody>
      </p:sp>
      <p:sp>
        <p:nvSpPr>
          <p:cNvPr id="20" name="Text 18"/>
          <p:cNvSpPr/>
          <p:nvPr/>
        </p:nvSpPr>
        <p:spPr>
          <a:xfrm>
            <a:off x="6419088"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Heritage language</a:t>
            </a:r>
            <a:endParaRPr lang="en-US" sz="1700" dirty="0"/>
          </a:p>
        </p:txBody>
      </p:sp>
      <p:sp>
        <p:nvSpPr>
          <p:cNvPr id="21" name="Text 19"/>
          <p:cNvSpPr/>
          <p:nvPr/>
        </p:nvSpPr>
        <p:spPr>
          <a:xfrm>
            <a:off x="6419088"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only category where the diaspora is the entire market rather than a slice of it. Hardest to copy, stickiest to own.</a:t>
            </a:r>
            <a:endParaRPr lang="en-US" sz="1150" dirty="0"/>
          </a:p>
        </p:txBody>
      </p:sp>
      <p:sp>
        <p:nvSpPr>
          <p:cNvPr id="22" name="Shape 20"/>
          <p:cNvSpPr/>
          <p:nvPr/>
        </p:nvSpPr>
        <p:spPr>
          <a:xfrm>
            <a:off x="8924544"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23" name="Shape 21"/>
          <p:cNvSpPr/>
          <p:nvPr/>
        </p:nvSpPr>
        <p:spPr>
          <a:xfrm rot="5400000">
            <a:off x="9180576" y="2267712"/>
            <a:ext cx="384048" cy="384048"/>
          </a:xfrm>
          <a:prstGeom prst="hexagon">
            <a:avLst/>
          </a:prstGeom>
          <a:solidFill>
            <a:srgbClr val="6C4FE0"/>
          </a:solidFill>
          <a:ln/>
        </p:spPr>
      </p:sp>
      <p:sp>
        <p:nvSpPr>
          <p:cNvPr id="24" name="Text 22"/>
          <p:cNvSpPr/>
          <p:nvPr/>
        </p:nvSpPr>
        <p:spPr>
          <a:xfrm>
            <a:off x="9180576"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p:nvPr/>
        </p:nvSpPr>
        <p:spPr>
          <a:xfrm>
            <a:off x="9180576"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BROADEN THE HOUSE</a:t>
            </a:r>
            <a:endParaRPr lang="en-US" sz="950" dirty="0"/>
          </a:p>
        </p:txBody>
      </p:sp>
      <p:sp>
        <p:nvSpPr>
          <p:cNvPr id="26" name="Text 24"/>
          <p:cNvSpPr/>
          <p:nvPr/>
        </p:nvSpPr>
        <p:spPr>
          <a:xfrm>
            <a:off x="9180576"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Numeracy &amp; money</a:t>
            </a:r>
            <a:endParaRPr lang="en-US" sz="1700" dirty="0"/>
          </a:p>
        </p:txBody>
      </p:sp>
      <p:sp>
        <p:nvSpPr>
          <p:cNvPr id="27" name="Text 25"/>
          <p:cNvSpPr/>
          <p:nvPr/>
        </p:nvSpPr>
        <p:spPr>
          <a:xfrm>
            <a:off x="9180576"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Bizzing Finance and mental-maths extend the brand past words once the word franchise is proven.</a:t>
            </a:r>
            <a:endParaRPr lang="en-US" sz="1150" dirty="0"/>
          </a:p>
        </p:txBody>
      </p:sp>
      <p:sp>
        <p:nvSpPr>
          <p:cNvPr id="28" name="Text 26"/>
          <p:cNvSpPr/>
          <p:nvPr/>
        </p:nvSpPr>
        <p:spPr>
          <a:xfrm>
            <a:off x="640080" y="5504688"/>
            <a:ext cx="10607040" cy="731520"/>
          </a:xfrm>
          <a:prstGeom prst="rect">
            <a:avLst/>
          </a:prstGeom>
          <a:noFill/>
          <a:ln/>
        </p:spPr>
        <p:txBody>
          <a:bodyPr wrap="square" lIns="0" tIns="0" rIns="0" bIns="0" rtlCol="0" anchor="ctr"/>
          <a:lstStyle/>
          <a:p>
            <a:pPr indent="0" marL="0">
              <a:lnSpc>
                <a:spcPts val="2100"/>
              </a:lnSpc>
              <a:buNone/>
            </a:pPr>
            <a:r>
              <a:rPr lang="en-US" sz="1500" i="1" dirty="0">
                <a:solidFill>
                  <a:srgbClr val="F0B429"/>
                </a:solidFill>
                <a:latin typeface="Cambria" pitchFamily="34" charset="0"/>
                <a:ea typeface="Cambria" pitchFamily="34" charset="-122"/>
                <a:cs typeface="Cambria" pitchFamily="34" charset="-120"/>
              </a:rPr>
              <a:t>The sequencing rule: order by how much of the existing engine a product reuses — not by which market is biggest.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ASSET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already exists, and transfers</a:t>
            </a:r>
            <a:endParaRPr lang="en-US" sz="2900" dirty="0"/>
          </a:p>
        </p:txBody>
      </p:sp>
      <p:sp>
        <p:nvSpPr>
          <p:cNvPr id="4" name="Text 2"/>
          <p:cNvSpPr/>
          <p:nvPr/>
        </p:nvSpPr>
        <p:spPr>
          <a:xfrm>
            <a:off x="640080" y="1444752"/>
            <a:ext cx="10607040" cy="365760"/>
          </a:xfrm>
          <a:prstGeom prst="rect">
            <a:avLst/>
          </a:prstGeom>
          <a:noFill/>
          <a:ln/>
        </p:spPr>
        <p:txBody>
          <a:bodyPr wrap="square" lIns="0" tIns="0" rIns="0" bIns="0" rtlCol="0" anchor="ctr"/>
          <a:lstStyle/>
          <a:p>
            <a:pPr indent="0" marL="0">
              <a:buNone/>
            </a:pPr>
            <a:r>
              <a:rPr lang="en-US" sz="1500" dirty="0">
                <a:solidFill>
                  <a:srgbClr val="7A7291"/>
                </a:solidFill>
                <a:latin typeface="Calibri" pitchFamily="34" charset="0"/>
                <a:ea typeface="Calibri" pitchFamily="34" charset="-122"/>
                <a:cs typeface="Calibri" pitchFamily="34" charset="-120"/>
              </a:rPr>
              <a:t>Bizzing Bee is not one app. It is a content-drill engine with a spelling skin — and the engine is the company.</a:t>
            </a:r>
            <a:endParaRPr lang="en-US" sz="1500" dirty="0"/>
          </a:p>
        </p:txBody>
      </p:sp>
      <p:sp>
        <p:nvSpPr>
          <p:cNvPr id="5" name="Shape 3"/>
          <p:cNvSpPr/>
          <p:nvPr/>
        </p:nvSpPr>
        <p:spPr>
          <a:xfrm>
            <a:off x="640080"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822960"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128,491</a:t>
            </a:r>
            <a:endParaRPr lang="en-US" sz="3400" dirty="0"/>
          </a:p>
        </p:txBody>
      </p:sp>
      <p:sp>
        <p:nvSpPr>
          <p:cNvPr id="7" name="Text 5"/>
          <p:cNvSpPr/>
          <p:nvPr/>
        </p:nvSpPr>
        <p:spPr>
          <a:xfrm>
            <a:off x="822960"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words, every one</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spoken aloud</a:t>
            </a:r>
            <a:endParaRPr lang="en-US" sz="1200" dirty="0"/>
          </a:p>
        </p:txBody>
      </p:sp>
      <p:sp>
        <p:nvSpPr>
          <p:cNvPr id="8" name="Shape 6"/>
          <p:cNvSpPr/>
          <p:nvPr/>
        </p:nvSpPr>
        <p:spPr>
          <a:xfrm>
            <a:off x="3401568"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3584448"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31,000+</a:t>
            </a:r>
            <a:endParaRPr lang="en-US" sz="3400" dirty="0"/>
          </a:p>
        </p:txBody>
      </p:sp>
      <p:sp>
        <p:nvSpPr>
          <p:cNvPr id="10" name="Text 8"/>
          <p:cNvSpPr/>
          <p:nvPr/>
        </p:nvSpPr>
        <p:spPr>
          <a:xfrm>
            <a:off x="3584448"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trivia questions across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32 themes, 5 levels</a:t>
            </a:r>
            <a:endParaRPr lang="en-US" sz="1200" dirty="0"/>
          </a:p>
        </p:txBody>
      </p:sp>
      <p:sp>
        <p:nvSpPr>
          <p:cNvPr id="11" name="Shape 9"/>
          <p:cNvSpPr/>
          <p:nvPr/>
        </p:nvSpPr>
        <p:spPr>
          <a:xfrm>
            <a:off x="6163056"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2" name="Text 10"/>
          <p:cNvSpPr/>
          <p:nvPr/>
        </p:nvSpPr>
        <p:spPr>
          <a:xfrm>
            <a:off x="6345936"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164</a:t>
            </a:r>
            <a:endParaRPr lang="en-US" sz="3400" dirty="0"/>
          </a:p>
        </p:txBody>
      </p:sp>
      <p:sp>
        <p:nvSpPr>
          <p:cNvPr id="13" name="Text 11"/>
          <p:cNvSpPr/>
          <p:nvPr/>
        </p:nvSpPr>
        <p:spPr>
          <a:xfrm>
            <a:off x="6345936"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concept chapters,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free and advanced</a:t>
            </a:r>
            <a:endParaRPr lang="en-US" sz="1200" dirty="0"/>
          </a:p>
        </p:txBody>
      </p:sp>
      <p:sp>
        <p:nvSpPr>
          <p:cNvPr id="14" name="Shape 12"/>
          <p:cNvSpPr/>
          <p:nvPr/>
        </p:nvSpPr>
        <p:spPr>
          <a:xfrm>
            <a:off x="8924544"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5" name="Text 13"/>
          <p:cNvSpPr/>
          <p:nvPr/>
        </p:nvSpPr>
        <p:spPr>
          <a:xfrm>
            <a:off x="9107424"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23</a:t>
            </a:r>
            <a:endParaRPr lang="en-US" sz="3400" dirty="0"/>
          </a:p>
        </p:txBody>
      </p:sp>
      <p:sp>
        <p:nvSpPr>
          <p:cNvPr id="16" name="Text 14"/>
          <p:cNvSpPr/>
          <p:nvPr/>
        </p:nvSpPr>
        <p:spPr>
          <a:xfrm>
            <a:off x="9107424"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illustrated books,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1,700 pages</a:t>
            </a:r>
            <a:endParaRPr lang="en-US" sz="1200" dirty="0"/>
          </a:p>
        </p:txBody>
      </p:sp>
      <p:sp>
        <p:nvSpPr>
          <p:cNvPr id="17" name="Shape 15"/>
          <p:cNvSpPr/>
          <p:nvPr/>
        </p:nvSpPr>
        <p:spPr>
          <a:xfrm rot="5400000">
            <a:off x="640080" y="4014216"/>
            <a:ext cx="310896" cy="310896"/>
          </a:xfrm>
          <a:prstGeom prst="hexagon">
            <a:avLst/>
          </a:prstGeom>
          <a:solidFill>
            <a:srgbClr val="178A4C"/>
          </a:solidFill>
          <a:ln/>
        </p:spPr>
      </p:sp>
      <p:sp>
        <p:nvSpPr>
          <p:cNvPr id="18" name="Text 16"/>
          <p:cNvSpPr/>
          <p:nvPr/>
        </p:nvSpPr>
        <p:spPr>
          <a:xfrm>
            <a:off x="1115568" y="3977640"/>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as-is</a:t>
            </a:r>
            <a:endParaRPr lang="en-US" sz="1400" dirty="0"/>
          </a:p>
        </p:txBody>
      </p:sp>
      <p:sp>
        <p:nvSpPr>
          <p:cNvPr id="19" name="Text 17"/>
          <p:cNvSpPr/>
          <p:nvPr/>
        </p:nvSpPr>
        <p:spPr>
          <a:xfrm>
            <a:off x="3749040" y="3977640"/>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Audio pipeline · adaptive progression · game layer · avatars &amp; rewards · offline delivery</a:t>
            </a:r>
            <a:endParaRPr lang="en-US" sz="1250" dirty="0"/>
          </a:p>
        </p:txBody>
      </p:sp>
      <p:sp>
        <p:nvSpPr>
          <p:cNvPr id="20" name="Shape 18"/>
          <p:cNvSpPr/>
          <p:nvPr/>
        </p:nvSpPr>
        <p:spPr>
          <a:xfrm rot="5400000">
            <a:off x="640080" y="4672584"/>
            <a:ext cx="310896" cy="310896"/>
          </a:xfrm>
          <a:prstGeom prst="hexagon">
            <a:avLst/>
          </a:prstGeom>
          <a:solidFill>
            <a:srgbClr val="6C4FE0"/>
          </a:solidFill>
          <a:ln/>
        </p:spPr>
      </p:sp>
      <p:sp>
        <p:nvSpPr>
          <p:cNvPr id="21" name="Text 19"/>
          <p:cNvSpPr/>
          <p:nvPr/>
        </p:nvSpPr>
        <p:spPr>
          <a:xfrm>
            <a:off x="1115568" y="4636008"/>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with new content</a:t>
            </a:r>
            <a:endParaRPr lang="en-US" sz="1400" dirty="0"/>
          </a:p>
        </p:txBody>
      </p:sp>
      <p:sp>
        <p:nvSpPr>
          <p:cNvPr id="22" name="Text 20"/>
          <p:cNvSpPr/>
          <p:nvPr/>
        </p:nvSpPr>
        <p:spPr>
          <a:xfrm>
            <a:off x="3749040" y="4636008"/>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Verbal reasoning · heritage vocabulary · mental maths · financial literacy</a:t>
            </a:r>
            <a:endParaRPr lang="en-US" sz="1250" dirty="0"/>
          </a:p>
        </p:txBody>
      </p:sp>
      <p:sp>
        <p:nvSpPr>
          <p:cNvPr id="23" name="Shape 21"/>
          <p:cNvSpPr/>
          <p:nvPr/>
        </p:nvSpPr>
        <p:spPr>
          <a:xfrm rot="5400000">
            <a:off x="640080" y="5330952"/>
            <a:ext cx="310896" cy="310896"/>
          </a:xfrm>
          <a:prstGeom prst="hexagon">
            <a:avLst/>
          </a:prstGeom>
          <a:solidFill>
            <a:srgbClr val="C4453C"/>
          </a:solidFill>
          <a:ln/>
        </p:spPr>
      </p:sp>
      <p:sp>
        <p:nvSpPr>
          <p:cNvPr id="24" name="Text 22"/>
          <p:cNvSpPr/>
          <p:nvPr/>
        </p:nvSpPr>
        <p:spPr>
          <a:xfrm>
            <a:off x="1115568" y="5294376"/>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Does not transfer</a:t>
            </a:r>
            <a:endParaRPr lang="en-US" sz="1400" dirty="0"/>
          </a:p>
        </p:txBody>
      </p:sp>
      <p:sp>
        <p:nvSpPr>
          <p:cNvPr id="25" name="Text 23"/>
          <p:cNvSpPr/>
          <p:nvPr/>
        </p:nvSpPr>
        <p:spPr>
          <a:xfrm>
            <a:off x="3749040" y="5294376"/>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Anything needing a solver, a rating system or a live teacher — chess, coding, music, dance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BRAND ARCHITECTURE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 house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Three families, one engine. Geography is a hook rather than a brand — which is why India is the only place-name here, and why it is free.</a:t>
            </a:r>
            <a:endParaRPr lang="en-US" sz="1450" dirty="0"/>
          </a:p>
        </p:txBody>
      </p:sp>
      <p:sp>
        <p:nvSpPr>
          <p:cNvPr id="5" name="Shape 3"/>
          <p:cNvSpPr/>
          <p:nvPr/>
        </p:nvSpPr>
        <p:spPr>
          <a:xfrm>
            <a:off x="4937760" y="1938528"/>
            <a:ext cx="2286000" cy="585216"/>
          </a:xfrm>
          <a:prstGeom prst="roundRect">
            <a:avLst>
              <a:gd name="adj" fmla="val 20313"/>
            </a:avLst>
          </a:prstGeom>
          <a:solidFill>
            <a:srgbClr val="241E33"/>
          </a:solidFill>
          <a:ln/>
        </p:spPr>
      </p:sp>
      <p:sp>
        <p:nvSpPr>
          <p:cNvPr id="6" name="Text 4"/>
          <p:cNvSpPr/>
          <p:nvPr/>
        </p:nvSpPr>
        <p:spPr>
          <a:xfrm>
            <a:off x="4937760" y="1938528"/>
            <a:ext cx="2286000" cy="585216"/>
          </a:xfrm>
          <a:prstGeom prst="rect">
            <a:avLst/>
          </a:prstGeom>
          <a:noFill/>
          <a:ln/>
        </p:spPr>
        <p:txBody>
          <a:bodyPr wrap="square" lIns="0" tIns="0" rIns="0" bIns="0" rtlCol="0" anchor="ctr"/>
          <a:lstStyle/>
          <a:p>
            <a:pPr algn="ctr" indent="0" marL="0">
              <a:buNone/>
            </a:pPr>
            <a:r>
              <a:rPr lang="en-US" sz="2000" b="1" spc="200" kern="0" dirty="0">
                <a:solidFill>
                  <a:srgbClr val="FFFFFF"/>
                </a:solidFill>
                <a:latin typeface="Cambria" pitchFamily="34" charset="0"/>
                <a:ea typeface="Cambria" pitchFamily="34" charset="-122"/>
                <a:cs typeface="Cambria" pitchFamily="34" charset="-120"/>
              </a:rPr>
              <a:t>BIZZING</a:t>
            </a:r>
            <a:endParaRPr lang="en-US" sz="2000" dirty="0"/>
          </a:p>
        </p:txBody>
      </p:sp>
      <p:sp>
        <p:nvSpPr>
          <p:cNvPr id="7" name="Shape 5"/>
          <p:cNvSpPr/>
          <p:nvPr/>
        </p:nvSpPr>
        <p:spPr>
          <a:xfrm>
            <a:off x="6080760" y="2523744"/>
            <a:ext cx="0" cy="274320"/>
          </a:xfrm>
          <a:prstGeom prst="line">
            <a:avLst/>
          </a:prstGeom>
          <a:noFill/>
          <a:ln w="25400">
            <a:solidFill>
              <a:srgbClr val="E3DCF2"/>
            </a:solidFill>
            <a:prstDash val="solid"/>
          </a:ln>
        </p:spPr>
      </p:sp>
      <p:sp>
        <p:nvSpPr>
          <p:cNvPr id="8" name="Shape 6"/>
          <p:cNvSpPr/>
          <p:nvPr/>
        </p:nvSpPr>
        <p:spPr>
          <a:xfrm>
            <a:off x="2286000" y="2798064"/>
            <a:ext cx="7589520" cy="0"/>
          </a:xfrm>
          <a:prstGeom prst="line">
            <a:avLst/>
          </a:prstGeom>
          <a:noFill/>
          <a:ln w="25400">
            <a:solidFill>
              <a:srgbClr val="E3DCF2"/>
            </a:solidFill>
            <a:prstDash val="solid"/>
          </a:ln>
        </p:spPr>
      </p:sp>
      <p:sp>
        <p:nvSpPr>
          <p:cNvPr id="9" name="Shape 7"/>
          <p:cNvSpPr/>
          <p:nvPr/>
        </p:nvSpPr>
        <p:spPr>
          <a:xfrm>
            <a:off x="2299716" y="2798064"/>
            <a:ext cx="0" cy="274320"/>
          </a:xfrm>
          <a:prstGeom prst="line">
            <a:avLst/>
          </a:prstGeom>
          <a:noFill/>
          <a:ln w="25400">
            <a:solidFill>
              <a:srgbClr val="E3DCF2"/>
            </a:solidFill>
            <a:prstDash val="solid"/>
          </a:ln>
        </p:spPr>
      </p:sp>
      <p:sp>
        <p:nvSpPr>
          <p:cNvPr id="10" name="Shape 8"/>
          <p:cNvSpPr/>
          <p:nvPr/>
        </p:nvSpPr>
        <p:spPr>
          <a:xfrm>
            <a:off x="640080" y="3072384"/>
            <a:ext cx="3319272" cy="384048"/>
          </a:xfrm>
          <a:prstGeom prst="roundRect">
            <a:avLst>
              <a:gd name="adj" fmla="val 23810"/>
            </a:avLst>
          </a:prstGeom>
          <a:solidFill>
            <a:srgbClr val="6C4FE0"/>
          </a:solidFill>
          <a:ln/>
        </p:spPr>
      </p:sp>
      <p:sp>
        <p:nvSpPr>
          <p:cNvPr id="11" name="Text 9"/>
          <p:cNvSpPr/>
          <p:nvPr/>
        </p:nvSpPr>
        <p:spPr>
          <a:xfrm>
            <a:off x="640080"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WORDS</a:t>
            </a:r>
            <a:endParaRPr lang="en-US" sz="1000" dirty="0"/>
          </a:p>
        </p:txBody>
      </p:sp>
      <p:sp>
        <p:nvSpPr>
          <p:cNvPr id="12" name="Shape 10"/>
          <p:cNvSpPr/>
          <p:nvPr/>
        </p:nvSpPr>
        <p:spPr>
          <a:xfrm>
            <a:off x="640080" y="3602736"/>
            <a:ext cx="3319272" cy="347472"/>
          </a:xfrm>
          <a:prstGeom prst="roundRect">
            <a:avLst>
              <a:gd name="adj" fmla="val 23684"/>
            </a:avLst>
          </a:prstGeom>
          <a:solidFill>
            <a:srgbClr val="EFEBF8"/>
          </a:solidFill>
          <a:ln/>
        </p:spPr>
      </p:sp>
      <p:pic>
        <p:nvPicPr>
          <p:cNvPr id="13" name="Image 0" descr="preencoded.png">    </p:cNvPr>
          <p:cNvPicPr>
            <a:picLocks noChangeAspect="1"/>
          </p:cNvPicPr>
          <p:nvPr/>
        </p:nvPicPr>
        <p:blipFill>
          <a:blip r:embed="rId1"/>
          <a:stretch>
            <a:fillRect/>
          </a:stretch>
        </p:blipFill>
        <p:spPr>
          <a:xfrm>
            <a:off x="694944" y="3621024"/>
            <a:ext cx="310896" cy="310896"/>
          </a:xfrm>
          <a:prstGeom prst="rect">
            <a:avLst/>
          </a:prstGeom>
        </p:spPr>
      </p:pic>
      <p:sp>
        <p:nvSpPr>
          <p:cNvPr id="14" name="Text 11"/>
          <p:cNvSpPr/>
          <p:nvPr/>
        </p:nvSpPr>
        <p:spPr>
          <a:xfrm>
            <a:off x="1060704"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Bee</a:t>
            </a:r>
            <a:endParaRPr lang="en-US" sz="1250" dirty="0"/>
          </a:p>
        </p:txBody>
      </p:sp>
      <p:sp>
        <p:nvSpPr>
          <p:cNvPr id="15" name="Text 12"/>
          <p:cNvSpPr/>
          <p:nvPr/>
        </p:nvSpPr>
        <p:spPr>
          <a:xfrm>
            <a:off x="2660904"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live</a:t>
            </a:r>
            <a:endParaRPr lang="en-US" sz="900" dirty="0"/>
          </a:p>
        </p:txBody>
      </p:sp>
      <p:sp>
        <p:nvSpPr>
          <p:cNvPr id="16" name="Shape 13"/>
          <p:cNvSpPr/>
          <p:nvPr/>
        </p:nvSpPr>
        <p:spPr>
          <a:xfrm>
            <a:off x="640080" y="4023360"/>
            <a:ext cx="3319272" cy="347472"/>
          </a:xfrm>
          <a:prstGeom prst="roundRect">
            <a:avLst>
              <a:gd name="adj" fmla="val 23684"/>
            </a:avLst>
          </a:prstGeom>
          <a:solidFill>
            <a:srgbClr val="EFEBF8"/>
          </a:solidFill>
          <a:ln/>
        </p:spPr>
      </p:sp>
      <p:pic>
        <p:nvPicPr>
          <p:cNvPr id="17" name="Image 1" descr="preencoded.png">    </p:cNvPr>
          <p:cNvPicPr>
            <a:picLocks noChangeAspect="1"/>
          </p:cNvPicPr>
          <p:nvPr/>
        </p:nvPicPr>
        <p:blipFill>
          <a:blip r:embed="rId2"/>
          <a:stretch>
            <a:fillRect/>
          </a:stretch>
        </p:blipFill>
        <p:spPr>
          <a:xfrm>
            <a:off x="694944" y="4041648"/>
            <a:ext cx="310896" cy="310896"/>
          </a:xfrm>
          <a:prstGeom prst="rect">
            <a:avLst/>
          </a:prstGeom>
        </p:spPr>
      </p:pic>
      <p:sp>
        <p:nvSpPr>
          <p:cNvPr id="18" name="Text 14"/>
          <p:cNvSpPr/>
          <p:nvPr/>
        </p:nvSpPr>
        <p:spPr>
          <a:xfrm>
            <a:off x="1060704"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Eleven</a:t>
            </a:r>
            <a:endParaRPr lang="en-US" sz="1250" dirty="0"/>
          </a:p>
        </p:txBody>
      </p:sp>
      <p:sp>
        <p:nvSpPr>
          <p:cNvPr id="19" name="Text 15"/>
          <p:cNvSpPr/>
          <p:nvPr/>
        </p:nvSpPr>
        <p:spPr>
          <a:xfrm>
            <a:off x="2660904"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next</a:t>
            </a:r>
            <a:endParaRPr lang="en-US" sz="900" dirty="0"/>
          </a:p>
        </p:txBody>
      </p:sp>
      <p:sp>
        <p:nvSpPr>
          <p:cNvPr id="20" name="Shape 16"/>
          <p:cNvSpPr/>
          <p:nvPr/>
        </p:nvSpPr>
        <p:spPr>
          <a:xfrm>
            <a:off x="640080" y="4443984"/>
            <a:ext cx="3319272" cy="347472"/>
          </a:xfrm>
          <a:prstGeom prst="roundRect">
            <a:avLst>
              <a:gd name="adj" fmla="val 23684"/>
            </a:avLst>
          </a:prstGeom>
          <a:solidFill>
            <a:srgbClr val="EFEBF8"/>
          </a:solidFill>
          <a:ln/>
        </p:spPr>
      </p:sp>
      <p:pic>
        <p:nvPicPr>
          <p:cNvPr id="21" name="Image 2" descr="preencoded.png">    </p:cNvPr>
          <p:cNvPicPr>
            <a:picLocks noChangeAspect="1"/>
          </p:cNvPicPr>
          <p:nvPr/>
        </p:nvPicPr>
        <p:blipFill>
          <a:blip r:embed="rId3"/>
          <a:stretch>
            <a:fillRect/>
          </a:stretch>
        </p:blipFill>
        <p:spPr>
          <a:xfrm>
            <a:off x="694944" y="4462272"/>
            <a:ext cx="310896" cy="310896"/>
          </a:xfrm>
          <a:prstGeom prst="rect">
            <a:avLst/>
          </a:prstGeom>
        </p:spPr>
      </p:pic>
      <p:sp>
        <p:nvSpPr>
          <p:cNvPr id="22" name="Text 17"/>
          <p:cNvSpPr/>
          <p:nvPr/>
        </p:nvSpPr>
        <p:spPr>
          <a:xfrm>
            <a:off x="1060704"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English</a:t>
            </a:r>
            <a:endParaRPr lang="en-US" sz="1250" dirty="0"/>
          </a:p>
        </p:txBody>
      </p:sp>
      <p:sp>
        <p:nvSpPr>
          <p:cNvPr id="23" name="Text 18"/>
          <p:cNvSpPr/>
          <p:nvPr/>
        </p:nvSpPr>
        <p:spPr>
          <a:xfrm>
            <a:off x="2660904"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24" name="Shape 19"/>
          <p:cNvSpPr/>
          <p:nvPr/>
        </p:nvSpPr>
        <p:spPr>
          <a:xfrm>
            <a:off x="640080" y="4864608"/>
            <a:ext cx="3319272" cy="347472"/>
          </a:xfrm>
          <a:prstGeom prst="roundRect">
            <a:avLst>
              <a:gd name="adj" fmla="val 23684"/>
            </a:avLst>
          </a:prstGeom>
          <a:solidFill>
            <a:srgbClr val="EFEBF8"/>
          </a:solidFill>
          <a:ln/>
        </p:spPr>
      </p:sp>
      <p:pic>
        <p:nvPicPr>
          <p:cNvPr id="25" name="Image 3" descr="preencoded.png">    </p:cNvPr>
          <p:cNvPicPr>
            <a:picLocks noChangeAspect="1"/>
          </p:cNvPicPr>
          <p:nvPr/>
        </p:nvPicPr>
        <p:blipFill>
          <a:blip r:embed="rId4"/>
          <a:stretch>
            <a:fillRect/>
          </a:stretch>
        </p:blipFill>
        <p:spPr>
          <a:xfrm>
            <a:off x="694944" y="4882896"/>
            <a:ext cx="310896" cy="310896"/>
          </a:xfrm>
          <a:prstGeom prst="rect">
            <a:avLst/>
          </a:prstGeom>
        </p:spPr>
      </p:pic>
      <p:sp>
        <p:nvSpPr>
          <p:cNvPr id="26" name="Text 20"/>
          <p:cNvSpPr/>
          <p:nvPr/>
        </p:nvSpPr>
        <p:spPr>
          <a:xfrm>
            <a:off x="1060704"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Buzz</a:t>
            </a:r>
            <a:endParaRPr lang="en-US" sz="1250" dirty="0"/>
          </a:p>
        </p:txBody>
      </p:sp>
      <p:sp>
        <p:nvSpPr>
          <p:cNvPr id="27" name="Text 21"/>
          <p:cNvSpPr/>
          <p:nvPr/>
        </p:nvSpPr>
        <p:spPr>
          <a:xfrm>
            <a:off x="2660904"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ages 4–6</a:t>
            </a:r>
            <a:endParaRPr lang="en-US" sz="900" dirty="0"/>
          </a:p>
        </p:txBody>
      </p:sp>
      <p:sp>
        <p:nvSpPr>
          <p:cNvPr id="28" name="Shape 22"/>
          <p:cNvSpPr/>
          <p:nvPr/>
        </p:nvSpPr>
        <p:spPr>
          <a:xfrm>
            <a:off x="640080" y="5285232"/>
            <a:ext cx="3319272" cy="347472"/>
          </a:xfrm>
          <a:prstGeom prst="roundRect">
            <a:avLst>
              <a:gd name="adj" fmla="val 23684"/>
            </a:avLst>
          </a:prstGeom>
          <a:solidFill>
            <a:srgbClr val="EFEBF8"/>
          </a:solidFill>
          <a:ln/>
        </p:spPr>
      </p:sp>
      <p:pic>
        <p:nvPicPr>
          <p:cNvPr id="29" name="Image 4" descr="preencoded.png">    </p:cNvPr>
          <p:cNvPicPr>
            <a:picLocks noChangeAspect="1"/>
          </p:cNvPicPr>
          <p:nvPr/>
        </p:nvPicPr>
        <p:blipFill>
          <a:blip r:embed="rId5"/>
          <a:stretch>
            <a:fillRect/>
          </a:stretch>
        </p:blipFill>
        <p:spPr>
          <a:xfrm>
            <a:off x="694944" y="5303520"/>
            <a:ext cx="310896" cy="310896"/>
          </a:xfrm>
          <a:prstGeom prst="rect">
            <a:avLst/>
          </a:prstGeom>
        </p:spPr>
      </p:pic>
      <p:sp>
        <p:nvSpPr>
          <p:cNvPr id="30" name="Text 23"/>
          <p:cNvSpPr/>
          <p:nvPr/>
        </p:nvSpPr>
        <p:spPr>
          <a:xfrm>
            <a:off x="1060704" y="5285232"/>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Prep</a:t>
            </a:r>
            <a:endParaRPr lang="en-US" sz="1250" dirty="0"/>
          </a:p>
        </p:txBody>
      </p:sp>
      <p:sp>
        <p:nvSpPr>
          <p:cNvPr id="31" name="Text 24"/>
          <p:cNvSpPr/>
          <p:nvPr/>
        </p:nvSpPr>
        <p:spPr>
          <a:xfrm>
            <a:off x="2660904"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2" name="Shape 25"/>
          <p:cNvSpPr/>
          <p:nvPr/>
        </p:nvSpPr>
        <p:spPr>
          <a:xfrm>
            <a:off x="640080" y="5705856"/>
            <a:ext cx="3319272" cy="347472"/>
          </a:xfrm>
          <a:prstGeom prst="roundRect">
            <a:avLst>
              <a:gd name="adj" fmla="val 23684"/>
            </a:avLst>
          </a:prstGeom>
          <a:solidFill>
            <a:srgbClr val="EFEBF8"/>
          </a:solidFill>
          <a:ln/>
        </p:spPr>
      </p:sp>
      <p:pic>
        <p:nvPicPr>
          <p:cNvPr id="33" name="Image 5" descr="preencoded.png">    </p:cNvPr>
          <p:cNvPicPr>
            <a:picLocks noChangeAspect="1"/>
          </p:cNvPicPr>
          <p:nvPr/>
        </p:nvPicPr>
        <p:blipFill>
          <a:blip r:embed="rId6"/>
          <a:stretch>
            <a:fillRect/>
          </a:stretch>
        </p:blipFill>
        <p:spPr>
          <a:xfrm>
            <a:off x="694944" y="5724144"/>
            <a:ext cx="310896" cy="310896"/>
          </a:xfrm>
          <a:prstGeom prst="rect">
            <a:avLst/>
          </a:prstGeom>
        </p:spPr>
      </p:pic>
      <p:sp>
        <p:nvSpPr>
          <p:cNvPr id="34" name="Text 26"/>
          <p:cNvSpPr/>
          <p:nvPr/>
        </p:nvSpPr>
        <p:spPr>
          <a:xfrm>
            <a:off x="1060704" y="570585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Speak</a:t>
            </a:r>
            <a:endParaRPr lang="en-US" sz="1250" dirty="0"/>
          </a:p>
        </p:txBody>
      </p:sp>
      <p:sp>
        <p:nvSpPr>
          <p:cNvPr id="35" name="Text 27"/>
          <p:cNvSpPr/>
          <p:nvPr/>
        </p:nvSpPr>
        <p:spPr>
          <a:xfrm>
            <a:off x="2660904" y="570585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6" name="Shape 28"/>
          <p:cNvSpPr/>
          <p:nvPr/>
        </p:nvSpPr>
        <p:spPr>
          <a:xfrm>
            <a:off x="6076188" y="2798064"/>
            <a:ext cx="0" cy="274320"/>
          </a:xfrm>
          <a:prstGeom prst="line">
            <a:avLst/>
          </a:prstGeom>
          <a:noFill/>
          <a:ln w="25400">
            <a:solidFill>
              <a:srgbClr val="E3DCF2"/>
            </a:solidFill>
            <a:prstDash val="solid"/>
          </a:ln>
        </p:spPr>
      </p:sp>
      <p:sp>
        <p:nvSpPr>
          <p:cNvPr id="37" name="Shape 29"/>
          <p:cNvSpPr/>
          <p:nvPr/>
        </p:nvSpPr>
        <p:spPr>
          <a:xfrm>
            <a:off x="4416552" y="3072384"/>
            <a:ext cx="3319272" cy="384048"/>
          </a:xfrm>
          <a:prstGeom prst="roundRect">
            <a:avLst>
              <a:gd name="adj" fmla="val 23810"/>
            </a:avLst>
          </a:prstGeom>
          <a:solidFill>
            <a:srgbClr val="F0B429"/>
          </a:solidFill>
          <a:ln/>
        </p:spPr>
      </p:sp>
      <p:sp>
        <p:nvSpPr>
          <p:cNvPr id="38" name="Text 30"/>
          <p:cNvSpPr/>
          <p:nvPr/>
        </p:nvSpPr>
        <p:spPr>
          <a:xfrm>
            <a:off x="4416552"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241E33"/>
                </a:solidFill>
                <a:latin typeface="Calibri" pitchFamily="34" charset="0"/>
                <a:ea typeface="Calibri" pitchFamily="34" charset="-122"/>
                <a:cs typeface="Calibri" pitchFamily="34" charset="-120"/>
              </a:rPr>
              <a:t>CULTURE</a:t>
            </a:r>
            <a:endParaRPr lang="en-US" sz="1000" dirty="0"/>
          </a:p>
        </p:txBody>
      </p:sp>
      <p:sp>
        <p:nvSpPr>
          <p:cNvPr id="39" name="Shape 31"/>
          <p:cNvSpPr/>
          <p:nvPr/>
        </p:nvSpPr>
        <p:spPr>
          <a:xfrm>
            <a:off x="4416552" y="3602736"/>
            <a:ext cx="3319272" cy="347472"/>
          </a:xfrm>
          <a:prstGeom prst="roundRect">
            <a:avLst>
              <a:gd name="adj" fmla="val 23684"/>
            </a:avLst>
          </a:prstGeom>
          <a:solidFill>
            <a:srgbClr val="EFEBF8"/>
          </a:solidFill>
          <a:ln/>
        </p:spPr>
      </p:sp>
      <p:pic>
        <p:nvPicPr>
          <p:cNvPr id="40" name="Image 6" descr="preencoded.png">    </p:cNvPr>
          <p:cNvPicPr>
            <a:picLocks noChangeAspect="1"/>
          </p:cNvPicPr>
          <p:nvPr/>
        </p:nvPicPr>
        <p:blipFill>
          <a:blip r:embed="rId7"/>
          <a:stretch>
            <a:fillRect/>
          </a:stretch>
        </p:blipFill>
        <p:spPr>
          <a:xfrm>
            <a:off x="4471416" y="3621024"/>
            <a:ext cx="310896" cy="310896"/>
          </a:xfrm>
          <a:prstGeom prst="rect">
            <a:avLst/>
          </a:prstGeom>
        </p:spPr>
      </p:pic>
      <p:sp>
        <p:nvSpPr>
          <p:cNvPr id="41" name="Text 32"/>
          <p:cNvSpPr/>
          <p:nvPr/>
        </p:nvSpPr>
        <p:spPr>
          <a:xfrm>
            <a:off x="4837176"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India</a:t>
            </a:r>
            <a:endParaRPr lang="en-US" sz="1250" dirty="0"/>
          </a:p>
        </p:txBody>
      </p:sp>
      <p:sp>
        <p:nvSpPr>
          <p:cNvPr id="42" name="Text 33"/>
          <p:cNvSpPr/>
          <p:nvPr/>
        </p:nvSpPr>
        <p:spPr>
          <a:xfrm>
            <a:off x="6437376"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free hook</a:t>
            </a:r>
            <a:endParaRPr lang="en-US" sz="900" dirty="0"/>
          </a:p>
        </p:txBody>
      </p:sp>
      <p:sp>
        <p:nvSpPr>
          <p:cNvPr id="43" name="Shape 34"/>
          <p:cNvSpPr/>
          <p:nvPr/>
        </p:nvSpPr>
        <p:spPr>
          <a:xfrm>
            <a:off x="4727448" y="4023360"/>
            <a:ext cx="3008376" cy="347472"/>
          </a:xfrm>
          <a:prstGeom prst="roundRect">
            <a:avLst>
              <a:gd name="adj" fmla="val 23684"/>
            </a:avLst>
          </a:prstGeom>
          <a:solidFill>
            <a:srgbClr val="EFEBF8"/>
          </a:solidFill>
          <a:ln/>
        </p:spPr>
      </p:sp>
      <p:pic>
        <p:nvPicPr>
          <p:cNvPr id="44" name="Image 7" descr="preencoded.png">    </p:cNvPr>
          <p:cNvPicPr>
            <a:picLocks noChangeAspect="1"/>
          </p:cNvPicPr>
          <p:nvPr/>
        </p:nvPicPr>
        <p:blipFill>
          <a:blip r:embed="rId8"/>
          <a:stretch>
            <a:fillRect/>
          </a:stretch>
        </p:blipFill>
        <p:spPr>
          <a:xfrm>
            <a:off x="4782312" y="4041648"/>
            <a:ext cx="310896" cy="310896"/>
          </a:xfrm>
          <a:prstGeom prst="rect">
            <a:avLst/>
          </a:prstGeom>
        </p:spPr>
      </p:pic>
      <p:sp>
        <p:nvSpPr>
          <p:cNvPr id="45" name="Text 35"/>
          <p:cNvSpPr/>
          <p:nvPr/>
        </p:nvSpPr>
        <p:spPr>
          <a:xfrm>
            <a:off x="5148072" y="4023360"/>
            <a:ext cx="119786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Bhasha</a:t>
            </a:r>
            <a:endParaRPr lang="en-US" sz="1250" dirty="0"/>
          </a:p>
        </p:txBody>
      </p:sp>
      <p:sp>
        <p:nvSpPr>
          <p:cNvPr id="46" name="Text 36"/>
          <p:cNvSpPr/>
          <p:nvPr/>
        </p:nvSpPr>
        <p:spPr>
          <a:xfrm>
            <a:off x="6437376"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paid pack</a:t>
            </a:r>
            <a:endParaRPr lang="en-US" sz="900" dirty="0"/>
          </a:p>
        </p:txBody>
      </p:sp>
      <p:sp>
        <p:nvSpPr>
          <p:cNvPr id="47" name="Shape 37"/>
          <p:cNvSpPr/>
          <p:nvPr/>
        </p:nvSpPr>
        <p:spPr>
          <a:xfrm>
            <a:off x="9852660" y="2798064"/>
            <a:ext cx="0" cy="274320"/>
          </a:xfrm>
          <a:prstGeom prst="line">
            <a:avLst/>
          </a:prstGeom>
          <a:noFill/>
          <a:ln w="25400">
            <a:solidFill>
              <a:srgbClr val="E3DCF2"/>
            </a:solidFill>
            <a:prstDash val="solid"/>
          </a:ln>
        </p:spPr>
      </p:sp>
      <p:sp>
        <p:nvSpPr>
          <p:cNvPr id="48" name="Shape 38"/>
          <p:cNvSpPr/>
          <p:nvPr/>
        </p:nvSpPr>
        <p:spPr>
          <a:xfrm>
            <a:off x="8193024" y="3072384"/>
            <a:ext cx="3319272" cy="384048"/>
          </a:xfrm>
          <a:prstGeom prst="roundRect">
            <a:avLst>
              <a:gd name="adj" fmla="val 23810"/>
            </a:avLst>
          </a:prstGeom>
          <a:solidFill>
            <a:srgbClr val="178A4C"/>
          </a:solidFill>
          <a:ln/>
        </p:spPr>
      </p:sp>
      <p:sp>
        <p:nvSpPr>
          <p:cNvPr id="49" name="Text 39"/>
          <p:cNvSpPr/>
          <p:nvPr/>
        </p:nvSpPr>
        <p:spPr>
          <a:xfrm>
            <a:off x="8193024"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NUMBERS &amp; THE WORLD</a:t>
            </a:r>
            <a:endParaRPr lang="en-US" sz="1000" dirty="0"/>
          </a:p>
        </p:txBody>
      </p:sp>
      <p:sp>
        <p:nvSpPr>
          <p:cNvPr id="50" name="Shape 40"/>
          <p:cNvSpPr/>
          <p:nvPr/>
        </p:nvSpPr>
        <p:spPr>
          <a:xfrm>
            <a:off x="8193024" y="3602736"/>
            <a:ext cx="3319272" cy="347472"/>
          </a:xfrm>
          <a:prstGeom prst="roundRect">
            <a:avLst>
              <a:gd name="adj" fmla="val 23684"/>
            </a:avLst>
          </a:prstGeom>
          <a:solidFill>
            <a:srgbClr val="EFEBF8"/>
          </a:solidFill>
          <a:ln/>
        </p:spPr>
      </p:sp>
      <p:pic>
        <p:nvPicPr>
          <p:cNvPr id="51" name="Image 8" descr="preencoded.png">    </p:cNvPr>
          <p:cNvPicPr>
            <a:picLocks noChangeAspect="1"/>
          </p:cNvPicPr>
          <p:nvPr/>
        </p:nvPicPr>
        <p:blipFill>
          <a:blip r:embed="rId9"/>
          <a:stretch>
            <a:fillRect/>
          </a:stretch>
        </p:blipFill>
        <p:spPr>
          <a:xfrm>
            <a:off x="8247888" y="3621024"/>
            <a:ext cx="310896" cy="310896"/>
          </a:xfrm>
          <a:prstGeom prst="rect">
            <a:avLst/>
          </a:prstGeom>
        </p:spPr>
      </p:pic>
      <p:sp>
        <p:nvSpPr>
          <p:cNvPr id="52" name="Text 41"/>
          <p:cNvSpPr/>
          <p:nvPr/>
        </p:nvSpPr>
        <p:spPr>
          <a:xfrm>
            <a:off x="8613648"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Maths</a:t>
            </a:r>
            <a:endParaRPr lang="en-US" sz="1250" dirty="0"/>
          </a:p>
        </p:txBody>
      </p:sp>
      <p:sp>
        <p:nvSpPr>
          <p:cNvPr id="53" name="Text 42"/>
          <p:cNvSpPr/>
          <p:nvPr/>
        </p:nvSpPr>
        <p:spPr>
          <a:xfrm>
            <a:off x="10213848"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54" name="Shape 43"/>
          <p:cNvSpPr/>
          <p:nvPr/>
        </p:nvSpPr>
        <p:spPr>
          <a:xfrm>
            <a:off x="8193024" y="4023360"/>
            <a:ext cx="3319272" cy="347472"/>
          </a:xfrm>
          <a:prstGeom prst="roundRect">
            <a:avLst>
              <a:gd name="adj" fmla="val 23684"/>
            </a:avLst>
          </a:prstGeom>
          <a:solidFill>
            <a:srgbClr val="EFEBF8"/>
          </a:solidFill>
          <a:ln/>
        </p:spPr>
      </p:sp>
      <p:sp>
        <p:nvSpPr>
          <p:cNvPr id="55" name="Text 44"/>
          <p:cNvSpPr/>
          <p:nvPr/>
        </p:nvSpPr>
        <p:spPr>
          <a:xfrm>
            <a:off x="8613648"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Finance</a:t>
            </a:r>
            <a:endParaRPr lang="en-US" sz="1250" dirty="0"/>
          </a:p>
        </p:txBody>
      </p:sp>
      <p:sp>
        <p:nvSpPr>
          <p:cNvPr id="56" name="Text 45"/>
          <p:cNvSpPr/>
          <p:nvPr/>
        </p:nvSpPr>
        <p:spPr>
          <a:xfrm>
            <a:off x="10213848"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in flight</a:t>
            </a:r>
            <a:endParaRPr lang="en-US" sz="900" dirty="0"/>
          </a:p>
        </p:txBody>
      </p:sp>
      <p:sp>
        <p:nvSpPr>
          <p:cNvPr id="57" name="Shape 46"/>
          <p:cNvSpPr/>
          <p:nvPr/>
        </p:nvSpPr>
        <p:spPr>
          <a:xfrm>
            <a:off x="8193024" y="4443984"/>
            <a:ext cx="3319272" cy="347472"/>
          </a:xfrm>
          <a:prstGeom prst="roundRect">
            <a:avLst>
              <a:gd name="adj" fmla="val 23684"/>
            </a:avLst>
          </a:prstGeom>
          <a:solidFill>
            <a:srgbClr val="EFEBF8"/>
          </a:solidFill>
          <a:ln/>
        </p:spPr>
      </p:sp>
      <p:pic>
        <p:nvPicPr>
          <p:cNvPr id="58" name="Image 9" descr="preencoded.png">    </p:cNvPr>
          <p:cNvPicPr>
            <a:picLocks noChangeAspect="1"/>
          </p:cNvPicPr>
          <p:nvPr/>
        </p:nvPicPr>
        <p:blipFill>
          <a:blip r:embed="rId10"/>
          <a:stretch>
            <a:fillRect/>
          </a:stretch>
        </p:blipFill>
        <p:spPr>
          <a:xfrm>
            <a:off x="8247888" y="4462272"/>
            <a:ext cx="310896" cy="310896"/>
          </a:xfrm>
          <a:prstGeom prst="rect">
            <a:avLst/>
          </a:prstGeom>
        </p:spPr>
      </p:pic>
      <p:sp>
        <p:nvSpPr>
          <p:cNvPr id="59" name="Text 47"/>
          <p:cNvSpPr/>
          <p:nvPr/>
        </p:nvSpPr>
        <p:spPr>
          <a:xfrm>
            <a:off x="8613648"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Business</a:t>
            </a:r>
            <a:endParaRPr lang="en-US" sz="1250" dirty="0"/>
          </a:p>
        </p:txBody>
      </p:sp>
      <p:sp>
        <p:nvSpPr>
          <p:cNvPr id="60" name="Text 48"/>
          <p:cNvSpPr/>
          <p:nvPr/>
        </p:nvSpPr>
        <p:spPr>
          <a:xfrm>
            <a:off x="10213848"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committed</a:t>
            </a:r>
            <a:endParaRPr lang="en-US" sz="900" dirty="0"/>
          </a:p>
        </p:txBody>
      </p:sp>
      <p:sp>
        <p:nvSpPr>
          <p:cNvPr id="61" name="Shape 49"/>
          <p:cNvSpPr/>
          <p:nvPr/>
        </p:nvSpPr>
        <p:spPr>
          <a:xfrm>
            <a:off x="8193024" y="4864608"/>
            <a:ext cx="3319272" cy="347472"/>
          </a:xfrm>
          <a:prstGeom prst="roundRect">
            <a:avLst>
              <a:gd name="adj" fmla="val 23684"/>
            </a:avLst>
          </a:prstGeom>
          <a:solidFill>
            <a:srgbClr val="EFEBF8"/>
          </a:solidFill>
          <a:ln/>
        </p:spPr>
      </p:sp>
      <p:pic>
        <p:nvPicPr>
          <p:cNvPr id="62" name="Image 10" descr="preencoded.png">    </p:cNvPr>
          <p:cNvPicPr>
            <a:picLocks noChangeAspect="1"/>
          </p:cNvPicPr>
          <p:nvPr/>
        </p:nvPicPr>
        <p:blipFill>
          <a:blip r:embed="rId11"/>
          <a:stretch>
            <a:fillRect/>
          </a:stretch>
        </p:blipFill>
        <p:spPr>
          <a:xfrm>
            <a:off x="8247888" y="4882896"/>
            <a:ext cx="310896" cy="310896"/>
          </a:xfrm>
          <a:prstGeom prst="rect">
            <a:avLst/>
          </a:prstGeom>
        </p:spPr>
      </p:pic>
      <p:sp>
        <p:nvSpPr>
          <p:cNvPr id="63" name="Text 50"/>
          <p:cNvSpPr/>
          <p:nvPr/>
        </p:nvSpPr>
        <p:spPr>
          <a:xfrm>
            <a:off x="8613648"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AI</a:t>
            </a:r>
            <a:endParaRPr lang="en-US" sz="1250" dirty="0"/>
          </a:p>
        </p:txBody>
      </p:sp>
      <p:sp>
        <p:nvSpPr>
          <p:cNvPr id="64" name="Text 51"/>
          <p:cNvSpPr/>
          <p:nvPr/>
        </p:nvSpPr>
        <p:spPr>
          <a:xfrm>
            <a:off x="10213848"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proposed</a:t>
            </a:r>
            <a:endParaRPr lang="en-US" sz="900" dirty="0"/>
          </a:p>
        </p:txBody>
      </p:sp>
      <p:sp>
        <p:nvSpPr>
          <p:cNvPr id="65" name="Shape 52"/>
          <p:cNvSpPr/>
          <p:nvPr/>
        </p:nvSpPr>
        <p:spPr>
          <a:xfrm>
            <a:off x="8193024" y="5285232"/>
            <a:ext cx="3319272" cy="347472"/>
          </a:xfrm>
          <a:prstGeom prst="roundRect">
            <a:avLst>
              <a:gd name="adj" fmla="val 23684"/>
            </a:avLst>
          </a:prstGeom>
          <a:solidFill>
            <a:srgbClr val="EFEBF8"/>
          </a:solidFill>
          <a:ln/>
        </p:spPr>
      </p:sp>
      <p:pic>
        <p:nvPicPr>
          <p:cNvPr id="66" name="Image 11" descr="preencoded.png">    </p:cNvPr>
          <p:cNvPicPr>
            <a:picLocks noChangeAspect="1"/>
          </p:cNvPicPr>
          <p:nvPr/>
        </p:nvPicPr>
        <p:blipFill>
          <a:blip r:embed="rId12"/>
          <a:stretch>
            <a:fillRect/>
          </a:stretch>
        </p:blipFill>
        <p:spPr>
          <a:xfrm>
            <a:off x="8247888" y="5303520"/>
            <a:ext cx="310896" cy="310896"/>
          </a:xfrm>
          <a:prstGeom prst="rect">
            <a:avLst/>
          </a:prstGeom>
        </p:spPr>
      </p:pic>
      <p:sp>
        <p:nvSpPr>
          <p:cNvPr id="67" name="Text 53"/>
          <p:cNvSpPr/>
          <p:nvPr/>
        </p:nvSpPr>
        <p:spPr>
          <a:xfrm>
            <a:off x="8613648" y="5285232"/>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Quiz</a:t>
            </a:r>
            <a:endParaRPr lang="en-US" sz="1250" dirty="0"/>
          </a:p>
        </p:txBody>
      </p:sp>
      <p:sp>
        <p:nvSpPr>
          <p:cNvPr id="68" name="Text 54"/>
          <p:cNvSpPr/>
          <p:nvPr/>
        </p:nvSpPr>
        <p:spPr>
          <a:xfrm>
            <a:off x="10213848"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69" name="Text 55"/>
          <p:cNvSpPr/>
          <p:nvPr/>
        </p:nvSpPr>
        <p:spPr>
          <a:xfrm>
            <a:off x="640080" y="6144768"/>
            <a:ext cx="10607040" cy="621792"/>
          </a:xfrm>
          <a:prstGeom prst="rect">
            <a:avLst/>
          </a:prstGeom>
          <a:noFill/>
          <a:ln/>
        </p:spPr>
        <p:txBody>
          <a:bodyPr wrap="square" lIns="0" tIns="0" rIns="0" bIns="0" rtlCol="0" anchor="ctr"/>
          <a:lstStyle/>
          <a:p>
            <a:pPr indent="0" marL="0">
              <a:lnSpc>
                <a:spcPts val="1500"/>
              </a:lnSpc>
              <a:buNone/>
            </a:pPr>
            <a:r>
              <a:rPr lang="en-US" sz="1150" i="1" dirty="0">
                <a:solidFill>
                  <a:srgbClr val="7A7291"/>
                </a:solidFill>
                <a:latin typeface="Calibri" pitchFamily="34" charset="0"/>
                <a:ea typeface="Calibri" pitchFamily="34" charset="-122"/>
                <a:cs typeface="Calibri" pitchFamily="34" charset="-120"/>
              </a:rPr>
              <a:t>Thirteen products named. Three already have real content behind them — Bee, India and Quiz — and the rest are still a sentence. The naming rule: sub-brands are SUBJECTS, so there is no Bizzing UK, only a UK edition of Bizzing Eleven. Games are the exception and sit outside the house: they are hooks, not subjects.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1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Bee</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178A4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LIVE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best place in the world to prepare for a spelling bee.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one competition this community already organises around, and dominates. The demand exists; we neither create it nor explain it.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128,491 words with every one spoken aloud, a mapped journey, 164 concept chapters, an arcade, and a mock bee against ten simulated rivals.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Offline-first, no build step, no accounts required to start. Difficulty ramps on how tricky a spelling is, not on how rare the word is.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Difficulty is measured by TRICKINESS, not rarity — a silent letter beats a long word. Nothing else on the market does this.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Every one of 128k words is spoken. Competitors voice a curated few hundred.</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mock bee with ten rivals who each have their own nerve, speciality and vocabulary skill.</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gentler on-ramp so a six-year-old is not defeated on screen 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Parent-facing progress reporting — today the parent cannot see what is happening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Live and community bee events to convert the strongest users into advocates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The engine itself</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2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India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F0B429"/>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SEEDED · FREE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knows where they came from, and finds it genuinely interesting rather than dutiful.</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Heritage is the one hook no product built for a general audience can copy. It is also the warmest reason a family arrives, and it costs them nothing to try.</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Culture, festivals, mythology, geography, and the words English took from India. Free, shareable, and the doorway to the paid Bhasha packs.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Reuses the concept-chapter and trivia engines outright. It is a content programme, not a new build.</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real seed already ships: southasia-data.js carries eleven authored chapters on South Asian words in English, live as Expedition IV of the Word Atlas and as Volume 14 of the book series.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teaches Sanskrit, Hindi and Tamil loanwords as a bee STRATEGY — say it, spell it, trust the vowels — not as a curiosity.</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Festival, mythology and India-GK packs on top of the language chapters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clear free/paid line, with Bhasha as the paid pack inside the free hook</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funnel itself: what a family does next after finishing a free chapter</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 trivia engines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3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Bhasha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 · PAID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grandparent and the grandchild can hold a conversation.</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deepest emotional driver in this market, and the only category where the diaspora is the entire market rather than a slice of it. Parents fear a child losing the family, not a school place.</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Hindi first, then Tamil and Telugu. Script, vocabulary, listening and reading — sold as packs inside the free Bizzing India hook.</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Google TTS pipeline that voiced 128k English words does the expensive part again in another language.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Nobody serious is aiming at diaspora heritage language with a real product — the field is Saturday schools and PDF worksheets.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brand across many Indian languages, rather than a separate app per language.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per-language content build — this is the real cost, and it repeats per language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Non-Latin script rendering and input, which the app has never done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decision on which language ships second, on family demand rather than speaker counts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5–16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pipeline, drills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4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Eleven</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NEXT</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11+ verbal paper stops being a mystery a family has to buy tutoring to solve.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British Indian families spend heavily and start at eight. The incumbents are photocopied workbooks and past papers with no feedback loop.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Synonyms, antonyms, homophones, odd-one-out, word codes, letter manipulation and comprehension vocabulary — the verbal paper, drilled.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Closer to a re-skin than a new product. The homophone groups, diacritics, alternate pronunciations and the 128k library already exist.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would be the only 11+ verbal product where every word is spoken and difficulty adapts to the child rather than to the page number.</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11+ specific item types — codes, sequences, letter shifts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timed mock-paper mode, because the exam is as much about clock as vocabulary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Mapping to what UK grammar schools actually set</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8–11</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Near-total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5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Buzz</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C4453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WHITE SPACE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cannot read yet still plays with words every day.</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family arrives when the first child is four and Bizzing has nothing for them. The younger sibling is lost before they ever get to the Bee — this is the on-ramp gap on the age roadmap.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Letter sounds, phonics, rhyme, first words, picture-to-word matching, and Indian nursery stories read aloud.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Audio-first and picture-first, because the child cannot read the interface. The voice library and avatar art transfer; the reading-free UI does not exist and must be built.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buzz before the bee. A child graduates Buzz → Bee, which is the single strongest retention story in the house.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phonics product that is diaspora-aware from the first screen.</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UI a pre-reader can operate — icons, audio prompts, very large targets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phonics curriculum, which the app has never had</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parent-alongside mode, since a four-year-old does not practise alone</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4–6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 art, not the UI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6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English</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owns the language, rather than one who passes tests in it.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Spelling is a wedge into English, not the whole of it. Grammar, reading and writing are what school actually grades — and the second thing every parent asks about.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Grammar, punctuation, comprehension, writing structure, idiom and register, on one continuous ladder from first sentence to essay.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concept-chapter engine already teaches exactly this way, and the 43 advanced chapters are the template. Writing is the exception: it needs assessment, not drills.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continuous ladder instead of a workbook per school year — the child never restarts, and a sibling can join at their own rung.</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grammar and punctuation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comprehension passage bank with questions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writing-feedback loop — the hardest single thing in the whole house, and the one to prototype before committing</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engine; writing is new</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7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Maths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is fast and fearless with numbers, and knows why the trick works.</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Already named in the trademark filing. Mental maths and competition maths are the largest adjacent category to spelling in this community, and abacus and Vedic programmes already have the parents’ attention.</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fluency, mental-maths and Vedic techniques, then a decision about competition problems.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drills reuse the engine almost exactly. Competition problems do NOT — they need worked solutions and a solver, which is a different product.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mental-maths product that also teaches the reasoning, using the same concept-chapter model as the Bee.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fact-fluency bank and a Vedic technique chapter set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An honest decision on competition maths — it is the demand, and it is the part that does not reuse anything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Numeric input and working-out capture, which the word engine has never needed</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Drills yes, problems no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8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Business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COMMITTED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sixteen-year-old who has built something, pitched it to a room, and can explain why it worked or why it did not.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This is the conversation these families already have at the dinner table, and nothing exists for children that is not a four-figure summer camp. It lands in the twelve-to-sixteen gap where the bee ends, it is the highest price a family will pay in the whole house, and it is the product that turns Bizzing from a practice app into the place a child grew up.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How a business makes money, customers, pricing, competition, brand, operations and ethics — taught through real cases, worked in small teams, and finished with a capstone the child builds and pitches at a demo day.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Cohorts with fixed start dates, teams of three or four, a trained mentor per cohort, recorded core lessons and live sessions. Teamwork and a real teacher are FEATURES here, not obstacles — they are the reason it works and the reason it cannot be cloned by software.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mentor network is a moat. Content can be copied in a quarter; a trained bench of coaches who know these families cannot.</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capstone: the child makes and pitches something real. It is exactly what the CKO already does with slime, clay and loom bags — the product is that instinct, given structure.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Demo day is a marketing asset as well as a lesson: parents in a room watching their own children present.</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case library written for eleven-year-olds, and a cohort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Teams, project submission and mentor review in the app — none of which exists today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mentor bench: recruited, trained, paid and quality-managed. This is a hiring plan, not a feature ticket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Safeguarding for adults working with children — background checks, session recording, parent visibility</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11–16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New shape, on purpose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9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AI</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F0B429"/>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PROPOSED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 build with AI, not just talk to it.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Every child in this decade will use AI; almost none will understand it, and the distance between using and building is where the advantage sits. These parents feel it sharply — many work in technology and know exactly which side of that line they want their child on. It also lands in the 12–16 gap, where the bee ends and the family leaves.</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Blocks, then real Python, then how a model actually works — tokens, training, why it is confidently wrong. The capstone is the point: the child ships a working AI thing that somebody other than their parent actually uses.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 sandboxed editor with no open-ended chat. Every prompt is bounded, every response logged and visible to a parent. It runs as cohorts on the Business rails, not as a solo app, because code a child writes needs a person to read it.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Most children’s coding products stop at “you made a thing.” Most children’s business products are hypothetical. Run together, Bizzing AI and Bizzing Business become “you made a thing and somebody paid for it” — and nobody else is offering that sentence.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mentor bench being built for Business is the expensive part, and it is already being paid for. A second mentor-led subject is cheap once the first exists.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is the only subject on this list where a parent cannot help — which makes the cohort worth more, not less.</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code sandbox and execution environment. Nothing in the current engine does this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Child-safe model plumbing: bounded prompts, moderation on both sides, no free-form chat, full parent visibility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curriculum written by someone who can teach programming to eleven-year-olds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 The FIRST product with a real marginal cost per child. Everything else is static files; inference is metered and scales with use. Price for that or it quietly breaks the cost model</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10–16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Least of any product here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30352"/>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BIZZING BUSINESS</a:t>
            </a:r>
            <a:endParaRPr lang="en-US" sz="1200" dirty="0"/>
          </a:p>
        </p:txBody>
      </p:sp>
      <p:sp>
        <p:nvSpPr>
          <p:cNvPr id="3" name="Text 1"/>
          <p:cNvSpPr/>
          <p:nvPr/>
        </p:nvSpPr>
        <p:spPr>
          <a:xfrm>
            <a:off x="640080" y="896112"/>
            <a:ext cx="10607040" cy="6858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product where the people are the moat.</a:t>
            </a:r>
            <a:endParaRPr lang="en-US" sz="2800" dirty="0"/>
          </a:p>
        </p:txBody>
      </p:sp>
      <p:sp>
        <p:nvSpPr>
          <p:cNvPr id="4" name="Text 2"/>
          <p:cNvSpPr/>
          <p:nvPr/>
        </p:nvSpPr>
        <p:spPr>
          <a:xfrm>
            <a:off x="640080" y="1627632"/>
            <a:ext cx="10241280" cy="502920"/>
          </a:xfrm>
          <a:prstGeom prst="rect">
            <a:avLst/>
          </a:prstGeom>
          <a:noFill/>
          <a:ln/>
        </p:spPr>
        <p:txBody>
          <a:bodyPr wrap="square" lIns="0" tIns="0" rIns="0" bIns="0" rtlCol="0" anchor="ctr"/>
          <a:lstStyle/>
          <a:p>
            <a:pPr indent="0" marL="0">
              <a:lnSpc>
                <a:spcPts val="1700"/>
              </a:lnSpc>
              <a:buNone/>
            </a:pPr>
            <a:r>
              <a:rPr lang="en-US" sz="1300" dirty="0">
                <a:solidFill>
                  <a:srgbClr val="E3DCF2"/>
                </a:solidFill>
                <a:latin typeface="Calibri" pitchFamily="34" charset="0"/>
                <a:ea typeface="Calibri" pitchFamily="34" charset="-122"/>
                <a:cs typeface="Calibri" pitchFamily="34" charset="-120"/>
              </a:rPr>
              <a:t>Everything else in the house is software a competitor could clone in a quarter. A trained bench of mentors who know these families cannot be cloned at all — which is exactly why this one is worth the extra difficulty.</a:t>
            </a:r>
            <a:endParaRPr lang="en-US" sz="1300" dirty="0"/>
          </a:p>
        </p:txBody>
      </p:sp>
      <p:sp>
        <p:nvSpPr>
          <p:cNvPr id="5" name="Shape 3"/>
          <p:cNvSpPr/>
          <p:nvPr/>
        </p:nvSpPr>
        <p:spPr>
          <a:xfrm>
            <a:off x="640080"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6" name="Shape 4"/>
          <p:cNvSpPr/>
          <p:nvPr/>
        </p:nvSpPr>
        <p:spPr>
          <a:xfrm rot="5400000">
            <a:off x="822960" y="2542032"/>
            <a:ext cx="384048" cy="384048"/>
          </a:xfrm>
          <a:prstGeom prst="hexagon">
            <a:avLst/>
          </a:prstGeom>
          <a:solidFill>
            <a:srgbClr val="6C4FE0"/>
          </a:solidFill>
          <a:ln/>
        </p:spPr>
      </p:sp>
      <p:sp>
        <p:nvSpPr>
          <p:cNvPr id="7" name="Text 5"/>
          <p:cNvSpPr/>
          <p:nvPr/>
        </p:nvSpPr>
        <p:spPr>
          <a:xfrm>
            <a:off x="822960"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786384"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Cohort opens</a:t>
            </a:r>
            <a:endParaRPr lang="en-US" sz="1400" dirty="0"/>
          </a:p>
        </p:txBody>
      </p:sp>
      <p:sp>
        <p:nvSpPr>
          <p:cNvPr id="9" name="Text 7"/>
          <p:cNvSpPr/>
          <p:nvPr/>
        </p:nvSpPr>
        <p:spPr>
          <a:xfrm>
            <a:off x="786384"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Fixed start dates, not always-on. Scarcity is the point: a cohort has classmates, a calendar and an ending.</a:t>
            </a:r>
            <a:endParaRPr lang="en-US" sz="1000" dirty="0"/>
          </a:p>
        </p:txBody>
      </p:sp>
      <p:sp>
        <p:nvSpPr>
          <p:cNvPr id="10" name="Text 8"/>
          <p:cNvSpPr/>
          <p:nvPr/>
        </p:nvSpPr>
        <p:spPr>
          <a:xfrm>
            <a:off x="2670048"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1" name="Shape 9"/>
          <p:cNvSpPr/>
          <p:nvPr/>
        </p:nvSpPr>
        <p:spPr>
          <a:xfrm>
            <a:off x="2852928"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2" name="Shape 10"/>
          <p:cNvSpPr/>
          <p:nvPr/>
        </p:nvSpPr>
        <p:spPr>
          <a:xfrm rot="5400000">
            <a:off x="3035808" y="2542032"/>
            <a:ext cx="384048" cy="384048"/>
          </a:xfrm>
          <a:prstGeom prst="hexagon">
            <a:avLst/>
          </a:prstGeom>
          <a:solidFill>
            <a:srgbClr val="6C4FE0"/>
          </a:solidFill>
          <a:ln/>
        </p:spPr>
      </p:sp>
      <p:sp>
        <p:nvSpPr>
          <p:cNvPr id="13" name="Text 11"/>
          <p:cNvSpPr/>
          <p:nvPr/>
        </p:nvSpPr>
        <p:spPr>
          <a:xfrm>
            <a:off x="3035808"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2999232"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Teams of three</a:t>
            </a:r>
            <a:endParaRPr lang="en-US" sz="1400" dirty="0"/>
          </a:p>
        </p:txBody>
      </p:sp>
      <p:sp>
        <p:nvSpPr>
          <p:cNvPr id="15" name="Text 13"/>
          <p:cNvSpPr/>
          <p:nvPr/>
        </p:nvSpPr>
        <p:spPr>
          <a:xfrm>
            <a:off x="2999232"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child works with others. Teamwork is a FEATURE — it is half of what a parent is buying and none of what an app usually gives.</a:t>
            </a:r>
            <a:endParaRPr lang="en-US" sz="1000" dirty="0"/>
          </a:p>
        </p:txBody>
      </p:sp>
      <p:sp>
        <p:nvSpPr>
          <p:cNvPr id="16" name="Text 14"/>
          <p:cNvSpPr/>
          <p:nvPr/>
        </p:nvSpPr>
        <p:spPr>
          <a:xfrm>
            <a:off x="4882896"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7" name="Shape 15"/>
          <p:cNvSpPr/>
          <p:nvPr/>
        </p:nvSpPr>
        <p:spPr>
          <a:xfrm>
            <a:off x="5065776"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8" name="Shape 16"/>
          <p:cNvSpPr/>
          <p:nvPr/>
        </p:nvSpPr>
        <p:spPr>
          <a:xfrm rot="5400000">
            <a:off x="5248656" y="2542032"/>
            <a:ext cx="384048" cy="384048"/>
          </a:xfrm>
          <a:prstGeom prst="hexagon">
            <a:avLst/>
          </a:prstGeom>
          <a:solidFill>
            <a:srgbClr val="6C4FE0"/>
          </a:solidFill>
          <a:ln/>
        </p:spPr>
      </p:sp>
      <p:sp>
        <p:nvSpPr>
          <p:cNvPr id="19" name="Text 17"/>
          <p:cNvSpPr/>
          <p:nvPr/>
        </p:nvSpPr>
        <p:spPr>
          <a:xfrm>
            <a:off x="5248656"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5212080"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Cases, then build</a:t>
            </a:r>
            <a:endParaRPr lang="en-US" sz="1400" dirty="0"/>
          </a:p>
        </p:txBody>
      </p:sp>
      <p:sp>
        <p:nvSpPr>
          <p:cNvPr id="21" name="Text 19"/>
          <p:cNvSpPr/>
          <p:nvPr/>
        </p:nvSpPr>
        <p:spPr>
          <a:xfrm>
            <a:off x="5212080"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Recorded lessons and real cases carry the theory. The team then builds something actual — a product, a service, a plan.</a:t>
            </a:r>
            <a:endParaRPr lang="en-US" sz="1000" dirty="0"/>
          </a:p>
        </p:txBody>
      </p:sp>
      <p:sp>
        <p:nvSpPr>
          <p:cNvPr id="22" name="Text 20"/>
          <p:cNvSpPr/>
          <p:nvPr/>
        </p:nvSpPr>
        <p:spPr>
          <a:xfrm>
            <a:off x="7095744"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3" name="Shape 21"/>
          <p:cNvSpPr/>
          <p:nvPr/>
        </p:nvSpPr>
        <p:spPr>
          <a:xfrm>
            <a:off x="7278624"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24" name="Shape 22"/>
          <p:cNvSpPr/>
          <p:nvPr/>
        </p:nvSpPr>
        <p:spPr>
          <a:xfrm rot="5400000">
            <a:off x="7461504" y="2542032"/>
            <a:ext cx="384048" cy="384048"/>
          </a:xfrm>
          <a:prstGeom prst="hexagon">
            <a:avLst/>
          </a:prstGeom>
          <a:solidFill>
            <a:srgbClr val="F0B429"/>
          </a:solidFill>
          <a:ln/>
        </p:spPr>
      </p:sp>
      <p:sp>
        <p:nvSpPr>
          <p:cNvPr id="25" name="Text 23"/>
          <p:cNvSpPr/>
          <p:nvPr/>
        </p:nvSpPr>
        <p:spPr>
          <a:xfrm>
            <a:off x="7461504" y="25420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6" name="Text 24"/>
          <p:cNvSpPr/>
          <p:nvPr/>
        </p:nvSpPr>
        <p:spPr>
          <a:xfrm>
            <a:off x="7424928"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Mentor review</a:t>
            </a:r>
            <a:endParaRPr lang="en-US" sz="1400" dirty="0"/>
          </a:p>
        </p:txBody>
      </p:sp>
      <p:sp>
        <p:nvSpPr>
          <p:cNvPr id="27" name="Text 25"/>
          <p:cNvSpPr/>
          <p:nvPr/>
        </p:nvSpPr>
        <p:spPr>
          <a:xfrm>
            <a:off x="7424928"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A trained coach reviews the work against a rubric and meets the team live. This is the paid, human, uncopyable layer.</a:t>
            </a:r>
            <a:endParaRPr lang="en-US" sz="1000" dirty="0"/>
          </a:p>
        </p:txBody>
      </p:sp>
      <p:sp>
        <p:nvSpPr>
          <p:cNvPr id="28" name="Text 26"/>
          <p:cNvSpPr/>
          <p:nvPr/>
        </p:nvSpPr>
        <p:spPr>
          <a:xfrm>
            <a:off x="9308592"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9" name="Shape 27"/>
          <p:cNvSpPr/>
          <p:nvPr/>
        </p:nvSpPr>
        <p:spPr>
          <a:xfrm>
            <a:off x="9491472"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30" name="Shape 28"/>
          <p:cNvSpPr/>
          <p:nvPr/>
        </p:nvSpPr>
        <p:spPr>
          <a:xfrm rot="5400000">
            <a:off x="9674352" y="2542032"/>
            <a:ext cx="384048" cy="384048"/>
          </a:xfrm>
          <a:prstGeom prst="hexagon">
            <a:avLst/>
          </a:prstGeom>
          <a:solidFill>
            <a:srgbClr val="6C4FE0"/>
          </a:solidFill>
          <a:ln/>
        </p:spPr>
      </p:sp>
      <p:sp>
        <p:nvSpPr>
          <p:cNvPr id="31" name="Text 29"/>
          <p:cNvSpPr/>
          <p:nvPr/>
        </p:nvSpPr>
        <p:spPr>
          <a:xfrm>
            <a:off x="9674352"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637776"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Demo day</a:t>
            </a:r>
            <a:endParaRPr lang="en-US" sz="1400" dirty="0"/>
          </a:p>
        </p:txBody>
      </p:sp>
      <p:sp>
        <p:nvSpPr>
          <p:cNvPr id="33" name="Text 31"/>
          <p:cNvSpPr/>
          <p:nvPr/>
        </p:nvSpPr>
        <p:spPr>
          <a:xfrm>
            <a:off x="9637776"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team pitches to a room of parents. A lesson, a rite of passage, and the best marketing asset the brand will ever have.</a:t>
            </a:r>
            <a:endParaRPr lang="en-US" sz="1000" dirty="0"/>
          </a:p>
        </p:txBody>
      </p:sp>
      <p:sp>
        <p:nvSpPr>
          <p:cNvPr id="34" name="Shape 32"/>
          <p:cNvSpPr/>
          <p:nvPr/>
        </p:nvSpPr>
        <p:spPr>
          <a:xfrm>
            <a:off x="640080" y="4800600"/>
            <a:ext cx="5074920" cy="1371600"/>
          </a:xfrm>
          <a:prstGeom prst="roundRect">
            <a:avLst>
              <a:gd name="adj" fmla="val 8667"/>
            </a:avLst>
          </a:prstGeom>
          <a:solidFill>
            <a:srgbClr val="FFFFFF">
              <a:alpha val="6000"/>
            </a:srgbClr>
          </a:solidFill>
          <a:ln/>
        </p:spPr>
      </p:sp>
      <p:sp>
        <p:nvSpPr>
          <p:cNvPr id="35" name="Text 33"/>
          <p:cNvSpPr/>
          <p:nvPr/>
        </p:nvSpPr>
        <p:spPr>
          <a:xfrm>
            <a:off x="896112" y="4937760"/>
            <a:ext cx="4572000" cy="274320"/>
          </a:xfrm>
          <a:prstGeom prst="rect">
            <a:avLst/>
          </a:prstGeom>
          <a:noFill/>
          <a:ln/>
        </p:spPr>
        <p:txBody>
          <a:bodyPr wrap="square" lIns="0" tIns="0" rIns="0" bIns="0" rtlCol="0" anchor="ctr"/>
          <a:lstStyle/>
          <a:p>
            <a:pPr indent="0" marL="0">
              <a:buNone/>
            </a:pPr>
            <a:r>
              <a:rPr lang="en-US" sz="1000" b="1" spc="140" kern="0" dirty="0">
                <a:solidFill>
                  <a:srgbClr val="F0B429"/>
                </a:solidFill>
                <a:latin typeface="Calibri" pitchFamily="34" charset="0"/>
                <a:ea typeface="Calibri" pitchFamily="34" charset="-122"/>
                <a:cs typeface="Calibri" pitchFamily="34" charset="-120"/>
              </a:rPr>
              <a:t>Where the mentors come from</a:t>
            </a:r>
            <a:endParaRPr lang="en-US" sz="1000" dirty="0"/>
          </a:p>
        </p:txBody>
      </p:sp>
      <p:sp>
        <p:nvSpPr>
          <p:cNvPr id="36" name="Text 34"/>
          <p:cNvSpPr/>
          <p:nvPr/>
        </p:nvSpPr>
        <p:spPr>
          <a:xfrm>
            <a:off x="89611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This diaspora is full of MBAs, founders and operators whose own children are the target age. They will teach for status, for community, and because their kid is in the room. Recruit, train, pay, and manage quality — a hiring plan, not a feature ticket.</a:t>
            </a:r>
            <a:endParaRPr lang="en-US" sz="1050" dirty="0"/>
          </a:p>
        </p:txBody>
      </p:sp>
      <p:sp>
        <p:nvSpPr>
          <p:cNvPr id="37" name="Shape 35"/>
          <p:cNvSpPr/>
          <p:nvPr/>
        </p:nvSpPr>
        <p:spPr>
          <a:xfrm>
            <a:off x="6035040" y="4800600"/>
            <a:ext cx="5074920" cy="1371600"/>
          </a:xfrm>
          <a:prstGeom prst="roundRect">
            <a:avLst>
              <a:gd name="adj" fmla="val 8667"/>
            </a:avLst>
          </a:prstGeom>
          <a:solidFill>
            <a:srgbClr val="FFFFFF">
              <a:alpha val="6000"/>
            </a:srgbClr>
          </a:solidFill>
          <a:ln/>
        </p:spPr>
      </p:sp>
      <p:sp>
        <p:nvSpPr>
          <p:cNvPr id="38" name="Text 36"/>
          <p:cNvSpPr/>
          <p:nvPr/>
        </p:nvSpPr>
        <p:spPr>
          <a:xfrm>
            <a:off x="6291072" y="4937760"/>
            <a:ext cx="4572000" cy="274320"/>
          </a:xfrm>
          <a:prstGeom prst="rect">
            <a:avLst/>
          </a:prstGeom>
          <a:noFill/>
          <a:ln/>
        </p:spPr>
        <p:txBody>
          <a:bodyPr wrap="square" lIns="0" tIns="0" rIns="0" bIns="0" rtlCol="0" anchor="ctr"/>
          <a:lstStyle/>
          <a:p>
            <a:pPr indent="0" marL="0">
              <a:buNone/>
            </a:pPr>
            <a:r>
              <a:rPr lang="en-US" sz="1000" b="1" spc="140" kern="0" dirty="0">
                <a:solidFill>
                  <a:srgbClr val="6C4FE0"/>
                </a:solidFill>
                <a:latin typeface="Calibri" pitchFamily="34" charset="0"/>
                <a:ea typeface="Calibri" pitchFamily="34" charset="-122"/>
                <a:cs typeface="Calibri" pitchFamily="34" charset="-120"/>
              </a:rPr>
              <a:t>Why it starts earliest of the late products</a:t>
            </a:r>
            <a:endParaRPr lang="en-US" sz="1000" dirty="0"/>
          </a:p>
        </p:txBody>
      </p:sp>
      <p:sp>
        <p:nvSpPr>
          <p:cNvPr id="39" name="Text 37"/>
          <p:cNvSpPr/>
          <p:nvPr/>
        </p:nvSpPr>
        <p:spPr>
          <a:xfrm>
            <a:off x="629107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Content can be written in weeks. A trained mentor bench and a safeguarding process cannot. Business has the longest lead time in the house, so its build begins before its launch gate — the one product where that is true.</a:t>
            </a:r>
            <a:endParaRPr lang="en-US" sz="1050" dirty="0"/>
          </a:p>
        </p:txBody>
      </p:sp>
      <p:sp>
        <p:nvSpPr>
          <p:cNvPr id="40" name="Text 38"/>
          <p:cNvSpPr/>
          <p:nvPr/>
        </p:nvSpPr>
        <p:spPr>
          <a:xfrm>
            <a:off x="640080" y="6291072"/>
            <a:ext cx="10607040" cy="41148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It is also the answer to the live-training revenue line — Business IS that line, not a separate venture. And safeguarding is not optional: adults working with children needs checks, recorded sessions and parent visibility from day one.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GAPS</a:t>
            </a:r>
            <a:endParaRPr lang="en-US" sz="1200" dirty="0"/>
          </a:p>
        </p:txBody>
      </p:sp>
      <p:sp>
        <p:nvSpPr>
          <p:cNvPr id="3" name="Text 1"/>
          <p:cNvSpPr/>
          <p:nvPr/>
        </p:nvSpPr>
        <p:spPr>
          <a:xfrm>
            <a:off x="640080" y="914400"/>
            <a:ext cx="10607040" cy="6858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Three products missing, and three we should not build.</a:t>
            </a:r>
            <a:endParaRPr lang="en-US" sz="2700" dirty="0"/>
          </a:p>
        </p:txBody>
      </p:sp>
      <p:sp>
        <p:nvSpPr>
          <p:cNvPr id="4" name="Shape 2"/>
          <p:cNvSpPr/>
          <p:nvPr/>
        </p:nvSpPr>
        <p:spPr>
          <a:xfrm>
            <a:off x="640080"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5" name="Image 0" descr="preencoded.png">    </p:cNvPr>
          <p:cNvPicPr>
            <a:picLocks noChangeAspect="1"/>
          </p:cNvPicPr>
          <p:nvPr/>
        </p:nvPicPr>
        <p:blipFill>
          <a:blip r:embed="rId1"/>
          <a:stretch>
            <a:fillRect/>
          </a:stretch>
        </p:blipFill>
        <p:spPr>
          <a:xfrm>
            <a:off x="896112" y="2011680"/>
            <a:ext cx="658368" cy="658368"/>
          </a:xfrm>
          <a:prstGeom prst="rect">
            <a:avLst/>
          </a:prstGeom>
        </p:spPr>
      </p:pic>
      <p:sp>
        <p:nvSpPr>
          <p:cNvPr id="6" name="Text 3"/>
          <p:cNvSpPr/>
          <p:nvPr/>
        </p:nvSpPr>
        <p:spPr>
          <a:xfrm>
            <a:off x="896112"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Speak</a:t>
            </a:r>
            <a:endParaRPr lang="en-US" sz="1700" dirty="0"/>
          </a:p>
        </p:txBody>
      </p:sp>
      <p:sp>
        <p:nvSpPr>
          <p:cNvPr id="7" name="Text 4"/>
          <p:cNvSpPr/>
          <p:nvPr/>
        </p:nvSpPr>
        <p:spPr>
          <a:xfrm>
            <a:off x="896112"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Public speaking, debate, spoken English</a:t>
            </a:r>
            <a:endParaRPr lang="en-US" sz="1050" dirty="0"/>
          </a:p>
        </p:txBody>
      </p:sp>
      <p:sp>
        <p:nvSpPr>
          <p:cNvPr id="8" name="Text 5"/>
          <p:cNvSpPr/>
          <p:nvPr/>
        </p:nvSpPr>
        <p:spPr>
          <a:xfrm>
            <a:off x="896112"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strongest omission. It fills the twelve-to-sixteen cliff, it is the largest education category in India by search, and it is the same subject the YouTube channel already makes films about. The catch: doing it properly needs the app to LISTEN and score pronunciation, which is speech recognition and not in the engine.</a:t>
            </a:r>
            <a:endParaRPr lang="en-US" sz="1000" dirty="0"/>
          </a:p>
        </p:txBody>
      </p:sp>
      <p:sp>
        <p:nvSpPr>
          <p:cNvPr id="9" name="Shape 6"/>
          <p:cNvSpPr/>
          <p:nvPr/>
        </p:nvSpPr>
        <p:spPr>
          <a:xfrm>
            <a:off x="4325112"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0" name="Image 1" descr="preencoded.png">    </p:cNvPr>
          <p:cNvPicPr>
            <a:picLocks noChangeAspect="1"/>
          </p:cNvPicPr>
          <p:nvPr/>
        </p:nvPicPr>
        <p:blipFill>
          <a:blip r:embed="rId2"/>
          <a:stretch>
            <a:fillRect/>
          </a:stretch>
        </p:blipFill>
        <p:spPr>
          <a:xfrm>
            <a:off x="4581144" y="2011680"/>
            <a:ext cx="658368" cy="658368"/>
          </a:xfrm>
          <a:prstGeom prst="rect">
            <a:avLst/>
          </a:prstGeom>
        </p:spPr>
      </p:pic>
      <p:sp>
        <p:nvSpPr>
          <p:cNvPr id="11" name="Text 7"/>
          <p:cNvSpPr/>
          <p:nvPr/>
        </p:nvSpPr>
        <p:spPr>
          <a:xfrm>
            <a:off x="4581144"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Quiz</a:t>
            </a:r>
            <a:endParaRPr lang="en-US" sz="1700" dirty="0"/>
          </a:p>
        </p:txBody>
      </p:sp>
      <p:sp>
        <p:nvSpPr>
          <p:cNvPr id="12" name="Text 8"/>
          <p:cNvSpPr/>
          <p:nvPr/>
        </p:nvSpPr>
        <p:spPr>
          <a:xfrm>
            <a:off x="4581144"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General knowledge, quiz-bowl</a:t>
            </a:r>
            <a:endParaRPr lang="en-US" sz="1050" dirty="0"/>
          </a:p>
        </p:txBody>
      </p:sp>
      <p:sp>
        <p:nvSpPr>
          <p:cNvPr id="13" name="Text 9"/>
          <p:cNvSpPr/>
          <p:nvPr/>
        </p:nvSpPr>
        <p:spPr>
          <a:xfrm>
            <a:off x="4581144"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cheapest product in the house to launch: 31,000 questions across 32 themes and 5 levels already exist and are already sharded and levelled. It is a skin and a scoring loop, not a build.</a:t>
            </a:r>
            <a:endParaRPr lang="en-US" sz="1000" dirty="0"/>
          </a:p>
        </p:txBody>
      </p:sp>
      <p:sp>
        <p:nvSpPr>
          <p:cNvPr id="14" name="Shape 10"/>
          <p:cNvSpPr/>
          <p:nvPr/>
        </p:nvSpPr>
        <p:spPr>
          <a:xfrm>
            <a:off x="8010144"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5" name="Image 2" descr="preencoded.png">    </p:cNvPr>
          <p:cNvPicPr>
            <a:picLocks noChangeAspect="1"/>
          </p:cNvPicPr>
          <p:nvPr/>
        </p:nvPicPr>
        <p:blipFill>
          <a:blip r:embed="rId3"/>
          <a:stretch>
            <a:fillRect/>
          </a:stretch>
        </p:blipFill>
        <p:spPr>
          <a:xfrm>
            <a:off x="8266176" y="2011680"/>
            <a:ext cx="658368" cy="658368"/>
          </a:xfrm>
          <a:prstGeom prst="rect">
            <a:avLst/>
          </a:prstGeom>
        </p:spPr>
      </p:pic>
      <p:sp>
        <p:nvSpPr>
          <p:cNvPr id="16" name="Text 11"/>
          <p:cNvSpPr/>
          <p:nvPr/>
        </p:nvSpPr>
        <p:spPr>
          <a:xfrm>
            <a:off x="8266176"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Prep</a:t>
            </a:r>
            <a:endParaRPr lang="en-US" sz="1700" dirty="0"/>
          </a:p>
        </p:txBody>
      </p:sp>
      <p:sp>
        <p:nvSpPr>
          <p:cNvPr id="17" name="Text 12"/>
          <p:cNvSpPr/>
          <p:nvPr/>
        </p:nvSpPr>
        <p:spPr>
          <a:xfrm>
            <a:off x="8266176"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US gifted and selective entry</a:t>
            </a:r>
            <a:endParaRPr lang="en-US" sz="1050" dirty="0"/>
          </a:p>
        </p:txBody>
      </p:sp>
      <p:sp>
        <p:nvSpPr>
          <p:cNvPr id="18" name="Text 13"/>
          <p:cNvSpPr/>
          <p:nvPr/>
        </p:nvSpPr>
        <p:spPr>
          <a:xfrm>
            <a:off x="8266176"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CogAT, NNAT, OLSAT verbal and SHSAT vocabulary. The highest-anxiety, highest-spend segment in the US, and the incumbent products are poor. Sits beside Eleven and shares its item types.</a:t>
            </a:r>
            <a:endParaRPr lang="en-US" sz="1000" dirty="0"/>
          </a:p>
        </p:txBody>
      </p:sp>
      <p:sp>
        <p:nvSpPr>
          <p:cNvPr id="19" name="Shape 14"/>
          <p:cNvSpPr/>
          <p:nvPr/>
        </p:nvSpPr>
        <p:spPr>
          <a:xfrm>
            <a:off x="640080" y="4956048"/>
            <a:ext cx="10607040" cy="1170432"/>
          </a:xfrm>
          <a:prstGeom prst="roundRect">
            <a:avLst>
              <a:gd name="adj" fmla="val 9375"/>
            </a:avLst>
          </a:prstGeom>
          <a:solidFill>
            <a:srgbClr val="FFFFFF">
              <a:alpha val="6000"/>
            </a:srgbClr>
          </a:solidFill>
          <a:ln/>
        </p:spPr>
      </p:sp>
      <p:sp>
        <p:nvSpPr>
          <p:cNvPr id="20" name="Text 15"/>
          <p:cNvSpPr/>
          <p:nvPr/>
        </p:nvSpPr>
        <p:spPr>
          <a:xfrm>
            <a:off x="932688" y="5084064"/>
            <a:ext cx="4572000" cy="274320"/>
          </a:xfrm>
          <a:prstGeom prst="rect">
            <a:avLst/>
          </a:prstGeom>
          <a:noFill/>
          <a:ln/>
        </p:spPr>
        <p:txBody>
          <a:bodyPr wrap="square" lIns="0" tIns="0" rIns="0" bIns="0" rtlCol="0" anchor="ctr"/>
          <a:lstStyle/>
          <a:p>
            <a:pPr indent="0" marL="0">
              <a:buNone/>
            </a:pPr>
            <a:r>
              <a:rPr lang="en-US" sz="1000" b="1" spc="180" kern="0" dirty="0">
                <a:solidFill>
                  <a:srgbClr val="E8807A"/>
                </a:solidFill>
                <a:latin typeface="Calibri" pitchFamily="34" charset="0"/>
                <a:ea typeface="Calibri" pitchFamily="34" charset="-122"/>
                <a:cs typeface="Calibri" pitchFamily="34" charset="-120"/>
              </a:rPr>
              <a:t>Deliberately NOT building</a:t>
            </a:r>
            <a:endParaRPr lang="en-US" sz="1000" dirty="0"/>
          </a:p>
        </p:txBody>
      </p:sp>
      <p:sp>
        <p:nvSpPr>
          <p:cNvPr id="21" name="Text 16"/>
          <p:cNvSpPr/>
          <p:nvPr/>
        </p:nvSpPr>
        <p:spPr>
          <a:xfrm>
            <a:off x="932688" y="5376672"/>
            <a:ext cx="10012680" cy="402336"/>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Chess · music · dance. Each has real diaspora demand, each needs a solver, a rating system or a live teacher, and none reuses a line of what has been built. Chess in particular is surging right now and is still the wrong answer for this house.</a:t>
            </a:r>
            <a:endParaRPr lang="en-US" sz="1150" dirty="0"/>
          </a:p>
        </p:txBody>
      </p:sp>
      <p:sp>
        <p:nvSpPr>
          <p:cNvPr id="22" name="Text 17"/>
          <p:cNvSpPr/>
          <p:nvPr/>
        </p:nvSpPr>
        <p:spPr>
          <a:xfrm>
            <a:off x="932688" y="5742432"/>
            <a:ext cx="10012680" cy="475488"/>
          </a:xfrm>
          <a:prstGeom prst="rect">
            <a:avLst/>
          </a:prstGeom>
          <a:noFill/>
          <a:ln/>
        </p:spPr>
        <p:txBody>
          <a:bodyPr wrap="square" lIns="0" tIns="0" rIns="0" bIns="0" rtlCol="0" anchor="ctr"/>
          <a:lstStyle/>
          <a:p>
            <a:pPr indent="0" marL="0">
              <a:lnSpc>
                <a:spcPts val="1300"/>
              </a:lnSpc>
              <a:buNone/>
            </a:pPr>
            <a:r>
              <a:rPr lang="en-US" sz="1050" b="1" dirty="0">
                <a:solidFill>
                  <a:srgbClr val="F0B429"/>
                </a:solidFill>
                <a:latin typeface="Calibri" pitchFamily="34" charset="0"/>
                <a:ea typeface="Calibri" pitchFamily="34" charset="-122"/>
                <a:cs typeface="Calibri" pitchFamily="34" charset="-120"/>
              </a:rPr>
              <a:t>Coding was on this list until now. </a:t>
            </a:r>
            <a:pPr indent="0" marL="0">
              <a:lnSpc>
                <a:spcPts val="1300"/>
              </a:lnSpc>
              <a:buNone/>
            </a:pPr>
            <a:r>
              <a:rPr lang="en-US" sz="1050" dirty="0">
                <a:solidFill>
                  <a:srgbClr val="E3DCF2"/>
                </a:solidFill>
                <a:latin typeface="Calibri" pitchFamily="34" charset="0"/>
                <a:ea typeface="Calibri" pitchFamily="34" charset="-122"/>
                <a:cs typeface="Calibri" pitchFamily="34" charset="-120"/>
              </a:rPr>
              <a:t>It moves because the objection expired, not because the ambition grew: the reason to refuse it was “needs a live teacher”, and Business is already building a mentor bench. Bizzing AI rides those rails or it does not happen.</a:t>
            </a:r>
            <a:endParaRPr lang="en-US" sz="1050" dirty="0"/>
          </a:p>
        </p:txBody>
      </p:sp>
      <p:sp>
        <p:nvSpPr>
          <p:cNvPr id="23" name="Text 18"/>
          <p:cNvSpPr/>
          <p:nvPr/>
        </p:nvSpPr>
        <p:spPr>
          <a:xfrm>
            <a:off x="640080" y="6254496"/>
            <a:ext cx="10607040" cy="502920"/>
          </a:xfrm>
          <a:prstGeom prst="rect">
            <a:avLst/>
          </a:prstGeom>
          <a:noFill/>
          <a:ln/>
        </p:spPr>
        <p:txBody>
          <a:bodyPr wrap="square" lIns="0" tIns="0" rIns="0" bIns="0" rtlCol="0" anchor="ctr"/>
          <a:lstStyle/>
          <a:p>
            <a:pPr indent="0" marL="0">
              <a:buNone/>
            </a:pPr>
            <a:r>
              <a:rPr lang="en-US" sz="1350" i="1" dirty="0">
                <a:solidFill>
                  <a:srgbClr val="F0B429"/>
                </a:solidFill>
                <a:latin typeface="Cambria" pitchFamily="34" charset="0"/>
                <a:ea typeface="Cambria" pitchFamily="34" charset="-122"/>
                <a:cs typeface="Cambria" pitchFamily="34" charset="-120"/>
              </a:rPr>
              <a:t>The refusals are about ENGINE FIT, not ambition. Bizzing Business also needs people, and it is being built — because there the people ARE the product.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SEQUENCE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one: by milestone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Nothing launches on a date. Each product unlocks when the one before it has proved something specific.</a:t>
            </a:r>
            <a:endParaRPr lang="en-US" sz="1450" dirty="0"/>
          </a:p>
        </p:txBody>
      </p:sp>
      <p:sp>
        <p:nvSpPr>
          <p:cNvPr id="5" name="Shape 3"/>
          <p:cNvSpPr/>
          <p:nvPr/>
        </p:nvSpPr>
        <p:spPr>
          <a:xfrm>
            <a:off x="1901952" y="2788920"/>
            <a:ext cx="8174736" cy="0"/>
          </a:xfrm>
          <a:prstGeom prst="line">
            <a:avLst/>
          </a:prstGeom>
          <a:noFill/>
          <a:ln w="38100">
            <a:solidFill>
              <a:srgbClr val="E3DCF2"/>
            </a:solidFill>
            <a:prstDash val="solid"/>
          </a:ln>
        </p:spPr>
      </p:sp>
      <p:sp>
        <p:nvSpPr>
          <p:cNvPr id="6" name="Shape 4"/>
          <p:cNvSpPr/>
          <p:nvPr/>
        </p:nvSpPr>
        <p:spPr>
          <a:xfrm rot="5400000">
            <a:off x="1645920" y="2532888"/>
            <a:ext cx="512064" cy="512064"/>
          </a:xfrm>
          <a:prstGeom prst="hexagon">
            <a:avLst/>
          </a:prstGeom>
          <a:solidFill>
            <a:srgbClr val="178A4C"/>
          </a:solidFill>
          <a:ln w="31750">
            <a:solidFill>
              <a:srgbClr val="FFFFFF"/>
            </a:solidFill>
            <a:prstDash val="solid"/>
          </a:ln>
        </p:spPr>
      </p:sp>
      <p:sp>
        <p:nvSpPr>
          <p:cNvPr id="7" name="Text 5"/>
          <p:cNvSpPr/>
          <p:nvPr/>
        </p:nvSpPr>
        <p:spPr>
          <a:xfrm>
            <a:off x="640080"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178A4C"/>
                </a:solidFill>
                <a:latin typeface="Calibri" pitchFamily="34" charset="0"/>
                <a:ea typeface="Calibri" pitchFamily="34" charset="-122"/>
                <a:cs typeface="Calibri" pitchFamily="34" charset="-120"/>
              </a:rPr>
              <a:t>NOW</a:t>
            </a:r>
            <a:endParaRPr lang="en-US" sz="950" dirty="0"/>
          </a:p>
        </p:txBody>
      </p:sp>
      <p:sp>
        <p:nvSpPr>
          <p:cNvPr id="8" name="Shape 6"/>
          <p:cNvSpPr/>
          <p:nvPr/>
        </p:nvSpPr>
        <p:spPr>
          <a:xfrm>
            <a:off x="640080" y="3310128"/>
            <a:ext cx="2523744" cy="2340864"/>
          </a:xfrm>
          <a:prstGeom prst="roundRect">
            <a:avLst>
              <a:gd name="adj" fmla="val 5469"/>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841248"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Bizzing Bee</a:t>
            </a:r>
            <a:endParaRPr lang="en-US" sz="1450" dirty="0"/>
          </a:p>
        </p:txBody>
      </p:sp>
      <p:sp>
        <p:nvSpPr>
          <p:cNvPr id="10" name="Text 8"/>
          <p:cNvSpPr/>
          <p:nvPr/>
        </p:nvSpPr>
        <p:spPr>
          <a:xfrm>
            <a:off x="841248"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Spelling, live</a:t>
            </a:r>
            <a:endParaRPr lang="en-US" sz="950" dirty="0"/>
          </a:p>
        </p:txBody>
      </p:sp>
      <p:sp>
        <p:nvSpPr>
          <p:cNvPr id="11" name="Text 9"/>
          <p:cNvSpPr/>
          <p:nvPr/>
        </p:nvSpPr>
        <p:spPr>
          <a:xfrm>
            <a:off x="841248"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The wedge. Free app, paid packs, the YouTube channel feeding it.</a:t>
            </a:r>
            <a:endParaRPr lang="en-US" sz="950" dirty="0"/>
          </a:p>
        </p:txBody>
      </p:sp>
      <p:sp>
        <p:nvSpPr>
          <p:cNvPr id="12" name="Shape 10"/>
          <p:cNvSpPr/>
          <p:nvPr/>
        </p:nvSpPr>
        <p:spPr>
          <a:xfrm rot="5400000">
            <a:off x="4370832" y="2532888"/>
            <a:ext cx="512064" cy="512064"/>
          </a:xfrm>
          <a:prstGeom prst="hexagon">
            <a:avLst/>
          </a:prstGeom>
          <a:solidFill>
            <a:srgbClr val="F0B429"/>
          </a:solidFill>
          <a:ln w="31750">
            <a:solidFill>
              <a:srgbClr val="FFFFFF"/>
            </a:solidFill>
            <a:prstDash val="solid"/>
          </a:ln>
        </p:spPr>
      </p:sp>
      <p:sp>
        <p:nvSpPr>
          <p:cNvPr id="13" name="Text 11"/>
          <p:cNvSpPr/>
          <p:nvPr/>
        </p:nvSpPr>
        <p:spPr>
          <a:xfrm>
            <a:off x="3364992"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8A5B00"/>
                </a:solidFill>
                <a:latin typeface="Calibri" pitchFamily="34" charset="0"/>
                <a:ea typeface="Calibri" pitchFamily="34" charset="-122"/>
                <a:cs typeface="Calibri" pitchFamily="34" charset="-120"/>
              </a:rPr>
              <a:t>GATE 1</a:t>
            </a:r>
            <a:endParaRPr lang="en-US" sz="950" dirty="0"/>
          </a:p>
        </p:txBody>
      </p:sp>
      <p:sp>
        <p:nvSpPr>
          <p:cNvPr id="14" name="Shape 12"/>
          <p:cNvSpPr/>
          <p:nvPr/>
        </p:nvSpPr>
        <p:spPr>
          <a:xfrm>
            <a:off x="3364992"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15" name="Shape 13"/>
          <p:cNvSpPr/>
          <p:nvPr/>
        </p:nvSpPr>
        <p:spPr>
          <a:xfrm>
            <a:off x="3364992" y="3310128"/>
            <a:ext cx="2523744" cy="2340864"/>
          </a:xfrm>
          <a:prstGeom prst="roundRect">
            <a:avLst>
              <a:gd name="adj" fmla="val 5469"/>
            </a:avLst>
          </a:prstGeom>
          <a:solidFill>
            <a:srgbClr val="FFFFFF"/>
          </a:solidFill>
          <a:ln w="15875">
            <a:solidFill>
              <a:srgbClr val="E3DCF2"/>
            </a:solidFill>
            <a:prstDash val="solid"/>
          </a:ln>
        </p:spPr>
      </p:sp>
      <p:sp>
        <p:nvSpPr>
          <p:cNvPr id="16" name="Text 14"/>
          <p:cNvSpPr/>
          <p:nvPr/>
        </p:nvSpPr>
        <p:spPr>
          <a:xfrm>
            <a:off x="3566160"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India + Bhasha + Quiz</a:t>
            </a:r>
            <a:endParaRPr lang="en-US" sz="1450" dirty="0"/>
          </a:p>
        </p:txBody>
      </p:sp>
      <p:sp>
        <p:nvSpPr>
          <p:cNvPr id="17" name="Text 15"/>
          <p:cNvSpPr/>
          <p:nvPr/>
        </p:nvSpPr>
        <p:spPr>
          <a:xfrm>
            <a:off x="3566160"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Culture free, language paid</a:t>
            </a:r>
            <a:endParaRPr lang="en-US" sz="950" dirty="0"/>
          </a:p>
        </p:txBody>
      </p:sp>
      <p:sp>
        <p:nvSpPr>
          <p:cNvPr id="18" name="Text 16"/>
          <p:cNvSpPr/>
          <p:nvPr/>
        </p:nvSpPr>
        <p:spPr>
          <a:xfrm>
            <a:off x="3566160"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Bee shows a repeatable way to acquire a family and keep them past the first month. Quiz rides along — its 31k questions already exist.</a:t>
            </a:r>
            <a:endParaRPr lang="en-US" sz="950" dirty="0"/>
          </a:p>
        </p:txBody>
      </p:sp>
      <p:sp>
        <p:nvSpPr>
          <p:cNvPr id="19" name="Shape 17"/>
          <p:cNvSpPr/>
          <p:nvPr/>
        </p:nvSpPr>
        <p:spPr>
          <a:xfrm rot="5400000">
            <a:off x="7095744" y="2532888"/>
            <a:ext cx="512064" cy="512064"/>
          </a:xfrm>
          <a:prstGeom prst="hexagon">
            <a:avLst/>
          </a:prstGeom>
          <a:solidFill>
            <a:srgbClr val="6C4FE0"/>
          </a:solidFill>
          <a:ln w="31750">
            <a:solidFill>
              <a:srgbClr val="FFFFFF"/>
            </a:solidFill>
            <a:prstDash val="solid"/>
          </a:ln>
        </p:spPr>
      </p:sp>
      <p:sp>
        <p:nvSpPr>
          <p:cNvPr id="20" name="Text 18"/>
          <p:cNvSpPr/>
          <p:nvPr/>
        </p:nvSpPr>
        <p:spPr>
          <a:xfrm>
            <a:off x="6089904"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2</a:t>
            </a:r>
            <a:endParaRPr lang="en-US" sz="950" dirty="0"/>
          </a:p>
        </p:txBody>
      </p:sp>
      <p:sp>
        <p:nvSpPr>
          <p:cNvPr id="21" name="Shape 19"/>
          <p:cNvSpPr/>
          <p:nvPr/>
        </p:nvSpPr>
        <p:spPr>
          <a:xfrm>
            <a:off x="6089904"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2" name="Shape 20"/>
          <p:cNvSpPr/>
          <p:nvPr/>
        </p:nvSpPr>
        <p:spPr>
          <a:xfrm>
            <a:off x="6089904" y="3310128"/>
            <a:ext cx="2523744" cy="2340864"/>
          </a:xfrm>
          <a:prstGeom prst="roundRect">
            <a:avLst>
              <a:gd name="adj" fmla="val 5469"/>
            </a:avLst>
          </a:prstGeom>
          <a:solidFill>
            <a:srgbClr val="FFFFFF"/>
          </a:solidFill>
          <a:ln w="15875">
            <a:solidFill>
              <a:srgbClr val="E3DCF2"/>
            </a:solidFill>
            <a:prstDash val="solid"/>
          </a:ln>
        </p:spPr>
      </p:sp>
      <p:sp>
        <p:nvSpPr>
          <p:cNvPr id="23" name="Text 21"/>
          <p:cNvSpPr/>
          <p:nvPr/>
        </p:nvSpPr>
        <p:spPr>
          <a:xfrm>
            <a:off x="6291072"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Eleven, then Prep</a:t>
            </a:r>
            <a:endParaRPr lang="en-US" sz="1450" dirty="0"/>
          </a:p>
        </p:txBody>
      </p:sp>
      <p:sp>
        <p:nvSpPr>
          <p:cNvPr id="24" name="Text 22"/>
          <p:cNvSpPr/>
          <p:nvPr/>
        </p:nvSpPr>
        <p:spPr>
          <a:xfrm>
            <a:off x="6291072"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Exam verbal reasoning</a:t>
            </a:r>
            <a:endParaRPr lang="en-US" sz="950" dirty="0"/>
          </a:p>
        </p:txBody>
      </p:sp>
      <p:sp>
        <p:nvSpPr>
          <p:cNvPr id="25" name="Text 23"/>
          <p:cNvSpPr/>
          <p:nvPr/>
        </p:nvSpPr>
        <p:spPr>
          <a:xfrm>
            <a:off x="6291072"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a second paid pack proves families will buy more than one thing from us. Near-total engine reuse, so the cost is content, not build.</a:t>
            </a:r>
            <a:endParaRPr lang="en-US" sz="950" dirty="0"/>
          </a:p>
        </p:txBody>
      </p:sp>
      <p:sp>
        <p:nvSpPr>
          <p:cNvPr id="26" name="Shape 24"/>
          <p:cNvSpPr/>
          <p:nvPr/>
        </p:nvSpPr>
        <p:spPr>
          <a:xfrm rot="5400000">
            <a:off x="9820656" y="2532888"/>
            <a:ext cx="512064" cy="512064"/>
          </a:xfrm>
          <a:prstGeom prst="hexagon">
            <a:avLst/>
          </a:prstGeom>
          <a:solidFill>
            <a:srgbClr val="6C4FE0"/>
          </a:solidFill>
          <a:ln w="31750">
            <a:solidFill>
              <a:srgbClr val="FFFFFF"/>
            </a:solidFill>
            <a:prstDash val="solid"/>
          </a:ln>
        </p:spPr>
      </p:sp>
      <p:sp>
        <p:nvSpPr>
          <p:cNvPr id="27" name="Text 25"/>
          <p:cNvSpPr/>
          <p:nvPr/>
        </p:nvSpPr>
        <p:spPr>
          <a:xfrm>
            <a:off x="8814816"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3</a:t>
            </a:r>
            <a:endParaRPr lang="en-US" sz="950" dirty="0"/>
          </a:p>
        </p:txBody>
      </p:sp>
      <p:sp>
        <p:nvSpPr>
          <p:cNvPr id="28" name="Shape 26"/>
          <p:cNvSpPr/>
          <p:nvPr/>
        </p:nvSpPr>
        <p:spPr>
          <a:xfrm>
            <a:off x="8814816"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9" name="Shape 27"/>
          <p:cNvSpPr/>
          <p:nvPr/>
        </p:nvSpPr>
        <p:spPr>
          <a:xfrm>
            <a:off x="8814816" y="3310128"/>
            <a:ext cx="2523744" cy="2340864"/>
          </a:xfrm>
          <a:prstGeom prst="roundRect">
            <a:avLst>
              <a:gd name="adj" fmla="val 5469"/>
            </a:avLst>
          </a:prstGeom>
          <a:solidFill>
            <a:srgbClr val="FFFFFF"/>
          </a:solidFill>
          <a:ln w="15875">
            <a:solidFill>
              <a:srgbClr val="E3DCF2"/>
            </a:solidFill>
            <a:prstDash val="solid"/>
          </a:ln>
        </p:spPr>
      </p:sp>
      <p:sp>
        <p:nvSpPr>
          <p:cNvPr id="30" name="Text 28"/>
          <p:cNvSpPr/>
          <p:nvPr/>
        </p:nvSpPr>
        <p:spPr>
          <a:xfrm>
            <a:off x="9015984"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Both ends of the range</a:t>
            </a:r>
            <a:endParaRPr lang="en-US" sz="1450" dirty="0"/>
          </a:p>
        </p:txBody>
      </p:sp>
      <p:sp>
        <p:nvSpPr>
          <p:cNvPr id="31" name="Text 29"/>
          <p:cNvSpPr/>
          <p:nvPr/>
        </p:nvSpPr>
        <p:spPr>
          <a:xfrm>
            <a:off x="9015984"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Buzz · Speak · English · Maths · Finance · AI</a:t>
            </a:r>
            <a:endParaRPr lang="en-US" sz="950" dirty="0"/>
          </a:p>
        </p:txBody>
      </p:sp>
      <p:sp>
        <p:nvSpPr>
          <p:cNvPr id="32" name="Text 30"/>
          <p:cNvSpPr/>
          <p:nvPr/>
        </p:nvSpPr>
        <p:spPr>
          <a:xfrm>
            <a:off x="9015984"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Closes the 4–6 and 12–16 gaps, once households run more than one product on one account. Business is the exception — its mentor bench takes so long to build that recruiting starts back at Gate 1, and AI launches on the same bench or not at all.</a:t>
            </a:r>
            <a:endParaRPr lang="en-US" sz="950" dirty="0"/>
          </a:p>
        </p:txBody>
      </p:sp>
      <p:sp>
        <p:nvSpPr>
          <p:cNvPr id="33" name="Text 31"/>
          <p:cNvSpPr/>
          <p:nvPr/>
        </p:nvSpPr>
        <p:spPr>
          <a:xfrm>
            <a:off x="640080" y="5742432"/>
            <a:ext cx="10607040" cy="457200"/>
          </a:xfrm>
          <a:prstGeom prst="rect">
            <a:avLst/>
          </a:prstGeom>
          <a:noFill/>
          <a:ln/>
        </p:spPr>
        <p:txBody>
          <a:bodyPr wrap="square" lIns="0" tIns="0" rIns="0" bIns="0" rtlCol="0" anchor="ctr"/>
          <a:lstStyle/>
          <a:p>
            <a:pPr indent="0" marL="0">
              <a:buNone/>
            </a:pPr>
            <a:r>
              <a:rPr lang="en-US" sz="1250" i="1" dirty="0">
                <a:solidFill>
                  <a:srgbClr val="7A7291"/>
                </a:solidFill>
                <a:latin typeface="Calibri" pitchFamily="34" charset="0"/>
                <a:ea typeface="Calibri" pitchFamily="34" charset="-122"/>
                <a:cs typeface="Calibri" pitchFamily="34" charset="-120"/>
              </a:rPr>
              <a:t>Gates are written as proofs, not targets — the numbers behind each are the CMO’s. Nothing at Gate 3 starts until Gate 2 has paid for itself.</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COVERAGE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two: by the age of the child</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with three children is with Bizzing from the first child at four to the last at sixteen. The gaps are where we hand them back.</a:t>
            </a:r>
            <a:endParaRPr lang="en-US" sz="1450" dirty="0"/>
          </a:p>
        </p:txBody>
      </p:sp>
      <p:sp>
        <p:nvSpPr>
          <p:cNvPr id="5" name="Shape 3"/>
          <p:cNvSpPr/>
          <p:nvPr/>
        </p:nvSpPr>
        <p:spPr>
          <a:xfrm>
            <a:off x="640080" y="2011680"/>
            <a:ext cx="2011680" cy="566928"/>
          </a:xfrm>
          <a:prstGeom prst="roundRect">
            <a:avLst>
              <a:gd name="adj" fmla="val 19355"/>
            </a:avLst>
          </a:prstGeom>
          <a:solidFill>
            <a:srgbClr val="241E33"/>
          </a:solidFill>
          <a:ln/>
        </p:spPr>
      </p:sp>
      <p:sp>
        <p:nvSpPr>
          <p:cNvPr id="6" name="Text 4"/>
          <p:cNvSpPr/>
          <p:nvPr/>
        </p:nvSpPr>
        <p:spPr>
          <a:xfrm>
            <a:off x="640080"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4–6</a:t>
            </a:r>
            <a:endParaRPr lang="en-US" sz="1900" dirty="0"/>
          </a:p>
        </p:txBody>
      </p:sp>
      <p:sp>
        <p:nvSpPr>
          <p:cNvPr id="7" name="Text 5"/>
          <p:cNvSpPr/>
          <p:nvPr/>
        </p:nvSpPr>
        <p:spPr>
          <a:xfrm>
            <a:off x="731520"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Letters, sounds,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words</a:t>
            </a:r>
            <a:endParaRPr lang="en-US" sz="1150" dirty="0"/>
          </a:p>
        </p:txBody>
      </p:sp>
      <p:sp>
        <p:nvSpPr>
          <p:cNvPr id="8" name="Shape 6"/>
          <p:cNvSpPr/>
          <p:nvPr/>
        </p:nvSpPr>
        <p:spPr>
          <a:xfrm>
            <a:off x="731520" y="3346704"/>
            <a:ext cx="1828800" cy="274320"/>
          </a:xfrm>
          <a:prstGeom prst="roundRect">
            <a:avLst>
              <a:gd name="adj" fmla="val 50000"/>
            </a:avLst>
          </a:prstGeom>
          <a:solidFill>
            <a:srgbClr val="C4453C"/>
          </a:solidFill>
          <a:ln/>
        </p:spPr>
      </p:sp>
      <p:sp>
        <p:nvSpPr>
          <p:cNvPr id="9" name="Text 7"/>
          <p:cNvSpPr/>
          <p:nvPr/>
        </p:nvSpPr>
        <p:spPr>
          <a:xfrm>
            <a:off x="731520"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10" name="Text 8"/>
          <p:cNvSpPr/>
          <p:nvPr/>
        </p:nvSpPr>
        <p:spPr>
          <a:xfrm>
            <a:off x="731520"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Buzz — to build</a:t>
            </a:r>
            <a:endParaRPr lang="en-US" sz="1000" dirty="0"/>
          </a:p>
        </p:txBody>
      </p:sp>
      <p:sp>
        <p:nvSpPr>
          <p:cNvPr id="11" name="Text 9"/>
          <p:cNvSpPr/>
          <p:nvPr/>
        </p:nvSpPr>
        <p:spPr>
          <a:xfrm>
            <a:off x="731520"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Bizzing Buzz. Audio and pictures, because the child cannot read the interface. The voice library transfers; the reading-free UI does not exist yet.</a:t>
            </a:r>
            <a:endParaRPr lang="en-US" sz="1000" dirty="0"/>
          </a:p>
        </p:txBody>
      </p:sp>
      <p:sp>
        <p:nvSpPr>
          <p:cNvPr id="12" name="Shape 10"/>
          <p:cNvSpPr/>
          <p:nvPr/>
        </p:nvSpPr>
        <p:spPr>
          <a:xfrm>
            <a:off x="2852928" y="2011680"/>
            <a:ext cx="2011680" cy="566928"/>
          </a:xfrm>
          <a:prstGeom prst="roundRect">
            <a:avLst>
              <a:gd name="adj" fmla="val 19355"/>
            </a:avLst>
          </a:prstGeom>
          <a:solidFill>
            <a:srgbClr val="241E33"/>
          </a:solidFill>
          <a:ln/>
        </p:spPr>
      </p:sp>
      <p:sp>
        <p:nvSpPr>
          <p:cNvPr id="13" name="Text 11"/>
          <p:cNvSpPr/>
          <p:nvPr/>
        </p:nvSpPr>
        <p:spPr>
          <a:xfrm>
            <a:off x="2852928"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6–8</a:t>
            </a:r>
            <a:endParaRPr lang="en-US" sz="1900" dirty="0"/>
          </a:p>
        </p:txBody>
      </p:sp>
      <p:sp>
        <p:nvSpPr>
          <p:cNvPr id="14" name="Text 12"/>
          <p:cNvSpPr/>
          <p:nvPr/>
        </p:nvSpPr>
        <p:spPr>
          <a:xfrm>
            <a:off x="2944368"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Reading fluency,</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spelling</a:t>
            </a:r>
            <a:endParaRPr lang="en-US" sz="1150" dirty="0"/>
          </a:p>
        </p:txBody>
      </p:sp>
      <p:sp>
        <p:nvSpPr>
          <p:cNvPr id="15" name="Shape 13"/>
          <p:cNvSpPr/>
          <p:nvPr/>
        </p:nvSpPr>
        <p:spPr>
          <a:xfrm>
            <a:off x="2944368" y="3346704"/>
            <a:ext cx="1828800" cy="274320"/>
          </a:xfrm>
          <a:prstGeom prst="roundRect">
            <a:avLst>
              <a:gd name="adj" fmla="val 50000"/>
            </a:avLst>
          </a:prstGeom>
          <a:solidFill>
            <a:srgbClr val="F0B429"/>
          </a:solidFill>
          <a:ln/>
        </p:spPr>
      </p:sp>
      <p:sp>
        <p:nvSpPr>
          <p:cNvPr id="16" name="Text 14"/>
          <p:cNvSpPr/>
          <p:nvPr/>
        </p:nvSpPr>
        <p:spPr>
          <a:xfrm>
            <a:off x="2944368" y="3346704"/>
            <a:ext cx="182880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PARTIAL</a:t>
            </a:r>
            <a:endParaRPr lang="en-US" sz="800" dirty="0"/>
          </a:p>
        </p:txBody>
      </p:sp>
      <p:sp>
        <p:nvSpPr>
          <p:cNvPr id="17" name="Text 15"/>
          <p:cNvSpPr/>
          <p:nvPr/>
        </p:nvSpPr>
        <p:spPr>
          <a:xfrm>
            <a:off x="2944368"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entry · Buzz · English</a:t>
            </a:r>
            <a:endParaRPr lang="en-US" sz="1000" dirty="0"/>
          </a:p>
        </p:txBody>
      </p:sp>
      <p:sp>
        <p:nvSpPr>
          <p:cNvPr id="18" name="Text 16"/>
          <p:cNvSpPr/>
          <p:nvPr/>
        </p:nvSpPr>
        <p:spPr>
          <a:xfrm>
            <a:off x="2944368"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Bee starts too hard for most six-year-olds. Buzz→Bee is the bridge, and it is the strongest retention story in the house.</a:t>
            </a:r>
            <a:endParaRPr lang="en-US" sz="1000" dirty="0"/>
          </a:p>
        </p:txBody>
      </p:sp>
      <p:sp>
        <p:nvSpPr>
          <p:cNvPr id="19" name="Shape 17"/>
          <p:cNvSpPr/>
          <p:nvPr/>
        </p:nvSpPr>
        <p:spPr>
          <a:xfrm>
            <a:off x="5065776" y="2011680"/>
            <a:ext cx="2011680" cy="566928"/>
          </a:xfrm>
          <a:prstGeom prst="roundRect">
            <a:avLst>
              <a:gd name="adj" fmla="val 19355"/>
            </a:avLst>
          </a:prstGeom>
          <a:solidFill>
            <a:srgbClr val="241E33"/>
          </a:solidFill>
          <a:ln/>
        </p:spPr>
      </p:sp>
      <p:sp>
        <p:nvSpPr>
          <p:cNvPr id="20" name="Text 18"/>
          <p:cNvSpPr/>
          <p:nvPr/>
        </p:nvSpPr>
        <p:spPr>
          <a:xfrm>
            <a:off x="5065776"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8–10</a:t>
            </a:r>
            <a:endParaRPr lang="en-US" sz="1900" dirty="0"/>
          </a:p>
        </p:txBody>
      </p:sp>
      <p:sp>
        <p:nvSpPr>
          <p:cNvPr id="21" name="Text 19"/>
          <p:cNvSpPr/>
          <p:nvPr/>
        </p:nvSpPr>
        <p:spPr>
          <a:xfrm>
            <a:off x="5157216"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Spelling bee,</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vocabulary, GK</a:t>
            </a:r>
            <a:endParaRPr lang="en-US" sz="1150" dirty="0"/>
          </a:p>
        </p:txBody>
      </p:sp>
      <p:sp>
        <p:nvSpPr>
          <p:cNvPr id="22" name="Shape 20"/>
          <p:cNvSpPr/>
          <p:nvPr/>
        </p:nvSpPr>
        <p:spPr>
          <a:xfrm>
            <a:off x="5157216" y="3346704"/>
            <a:ext cx="1828800" cy="274320"/>
          </a:xfrm>
          <a:prstGeom prst="roundRect">
            <a:avLst>
              <a:gd name="adj" fmla="val 50000"/>
            </a:avLst>
          </a:prstGeom>
          <a:solidFill>
            <a:srgbClr val="178A4C"/>
          </a:solidFill>
          <a:ln/>
        </p:spPr>
      </p:sp>
      <p:sp>
        <p:nvSpPr>
          <p:cNvPr id="23" name="Text 21"/>
          <p:cNvSpPr/>
          <p:nvPr/>
        </p:nvSpPr>
        <p:spPr>
          <a:xfrm>
            <a:off x="5157216"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24" name="Text 22"/>
          <p:cNvSpPr/>
          <p:nvPr/>
        </p:nvSpPr>
        <p:spPr>
          <a:xfrm>
            <a:off x="5157216"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India · Quiz · Maths</a:t>
            </a:r>
            <a:endParaRPr lang="en-US" sz="1000" dirty="0"/>
          </a:p>
        </p:txBody>
      </p:sp>
      <p:sp>
        <p:nvSpPr>
          <p:cNvPr id="25" name="Text 23"/>
          <p:cNvSpPr/>
          <p:nvPr/>
        </p:nvSpPr>
        <p:spPr>
          <a:xfrm>
            <a:off x="5157216"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core. Everything built so far lands squarely here, and this is where the bee community lives.</a:t>
            </a:r>
            <a:endParaRPr lang="en-US" sz="1000" dirty="0"/>
          </a:p>
        </p:txBody>
      </p:sp>
      <p:sp>
        <p:nvSpPr>
          <p:cNvPr id="26" name="Shape 24"/>
          <p:cNvSpPr/>
          <p:nvPr/>
        </p:nvSpPr>
        <p:spPr>
          <a:xfrm>
            <a:off x="7278624" y="2011680"/>
            <a:ext cx="2011680" cy="566928"/>
          </a:xfrm>
          <a:prstGeom prst="roundRect">
            <a:avLst>
              <a:gd name="adj" fmla="val 19355"/>
            </a:avLst>
          </a:prstGeom>
          <a:solidFill>
            <a:srgbClr val="241E33"/>
          </a:solidFill>
          <a:ln/>
        </p:spPr>
      </p:sp>
      <p:sp>
        <p:nvSpPr>
          <p:cNvPr id="27" name="Text 25"/>
          <p:cNvSpPr/>
          <p:nvPr/>
        </p:nvSpPr>
        <p:spPr>
          <a:xfrm>
            <a:off x="7278624"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10–12</a:t>
            </a:r>
            <a:endParaRPr lang="en-US" sz="1900" dirty="0"/>
          </a:p>
        </p:txBody>
      </p:sp>
      <p:sp>
        <p:nvSpPr>
          <p:cNvPr id="28" name="Text 26"/>
          <p:cNvSpPr/>
          <p:nvPr/>
        </p:nvSpPr>
        <p:spPr>
          <a:xfrm>
            <a:off x="7370064"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Peak bee, 11+,</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gifted testing</a:t>
            </a:r>
            <a:endParaRPr lang="en-US" sz="1150" dirty="0"/>
          </a:p>
        </p:txBody>
      </p:sp>
      <p:sp>
        <p:nvSpPr>
          <p:cNvPr id="29" name="Shape 27"/>
          <p:cNvSpPr/>
          <p:nvPr/>
        </p:nvSpPr>
        <p:spPr>
          <a:xfrm>
            <a:off x="7370064" y="3346704"/>
            <a:ext cx="1828800" cy="274320"/>
          </a:xfrm>
          <a:prstGeom prst="roundRect">
            <a:avLst>
              <a:gd name="adj" fmla="val 50000"/>
            </a:avLst>
          </a:prstGeom>
          <a:solidFill>
            <a:srgbClr val="178A4C"/>
          </a:solidFill>
          <a:ln/>
        </p:spPr>
      </p:sp>
      <p:sp>
        <p:nvSpPr>
          <p:cNvPr id="30" name="Text 28"/>
          <p:cNvSpPr/>
          <p:nvPr/>
        </p:nvSpPr>
        <p:spPr>
          <a:xfrm>
            <a:off x="7370064"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31" name="Text 29"/>
          <p:cNvSpPr/>
          <p:nvPr/>
        </p:nvSpPr>
        <p:spPr>
          <a:xfrm>
            <a:off x="7370064"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Eleven · Prep</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Bhasha · English</a:t>
            </a:r>
            <a:endParaRPr lang="en-US" sz="1000" dirty="0"/>
          </a:p>
        </p:txBody>
      </p:sp>
      <p:sp>
        <p:nvSpPr>
          <p:cNvPr id="32" name="Text 30"/>
          <p:cNvSpPr/>
          <p:nvPr/>
        </p:nvSpPr>
        <p:spPr>
          <a:xfrm>
            <a:off x="7370064"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highest-intent, highest-spend years. Four products can serve one child at once, on one account.</a:t>
            </a:r>
            <a:endParaRPr lang="en-US" sz="1000" dirty="0"/>
          </a:p>
        </p:txBody>
      </p:sp>
      <p:sp>
        <p:nvSpPr>
          <p:cNvPr id="33" name="Shape 31"/>
          <p:cNvSpPr/>
          <p:nvPr/>
        </p:nvSpPr>
        <p:spPr>
          <a:xfrm>
            <a:off x="9491472" y="2011680"/>
            <a:ext cx="2011680" cy="566928"/>
          </a:xfrm>
          <a:prstGeom prst="roundRect">
            <a:avLst>
              <a:gd name="adj" fmla="val 19355"/>
            </a:avLst>
          </a:prstGeom>
          <a:solidFill>
            <a:srgbClr val="241E33"/>
          </a:solidFill>
          <a:ln/>
        </p:spPr>
      </p:sp>
      <p:sp>
        <p:nvSpPr>
          <p:cNvPr id="34" name="Text 32"/>
          <p:cNvSpPr/>
          <p:nvPr/>
        </p:nvSpPr>
        <p:spPr>
          <a:xfrm>
            <a:off x="9491472"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12–16</a:t>
            </a:r>
            <a:endParaRPr lang="en-US" sz="1900" dirty="0"/>
          </a:p>
        </p:txBody>
      </p:sp>
      <p:sp>
        <p:nvSpPr>
          <p:cNvPr id="35" name="Text 33"/>
          <p:cNvSpPr/>
          <p:nvPr/>
        </p:nvSpPr>
        <p:spPr>
          <a:xfrm>
            <a:off x="9582912"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Debate, essays,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money, business, AI</a:t>
            </a:r>
            <a:endParaRPr lang="en-US" sz="1150" dirty="0"/>
          </a:p>
        </p:txBody>
      </p:sp>
      <p:sp>
        <p:nvSpPr>
          <p:cNvPr id="36" name="Shape 34"/>
          <p:cNvSpPr/>
          <p:nvPr/>
        </p:nvSpPr>
        <p:spPr>
          <a:xfrm>
            <a:off x="9582912" y="3346704"/>
            <a:ext cx="1828800" cy="274320"/>
          </a:xfrm>
          <a:prstGeom prst="roundRect">
            <a:avLst>
              <a:gd name="adj" fmla="val 50000"/>
            </a:avLst>
          </a:prstGeom>
          <a:solidFill>
            <a:srgbClr val="C4453C"/>
          </a:solidFill>
          <a:ln/>
        </p:spPr>
      </p:sp>
      <p:sp>
        <p:nvSpPr>
          <p:cNvPr id="37" name="Text 35"/>
          <p:cNvSpPr/>
          <p:nvPr/>
        </p:nvSpPr>
        <p:spPr>
          <a:xfrm>
            <a:off x="9582912"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38" name="Text 36"/>
          <p:cNvSpPr/>
          <p:nvPr/>
        </p:nvSpPr>
        <p:spPr>
          <a:xfrm>
            <a:off x="9582912"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Speak · Business · AI</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Finance · English</a:t>
            </a:r>
            <a:endParaRPr lang="en-US" sz="1000" dirty="0"/>
          </a:p>
        </p:txBody>
      </p:sp>
      <p:sp>
        <p:nvSpPr>
          <p:cNvPr id="39" name="Text 37"/>
          <p:cNvSpPr/>
          <p:nvPr/>
        </p:nvSpPr>
        <p:spPr>
          <a:xfrm>
            <a:off x="9582912"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bee ends around fourteen and the family leaves. Five products aim here and not one is built. The churn cliff is still open.</a:t>
            </a:r>
            <a:endParaRPr lang="en-US" sz="1000" dirty="0"/>
          </a:p>
        </p:txBody>
      </p:sp>
      <p:sp>
        <p:nvSpPr>
          <p:cNvPr id="40" name="Shape 38"/>
          <p:cNvSpPr/>
          <p:nvPr/>
        </p:nvSpPr>
        <p:spPr>
          <a:xfrm>
            <a:off x="640080" y="5596128"/>
            <a:ext cx="10607040" cy="658368"/>
          </a:xfrm>
          <a:prstGeom prst="roundRect">
            <a:avLst>
              <a:gd name="adj" fmla="val 19444"/>
            </a:avLst>
          </a:prstGeom>
          <a:solidFill>
            <a:srgbClr val="EFEBF8"/>
          </a:solidFill>
          <a:ln/>
          <a:effectLst>
            <a:outerShdw sx="100000" sy="100000" kx="0" ky="0" algn="bl" rotWithShape="0" blurRad="127000" dist="25400" dir="5400000">
              <a:srgbClr val="241E33">
                <a:alpha val="10000"/>
              </a:srgbClr>
            </a:outerShdw>
          </a:effectLst>
        </p:spPr>
      </p:sp>
      <p:sp>
        <p:nvSpPr>
          <p:cNvPr id="41" name="Text 39"/>
          <p:cNvSpPr/>
          <p:nvPr/>
        </p:nvSpPr>
        <p:spPr>
          <a:xfrm>
            <a:off x="950976" y="5596128"/>
            <a:ext cx="9966960" cy="658368"/>
          </a:xfrm>
          <a:prstGeom prst="rect">
            <a:avLst/>
          </a:prstGeom>
          <a:noFill/>
          <a:ln/>
        </p:spPr>
        <p:txBody>
          <a:bodyPr wrap="square" lIns="0" tIns="0" rIns="0" bIns="0" rtlCol="0" anchor="ctr"/>
          <a:lstStyle/>
          <a:p>
            <a:pPr indent="0" marL="0">
              <a:lnSpc>
                <a:spcPts val="1900"/>
              </a:lnSpc>
              <a:buNone/>
            </a:pPr>
            <a:r>
              <a:rPr lang="en-US" sz="1400" i="1" dirty="0">
                <a:solidFill>
                  <a:srgbClr val="241E33"/>
                </a:solidFill>
                <a:latin typeface="Cambria" pitchFamily="34" charset="0"/>
                <a:ea typeface="Cambria" pitchFamily="34" charset="-122"/>
                <a:cs typeface="Cambria" pitchFamily="34" charset="-120"/>
              </a:rPr>
              <a:t>Bizzing’s job is never to hand a family back. Both gaps now have product names against them — but a name is not a build, and until Buzz and Speak exist the family still walks out at four and again at fourteen.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MONETISATION · YEARS ONE TO FIVE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Bizzing earns, and when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Six streams. Two of them can start almost immediately because the asset already exists — the books are written and the avatar art is drawn.</a:t>
            </a:r>
            <a:endParaRPr lang="en-US" sz="1450" dirty="0"/>
          </a:p>
        </p:txBody>
      </p:sp>
      <p:sp>
        <p:nvSpPr>
          <p:cNvPr id="5" name="Text 3"/>
          <p:cNvSpPr/>
          <p:nvPr/>
        </p:nvSpPr>
        <p:spPr>
          <a:xfrm>
            <a:off x="4846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 1</a:t>
            </a:r>
            <a:endParaRPr lang="en-US" sz="1000" dirty="0"/>
          </a:p>
        </p:txBody>
      </p:sp>
      <p:sp>
        <p:nvSpPr>
          <p:cNvPr id="6" name="Text 4"/>
          <p:cNvSpPr/>
          <p:nvPr/>
        </p:nvSpPr>
        <p:spPr>
          <a:xfrm>
            <a:off x="7132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2–3</a:t>
            </a:r>
            <a:endParaRPr lang="en-US" sz="1000" dirty="0"/>
          </a:p>
        </p:txBody>
      </p:sp>
      <p:sp>
        <p:nvSpPr>
          <p:cNvPr id="7" name="Text 5"/>
          <p:cNvSpPr/>
          <p:nvPr/>
        </p:nvSpPr>
        <p:spPr>
          <a:xfrm>
            <a:off x="9418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4–5</a:t>
            </a:r>
            <a:endParaRPr lang="en-US" sz="1000" dirty="0"/>
          </a:p>
        </p:txBody>
      </p:sp>
      <p:sp>
        <p:nvSpPr>
          <p:cNvPr id="8" name="Shape 6"/>
          <p:cNvSpPr/>
          <p:nvPr/>
        </p:nvSpPr>
        <p:spPr>
          <a:xfrm>
            <a:off x="512064" y="2286000"/>
            <a:ext cx="10991088" cy="576072"/>
          </a:xfrm>
          <a:prstGeom prst="roundRect">
            <a:avLst>
              <a:gd name="adj" fmla="val 15873"/>
            </a:avLst>
          </a:prstGeom>
          <a:solidFill>
            <a:srgbClr val="EFEBF8"/>
          </a:solidFill>
          <a:ln/>
        </p:spPr>
      </p:sp>
      <p:sp>
        <p:nvSpPr>
          <p:cNvPr id="9" name="Text 7"/>
          <p:cNvSpPr/>
          <p:nvPr/>
        </p:nvSpPr>
        <p:spPr>
          <a:xfrm>
            <a:off x="640080" y="232257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Subscription &amp; packs</a:t>
            </a:r>
            <a:endParaRPr lang="en-US" sz="1350" dirty="0"/>
          </a:p>
        </p:txBody>
      </p:sp>
      <p:sp>
        <p:nvSpPr>
          <p:cNvPr id="10" name="Text 8"/>
          <p:cNvSpPr/>
          <p:nvPr/>
        </p:nvSpPr>
        <p:spPr>
          <a:xfrm>
            <a:off x="640080" y="256946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Advanced, Bhasha, Eleven. The compounding line — everything else is a supplement to it.</a:t>
            </a:r>
            <a:endParaRPr lang="en-US" sz="950" dirty="0"/>
          </a:p>
        </p:txBody>
      </p:sp>
      <p:sp>
        <p:nvSpPr>
          <p:cNvPr id="11" name="Shape 9"/>
          <p:cNvSpPr/>
          <p:nvPr/>
        </p:nvSpPr>
        <p:spPr>
          <a:xfrm>
            <a:off x="5257800" y="2441448"/>
            <a:ext cx="1280160" cy="274320"/>
          </a:xfrm>
          <a:prstGeom prst="roundRect">
            <a:avLst>
              <a:gd name="adj" fmla="val 50000"/>
            </a:avLst>
          </a:prstGeom>
          <a:solidFill>
            <a:srgbClr val="178A4C"/>
          </a:solidFill>
          <a:ln/>
        </p:spPr>
      </p:sp>
      <p:sp>
        <p:nvSpPr>
          <p:cNvPr id="12" name="Text 10"/>
          <p:cNvSpPr/>
          <p:nvPr/>
        </p:nvSpPr>
        <p:spPr>
          <a:xfrm>
            <a:off x="5257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13" name="Shape 11"/>
          <p:cNvSpPr/>
          <p:nvPr/>
        </p:nvSpPr>
        <p:spPr>
          <a:xfrm>
            <a:off x="7543800" y="2441448"/>
            <a:ext cx="1280160" cy="274320"/>
          </a:xfrm>
          <a:prstGeom prst="roundRect">
            <a:avLst>
              <a:gd name="adj" fmla="val 50000"/>
            </a:avLst>
          </a:prstGeom>
          <a:solidFill>
            <a:srgbClr val="6C4FE0"/>
          </a:solidFill>
          <a:ln/>
        </p:spPr>
      </p:sp>
      <p:sp>
        <p:nvSpPr>
          <p:cNvPr id="14" name="Text 12"/>
          <p:cNvSpPr/>
          <p:nvPr/>
        </p:nvSpPr>
        <p:spPr>
          <a:xfrm>
            <a:off x="7543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15" name="Shape 13"/>
          <p:cNvSpPr/>
          <p:nvPr/>
        </p:nvSpPr>
        <p:spPr>
          <a:xfrm>
            <a:off x="9829800" y="2441448"/>
            <a:ext cx="1280160" cy="274320"/>
          </a:xfrm>
          <a:prstGeom prst="roundRect">
            <a:avLst>
              <a:gd name="adj" fmla="val 50000"/>
            </a:avLst>
          </a:prstGeom>
          <a:solidFill>
            <a:srgbClr val="F0B429"/>
          </a:solidFill>
          <a:ln/>
        </p:spPr>
      </p:sp>
      <p:sp>
        <p:nvSpPr>
          <p:cNvPr id="16" name="Text 14"/>
          <p:cNvSpPr/>
          <p:nvPr/>
        </p:nvSpPr>
        <p:spPr>
          <a:xfrm>
            <a:off x="9829800" y="2441448"/>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17" name="Text 15"/>
          <p:cNvSpPr/>
          <p:nvPr/>
        </p:nvSpPr>
        <p:spPr>
          <a:xfrm>
            <a:off x="640080" y="2953512"/>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Books</a:t>
            </a:r>
            <a:endParaRPr lang="en-US" sz="1350" dirty="0"/>
          </a:p>
        </p:txBody>
      </p:sp>
      <p:sp>
        <p:nvSpPr>
          <p:cNvPr id="18" name="Text 16"/>
          <p:cNvSpPr/>
          <p:nvPr/>
        </p:nvSpPr>
        <p:spPr>
          <a:xfrm>
            <a:off x="640080" y="3200400"/>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23 volumes and 1,700 pages already generated. Print-on-demand and ebook carry no inventory risk.</a:t>
            </a:r>
            <a:endParaRPr lang="en-US" sz="950" dirty="0"/>
          </a:p>
        </p:txBody>
      </p:sp>
      <p:sp>
        <p:nvSpPr>
          <p:cNvPr id="19" name="Shape 17"/>
          <p:cNvSpPr/>
          <p:nvPr/>
        </p:nvSpPr>
        <p:spPr>
          <a:xfrm>
            <a:off x="5257800" y="3072384"/>
            <a:ext cx="1280160" cy="274320"/>
          </a:xfrm>
          <a:prstGeom prst="roundRect">
            <a:avLst>
              <a:gd name="adj" fmla="val 50000"/>
            </a:avLst>
          </a:prstGeom>
          <a:solidFill>
            <a:srgbClr val="178A4C"/>
          </a:solidFill>
          <a:ln/>
        </p:spPr>
      </p:sp>
      <p:sp>
        <p:nvSpPr>
          <p:cNvPr id="20" name="Text 18"/>
          <p:cNvSpPr/>
          <p:nvPr/>
        </p:nvSpPr>
        <p:spPr>
          <a:xfrm>
            <a:off x="5257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21" name="Shape 19"/>
          <p:cNvSpPr/>
          <p:nvPr/>
        </p:nvSpPr>
        <p:spPr>
          <a:xfrm>
            <a:off x="7543800" y="3072384"/>
            <a:ext cx="1280160" cy="274320"/>
          </a:xfrm>
          <a:prstGeom prst="roundRect">
            <a:avLst>
              <a:gd name="adj" fmla="val 50000"/>
            </a:avLst>
          </a:prstGeom>
          <a:solidFill>
            <a:srgbClr val="6C4FE0"/>
          </a:solidFill>
          <a:ln/>
        </p:spPr>
      </p:sp>
      <p:sp>
        <p:nvSpPr>
          <p:cNvPr id="22" name="Text 20"/>
          <p:cNvSpPr/>
          <p:nvPr/>
        </p:nvSpPr>
        <p:spPr>
          <a:xfrm>
            <a:off x="7543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23" name="Shape 21"/>
          <p:cNvSpPr/>
          <p:nvPr/>
        </p:nvSpPr>
        <p:spPr>
          <a:xfrm>
            <a:off x="9829800" y="3072384"/>
            <a:ext cx="1280160" cy="274320"/>
          </a:xfrm>
          <a:prstGeom prst="roundRect">
            <a:avLst>
              <a:gd name="adj" fmla="val 50000"/>
            </a:avLst>
          </a:prstGeom>
          <a:solidFill>
            <a:srgbClr val="F0B429"/>
          </a:solidFill>
          <a:ln/>
        </p:spPr>
      </p:sp>
      <p:sp>
        <p:nvSpPr>
          <p:cNvPr id="24" name="Text 22"/>
          <p:cNvSpPr/>
          <p:nvPr/>
        </p:nvSpPr>
        <p:spPr>
          <a:xfrm>
            <a:off x="9829800" y="3072384"/>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25" name="Shape 23"/>
          <p:cNvSpPr/>
          <p:nvPr/>
        </p:nvSpPr>
        <p:spPr>
          <a:xfrm>
            <a:off x="512064" y="3547872"/>
            <a:ext cx="10991088" cy="576072"/>
          </a:xfrm>
          <a:prstGeom prst="roundRect">
            <a:avLst>
              <a:gd name="adj" fmla="val 15873"/>
            </a:avLst>
          </a:prstGeom>
          <a:solidFill>
            <a:srgbClr val="EFEBF8"/>
          </a:solidFill>
          <a:ln/>
        </p:spPr>
      </p:sp>
      <p:sp>
        <p:nvSpPr>
          <p:cNvPr id="26" name="Text 24"/>
          <p:cNvSpPr/>
          <p:nvPr/>
        </p:nvSpPr>
        <p:spPr>
          <a:xfrm>
            <a:off x="640080" y="3584448"/>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Playable avatar cards</a:t>
            </a:r>
            <a:endParaRPr lang="en-US" sz="1350" dirty="0"/>
          </a:p>
        </p:txBody>
      </p:sp>
      <p:sp>
        <p:nvSpPr>
          <p:cNvPr id="27" name="Text 25"/>
          <p:cNvSpPr/>
          <p:nvPr/>
        </p:nvSpPr>
        <p:spPr>
          <a:xfrm>
            <a:off x="640080" y="3831336"/>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The trump-card deck already exists in-app, and every card carries a real word fact. A physical product that still teaches.</a:t>
            </a:r>
            <a:endParaRPr lang="en-US" sz="950" dirty="0"/>
          </a:p>
        </p:txBody>
      </p:sp>
      <p:sp>
        <p:nvSpPr>
          <p:cNvPr id="28" name="Shape 26"/>
          <p:cNvSpPr/>
          <p:nvPr/>
        </p:nvSpPr>
        <p:spPr>
          <a:xfrm>
            <a:off x="7543800" y="3703320"/>
            <a:ext cx="1280160" cy="274320"/>
          </a:xfrm>
          <a:prstGeom prst="roundRect">
            <a:avLst>
              <a:gd name="adj" fmla="val 50000"/>
            </a:avLst>
          </a:prstGeom>
          <a:solidFill>
            <a:srgbClr val="178A4C"/>
          </a:solidFill>
          <a:ln/>
        </p:spPr>
      </p:sp>
      <p:sp>
        <p:nvSpPr>
          <p:cNvPr id="29" name="Text 27"/>
          <p:cNvSpPr/>
          <p:nvPr/>
        </p:nvSpPr>
        <p:spPr>
          <a:xfrm>
            <a:off x="7543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0" name="Shape 28"/>
          <p:cNvSpPr/>
          <p:nvPr/>
        </p:nvSpPr>
        <p:spPr>
          <a:xfrm>
            <a:off x="9829800" y="3703320"/>
            <a:ext cx="1280160" cy="274320"/>
          </a:xfrm>
          <a:prstGeom prst="roundRect">
            <a:avLst>
              <a:gd name="adj" fmla="val 50000"/>
            </a:avLst>
          </a:prstGeom>
          <a:solidFill>
            <a:srgbClr val="6C4FE0"/>
          </a:solidFill>
          <a:ln/>
        </p:spPr>
      </p:sp>
      <p:sp>
        <p:nvSpPr>
          <p:cNvPr id="31" name="Text 29"/>
          <p:cNvSpPr/>
          <p:nvPr/>
        </p:nvSpPr>
        <p:spPr>
          <a:xfrm>
            <a:off x="9829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2" name="Text 30"/>
          <p:cNvSpPr/>
          <p:nvPr/>
        </p:nvSpPr>
        <p:spPr>
          <a:xfrm>
            <a:off x="640080" y="4215384"/>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Plushies, tees, goodies</a:t>
            </a:r>
            <a:endParaRPr lang="en-US" sz="1350" dirty="0"/>
          </a:p>
        </p:txBody>
      </p:sp>
      <p:sp>
        <p:nvSpPr>
          <p:cNvPr id="33" name="Text 31"/>
          <p:cNvSpPr/>
          <p:nvPr/>
        </p:nvSpPr>
        <p:spPr>
          <a:xfrm>
            <a:off x="640080" y="4462272"/>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Bizzy and the champion avatars. Print-on-demand first; stock only what has already sold.</a:t>
            </a:r>
            <a:endParaRPr lang="en-US" sz="950" dirty="0"/>
          </a:p>
        </p:txBody>
      </p:sp>
      <p:sp>
        <p:nvSpPr>
          <p:cNvPr id="34" name="Shape 32"/>
          <p:cNvSpPr/>
          <p:nvPr/>
        </p:nvSpPr>
        <p:spPr>
          <a:xfrm>
            <a:off x="7543800" y="4334256"/>
            <a:ext cx="1280160" cy="274320"/>
          </a:xfrm>
          <a:prstGeom prst="roundRect">
            <a:avLst>
              <a:gd name="adj" fmla="val 50000"/>
            </a:avLst>
          </a:prstGeom>
          <a:solidFill>
            <a:srgbClr val="178A4C"/>
          </a:solidFill>
          <a:ln/>
        </p:spPr>
      </p:sp>
      <p:sp>
        <p:nvSpPr>
          <p:cNvPr id="35" name="Text 33"/>
          <p:cNvSpPr/>
          <p:nvPr/>
        </p:nvSpPr>
        <p:spPr>
          <a:xfrm>
            <a:off x="7543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6" name="Shape 34"/>
          <p:cNvSpPr/>
          <p:nvPr/>
        </p:nvSpPr>
        <p:spPr>
          <a:xfrm>
            <a:off x="9829800" y="4334256"/>
            <a:ext cx="1280160" cy="274320"/>
          </a:xfrm>
          <a:prstGeom prst="roundRect">
            <a:avLst>
              <a:gd name="adj" fmla="val 50000"/>
            </a:avLst>
          </a:prstGeom>
          <a:solidFill>
            <a:srgbClr val="6C4FE0"/>
          </a:solidFill>
          <a:ln/>
        </p:spPr>
      </p:sp>
      <p:sp>
        <p:nvSpPr>
          <p:cNvPr id="37" name="Text 35"/>
          <p:cNvSpPr/>
          <p:nvPr/>
        </p:nvSpPr>
        <p:spPr>
          <a:xfrm>
            <a:off x="9829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8" name="Shape 36"/>
          <p:cNvSpPr/>
          <p:nvPr/>
        </p:nvSpPr>
        <p:spPr>
          <a:xfrm>
            <a:off x="512064" y="4809744"/>
            <a:ext cx="10991088" cy="576072"/>
          </a:xfrm>
          <a:prstGeom prst="roundRect">
            <a:avLst>
              <a:gd name="adj" fmla="val 15873"/>
            </a:avLst>
          </a:prstGeom>
          <a:solidFill>
            <a:srgbClr val="EFEBF8"/>
          </a:solidFill>
          <a:ln/>
        </p:spPr>
      </p:sp>
      <p:sp>
        <p:nvSpPr>
          <p:cNvPr id="39" name="Text 37"/>
          <p:cNvSpPr/>
          <p:nvPr/>
        </p:nvSpPr>
        <p:spPr>
          <a:xfrm>
            <a:off x="640080" y="4846320"/>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YouTube</a:t>
            </a:r>
            <a:endParaRPr lang="en-US" sz="1350" dirty="0"/>
          </a:p>
        </p:txBody>
      </p:sp>
      <p:sp>
        <p:nvSpPr>
          <p:cNvPr id="40" name="Text 38"/>
          <p:cNvSpPr/>
          <p:nvPr/>
        </p:nvSpPr>
        <p:spPr>
          <a:xfrm>
            <a:off x="640080" y="5093208"/>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 revenue and sponsorship. Worth having, but its real return is acquisition — count it as marketing that pays for itself.</a:t>
            </a:r>
            <a:endParaRPr lang="en-US" sz="950" dirty="0"/>
          </a:p>
        </p:txBody>
      </p:sp>
      <p:sp>
        <p:nvSpPr>
          <p:cNvPr id="41" name="Shape 39"/>
          <p:cNvSpPr/>
          <p:nvPr/>
        </p:nvSpPr>
        <p:spPr>
          <a:xfrm>
            <a:off x="7543800" y="4965192"/>
            <a:ext cx="1280160" cy="274320"/>
          </a:xfrm>
          <a:prstGeom prst="roundRect">
            <a:avLst>
              <a:gd name="adj" fmla="val 50000"/>
            </a:avLst>
          </a:prstGeom>
          <a:solidFill>
            <a:srgbClr val="6C4FE0"/>
          </a:solidFill>
          <a:ln/>
        </p:spPr>
      </p:sp>
      <p:sp>
        <p:nvSpPr>
          <p:cNvPr id="42" name="Text 40"/>
          <p:cNvSpPr/>
          <p:nvPr/>
        </p:nvSpPr>
        <p:spPr>
          <a:xfrm>
            <a:off x="7543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3" name="Shape 41"/>
          <p:cNvSpPr/>
          <p:nvPr/>
        </p:nvSpPr>
        <p:spPr>
          <a:xfrm>
            <a:off x="9829800" y="4965192"/>
            <a:ext cx="1280160" cy="274320"/>
          </a:xfrm>
          <a:prstGeom prst="roundRect">
            <a:avLst>
              <a:gd name="adj" fmla="val 50000"/>
            </a:avLst>
          </a:prstGeom>
          <a:solidFill>
            <a:srgbClr val="6C4FE0"/>
          </a:solidFill>
          <a:ln/>
        </p:spPr>
      </p:sp>
      <p:sp>
        <p:nvSpPr>
          <p:cNvPr id="44" name="Text 42"/>
          <p:cNvSpPr/>
          <p:nvPr/>
        </p:nvSpPr>
        <p:spPr>
          <a:xfrm>
            <a:off x="9829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5" name="Text 43"/>
          <p:cNvSpPr/>
          <p:nvPr/>
        </p:nvSpPr>
        <p:spPr>
          <a:xfrm>
            <a:off x="640080" y="547725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Live training</a:t>
            </a:r>
            <a:endParaRPr lang="en-US" sz="1350" dirty="0"/>
          </a:p>
        </p:txBody>
      </p:sp>
      <p:sp>
        <p:nvSpPr>
          <p:cNvPr id="46" name="Text 44"/>
          <p:cNvSpPr/>
          <p:nvPr/>
        </p:nvSpPr>
        <p:spPr>
          <a:xfrm>
            <a:off x="640080" y="572414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Bizzing Business cohorts, bee coaching, beginner classes. Highest price per family — and Business IS this line, not a separate venture.</a:t>
            </a:r>
            <a:endParaRPr lang="en-US" sz="950" dirty="0"/>
          </a:p>
        </p:txBody>
      </p:sp>
      <p:sp>
        <p:nvSpPr>
          <p:cNvPr id="47" name="Shape 45"/>
          <p:cNvSpPr/>
          <p:nvPr/>
        </p:nvSpPr>
        <p:spPr>
          <a:xfrm>
            <a:off x="7543800" y="5596128"/>
            <a:ext cx="1280160" cy="274320"/>
          </a:xfrm>
          <a:prstGeom prst="roundRect">
            <a:avLst>
              <a:gd name="adj" fmla="val 50000"/>
            </a:avLst>
          </a:prstGeom>
          <a:solidFill>
            <a:srgbClr val="6C4FE0"/>
          </a:solidFill>
          <a:ln/>
        </p:spPr>
      </p:sp>
      <p:sp>
        <p:nvSpPr>
          <p:cNvPr id="48" name="Text 46"/>
          <p:cNvSpPr/>
          <p:nvPr/>
        </p:nvSpPr>
        <p:spPr>
          <a:xfrm>
            <a:off x="7543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9" name="Shape 47"/>
          <p:cNvSpPr/>
          <p:nvPr/>
        </p:nvSpPr>
        <p:spPr>
          <a:xfrm>
            <a:off x="9829800" y="5596128"/>
            <a:ext cx="1280160" cy="274320"/>
          </a:xfrm>
          <a:prstGeom prst="roundRect">
            <a:avLst>
              <a:gd name="adj" fmla="val 50000"/>
            </a:avLst>
          </a:prstGeom>
          <a:solidFill>
            <a:srgbClr val="178A4C"/>
          </a:solidFill>
          <a:ln/>
        </p:spPr>
      </p:sp>
      <p:sp>
        <p:nvSpPr>
          <p:cNvPr id="50" name="Text 48"/>
          <p:cNvSpPr/>
          <p:nvPr/>
        </p:nvSpPr>
        <p:spPr>
          <a:xfrm>
            <a:off x="9829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51" name="Shape 49"/>
          <p:cNvSpPr/>
          <p:nvPr/>
        </p:nvSpPr>
        <p:spPr>
          <a:xfrm>
            <a:off x="640080" y="6126480"/>
            <a:ext cx="10607040" cy="566928"/>
          </a:xfrm>
          <a:prstGeom prst="roundRect">
            <a:avLst>
              <a:gd name="adj" fmla="val 19355"/>
            </a:avLst>
          </a:prstGeom>
          <a:solidFill>
            <a:srgbClr val="FBF3E0"/>
          </a:solidFill>
          <a:ln/>
        </p:spPr>
      </p:sp>
      <p:sp>
        <p:nvSpPr>
          <p:cNvPr id="52" name="Text 50"/>
          <p:cNvSpPr/>
          <p:nvPr/>
        </p:nvSpPr>
        <p:spPr>
          <a:xfrm>
            <a:off x="914400" y="6126480"/>
            <a:ext cx="10058400" cy="566928"/>
          </a:xfrm>
          <a:prstGeom prst="rect">
            <a:avLst/>
          </a:prstGeom>
          <a:noFill/>
          <a:ln/>
        </p:spPr>
        <p:txBody>
          <a:bodyPr wrap="square" lIns="0" tIns="0" rIns="0" bIns="0" rtlCol="0" anchor="ctr"/>
          <a:lstStyle/>
          <a:p>
            <a:pPr indent="0" marL="0">
              <a:lnSpc>
                <a:spcPts val="1300"/>
              </a:lnSpc>
              <a:buNone/>
            </a:pPr>
            <a:r>
              <a:rPr lang="en-US" sz="1050" b="1" dirty="0">
                <a:solidFill>
                  <a:srgbClr val="8A5B00"/>
                </a:solidFill>
                <a:latin typeface="Calibri" pitchFamily="34" charset="0"/>
                <a:ea typeface="Calibri" pitchFamily="34" charset="-122"/>
                <a:cs typeface="Calibri" pitchFamily="34" charset="-120"/>
              </a:rPr>
              <a:t>Two cautions:  </a:t>
            </a:r>
            <a:pPr indent="0" marL="0">
              <a:lnSpc>
                <a:spcPts val="1300"/>
              </a:lnSpc>
              <a:buNone/>
            </a:pPr>
            <a:r>
              <a:rPr lang="en-US" sz="1050" dirty="0">
                <a:solidFill>
                  <a:srgbClr val="8A5B00"/>
                </a:solidFill>
                <a:latin typeface="Calibri" pitchFamily="34" charset="0"/>
                <a:ea typeface="Calibri" pitchFamily="34" charset="-122"/>
                <a:cs typeface="Calibri" pitchFamily="34" charset="-120"/>
              </a:rPr>
              <a:t>merch that holds stock is a different business — cash, sizes, returns — so print-on-demand until something proves itself. And live training is capped by people, not by software, which is why the mentor bench for Bizzing Business has to start being recruited long before the product launches.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MARKETING STRATEGY</a:t>
            </a:r>
            <a:endParaRPr lang="en-US" sz="1200" dirty="0"/>
          </a:p>
        </p:txBody>
      </p:sp>
      <p:sp>
        <p:nvSpPr>
          <p:cNvPr id="3" name="Text 1"/>
          <p:cNvSpPr/>
          <p:nvPr/>
        </p:nvSpPr>
        <p:spPr>
          <a:xfrm>
            <a:off x="640080" y="914400"/>
            <a:ext cx="10607040" cy="7315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Earn attention, prove it in person, then pay to scale it.</a:t>
            </a:r>
            <a:endParaRPr lang="en-US" sz="2700" dirty="0"/>
          </a:p>
        </p:txBody>
      </p:sp>
      <p:sp>
        <p:nvSpPr>
          <p:cNvPr id="4" name="Text 2"/>
          <p:cNvSpPr/>
          <p:nvPr/>
        </p:nvSpPr>
        <p:spPr>
          <a:xfrm>
            <a:off x="640080" y="1645920"/>
            <a:ext cx="10058400" cy="502920"/>
          </a:xfrm>
          <a:prstGeom prst="rect">
            <a:avLst/>
          </a:prstGeom>
          <a:noFill/>
          <a:ln/>
        </p:spPr>
        <p:txBody>
          <a:bodyPr wrap="square" lIns="0" tIns="0" rIns="0" bIns="0" rtlCol="0" anchor="ctr"/>
          <a:lstStyle/>
          <a:p>
            <a:pPr indent="0" marL="0">
              <a:buNone/>
            </a:pPr>
            <a:r>
              <a:rPr lang="en-US" sz="1350" dirty="0">
                <a:solidFill>
                  <a:srgbClr val="E3DCF2"/>
                </a:solidFill>
                <a:latin typeface="Calibri" pitchFamily="34" charset="0"/>
                <a:ea typeface="Calibri" pitchFamily="34" charset="-122"/>
                <a:cs typeface="Calibri" pitchFamily="34" charset="-120"/>
              </a:rPr>
              <a:t>The order matters more than the mix. Paid media applied to content nobody trusts yet is the fastest way to spend money badly.</a:t>
            </a:r>
            <a:endParaRPr lang="en-US" sz="1350" dirty="0"/>
          </a:p>
        </p:txBody>
      </p:sp>
      <p:sp>
        <p:nvSpPr>
          <p:cNvPr id="5" name="Shape 3"/>
          <p:cNvSpPr/>
          <p:nvPr/>
        </p:nvSpPr>
        <p:spPr>
          <a:xfrm rot="5400000">
            <a:off x="640080" y="2350008"/>
            <a:ext cx="384048" cy="384048"/>
          </a:xfrm>
          <a:prstGeom prst="hexagon">
            <a:avLst/>
          </a:prstGeom>
          <a:solidFill>
            <a:srgbClr val="F0B429"/>
          </a:solidFill>
          <a:ln/>
        </p:spPr>
      </p:sp>
      <p:sp>
        <p:nvSpPr>
          <p:cNvPr id="6" name="Text 4"/>
          <p:cNvSpPr/>
          <p:nvPr/>
        </p:nvSpPr>
        <p:spPr>
          <a:xfrm>
            <a:off x="640080" y="23500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207008" y="2258568"/>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YouTube</a:t>
            </a:r>
            <a:endParaRPr lang="en-US" sz="1700" dirty="0"/>
          </a:p>
        </p:txBody>
      </p:sp>
      <p:sp>
        <p:nvSpPr>
          <p:cNvPr id="8" name="Text 6"/>
          <p:cNvSpPr/>
          <p:nvPr/>
        </p:nvSpPr>
        <p:spPr>
          <a:xfrm>
            <a:off x="1207008" y="2624328"/>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Earns trust and reach</a:t>
            </a:r>
            <a:endParaRPr lang="en-US" sz="1050" dirty="0"/>
          </a:p>
        </p:txBody>
      </p:sp>
      <p:sp>
        <p:nvSpPr>
          <p:cNvPr id="9" name="Text 7"/>
          <p:cNvSpPr/>
          <p:nvPr/>
        </p:nvSpPr>
        <p:spPr>
          <a:xfrm>
            <a:off x="3520440" y="2240280"/>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Long-form documentaries make a stranger believe we know words. Shorts put us in front of families no targeting could find. A video keeps working for years; an ad stops the day the card does.</a:t>
            </a:r>
            <a:endParaRPr lang="en-US" sz="1150" dirty="0"/>
          </a:p>
        </p:txBody>
      </p:sp>
      <p:sp>
        <p:nvSpPr>
          <p:cNvPr id="10" name="Shape 8"/>
          <p:cNvSpPr/>
          <p:nvPr/>
        </p:nvSpPr>
        <p:spPr>
          <a:xfrm rot="5400000">
            <a:off x="640080" y="3337560"/>
            <a:ext cx="384048" cy="384048"/>
          </a:xfrm>
          <a:prstGeom prst="hexagon">
            <a:avLst/>
          </a:prstGeom>
          <a:solidFill>
            <a:srgbClr val="6C4FE0"/>
          </a:solidFill>
          <a:ln/>
        </p:spPr>
      </p:sp>
      <p:sp>
        <p:nvSpPr>
          <p:cNvPr id="11" name="Text 9"/>
          <p:cNvSpPr/>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207008" y="3246120"/>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Events &amp; community</a:t>
            </a:r>
            <a:endParaRPr lang="en-US" sz="1700" dirty="0"/>
          </a:p>
        </p:txBody>
      </p:sp>
      <p:sp>
        <p:nvSpPr>
          <p:cNvPr id="13" name="Text 11"/>
          <p:cNvSpPr/>
          <p:nvPr/>
        </p:nvSpPr>
        <p:spPr>
          <a:xfrm>
            <a:off x="1207008" y="3611880"/>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Turns trust into proof</a:t>
            </a:r>
            <a:endParaRPr lang="en-US" sz="1050" dirty="0"/>
          </a:p>
        </p:txBody>
      </p:sp>
      <p:sp>
        <p:nvSpPr>
          <p:cNvPr id="14" name="Text 12"/>
          <p:cNvSpPr/>
          <p:nvPr/>
        </p:nvSpPr>
        <p:spPr>
          <a:xfrm>
            <a:off x="3520440" y="3227832"/>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Regional bees, cultural associations, temple and community fairs, homeschool conferences — where this diaspora already gathers. Small reach, unmatched credibility. Parent WhatsApp groups are the real distribution channel.</a:t>
            </a:r>
            <a:endParaRPr lang="en-US" sz="1150" dirty="0"/>
          </a:p>
        </p:txBody>
      </p:sp>
      <p:sp>
        <p:nvSpPr>
          <p:cNvPr id="15" name="Shape 13"/>
          <p:cNvSpPr/>
          <p:nvPr/>
        </p:nvSpPr>
        <p:spPr>
          <a:xfrm rot="5400000">
            <a:off x="640080" y="4325112"/>
            <a:ext cx="384048" cy="384048"/>
          </a:xfrm>
          <a:prstGeom prst="hexagon">
            <a:avLst/>
          </a:prstGeom>
          <a:solidFill>
            <a:srgbClr val="178A4C"/>
          </a:solidFill>
          <a:ln/>
        </p:spPr>
      </p:sp>
      <p:sp>
        <p:nvSpPr>
          <p:cNvPr id="16" name="Text 14"/>
          <p:cNvSpPr/>
          <p:nvPr/>
        </p:nvSpPr>
        <p:spPr>
          <a:xfrm>
            <a:off x="640080" y="43251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07008" y="4233672"/>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Paid media</a:t>
            </a:r>
            <a:endParaRPr lang="en-US" sz="1700" dirty="0"/>
          </a:p>
        </p:txBody>
      </p:sp>
      <p:sp>
        <p:nvSpPr>
          <p:cNvPr id="18" name="Text 16"/>
          <p:cNvSpPr/>
          <p:nvPr/>
        </p:nvSpPr>
        <p:spPr>
          <a:xfrm>
            <a:off x="1207008" y="4599432"/>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Scales what is proven</a:t>
            </a:r>
            <a:endParaRPr lang="en-US" sz="1050" dirty="0"/>
          </a:p>
        </p:txBody>
      </p:sp>
      <p:sp>
        <p:nvSpPr>
          <p:cNvPr id="19" name="Text 17"/>
          <p:cNvSpPr/>
          <p:nvPr/>
        </p:nvSpPr>
        <p:spPr>
          <a:xfrm>
            <a:off x="3520440" y="4215384"/>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Harvests demand the content created and retargets the warmed. Creative comes from the channel, not from an agency. It amplifies; it does not originate.</a:t>
            </a:r>
            <a:endParaRPr lang="en-US" sz="1150" dirty="0"/>
          </a:p>
        </p:txBody>
      </p:sp>
      <p:sp>
        <p:nvSpPr>
          <p:cNvPr id="20" name="Shape 18"/>
          <p:cNvSpPr/>
          <p:nvPr/>
        </p:nvSpPr>
        <p:spPr>
          <a:xfrm rot="5400000">
            <a:off x="640080" y="5312664"/>
            <a:ext cx="384048" cy="384048"/>
          </a:xfrm>
          <a:prstGeom prst="hexagon">
            <a:avLst/>
          </a:prstGeom>
          <a:solidFill>
            <a:srgbClr val="E3B23C"/>
          </a:solidFill>
          <a:ln/>
        </p:spPr>
      </p:sp>
      <p:sp>
        <p:nvSpPr>
          <p:cNvPr id="21" name="Text 19"/>
          <p:cNvSpPr/>
          <p:nvPr/>
        </p:nvSpPr>
        <p:spPr>
          <a:xfrm>
            <a:off x="640080" y="531266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2" name="Text 20"/>
          <p:cNvSpPr/>
          <p:nvPr/>
        </p:nvSpPr>
        <p:spPr>
          <a:xfrm>
            <a:off x="1207008" y="5221224"/>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child</a:t>
            </a:r>
            <a:endParaRPr lang="en-US" sz="1700" dirty="0"/>
          </a:p>
        </p:txBody>
      </p:sp>
      <p:sp>
        <p:nvSpPr>
          <p:cNvPr id="23" name="Text 21"/>
          <p:cNvSpPr/>
          <p:nvPr/>
        </p:nvSpPr>
        <p:spPr>
          <a:xfrm>
            <a:off x="1207008" y="5586984"/>
            <a:ext cx="2103120" cy="274320"/>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Compounds all three</a:t>
            </a:r>
            <a:endParaRPr lang="en-US" sz="1050" dirty="0"/>
          </a:p>
        </p:txBody>
      </p:sp>
      <p:sp>
        <p:nvSpPr>
          <p:cNvPr id="24" name="Text 22"/>
          <p:cNvSpPr/>
          <p:nvPr/>
        </p:nvSpPr>
        <p:spPr>
          <a:xfrm>
            <a:off x="3520440" y="5202936"/>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A child who likes the app tells other children, and a champion who used it is worth more than any campaign. The CKO role exists partly for this.</a:t>
            </a:r>
            <a:endParaRPr lang="en-US" sz="1150" dirty="0"/>
          </a:p>
        </p:txBody>
      </p:sp>
      <p:sp>
        <p:nvSpPr>
          <p:cNvPr id="25" name="Text 23"/>
          <p:cNvSpPr/>
          <p:nvPr/>
        </p:nvSpPr>
        <p:spPr>
          <a:xfrm>
            <a:off x="640080" y="6263640"/>
            <a:ext cx="10607040" cy="365760"/>
          </a:xfrm>
          <a:prstGeom prst="rect">
            <a:avLst/>
          </a:prstGeom>
          <a:noFill/>
          <a:ln/>
        </p:spPr>
        <p:txBody>
          <a:bodyPr wrap="square" lIns="0" tIns="0" rIns="0" bIns="0" rtlCol="0" anchor="ctr"/>
          <a:lstStyle/>
          <a:p>
            <a:pPr indent="0" marL="0">
              <a:buNone/>
            </a:pPr>
            <a:r>
              <a:rPr lang="en-US" sz="1150" i="1" dirty="0">
                <a:solidFill>
                  <a:srgbClr val="7A7291"/>
                </a:solidFill>
                <a:latin typeface="Calibri" pitchFamily="34" charset="0"/>
                <a:ea typeface="Calibri" pitchFamily="34" charset="-122"/>
                <a:cs typeface="Calibri" pitchFamily="34" charset="-120"/>
              </a:rPr>
              <a:t>No budgets, targets or channel splits here by design — those are the CMO’s call. This slide fixes the ORDER, not the numbers.</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1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YouTube is not an ad channel</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It is the only asset that earns trust while we sleep — and the one place a parent decides whether Bizzing is serious.</a:t>
            </a:r>
            <a:endParaRPr lang="en-US" sz="1450" dirty="0"/>
          </a:p>
        </p:txBody>
      </p:sp>
      <p:sp>
        <p:nvSpPr>
          <p:cNvPr id="5" name="Shape 3"/>
          <p:cNvSpPr/>
          <p:nvPr/>
        </p:nvSpPr>
        <p:spPr>
          <a:xfrm>
            <a:off x="640080"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31720"/>
            <a:ext cx="420624" cy="420624"/>
          </a:xfrm>
          <a:prstGeom prst="hexagon">
            <a:avLst/>
          </a:prstGeom>
          <a:solidFill>
            <a:srgbClr val="6C4FE0"/>
          </a:solidFill>
          <a:ln/>
        </p:spPr>
      </p:sp>
      <p:sp>
        <p:nvSpPr>
          <p:cNvPr id="7" name="Text 5"/>
          <p:cNvSpPr/>
          <p:nvPr/>
        </p:nvSpPr>
        <p:spPr>
          <a:xfrm>
            <a:off x="914400"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Authority</a:t>
            </a:r>
            <a:endParaRPr lang="en-US" sz="1700" dirty="0"/>
          </a:p>
        </p:txBody>
      </p:sp>
      <p:sp>
        <p:nvSpPr>
          <p:cNvPr id="8" name="Text 6"/>
          <p:cNvSpPr/>
          <p:nvPr/>
        </p:nvSpPr>
        <p:spPr>
          <a:xfrm>
            <a:off x="914400"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parent choosing where their child practises is really asking whether we know the subject. Ten minutes of well-made history about words answers that better than any landing page.</a:t>
            </a:r>
            <a:endParaRPr lang="en-US" sz="1150" dirty="0"/>
          </a:p>
        </p:txBody>
      </p:sp>
      <p:sp>
        <p:nvSpPr>
          <p:cNvPr id="9" name="Shape 7"/>
          <p:cNvSpPr/>
          <p:nvPr/>
        </p:nvSpPr>
        <p:spPr>
          <a:xfrm>
            <a:off x="4325112"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31720"/>
            <a:ext cx="420624" cy="420624"/>
          </a:xfrm>
          <a:prstGeom prst="hexagon">
            <a:avLst/>
          </a:prstGeom>
          <a:solidFill>
            <a:srgbClr val="F0B429"/>
          </a:solidFill>
          <a:ln/>
        </p:spPr>
      </p:sp>
      <p:sp>
        <p:nvSpPr>
          <p:cNvPr id="11" name="Text 9"/>
          <p:cNvSpPr/>
          <p:nvPr/>
        </p:nvSpPr>
        <p:spPr>
          <a:xfrm>
            <a:off x="4599432"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Discovery</a:t>
            </a:r>
            <a:endParaRPr lang="en-US" sz="1700" dirty="0"/>
          </a:p>
        </p:txBody>
      </p:sp>
      <p:sp>
        <p:nvSpPr>
          <p:cNvPr id="12" name="Text 10"/>
          <p:cNvSpPr/>
          <p:nvPr/>
        </p:nvSpPr>
        <p:spPr>
          <a:xfrm>
            <a:off x="4599432"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 algorithm reaches families we could never target — the ones who do not yet know a product like this exists. That is reach we do not have to buy.</a:t>
            </a:r>
            <a:endParaRPr lang="en-US" sz="1150" dirty="0"/>
          </a:p>
        </p:txBody>
      </p:sp>
      <p:sp>
        <p:nvSpPr>
          <p:cNvPr id="13" name="Shape 11"/>
          <p:cNvSpPr/>
          <p:nvPr/>
        </p:nvSpPr>
        <p:spPr>
          <a:xfrm>
            <a:off x="8010144"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31720"/>
            <a:ext cx="420624" cy="420624"/>
          </a:xfrm>
          <a:prstGeom prst="hexagon">
            <a:avLst/>
          </a:prstGeom>
          <a:solidFill>
            <a:srgbClr val="178A4C"/>
          </a:solidFill>
          <a:ln/>
        </p:spPr>
      </p:sp>
      <p:sp>
        <p:nvSpPr>
          <p:cNvPr id="15" name="Text 13"/>
          <p:cNvSpPr/>
          <p:nvPr/>
        </p:nvSpPr>
        <p:spPr>
          <a:xfrm>
            <a:off x="8284464"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An asset, not a spend</a:t>
            </a:r>
            <a:endParaRPr lang="en-US" sz="1700" dirty="0"/>
          </a:p>
        </p:txBody>
      </p:sp>
      <p:sp>
        <p:nvSpPr>
          <p:cNvPr id="16" name="Text 14"/>
          <p:cNvSpPr/>
          <p:nvPr/>
        </p:nvSpPr>
        <p:spPr>
          <a:xfrm>
            <a:off x="8284464"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documentary published this year is still working in five. Paid media stops the moment the card stops. Over time the channel becomes the cheapest acquisition we own.</a:t>
            </a:r>
            <a:endParaRPr lang="en-US" sz="1150" dirty="0"/>
          </a:p>
        </p:txBody>
      </p:sp>
      <p:sp>
        <p:nvSpPr>
          <p:cNvPr id="17" name="Text 15"/>
          <p:cNvSpPr/>
          <p:nvPr/>
        </p:nvSpPr>
        <p:spPr>
          <a:xfrm>
            <a:off x="640080" y="4498848"/>
            <a:ext cx="5486400" cy="365760"/>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Two audiences, one video</a:t>
            </a:r>
            <a:endParaRPr lang="en-US" sz="1800" dirty="0"/>
          </a:p>
        </p:txBody>
      </p:sp>
      <p:sp>
        <p:nvSpPr>
          <p:cNvPr id="18" name="Shape 16"/>
          <p:cNvSpPr/>
          <p:nvPr/>
        </p:nvSpPr>
        <p:spPr>
          <a:xfrm rot="5400000">
            <a:off x="640080" y="4974336"/>
            <a:ext cx="274320" cy="274320"/>
          </a:xfrm>
          <a:prstGeom prst="hexagon">
            <a:avLst/>
          </a:prstGeom>
          <a:solidFill>
            <a:srgbClr val="6C4FE0"/>
          </a:solidFill>
          <a:ln/>
        </p:spPr>
      </p:sp>
      <p:sp>
        <p:nvSpPr>
          <p:cNvPr id="19" name="Text 17"/>
          <p:cNvSpPr/>
          <p:nvPr/>
        </p:nvSpPr>
        <p:spPr>
          <a:xfrm>
            <a:off x="104241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parent decides.</a:t>
            </a:r>
            <a:endParaRPr lang="en-US" sz="1300" dirty="0"/>
          </a:p>
        </p:txBody>
      </p:sp>
      <p:sp>
        <p:nvSpPr>
          <p:cNvPr id="20" name="Text 18"/>
          <p:cNvSpPr/>
          <p:nvPr/>
        </p:nvSpPr>
        <p:spPr>
          <a:xfrm>
            <a:off x="104241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to see rigour — real sources, real history, nothing that feels like a cartoon selling something.</a:t>
            </a:r>
            <a:endParaRPr lang="en-US" sz="1150" dirty="0"/>
          </a:p>
        </p:txBody>
      </p:sp>
      <p:sp>
        <p:nvSpPr>
          <p:cNvPr id="21" name="Shape 19"/>
          <p:cNvSpPr/>
          <p:nvPr/>
        </p:nvSpPr>
        <p:spPr>
          <a:xfrm rot="5400000">
            <a:off x="6035040" y="4974336"/>
            <a:ext cx="274320" cy="274320"/>
          </a:xfrm>
          <a:prstGeom prst="hexagon">
            <a:avLst/>
          </a:prstGeom>
          <a:solidFill>
            <a:srgbClr val="F0B429"/>
          </a:solidFill>
          <a:ln/>
        </p:spPr>
      </p:sp>
      <p:sp>
        <p:nvSpPr>
          <p:cNvPr id="22" name="Text 20"/>
          <p:cNvSpPr/>
          <p:nvPr/>
        </p:nvSpPr>
        <p:spPr>
          <a:xfrm>
            <a:off x="643737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child watches.</a:t>
            </a:r>
            <a:endParaRPr lang="en-US" sz="1300" dirty="0"/>
          </a:p>
        </p:txBody>
      </p:sp>
      <p:sp>
        <p:nvSpPr>
          <p:cNvPr id="23" name="Text 21"/>
          <p:cNvSpPr/>
          <p:nvPr/>
        </p:nvSpPr>
        <p:spPr>
          <a:xfrm>
            <a:off x="643737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story and pace. If the child is bored the parent never finishes it either.</a:t>
            </a:r>
            <a:endParaRPr lang="en-US" sz="1150" dirty="0"/>
          </a:p>
        </p:txBody>
      </p:sp>
      <p:sp>
        <p:nvSpPr>
          <p:cNvPr id="24" name="Text 22"/>
          <p:cNvSpPr/>
          <p:nvPr/>
        </p:nvSpPr>
        <p:spPr>
          <a:xfrm>
            <a:off x="640080" y="6035040"/>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The rule that follows: the video never sells. The product is named once, at the end, and that is the whole ask.</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2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content pillars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Each pillar does a different job in the funnel. Together they cover reach, trust and intent.</a:t>
            </a:r>
            <a:endParaRPr lang="en-US" sz="1450" dirty="0"/>
          </a:p>
        </p:txBody>
      </p:sp>
      <p:sp>
        <p:nvSpPr>
          <p:cNvPr id="5" name="Shape 3"/>
          <p:cNvSpPr/>
          <p:nvPr/>
        </p:nvSpPr>
        <p:spPr>
          <a:xfrm>
            <a:off x="640080" y="201168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877824" y="2231136"/>
            <a:ext cx="384048" cy="384048"/>
          </a:xfrm>
          <a:prstGeom prst="hexagon">
            <a:avLst/>
          </a:prstGeom>
          <a:solidFill>
            <a:srgbClr val="6C4FE0"/>
          </a:solidFill>
          <a:ln/>
        </p:spPr>
      </p:sp>
      <p:sp>
        <p:nvSpPr>
          <p:cNvPr id="7" name="Text 5"/>
          <p:cNvSpPr/>
          <p:nvPr/>
        </p:nvSpPr>
        <p:spPr>
          <a:xfrm>
            <a:off x="140817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Story documentaries</a:t>
            </a:r>
            <a:endParaRPr lang="en-US" sz="1600" dirty="0"/>
          </a:p>
        </p:txBody>
      </p:sp>
      <p:sp>
        <p:nvSpPr>
          <p:cNvPr id="8" name="Shape 6"/>
          <p:cNvSpPr/>
          <p:nvPr/>
        </p:nvSpPr>
        <p:spPr>
          <a:xfrm>
            <a:off x="4526280" y="2249424"/>
            <a:ext cx="960120" cy="256032"/>
          </a:xfrm>
          <a:prstGeom prst="roundRect">
            <a:avLst>
              <a:gd name="adj" fmla="val 50000"/>
            </a:avLst>
          </a:prstGeom>
          <a:solidFill>
            <a:srgbClr val="E3DCF2"/>
          </a:solidFill>
          <a:ln/>
        </p:spPr>
      </p:sp>
      <p:sp>
        <p:nvSpPr>
          <p:cNvPr id="9" name="Text 7"/>
          <p:cNvSpPr/>
          <p:nvPr/>
        </p:nvSpPr>
        <p:spPr>
          <a:xfrm>
            <a:off x="452628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Long form</a:t>
            </a:r>
            <a:endParaRPr lang="en-US" sz="800" dirty="0"/>
          </a:p>
        </p:txBody>
      </p:sp>
      <p:sp>
        <p:nvSpPr>
          <p:cNvPr id="10" name="Text 8"/>
          <p:cNvSpPr/>
          <p:nvPr/>
        </p:nvSpPr>
        <p:spPr>
          <a:xfrm>
            <a:off x="87782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True stories about words and the people who used them. "Before the Bee" — the 1908 contest and the girl whose medal was never found. "The Right Word" — four times somebody reached for a word and the world changed.</a:t>
            </a:r>
            <a:endParaRPr lang="en-US" sz="1100" dirty="0"/>
          </a:p>
        </p:txBody>
      </p:sp>
      <p:sp>
        <p:nvSpPr>
          <p:cNvPr id="11" name="Text 9"/>
          <p:cNvSpPr/>
          <p:nvPr/>
        </p:nvSpPr>
        <p:spPr>
          <a:xfrm>
            <a:off x="87782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Authority. The piece a parent shares with another parent.</a:t>
            </a:r>
            <a:endParaRPr lang="en-US" sz="1050" dirty="0"/>
          </a:p>
        </p:txBody>
      </p:sp>
      <p:sp>
        <p:nvSpPr>
          <p:cNvPr id="12" name="Shape 10"/>
          <p:cNvSpPr/>
          <p:nvPr/>
        </p:nvSpPr>
        <p:spPr>
          <a:xfrm>
            <a:off x="6035040" y="201168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13" name="Shape 11"/>
          <p:cNvSpPr/>
          <p:nvPr/>
        </p:nvSpPr>
        <p:spPr>
          <a:xfrm>
            <a:off x="6035040" y="2011680"/>
            <a:ext cx="5074920" cy="1783080"/>
          </a:xfrm>
          <a:prstGeom prst="roundRect">
            <a:avLst>
              <a:gd name="adj" fmla="val 7179"/>
            </a:avLst>
          </a:prstGeom>
          <a:solidFill>
            <a:srgbClr val="FFFFFF"/>
          </a:solidFill>
          <a:ln w="15875">
            <a:solidFill>
              <a:srgbClr val="E3DCF2"/>
            </a:solidFill>
            <a:prstDash val="solid"/>
          </a:ln>
        </p:spPr>
      </p:sp>
      <p:sp>
        <p:nvSpPr>
          <p:cNvPr id="14" name="Shape 12"/>
          <p:cNvSpPr/>
          <p:nvPr/>
        </p:nvSpPr>
        <p:spPr>
          <a:xfrm rot="5400000">
            <a:off x="6272784" y="2231136"/>
            <a:ext cx="384048" cy="384048"/>
          </a:xfrm>
          <a:prstGeom prst="hexagon">
            <a:avLst/>
          </a:prstGeom>
          <a:solidFill>
            <a:srgbClr val="F0B429"/>
          </a:solidFill>
          <a:ln/>
        </p:spPr>
      </p:sp>
      <p:sp>
        <p:nvSpPr>
          <p:cNvPr id="15" name="Text 13"/>
          <p:cNvSpPr/>
          <p:nvPr/>
        </p:nvSpPr>
        <p:spPr>
          <a:xfrm>
            <a:off x="680313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Word-origin shorts</a:t>
            </a:r>
            <a:endParaRPr lang="en-US" sz="1600" dirty="0"/>
          </a:p>
        </p:txBody>
      </p:sp>
      <p:sp>
        <p:nvSpPr>
          <p:cNvPr id="16" name="Shape 14"/>
          <p:cNvSpPr/>
          <p:nvPr/>
        </p:nvSpPr>
        <p:spPr>
          <a:xfrm>
            <a:off x="9921240" y="2249424"/>
            <a:ext cx="960120" cy="256032"/>
          </a:xfrm>
          <a:prstGeom prst="roundRect">
            <a:avLst>
              <a:gd name="adj" fmla="val 50000"/>
            </a:avLst>
          </a:prstGeom>
          <a:solidFill>
            <a:srgbClr val="E3DCF2"/>
          </a:solidFill>
          <a:ln/>
        </p:spPr>
      </p:sp>
      <p:sp>
        <p:nvSpPr>
          <p:cNvPr id="17" name="Text 15"/>
          <p:cNvSpPr/>
          <p:nvPr/>
        </p:nvSpPr>
        <p:spPr>
          <a:xfrm>
            <a:off x="992124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Short form</a:t>
            </a:r>
            <a:endParaRPr lang="en-US" sz="800" dirty="0"/>
          </a:p>
        </p:txBody>
      </p:sp>
      <p:sp>
        <p:nvSpPr>
          <p:cNvPr id="18" name="Text 16"/>
          <p:cNvSpPr/>
          <p:nvPr/>
        </p:nvSpPr>
        <p:spPr>
          <a:xfrm>
            <a:off x="627278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One word, one surprising origin, under a minute. Why "knight" keeps a silent K. Why the menu says beef and the field says cow. Built straight from the app’s existing etymology bank.</a:t>
            </a:r>
            <a:endParaRPr lang="en-US" sz="1100" dirty="0"/>
          </a:p>
        </p:txBody>
      </p:sp>
      <p:sp>
        <p:nvSpPr>
          <p:cNvPr id="19" name="Text 17"/>
          <p:cNvSpPr/>
          <p:nvPr/>
        </p:nvSpPr>
        <p:spPr>
          <a:xfrm>
            <a:off x="627278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Reach. Volume the algorithm can work with, at almost no marginal cost.</a:t>
            </a:r>
            <a:endParaRPr lang="en-US" sz="1050" dirty="0"/>
          </a:p>
        </p:txBody>
      </p:sp>
      <p:sp>
        <p:nvSpPr>
          <p:cNvPr id="20" name="Shape 18"/>
          <p:cNvSpPr/>
          <p:nvPr/>
        </p:nvSpPr>
        <p:spPr>
          <a:xfrm>
            <a:off x="640080" y="402336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21" name="Shape 19"/>
          <p:cNvSpPr/>
          <p:nvPr/>
        </p:nvSpPr>
        <p:spPr>
          <a:xfrm>
            <a:off x="640080" y="4023360"/>
            <a:ext cx="5074920" cy="1783080"/>
          </a:xfrm>
          <a:prstGeom prst="roundRect">
            <a:avLst>
              <a:gd name="adj" fmla="val 7179"/>
            </a:avLst>
          </a:prstGeom>
          <a:solidFill>
            <a:srgbClr val="FFFFFF"/>
          </a:solidFill>
          <a:ln w="15875">
            <a:solidFill>
              <a:srgbClr val="E3DCF2"/>
            </a:solidFill>
            <a:prstDash val="solid"/>
          </a:ln>
        </p:spPr>
      </p:sp>
      <p:sp>
        <p:nvSpPr>
          <p:cNvPr id="22" name="Shape 20"/>
          <p:cNvSpPr/>
          <p:nvPr/>
        </p:nvSpPr>
        <p:spPr>
          <a:xfrm rot="5400000">
            <a:off x="877824" y="4242816"/>
            <a:ext cx="384048" cy="384048"/>
          </a:xfrm>
          <a:prstGeom prst="hexagon">
            <a:avLst/>
          </a:prstGeom>
          <a:solidFill>
            <a:srgbClr val="178A4C"/>
          </a:solidFill>
          <a:ln/>
        </p:spPr>
      </p:sp>
      <p:sp>
        <p:nvSpPr>
          <p:cNvPr id="23" name="Text 21"/>
          <p:cNvSpPr/>
          <p:nvPr/>
        </p:nvSpPr>
        <p:spPr>
          <a:xfrm>
            <a:off x="140817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Bee craft</a:t>
            </a:r>
            <a:endParaRPr lang="en-US" sz="1600" dirty="0"/>
          </a:p>
        </p:txBody>
      </p:sp>
      <p:sp>
        <p:nvSpPr>
          <p:cNvPr id="24" name="Shape 22"/>
          <p:cNvSpPr/>
          <p:nvPr/>
        </p:nvSpPr>
        <p:spPr>
          <a:xfrm>
            <a:off x="4526280" y="4261104"/>
            <a:ext cx="960120" cy="256032"/>
          </a:xfrm>
          <a:prstGeom prst="roundRect">
            <a:avLst>
              <a:gd name="adj" fmla="val 50000"/>
            </a:avLst>
          </a:prstGeom>
          <a:solidFill>
            <a:srgbClr val="E3DCF2"/>
          </a:solidFill>
          <a:ln/>
        </p:spPr>
      </p:sp>
      <p:sp>
        <p:nvSpPr>
          <p:cNvPr id="25" name="Text 23"/>
          <p:cNvSpPr/>
          <p:nvPr/>
        </p:nvSpPr>
        <p:spPr>
          <a:xfrm>
            <a:off x="452628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Mid form</a:t>
            </a:r>
            <a:endParaRPr lang="en-US" sz="800" dirty="0"/>
          </a:p>
        </p:txBody>
      </p:sp>
      <p:sp>
        <p:nvSpPr>
          <p:cNvPr id="26" name="Text 24"/>
          <p:cNvSpPr/>
          <p:nvPr/>
        </p:nvSpPr>
        <p:spPr>
          <a:xfrm>
            <a:off x="87782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How champions actually study: root patterns, language-of-origin cues, what to ask the pronouncer, how to handle a word you have never seen.</a:t>
            </a:r>
            <a:endParaRPr lang="en-US" sz="1100" dirty="0"/>
          </a:p>
        </p:txBody>
      </p:sp>
      <p:sp>
        <p:nvSpPr>
          <p:cNvPr id="27" name="Text 25"/>
          <p:cNvSpPr/>
          <p:nvPr/>
        </p:nvSpPr>
        <p:spPr>
          <a:xfrm>
            <a:off x="87782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Intent. These viewers are already preparing — the shortest path to a trial.</a:t>
            </a:r>
            <a:endParaRPr lang="en-US" sz="1050" dirty="0"/>
          </a:p>
        </p:txBody>
      </p:sp>
      <p:sp>
        <p:nvSpPr>
          <p:cNvPr id="28" name="Shape 26"/>
          <p:cNvSpPr/>
          <p:nvPr/>
        </p:nvSpPr>
        <p:spPr>
          <a:xfrm>
            <a:off x="6035040" y="402336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29" name="Shape 27"/>
          <p:cNvSpPr/>
          <p:nvPr/>
        </p:nvSpPr>
        <p:spPr>
          <a:xfrm rot="5400000">
            <a:off x="6272784" y="4242816"/>
            <a:ext cx="384048" cy="384048"/>
          </a:xfrm>
          <a:prstGeom prst="hexagon">
            <a:avLst/>
          </a:prstGeom>
          <a:solidFill>
            <a:srgbClr val="E3B23C"/>
          </a:solidFill>
          <a:ln/>
        </p:spPr>
      </p:sp>
      <p:sp>
        <p:nvSpPr>
          <p:cNvPr id="30" name="Text 28"/>
          <p:cNvSpPr/>
          <p:nvPr/>
        </p:nvSpPr>
        <p:spPr>
          <a:xfrm>
            <a:off x="680313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Culture &amp; India</a:t>
            </a:r>
            <a:endParaRPr lang="en-US" sz="1600" dirty="0"/>
          </a:p>
        </p:txBody>
      </p:sp>
      <p:sp>
        <p:nvSpPr>
          <p:cNvPr id="31" name="Shape 29"/>
          <p:cNvSpPr/>
          <p:nvPr/>
        </p:nvSpPr>
        <p:spPr>
          <a:xfrm>
            <a:off x="9921240" y="4261104"/>
            <a:ext cx="960120" cy="256032"/>
          </a:xfrm>
          <a:prstGeom prst="roundRect">
            <a:avLst>
              <a:gd name="adj" fmla="val 50000"/>
            </a:avLst>
          </a:prstGeom>
          <a:solidFill>
            <a:srgbClr val="E3DCF2"/>
          </a:solidFill>
          <a:ln/>
        </p:spPr>
      </p:sp>
      <p:sp>
        <p:nvSpPr>
          <p:cNvPr id="32" name="Text 30"/>
          <p:cNvSpPr/>
          <p:nvPr/>
        </p:nvSpPr>
        <p:spPr>
          <a:xfrm>
            <a:off x="992124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Mixed</a:t>
            </a:r>
            <a:endParaRPr lang="en-US" sz="800" dirty="0"/>
          </a:p>
        </p:txBody>
      </p:sp>
      <p:sp>
        <p:nvSpPr>
          <p:cNvPr id="33" name="Text 31"/>
          <p:cNvSpPr/>
          <p:nvPr/>
        </p:nvSpPr>
        <p:spPr>
          <a:xfrm>
            <a:off x="627278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Festivals, mythology, the words English took from India, why the diaspora spells the way it does. Feeds Bizzing India directly.</a:t>
            </a:r>
            <a:endParaRPr lang="en-US" sz="1100" dirty="0"/>
          </a:p>
        </p:txBody>
      </p:sp>
      <p:sp>
        <p:nvSpPr>
          <p:cNvPr id="34" name="Text 32"/>
          <p:cNvSpPr/>
          <p:nvPr/>
        </p:nvSpPr>
        <p:spPr>
          <a:xfrm>
            <a:off x="627278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Connection. The pillar that makes this channel ours and nobody else’s.</a:t>
            </a:r>
            <a:endParaRPr lang="en-US" sz="1050" dirty="0"/>
          </a:p>
        </p:txBody>
      </p:sp>
      <p:sp>
        <p:nvSpPr>
          <p:cNvPr id="35" name="Text 33"/>
          <p:cNvSpPr/>
          <p:nvPr/>
        </p:nvSpPr>
        <p:spPr>
          <a:xfrm>
            <a:off x="640080" y="6053328"/>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One documentary yields six to ten shorts, and a shorts run seeds a book chapter. Nothing is made once.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3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it runs, and where it lands</a:t>
            </a:r>
            <a:endParaRPr lang="en-US" sz="2900" dirty="0"/>
          </a:p>
        </p:txBody>
      </p:sp>
      <p:sp>
        <p:nvSpPr>
          <p:cNvPr id="4" name="Text 2"/>
          <p:cNvSpPr/>
          <p:nvPr/>
        </p:nvSpPr>
        <p:spPr>
          <a:xfrm>
            <a:off x="640080" y="1463040"/>
            <a:ext cx="457200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Production</a:t>
            </a:r>
            <a:endParaRPr lang="en-US" sz="1800" dirty="0"/>
          </a:p>
        </p:txBody>
      </p:sp>
      <p:sp>
        <p:nvSpPr>
          <p:cNvPr id="5" name="Shape 3"/>
          <p:cNvSpPr/>
          <p:nvPr/>
        </p:nvSpPr>
        <p:spPr>
          <a:xfrm rot="5400000">
            <a:off x="640080" y="1901952"/>
            <a:ext cx="384048" cy="384048"/>
          </a:xfrm>
          <a:prstGeom prst="hexagon">
            <a:avLst/>
          </a:prstGeom>
          <a:solidFill>
            <a:srgbClr val="6C4FE0"/>
          </a:solidFill>
          <a:ln/>
        </p:spPr>
      </p:sp>
      <p:sp>
        <p:nvSpPr>
          <p:cNvPr id="6" name="Text 4"/>
          <p:cNvSpPr/>
          <p:nvPr/>
        </p:nvSpPr>
        <p:spPr>
          <a:xfrm>
            <a:off x="64008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188720" y="1901952"/>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Script written to one message, checked against sources</a:t>
            </a:r>
            <a:endParaRPr lang="en-US" sz="1150" dirty="0"/>
          </a:p>
        </p:txBody>
      </p:sp>
      <p:sp>
        <p:nvSpPr>
          <p:cNvPr id="8" name="Shape 6"/>
          <p:cNvSpPr/>
          <p:nvPr/>
        </p:nvSpPr>
        <p:spPr>
          <a:xfrm rot="5400000">
            <a:off x="640080" y="2468880"/>
            <a:ext cx="384048" cy="384048"/>
          </a:xfrm>
          <a:prstGeom prst="hexagon">
            <a:avLst/>
          </a:prstGeom>
          <a:solidFill>
            <a:srgbClr val="6C4FE0"/>
          </a:solidFill>
          <a:ln/>
        </p:spPr>
      </p:sp>
      <p:sp>
        <p:nvSpPr>
          <p:cNvPr id="9" name="Text 7"/>
          <p:cNvSpPr/>
          <p:nvPr/>
        </p:nvSpPr>
        <p:spPr>
          <a:xfrm>
            <a:off x="64008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188720" y="2468880"/>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Narration generated and blind-verified for accent and words</a:t>
            </a:r>
            <a:endParaRPr lang="en-US" sz="1150" dirty="0"/>
          </a:p>
        </p:txBody>
      </p:sp>
      <p:sp>
        <p:nvSpPr>
          <p:cNvPr id="11" name="Shape 9"/>
          <p:cNvSpPr/>
          <p:nvPr/>
        </p:nvSpPr>
        <p:spPr>
          <a:xfrm rot="5400000">
            <a:off x="640080" y="3035808"/>
            <a:ext cx="384048" cy="384048"/>
          </a:xfrm>
          <a:prstGeom prst="hexagon">
            <a:avLst/>
          </a:prstGeom>
          <a:solidFill>
            <a:srgbClr val="6C4FE0"/>
          </a:solidFill>
          <a:ln/>
        </p:spPr>
      </p:sp>
      <p:sp>
        <p:nvSpPr>
          <p:cNvPr id="12" name="Text 10"/>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3" name="Text 11"/>
          <p:cNvSpPr/>
          <p:nvPr/>
        </p:nvSpPr>
        <p:spPr>
          <a:xfrm>
            <a:off x="1188720" y="3035808"/>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Plates generated; archive photographs used where a real person appears</a:t>
            </a:r>
            <a:endParaRPr lang="en-US" sz="1150" dirty="0"/>
          </a:p>
        </p:txBody>
      </p:sp>
      <p:sp>
        <p:nvSpPr>
          <p:cNvPr id="14" name="Shape 12"/>
          <p:cNvSpPr/>
          <p:nvPr/>
        </p:nvSpPr>
        <p:spPr>
          <a:xfrm rot="5400000">
            <a:off x="640080" y="3602736"/>
            <a:ext cx="384048" cy="384048"/>
          </a:xfrm>
          <a:prstGeom prst="hexagon">
            <a:avLst/>
          </a:prstGeom>
          <a:solidFill>
            <a:srgbClr val="6C4FE0"/>
          </a:solidFill>
          <a:ln/>
        </p:spPr>
      </p:sp>
      <p:sp>
        <p:nvSpPr>
          <p:cNvPr id="15" name="Text 13"/>
          <p:cNvSpPr/>
          <p:nvPr/>
        </p:nvSpPr>
        <p:spPr>
          <a:xfrm>
            <a:off x="640080" y="3602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6" name="Text 14"/>
          <p:cNvSpPr/>
          <p:nvPr/>
        </p:nvSpPr>
        <p:spPr>
          <a:xfrm>
            <a:off x="1188720" y="3602736"/>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Assembled by the render pipeline, timed to the narration</a:t>
            </a:r>
            <a:endParaRPr lang="en-US" sz="1150" dirty="0"/>
          </a:p>
        </p:txBody>
      </p:sp>
      <p:sp>
        <p:nvSpPr>
          <p:cNvPr id="17" name="Shape 15"/>
          <p:cNvSpPr/>
          <p:nvPr/>
        </p:nvSpPr>
        <p:spPr>
          <a:xfrm>
            <a:off x="640080" y="4261104"/>
            <a:ext cx="5212080" cy="841248"/>
          </a:xfrm>
          <a:prstGeom prst="roundRect">
            <a:avLst>
              <a:gd name="adj" fmla="val 15217"/>
            </a:avLst>
          </a:prstGeom>
          <a:solidFill>
            <a:srgbClr val="EFEBF8"/>
          </a:solidFill>
          <a:ln/>
          <a:effectLst>
            <a:outerShdw sx="100000" sy="100000" kx="0" ky="0" algn="bl" rotWithShape="0" blurRad="127000" dist="25400" dir="5400000">
              <a:srgbClr val="241E33">
                <a:alpha val="10000"/>
              </a:srgbClr>
            </a:outerShdw>
          </a:effectLst>
        </p:spPr>
      </p:sp>
      <p:sp>
        <p:nvSpPr>
          <p:cNvPr id="18" name="Text 16"/>
          <p:cNvSpPr/>
          <p:nvPr/>
        </p:nvSpPr>
        <p:spPr>
          <a:xfrm>
            <a:off x="896112" y="4261104"/>
            <a:ext cx="4700016" cy="841248"/>
          </a:xfrm>
          <a:prstGeom prst="rect">
            <a:avLst/>
          </a:prstGeom>
          <a:noFill/>
          <a:ln/>
        </p:spPr>
        <p:txBody>
          <a:bodyPr wrap="square" lIns="0" tIns="0" rIns="0" bIns="0" rtlCol="0" anchor="ctr"/>
          <a:lstStyle/>
          <a:p>
            <a:pPr indent="0" marL="0">
              <a:lnSpc>
                <a:spcPts val="1500"/>
              </a:lnSpc>
              <a:buNone/>
            </a:pPr>
            <a:r>
              <a:rPr lang="en-US" sz="1150" i="1" dirty="0">
                <a:solidFill>
                  <a:srgbClr val="4A31B0"/>
                </a:solidFill>
                <a:latin typeface="Calibri" pitchFamily="34" charset="0"/>
                <a:ea typeface="Calibri" pitchFamily="34" charset="-122"/>
                <a:cs typeface="Calibri" pitchFamily="34" charset="-120"/>
              </a:rPr>
              <a:t>Two episodes are already built this way, founder-run, with no editor, agency or studio.</a:t>
            </a:r>
            <a:endParaRPr lang="en-US" sz="1150" dirty="0"/>
          </a:p>
        </p:txBody>
      </p:sp>
      <p:sp>
        <p:nvSpPr>
          <p:cNvPr id="19" name="Text 17"/>
          <p:cNvSpPr/>
          <p:nvPr/>
        </p:nvSpPr>
        <p:spPr>
          <a:xfrm>
            <a:off x="6309360" y="1463040"/>
            <a:ext cx="493776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The path from a video to a paying family</a:t>
            </a:r>
            <a:endParaRPr lang="en-US" sz="1800" dirty="0"/>
          </a:p>
        </p:txBody>
      </p:sp>
      <p:sp>
        <p:nvSpPr>
          <p:cNvPr id="20" name="Shape 18"/>
          <p:cNvSpPr/>
          <p:nvPr/>
        </p:nvSpPr>
        <p:spPr>
          <a:xfrm rot="5400000">
            <a:off x="6309360" y="1956816"/>
            <a:ext cx="310896" cy="310896"/>
          </a:xfrm>
          <a:prstGeom prst="hexagon">
            <a:avLst/>
          </a:prstGeom>
          <a:solidFill>
            <a:srgbClr val="6C4FE0"/>
          </a:solidFill>
          <a:ln/>
        </p:spPr>
      </p:sp>
      <p:sp>
        <p:nvSpPr>
          <p:cNvPr id="21" name="Shape 19"/>
          <p:cNvSpPr/>
          <p:nvPr/>
        </p:nvSpPr>
        <p:spPr>
          <a:xfrm>
            <a:off x="6464808" y="2286000"/>
            <a:ext cx="0" cy="274320"/>
          </a:xfrm>
          <a:prstGeom prst="line">
            <a:avLst/>
          </a:prstGeom>
          <a:noFill/>
          <a:ln w="19050">
            <a:solidFill>
              <a:srgbClr val="E3DCF2"/>
            </a:solidFill>
            <a:prstDash val="solid"/>
          </a:ln>
        </p:spPr>
      </p:sp>
      <p:sp>
        <p:nvSpPr>
          <p:cNvPr id="22" name="Text 20"/>
          <p:cNvSpPr/>
          <p:nvPr/>
        </p:nvSpPr>
        <p:spPr>
          <a:xfrm>
            <a:off x="6803136" y="1901952"/>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Watches</a:t>
            </a:r>
            <a:endParaRPr lang="en-US" sz="1200" dirty="0"/>
          </a:p>
        </p:txBody>
      </p:sp>
      <p:sp>
        <p:nvSpPr>
          <p:cNvPr id="23" name="Text 21"/>
          <p:cNvSpPr/>
          <p:nvPr/>
        </p:nvSpPr>
        <p:spPr>
          <a:xfrm>
            <a:off x="8183880" y="1901952"/>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A story worth ten minutes, or a short worth sixty seconds</a:t>
            </a:r>
            <a:endParaRPr lang="en-US" sz="1050" dirty="0"/>
          </a:p>
        </p:txBody>
      </p:sp>
      <p:sp>
        <p:nvSpPr>
          <p:cNvPr id="24" name="Shape 22"/>
          <p:cNvSpPr/>
          <p:nvPr/>
        </p:nvSpPr>
        <p:spPr>
          <a:xfrm rot="5400000">
            <a:off x="6309360" y="2615184"/>
            <a:ext cx="310896" cy="310896"/>
          </a:xfrm>
          <a:prstGeom prst="hexagon">
            <a:avLst/>
          </a:prstGeom>
          <a:solidFill>
            <a:srgbClr val="6C4FE0"/>
          </a:solidFill>
          <a:ln/>
        </p:spPr>
      </p:sp>
      <p:sp>
        <p:nvSpPr>
          <p:cNvPr id="25" name="Shape 23"/>
          <p:cNvSpPr/>
          <p:nvPr/>
        </p:nvSpPr>
        <p:spPr>
          <a:xfrm>
            <a:off x="6464808" y="2944368"/>
            <a:ext cx="0" cy="274320"/>
          </a:xfrm>
          <a:prstGeom prst="line">
            <a:avLst/>
          </a:prstGeom>
          <a:noFill/>
          <a:ln w="19050">
            <a:solidFill>
              <a:srgbClr val="E3DCF2"/>
            </a:solidFill>
            <a:prstDash val="solid"/>
          </a:ln>
        </p:spPr>
      </p:sp>
      <p:sp>
        <p:nvSpPr>
          <p:cNvPr id="26" name="Text 24"/>
          <p:cNvSpPr/>
          <p:nvPr/>
        </p:nvSpPr>
        <p:spPr>
          <a:xfrm>
            <a:off x="6803136" y="2560320"/>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Trusts</a:t>
            </a:r>
            <a:endParaRPr lang="en-US" sz="1200" dirty="0"/>
          </a:p>
        </p:txBody>
      </p:sp>
      <p:sp>
        <p:nvSpPr>
          <p:cNvPr id="27" name="Text 25"/>
          <p:cNvSpPr/>
          <p:nvPr/>
        </p:nvSpPr>
        <p:spPr>
          <a:xfrm>
            <a:off x="8183880" y="2560320"/>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Sources on screen; nothing oversold; no pitch inside the film</a:t>
            </a:r>
            <a:endParaRPr lang="en-US" sz="1050" dirty="0"/>
          </a:p>
        </p:txBody>
      </p:sp>
      <p:sp>
        <p:nvSpPr>
          <p:cNvPr id="28" name="Shape 26"/>
          <p:cNvSpPr/>
          <p:nvPr/>
        </p:nvSpPr>
        <p:spPr>
          <a:xfrm rot="5400000">
            <a:off x="6309360" y="3273552"/>
            <a:ext cx="310896" cy="310896"/>
          </a:xfrm>
          <a:prstGeom prst="hexagon">
            <a:avLst/>
          </a:prstGeom>
          <a:solidFill>
            <a:srgbClr val="F0B429"/>
          </a:solidFill>
          <a:ln/>
        </p:spPr>
      </p:sp>
      <p:sp>
        <p:nvSpPr>
          <p:cNvPr id="29" name="Shape 27"/>
          <p:cNvSpPr/>
          <p:nvPr/>
        </p:nvSpPr>
        <p:spPr>
          <a:xfrm>
            <a:off x="6464808" y="3602736"/>
            <a:ext cx="0" cy="274320"/>
          </a:xfrm>
          <a:prstGeom prst="line">
            <a:avLst/>
          </a:prstGeom>
          <a:noFill/>
          <a:ln w="19050">
            <a:solidFill>
              <a:srgbClr val="E3DCF2"/>
            </a:solidFill>
            <a:prstDash val="solid"/>
          </a:ln>
        </p:spPr>
      </p:sp>
      <p:sp>
        <p:nvSpPr>
          <p:cNvPr id="30" name="Text 28"/>
          <p:cNvSpPr/>
          <p:nvPr/>
        </p:nvSpPr>
        <p:spPr>
          <a:xfrm>
            <a:off x="6803136" y="3218688"/>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Opens the app</a:t>
            </a:r>
            <a:endParaRPr lang="en-US" sz="1200" dirty="0"/>
          </a:p>
        </p:txBody>
      </p:sp>
      <p:sp>
        <p:nvSpPr>
          <p:cNvPr id="31" name="Text 29"/>
          <p:cNvSpPr/>
          <p:nvPr/>
        </p:nvSpPr>
        <p:spPr>
          <a:xfrm>
            <a:off x="8183880" y="3218688"/>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One link in the description, free and instant — no signup wall</a:t>
            </a:r>
            <a:endParaRPr lang="en-US" sz="1050" dirty="0"/>
          </a:p>
        </p:txBody>
      </p:sp>
      <p:sp>
        <p:nvSpPr>
          <p:cNvPr id="32" name="Shape 30"/>
          <p:cNvSpPr/>
          <p:nvPr/>
        </p:nvSpPr>
        <p:spPr>
          <a:xfrm rot="5400000">
            <a:off x="6309360" y="3931920"/>
            <a:ext cx="310896" cy="310896"/>
          </a:xfrm>
          <a:prstGeom prst="hexagon">
            <a:avLst/>
          </a:prstGeom>
          <a:solidFill>
            <a:srgbClr val="F0B429"/>
          </a:solidFill>
          <a:ln/>
        </p:spPr>
      </p:sp>
      <p:sp>
        <p:nvSpPr>
          <p:cNvPr id="33" name="Shape 31"/>
          <p:cNvSpPr/>
          <p:nvPr/>
        </p:nvSpPr>
        <p:spPr>
          <a:xfrm>
            <a:off x="6464808" y="4261104"/>
            <a:ext cx="0" cy="274320"/>
          </a:xfrm>
          <a:prstGeom prst="line">
            <a:avLst/>
          </a:prstGeom>
          <a:noFill/>
          <a:ln w="19050">
            <a:solidFill>
              <a:srgbClr val="E3DCF2"/>
            </a:solidFill>
            <a:prstDash val="solid"/>
          </a:ln>
        </p:spPr>
      </p:sp>
      <p:sp>
        <p:nvSpPr>
          <p:cNvPr id="34" name="Text 32"/>
          <p:cNvSpPr/>
          <p:nvPr/>
        </p:nvSpPr>
        <p:spPr>
          <a:xfrm>
            <a:off x="6803136" y="3877056"/>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Makes an account</a:t>
            </a:r>
            <a:endParaRPr lang="en-US" sz="1200" dirty="0"/>
          </a:p>
        </p:txBody>
      </p:sp>
      <p:sp>
        <p:nvSpPr>
          <p:cNvPr id="35" name="Text 33"/>
          <p:cNvSpPr/>
          <p:nvPr/>
        </p:nvSpPr>
        <p:spPr>
          <a:xfrm>
            <a:off x="8183880" y="3877056"/>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Progress worth keeping is the reason, not a gate</a:t>
            </a:r>
            <a:endParaRPr lang="en-US" sz="1050" dirty="0"/>
          </a:p>
        </p:txBody>
      </p:sp>
      <p:sp>
        <p:nvSpPr>
          <p:cNvPr id="36" name="Shape 34"/>
          <p:cNvSpPr/>
          <p:nvPr/>
        </p:nvSpPr>
        <p:spPr>
          <a:xfrm rot="5400000">
            <a:off x="6309360" y="4590288"/>
            <a:ext cx="310896" cy="310896"/>
          </a:xfrm>
          <a:prstGeom prst="hexagon">
            <a:avLst/>
          </a:prstGeom>
          <a:solidFill>
            <a:srgbClr val="178A4C"/>
          </a:solidFill>
          <a:ln/>
        </p:spPr>
      </p:sp>
      <p:sp>
        <p:nvSpPr>
          <p:cNvPr id="37" name="Text 35"/>
          <p:cNvSpPr/>
          <p:nvPr/>
        </p:nvSpPr>
        <p:spPr>
          <a:xfrm>
            <a:off x="6803136" y="4535424"/>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Buys a pack</a:t>
            </a:r>
            <a:endParaRPr lang="en-US" sz="1200" dirty="0"/>
          </a:p>
        </p:txBody>
      </p:sp>
      <p:sp>
        <p:nvSpPr>
          <p:cNvPr id="38" name="Text 36"/>
          <p:cNvSpPr/>
          <p:nvPr/>
        </p:nvSpPr>
        <p:spPr>
          <a:xfrm>
            <a:off x="8183880" y="4535424"/>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Bhasha, Eleven, or Advanced — bought because the free part worked</a:t>
            </a:r>
            <a:endParaRPr lang="en-US" sz="1050" dirty="0"/>
          </a:p>
        </p:txBody>
      </p:sp>
      <p:sp>
        <p:nvSpPr>
          <p:cNvPr id="39" name="Shape 37"/>
          <p:cNvSpPr/>
          <p:nvPr/>
        </p:nvSpPr>
        <p:spPr>
          <a:xfrm>
            <a:off x="640080" y="5376672"/>
            <a:ext cx="10607040" cy="914400"/>
          </a:xfrm>
          <a:prstGeom prst="roundRect">
            <a:avLst>
              <a:gd name="adj" fmla="val 12000"/>
            </a:avLst>
          </a:prstGeom>
          <a:solidFill>
            <a:srgbClr val="FBF3E0"/>
          </a:solidFill>
          <a:ln/>
        </p:spPr>
      </p:sp>
      <p:sp>
        <p:nvSpPr>
          <p:cNvPr id="40" name="Text 38"/>
          <p:cNvSpPr/>
          <p:nvPr/>
        </p:nvSpPr>
        <p:spPr>
          <a:xfrm>
            <a:off x="914400" y="5376672"/>
            <a:ext cx="10058400" cy="914400"/>
          </a:xfrm>
          <a:prstGeom prst="rect">
            <a:avLst/>
          </a:prstGeom>
          <a:noFill/>
          <a:ln/>
        </p:spPr>
        <p:txBody>
          <a:bodyPr wrap="square" lIns="0" tIns="0" rIns="0" bIns="0" rtlCol="0" anchor="ctr"/>
          <a:lstStyle/>
          <a:p>
            <a:pPr indent="0" marL="0">
              <a:lnSpc>
                <a:spcPts val="1500"/>
              </a:lnSpc>
              <a:buNone/>
            </a:pPr>
            <a:r>
              <a:rPr lang="en-US" sz="1150" b="1" dirty="0">
                <a:solidFill>
                  <a:srgbClr val="8A5B00"/>
                </a:solidFill>
                <a:latin typeface="Calibri" pitchFamily="34" charset="0"/>
                <a:ea typeface="Calibri" pitchFamily="34" charset="-122"/>
                <a:cs typeface="Calibri" pitchFamily="34" charset="-120"/>
              </a:rPr>
              <a:t>Standing rules:  </a:t>
            </a:r>
            <a:pPr indent="0" marL="0">
              <a:lnSpc>
                <a:spcPts val="1500"/>
              </a:lnSpc>
              <a:buNone/>
            </a:pPr>
            <a:r>
              <a:rPr lang="en-US" sz="1150" dirty="0">
                <a:solidFill>
                  <a:srgbClr val="8A5B00"/>
                </a:solidFill>
                <a:latin typeface="Calibri" pitchFamily="34" charset="0"/>
                <a:ea typeface="Calibri" pitchFamily="34" charset="-122"/>
                <a:cs typeface="Calibri" pitchFamily="34" charset="-120"/>
              </a:rPr>
              <a:t>never sell inside a film · disclose what is generated and what is archive · name sources on screen · verify every claim before it is narrated · publish nothing that would embarrass the brand in front of a bee community that will recognise every error.</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HOW THE TEAM IS BUILT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Organisation</a:t>
            </a:r>
            <a:endParaRPr lang="en-US" sz="2900" dirty="0"/>
          </a:p>
        </p:txBody>
      </p:sp>
      <p:sp>
        <p:nvSpPr>
          <p:cNvPr id="4" name="Text 2"/>
          <p:cNvSpPr/>
          <p:nvPr/>
        </p:nvSpPr>
        <p:spPr>
          <a:xfrm>
            <a:off x="640080" y="1417320"/>
            <a:ext cx="10607040" cy="566928"/>
          </a:xfrm>
          <a:prstGeom prst="rect">
            <a:avLst/>
          </a:prstGeom>
          <a:noFill/>
          <a:ln/>
        </p:spPr>
        <p:txBody>
          <a:bodyPr wrap="square" lIns="0" tIns="0" rIns="0" bIns="0" rtlCol="0" anchor="ctr"/>
          <a:lstStyle/>
          <a:p>
            <a:pPr indent="0" marL="0">
              <a:lnSpc>
                <a:spcPts val="1900"/>
              </a:lnSpc>
              <a:buNone/>
            </a:pPr>
            <a:r>
              <a:rPr lang="en-US" sz="1400" dirty="0">
                <a:solidFill>
                  <a:srgbClr val="7A7291"/>
                </a:solidFill>
                <a:latin typeface="Calibri" pitchFamily="34" charset="0"/>
                <a:ea typeface="Calibri" pitchFamily="34" charset="-122"/>
                <a:cs typeface="Calibri" pitchFamily="34" charset="-120"/>
              </a:rPr>
              <a:t>Two co-founders run separate, clearly-owned lanes. Joint decisions are made at founder level. The third role is advisory and sits on top as a brand asset, not an operating function.</a:t>
            </a:r>
            <a:endParaRPr lang="en-US" sz="1400" dirty="0"/>
          </a:p>
        </p:txBody>
      </p:sp>
      <p:sp>
        <p:nvSpPr>
          <p:cNvPr id="5" name="Shape 3"/>
          <p:cNvSpPr/>
          <p:nvPr/>
        </p:nvSpPr>
        <p:spPr>
          <a:xfrm>
            <a:off x="4480560" y="2148840"/>
            <a:ext cx="3200400" cy="658368"/>
          </a:xfrm>
          <a:prstGeom prst="roundRect">
            <a:avLst>
              <a:gd name="adj" fmla="val 19444"/>
            </a:avLst>
          </a:prstGeom>
          <a:solidFill>
            <a:srgbClr val="241E33"/>
          </a:solidFill>
          <a:ln/>
        </p:spPr>
      </p:sp>
      <p:sp>
        <p:nvSpPr>
          <p:cNvPr id="6" name="Text 4"/>
          <p:cNvSpPr/>
          <p:nvPr/>
        </p:nvSpPr>
        <p:spPr>
          <a:xfrm>
            <a:off x="4480560" y="2148840"/>
            <a:ext cx="3200400" cy="658368"/>
          </a:xfrm>
          <a:prstGeom prst="rect">
            <a:avLst/>
          </a:prstGeom>
          <a:noFill/>
          <a:ln/>
        </p:spPr>
        <p:txBody>
          <a:bodyPr wrap="square" lIns="0" tIns="0" rIns="0" bIns="0" rtlCol="0" anchor="ctr"/>
          <a:lstStyle/>
          <a:p>
            <a:pPr algn="ctr" indent="0" marL="0">
              <a:buNone/>
            </a:pPr>
            <a:r>
              <a:rPr lang="en-US" sz="1500" b="1" spc="140" kern="0" dirty="0">
                <a:solidFill>
                  <a:srgbClr val="FFFFFF"/>
                </a:solidFill>
                <a:latin typeface="Cambria" pitchFamily="34" charset="0"/>
                <a:ea typeface="Cambria" pitchFamily="34" charset="-122"/>
                <a:cs typeface="Cambria" pitchFamily="34" charset="-120"/>
              </a:rPr>
              <a:t>FOUNDER GROUP</a:t>
            </a:r>
            <a:endParaRPr lang="en-US" sz="1500" dirty="0"/>
          </a:p>
        </p:txBody>
      </p:sp>
      <p:sp>
        <p:nvSpPr>
          <p:cNvPr id="7" name="Text 5"/>
          <p:cNvSpPr/>
          <p:nvPr/>
        </p:nvSpPr>
        <p:spPr>
          <a:xfrm>
            <a:off x="4480560" y="2834640"/>
            <a:ext cx="3200400" cy="256032"/>
          </a:xfrm>
          <a:prstGeom prst="rect">
            <a:avLst/>
          </a:prstGeom>
          <a:noFill/>
          <a:ln/>
        </p:spPr>
        <p:txBody>
          <a:bodyPr wrap="square" lIns="0" tIns="0" rIns="0" bIns="0" rtlCol="0" anchor="ctr"/>
          <a:lstStyle/>
          <a:p>
            <a:pPr algn="ctr" indent="0" marL="0">
              <a:buNone/>
            </a:pPr>
            <a:r>
              <a:rPr lang="en-US" sz="1050" i="1" dirty="0">
                <a:solidFill>
                  <a:srgbClr val="7A7291"/>
                </a:solidFill>
                <a:latin typeface="Calibri" pitchFamily="34" charset="0"/>
                <a:ea typeface="Calibri" pitchFamily="34" charset="-122"/>
                <a:cs typeface="Calibri" pitchFamily="34" charset="-120"/>
              </a:rPr>
              <a:t>strategy · budget · brand direction</a:t>
            </a:r>
            <a:endParaRPr lang="en-US" sz="1050" dirty="0"/>
          </a:p>
        </p:txBody>
      </p:sp>
      <p:sp>
        <p:nvSpPr>
          <p:cNvPr id="8" name="Shape 6"/>
          <p:cNvSpPr/>
          <p:nvPr/>
        </p:nvSpPr>
        <p:spPr>
          <a:xfrm>
            <a:off x="6080760" y="3127248"/>
            <a:ext cx="0" cy="329184"/>
          </a:xfrm>
          <a:prstGeom prst="line">
            <a:avLst/>
          </a:prstGeom>
          <a:noFill/>
          <a:ln w="25400">
            <a:solidFill>
              <a:srgbClr val="E3DCF2"/>
            </a:solidFill>
            <a:prstDash val="solid"/>
          </a:ln>
        </p:spPr>
      </p:sp>
      <p:sp>
        <p:nvSpPr>
          <p:cNvPr id="9" name="Shape 7"/>
          <p:cNvSpPr/>
          <p:nvPr/>
        </p:nvSpPr>
        <p:spPr>
          <a:xfrm>
            <a:off x="2743200" y="3456432"/>
            <a:ext cx="6675120" cy="0"/>
          </a:xfrm>
          <a:prstGeom prst="line">
            <a:avLst/>
          </a:prstGeom>
          <a:noFill/>
          <a:ln w="25400">
            <a:solidFill>
              <a:srgbClr val="E3DCF2"/>
            </a:solidFill>
            <a:prstDash val="solid"/>
          </a:ln>
        </p:spPr>
      </p:sp>
      <p:sp>
        <p:nvSpPr>
          <p:cNvPr id="10" name="Shape 8"/>
          <p:cNvSpPr/>
          <p:nvPr/>
        </p:nvSpPr>
        <p:spPr>
          <a:xfrm>
            <a:off x="2743200" y="3456432"/>
            <a:ext cx="0" cy="310896"/>
          </a:xfrm>
          <a:prstGeom prst="line">
            <a:avLst/>
          </a:prstGeom>
          <a:noFill/>
          <a:ln w="25400">
            <a:solidFill>
              <a:srgbClr val="E3DCF2"/>
            </a:solidFill>
            <a:prstDash val="solid"/>
          </a:ln>
        </p:spPr>
      </p:sp>
      <p:sp>
        <p:nvSpPr>
          <p:cNvPr id="11" name="Shape 9"/>
          <p:cNvSpPr/>
          <p:nvPr/>
        </p:nvSpPr>
        <p:spPr>
          <a:xfrm>
            <a:off x="187452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2" name="Shape 10"/>
          <p:cNvSpPr/>
          <p:nvPr/>
        </p:nvSpPr>
        <p:spPr>
          <a:xfrm rot="5400000">
            <a:off x="2020824" y="3931920"/>
            <a:ext cx="402336" cy="402336"/>
          </a:xfrm>
          <a:prstGeom prst="hexagon">
            <a:avLst/>
          </a:prstGeom>
          <a:solidFill>
            <a:srgbClr val="6C4FE0"/>
          </a:solidFill>
          <a:ln/>
        </p:spPr>
      </p:sp>
      <p:sp>
        <p:nvSpPr>
          <p:cNvPr id="13" name="Text 11"/>
          <p:cNvSpPr/>
          <p:nvPr/>
        </p:nvSpPr>
        <p:spPr>
          <a:xfrm>
            <a:off x="251460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Aayush</a:t>
            </a:r>
            <a:endParaRPr lang="en-US" sz="1700" dirty="0"/>
          </a:p>
        </p:txBody>
      </p:sp>
      <p:sp>
        <p:nvSpPr>
          <p:cNvPr id="14" name="Text 12"/>
          <p:cNvSpPr/>
          <p:nvPr/>
        </p:nvSpPr>
        <p:spPr>
          <a:xfrm>
            <a:off x="202082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CPTO</a:t>
            </a:r>
            <a:endParaRPr lang="en-US" sz="1100" dirty="0"/>
          </a:p>
        </p:txBody>
      </p:sp>
      <p:sp>
        <p:nvSpPr>
          <p:cNvPr id="15" name="Text 13"/>
          <p:cNvSpPr/>
          <p:nvPr/>
        </p:nvSpPr>
        <p:spPr>
          <a:xfrm>
            <a:off x="202082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Product · engineering · architecture · roadmap</a:t>
            </a:r>
            <a:endParaRPr lang="en-US" sz="1000" dirty="0"/>
          </a:p>
        </p:txBody>
      </p:sp>
      <p:sp>
        <p:nvSpPr>
          <p:cNvPr id="16" name="Shape 14"/>
          <p:cNvSpPr/>
          <p:nvPr/>
        </p:nvSpPr>
        <p:spPr>
          <a:xfrm>
            <a:off x="6263640" y="3456432"/>
            <a:ext cx="0" cy="310896"/>
          </a:xfrm>
          <a:prstGeom prst="line">
            <a:avLst/>
          </a:prstGeom>
          <a:noFill/>
          <a:ln w="25400">
            <a:solidFill>
              <a:srgbClr val="E3DCF2"/>
            </a:solidFill>
            <a:prstDash val="solid"/>
          </a:ln>
        </p:spPr>
      </p:sp>
      <p:sp>
        <p:nvSpPr>
          <p:cNvPr id="17" name="Shape 15"/>
          <p:cNvSpPr/>
          <p:nvPr/>
        </p:nvSpPr>
        <p:spPr>
          <a:xfrm>
            <a:off x="539496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8" name="Shape 16"/>
          <p:cNvSpPr/>
          <p:nvPr/>
        </p:nvSpPr>
        <p:spPr>
          <a:xfrm rot="5400000">
            <a:off x="5541264" y="3931920"/>
            <a:ext cx="402336" cy="402336"/>
          </a:xfrm>
          <a:prstGeom prst="hexagon">
            <a:avLst/>
          </a:prstGeom>
          <a:solidFill>
            <a:srgbClr val="F0B429"/>
          </a:solidFill>
          <a:ln/>
        </p:spPr>
      </p:sp>
      <p:sp>
        <p:nvSpPr>
          <p:cNvPr id="19" name="Text 17"/>
          <p:cNvSpPr/>
          <p:nvPr/>
        </p:nvSpPr>
        <p:spPr>
          <a:xfrm>
            <a:off x="603504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Amrita</a:t>
            </a:r>
            <a:endParaRPr lang="en-US" sz="1700" dirty="0"/>
          </a:p>
        </p:txBody>
      </p:sp>
      <p:sp>
        <p:nvSpPr>
          <p:cNvPr id="20" name="Text 18"/>
          <p:cNvSpPr/>
          <p:nvPr/>
        </p:nvSpPr>
        <p:spPr>
          <a:xfrm>
            <a:off x="554126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CMO</a:t>
            </a:r>
            <a:endParaRPr lang="en-US" sz="1100" dirty="0"/>
          </a:p>
        </p:txBody>
      </p:sp>
      <p:sp>
        <p:nvSpPr>
          <p:cNvPr id="21" name="Text 19"/>
          <p:cNvSpPr/>
          <p:nvPr/>
        </p:nvSpPr>
        <p:spPr>
          <a:xfrm>
            <a:off x="554126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Brand · growth · pricing · merch · voice of customer</a:t>
            </a:r>
            <a:endParaRPr lang="en-US" sz="1000" dirty="0"/>
          </a:p>
        </p:txBody>
      </p:sp>
      <p:sp>
        <p:nvSpPr>
          <p:cNvPr id="22" name="Shape 20"/>
          <p:cNvSpPr/>
          <p:nvPr/>
        </p:nvSpPr>
        <p:spPr>
          <a:xfrm>
            <a:off x="9784080" y="3456432"/>
            <a:ext cx="0" cy="310896"/>
          </a:xfrm>
          <a:prstGeom prst="line">
            <a:avLst/>
          </a:prstGeom>
          <a:noFill/>
          <a:ln w="25400">
            <a:solidFill>
              <a:srgbClr val="E3DCF2"/>
            </a:solidFill>
            <a:prstDash val="solid"/>
          </a:ln>
        </p:spPr>
      </p:sp>
      <p:sp>
        <p:nvSpPr>
          <p:cNvPr id="23" name="Shape 21"/>
          <p:cNvSpPr/>
          <p:nvPr/>
        </p:nvSpPr>
        <p:spPr>
          <a:xfrm>
            <a:off x="891540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24" name="Shape 22"/>
          <p:cNvSpPr/>
          <p:nvPr/>
        </p:nvSpPr>
        <p:spPr>
          <a:xfrm rot="5400000">
            <a:off x="9061704" y="3931920"/>
            <a:ext cx="402336" cy="402336"/>
          </a:xfrm>
          <a:prstGeom prst="hexagon">
            <a:avLst/>
          </a:prstGeom>
          <a:solidFill>
            <a:srgbClr val="178A4C"/>
          </a:solidFill>
          <a:ln/>
        </p:spPr>
      </p:sp>
      <p:sp>
        <p:nvSpPr>
          <p:cNvPr id="25" name="Text 23"/>
          <p:cNvSpPr/>
          <p:nvPr/>
        </p:nvSpPr>
        <p:spPr>
          <a:xfrm>
            <a:off x="955548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Ahana</a:t>
            </a:r>
            <a:endParaRPr lang="en-US" sz="1700" dirty="0"/>
          </a:p>
        </p:txBody>
      </p:sp>
      <p:sp>
        <p:nvSpPr>
          <p:cNvPr id="26" name="Text 24"/>
          <p:cNvSpPr/>
          <p:nvPr/>
        </p:nvSpPr>
        <p:spPr>
          <a:xfrm>
            <a:off x="906170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Chief Kid Officer</a:t>
            </a:r>
            <a:endParaRPr lang="en-US" sz="1100" dirty="0"/>
          </a:p>
        </p:txBody>
      </p:sp>
      <p:sp>
        <p:nvSpPr>
          <p:cNvPr id="27" name="Text 25"/>
          <p:cNvSpPr/>
          <p:nvPr/>
        </p:nvSpPr>
        <p:spPr>
          <a:xfrm>
            <a:off x="906170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End user · usability · ambassador (advisory)</a:t>
            </a:r>
            <a:endParaRPr lang="en-US" sz="1000" dirty="0"/>
          </a:p>
        </p:txBody>
      </p:sp>
      <p:sp>
        <p:nvSpPr>
          <p:cNvPr id="28" name="Text 26"/>
          <p:cNvSpPr/>
          <p:nvPr/>
        </p:nvSpPr>
        <p:spPr>
          <a:xfrm>
            <a:off x="640080" y="5806440"/>
            <a:ext cx="10607040" cy="502920"/>
          </a:xfrm>
          <a:prstGeom prst="rect">
            <a:avLst/>
          </a:prstGeom>
          <a:noFill/>
          <a:ln/>
        </p:spPr>
        <p:txBody>
          <a:bodyPr wrap="square" lIns="0" tIns="0" rIns="0" bIns="0" rtlCol="0" anchor="ctr"/>
          <a:lstStyle/>
          <a:p>
            <a:pPr indent="0" marL="0">
              <a:lnSpc>
                <a:spcPts val="1700"/>
              </a:lnSpc>
              <a:buNone/>
            </a:pPr>
            <a:r>
              <a:rPr lang="en-US" sz="1250" i="1" dirty="0">
                <a:solidFill>
                  <a:srgbClr val="7A7291"/>
                </a:solidFill>
                <a:latin typeface="Calibri" pitchFamily="34" charset="0"/>
                <a:ea typeface="Calibri" pitchFamily="34" charset="-122"/>
                <a:cs typeface="Calibri" pitchFamily="34" charset="-120"/>
              </a:rPr>
              <a:t>The operating principle: each lane decides independently inside its own scope. Product decisions do not route through marketing, and brand decisions do not route through engineering.</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Aayush</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6C4FE0"/>
                </a:solidFill>
                <a:latin typeface="Calibri" pitchFamily="34" charset="0"/>
                <a:ea typeface="Calibri" pitchFamily="34" charset="-122"/>
                <a:cs typeface="Calibri" pitchFamily="34" charset="-120"/>
              </a:rPr>
              <a:t>Co-Founder &amp; Chief Product and Technology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what Bizzing is, how it is built, and what ships next. Built the full web app AI-first — directing AI coding tools rather than hand-writing code — and runs product and engineering the same way.</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Product roadmap and prioritisation across every Bizzing product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 architecture, infrastructure, technical quality and security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Turning user feedback into shipped improvements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Evaluating and adopting AI tooling that improves build speed or quality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generation pipelines — the word bank, question bank and audio</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6C4FE0"/>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Ship rate</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Features shipped per month against roadmap</a:t>
            </a:r>
            <a:endParaRPr lang="en-US" sz="1100" dirty="0"/>
          </a:p>
        </p:txBody>
      </p:sp>
      <p:sp>
        <p:nvSpPr>
          <p:cNvPr id="13" name="Shape 11"/>
          <p:cNvSpPr/>
          <p:nvPr/>
        </p:nvSpPr>
        <p:spPr>
          <a:xfrm rot="5400000">
            <a:off x="6949440" y="3922776"/>
            <a:ext cx="256032" cy="256032"/>
          </a:xfrm>
          <a:prstGeom prst="hexagon">
            <a:avLst/>
          </a:prstGeom>
          <a:solidFill>
            <a:srgbClr val="6C4FE0"/>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Quality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Crash-free sessions; boot time held under target</a:t>
            </a:r>
            <a:endParaRPr lang="en-US" sz="1100" dirty="0"/>
          </a:p>
        </p:txBody>
      </p:sp>
      <p:sp>
        <p:nvSpPr>
          <p:cNvPr id="16" name="Shape 14"/>
          <p:cNvSpPr/>
          <p:nvPr/>
        </p:nvSpPr>
        <p:spPr>
          <a:xfrm rot="5400000">
            <a:off x="6949440" y="4489704"/>
            <a:ext cx="256032" cy="256032"/>
          </a:xfrm>
          <a:prstGeom prst="hexagon">
            <a:avLst/>
          </a:prstGeom>
          <a:solidFill>
            <a:srgbClr val="6C4FE0"/>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Engine reuse</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a new product built from existing components</a:t>
            </a:r>
            <a:endParaRPr lang="en-US" sz="1100" dirty="0"/>
          </a:p>
        </p:txBody>
      </p:sp>
      <p:sp>
        <p:nvSpPr>
          <p:cNvPr id="19" name="Shape 17"/>
          <p:cNvSpPr/>
          <p:nvPr/>
        </p:nvSpPr>
        <p:spPr>
          <a:xfrm rot="5400000">
            <a:off x="6949440" y="5056632"/>
            <a:ext cx="256032" cy="256032"/>
          </a:xfrm>
          <a:prstGeom prst="hexagon">
            <a:avLst/>
          </a:prstGeom>
          <a:solidFill>
            <a:srgbClr val="6C4FE0"/>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loop</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usability findings actioned</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Brand, pricing and channel decisions route through the CMO.</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Amrita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8A5B00"/>
                </a:solidFill>
                <a:latin typeface="Calibri" pitchFamily="34" charset="0"/>
                <a:ea typeface="Calibri" pitchFamily="34" charset="-122"/>
                <a:cs typeface="Calibri" pitchFamily="34" charset="-120"/>
              </a:rPr>
              <a:t>Co-Founder &amp; Chief Marketing and Growth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everything that gets a family to discover Bizzing, decide to trust it, and want to buy something with the logo on it. Run AI-first and deliberately lean: no agency, no editorial headcount.</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Brand strategy — positioning, voice, visual identity, messaging</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Performance marketing — Meta and Google; owns CAC, ROAS and budget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Marketing analytics — AI-built dashboards for funnel, cohort and channel</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and video, produced in-house with AI tools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Pricing, merch, events, influencer partnerships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Voice of customer — structured feedback and usability sessions</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F0B429"/>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Acquisition</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MoM qualified traffic growth; CAC down per channel</a:t>
            </a:r>
            <a:endParaRPr lang="en-US" sz="1100" dirty="0"/>
          </a:p>
        </p:txBody>
      </p:sp>
      <p:sp>
        <p:nvSpPr>
          <p:cNvPr id="13" name="Shape 11"/>
          <p:cNvSpPr/>
          <p:nvPr/>
        </p:nvSpPr>
        <p:spPr>
          <a:xfrm rot="5400000">
            <a:off x="6949440" y="3922776"/>
            <a:ext cx="256032" cy="256032"/>
          </a:xfrm>
          <a:prstGeom prst="hexagon">
            <a:avLst/>
          </a:prstGeom>
          <a:solidFill>
            <a:srgbClr val="F0B429"/>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Paid efficiency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ROAS target per platform; spend within budget</a:t>
            </a:r>
            <a:endParaRPr lang="en-US" sz="1100" dirty="0"/>
          </a:p>
        </p:txBody>
      </p:sp>
      <p:sp>
        <p:nvSpPr>
          <p:cNvPr id="16" name="Shape 14"/>
          <p:cNvSpPr/>
          <p:nvPr/>
        </p:nvSpPr>
        <p:spPr>
          <a:xfrm rot="5400000">
            <a:off x="6949440" y="4489704"/>
            <a:ext cx="256032" cy="256032"/>
          </a:xfrm>
          <a:prstGeom prst="hexagon">
            <a:avLst/>
          </a:prstGeom>
          <a:solidFill>
            <a:srgbClr val="F0B429"/>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Conversion</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Free-to-paid rate; merch attach rate</a:t>
            </a:r>
            <a:endParaRPr lang="en-US" sz="1100" dirty="0"/>
          </a:p>
        </p:txBody>
      </p:sp>
      <p:sp>
        <p:nvSpPr>
          <p:cNvPr id="19" name="Shape 17"/>
          <p:cNvSpPr/>
          <p:nvPr/>
        </p:nvSpPr>
        <p:spPr>
          <a:xfrm rot="5400000">
            <a:off x="6949440" y="5056632"/>
            <a:ext cx="256032" cy="256032"/>
          </a:xfrm>
          <a:prstGeom prst="hexagon">
            <a:avLst/>
          </a:prstGeom>
          <a:solidFill>
            <a:srgbClr val="F0B429"/>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Content</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Volume produced in-house; $0 on external editors</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Architecture, engineering roadmap and final call on features sit with the CPTO.</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Ahana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178A4C"/>
                </a:solidFill>
                <a:latin typeface="Calibri" pitchFamily="34" charset="0"/>
                <a:ea typeface="Calibri" pitchFamily="34" charset="-122"/>
                <a:cs typeface="Calibri" pitchFamily="34" charset="-120"/>
              </a:rPr>
              <a:t>Chief Kid Officer — honorary and advisory</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The reason Bizzing exists and its most credible voice. Represents the real end user: tests the app as part of her own bee preparation, says plainly what is fun, boring, confusing or broken.</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Uses the app for her own spelling preparation and gives honest feedback</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Tries new features first in usability sessions and reacts candidly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Appears in kid-appropriate marketing, always with a parent involved</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Longer term: hosts beginner spelling sessions to build community</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178A4C"/>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quality</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Specific usable notes, not "it’s good"</a:t>
            </a:r>
            <a:endParaRPr lang="en-US" sz="1100" dirty="0"/>
          </a:p>
        </p:txBody>
      </p:sp>
      <p:sp>
        <p:nvSpPr>
          <p:cNvPr id="13" name="Shape 11"/>
          <p:cNvSpPr/>
          <p:nvPr/>
        </p:nvSpPr>
        <p:spPr>
          <a:xfrm rot="5400000">
            <a:off x="6949440" y="3922776"/>
            <a:ext cx="256032" cy="256032"/>
          </a:xfrm>
          <a:prstGeom prst="hexagon">
            <a:avLst/>
          </a:prstGeom>
          <a:solidFill>
            <a:srgbClr val="178A4C"/>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Ambassador content</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Genuine, comfortable approved appearances</a:t>
            </a:r>
            <a:endParaRPr lang="en-US" sz="1100" dirty="0"/>
          </a:p>
        </p:txBody>
      </p:sp>
      <p:sp>
        <p:nvSpPr>
          <p:cNvPr id="16" name="Shape 14"/>
          <p:cNvSpPr/>
          <p:nvPr/>
        </p:nvSpPr>
        <p:spPr>
          <a:xfrm rot="5400000">
            <a:off x="6949440" y="4489704"/>
            <a:ext cx="256032" cy="256032"/>
          </a:xfrm>
          <a:prstGeom prst="hexagon">
            <a:avLst/>
          </a:prstGeom>
          <a:solidFill>
            <a:srgbClr val="178A4C"/>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Community</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Interest generated by beginner sessions</a:t>
            </a:r>
            <a:endParaRPr lang="en-US" sz="1100" dirty="0"/>
          </a:p>
        </p:txBody>
      </p:sp>
      <p:sp>
        <p:nvSpPr>
          <p:cNvPr id="19" name="Shape 17"/>
          <p:cNvSpPr/>
          <p:nvPr/>
        </p:nvSpPr>
        <p:spPr>
          <a:xfrm>
            <a:off x="640080" y="5623560"/>
            <a:ext cx="10607040" cy="566928"/>
          </a:xfrm>
          <a:prstGeom prst="roundRect">
            <a:avLst>
              <a:gd name="adj" fmla="val 19355"/>
            </a:avLst>
          </a:prstGeom>
          <a:solidFill>
            <a:srgbClr val="FBF3E0"/>
          </a:solidFill>
          <a:ln/>
        </p:spPr>
      </p:sp>
      <p:sp>
        <p:nvSpPr>
          <p:cNvPr id="20" name="Text 18"/>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Not an employment position. Schoolwork, her own bee prep and her own projects take priority.</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058400" y="457200"/>
            <a:ext cx="1417320" cy="141732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BUSINESS MODEL</a:t>
            </a:r>
            <a:endParaRPr lang="en-US" sz="1200" dirty="0"/>
          </a:p>
        </p:txBody>
      </p:sp>
      <p:sp>
        <p:nvSpPr>
          <p:cNvPr id="4" name="Text 1"/>
          <p:cNvSpPr/>
          <p:nvPr/>
        </p:nvSpPr>
        <p:spPr>
          <a:xfrm>
            <a:off x="640080" y="914400"/>
            <a:ext cx="9692640" cy="8686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Free to arrive. Paid to go deep. Human where it matters.</a:t>
            </a:r>
            <a:endParaRPr lang="en-US" sz="2800" dirty="0"/>
          </a:p>
        </p:txBody>
      </p:sp>
      <p:sp>
        <p:nvSpPr>
          <p:cNvPr id="5" name="Text 2"/>
          <p:cNvSpPr/>
          <p:nvPr/>
        </p:nvSpPr>
        <p:spPr>
          <a:xfrm>
            <a:off x="640080" y="1828800"/>
            <a:ext cx="9692640" cy="658368"/>
          </a:xfrm>
          <a:prstGeom prst="rect">
            <a:avLst/>
          </a:prstGeom>
          <a:noFill/>
          <a:ln/>
        </p:spPr>
        <p:txBody>
          <a:bodyPr wrap="square" lIns="0" tIns="0" rIns="0" bIns="0" rtlCol="0" anchor="ctr"/>
          <a:lstStyle/>
          <a:p>
            <a:pPr indent="0" marL="0">
              <a:lnSpc>
                <a:spcPts val="1600"/>
              </a:lnSpc>
              <a:buNone/>
            </a:pPr>
            <a:r>
              <a:rPr lang="en-US" sz="1250" dirty="0">
                <a:solidFill>
                  <a:srgbClr val="E3DCF2"/>
                </a:solidFill>
                <a:latin typeface="Calibri" pitchFamily="34" charset="0"/>
                <a:ea typeface="Calibri" pitchFamily="34" charset="-122"/>
                <a:cs typeface="Calibri" pitchFamily="34" charset="-120"/>
              </a:rPr>
              <a:t>The unit is the HOUSEHOLD, not the child, and the competitor is the tutor, not the app. A family with three children buys once and stays twelve years — which is why every price is a family price, and why the age gaps cost more than any conversion rate.</a:t>
            </a:r>
            <a:endParaRPr lang="en-US" sz="1250" dirty="0"/>
          </a:p>
        </p:txBody>
      </p:sp>
      <p:sp>
        <p:nvSpPr>
          <p:cNvPr id="6" name="Shape 3"/>
          <p:cNvSpPr/>
          <p:nvPr/>
        </p:nvSpPr>
        <p:spPr>
          <a:xfrm>
            <a:off x="640080" y="2542032"/>
            <a:ext cx="2194560" cy="804672"/>
          </a:xfrm>
          <a:prstGeom prst="roundRect">
            <a:avLst>
              <a:gd name="adj" fmla="val 12500"/>
            </a:avLst>
          </a:prstGeom>
          <a:solidFill>
            <a:srgbClr val="F0B429"/>
          </a:solidFill>
          <a:ln/>
        </p:spPr>
      </p:sp>
      <p:sp>
        <p:nvSpPr>
          <p:cNvPr id="7" name="Text 4"/>
          <p:cNvSpPr/>
          <p:nvPr/>
        </p:nvSpPr>
        <p:spPr>
          <a:xfrm>
            <a:off x="640080" y="2651760"/>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FREE</a:t>
            </a:r>
            <a:endParaRPr lang="en-US" sz="950" dirty="0"/>
          </a:p>
        </p:txBody>
      </p:sp>
      <p:sp>
        <p:nvSpPr>
          <p:cNvPr id="8" name="Text 5"/>
          <p:cNvSpPr/>
          <p:nvPr/>
        </p:nvSpPr>
        <p:spPr>
          <a:xfrm>
            <a:off x="640080" y="2935224"/>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Arrive</a:t>
            </a:r>
            <a:endParaRPr lang="en-US" sz="1500" dirty="0"/>
          </a:p>
        </p:txBody>
      </p:sp>
      <p:sp>
        <p:nvSpPr>
          <p:cNvPr id="9" name="Text 6"/>
          <p:cNvSpPr/>
          <p:nvPr/>
        </p:nvSpPr>
        <p:spPr>
          <a:xfrm>
            <a:off x="3127248" y="25786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Bee core · Bizzing India culture · the YouTube channel. No card, no signup wall. This layer exists to be shared.</a:t>
            </a:r>
            <a:endParaRPr lang="en-US" sz="1200" dirty="0"/>
          </a:p>
        </p:txBody>
      </p:sp>
      <p:sp>
        <p:nvSpPr>
          <p:cNvPr id="10" name="Shape 7"/>
          <p:cNvSpPr/>
          <p:nvPr/>
        </p:nvSpPr>
        <p:spPr>
          <a:xfrm>
            <a:off x="640080" y="3456432"/>
            <a:ext cx="2194560" cy="804672"/>
          </a:xfrm>
          <a:prstGeom prst="roundRect">
            <a:avLst>
              <a:gd name="adj" fmla="val 12500"/>
            </a:avLst>
          </a:prstGeom>
          <a:solidFill>
            <a:srgbClr val="6C4FE0"/>
          </a:solidFill>
          <a:ln/>
        </p:spPr>
      </p:sp>
      <p:sp>
        <p:nvSpPr>
          <p:cNvPr id="11" name="Text 8"/>
          <p:cNvSpPr/>
          <p:nvPr/>
        </p:nvSpPr>
        <p:spPr>
          <a:xfrm>
            <a:off x="640080" y="3566160"/>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SUBSCRIPTION</a:t>
            </a:r>
            <a:endParaRPr lang="en-US" sz="950" dirty="0"/>
          </a:p>
        </p:txBody>
      </p:sp>
      <p:sp>
        <p:nvSpPr>
          <p:cNvPr id="12" name="Text 9"/>
          <p:cNvSpPr/>
          <p:nvPr/>
        </p:nvSpPr>
        <p:spPr>
          <a:xfrm>
            <a:off x="640080" y="3849624"/>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Go deep</a:t>
            </a:r>
            <a:endParaRPr lang="en-US" sz="1500" dirty="0"/>
          </a:p>
        </p:txBody>
      </p:sp>
      <p:sp>
        <p:nvSpPr>
          <p:cNvPr id="13" name="Text 10"/>
          <p:cNvSpPr/>
          <p:nvPr/>
        </p:nvSpPr>
        <p:spPr>
          <a:xfrm>
            <a:off x="3127248" y="34930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Per-product packs, or one family plan across the house. Billed annually up front — the decision that makes week one cash-positive.</a:t>
            </a:r>
            <a:endParaRPr lang="en-US" sz="1200" dirty="0"/>
          </a:p>
        </p:txBody>
      </p:sp>
      <p:sp>
        <p:nvSpPr>
          <p:cNvPr id="14" name="Shape 11"/>
          <p:cNvSpPr/>
          <p:nvPr/>
        </p:nvSpPr>
        <p:spPr>
          <a:xfrm>
            <a:off x="640080" y="4370832"/>
            <a:ext cx="2194560" cy="804672"/>
          </a:xfrm>
          <a:prstGeom prst="roundRect">
            <a:avLst>
              <a:gd name="adj" fmla="val 12500"/>
            </a:avLst>
          </a:prstGeom>
          <a:solidFill>
            <a:srgbClr val="178A4C"/>
          </a:solidFill>
          <a:ln/>
        </p:spPr>
      </p:sp>
      <p:sp>
        <p:nvSpPr>
          <p:cNvPr id="15" name="Text 12"/>
          <p:cNvSpPr/>
          <p:nvPr/>
        </p:nvSpPr>
        <p:spPr>
          <a:xfrm>
            <a:off x="640080" y="4480560"/>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COHORT</a:t>
            </a:r>
            <a:endParaRPr lang="en-US" sz="950" dirty="0"/>
          </a:p>
        </p:txBody>
      </p:sp>
      <p:sp>
        <p:nvSpPr>
          <p:cNvPr id="16" name="Text 13"/>
          <p:cNvSpPr/>
          <p:nvPr/>
        </p:nvSpPr>
        <p:spPr>
          <a:xfrm>
            <a:off x="640080" y="4764024"/>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Be taught</a:t>
            </a:r>
            <a:endParaRPr lang="en-US" sz="1500" dirty="0"/>
          </a:p>
        </p:txBody>
      </p:sp>
      <p:sp>
        <p:nvSpPr>
          <p:cNvPr id="17" name="Text 14"/>
          <p:cNvSpPr/>
          <p:nvPr/>
        </p:nvSpPr>
        <p:spPr>
          <a:xfrm>
            <a:off x="3127248" y="44074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Business, bee coaching, beginner classes. Highest price per family, capped by people rather than by servers.</a:t>
            </a:r>
            <a:endParaRPr lang="en-US" sz="1200" dirty="0"/>
          </a:p>
        </p:txBody>
      </p:sp>
      <p:sp>
        <p:nvSpPr>
          <p:cNvPr id="18" name="Shape 15"/>
          <p:cNvSpPr/>
          <p:nvPr/>
        </p:nvSpPr>
        <p:spPr>
          <a:xfrm>
            <a:off x="640080" y="5285232"/>
            <a:ext cx="2194560" cy="804672"/>
          </a:xfrm>
          <a:prstGeom prst="roundRect">
            <a:avLst>
              <a:gd name="adj" fmla="val 12500"/>
            </a:avLst>
          </a:prstGeom>
          <a:solidFill>
            <a:srgbClr val="E3B23C"/>
          </a:solidFill>
          <a:ln/>
        </p:spPr>
      </p:sp>
      <p:sp>
        <p:nvSpPr>
          <p:cNvPr id="19" name="Text 16"/>
          <p:cNvSpPr/>
          <p:nvPr/>
        </p:nvSpPr>
        <p:spPr>
          <a:xfrm>
            <a:off x="640080" y="5394960"/>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PHYSICAL &amp; MEDIA</a:t>
            </a:r>
            <a:endParaRPr lang="en-US" sz="950" dirty="0"/>
          </a:p>
        </p:txBody>
      </p:sp>
      <p:sp>
        <p:nvSpPr>
          <p:cNvPr id="20" name="Text 17"/>
          <p:cNvSpPr/>
          <p:nvPr/>
        </p:nvSpPr>
        <p:spPr>
          <a:xfrm>
            <a:off x="640080" y="5678424"/>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Take it home</a:t>
            </a:r>
            <a:endParaRPr lang="en-US" sz="1500" dirty="0"/>
          </a:p>
        </p:txBody>
      </p:sp>
      <p:sp>
        <p:nvSpPr>
          <p:cNvPr id="21" name="Text 18"/>
          <p:cNvSpPr/>
          <p:nvPr/>
        </p:nvSpPr>
        <p:spPr>
          <a:xfrm>
            <a:off x="3127248" y="53218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Books, avatar cards, plushies and tees; YouTube ad and sponsorship. Margin support, and a brand a child can hold.</a:t>
            </a:r>
            <a:endParaRPr lang="en-US" sz="1200" dirty="0"/>
          </a:p>
        </p:txBody>
      </p:sp>
      <p:sp>
        <p:nvSpPr>
          <p:cNvPr id="22" name="Text 19"/>
          <p:cNvSpPr/>
          <p:nvPr/>
        </p:nvSpPr>
        <p:spPr>
          <a:xfrm>
            <a:off x="640080" y="6272784"/>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Everything after this slide derives from one assumption block, printed in full at the end — so any number can be argued with by changing an input rather than by disbelieving a chart.</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966960" y="5029200"/>
            <a:ext cx="640080" cy="640080"/>
          </a:xfrm>
          <a:prstGeom prst="hexagon">
            <a:avLst/>
          </a:prstGeom>
          <a:solidFill>
            <a:srgbClr val="178A4C">
              <a:alpha val="18000"/>
            </a:srgbClr>
          </a:solidFill>
          <a:ln/>
        </p:spPr>
      </p:sp>
      <p:sp>
        <p:nvSpPr>
          <p:cNvPr id="3" name="Shape 1"/>
          <p:cNvSpPr/>
          <p:nvPr/>
        </p:nvSpPr>
        <p:spPr>
          <a:xfrm rot="5400000">
            <a:off x="10771632" y="5029200"/>
            <a:ext cx="640080" cy="640080"/>
          </a:xfrm>
          <a:prstGeom prst="hexagon">
            <a:avLst/>
          </a:prstGeom>
          <a:solidFill>
            <a:srgbClr val="178A4C">
              <a:alpha val="18000"/>
            </a:srgbClr>
          </a:solidFill>
          <a:ln/>
        </p:spPr>
      </p:sp>
      <p:sp>
        <p:nvSpPr>
          <p:cNvPr id="4" name="Shape 2"/>
          <p:cNvSpPr/>
          <p:nvPr/>
        </p:nvSpPr>
        <p:spPr>
          <a:xfrm rot="5400000">
            <a:off x="11576304" y="5029200"/>
            <a:ext cx="640080" cy="640080"/>
          </a:xfrm>
          <a:prstGeom prst="hexagon">
            <a:avLst/>
          </a:prstGeom>
          <a:solidFill>
            <a:srgbClr val="178A4C">
              <a:alpha val="18000"/>
            </a:srgbClr>
          </a:solidFill>
          <a:ln/>
        </p:spPr>
      </p:sp>
      <p:sp>
        <p:nvSpPr>
          <p:cNvPr id="5" name="Text 3"/>
          <p:cNvSpPr/>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CONSTRAINT</a:t>
            </a:r>
            <a:endParaRPr lang="en-US" sz="1200" dirty="0"/>
          </a:p>
        </p:txBody>
      </p:sp>
      <p:sp>
        <p:nvSpPr>
          <p:cNvPr id="6" name="Text 4"/>
          <p:cNvSpPr/>
          <p:nvPr/>
        </p:nvSpPr>
        <p:spPr>
          <a:xfrm>
            <a:off x="640080" y="841248"/>
            <a:ext cx="1042416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Profitable in week one. No outside cash, in any year.</a:t>
            </a:r>
            <a:endParaRPr lang="en-US" sz="3000" dirty="0"/>
          </a:p>
        </p:txBody>
      </p:sp>
      <p:sp>
        <p:nvSpPr>
          <p:cNvPr id="7" name="Text 5"/>
          <p:cNvSpPr/>
          <p:nvPr/>
        </p:nvSpPr>
        <p:spPr>
          <a:xfrm>
            <a:off x="640080" y="1682496"/>
            <a:ext cx="10424160" cy="329184"/>
          </a:xfrm>
          <a:prstGeom prst="rect">
            <a:avLst/>
          </a:prstGeom>
          <a:noFill/>
          <a:ln/>
        </p:spPr>
        <p:txBody>
          <a:bodyPr wrap="square" lIns="0" tIns="0" rIns="0" bIns="0" rtlCol="0" anchor="ctr"/>
          <a:lstStyle/>
          <a:p>
            <a:pPr indent="0" marL="0">
              <a:buNone/>
            </a:pPr>
            <a:r>
              <a:rPr lang="en-US" sz="1300" dirty="0">
                <a:solidFill>
                  <a:srgbClr val="E3DCF2"/>
                </a:solidFill>
                <a:latin typeface="Calibri" pitchFamily="34" charset="0"/>
                <a:ea typeface="Calibri" pitchFamily="34" charset="-122"/>
                <a:cs typeface="Calibri" pitchFamily="34" charset="-120"/>
              </a:rPr>
              <a:t>This is not a forecast that happens to turn positive. It is a cost structure built so that it cannot turn negative.</a:t>
            </a:r>
            <a:endParaRPr lang="en-US" sz="1300" dirty="0"/>
          </a:p>
        </p:txBody>
      </p:sp>
      <p:sp>
        <p:nvSpPr>
          <p:cNvPr id="8" name="Shape 6"/>
          <p:cNvSpPr/>
          <p:nvPr/>
        </p:nvSpPr>
        <p:spPr>
          <a:xfrm>
            <a:off x="640080" y="2157984"/>
            <a:ext cx="4754880" cy="2487168"/>
          </a:xfrm>
          <a:prstGeom prst="roundRect">
            <a:avLst>
              <a:gd name="adj" fmla="val 5147"/>
            </a:avLst>
          </a:prstGeom>
          <a:solidFill>
            <a:srgbClr val="FFFFFF">
              <a:alpha val="8000"/>
            </a:srgbClr>
          </a:solidFill>
          <a:ln/>
        </p:spPr>
      </p:sp>
      <p:sp>
        <p:nvSpPr>
          <p:cNvPr id="9" name="Text 7"/>
          <p:cNvSpPr/>
          <p:nvPr/>
        </p:nvSpPr>
        <p:spPr>
          <a:xfrm>
            <a:off x="896112" y="2286000"/>
            <a:ext cx="4206240" cy="256032"/>
          </a:xfrm>
          <a:prstGeom prst="rect">
            <a:avLst/>
          </a:prstGeom>
          <a:noFill/>
          <a:ln/>
        </p:spPr>
        <p:txBody>
          <a:bodyPr wrap="square" lIns="0" tIns="0" rIns="0" bIns="0" rtlCol="0" anchor="ctr"/>
          <a:lstStyle/>
          <a:p>
            <a:pPr indent="0" marL="0">
              <a:buNone/>
            </a:pPr>
            <a:r>
              <a:rPr lang="en-US" sz="950" b="1" spc="180" kern="0" dirty="0">
                <a:solidFill>
                  <a:srgbClr val="F0B429"/>
                </a:solidFill>
                <a:latin typeface="Calibri" pitchFamily="34" charset="0"/>
                <a:ea typeface="Calibri" pitchFamily="34" charset="-122"/>
                <a:cs typeface="Calibri" pitchFamily="34" charset="-120"/>
              </a:rPr>
              <a:t>WEEK ONE, IN FULL</a:t>
            </a:r>
            <a:endParaRPr lang="en-US" sz="950" dirty="0"/>
          </a:p>
        </p:txBody>
      </p:sp>
      <p:sp>
        <p:nvSpPr>
          <p:cNvPr id="10" name="Text 8"/>
          <p:cNvSpPr/>
          <p:nvPr/>
        </p:nvSpPr>
        <p:spPr>
          <a:xfrm>
            <a:off x="896112" y="2615184"/>
            <a:ext cx="3200400" cy="25603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4 households × $250, billed annually</a:t>
            </a:r>
            <a:endParaRPr lang="en-US" sz="1000" dirty="0"/>
          </a:p>
        </p:txBody>
      </p:sp>
      <p:sp>
        <p:nvSpPr>
          <p:cNvPr id="11" name="Text 9"/>
          <p:cNvSpPr/>
          <p:nvPr/>
        </p:nvSpPr>
        <p:spPr>
          <a:xfrm>
            <a:off x="4023360" y="2615184"/>
            <a:ext cx="1097280" cy="256032"/>
          </a:xfrm>
          <a:prstGeom prst="rect">
            <a:avLst/>
          </a:prstGeom>
          <a:noFill/>
          <a:ln/>
        </p:spPr>
        <p:txBody>
          <a:bodyPr wrap="square" lIns="0" tIns="0" rIns="0" bIns="0" rtlCol="0" anchor="ctr"/>
          <a:lstStyle/>
          <a:p>
            <a:pPr algn="r" indent="0" marL="0">
              <a:buNone/>
            </a:pPr>
            <a:r>
              <a:rPr lang="en-US" sz="1050" b="1" dirty="0">
                <a:solidFill>
                  <a:srgbClr val="178A4C"/>
                </a:solidFill>
                <a:latin typeface="Calibri" pitchFamily="34" charset="0"/>
                <a:ea typeface="Calibri" pitchFamily="34" charset="-122"/>
                <a:cs typeface="Calibri" pitchFamily="34" charset="-120"/>
              </a:rPr>
              <a:t>+$1,000</a:t>
            </a:r>
            <a:endParaRPr lang="en-US" sz="1050" dirty="0"/>
          </a:p>
        </p:txBody>
      </p:sp>
      <p:sp>
        <p:nvSpPr>
          <p:cNvPr id="12" name="Text 10"/>
          <p:cNvSpPr/>
          <p:nvPr/>
        </p:nvSpPr>
        <p:spPr>
          <a:xfrm>
            <a:off x="896112" y="2898648"/>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Paid media — 18% of that revenue</a:t>
            </a:r>
            <a:endParaRPr lang="en-US" sz="1000" dirty="0"/>
          </a:p>
        </p:txBody>
      </p:sp>
      <p:sp>
        <p:nvSpPr>
          <p:cNvPr id="13" name="Text 11"/>
          <p:cNvSpPr/>
          <p:nvPr/>
        </p:nvSpPr>
        <p:spPr>
          <a:xfrm>
            <a:off x="4023360" y="2898648"/>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−$180</a:t>
            </a:r>
            <a:endParaRPr lang="en-US" sz="1050" dirty="0"/>
          </a:p>
        </p:txBody>
      </p:sp>
      <p:sp>
        <p:nvSpPr>
          <p:cNvPr id="14" name="Text 12"/>
          <p:cNvSpPr/>
          <p:nvPr/>
        </p:nvSpPr>
        <p:spPr>
          <a:xfrm>
            <a:off x="896112" y="3182112"/>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Content &amp; tools — weekly share</a:t>
            </a:r>
            <a:endParaRPr lang="en-US" sz="1000" dirty="0"/>
          </a:p>
        </p:txBody>
      </p:sp>
      <p:sp>
        <p:nvSpPr>
          <p:cNvPr id="15" name="Text 13"/>
          <p:cNvSpPr/>
          <p:nvPr/>
        </p:nvSpPr>
        <p:spPr>
          <a:xfrm>
            <a:off x="4023360" y="3182112"/>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−$208</a:t>
            </a:r>
            <a:endParaRPr lang="en-US" sz="1050" dirty="0"/>
          </a:p>
        </p:txBody>
      </p:sp>
      <p:sp>
        <p:nvSpPr>
          <p:cNvPr id="16" name="Text 14"/>
          <p:cNvSpPr/>
          <p:nvPr/>
        </p:nvSpPr>
        <p:spPr>
          <a:xfrm>
            <a:off x="896112" y="3465576"/>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Payment fees — 3.5%</a:t>
            </a:r>
            <a:endParaRPr lang="en-US" sz="1000" dirty="0"/>
          </a:p>
        </p:txBody>
      </p:sp>
      <p:sp>
        <p:nvSpPr>
          <p:cNvPr id="17" name="Text 15"/>
          <p:cNvSpPr/>
          <p:nvPr/>
        </p:nvSpPr>
        <p:spPr>
          <a:xfrm>
            <a:off x="4023360" y="3465576"/>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−$35</a:t>
            </a:r>
            <a:endParaRPr lang="en-US" sz="1050" dirty="0"/>
          </a:p>
        </p:txBody>
      </p:sp>
      <p:sp>
        <p:nvSpPr>
          <p:cNvPr id="18" name="Text 16"/>
          <p:cNvSpPr/>
          <p:nvPr/>
        </p:nvSpPr>
        <p:spPr>
          <a:xfrm>
            <a:off x="896112" y="3749040"/>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Hosting</a:t>
            </a:r>
            <a:endParaRPr lang="en-US" sz="1000" dirty="0"/>
          </a:p>
        </p:txBody>
      </p:sp>
      <p:sp>
        <p:nvSpPr>
          <p:cNvPr id="19" name="Text 17"/>
          <p:cNvSpPr/>
          <p:nvPr/>
        </p:nvSpPr>
        <p:spPr>
          <a:xfrm>
            <a:off x="4023360" y="3749040"/>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−$4</a:t>
            </a:r>
            <a:endParaRPr lang="en-US" sz="1050" dirty="0"/>
          </a:p>
        </p:txBody>
      </p:sp>
      <p:sp>
        <p:nvSpPr>
          <p:cNvPr id="20" name="Text 18"/>
          <p:cNvSpPr/>
          <p:nvPr/>
        </p:nvSpPr>
        <p:spPr>
          <a:xfrm>
            <a:off x="896112" y="4032504"/>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G&amp;A — weekly share</a:t>
            </a:r>
            <a:endParaRPr lang="en-US" sz="1000" dirty="0"/>
          </a:p>
        </p:txBody>
      </p:sp>
      <p:sp>
        <p:nvSpPr>
          <p:cNvPr id="21" name="Text 19"/>
          <p:cNvSpPr/>
          <p:nvPr/>
        </p:nvSpPr>
        <p:spPr>
          <a:xfrm>
            <a:off x="4023360" y="4032504"/>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−$40</a:t>
            </a:r>
            <a:endParaRPr lang="en-US" sz="1050" dirty="0"/>
          </a:p>
        </p:txBody>
      </p:sp>
      <p:sp>
        <p:nvSpPr>
          <p:cNvPr id="22" name="Shape 20"/>
          <p:cNvSpPr/>
          <p:nvPr/>
        </p:nvSpPr>
        <p:spPr>
          <a:xfrm>
            <a:off x="896112" y="4352544"/>
            <a:ext cx="4224528" cy="0"/>
          </a:xfrm>
          <a:prstGeom prst="line">
            <a:avLst/>
          </a:prstGeom>
          <a:noFill/>
          <a:ln w="12700">
            <a:solidFill>
              <a:srgbClr val="FFFFFF">
                <a:alpha val="40000"/>
              </a:srgbClr>
            </a:solidFill>
            <a:prstDash val="solid"/>
          </a:ln>
        </p:spPr>
      </p:sp>
      <p:sp>
        <p:nvSpPr>
          <p:cNvPr id="23" name="Text 21"/>
          <p:cNvSpPr/>
          <p:nvPr/>
        </p:nvSpPr>
        <p:spPr>
          <a:xfrm>
            <a:off x="896112" y="4407408"/>
            <a:ext cx="2743200" cy="310896"/>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Week-one profit</a:t>
            </a:r>
            <a:endParaRPr lang="en-US" sz="1300" dirty="0"/>
          </a:p>
        </p:txBody>
      </p:sp>
      <p:sp>
        <p:nvSpPr>
          <p:cNvPr id="24" name="Text 22"/>
          <p:cNvSpPr/>
          <p:nvPr/>
        </p:nvSpPr>
        <p:spPr>
          <a:xfrm>
            <a:off x="3566160" y="4389120"/>
            <a:ext cx="1554480" cy="329184"/>
          </a:xfrm>
          <a:prstGeom prst="rect">
            <a:avLst/>
          </a:prstGeom>
          <a:noFill/>
          <a:ln/>
        </p:spPr>
        <p:txBody>
          <a:bodyPr wrap="square" lIns="0" tIns="0" rIns="0" bIns="0" rtlCol="0" anchor="ctr"/>
          <a:lstStyle/>
          <a:p>
            <a:pPr algn="r" indent="0" marL="0">
              <a:buNone/>
            </a:pPr>
            <a:r>
              <a:rPr lang="en-US" sz="2100" b="1" dirty="0">
                <a:solidFill>
                  <a:srgbClr val="178A4C"/>
                </a:solidFill>
                <a:latin typeface="Cambria" pitchFamily="34" charset="0"/>
                <a:ea typeface="Cambria" pitchFamily="34" charset="-122"/>
                <a:cs typeface="Cambria" pitchFamily="34" charset="-120"/>
              </a:rPr>
              <a:t>+$533</a:t>
            </a:r>
            <a:endParaRPr lang="en-US" sz="2100" dirty="0"/>
          </a:p>
        </p:txBody>
      </p:sp>
      <p:sp>
        <p:nvSpPr>
          <p:cNvPr id="25" name="Text 23"/>
          <p:cNvSpPr/>
          <p:nvPr/>
        </p:nvSpPr>
        <p:spPr>
          <a:xfrm>
            <a:off x="5852160" y="2286000"/>
            <a:ext cx="5486400" cy="256032"/>
          </a:xfrm>
          <a:prstGeom prst="rect">
            <a:avLst/>
          </a:prstGeom>
          <a:noFill/>
          <a:ln/>
        </p:spPr>
        <p:txBody>
          <a:bodyPr wrap="square" lIns="0" tIns="0" rIns="0" bIns="0" rtlCol="0" anchor="ctr"/>
          <a:lstStyle/>
          <a:p>
            <a:pPr indent="0" marL="0">
              <a:buNone/>
            </a:pPr>
            <a:r>
              <a:rPr lang="en-US" sz="950" b="1" spc="180" kern="0" dirty="0">
                <a:solidFill>
                  <a:srgbClr val="F0B429"/>
                </a:solidFill>
                <a:latin typeface="Calibri" pitchFamily="34" charset="0"/>
                <a:ea typeface="Calibri" pitchFamily="34" charset="-122"/>
                <a:cs typeface="Calibri" pitchFamily="34" charset="-120"/>
              </a:rPr>
              <a:t>THE THREE RULES</a:t>
            </a:r>
            <a:endParaRPr lang="en-US" sz="950" dirty="0"/>
          </a:p>
        </p:txBody>
      </p:sp>
      <p:sp>
        <p:nvSpPr>
          <p:cNvPr id="26" name="Shape 24"/>
          <p:cNvSpPr/>
          <p:nvPr/>
        </p:nvSpPr>
        <p:spPr>
          <a:xfrm rot="5400000">
            <a:off x="5852160" y="2615184"/>
            <a:ext cx="384048" cy="384048"/>
          </a:xfrm>
          <a:prstGeom prst="hexagon">
            <a:avLst/>
          </a:prstGeom>
          <a:solidFill>
            <a:srgbClr val="6C4FE0"/>
          </a:solidFill>
          <a:ln/>
        </p:spPr>
      </p:sp>
      <p:sp>
        <p:nvSpPr>
          <p:cNvPr id="27" name="Text 25"/>
          <p:cNvSpPr/>
          <p:nvPr/>
        </p:nvSpPr>
        <p:spPr>
          <a:xfrm>
            <a:off x="5852160" y="26151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28" name="Text 26"/>
          <p:cNvSpPr/>
          <p:nvPr/>
        </p:nvSpPr>
        <p:spPr>
          <a:xfrm>
            <a:off x="6382512" y="2587752"/>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Bill the year up front</a:t>
            </a:r>
            <a:endParaRPr lang="en-US" sz="1300" dirty="0"/>
          </a:p>
        </p:txBody>
      </p:sp>
      <p:sp>
        <p:nvSpPr>
          <p:cNvPr id="29" name="Text 27"/>
          <p:cNvSpPr/>
          <p:nvPr/>
        </p:nvSpPr>
        <p:spPr>
          <a:xfrm>
            <a:off x="6382512" y="2825496"/>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Cash arrives before the service is delivered. A household that joins in January funds twelve months of its own cost on the day it joins.</a:t>
            </a:r>
            <a:endParaRPr lang="en-US" sz="950" dirty="0"/>
          </a:p>
        </p:txBody>
      </p:sp>
      <p:sp>
        <p:nvSpPr>
          <p:cNvPr id="30" name="Shape 28"/>
          <p:cNvSpPr/>
          <p:nvPr/>
        </p:nvSpPr>
        <p:spPr>
          <a:xfrm rot="5400000">
            <a:off x="5852160" y="3310128"/>
            <a:ext cx="384048" cy="384048"/>
          </a:xfrm>
          <a:prstGeom prst="hexagon">
            <a:avLst/>
          </a:prstGeom>
          <a:solidFill>
            <a:srgbClr val="F0B429"/>
          </a:solidFill>
          <a:ln/>
        </p:spPr>
      </p:sp>
      <p:sp>
        <p:nvSpPr>
          <p:cNvPr id="31" name="Text 29"/>
          <p:cNvSpPr/>
          <p:nvPr/>
        </p:nvSpPr>
        <p:spPr>
          <a:xfrm>
            <a:off x="5852160" y="331012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32" name="Text 30"/>
          <p:cNvSpPr/>
          <p:nvPr/>
        </p:nvSpPr>
        <p:spPr>
          <a:xfrm>
            <a:off x="6382512" y="3282696"/>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Every discretionary cost is a % of revenue</a:t>
            </a:r>
            <a:endParaRPr lang="en-US" sz="1300" dirty="0"/>
          </a:p>
        </p:txBody>
      </p:sp>
      <p:sp>
        <p:nvSpPr>
          <p:cNvPr id="33" name="Text 31"/>
          <p:cNvSpPr/>
          <p:nvPr/>
        </p:nvSpPr>
        <p:spPr>
          <a:xfrm>
            <a:off x="6382512" y="3520440"/>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Paid media 18%. Content and tools 12%. Mentors 50% of cohort revenue only. COGS 55% of physical revenue only. These are not budgets — they are fractions, and a fraction of income cannot exceed income.</a:t>
            </a:r>
            <a:endParaRPr lang="en-US" sz="950" dirty="0"/>
          </a:p>
        </p:txBody>
      </p:sp>
      <p:sp>
        <p:nvSpPr>
          <p:cNvPr id="34" name="Shape 32"/>
          <p:cNvSpPr/>
          <p:nvPr/>
        </p:nvSpPr>
        <p:spPr>
          <a:xfrm rot="5400000">
            <a:off x="5852160" y="4005072"/>
            <a:ext cx="384048" cy="384048"/>
          </a:xfrm>
          <a:prstGeom prst="hexagon">
            <a:avLst/>
          </a:prstGeom>
          <a:solidFill>
            <a:srgbClr val="6C4FE0"/>
          </a:solidFill>
          <a:ln/>
        </p:spPr>
      </p:sp>
      <p:sp>
        <p:nvSpPr>
          <p:cNvPr id="35" name="Text 33"/>
          <p:cNvSpPr/>
          <p:nvPr/>
        </p:nvSpPr>
        <p:spPr>
          <a:xfrm>
            <a:off x="5852160" y="40050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36" name="Text 34"/>
          <p:cNvSpPr/>
          <p:nvPr/>
        </p:nvSpPr>
        <p:spPr>
          <a:xfrm>
            <a:off x="6382512" y="3977640"/>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Fixed cost stays smaller than one week of sales</a:t>
            </a:r>
            <a:endParaRPr lang="en-US" sz="1300" dirty="0"/>
          </a:p>
        </p:txBody>
      </p:sp>
      <p:sp>
        <p:nvSpPr>
          <p:cNvPr id="37" name="Text 35"/>
          <p:cNvSpPr/>
          <p:nvPr/>
        </p:nvSpPr>
        <p:spPr>
          <a:xfrm>
            <a:off x="6382512" y="4215384"/>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G&amp;A and hosting total $2.1k in Year 1 — $40 a week against $1,000 of weekly revenue. Nothing else is fixed.</a:t>
            </a:r>
            <a:endParaRPr lang="en-US" sz="950" dirty="0"/>
          </a:p>
        </p:txBody>
      </p:sp>
      <p:sp>
        <p:nvSpPr>
          <p:cNvPr id="38" name="Text 36"/>
          <p:cNvSpPr/>
          <p:nvPr/>
        </p:nvSpPr>
        <p:spPr>
          <a:xfrm>
            <a:off x="640080" y="4846320"/>
            <a:ext cx="4572000" cy="274320"/>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EBITDA, every year, base case</a:t>
            </a:r>
            <a:endParaRPr lang="en-US" sz="950" dirty="0"/>
          </a:p>
        </p:txBody>
      </p:sp>
      <p:sp>
        <p:nvSpPr>
          <p:cNvPr id="39" name="Shape 37"/>
          <p:cNvSpPr/>
          <p:nvPr/>
        </p:nvSpPr>
        <p:spPr>
          <a:xfrm>
            <a:off x="640080" y="5138928"/>
            <a:ext cx="1965960" cy="566928"/>
          </a:xfrm>
          <a:prstGeom prst="roundRect">
            <a:avLst>
              <a:gd name="adj" fmla="val 16129"/>
            </a:avLst>
          </a:prstGeom>
          <a:solidFill>
            <a:srgbClr val="178A4C">
              <a:alpha val="24000"/>
            </a:srgbClr>
          </a:solidFill>
          <a:ln/>
        </p:spPr>
      </p:sp>
      <p:sp>
        <p:nvSpPr>
          <p:cNvPr id="40" name="Text 38"/>
          <p:cNvSpPr/>
          <p:nvPr/>
        </p:nvSpPr>
        <p:spPr>
          <a:xfrm>
            <a:off x="78638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Y1</a:t>
            </a:r>
            <a:endParaRPr lang="en-US" sz="950" dirty="0"/>
          </a:p>
        </p:txBody>
      </p:sp>
      <p:sp>
        <p:nvSpPr>
          <p:cNvPr id="41" name="Text 39"/>
          <p:cNvSpPr/>
          <p:nvPr/>
        </p:nvSpPr>
        <p:spPr>
          <a:xfrm>
            <a:off x="114300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+$7k</a:t>
            </a:r>
            <a:endParaRPr lang="en-US" sz="1600" dirty="0"/>
          </a:p>
        </p:txBody>
      </p:sp>
      <p:sp>
        <p:nvSpPr>
          <p:cNvPr id="42" name="Shape 40"/>
          <p:cNvSpPr/>
          <p:nvPr/>
        </p:nvSpPr>
        <p:spPr>
          <a:xfrm>
            <a:off x="2788920" y="5138928"/>
            <a:ext cx="1965960" cy="566928"/>
          </a:xfrm>
          <a:prstGeom prst="roundRect">
            <a:avLst>
              <a:gd name="adj" fmla="val 16129"/>
            </a:avLst>
          </a:prstGeom>
          <a:solidFill>
            <a:srgbClr val="178A4C">
              <a:alpha val="24000"/>
            </a:srgbClr>
          </a:solidFill>
          <a:ln/>
        </p:spPr>
      </p:sp>
      <p:sp>
        <p:nvSpPr>
          <p:cNvPr id="43" name="Text 41"/>
          <p:cNvSpPr/>
          <p:nvPr/>
        </p:nvSpPr>
        <p:spPr>
          <a:xfrm>
            <a:off x="293522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Y2</a:t>
            </a:r>
            <a:endParaRPr lang="en-US" sz="950" dirty="0"/>
          </a:p>
        </p:txBody>
      </p:sp>
      <p:sp>
        <p:nvSpPr>
          <p:cNvPr id="44" name="Text 42"/>
          <p:cNvSpPr/>
          <p:nvPr/>
        </p:nvSpPr>
        <p:spPr>
          <a:xfrm>
            <a:off x="329184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+$52k</a:t>
            </a:r>
            <a:endParaRPr lang="en-US" sz="1600" dirty="0"/>
          </a:p>
        </p:txBody>
      </p:sp>
      <p:sp>
        <p:nvSpPr>
          <p:cNvPr id="45" name="Shape 43"/>
          <p:cNvSpPr/>
          <p:nvPr/>
        </p:nvSpPr>
        <p:spPr>
          <a:xfrm>
            <a:off x="4937760" y="5138928"/>
            <a:ext cx="1965960" cy="566928"/>
          </a:xfrm>
          <a:prstGeom prst="roundRect">
            <a:avLst>
              <a:gd name="adj" fmla="val 16129"/>
            </a:avLst>
          </a:prstGeom>
          <a:solidFill>
            <a:srgbClr val="178A4C">
              <a:alpha val="24000"/>
            </a:srgbClr>
          </a:solidFill>
          <a:ln/>
        </p:spPr>
      </p:sp>
      <p:sp>
        <p:nvSpPr>
          <p:cNvPr id="46" name="Text 44"/>
          <p:cNvSpPr/>
          <p:nvPr/>
        </p:nvSpPr>
        <p:spPr>
          <a:xfrm>
            <a:off x="508406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Y3</a:t>
            </a:r>
            <a:endParaRPr lang="en-US" sz="950" dirty="0"/>
          </a:p>
        </p:txBody>
      </p:sp>
      <p:sp>
        <p:nvSpPr>
          <p:cNvPr id="47" name="Text 45"/>
          <p:cNvSpPr/>
          <p:nvPr/>
        </p:nvSpPr>
        <p:spPr>
          <a:xfrm>
            <a:off x="544068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+$210k</a:t>
            </a:r>
            <a:endParaRPr lang="en-US" sz="1600" dirty="0"/>
          </a:p>
        </p:txBody>
      </p:sp>
      <p:sp>
        <p:nvSpPr>
          <p:cNvPr id="48" name="Shape 46"/>
          <p:cNvSpPr/>
          <p:nvPr/>
        </p:nvSpPr>
        <p:spPr>
          <a:xfrm>
            <a:off x="7086600" y="5138928"/>
            <a:ext cx="1965960" cy="566928"/>
          </a:xfrm>
          <a:prstGeom prst="roundRect">
            <a:avLst>
              <a:gd name="adj" fmla="val 16129"/>
            </a:avLst>
          </a:prstGeom>
          <a:solidFill>
            <a:srgbClr val="178A4C">
              <a:alpha val="24000"/>
            </a:srgbClr>
          </a:solidFill>
          <a:ln/>
        </p:spPr>
      </p:sp>
      <p:sp>
        <p:nvSpPr>
          <p:cNvPr id="49" name="Text 47"/>
          <p:cNvSpPr/>
          <p:nvPr/>
        </p:nvSpPr>
        <p:spPr>
          <a:xfrm>
            <a:off x="723290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Y4</a:t>
            </a:r>
            <a:endParaRPr lang="en-US" sz="950" dirty="0"/>
          </a:p>
        </p:txBody>
      </p:sp>
      <p:sp>
        <p:nvSpPr>
          <p:cNvPr id="50" name="Text 48"/>
          <p:cNvSpPr/>
          <p:nvPr/>
        </p:nvSpPr>
        <p:spPr>
          <a:xfrm>
            <a:off x="758952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+$450k</a:t>
            </a:r>
            <a:endParaRPr lang="en-US" sz="1600" dirty="0"/>
          </a:p>
        </p:txBody>
      </p:sp>
      <p:sp>
        <p:nvSpPr>
          <p:cNvPr id="51" name="Shape 49"/>
          <p:cNvSpPr/>
          <p:nvPr/>
        </p:nvSpPr>
        <p:spPr>
          <a:xfrm>
            <a:off x="9235440" y="5138928"/>
            <a:ext cx="1965960" cy="566928"/>
          </a:xfrm>
          <a:prstGeom prst="roundRect">
            <a:avLst>
              <a:gd name="adj" fmla="val 16129"/>
            </a:avLst>
          </a:prstGeom>
          <a:solidFill>
            <a:srgbClr val="178A4C">
              <a:alpha val="24000"/>
            </a:srgbClr>
          </a:solidFill>
          <a:ln/>
        </p:spPr>
      </p:sp>
      <p:sp>
        <p:nvSpPr>
          <p:cNvPr id="52" name="Text 50"/>
          <p:cNvSpPr/>
          <p:nvPr/>
        </p:nvSpPr>
        <p:spPr>
          <a:xfrm>
            <a:off x="938174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Y5</a:t>
            </a:r>
            <a:endParaRPr lang="en-US" sz="950" dirty="0"/>
          </a:p>
        </p:txBody>
      </p:sp>
      <p:sp>
        <p:nvSpPr>
          <p:cNvPr id="53" name="Text 51"/>
          <p:cNvSpPr/>
          <p:nvPr/>
        </p:nvSpPr>
        <p:spPr>
          <a:xfrm>
            <a:off x="973836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+$829k</a:t>
            </a:r>
            <a:endParaRPr lang="en-US" sz="1600" dirty="0"/>
          </a:p>
        </p:txBody>
      </p:sp>
      <p:sp>
        <p:nvSpPr>
          <p:cNvPr id="54" name="Shape 52"/>
          <p:cNvSpPr/>
          <p:nvPr/>
        </p:nvSpPr>
        <p:spPr>
          <a:xfrm>
            <a:off x="640080" y="5833872"/>
            <a:ext cx="10607040" cy="896112"/>
          </a:xfrm>
          <a:prstGeom prst="roundRect">
            <a:avLst>
              <a:gd name="adj" fmla="val 12245"/>
            </a:avLst>
          </a:prstGeom>
          <a:solidFill>
            <a:srgbClr val="F0B429">
              <a:alpha val="16000"/>
            </a:srgbClr>
          </a:solidFill>
          <a:ln/>
        </p:spPr>
      </p:sp>
      <p:sp>
        <p:nvSpPr>
          <p:cNvPr id="55" name="Text 53"/>
          <p:cNvSpPr/>
          <p:nvPr/>
        </p:nvSpPr>
        <p:spPr>
          <a:xfrm>
            <a:off x="914400" y="5907024"/>
            <a:ext cx="4572000" cy="237744"/>
          </a:xfrm>
          <a:prstGeom prst="rect">
            <a:avLst/>
          </a:prstGeom>
          <a:noFill/>
          <a:ln/>
        </p:spPr>
        <p:txBody>
          <a:bodyPr wrap="square" lIns="0" tIns="0" rIns="0" bIns="0" rtlCol="0" anchor="ctr"/>
          <a:lstStyle/>
          <a:p>
            <a:pPr indent="0" marL="0">
              <a:buNone/>
            </a:pPr>
            <a:r>
              <a:rPr lang="en-US" sz="950" b="1" spc="140" kern="0" dirty="0">
                <a:solidFill>
                  <a:srgbClr val="F0B429"/>
                </a:solidFill>
                <a:latin typeface="Calibri" pitchFamily="34" charset="0"/>
                <a:ea typeface="Calibri" pitchFamily="34" charset="-122"/>
                <a:cs typeface="Calibri" pitchFamily="34" charset="-120"/>
              </a:rPr>
              <a:t>Two things this claim does NOT mean</a:t>
            </a:r>
            <a:endParaRPr lang="en-US" sz="950" dirty="0"/>
          </a:p>
        </p:txBody>
      </p:sp>
      <p:sp>
        <p:nvSpPr>
          <p:cNvPr id="56" name="Text 54"/>
          <p:cNvSpPr/>
          <p:nvPr/>
        </p:nvSpPr>
        <p:spPr>
          <a:xfrm>
            <a:off x="914400" y="6126480"/>
            <a:ext cx="10058400" cy="548640"/>
          </a:xfrm>
          <a:prstGeom prst="rect">
            <a:avLst/>
          </a:prstGeom>
          <a:noFill/>
          <a:ln/>
        </p:spPr>
        <p:txBody>
          <a:bodyPr wrap="square" lIns="0" tIns="0" rIns="0" bIns="0" rtlCol="0" anchor="ctr"/>
          <a:lstStyle/>
          <a:p>
            <a:pPr indent="0" marL="0">
              <a:lnSpc>
                <a:spcPts val="1250"/>
              </a:lnSpc>
              <a:buNone/>
            </a:pPr>
            <a:r>
              <a:rPr lang="en-US" sz="1000" b="1" dirty="0">
                <a:solidFill>
                  <a:srgbClr val="FFFFFF"/>
                </a:solidFill>
                <a:latin typeface="Calibri" pitchFamily="34" charset="0"/>
                <a:ea typeface="Calibri" pitchFamily="34" charset="-122"/>
                <a:cs typeface="Calibri" pitchFamily="34" charset="-120"/>
              </a:rPr>
              <a:t>It is cash profit, not economic profit. </a:t>
            </a:r>
            <a:pPr indent="0" marL="0">
              <a:lnSpc>
                <a:spcPts val="1250"/>
              </a:lnSpc>
              <a:buNone/>
            </a:pPr>
            <a:r>
              <a:rPr lang="en-US" sz="1000" dirty="0">
                <a:solidFill>
                  <a:srgbClr val="E3DCF2"/>
                </a:solidFill>
                <a:latin typeface="Calibri" pitchFamily="34" charset="0"/>
                <a:ea typeface="Calibri" pitchFamily="34" charset="-122"/>
                <a:cs typeface="Calibri" pitchFamily="34" charset="-120"/>
              </a:rPr>
              <a:t>Founders draw no salary until Year 3 — until then EBITDA IS founder pay, and in Year 1 that is $7.4k between two people. That is the real price of a four-a-week start.   </a:t>
            </a:r>
            <a:pPr indent="0" marL="0">
              <a:lnSpc>
                <a:spcPts val="1250"/>
              </a:lnSpc>
              <a:buNone/>
            </a:pPr>
            <a:r>
              <a:rPr lang="en-US" sz="1000" b="1" dirty="0">
                <a:solidFill>
                  <a:srgbClr val="FFFFFF"/>
                </a:solidFill>
                <a:latin typeface="Calibri" pitchFamily="34" charset="0"/>
                <a:ea typeface="Calibri" pitchFamily="34" charset="-122"/>
                <a:cs typeface="Calibri" pitchFamily="34" charset="-120"/>
              </a:rPr>
              <a:t>And accounting profit lags cash, </a:t>
            </a:r>
            <a:pPr indent="0" marL="0">
              <a:lnSpc>
                <a:spcPts val="1250"/>
              </a:lnSpc>
              <a:buNone/>
            </a:pPr>
            <a:r>
              <a:rPr lang="en-US" sz="1000" dirty="0">
                <a:solidFill>
                  <a:srgbClr val="E3DCF2"/>
                </a:solidFill>
                <a:latin typeface="Calibri" pitchFamily="34" charset="0"/>
                <a:ea typeface="Calibri" pitchFamily="34" charset="-122"/>
                <a:cs typeface="Calibri" pitchFamily="34" charset="-120"/>
              </a:rPr>
              <a:t>because annual billing creates deferred revenue: the bank balance is right, the P&amp;L recognises it over twelve months.</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We are priced against the tutor, not the app</a:t>
            </a:r>
            <a:endParaRPr lang="en-US" sz="2900" dirty="0"/>
          </a:p>
        </p:txBody>
      </p:sp>
      <p:sp>
        <p:nvSpPr>
          <p:cNvPr id="3" name="Text 1"/>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COMPETITIVE BENCHMARK</a:t>
            </a:r>
            <a:endParaRPr lang="en-US" sz="115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preparing a child for a bee is already paying somebody by the hour. That is the alternative we actually replace — and against it, $149 is inexpensive.</a:t>
            </a:r>
            <a:endParaRPr lang="en-US" sz="1450" dirty="0"/>
          </a:p>
        </p:txBody>
      </p:sp>
      <p:sp>
        <p:nvSpPr>
          <p:cNvPr id="5" name="Text 3"/>
          <p:cNvSpPr/>
          <p:nvPr/>
        </p:nvSpPr>
        <p:spPr>
          <a:xfrm>
            <a:off x="640080" y="2011680"/>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Scripps Word Club (official bee app)</a:t>
            </a:r>
            <a:endParaRPr lang="en-US" sz="1000" dirty="0"/>
          </a:p>
        </p:txBody>
      </p:sp>
      <p:sp>
        <p:nvSpPr>
          <p:cNvPr id="6" name="Shape 4"/>
          <p:cNvSpPr/>
          <p:nvPr/>
        </p:nvSpPr>
        <p:spPr>
          <a:xfrm>
            <a:off x="5029200" y="2075688"/>
            <a:ext cx="668979" cy="155448"/>
          </a:xfrm>
          <a:prstGeom prst="roundRect">
            <a:avLst>
              <a:gd name="adj" fmla="val 50000"/>
            </a:avLst>
          </a:prstGeom>
          <a:solidFill>
            <a:srgbClr val="C4453C"/>
          </a:solidFill>
          <a:ln/>
        </p:spPr>
      </p:sp>
      <p:sp>
        <p:nvSpPr>
          <p:cNvPr id="7" name="Text 5"/>
          <p:cNvSpPr/>
          <p:nvPr/>
        </p:nvSpPr>
        <p:spPr>
          <a:xfrm>
            <a:off x="5771331" y="2011680"/>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$30</a:t>
            </a:r>
            <a:endParaRPr lang="en-US" sz="950" dirty="0"/>
          </a:p>
        </p:txBody>
      </p:sp>
      <p:sp>
        <p:nvSpPr>
          <p:cNvPr id="8" name="Text 6"/>
          <p:cNvSpPr/>
          <p:nvPr/>
        </p:nvSpPr>
        <p:spPr>
          <a:xfrm>
            <a:off x="640080" y="231343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SpellingCity / bee practice apps</a:t>
            </a:r>
            <a:endParaRPr lang="en-US" sz="1000" dirty="0"/>
          </a:p>
        </p:txBody>
      </p:sp>
      <p:sp>
        <p:nvSpPr>
          <p:cNvPr id="9" name="Shape 7"/>
          <p:cNvSpPr/>
          <p:nvPr/>
        </p:nvSpPr>
        <p:spPr>
          <a:xfrm>
            <a:off x="5029200" y="2377440"/>
            <a:ext cx="895045" cy="155448"/>
          </a:xfrm>
          <a:prstGeom prst="roundRect">
            <a:avLst>
              <a:gd name="adj" fmla="val 50000"/>
            </a:avLst>
          </a:prstGeom>
          <a:solidFill>
            <a:srgbClr val="C4453C"/>
          </a:solidFill>
          <a:ln/>
        </p:spPr>
      </p:sp>
      <p:sp>
        <p:nvSpPr>
          <p:cNvPr id="10" name="Text 8"/>
          <p:cNvSpPr/>
          <p:nvPr/>
        </p:nvSpPr>
        <p:spPr>
          <a:xfrm>
            <a:off x="5997397" y="231343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$60</a:t>
            </a:r>
            <a:endParaRPr lang="en-US" sz="950" dirty="0"/>
          </a:p>
        </p:txBody>
      </p:sp>
      <p:sp>
        <p:nvSpPr>
          <p:cNvPr id="11" name="Text 9"/>
          <p:cNvSpPr/>
          <p:nvPr/>
        </p:nvSpPr>
        <p:spPr>
          <a:xfrm>
            <a:off x="640080" y="2615184"/>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Duolingo Super — family</a:t>
            </a:r>
            <a:endParaRPr lang="en-US" sz="1000" dirty="0"/>
          </a:p>
        </p:txBody>
      </p:sp>
      <p:sp>
        <p:nvSpPr>
          <p:cNvPr id="12" name="Shape 10"/>
          <p:cNvSpPr/>
          <p:nvPr/>
        </p:nvSpPr>
        <p:spPr>
          <a:xfrm>
            <a:off x="5029200" y="2679192"/>
            <a:ext cx="1197506" cy="155448"/>
          </a:xfrm>
          <a:prstGeom prst="roundRect">
            <a:avLst>
              <a:gd name="adj" fmla="val 50000"/>
            </a:avLst>
          </a:prstGeom>
          <a:solidFill>
            <a:srgbClr val="C4453C"/>
          </a:solidFill>
          <a:ln/>
        </p:spPr>
      </p:sp>
      <p:sp>
        <p:nvSpPr>
          <p:cNvPr id="13" name="Text 11"/>
          <p:cNvSpPr/>
          <p:nvPr/>
        </p:nvSpPr>
        <p:spPr>
          <a:xfrm>
            <a:off x="6299858" y="2615184"/>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$120</a:t>
            </a:r>
            <a:endParaRPr lang="en-US" sz="950" dirty="0"/>
          </a:p>
        </p:txBody>
      </p:sp>
      <p:sp>
        <p:nvSpPr>
          <p:cNvPr id="14" name="Shape 12"/>
          <p:cNvSpPr/>
          <p:nvPr/>
        </p:nvSpPr>
        <p:spPr>
          <a:xfrm>
            <a:off x="530352" y="2916936"/>
            <a:ext cx="10515600" cy="274320"/>
          </a:xfrm>
          <a:prstGeom prst="roundRect">
            <a:avLst>
              <a:gd name="adj" fmla="val 23333"/>
            </a:avLst>
          </a:prstGeom>
          <a:solidFill>
            <a:srgbClr val="EFEBF8"/>
          </a:solidFill>
          <a:ln/>
        </p:spPr>
      </p:sp>
      <p:sp>
        <p:nvSpPr>
          <p:cNvPr id="15" name="Text 13"/>
          <p:cNvSpPr/>
          <p:nvPr/>
        </p:nvSpPr>
        <p:spPr>
          <a:xfrm>
            <a:off x="640080" y="2916936"/>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Bee Plus</a:t>
            </a:r>
            <a:endParaRPr lang="en-US" sz="1100" dirty="0"/>
          </a:p>
        </p:txBody>
      </p:sp>
      <p:sp>
        <p:nvSpPr>
          <p:cNvPr id="16" name="Shape 14"/>
          <p:cNvSpPr/>
          <p:nvPr/>
        </p:nvSpPr>
        <p:spPr>
          <a:xfrm>
            <a:off x="5029200" y="2980944"/>
            <a:ext cx="1311474" cy="155448"/>
          </a:xfrm>
          <a:prstGeom prst="roundRect">
            <a:avLst>
              <a:gd name="adj" fmla="val 50000"/>
            </a:avLst>
          </a:prstGeom>
          <a:solidFill>
            <a:srgbClr val="6C4FE0"/>
          </a:solidFill>
          <a:ln/>
        </p:spPr>
      </p:sp>
      <p:sp>
        <p:nvSpPr>
          <p:cNvPr id="17" name="Text 15"/>
          <p:cNvSpPr/>
          <p:nvPr/>
        </p:nvSpPr>
        <p:spPr>
          <a:xfrm>
            <a:off x="6413826" y="2916936"/>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$149</a:t>
            </a:r>
            <a:endParaRPr lang="en-US" sz="950" dirty="0"/>
          </a:p>
        </p:txBody>
      </p:sp>
      <p:sp>
        <p:nvSpPr>
          <p:cNvPr id="18" name="Text 16"/>
          <p:cNvSpPr/>
          <p:nvPr/>
        </p:nvSpPr>
        <p:spPr>
          <a:xfrm>
            <a:off x="640080" y="3218688"/>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IXL family plan</a:t>
            </a:r>
            <a:endParaRPr lang="en-US" sz="1000" dirty="0"/>
          </a:p>
        </p:txBody>
      </p:sp>
      <p:sp>
        <p:nvSpPr>
          <p:cNvPr id="19" name="Shape 17"/>
          <p:cNvSpPr/>
          <p:nvPr/>
        </p:nvSpPr>
        <p:spPr>
          <a:xfrm>
            <a:off x="5029200" y="3282696"/>
            <a:ext cx="1602176" cy="155448"/>
          </a:xfrm>
          <a:prstGeom prst="roundRect">
            <a:avLst>
              <a:gd name="adj" fmla="val 50000"/>
            </a:avLst>
          </a:prstGeom>
          <a:solidFill>
            <a:srgbClr val="C4453C"/>
          </a:solidFill>
          <a:ln/>
        </p:spPr>
      </p:sp>
      <p:sp>
        <p:nvSpPr>
          <p:cNvPr id="20" name="Text 18"/>
          <p:cNvSpPr/>
          <p:nvPr/>
        </p:nvSpPr>
        <p:spPr>
          <a:xfrm>
            <a:off x="6704528" y="3218688"/>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$240</a:t>
            </a:r>
            <a:endParaRPr lang="en-US" sz="950" dirty="0"/>
          </a:p>
        </p:txBody>
      </p:sp>
      <p:sp>
        <p:nvSpPr>
          <p:cNvPr id="21" name="Shape 19"/>
          <p:cNvSpPr/>
          <p:nvPr/>
        </p:nvSpPr>
        <p:spPr>
          <a:xfrm>
            <a:off x="530352" y="3520440"/>
            <a:ext cx="10515600" cy="274320"/>
          </a:xfrm>
          <a:prstGeom prst="roundRect">
            <a:avLst>
              <a:gd name="adj" fmla="val 23333"/>
            </a:avLst>
          </a:prstGeom>
          <a:solidFill>
            <a:srgbClr val="EFEBF8"/>
          </a:solidFill>
          <a:ln/>
        </p:spPr>
      </p:sp>
      <p:sp>
        <p:nvSpPr>
          <p:cNvPr id="22" name="Text 20"/>
          <p:cNvSpPr/>
          <p:nvPr/>
        </p:nvSpPr>
        <p:spPr>
          <a:xfrm>
            <a:off x="640080" y="3520440"/>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Advanced Pack</a:t>
            </a:r>
            <a:endParaRPr lang="en-US" sz="1100" dirty="0"/>
          </a:p>
        </p:txBody>
      </p:sp>
      <p:sp>
        <p:nvSpPr>
          <p:cNvPr id="23" name="Shape 21"/>
          <p:cNvSpPr/>
          <p:nvPr/>
        </p:nvSpPr>
        <p:spPr>
          <a:xfrm>
            <a:off x="5029200" y="3584448"/>
            <a:ext cx="1983490" cy="155448"/>
          </a:xfrm>
          <a:prstGeom prst="roundRect">
            <a:avLst>
              <a:gd name="adj" fmla="val 50000"/>
            </a:avLst>
          </a:prstGeom>
          <a:solidFill>
            <a:srgbClr val="6C4FE0"/>
          </a:solidFill>
          <a:ln/>
        </p:spPr>
      </p:sp>
      <p:sp>
        <p:nvSpPr>
          <p:cNvPr id="24" name="Text 22"/>
          <p:cNvSpPr/>
          <p:nvPr/>
        </p:nvSpPr>
        <p:spPr>
          <a:xfrm>
            <a:off x="7085842" y="3520440"/>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$399</a:t>
            </a:r>
            <a:endParaRPr lang="en-US" sz="950" dirty="0"/>
          </a:p>
        </p:txBody>
      </p:sp>
      <p:sp>
        <p:nvSpPr>
          <p:cNvPr id="25" name="Text 23"/>
          <p:cNvSpPr/>
          <p:nvPr/>
        </p:nvSpPr>
        <p:spPr>
          <a:xfrm>
            <a:off x="640080" y="382219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Atom Learning (UK 11+)</a:t>
            </a:r>
            <a:endParaRPr lang="en-US" sz="1000" dirty="0"/>
          </a:p>
        </p:txBody>
      </p:sp>
      <p:sp>
        <p:nvSpPr>
          <p:cNvPr id="26" name="Shape 24"/>
          <p:cNvSpPr/>
          <p:nvPr/>
        </p:nvSpPr>
        <p:spPr>
          <a:xfrm>
            <a:off x="5029200" y="3886200"/>
            <a:ext cx="1985576" cy="155448"/>
          </a:xfrm>
          <a:prstGeom prst="roundRect">
            <a:avLst>
              <a:gd name="adj" fmla="val 50000"/>
            </a:avLst>
          </a:prstGeom>
          <a:solidFill>
            <a:srgbClr val="C4453C"/>
          </a:solidFill>
          <a:ln/>
        </p:spPr>
      </p:sp>
      <p:sp>
        <p:nvSpPr>
          <p:cNvPr id="27" name="Text 25"/>
          <p:cNvSpPr/>
          <p:nvPr/>
        </p:nvSpPr>
        <p:spPr>
          <a:xfrm>
            <a:off x="7087928" y="382219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$400</a:t>
            </a:r>
            <a:endParaRPr lang="en-US" sz="950" dirty="0"/>
          </a:p>
        </p:txBody>
      </p:sp>
      <p:sp>
        <p:nvSpPr>
          <p:cNvPr id="28" name="Shape 26"/>
          <p:cNvSpPr/>
          <p:nvPr/>
        </p:nvSpPr>
        <p:spPr>
          <a:xfrm>
            <a:off x="530352" y="4123944"/>
            <a:ext cx="10515600" cy="274320"/>
          </a:xfrm>
          <a:prstGeom prst="roundRect">
            <a:avLst>
              <a:gd name="adj" fmla="val 23333"/>
            </a:avLst>
          </a:prstGeom>
          <a:solidFill>
            <a:srgbClr val="EFEBF8"/>
          </a:solidFill>
          <a:ln/>
        </p:spPr>
      </p:sp>
      <p:sp>
        <p:nvSpPr>
          <p:cNvPr id="29" name="Text 27"/>
          <p:cNvSpPr/>
          <p:nvPr/>
        </p:nvSpPr>
        <p:spPr>
          <a:xfrm>
            <a:off x="640080" y="4123944"/>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Family (whole house)</a:t>
            </a:r>
            <a:endParaRPr lang="en-US" sz="1100" dirty="0"/>
          </a:p>
        </p:txBody>
      </p:sp>
      <p:sp>
        <p:nvSpPr>
          <p:cNvPr id="30" name="Shape 28"/>
          <p:cNvSpPr/>
          <p:nvPr/>
        </p:nvSpPr>
        <p:spPr>
          <a:xfrm>
            <a:off x="5029200" y="4187952"/>
            <a:ext cx="2178831" cy="155448"/>
          </a:xfrm>
          <a:prstGeom prst="roundRect">
            <a:avLst>
              <a:gd name="adj" fmla="val 50000"/>
            </a:avLst>
          </a:prstGeom>
          <a:solidFill>
            <a:srgbClr val="6C4FE0"/>
          </a:solidFill>
          <a:ln/>
        </p:spPr>
      </p:sp>
      <p:sp>
        <p:nvSpPr>
          <p:cNvPr id="31" name="Text 29"/>
          <p:cNvSpPr/>
          <p:nvPr/>
        </p:nvSpPr>
        <p:spPr>
          <a:xfrm>
            <a:off x="7281183" y="4123944"/>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$499</a:t>
            </a:r>
            <a:endParaRPr lang="en-US" sz="950" dirty="0"/>
          </a:p>
        </p:txBody>
      </p:sp>
      <p:sp>
        <p:nvSpPr>
          <p:cNvPr id="32" name="Text 30"/>
          <p:cNvSpPr/>
          <p:nvPr/>
        </p:nvSpPr>
        <p:spPr>
          <a:xfrm>
            <a:off x="640080" y="4425696"/>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Hexco bee study packages</a:t>
            </a:r>
            <a:endParaRPr lang="en-US" sz="1000" dirty="0"/>
          </a:p>
        </p:txBody>
      </p:sp>
      <p:sp>
        <p:nvSpPr>
          <p:cNvPr id="33" name="Shape 31"/>
          <p:cNvSpPr/>
          <p:nvPr/>
        </p:nvSpPr>
        <p:spPr>
          <a:xfrm>
            <a:off x="5029200" y="4489704"/>
            <a:ext cx="2511670" cy="155448"/>
          </a:xfrm>
          <a:prstGeom prst="roundRect">
            <a:avLst>
              <a:gd name="adj" fmla="val 50000"/>
            </a:avLst>
          </a:prstGeom>
          <a:solidFill>
            <a:srgbClr val="178A4C"/>
          </a:solidFill>
          <a:ln/>
        </p:spPr>
      </p:sp>
      <p:sp>
        <p:nvSpPr>
          <p:cNvPr id="34" name="Text 32"/>
          <p:cNvSpPr/>
          <p:nvPr/>
        </p:nvSpPr>
        <p:spPr>
          <a:xfrm>
            <a:off x="7614022" y="4425696"/>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$700</a:t>
            </a:r>
            <a:endParaRPr lang="en-US" sz="950" dirty="0"/>
          </a:p>
        </p:txBody>
      </p:sp>
      <p:sp>
        <p:nvSpPr>
          <p:cNvPr id="35" name="Shape 33"/>
          <p:cNvSpPr/>
          <p:nvPr/>
        </p:nvSpPr>
        <p:spPr>
          <a:xfrm>
            <a:off x="530352" y="4727448"/>
            <a:ext cx="10515600" cy="274320"/>
          </a:xfrm>
          <a:prstGeom prst="roundRect">
            <a:avLst>
              <a:gd name="adj" fmla="val 23333"/>
            </a:avLst>
          </a:prstGeom>
          <a:solidFill>
            <a:srgbClr val="EFEBF8"/>
          </a:solidFill>
          <a:ln/>
        </p:spPr>
      </p:sp>
      <p:sp>
        <p:nvSpPr>
          <p:cNvPr id="36" name="Text 34"/>
          <p:cNvSpPr/>
          <p:nvPr/>
        </p:nvSpPr>
        <p:spPr>
          <a:xfrm>
            <a:off x="640080" y="4727448"/>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Business cohort</a:t>
            </a:r>
            <a:endParaRPr lang="en-US" sz="1100" dirty="0"/>
          </a:p>
        </p:txBody>
      </p:sp>
      <p:sp>
        <p:nvSpPr>
          <p:cNvPr id="37" name="Shape 35"/>
          <p:cNvSpPr/>
          <p:nvPr/>
        </p:nvSpPr>
        <p:spPr>
          <a:xfrm>
            <a:off x="5029200" y="4791456"/>
            <a:ext cx="2916345" cy="155448"/>
          </a:xfrm>
          <a:prstGeom prst="roundRect">
            <a:avLst>
              <a:gd name="adj" fmla="val 50000"/>
            </a:avLst>
          </a:prstGeom>
          <a:solidFill>
            <a:srgbClr val="6C4FE0"/>
          </a:solidFill>
          <a:ln/>
        </p:spPr>
      </p:sp>
      <p:sp>
        <p:nvSpPr>
          <p:cNvPr id="38" name="Text 36"/>
          <p:cNvSpPr/>
          <p:nvPr/>
        </p:nvSpPr>
        <p:spPr>
          <a:xfrm>
            <a:off x="8018697" y="4727448"/>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$999</a:t>
            </a:r>
            <a:endParaRPr lang="en-US" sz="950" dirty="0"/>
          </a:p>
        </p:txBody>
      </p:sp>
      <p:sp>
        <p:nvSpPr>
          <p:cNvPr id="39" name="Text 37"/>
          <p:cNvSpPr/>
          <p:nvPr/>
        </p:nvSpPr>
        <p:spPr>
          <a:xfrm>
            <a:off x="640080" y="5029200"/>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Kumon, one subject</a:t>
            </a:r>
            <a:endParaRPr lang="en-US" sz="1000" dirty="0"/>
          </a:p>
        </p:txBody>
      </p:sp>
      <p:sp>
        <p:nvSpPr>
          <p:cNvPr id="40" name="Shape 38"/>
          <p:cNvSpPr/>
          <p:nvPr/>
        </p:nvSpPr>
        <p:spPr>
          <a:xfrm>
            <a:off x="5029200" y="5093208"/>
            <a:ext cx="3903498" cy="155448"/>
          </a:xfrm>
          <a:prstGeom prst="roundRect">
            <a:avLst>
              <a:gd name="adj" fmla="val 50000"/>
            </a:avLst>
          </a:prstGeom>
          <a:solidFill>
            <a:srgbClr val="178A4C"/>
          </a:solidFill>
          <a:ln/>
        </p:spPr>
      </p:sp>
      <p:sp>
        <p:nvSpPr>
          <p:cNvPr id="41" name="Text 39"/>
          <p:cNvSpPr/>
          <p:nvPr/>
        </p:nvSpPr>
        <p:spPr>
          <a:xfrm>
            <a:off x="9005850" y="5029200"/>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$2,000</a:t>
            </a:r>
            <a:endParaRPr lang="en-US" sz="950" dirty="0"/>
          </a:p>
        </p:txBody>
      </p:sp>
      <p:sp>
        <p:nvSpPr>
          <p:cNvPr id="42" name="Text 40"/>
          <p:cNvSpPr/>
          <p:nvPr/>
        </p:nvSpPr>
        <p:spPr>
          <a:xfrm>
            <a:off x="640080" y="533095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Summer business camp, one week</a:t>
            </a:r>
            <a:endParaRPr lang="en-US" sz="1000" dirty="0"/>
          </a:p>
        </p:txBody>
      </p:sp>
      <p:sp>
        <p:nvSpPr>
          <p:cNvPr id="43" name="Shape 41"/>
          <p:cNvSpPr/>
          <p:nvPr/>
        </p:nvSpPr>
        <p:spPr>
          <a:xfrm>
            <a:off x="5029200" y="5394960"/>
            <a:ext cx="4062926" cy="155448"/>
          </a:xfrm>
          <a:prstGeom prst="roundRect">
            <a:avLst>
              <a:gd name="adj" fmla="val 50000"/>
            </a:avLst>
          </a:prstGeom>
          <a:solidFill>
            <a:srgbClr val="178A4C"/>
          </a:solidFill>
          <a:ln/>
        </p:spPr>
      </p:sp>
      <p:sp>
        <p:nvSpPr>
          <p:cNvPr id="44" name="Text 42"/>
          <p:cNvSpPr/>
          <p:nvPr/>
        </p:nvSpPr>
        <p:spPr>
          <a:xfrm>
            <a:off x="9165278" y="533095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$2,200</a:t>
            </a:r>
            <a:endParaRPr lang="en-US" sz="950" dirty="0"/>
          </a:p>
        </p:txBody>
      </p:sp>
      <p:sp>
        <p:nvSpPr>
          <p:cNvPr id="45" name="Text 43"/>
          <p:cNvSpPr/>
          <p:nvPr/>
        </p:nvSpPr>
        <p:spPr>
          <a:xfrm>
            <a:off x="640080" y="5632704"/>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UK 11+ tutoring, exam year</a:t>
            </a:r>
            <a:endParaRPr lang="en-US" sz="1000" dirty="0"/>
          </a:p>
        </p:txBody>
      </p:sp>
      <p:sp>
        <p:nvSpPr>
          <p:cNvPr id="46" name="Shape 44"/>
          <p:cNvSpPr/>
          <p:nvPr/>
        </p:nvSpPr>
        <p:spPr>
          <a:xfrm>
            <a:off x="5029200" y="5696712"/>
            <a:ext cx="4628202" cy="155448"/>
          </a:xfrm>
          <a:prstGeom prst="roundRect">
            <a:avLst>
              <a:gd name="adj" fmla="val 50000"/>
            </a:avLst>
          </a:prstGeom>
          <a:solidFill>
            <a:srgbClr val="178A4C"/>
          </a:solidFill>
          <a:ln/>
        </p:spPr>
      </p:sp>
      <p:sp>
        <p:nvSpPr>
          <p:cNvPr id="47" name="Text 45"/>
          <p:cNvSpPr/>
          <p:nvPr/>
        </p:nvSpPr>
        <p:spPr>
          <a:xfrm>
            <a:off x="9730554" y="5632704"/>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$3,000</a:t>
            </a:r>
            <a:endParaRPr lang="en-US" sz="950" dirty="0"/>
          </a:p>
        </p:txBody>
      </p:sp>
      <p:sp>
        <p:nvSpPr>
          <p:cNvPr id="48" name="Text 46"/>
          <p:cNvSpPr/>
          <p:nvPr/>
        </p:nvSpPr>
        <p:spPr>
          <a:xfrm>
            <a:off x="640080" y="5934456"/>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Bee coach — weekly, one hour</a:t>
            </a:r>
            <a:endParaRPr lang="en-US" sz="1000" dirty="0"/>
          </a:p>
        </p:txBody>
      </p:sp>
      <p:sp>
        <p:nvSpPr>
          <p:cNvPr id="49" name="Shape 47"/>
          <p:cNvSpPr/>
          <p:nvPr/>
        </p:nvSpPr>
        <p:spPr>
          <a:xfrm>
            <a:off x="5029200" y="5998464"/>
            <a:ext cx="4937760" cy="155448"/>
          </a:xfrm>
          <a:prstGeom prst="roundRect">
            <a:avLst>
              <a:gd name="adj" fmla="val 50000"/>
            </a:avLst>
          </a:prstGeom>
          <a:solidFill>
            <a:srgbClr val="178A4C"/>
          </a:solidFill>
          <a:ln/>
        </p:spPr>
      </p:sp>
      <p:sp>
        <p:nvSpPr>
          <p:cNvPr id="50" name="Text 48"/>
          <p:cNvSpPr/>
          <p:nvPr/>
        </p:nvSpPr>
        <p:spPr>
          <a:xfrm>
            <a:off x="10040112" y="5934456"/>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$3,500</a:t>
            </a:r>
            <a:endParaRPr lang="en-US" sz="950" dirty="0"/>
          </a:p>
        </p:txBody>
      </p:sp>
      <p:sp>
        <p:nvSpPr>
          <p:cNvPr id="51" name="Shape 49"/>
          <p:cNvSpPr/>
          <p:nvPr/>
        </p:nvSpPr>
        <p:spPr>
          <a:xfrm>
            <a:off x="10351008" y="2084832"/>
            <a:ext cx="1170432" cy="274320"/>
          </a:xfrm>
          <a:prstGeom prst="roundRect">
            <a:avLst>
              <a:gd name="adj" fmla="val 50000"/>
            </a:avLst>
          </a:prstGeom>
          <a:solidFill>
            <a:srgbClr val="C4453C"/>
          </a:solidFill>
          <a:ln/>
        </p:spPr>
      </p:sp>
      <p:sp>
        <p:nvSpPr>
          <p:cNvPr id="52" name="Text 50"/>
          <p:cNvSpPr/>
          <p:nvPr/>
        </p:nvSpPr>
        <p:spPr>
          <a:xfrm>
            <a:off x="10351008" y="208483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APPS</a:t>
            </a:r>
            <a:endParaRPr lang="en-US" sz="800" dirty="0"/>
          </a:p>
        </p:txBody>
      </p:sp>
      <p:sp>
        <p:nvSpPr>
          <p:cNvPr id="53" name="Shape 51"/>
          <p:cNvSpPr/>
          <p:nvPr/>
        </p:nvSpPr>
        <p:spPr>
          <a:xfrm>
            <a:off x="10351008" y="2450592"/>
            <a:ext cx="1170432" cy="274320"/>
          </a:xfrm>
          <a:prstGeom prst="roundRect">
            <a:avLst>
              <a:gd name="adj" fmla="val 50000"/>
            </a:avLst>
          </a:prstGeom>
          <a:solidFill>
            <a:srgbClr val="6C4FE0"/>
          </a:solidFill>
          <a:ln/>
        </p:spPr>
      </p:sp>
      <p:sp>
        <p:nvSpPr>
          <p:cNvPr id="54" name="Text 52"/>
          <p:cNvSpPr/>
          <p:nvPr/>
        </p:nvSpPr>
        <p:spPr>
          <a:xfrm>
            <a:off x="10351008" y="245059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BIZZING</a:t>
            </a:r>
            <a:endParaRPr lang="en-US" sz="800" dirty="0"/>
          </a:p>
        </p:txBody>
      </p:sp>
      <p:sp>
        <p:nvSpPr>
          <p:cNvPr id="55" name="Shape 53"/>
          <p:cNvSpPr/>
          <p:nvPr/>
        </p:nvSpPr>
        <p:spPr>
          <a:xfrm>
            <a:off x="10351008" y="2816352"/>
            <a:ext cx="1170432" cy="274320"/>
          </a:xfrm>
          <a:prstGeom prst="roundRect">
            <a:avLst>
              <a:gd name="adj" fmla="val 50000"/>
            </a:avLst>
          </a:prstGeom>
          <a:solidFill>
            <a:srgbClr val="178A4C"/>
          </a:solidFill>
          <a:ln/>
        </p:spPr>
      </p:sp>
      <p:sp>
        <p:nvSpPr>
          <p:cNvPr id="56" name="Text 54"/>
          <p:cNvSpPr/>
          <p:nvPr/>
        </p:nvSpPr>
        <p:spPr>
          <a:xfrm>
            <a:off x="10351008" y="281635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TUTORING</a:t>
            </a:r>
            <a:endParaRPr lang="en-US" sz="800" dirty="0"/>
          </a:p>
        </p:txBody>
      </p:sp>
      <p:sp>
        <p:nvSpPr>
          <p:cNvPr id="57" name="Text 55"/>
          <p:cNvSpPr/>
          <p:nvPr/>
        </p:nvSpPr>
        <p:spPr>
          <a:xfrm>
            <a:off x="10332720" y="3310128"/>
            <a:ext cx="1417320" cy="822960"/>
          </a:xfrm>
          <a:prstGeom prst="rect">
            <a:avLst/>
          </a:prstGeom>
          <a:noFill/>
          <a:ln/>
        </p:spPr>
        <p:txBody>
          <a:bodyPr wrap="square" lIns="0" tIns="0" rIns="0" bIns="0" rtlCol="0" anchor="ctr"/>
          <a:lstStyle/>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Annual cost, US dollars.</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Log-ish scale so a $30 app</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and a $3,500 coach share</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one axis.</a:t>
            </a:r>
            <a:endParaRPr lang="en-US" sz="750" dirty="0"/>
          </a:p>
        </p:txBody>
      </p:sp>
      <p:sp>
        <p:nvSpPr>
          <p:cNvPr id="58" name="Shape 56"/>
          <p:cNvSpPr/>
          <p:nvPr/>
        </p:nvSpPr>
        <p:spPr>
          <a:xfrm>
            <a:off x="640080" y="6364224"/>
            <a:ext cx="10607040" cy="365760"/>
          </a:xfrm>
          <a:prstGeom prst="roundRect">
            <a:avLst>
              <a:gd name="adj" fmla="val 25000"/>
            </a:avLst>
          </a:prstGeom>
          <a:solidFill>
            <a:srgbClr val="FBF3E0"/>
          </a:solidFill>
          <a:ln/>
        </p:spPr>
      </p:sp>
      <p:sp>
        <p:nvSpPr>
          <p:cNvPr id="59" name="Text 57"/>
          <p:cNvSpPr/>
          <p:nvPr/>
        </p:nvSpPr>
        <p:spPr>
          <a:xfrm>
            <a:off x="859536" y="6364224"/>
            <a:ext cx="10149840" cy="365760"/>
          </a:xfrm>
          <a:prstGeom prst="rect">
            <a:avLst/>
          </a:prstGeom>
          <a:noFill/>
          <a:ln/>
        </p:spPr>
        <p:txBody>
          <a:bodyPr wrap="square" lIns="0" tIns="0" rIns="0" bIns="0" rtlCol="0" anchor="ctr"/>
          <a:lstStyle/>
          <a:p>
            <a:pPr indent="0" marL="0">
              <a:buNone/>
            </a:pPr>
            <a:r>
              <a:rPr lang="en-US" sz="950" b="1" dirty="0">
                <a:solidFill>
                  <a:srgbClr val="8A5B00"/>
                </a:solidFill>
                <a:latin typeface="Calibri" pitchFamily="34" charset="0"/>
                <a:ea typeface="Calibri" pitchFamily="34" charset="-122"/>
                <a:cs typeface="Calibri" pitchFamily="34" charset="-120"/>
              </a:rPr>
              <a:t>⚠ Verify before showing externally:  </a:t>
            </a:r>
            <a:pPr indent="0" marL="0">
              <a:buNone/>
            </a:pPr>
            <a:r>
              <a:rPr lang="en-US" sz="950" dirty="0">
                <a:solidFill>
                  <a:srgbClr val="8A5B00"/>
                </a:solidFill>
                <a:latin typeface="Calibri" pitchFamily="34" charset="0"/>
                <a:ea typeface="Calibri" pitchFamily="34" charset="-122"/>
                <a:cs typeface="Calibri" pitchFamily="34" charset="-120"/>
              </a:rPr>
              <a:t>these benchmark prices are from working knowledge, not from live pricing pages pulled today. Atom and Kumon in particular vary by region and change often. Check each before this slide leaves the building.</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SUBSCRIPTION MODELS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each product charges</a:t>
            </a:r>
            <a:endParaRPr lang="en-US" sz="290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Every price is annual and billed up front. That single billing choice is what puts the cash in before the cost goes out.</a:t>
            </a:r>
            <a:endParaRPr lang="en-US" sz="1450" dirty="0"/>
          </a:p>
        </p:txBody>
      </p:sp>
      <p:sp>
        <p:nvSpPr>
          <p:cNvPr id="5" name="Shape 3"/>
          <p:cNvSpPr/>
          <p:nvPr/>
        </p:nvSpPr>
        <p:spPr>
          <a:xfrm>
            <a:off x="512064" y="2029968"/>
            <a:ext cx="10954512" cy="448056"/>
          </a:xfrm>
          <a:prstGeom prst="roundRect">
            <a:avLst>
              <a:gd name="adj" fmla="val 18367"/>
            </a:avLst>
          </a:prstGeom>
          <a:solidFill>
            <a:srgbClr val="EFEBF8"/>
          </a:solidFill>
          <a:ln/>
        </p:spPr>
      </p:sp>
      <p:sp>
        <p:nvSpPr>
          <p:cNvPr id="6" name="Text 4"/>
          <p:cNvSpPr/>
          <p:nvPr/>
        </p:nvSpPr>
        <p:spPr>
          <a:xfrm>
            <a:off x="640080" y="2066544"/>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Bee</a:t>
            </a:r>
            <a:endParaRPr lang="en-US" sz="1200" dirty="0"/>
          </a:p>
        </p:txBody>
      </p:sp>
      <p:sp>
        <p:nvSpPr>
          <p:cNvPr id="7" name="Text 5"/>
          <p:cNvSpPr/>
          <p:nvPr/>
        </p:nvSpPr>
        <p:spPr>
          <a:xfrm>
            <a:off x="2926080" y="2066544"/>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Free</a:t>
            </a:r>
            <a:endParaRPr lang="en-US" sz="950" dirty="0"/>
          </a:p>
        </p:txBody>
      </p:sp>
      <p:sp>
        <p:nvSpPr>
          <p:cNvPr id="8" name="Text 6"/>
          <p:cNvSpPr/>
          <p:nvPr/>
        </p:nvSpPr>
        <p:spPr>
          <a:xfrm>
            <a:off x="4343400" y="2066544"/>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$0</a:t>
            </a:r>
            <a:endParaRPr lang="en-US" sz="1200" dirty="0"/>
          </a:p>
        </p:txBody>
      </p:sp>
      <p:sp>
        <p:nvSpPr>
          <p:cNvPr id="9" name="Text 7"/>
          <p:cNvSpPr/>
          <p:nvPr/>
        </p:nvSpPr>
        <p:spPr>
          <a:xfrm>
            <a:off x="5852160" y="2066544"/>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Full library, journey, arcade. Most families never pay — and that is what makes them trust us.</a:t>
            </a:r>
            <a:endParaRPr lang="en-US" sz="950" dirty="0"/>
          </a:p>
        </p:txBody>
      </p:sp>
      <p:sp>
        <p:nvSpPr>
          <p:cNvPr id="10" name="Text 8"/>
          <p:cNvSpPr/>
          <p:nvPr/>
        </p:nvSpPr>
        <p:spPr>
          <a:xfrm>
            <a:off x="640080" y="2542032"/>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Bee Plus</a:t>
            </a:r>
            <a:endParaRPr lang="en-US" sz="1200" dirty="0"/>
          </a:p>
        </p:txBody>
      </p:sp>
      <p:sp>
        <p:nvSpPr>
          <p:cNvPr id="11" name="Text 9"/>
          <p:cNvSpPr/>
          <p:nvPr/>
        </p:nvSpPr>
        <p:spPr>
          <a:xfrm>
            <a:off x="2926080" y="2542032"/>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12" name="Text 10"/>
          <p:cNvSpPr/>
          <p:nvPr/>
        </p:nvSpPr>
        <p:spPr>
          <a:xfrm>
            <a:off x="4343400" y="2542032"/>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$149 / yr</a:t>
            </a:r>
            <a:endParaRPr lang="en-US" sz="1200" dirty="0"/>
          </a:p>
        </p:txBody>
      </p:sp>
      <p:sp>
        <p:nvSpPr>
          <p:cNvPr id="13" name="Text 11"/>
          <p:cNvSpPr/>
          <p:nvPr/>
        </p:nvSpPr>
        <p:spPr>
          <a:xfrm>
            <a:off x="5852160" y="2542032"/>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One twenty-third of a weekly bee coach. The default upgrade.</a:t>
            </a:r>
            <a:endParaRPr lang="en-US" sz="950" dirty="0"/>
          </a:p>
        </p:txBody>
      </p:sp>
      <p:sp>
        <p:nvSpPr>
          <p:cNvPr id="14" name="Shape 12"/>
          <p:cNvSpPr/>
          <p:nvPr/>
        </p:nvSpPr>
        <p:spPr>
          <a:xfrm>
            <a:off x="512064" y="2980944"/>
            <a:ext cx="10954512" cy="448056"/>
          </a:xfrm>
          <a:prstGeom prst="roundRect">
            <a:avLst>
              <a:gd name="adj" fmla="val 18367"/>
            </a:avLst>
          </a:prstGeom>
          <a:solidFill>
            <a:srgbClr val="EFEBF8"/>
          </a:solidFill>
          <a:ln/>
        </p:spPr>
      </p:sp>
      <p:sp>
        <p:nvSpPr>
          <p:cNvPr id="15" name="Text 13"/>
          <p:cNvSpPr/>
          <p:nvPr/>
        </p:nvSpPr>
        <p:spPr>
          <a:xfrm>
            <a:off x="640080" y="3017520"/>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Advanced Pack</a:t>
            </a:r>
            <a:endParaRPr lang="en-US" sz="1200" dirty="0"/>
          </a:p>
        </p:txBody>
      </p:sp>
      <p:sp>
        <p:nvSpPr>
          <p:cNvPr id="16" name="Text 14"/>
          <p:cNvSpPr/>
          <p:nvPr/>
        </p:nvSpPr>
        <p:spPr>
          <a:xfrm>
            <a:off x="2926080" y="3017520"/>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17" name="Text 15"/>
          <p:cNvSpPr/>
          <p:nvPr/>
        </p:nvSpPr>
        <p:spPr>
          <a:xfrm>
            <a:off x="4343400" y="3017520"/>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$399 / yr</a:t>
            </a:r>
            <a:endParaRPr lang="en-US" sz="1200" dirty="0"/>
          </a:p>
        </p:txBody>
      </p:sp>
      <p:sp>
        <p:nvSpPr>
          <p:cNvPr id="18" name="Text 16"/>
          <p:cNvSpPr/>
          <p:nvPr/>
        </p:nvSpPr>
        <p:spPr>
          <a:xfrm>
            <a:off x="5852160" y="3017520"/>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The champion track. Sits against Hexco packages and coaching, not against apps.</a:t>
            </a:r>
            <a:endParaRPr lang="en-US" sz="950" dirty="0"/>
          </a:p>
        </p:txBody>
      </p:sp>
      <p:sp>
        <p:nvSpPr>
          <p:cNvPr id="19" name="Text 17"/>
          <p:cNvSpPr/>
          <p:nvPr/>
        </p:nvSpPr>
        <p:spPr>
          <a:xfrm>
            <a:off x="640080" y="3493008"/>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Eleven</a:t>
            </a:r>
            <a:endParaRPr lang="en-US" sz="1200" dirty="0"/>
          </a:p>
        </p:txBody>
      </p:sp>
      <p:sp>
        <p:nvSpPr>
          <p:cNvPr id="20" name="Text 18"/>
          <p:cNvSpPr/>
          <p:nvPr/>
        </p:nvSpPr>
        <p:spPr>
          <a:xfrm>
            <a:off x="2926080" y="3493008"/>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Exam year</a:t>
            </a:r>
            <a:endParaRPr lang="en-US" sz="950" dirty="0"/>
          </a:p>
        </p:txBody>
      </p:sp>
      <p:sp>
        <p:nvSpPr>
          <p:cNvPr id="21" name="Text 19"/>
          <p:cNvSpPr/>
          <p:nvPr/>
        </p:nvSpPr>
        <p:spPr>
          <a:xfrm>
            <a:off x="4343400" y="3493008"/>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$349 / yr</a:t>
            </a:r>
            <a:endParaRPr lang="en-US" sz="1200" dirty="0"/>
          </a:p>
        </p:txBody>
      </p:sp>
      <p:sp>
        <p:nvSpPr>
          <p:cNvPr id="22" name="Text 20"/>
          <p:cNvSpPr/>
          <p:nvPr/>
        </p:nvSpPr>
        <p:spPr>
          <a:xfrm>
            <a:off x="5852160" y="3493008"/>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Atom Learning is ~$400 and does not speak every word. 11+ tutoring is ten times this.</a:t>
            </a:r>
            <a:endParaRPr lang="en-US" sz="950" dirty="0"/>
          </a:p>
        </p:txBody>
      </p:sp>
      <p:sp>
        <p:nvSpPr>
          <p:cNvPr id="23" name="Shape 21"/>
          <p:cNvSpPr/>
          <p:nvPr/>
        </p:nvSpPr>
        <p:spPr>
          <a:xfrm>
            <a:off x="512064" y="3931920"/>
            <a:ext cx="10954512" cy="448056"/>
          </a:xfrm>
          <a:prstGeom prst="roundRect">
            <a:avLst>
              <a:gd name="adj" fmla="val 18367"/>
            </a:avLst>
          </a:prstGeom>
          <a:solidFill>
            <a:srgbClr val="EFEBF8"/>
          </a:solidFill>
          <a:ln/>
        </p:spPr>
      </p:sp>
      <p:sp>
        <p:nvSpPr>
          <p:cNvPr id="24" name="Text 22"/>
          <p:cNvSpPr/>
          <p:nvPr/>
        </p:nvSpPr>
        <p:spPr>
          <a:xfrm>
            <a:off x="640080" y="3968496"/>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Bhasha</a:t>
            </a:r>
            <a:endParaRPr lang="en-US" sz="1200" dirty="0"/>
          </a:p>
        </p:txBody>
      </p:sp>
      <p:sp>
        <p:nvSpPr>
          <p:cNvPr id="25" name="Text 23"/>
          <p:cNvSpPr/>
          <p:nvPr/>
        </p:nvSpPr>
        <p:spPr>
          <a:xfrm>
            <a:off x="2926080" y="3968496"/>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Per language</a:t>
            </a:r>
            <a:endParaRPr lang="en-US" sz="950" dirty="0"/>
          </a:p>
        </p:txBody>
      </p:sp>
      <p:sp>
        <p:nvSpPr>
          <p:cNvPr id="26" name="Text 24"/>
          <p:cNvSpPr/>
          <p:nvPr/>
        </p:nvSpPr>
        <p:spPr>
          <a:xfrm>
            <a:off x="4343400" y="3968496"/>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$199 / yr</a:t>
            </a:r>
            <a:endParaRPr lang="en-US" sz="1200" dirty="0"/>
          </a:p>
        </p:txBody>
      </p:sp>
      <p:sp>
        <p:nvSpPr>
          <p:cNvPr id="27" name="Text 25"/>
          <p:cNvSpPr/>
          <p:nvPr/>
        </p:nvSpPr>
        <p:spPr>
          <a:xfrm>
            <a:off x="5852160" y="3968496"/>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Heritage-language tutoring runs $40–60 an hour. Nothing comparable exists as software.</a:t>
            </a:r>
            <a:endParaRPr lang="en-US" sz="950" dirty="0"/>
          </a:p>
        </p:txBody>
      </p:sp>
      <p:sp>
        <p:nvSpPr>
          <p:cNvPr id="28" name="Text 26"/>
          <p:cNvSpPr/>
          <p:nvPr/>
        </p:nvSpPr>
        <p:spPr>
          <a:xfrm>
            <a:off x="640080" y="4443984"/>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Maths · English · Finance</a:t>
            </a:r>
            <a:endParaRPr lang="en-US" sz="1200" dirty="0"/>
          </a:p>
        </p:txBody>
      </p:sp>
      <p:sp>
        <p:nvSpPr>
          <p:cNvPr id="29" name="Text 27"/>
          <p:cNvSpPr/>
          <p:nvPr/>
        </p:nvSpPr>
        <p:spPr>
          <a:xfrm>
            <a:off x="2926080" y="4443984"/>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30" name="Text 28"/>
          <p:cNvSpPr/>
          <p:nvPr/>
        </p:nvSpPr>
        <p:spPr>
          <a:xfrm>
            <a:off x="4343400" y="4443984"/>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$149 / yr</a:t>
            </a:r>
            <a:endParaRPr lang="en-US" sz="1200" dirty="0"/>
          </a:p>
        </p:txBody>
      </p:sp>
      <p:sp>
        <p:nvSpPr>
          <p:cNvPr id="31" name="Text 29"/>
          <p:cNvSpPr/>
          <p:nvPr/>
        </p:nvSpPr>
        <p:spPr>
          <a:xfrm>
            <a:off x="5852160" y="4443984"/>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Priced to be added without a family meeting.</a:t>
            </a:r>
            <a:endParaRPr lang="en-US" sz="950" dirty="0"/>
          </a:p>
        </p:txBody>
      </p:sp>
      <p:sp>
        <p:nvSpPr>
          <p:cNvPr id="32" name="Shape 30"/>
          <p:cNvSpPr/>
          <p:nvPr/>
        </p:nvSpPr>
        <p:spPr>
          <a:xfrm>
            <a:off x="512064" y="4882896"/>
            <a:ext cx="10954512" cy="448056"/>
          </a:xfrm>
          <a:prstGeom prst="roundRect">
            <a:avLst>
              <a:gd name="adj" fmla="val 18367"/>
            </a:avLst>
          </a:prstGeom>
          <a:solidFill>
            <a:srgbClr val="EFEBF8"/>
          </a:solidFill>
          <a:ln/>
        </p:spPr>
      </p:sp>
      <p:sp>
        <p:nvSpPr>
          <p:cNvPr id="33" name="Text 31"/>
          <p:cNvSpPr/>
          <p:nvPr/>
        </p:nvSpPr>
        <p:spPr>
          <a:xfrm>
            <a:off x="640080" y="4919472"/>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Bizzing Family</a:t>
            </a:r>
            <a:endParaRPr lang="en-US" sz="1200" dirty="0"/>
          </a:p>
        </p:txBody>
      </p:sp>
      <p:sp>
        <p:nvSpPr>
          <p:cNvPr id="34" name="Text 32"/>
          <p:cNvSpPr/>
          <p:nvPr/>
        </p:nvSpPr>
        <p:spPr>
          <a:xfrm>
            <a:off x="2926080" y="4919472"/>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Everything</a:t>
            </a:r>
            <a:endParaRPr lang="en-US" sz="950" dirty="0"/>
          </a:p>
        </p:txBody>
      </p:sp>
      <p:sp>
        <p:nvSpPr>
          <p:cNvPr id="35" name="Text 33"/>
          <p:cNvSpPr/>
          <p:nvPr/>
        </p:nvSpPr>
        <p:spPr>
          <a:xfrm>
            <a:off x="4343400" y="4919472"/>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$499 / yr</a:t>
            </a:r>
            <a:endParaRPr lang="en-US" sz="1200" dirty="0"/>
          </a:p>
        </p:txBody>
      </p:sp>
      <p:sp>
        <p:nvSpPr>
          <p:cNvPr id="36" name="Text 34"/>
          <p:cNvSpPr/>
          <p:nvPr/>
        </p:nvSpPr>
        <p:spPr>
          <a:xfrm>
            <a:off x="5852160" y="4919472"/>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Whole house, up to four children. Cheaper than any three packs — the SKU that makes a twelve-year household real.</a:t>
            </a:r>
            <a:endParaRPr lang="en-US" sz="950" dirty="0"/>
          </a:p>
        </p:txBody>
      </p:sp>
      <p:sp>
        <p:nvSpPr>
          <p:cNvPr id="37" name="Text 35"/>
          <p:cNvSpPr/>
          <p:nvPr/>
        </p:nvSpPr>
        <p:spPr>
          <a:xfrm>
            <a:off x="640080" y="5394960"/>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Business</a:t>
            </a:r>
            <a:endParaRPr lang="en-US" sz="1200" dirty="0"/>
          </a:p>
        </p:txBody>
      </p:sp>
      <p:sp>
        <p:nvSpPr>
          <p:cNvPr id="38" name="Text 36"/>
          <p:cNvSpPr/>
          <p:nvPr/>
        </p:nvSpPr>
        <p:spPr>
          <a:xfrm>
            <a:off x="2926080" y="5394960"/>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Cohort</a:t>
            </a:r>
            <a:endParaRPr lang="en-US" sz="950" dirty="0"/>
          </a:p>
        </p:txBody>
      </p:sp>
      <p:sp>
        <p:nvSpPr>
          <p:cNvPr id="39" name="Text 37"/>
          <p:cNvSpPr/>
          <p:nvPr/>
        </p:nvSpPr>
        <p:spPr>
          <a:xfrm>
            <a:off x="4343400" y="5394960"/>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$999</a:t>
            </a:r>
            <a:endParaRPr lang="en-US" sz="1200" dirty="0"/>
          </a:p>
        </p:txBody>
      </p:sp>
      <p:sp>
        <p:nvSpPr>
          <p:cNvPr id="40" name="Text 38"/>
          <p:cNvSpPr/>
          <p:nvPr/>
        </p:nvSpPr>
        <p:spPr>
          <a:xfrm>
            <a:off x="5852160" y="5394960"/>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Eight weeks, a team, a mentor, a demo day. A one-week summer camp is $2,200.</a:t>
            </a:r>
            <a:endParaRPr lang="en-US" sz="950" dirty="0"/>
          </a:p>
        </p:txBody>
      </p:sp>
      <p:sp>
        <p:nvSpPr>
          <p:cNvPr id="41" name="Shape 39"/>
          <p:cNvSpPr/>
          <p:nvPr/>
        </p:nvSpPr>
        <p:spPr>
          <a:xfrm>
            <a:off x="512064" y="5833872"/>
            <a:ext cx="10954512" cy="448056"/>
          </a:xfrm>
          <a:prstGeom prst="roundRect">
            <a:avLst>
              <a:gd name="adj" fmla="val 18367"/>
            </a:avLst>
          </a:prstGeom>
          <a:solidFill>
            <a:srgbClr val="EFEBF8"/>
          </a:solidFill>
          <a:ln/>
        </p:spPr>
      </p:sp>
      <p:sp>
        <p:nvSpPr>
          <p:cNvPr id="42" name="Text 40"/>
          <p:cNvSpPr/>
          <p:nvPr/>
        </p:nvSpPr>
        <p:spPr>
          <a:xfrm>
            <a:off x="640080" y="5870448"/>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India edition</a:t>
            </a:r>
            <a:endParaRPr lang="en-US" sz="1200" dirty="0"/>
          </a:p>
        </p:txBody>
      </p:sp>
      <p:sp>
        <p:nvSpPr>
          <p:cNvPr id="43" name="Text 41"/>
          <p:cNvSpPr/>
          <p:nvPr/>
        </p:nvSpPr>
        <p:spPr>
          <a:xfrm>
            <a:off x="2926080" y="5870448"/>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All products</a:t>
            </a:r>
            <a:endParaRPr lang="en-US" sz="950" dirty="0"/>
          </a:p>
        </p:txBody>
      </p:sp>
      <p:sp>
        <p:nvSpPr>
          <p:cNvPr id="44" name="Text 42"/>
          <p:cNvSpPr/>
          <p:nvPr/>
        </p:nvSpPr>
        <p:spPr>
          <a:xfrm>
            <a:off x="4343400" y="5870448"/>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 $49 / yr</a:t>
            </a:r>
            <a:endParaRPr lang="en-US" sz="1200" dirty="0"/>
          </a:p>
        </p:txBody>
      </p:sp>
      <p:sp>
        <p:nvSpPr>
          <p:cNvPr id="45" name="Text 43"/>
          <p:cNvSpPr/>
          <p:nvPr/>
        </p:nvSpPr>
        <p:spPr>
          <a:xfrm>
            <a:off x="5852160" y="5870448"/>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Roughly ₹3,999. A different market at a different price, not a discount.</a:t>
            </a:r>
            <a:endParaRPr lang="en-US" sz="950" dirty="0"/>
          </a:p>
        </p:txBody>
      </p:sp>
      <p:sp>
        <p:nvSpPr>
          <p:cNvPr id="46" name="Shape 44"/>
          <p:cNvSpPr/>
          <p:nvPr/>
        </p:nvSpPr>
        <p:spPr>
          <a:xfrm>
            <a:off x="640080" y="6382512"/>
            <a:ext cx="10607040" cy="365760"/>
          </a:xfrm>
          <a:prstGeom prst="roundRect">
            <a:avLst>
              <a:gd name="adj" fmla="val 25000"/>
            </a:avLst>
          </a:prstGeom>
          <a:solidFill>
            <a:srgbClr val="EFEBF8"/>
          </a:solidFill>
          <a:ln/>
        </p:spPr>
      </p:sp>
      <p:sp>
        <p:nvSpPr>
          <p:cNvPr id="47" name="Text 45"/>
          <p:cNvSpPr/>
          <p:nvPr/>
        </p:nvSpPr>
        <p:spPr>
          <a:xfrm>
            <a:off x="877824" y="6382512"/>
            <a:ext cx="10149840" cy="365760"/>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Blended ARPU used throughout:  </a:t>
            </a:r>
            <a:pPr indent="0" marL="0">
              <a:buNone/>
            </a:pPr>
            <a:r>
              <a:rPr lang="en-US" sz="950" dirty="0">
                <a:solidFill>
                  <a:srgbClr val="4A4360"/>
                </a:solidFill>
                <a:latin typeface="Calibri" pitchFamily="34" charset="0"/>
                <a:ea typeface="Calibri" pitchFamily="34" charset="-122"/>
                <a:cs typeface="Calibri" pitchFamily="34" charset="-120"/>
              </a:rPr>
              <a:t>$250 diaspora (55% Bee Plus, 12% Advanced, 20% another single pack, 13% Family) and $45 India. The blended figure FALLS from $250 to $172 across five years as India grows into a third of the base — that dilution is in the model, not assumed away.</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CUSTOMER ACQUISITION STRATEGY</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a household actually arrives</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Capping paid media at 18% of revenue has a consequence we should say out loud: growth cannot be bought. Between 83% of Year 1 and 58% of Year 5, households have to be earned. This slide is how.</a:t>
            </a:r>
            <a:endParaRPr lang="en-US" sz="1400" dirty="0"/>
          </a:p>
        </p:txBody>
      </p:sp>
      <p:sp>
        <p:nvSpPr>
          <p:cNvPr id="5" name="Shape 3"/>
          <p:cNvSpPr/>
          <p:nvPr/>
        </p:nvSpPr>
        <p:spPr>
          <a:xfrm>
            <a:off x="640080" y="2048256"/>
            <a:ext cx="2514600" cy="1481328"/>
          </a:xfrm>
          <a:prstGeom prst="roundRect">
            <a:avLst>
              <a:gd name="adj" fmla="val 7407"/>
            </a:avLst>
          </a:prstGeom>
          <a:solidFill>
            <a:srgbClr val="EFEBF8"/>
          </a:solidFill>
          <a:ln/>
        </p:spPr>
      </p:sp>
      <p:sp>
        <p:nvSpPr>
          <p:cNvPr id="6" name="Shape 4"/>
          <p:cNvSpPr/>
          <p:nvPr/>
        </p:nvSpPr>
        <p:spPr>
          <a:xfrm>
            <a:off x="640080" y="2048256"/>
            <a:ext cx="2514600" cy="256032"/>
          </a:xfrm>
          <a:prstGeom prst="roundRect">
            <a:avLst>
              <a:gd name="adj" fmla="val 42857"/>
            </a:avLst>
          </a:prstGeom>
          <a:solidFill>
            <a:srgbClr val="F0B429"/>
          </a:solidFill>
          <a:ln/>
        </p:spPr>
      </p:sp>
      <p:sp>
        <p:nvSpPr>
          <p:cNvPr id="7" name="Text 5"/>
          <p:cNvSpPr/>
          <p:nvPr/>
        </p:nvSpPr>
        <p:spPr>
          <a:xfrm>
            <a:off x="64008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241E33"/>
                </a:solidFill>
                <a:latin typeface="Calibri" pitchFamily="34" charset="0"/>
                <a:ea typeface="Calibri" pitchFamily="34" charset="-122"/>
                <a:cs typeface="Calibri" pitchFamily="34" charset="-120"/>
              </a:rPr>
              <a:t>FIND</a:t>
            </a:r>
            <a:endParaRPr lang="en-US" sz="900" dirty="0"/>
          </a:p>
        </p:txBody>
      </p:sp>
      <p:sp>
        <p:nvSpPr>
          <p:cNvPr id="8" name="Text 6"/>
          <p:cNvSpPr/>
          <p:nvPr/>
        </p:nvSpPr>
        <p:spPr>
          <a:xfrm>
            <a:off x="80467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A parent searches, or a video finds them</a:t>
            </a:r>
            <a:endParaRPr lang="en-US" sz="1150" dirty="0"/>
          </a:p>
        </p:txBody>
      </p:sp>
      <p:sp>
        <p:nvSpPr>
          <p:cNvPr id="9" name="Text 7"/>
          <p:cNvSpPr/>
          <p:nvPr/>
        </p:nvSpPr>
        <p:spPr>
          <a:xfrm>
            <a:off x="80467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YouTube and search are where a bee parent already is. The free product means there is nothing between the click and the child playing.</a:t>
            </a:r>
            <a:endParaRPr lang="en-US" sz="850" dirty="0"/>
          </a:p>
        </p:txBody>
      </p:sp>
      <p:sp>
        <p:nvSpPr>
          <p:cNvPr id="10" name="Text 8"/>
          <p:cNvSpPr/>
          <p:nvPr/>
        </p:nvSpPr>
        <p:spPr>
          <a:xfrm>
            <a:off x="316382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337560" y="2048256"/>
            <a:ext cx="2514600" cy="1481328"/>
          </a:xfrm>
          <a:prstGeom prst="roundRect">
            <a:avLst>
              <a:gd name="adj" fmla="val 7407"/>
            </a:avLst>
          </a:prstGeom>
          <a:solidFill>
            <a:srgbClr val="EFEBF8"/>
          </a:solidFill>
          <a:ln/>
        </p:spPr>
      </p:sp>
      <p:sp>
        <p:nvSpPr>
          <p:cNvPr id="12" name="Shape 10"/>
          <p:cNvSpPr/>
          <p:nvPr/>
        </p:nvSpPr>
        <p:spPr>
          <a:xfrm>
            <a:off x="3337560" y="2048256"/>
            <a:ext cx="2514600" cy="256032"/>
          </a:xfrm>
          <a:prstGeom prst="roundRect">
            <a:avLst>
              <a:gd name="adj" fmla="val 42857"/>
            </a:avLst>
          </a:prstGeom>
          <a:solidFill>
            <a:srgbClr val="6C4FE0"/>
          </a:solidFill>
          <a:ln/>
        </p:spPr>
      </p:sp>
      <p:sp>
        <p:nvSpPr>
          <p:cNvPr id="13" name="Text 11"/>
          <p:cNvSpPr/>
          <p:nvPr/>
        </p:nvSpPr>
        <p:spPr>
          <a:xfrm>
            <a:off x="333756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Calibri" pitchFamily="34" charset="0"/>
                <a:ea typeface="Calibri" pitchFamily="34" charset="-122"/>
                <a:cs typeface="Calibri" pitchFamily="34" charset="-120"/>
              </a:rPr>
              <a:t>PROVE</a:t>
            </a:r>
            <a:endParaRPr lang="en-US" sz="900" dirty="0"/>
          </a:p>
        </p:txBody>
      </p:sp>
      <p:sp>
        <p:nvSpPr>
          <p:cNvPr id="14" name="Text 12"/>
          <p:cNvSpPr/>
          <p:nvPr/>
        </p:nvSpPr>
        <p:spPr>
          <a:xfrm>
            <a:off x="350215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The child comes back without being asked</a:t>
            </a:r>
            <a:endParaRPr lang="en-US" sz="1150" dirty="0"/>
          </a:p>
        </p:txBody>
      </p:sp>
      <p:sp>
        <p:nvSpPr>
          <p:cNvPr id="15" name="Text 13"/>
          <p:cNvSpPr/>
          <p:nvPr/>
        </p:nvSpPr>
        <p:spPr>
          <a:xfrm>
            <a:off x="350215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only honest signal. We watch week-two return rate, not signups — a family that returns is a family that will pay.</a:t>
            </a:r>
            <a:endParaRPr lang="en-US" sz="850" dirty="0"/>
          </a:p>
        </p:txBody>
      </p:sp>
      <p:sp>
        <p:nvSpPr>
          <p:cNvPr id="16" name="Text 14"/>
          <p:cNvSpPr/>
          <p:nvPr/>
        </p:nvSpPr>
        <p:spPr>
          <a:xfrm>
            <a:off x="586130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6035040" y="2048256"/>
            <a:ext cx="2514600" cy="1481328"/>
          </a:xfrm>
          <a:prstGeom prst="roundRect">
            <a:avLst>
              <a:gd name="adj" fmla="val 7407"/>
            </a:avLst>
          </a:prstGeom>
          <a:solidFill>
            <a:srgbClr val="EFEBF8"/>
          </a:solidFill>
          <a:ln/>
        </p:spPr>
      </p:sp>
      <p:sp>
        <p:nvSpPr>
          <p:cNvPr id="18" name="Shape 16"/>
          <p:cNvSpPr/>
          <p:nvPr/>
        </p:nvSpPr>
        <p:spPr>
          <a:xfrm>
            <a:off x="6035040" y="2048256"/>
            <a:ext cx="2514600" cy="256032"/>
          </a:xfrm>
          <a:prstGeom prst="roundRect">
            <a:avLst>
              <a:gd name="adj" fmla="val 42857"/>
            </a:avLst>
          </a:prstGeom>
          <a:solidFill>
            <a:srgbClr val="178A4C"/>
          </a:solidFill>
          <a:ln/>
        </p:spPr>
      </p:sp>
      <p:sp>
        <p:nvSpPr>
          <p:cNvPr id="19" name="Text 17"/>
          <p:cNvSpPr/>
          <p:nvPr/>
        </p:nvSpPr>
        <p:spPr>
          <a:xfrm>
            <a:off x="603504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Calibri" pitchFamily="34" charset="0"/>
                <a:ea typeface="Calibri" pitchFamily="34" charset="-122"/>
                <a:cs typeface="Calibri" pitchFamily="34" charset="-120"/>
              </a:rPr>
              <a:t>ASK</a:t>
            </a:r>
            <a:endParaRPr lang="en-US" sz="900" dirty="0"/>
          </a:p>
        </p:txBody>
      </p:sp>
      <p:sp>
        <p:nvSpPr>
          <p:cNvPr id="20" name="Text 18"/>
          <p:cNvSpPr/>
          <p:nvPr/>
        </p:nvSpPr>
        <p:spPr>
          <a:xfrm>
            <a:off x="619963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Upgrade at the moment of ambition</a:t>
            </a:r>
            <a:endParaRPr lang="en-US" sz="1150" dirty="0"/>
          </a:p>
        </p:txBody>
      </p:sp>
      <p:sp>
        <p:nvSpPr>
          <p:cNvPr id="21" name="Text 19"/>
          <p:cNvSpPr/>
          <p:nvPr/>
        </p:nvSpPr>
        <p:spPr>
          <a:xfrm>
            <a:off x="619963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Not on day one. At the point the child hits the wall the free tier stops at — a regional list, a harder root, a real bee date.</a:t>
            </a:r>
            <a:endParaRPr lang="en-US" sz="850" dirty="0"/>
          </a:p>
        </p:txBody>
      </p:sp>
      <p:sp>
        <p:nvSpPr>
          <p:cNvPr id="22" name="Text 20"/>
          <p:cNvSpPr/>
          <p:nvPr/>
        </p:nvSpPr>
        <p:spPr>
          <a:xfrm>
            <a:off x="855878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8732520" y="2048256"/>
            <a:ext cx="2514600" cy="1481328"/>
          </a:xfrm>
          <a:prstGeom prst="roundRect">
            <a:avLst>
              <a:gd name="adj" fmla="val 7407"/>
            </a:avLst>
          </a:prstGeom>
          <a:solidFill>
            <a:srgbClr val="EFEBF8"/>
          </a:solidFill>
          <a:ln/>
        </p:spPr>
      </p:sp>
      <p:sp>
        <p:nvSpPr>
          <p:cNvPr id="24" name="Shape 22"/>
          <p:cNvSpPr/>
          <p:nvPr/>
        </p:nvSpPr>
        <p:spPr>
          <a:xfrm>
            <a:off x="8732520" y="2048256"/>
            <a:ext cx="2514600" cy="256032"/>
          </a:xfrm>
          <a:prstGeom prst="roundRect">
            <a:avLst>
              <a:gd name="adj" fmla="val 42857"/>
            </a:avLst>
          </a:prstGeom>
          <a:solidFill>
            <a:srgbClr val="E3B23C"/>
          </a:solidFill>
          <a:ln/>
        </p:spPr>
      </p:sp>
      <p:sp>
        <p:nvSpPr>
          <p:cNvPr id="25" name="Text 23"/>
          <p:cNvSpPr/>
          <p:nvPr/>
        </p:nvSpPr>
        <p:spPr>
          <a:xfrm>
            <a:off x="873252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241E33"/>
                </a:solidFill>
                <a:latin typeface="Calibri" pitchFamily="34" charset="0"/>
                <a:ea typeface="Calibri" pitchFamily="34" charset="-122"/>
                <a:cs typeface="Calibri" pitchFamily="34" charset="-120"/>
              </a:rPr>
              <a:t>SPREAD</a:t>
            </a:r>
            <a:endParaRPr lang="en-US" sz="900" dirty="0"/>
          </a:p>
        </p:txBody>
      </p:sp>
      <p:sp>
        <p:nvSpPr>
          <p:cNvPr id="26" name="Text 24"/>
          <p:cNvSpPr/>
          <p:nvPr/>
        </p:nvSpPr>
        <p:spPr>
          <a:xfrm>
            <a:off x="889711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One family tells four</a:t>
            </a:r>
            <a:endParaRPr lang="en-US" sz="1150" dirty="0"/>
          </a:p>
        </p:txBody>
      </p:sp>
      <p:sp>
        <p:nvSpPr>
          <p:cNvPr id="27" name="Text 25"/>
          <p:cNvSpPr/>
          <p:nvPr/>
        </p:nvSpPr>
        <p:spPr>
          <a:xfrm>
            <a:off x="889711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diaspora channel is a WhatsApp group, a temple hall, a school corridor. It cannot be bought. It can be deserved, and it compounds.</a:t>
            </a:r>
            <a:endParaRPr lang="en-US" sz="850" dirty="0"/>
          </a:p>
        </p:txBody>
      </p:sp>
      <p:sp>
        <p:nvSpPr>
          <p:cNvPr id="28" name="Text 26"/>
          <p:cNvSpPr/>
          <p:nvPr/>
        </p:nvSpPr>
        <p:spPr>
          <a:xfrm>
            <a:off x="640080" y="3675888"/>
            <a:ext cx="4572000" cy="274320"/>
          </a:xfrm>
          <a:prstGeom prst="rect">
            <a:avLst/>
          </a:prstGeom>
          <a:noFill/>
          <a:ln/>
        </p:spPr>
        <p:txBody>
          <a:bodyPr wrap="square" lIns="0" tIns="0" rIns="0" bIns="0" rtlCol="0" anchor="ctr"/>
          <a:lstStyle/>
          <a:p>
            <a:pPr indent="0" marL="0">
              <a:buNone/>
            </a:pPr>
            <a:r>
              <a:rPr lang="en-US" sz="1500" b="1" dirty="0">
                <a:solidFill>
                  <a:srgbClr val="241E33"/>
                </a:solidFill>
                <a:latin typeface="Cambria" pitchFamily="34" charset="0"/>
                <a:ea typeface="Cambria" pitchFamily="34" charset="-122"/>
                <a:cs typeface="Cambria" pitchFamily="34" charset="-120"/>
              </a:rPr>
              <a:t>What each channel is for</a:t>
            </a:r>
            <a:endParaRPr lang="en-US" sz="1500" dirty="0"/>
          </a:p>
        </p:txBody>
      </p:sp>
      <p:sp>
        <p:nvSpPr>
          <p:cNvPr id="29" name="Text 27"/>
          <p:cNvSpPr/>
          <p:nvPr/>
        </p:nvSpPr>
        <p:spPr>
          <a:xfrm>
            <a:off x="3977640" y="4005072"/>
            <a:ext cx="1600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ROLE</a:t>
            </a:r>
            <a:endParaRPr lang="en-US" sz="800" dirty="0"/>
          </a:p>
        </p:txBody>
      </p:sp>
      <p:sp>
        <p:nvSpPr>
          <p:cNvPr id="30" name="Text 28"/>
          <p:cNvSpPr/>
          <p:nvPr/>
        </p:nvSpPr>
        <p:spPr>
          <a:xfrm>
            <a:off x="5623560" y="4005072"/>
            <a:ext cx="1600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SWITCHES ON</a:t>
            </a:r>
            <a:endParaRPr lang="en-US" sz="800" dirty="0"/>
          </a:p>
        </p:txBody>
      </p:sp>
      <p:sp>
        <p:nvSpPr>
          <p:cNvPr id="31" name="Text 29"/>
          <p:cNvSpPr/>
          <p:nvPr/>
        </p:nvSpPr>
        <p:spPr>
          <a:xfrm>
            <a:off x="7360920" y="4005072"/>
            <a:ext cx="3886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THE NUMBER WE WATCH</a:t>
            </a:r>
            <a:endParaRPr lang="en-US" sz="800" dirty="0"/>
          </a:p>
        </p:txBody>
      </p:sp>
      <p:sp>
        <p:nvSpPr>
          <p:cNvPr id="32" name="Shape 30"/>
          <p:cNvSpPr/>
          <p:nvPr/>
        </p:nvSpPr>
        <p:spPr>
          <a:xfrm>
            <a:off x="512064" y="4251960"/>
            <a:ext cx="10954512" cy="347472"/>
          </a:xfrm>
          <a:prstGeom prst="roundRect">
            <a:avLst>
              <a:gd name="adj" fmla="val 21053"/>
            </a:avLst>
          </a:prstGeom>
          <a:solidFill>
            <a:srgbClr val="EFEBF8"/>
          </a:solidFill>
          <a:ln/>
        </p:spPr>
      </p:sp>
      <p:sp>
        <p:nvSpPr>
          <p:cNvPr id="33" name="Shape 31"/>
          <p:cNvSpPr/>
          <p:nvPr/>
        </p:nvSpPr>
        <p:spPr>
          <a:xfrm rot="5400000">
            <a:off x="640080" y="4315968"/>
            <a:ext cx="219456" cy="219456"/>
          </a:xfrm>
          <a:prstGeom prst="hexagon">
            <a:avLst/>
          </a:prstGeom>
          <a:solidFill>
            <a:srgbClr val="178A4C"/>
          </a:solidFill>
          <a:ln/>
        </p:spPr>
      </p:sp>
      <p:sp>
        <p:nvSpPr>
          <p:cNvPr id="34" name="Text 32"/>
          <p:cNvSpPr/>
          <p:nvPr/>
        </p:nvSpPr>
        <p:spPr>
          <a:xfrm>
            <a:off x="950976" y="426110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The free product itself</a:t>
            </a:r>
            <a:endParaRPr lang="en-US" sz="1100" dirty="0"/>
          </a:p>
        </p:txBody>
      </p:sp>
      <p:sp>
        <p:nvSpPr>
          <p:cNvPr id="35" name="Text 33"/>
          <p:cNvSpPr/>
          <p:nvPr/>
        </p:nvSpPr>
        <p:spPr>
          <a:xfrm>
            <a:off x="3977640" y="4261104"/>
            <a:ext cx="1600200" cy="329184"/>
          </a:xfrm>
          <a:prstGeom prst="rect">
            <a:avLst/>
          </a:prstGeom>
          <a:noFill/>
          <a:ln/>
        </p:spPr>
        <p:txBody>
          <a:bodyPr wrap="square" lIns="0" tIns="0" rIns="0" bIns="0" rtlCol="0" anchor="ctr"/>
          <a:lstStyle/>
          <a:p>
            <a:pPr indent="0" marL="0">
              <a:buNone/>
            </a:pPr>
            <a:r>
              <a:rPr lang="en-US" sz="950" i="1" dirty="0">
                <a:solidFill>
                  <a:srgbClr val="178A4C"/>
                </a:solidFill>
                <a:latin typeface="Calibri" pitchFamily="34" charset="0"/>
                <a:ea typeface="Calibri" pitchFamily="34" charset="-122"/>
                <a:cs typeface="Calibri" pitchFamily="34" charset="-120"/>
              </a:rPr>
              <a:t>Converts</a:t>
            </a:r>
            <a:endParaRPr lang="en-US" sz="950" dirty="0"/>
          </a:p>
        </p:txBody>
      </p:sp>
      <p:sp>
        <p:nvSpPr>
          <p:cNvPr id="36" name="Text 34"/>
          <p:cNvSpPr/>
          <p:nvPr/>
        </p:nvSpPr>
        <p:spPr>
          <a:xfrm>
            <a:off x="5623560" y="426110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Week 1</a:t>
            </a:r>
            <a:endParaRPr lang="en-US" sz="950" dirty="0"/>
          </a:p>
        </p:txBody>
      </p:sp>
      <p:sp>
        <p:nvSpPr>
          <p:cNvPr id="37" name="Text 35"/>
          <p:cNvSpPr/>
          <p:nvPr/>
        </p:nvSpPr>
        <p:spPr>
          <a:xfrm>
            <a:off x="7360920" y="426110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Week-two return rate — everything downstream is a function of it</a:t>
            </a:r>
            <a:endParaRPr lang="en-US" sz="900" dirty="0"/>
          </a:p>
        </p:txBody>
      </p:sp>
      <p:sp>
        <p:nvSpPr>
          <p:cNvPr id="38" name="Shape 36"/>
          <p:cNvSpPr/>
          <p:nvPr/>
        </p:nvSpPr>
        <p:spPr>
          <a:xfrm rot="5400000">
            <a:off x="640080" y="4681728"/>
            <a:ext cx="219456" cy="219456"/>
          </a:xfrm>
          <a:prstGeom prst="hexagon">
            <a:avLst/>
          </a:prstGeom>
          <a:solidFill>
            <a:srgbClr val="F0B429"/>
          </a:solidFill>
          <a:ln/>
        </p:spPr>
      </p:sp>
      <p:sp>
        <p:nvSpPr>
          <p:cNvPr id="39" name="Text 37"/>
          <p:cNvSpPr/>
          <p:nvPr/>
        </p:nvSpPr>
        <p:spPr>
          <a:xfrm>
            <a:off x="950976" y="462686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YouTube back catalogue</a:t>
            </a:r>
            <a:endParaRPr lang="en-US" sz="1100" dirty="0"/>
          </a:p>
        </p:txBody>
      </p:sp>
      <p:sp>
        <p:nvSpPr>
          <p:cNvPr id="40" name="Text 38"/>
          <p:cNvSpPr/>
          <p:nvPr/>
        </p:nvSpPr>
        <p:spPr>
          <a:xfrm>
            <a:off x="3977640" y="4626864"/>
            <a:ext cx="1600200" cy="329184"/>
          </a:xfrm>
          <a:prstGeom prst="rect">
            <a:avLst/>
          </a:prstGeom>
          <a:noFill/>
          <a:ln/>
        </p:spPr>
        <p:txBody>
          <a:bodyPr wrap="square" lIns="0" tIns="0" rIns="0" bIns="0" rtlCol="0" anchor="ctr"/>
          <a:lstStyle/>
          <a:p>
            <a:pPr indent="0" marL="0">
              <a:buNone/>
            </a:pPr>
            <a:r>
              <a:rPr lang="en-US" sz="950" i="1" dirty="0">
                <a:solidFill>
                  <a:srgbClr val="F0B429"/>
                </a:solidFill>
                <a:latin typeface="Calibri" pitchFamily="34" charset="0"/>
                <a:ea typeface="Calibri" pitchFamily="34" charset="-122"/>
                <a:cs typeface="Calibri" pitchFamily="34" charset="-120"/>
              </a:rPr>
              <a:t>Finds</a:t>
            </a:r>
            <a:endParaRPr lang="en-US" sz="950" dirty="0"/>
          </a:p>
        </p:txBody>
      </p:sp>
      <p:sp>
        <p:nvSpPr>
          <p:cNvPr id="41" name="Text 39"/>
          <p:cNvSpPr/>
          <p:nvPr/>
        </p:nvSpPr>
        <p:spPr>
          <a:xfrm>
            <a:off x="5623560" y="462686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Week 1</a:t>
            </a:r>
            <a:endParaRPr lang="en-US" sz="950" dirty="0"/>
          </a:p>
        </p:txBody>
      </p:sp>
      <p:sp>
        <p:nvSpPr>
          <p:cNvPr id="42" name="Text 40"/>
          <p:cNvSpPr/>
          <p:nvPr/>
        </p:nvSpPr>
        <p:spPr>
          <a:xfrm>
            <a:off x="7360920" y="462686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Views per video after 90 days, not on launch day</a:t>
            </a:r>
            <a:endParaRPr lang="en-US" sz="900" dirty="0"/>
          </a:p>
        </p:txBody>
      </p:sp>
      <p:sp>
        <p:nvSpPr>
          <p:cNvPr id="43" name="Shape 41"/>
          <p:cNvSpPr/>
          <p:nvPr/>
        </p:nvSpPr>
        <p:spPr>
          <a:xfrm>
            <a:off x="512064" y="4983480"/>
            <a:ext cx="10954512" cy="347472"/>
          </a:xfrm>
          <a:prstGeom prst="roundRect">
            <a:avLst>
              <a:gd name="adj" fmla="val 21053"/>
            </a:avLst>
          </a:prstGeom>
          <a:solidFill>
            <a:srgbClr val="EFEBF8"/>
          </a:solidFill>
          <a:ln/>
        </p:spPr>
      </p:sp>
      <p:sp>
        <p:nvSpPr>
          <p:cNvPr id="44" name="Shape 42"/>
          <p:cNvSpPr/>
          <p:nvPr/>
        </p:nvSpPr>
        <p:spPr>
          <a:xfrm rot="5400000">
            <a:off x="640080" y="5047488"/>
            <a:ext cx="219456" cy="219456"/>
          </a:xfrm>
          <a:prstGeom prst="hexagon">
            <a:avLst/>
          </a:prstGeom>
          <a:solidFill>
            <a:srgbClr val="178A4C"/>
          </a:solidFill>
          <a:ln/>
        </p:spPr>
      </p:sp>
      <p:sp>
        <p:nvSpPr>
          <p:cNvPr id="45" name="Text 43"/>
          <p:cNvSpPr/>
          <p:nvPr/>
        </p:nvSpPr>
        <p:spPr>
          <a:xfrm>
            <a:off x="950976" y="499262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Referral &amp; WhatsApp</a:t>
            </a:r>
            <a:endParaRPr lang="en-US" sz="1100" dirty="0"/>
          </a:p>
        </p:txBody>
      </p:sp>
      <p:sp>
        <p:nvSpPr>
          <p:cNvPr id="46" name="Text 44"/>
          <p:cNvSpPr/>
          <p:nvPr/>
        </p:nvSpPr>
        <p:spPr>
          <a:xfrm>
            <a:off x="3977640" y="4992624"/>
            <a:ext cx="1600200" cy="329184"/>
          </a:xfrm>
          <a:prstGeom prst="rect">
            <a:avLst/>
          </a:prstGeom>
          <a:noFill/>
          <a:ln/>
        </p:spPr>
        <p:txBody>
          <a:bodyPr wrap="square" lIns="0" tIns="0" rIns="0" bIns="0" rtlCol="0" anchor="ctr"/>
          <a:lstStyle/>
          <a:p>
            <a:pPr indent="0" marL="0">
              <a:buNone/>
            </a:pPr>
            <a:r>
              <a:rPr lang="en-US" sz="950" i="1" dirty="0">
                <a:solidFill>
                  <a:srgbClr val="178A4C"/>
                </a:solidFill>
                <a:latin typeface="Calibri" pitchFamily="34" charset="0"/>
                <a:ea typeface="Calibri" pitchFamily="34" charset="-122"/>
                <a:cs typeface="Calibri" pitchFamily="34" charset="-120"/>
              </a:rPr>
              <a:t>Multiplies</a:t>
            </a:r>
            <a:endParaRPr lang="en-US" sz="950" dirty="0"/>
          </a:p>
        </p:txBody>
      </p:sp>
      <p:sp>
        <p:nvSpPr>
          <p:cNvPr id="47" name="Text 45"/>
          <p:cNvSpPr/>
          <p:nvPr/>
        </p:nvSpPr>
        <p:spPr>
          <a:xfrm>
            <a:off x="5623560" y="499262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Month 3</a:t>
            </a:r>
            <a:endParaRPr lang="en-US" sz="950" dirty="0"/>
          </a:p>
        </p:txBody>
      </p:sp>
      <p:sp>
        <p:nvSpPr>
          <p:cNvPr id="48" name="Text 46"/>
          <p:cNvSpPr/>
          <p:nvPr/>
        </p:nvSpPr>
        <p:spPr>
          <a:xfrm>
            <a:off x="7360920" y="499262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Invites sent per paying household per year — target 2+</a:t>
            </a:r>
            <a:endParaRPr lang="en-US" sz="900" dirty="0"/>
          </a:p>
        </p:txBody>
      </p:sp>
      <p:sp>
        <p:nvSpPr>
          <p:cNvPr id="49" name="Shape 47"/>
          <p:cNvSpPr/>
          <p:nvPr/>
        </p:nvSpPr>
        <p:spPr>
          <a:xfrm rot="5400000">
            <a:off x="640080" y="5413248"/>
            <a:ext cx="219456" cy="219456"/>
          </a:xfrm>
          <a:prstGeom prst="hexagon">
            <a:avLst/>
          </a:prstGeom>
          <a:solidFill>
            <a:srgbClr val="E3B23C"/>
          </a:solidFill>
          <a:ln/>
        </p:spPr>
      </p:sp>
      <p:sp>
        <p:nvSpPr>
          <p:cNvPr id="50" name="Text 48"/>
          <p:cNvSpPr/>
          <p:nvPr/>
        </p:nvSpPr>
        <p:spPr>
          <a:xfrm>
            <a:off x="950976" y="535838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Community &amp; events</a:t>
            </a:r>
            <a:endParaRPr lang="en-US" sz="1100" dirty="0"/>
          </a:p>
        </p:txBody>
      </p:sp>
      <p:sp>
        <p:nvSpPr>
          <p:cNvPr id="51" name="Text 49"/>
          <p:cNvSpPr/>
          <p:nvPr/>
        </p:nvSpPr>
        <p:spPr>
          <a:xfrm>
            <a:off x="3977640" y="5358384"/>
            <a:ext cx="1600200" cy="329184"/>
          </a:xfrm>
          <a:prstGeom prst="rect">
            <a:avLst/>
          </a:prstGeom>
          <a:noFill/>
          <a:ln/>
        </p:spPr>
        <p:txBody>
          <a:bodyPr wrap="square" lIns="0" tIns="0" rIns="0" bIns="0" rtlCol="0" anchor="ctr"/>
          <a:lstStyle/>
          <a:p>
            <a:pPr indent="0" marL="0">
              <a:buNone/>
            </a:pPr>
            <a:r>
              <a:rPr lang="en-US" sz="950" i="1" dirty="0">
                <a:solidFill>
                  <a:srgbClr val="E3B23C"/>
                </a:solidFill>
                <a:latin typeface="Calibri" pitchFamily="34" charset="0"/>
                <a:ea typeface="Calibri" pitchFamily="34" charset="-122"/>
                <a:cs typeface="Calibri" pitchFamily="34" charset="-120"/>
              </a:rPr>
              <a:t>Converts hardest</a:t>
            </a:r>
            <a:endParaRPr lang="en-US" sz="950" dirty="0"/>
          </a:p>
        </p:txBody>
      </p:sp>
      <p:sp>
        <p:nvSpPr>
          <p:cNvPr id="52" name="Text 50"/>
          <p:cNvSpPr/>
          <p:nvPr/>
        </p:nvSpPr>
        <p:spPr>
          <a:xfrm>
            <a:off x="5623560" y="535838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Month 6</a:t>
            </a:r>
            <a:endParaRPr lang="en-US" sz="950" dirty="0"/>
          </a:p>
        </p:txBody>
      </p:sp>
      <p:sp>
        <p:nvSpPr>
          <p:cNvPr id="53" name="Text 51"/>
          <p:cNvSpPr/>
          <p:nvPr/>
        </p:nvSpPr>
        <p:spPr>
          <a:xfrm>
            <a:off x="7360920" y="535838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Cost per household at a regional bee, versus $130 paid</a:t>
            </a:r>
            <a:endParaRPr lang="en-US" sz="900" dirty="0"/>
          </a:p>
        </p:txBody>
      </p:sp>
      <p:sp>
        <p:nvSpPr>
          <p:cNvPr id="54" name="Shape 52"/>
          <p:cNvSpPr/>
          <p:nvPr/>
        </p:nvSpPr>
        <p:spPr>
          <a:xfrm>
            <a:off x="512064" y="5715000"/>
            <a:ext cx="10954512" cy="347472"/>
          </a:xfrm>
          <a:prstGeom prst="roundRect">
            <a:avLst>
              <a:gd name="adj" fmla="val 21053"/>
            </a:avLst>
          </a:prstGeom>
          <a:solidFill>
            <a:srgbClr val="EFEBF8"/>
          </a:solidFill>
          <a:ln/>
        </p:spPr>
      </p:sp>
      <p:sp>
        <p:nvSpPr>
          <p:cNvPr id="55" name="Shape 53"/>
          <p:cNvSpPr/>
          <p:nvPr/>
        </p:nvSpPr>
        <p:spPr>
          <a:xfrm rot="5400000">
            <a:off x="640080" y="5779008"/>
            <a:ext cx="219456" cy="219456"/>
          </a:xfrm>
          <a:prstGeom prst="hexagon">
            <a:avLst/>
          </a:prstGeom>
          <a:solidFill>
            <a:srgbClr val="6C4FE0"/>
          </a:solidFill>
          <a:ln/>
        </p:spPr>
      </p:sp>
      <p:sp>
        <p:nvSpPr>
          <p:cNvPr id="56" name="Text 54"/>
          <p:cNvSpPr/>
          <p:nvPr/>
        </p:nvSpPr>
        <p:spPr>
          <a:xfrm>
            <a:off x="950976" y="572414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Search &amp; Meta</a:t>
            </a:r>
            <a:endParaRPr lang="en-US" sz="1100" dirty="0"/>
          </a:p>
        </p:txBody>
      </p:sp>
      <p:sp>
        <p:nvSpPr>
          <p:cNvPr id="57" name="Text 55"/>
          <p:cNvSpPr/>
          <p:nvPr/>
        </p:nvSpPr>
        <p:spPr>
          <a:xfrm>
            <a:off x="3977640" y="5724144"/>
            <a:ext cx="1600200" cy="329184"/>
          </a:xfrm>
          <a:prstGeom prst="rect">
            <a:avLst/>
          </a:prstGeom>
          <a:noFill/>
          <a:ln/>
        </p:spPr>
        <p:txBody>
          <a:bodyPr wrap="square" lIns="0" tIns="0" rIns="0" bIns="0" rtlCol="0" anchor="ctr"/>
          <a:lstStyle/>
          <a:p>
            <a:pPr indent="0" marL="0">
              <a:buNone/>
            </a:pPr>
            <a:r>
              <a:rPr lang="en-US" sz="950" i="1" dirty="0">
                <a:solidFill>
                  <a:srgbClr val="6C4FE0"/>
                </a:solidFill>
                <a:latin typeface="Calibri" pitchFamily="34" charset="0"/>
                <a:ea typeface="Calibri" pitchFamily="34" charset="-122"/>
                <a:cs typeface="Calibri" pitchFamily="34" charset="-120"/>
              </a:rPr>
              <a:t>Amplifies</a:t>
            </a:r>
            <a:endParaRPr lang="en-US" sz="950" dirty="0"/>
          </a:p>
        </p:txBody>
      </p:sp>
      <p:sp>
        <p:nvSpPr>
          <p:cNvPr id="58" name="Text 56"/>
          <p:cNvSpPr/>
          <p:nvPr/>
        </p:nvSpPr>
        <p:spPr>
          <a:xfrm>
            <a:off x="5623560" y="572414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When funded</a:t>
            </a:r>
            <a:endParaRPr lang="en-US" sz="950" dirty="0"/>
          </a:p>
        </p:txBody>
      </p:sp>
      <p:sp>
        <p:nvSpPr>
          <p:cNvPr id="59" name="Text 57"/>
          <p:cNvSpPr/>
          <p:nvPr/>
        </p:nvSpPr>
        <p:spPr>
          <a:xfrm>
            <a:off x="7360920" y="572414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Only ever 18% of trailing revenue — never a fixed budget</a:t>
            </a:r>
            <a:endParaRPr lang="en-US" sz="900" dirty="0"/>
          </a:p>
        </p:txBody>
      </p:sp>
      <p:sp>
        <p:nvSpPr>
          <p:cNvPr id="60" name="Shape 58"/>
          <p:cNvSpPr/>
          <p:nvPr/>
        </p:nvSpPr>
        <p:spPr>
          <a:xfrm rot="5400000">
            <a:off x="640080" y="6144768"/>
            <a:ext cx="219456" cy="219456"/>
          </a:xfrm>
          <a:prstGeom prst="hexagon">
            <a:avLst/>
          </a:prstGeom>
          <a:solidFill>
            <a:srgbClr val="6C4FE0"/>
          </a:solidFill>
          <a:ln/>
        </p:spPr>
      </p:sp>
      <p:sp>
        <p:nvSpPr>
          <p:cNvPr id="61" name="Text 59"/>
          <p:cNvSpPr/>
          <p:nvPr/>
        </p:nvSpPr>
        <p:spPr>
          <a:xfrm>
            <a:off x="950976" y="608990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School &amp; club partnerships</a:t>
            </a:r>
            <a:endParaRPr lang="en-US" sz="1100" dirty="0"/>
          </a:p>
        </p:txBody>
      </p:sp>
      <p:sp>
        <p:nvSpPr>
          <p:cNvPr id="62" name="Text 60"/>
          <p:cNvSpPr/>
          <p:nvPr/>
        </p:nvSpPr>
        <p:spPr>
          <a:xfrm>
            <a:off x="3977640" y="6089904"/>
            <a:ext cx="1600200" cy="329184"/>
          </a:xfrm>
          <a:prstGeom prst="rect">
            <a:avLst/>
          </a:prstGeom>
          <a:noFill/>
          <a:ln/>
        </p:spPr>
        <p:txBody>
          <a:bodyPr wrap="square" lIns="0" tIns="0" rIns="0" bIns="0" rtlCol="0" anchor="ctr"/>
          <a:lstStyle/>
          <a:p>
            <a:pPr indent="0" marL="0">
              <a:buNone/>
            </a:pPr>
            <a:r>
              <a:rPr lang="en-US" sz="950" i="1" dirty="0">
                <a:solidFill>
                  <a:srgbClr val="6C4FE0"/>
                </a:solidFill>
                <a:latin typeface="Calibri" pitchFamily="34" charset="0"/>
                <a:ea typeface="Calibri" pitchFamily="34" charset="-122"/>
                <a:cs typeface="Calibri" pitchFamily="34" charset="-120"/>
              </a:rPr>
              <a:t>Reaches at scale</a:t>
            </a:r>
            <a:endParaRPr lang="en-US" sz="950" dirty="0"/>
          </a:p>
        </p:txBody>
      </p:sp>
      <p:sp>
        <p:nvSpPr>
          <p:cNvPr id="63" name="Text 61"/>
          <p:cNvSpPr/>
          <p:nvPr/>
        </p:nvSpPr>
        <p:spPr>
          <a:xfrm>
            <a:off x="5623560" y="608990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Year 2</a:t>
            </a:r>
            <a:endParaRPr lang="en-US" sz="950" dirty="0"/>
          </a:p>
        </p:txBody>
      </p:sp>
      <p:sp>
        <p:nvSpPr>
          <p:cNvPr id="64" name="Text 62"/>
          <p:cNvSpPr/>
          <p:nvPr/>
        </p:nvSpPr>
        <p:spPr>
          <a:xfrm>
            <a:off x="7360920" y="608990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Households per partnership; one club is worth ~40</a:t>
            </a:r>
            <a:endParaRPr lang="en-US" sz="900" dirty="0"/>
          </a:p>
        </p:txBody>
      </p:sp>
      <p:sp>
        <p:nvSpPr>
          <p:cNvPr id="65" name="Shape 63"/>
          <p:cNvSpPr/>
          <p:nvPr/>
        </p:nvSpPr>
        <p:spPr>
          <a:xfrm>
            <a:off x="640080" y="6455664"/>
            <a:ext cx="10607040" cy="347472"/>
          </a:xfrm>
          <a:prstGeom prst="roundRect">
            <a:avLst>
              <a:gd name="adj" fmla="val 23684"/>
            </a:avLst>
          </a:prstGeom>
          <a:solidFill>
            <a:srgbClr val="241E33"/>
          </a:solidFill>
          <a:ln/>
        </p:spPr>
      </p:sp>
      <p:sp>
        <p:nvSpPr>
          <p:cNvPr id="66" name="Text 64"/>
          <p:cNvSpPr/>
          <p:nvPr/>
        </p:nvSpPr>
        <p:spPr>
          <a:xfrm>
            <a:off x="877824" y="6455664"/>
            <a:ext cx="10149840" cy="347472"/>
          </a:xfrm>
          <a:prstGeom prst="rect">
            <a:avLst/>
          </a:prstGeom>
          <a:noFill/>
          <a:ln/>
        </p:spPr>
        <p:txBody>
          <a:bodyPr wrap="square" lIns="0" tIns="0" rIns="0" bIns="0" rtlCol="0" anchor="ctr"/>
          <a:lstStyle/>
          <a:p>
            <a:pPr indent="0" marL="0">
              <a:buNone/>
            </a:pPr>
            <a:r>
              <a:rPr lang="en-US" sz="950" b="1" dirty="0">
                <a:solidFill>
                  <a:srgbClr val="F0B429"/>
                </a:solidFill>
                <a:latin typeface="Calibri" pitchFamily="34" charset="0"/>
                <a:ea typeface="Calibri" pitchFamily="34" charset="-122"/>
                <a:cs typeface="Calibri" pitchFamily="34" charset="-120"/>
              </a:rPr>
              <a:t>The order is deliberate.  </a:t>
            </a:r>
            <a:pPr indent="0" marL="0">
              <a:buNone/>
            </a:pPr>
            <a:r>
              <a:rPr lang="en-US" sz="950" dirty="0">
                <a:solidFill>
                  <a:srgbClr val="E3DCF2"/>
                </a:solidFill>
                <a:latin typeface="Calibri" pitchFamily="34" charset="0"/>
                <a:ea typeface="Calibri" pitchFamily="34" charset="-122"/>
                <a:cs typeface="Calibri" pitchFamily="34" charset="-120"/>
              </a:rPr>
              <a:t>Paid media is last because it multiplies whatever it is pointed at. Pointed at a product families do not return to, it multiplies a leak — which is the most common way a plan like this loses money.</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ACQUISITION TARGETS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a week, then earn the right to more</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The rate rises every year, but the growth MULTIPLE falls every year — 4.5×, then 2.9×, 2.2×, 1.7×. That deceleration is the honest shape of acquisition getting harder as the easy households are used up.</a:t>
            </a:r>
            <a:endParaRPr lang="en-US" sz="1400" dirty="0"/>
          </a:p>
        </p:txBody>
      </p:sp>
      <p:sp>
        <p:nvSpPr>
          <p:cNvPr id="5" name="Text 3"/>
          <p:cNvSpPr/>
          <p:nvPr/>
        </p:nvSpPr>
        <p:spPr>
          <a:xfrm>
            <a:off x="502920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1</a:t>
            </a:r>
            <a:endParaRPr lang="en-US" sz="1050" dirty="0"/>
          </a:p>
        </p:txBody>
      </p:sp>
      <p:sp>
        <p:nvSpPr>
          <p:cNvPr id="6" name="Text 4"/>
          <p:cNvSpPr/>
          <p:nvPr/>
        </p:nvSpPr>
        <p:spPr>
          <a:xfrm>
            <a:off x="630936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2</a:t>
            </a:r>
            <a:endParaRPr lang="en-US" sz="1050" dirty="0"/>
          </a:p>
        </p:txBody>
      </p:sp>
      <p:sp>
        <p:nvSpPr>
          <p:cNvPr id="7" name="Text 5"/>
          <p:cNvSpPr/>
          <p:nvPr/>
        </p:nvSpPr>
        <p:spPr>
          <a:xfrm>
            <a:off x="758952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3</a:t>
            </a:r>
            <a:endParaRPr lang="en-US" sz="1050" dirty="0"/>
          </a:p>
        </p:txBody>
      </p:sp>
      <p:sp>
        <p:nvSpPr>
          <p:cNvPr id="8" name="Text 6"/>
          <p:cNvSpPr/>
          <p:nvPr/>
        </p:nvSpPr>
        <p:spPr>
          <a:xfrm>
            <a:off x="886968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4</a:t>
            </a:r>
            <a:endParaRPr lang="en-US" sz="1050" dirty="0"/>
          </a:p>
        </p:txBody>
      </p:sp>
      <p:sp>
        <p:nvSpPr>
          <p:cNvPr id="9" name="Text 7"/>
          <p:cNvSpPr/>
          <p:nvPr/>
        </p:nvSpPr>
        <p:spPr>
          <a:xfrm>
            <a:off x="1014984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5</a:t>
            </a:r>
            <a:endParaRPr lang="en-US" sz="1050" dirty="0"/>
          </a:p>
        </p:txBody>
      </p:sp>
      <p:sp>
        <p:nvSpPr>
          <p:cNvPr id="10" name="Shape 8"/>
          <p:cNvSpPr/>
          <p:nvPr/>
        </p:nvSpPr>
        <p:spPr>
          <a:xfrm>
            <a:off x="512064" y="2295144"/>
            <a:ext cx="10954512" cy="512064"/>
          </a:xfrm>
          <a:prstGeom prst="roundRect">
            <a:avLst>
              <a:gd name="adj" fmla="val 16071"/>
            </a:avLst>
          </a:prstGeom>
          <a:solidFill>
            <a:srgbClr val="EFEBF8"/>
          </a:solidFill>
          <a:ln/>
        </p:spPr>
      </p:sp>
      <p:sp>
        <p:nvSpPr>
          <p:cNvPr id="11" name="Text 9"/>
          <p:cNvSpPr/>
          <p:nvPr/>
        </p:nvSpPr>
        <p:spPr>
          <a:xfrm>
            <a:off x="640080" y="2322576"/>
            <a:ext cx="4206240" cy="274320"/>
          </a:xfrm>
          <a:prstGeom prst="rect">
            <a:avLst/>
          </a:prstGeom>
          <a:noFill/>
          <a:ln/>
        </p:spPr>
        <p:txBody>
          <a:bodyPr wrap="square" lIns="0" tIns="0" rIns="0" bIns="0" rtlCol="0" anchor="ctr"/>
          <a:lstStyle/>
          <a:p>
            <a:pPr indent="0" marL="0">
              <a:buNone/>
            </a:pPr>
            <a:r>
              <a:rPr lang="en-US" sz="1250" b="1" dirty="0">
                <a:solidFill>
                  <a:srgbClr val="6C4FE0"/>
                </a:solidFill>
                <a:latin typeface="Cambria" pitchFamily="34" charset="0"/>
                <a:ea typeface="Cambria" pitchFamily="34" charset="-122"/>
                <a:cs typeface="Cambria" pitchFamily="34" charset="-120"/>
              </a:rPr>
              <a:t>New paying households / week</a:t>
            </a:r>
            <a:endParaRPr lang="en-US" sz="1250" dirty="0"/>
          </a:p>
        </p:txBody>
      </p:sp>
      <p:sp>
        <p:nvSpPr>
          <p:cNvPr id="12" name="Text 10"/>
          <p:cNvSpPr/>
          <p:nvPr/>
        </p:nvSpPr>
        <p:spPr>
          <a:xfrm>
            <a:off x="640080" y="256032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The target the team is actually run against</a:t>
            </a:r>
            <a:endParaRPr lang="en-US" sz="800" dirty="0"/>
          </a:p>
        </p:txBody>
      </p:sp>
      <p:sp>
        <p:nvSpPr>
          <p:cNvPr id="13" name="Text 11"/>
          <p:cNvSpPr/>
          <p:nvPr/>
        </p:nvSpPr>
        <p:spPr>
          <a:xfrm>
            <a:off x="502920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630936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18</a:t>
            </a:r>
            <a:endParaRPr lang="en-US" sz="1400" dirty="0"/>
          </a:p>
        </p:txBody>
      </p:sp>
      <p:sp>
        <p:nvSpPr>
          <p:cNvPr id="15" name="Text 13"/>
          <p:cNvSpPr/>
          <p:nvPr/>
        </p:nvSpPr>
        <p:spPr>
          <a:xfrm>
            <a:off x="758952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52</a:t>
            </a:r>
            <a:endParaRPr lang="en-US" sz="1400" dirty="0"/>
          </a:p>
        </p:txBody>
      </p:sp>
      <p:sp>
        <p:nvSpPr>
          <p:cNvPr id="16" name="Text 14"/>
          <p:cNvSpPr/>
          <p:nvPr/>
        </p:nvSpPr>
        <p:spPr>
          <a:xfrm>
            <a:off x="886968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115</a:t>
            </a:r>
            <a:endParaRPr lang="en-US" sz="1400" dirty="0"/>
          </a:p>
        </p:txBody>
      </p:sp>
      <p:sp>
        <p:nvSpPr>
          <p:cNvPr id="17" name="Text 15"/>
          <p:cNvSpPr/>
          <p:nvPr/>
        </p:nvSpPr>
        <p:spPr>
          <a:xfrm>
            <a:off x="1014984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195</a:t>
            </a:r>
            <a:endParaRPr lang="en-US" sz="1400" dirty="0"/>
          </a:p>
        </p:txBody>
      </p:sp>
      <p:sp>
        <p:nvSpPr>
          <p:cNvPr id="18" name="Text 16"/>
          <p:cNvSpPr/>
          <p:nvPr/>
        </p:nvSpPr>
        <p:spPr>
          <a:xfrm>
            <a:off x="640080" y="287121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Growth on the year before</a:t>
            </a:r>
            <a:endParaRPr lang="en-US" sz="1100" dirty="0"/>
          </a:p>
        </p:txBody>
      </p:sp>
      <p:sp>
        <p:nvSpPr>
          <p:cNvPr id="19" name="Text 17"/>
          <p:cNvSpPr/>
          <p:nvPr/>
        </p:nvSpPr>
        <p:spPr>
          <a:xfrm>
            <a:off x="640080" y="310896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Decelerating, because it should</a:t>
            </a:r>
            <a:endParaRPr lang="en-US" sz="800" dirty="0"/>
          </a:p>
        </p:txBody>
      </p:sp>
      <p:sp>
        <p:nvSpPr>
          <p:cNvPr id="20" name="Text 18"/>
          <p:cNvSpPr/>
          <p:nvPr/>
        </p:nvSpPr>
        <p:spPr>
          <a:xfrm>
            <a:off x="502920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630936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4.5×</a:t>
            </a:r>
            <a:endParaRPr lang="en-US" sz="1150" dirty="0"/>
          </a:p>
        </p:txBody>
      </p:sp>
      <p:sp>
        <p:nvSpPr>
          <p:cNvPr id="22" name="Text 20"/>
          <p:cNvSpPr/>
          <p:nvPr/>
        </p:nvSpPr>
        <p:spPr>
          <a:xfrm>
            <a:off x="758952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2.9×</a:t>
            </a:r>
            <a:endParaRPr lang="en-US" sz="1150" dirty="0"/>
          </a:p>
        </p:txBody>
      </p:sp>
      <p:sp>
        <p:nvSpPr>
          <p:cNvPr id="23" name="Text 21"/>
          <p:cNvSpPr/>
          <p:nvPr/>
        </p:nvSpPr>
        <p:spPr>
          <a:xfrm>
            <a:off x="886968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2.2×</a:t>
            </a:r>
            <a:endParaRPr lang="en-US" sz="1150" dirty="0"/>
          </a:p>
        </p:txBody>
      </p:sp>
      <p:sp>
        <p:nvSpPr>
          <p:cNvPr id="24" name="Text 22"/>
          <p:cNvSpPr/>
          <p:nvPr/>
        </p:nvSpPr>
        <p:spPr>
          <a:xfrm>
            <a:off x="1014984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1.7×</a:t>
            </a:r>
            <a:endParaRPr lang="en-US" sz="1150" dirty="0"/>
          </a:p>
        </p:txBody>
      </p:sp>
      <p:sp>
        <p:nvSpPr>
          <p:cNvPr id="25" name="Shape 23"/>
          <p:cNvSpPr/>
          <p:nvPr/>
        </p:nvSpPr>
        <p:spPr>
          <a:xfrm>
            <a:off x="512064" y="3392424"/>
            <a:ext cx="10954512" cy="512064"/>
          </a:xfrm>
          <a:prstGeom prst="roundRect">
            <a:avLst>
              <a:gd name="adj" fmla="val 16071"/>
            </a:avLst>
          </a:prstGeom>
          <a:solidFill>
            <a:srgbClr val="EFEBF8"/>
          </a:solidFill>
          <a:ln/>
        </p:spPr>
      </p:sp>
      <p:sp>
        <p:nvSpPr>
          <p:cNvPr id="26" name="Text 24"/>
          <p:cNvSpPr/>
          <p:nvPr/>
        </p:nvSpPr>
        <p:spPr>
          <a:xfrm>
            <a:off x="640080" y="341985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New in the year</a:t>
            </a:r>
            <a:endParaRPr lang="en-US" sz="1100" dirty="0"/>
          </a:p>
        </p:txBody>
      </p:sp>
      <p:sp>
        <p:nvSpPr>
          <p:cNvPr id="27" name="Text 25"/>
          <p:cNvSpPr/>
          <p:nvPr/>
        </p:nvSpPr>
        <p:spPr>
          <a:xfrm>
            <a:off x="502920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208</a:t>
            </a:r>
            <a:endParaRPr lang="en-US" sz="1150" dirty="0"/>
          </a:p>
        </p:txBody>
      </p:sp>
      <p:sp>
        <p:nvSpPr>
          <p:cNvPr id="28" name="Text 26"/>
          <p:cNvSpPr/>
          <p:nvPr/>
        </p:nvSpPr>
        <p:spPr>
          <a:xfrm>
            <a:off x="630936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936</a:t>
            </a:r>
            <a:endParaRPr lang="en-US" sz="1150" dirty="0"/>
          </a:p>
        </p:txBody>
      </p:sp>
      <p:sp>
        <p:nvSpPr>
          <p:cNvPr id="29" name="Text 27"/>
          <p:cNvSpPr/>
          <p:nvPr/>
        </p:nvSpPr>
        <p:spPr>
          <a:xfrm>
            <a:off x="758952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2,704</a:t>
            </a:r>
            <a:endParaRPr lang="en-US" sz="1150" dirty="0"/>
          </a:p>
        </p:txBody>
      </p:sp>
      <p:sp>
        <p:nvSpPr>
          <p:cNvPr id="30" name="Text 28"/>
          <p:cNvSpPr/>
          <p:nvPr/>
        </p:nvSpPr>
        <p:spPr>
          <a:xfrm>
            <a:off x="886968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5,980</a:t>
            </a:r>
            <a:endParaRPr lang="en-US" sz="1150" dirty="0"/>
          </a:p>
        </p:txBody>
      </p:sp>
      <p:sp>
        <p:nvSpPr>
          <p:cNvPr id="31" name="Text 29"/>
          <p:cNvSpPr/>
          <p:nvPr/>
        </p:nvSpPr>
        <p:spPr>
          <a:xfrm>
            <a:off x="1014984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10,140</a:t>
            </a:r>
            <a:endParaRPr lang="en-US" sz="1150" dirty="0"/>
          </a:p>
        </p:txBody>
      </p:sp>
      <p:sp>
        <p:nvSpPr>
          <p:cNvPr id="32" name="Text 30"/>
          <p:cNvSpPr/>
          <p:nvPr/>
        </p:nvSpPr>
        <p:spPr>
          <a:xfrm>
            <a:off x="640080" y="396849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Retained from prior year (70%)</a:t>
            </a:r>
            <a:endParaRPr lang="en-US" sz="1100" dirty="0"/>
          </a:p>
        </p:txBody>
      </p:sp>
      <p:sp>
        <p:nvSpPr>
          <p:cNvPr id="33" name="Text 31"/>
          <p:cNvSpPr/>
          <p:nvPr/>
        </p:nvSpPr>
        <p:spPr>
          <a:xfrm>
            <a:off x="640080" y="420624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30% annual churn taken off the front</a:t>
            </a:r>
            <a:endParaRPr lang="en-US" sz="800" dirty="0"/>
          </a:p>
        </p:txBody>
      </p:sp>
      <p:sp>
        <p:nvSpPr>
          <p:cNvPr id="34" name="Text 32"/>
          <p:cNvSpPr/>
          <p:nvPr/>
        </p:nvSpPr>
        <p:spPr>
          <a:xfrm>
            <a:off x="502920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a:t>
            </a:r>
            <a:endParaRPr lang="en-US" sz="1150" dirty="0"/>
          </a:p>
        </p:txBody>
      </p:sp>
      <p:sp>
        <p:nvSpPr>
          <p:cNvPr id="35" name="Text 33"/>
          <p:cNvSpPr/>
          <p:nvPr/>
        </p:nvSpPr>
        <p:spPr>
          <a:xfrm>
            <a:off x="630936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146</a:t>
            </a:r>
            <a:endParaRPr lang="en-US" sz="1150" dirty="0"/>
          </a:p>
        </p:txBody>
      </p:sp>
      <p:sp>
        <p:nvSpPr>
          <p:cNvPr id="36" name="Text 34"/>
          <p:cNvSpPr/>
          <p:nvPr/>
        </p:nvSpPr>
        <p:spPr>
          <a:xfrm>
            <a:off x="758952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757</a:t>
            </a:r>
            <a:endParaRPr lang="en-US" sz="1150" dirty="0"/>
          </a:p>
        </p:txBody>
      </p:sp>
      <p:sp>
        <p:nvSpPr>
          <p:cNvPr id="37" name="Text 35"/>
          <p:cNvSpPr/>
          <p:nvPr/>
        </p:nvSpPr>
        <p:spPr>
          <a:xfrm>
            <a:off x="886968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2,422</a:t>
            </a:r>
            <a:endParaRPr lang="en-US" sz="1150" dirty="0"/>
          </a:p>
        </p:txBody>
      </p:sp>
      <p:sp>
        <p:nvSpPr>
          <p:cNvPr id="38" name="Text 36"/>
          <p:cNvSpPr/>
          <p:nvPr/>
        </p:nvSpPr>
        <p:spPr>
          <a:xfrm>
            <a:off x="1014984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5,882</a:t>
            </a:r>
            <a:endParaRPr lang="en-US" sz="1150" dirty="0"/>
          </a:p>
        </p:txBody>
      </p:sp>
      <p:sp>
        <p:nvSpPr>
          <p:cNvPr id="39" name="Shape 37"/>
          <p:cNvSpPr/>
          <p:nvPr/>
        </p:nvSpPr>
        <p:spPr>
          <a:xfrm>
            <a:off x="512064" y="4489704"/>
            <a:ext cx="10954512" cy="512064"/>
          </a:xfrm>
          <a:prstGeom prst="roundRect">
            <a:avLst>
              <a:gd name="adj" fmla="val 16071"/>
            </a:avLst>
          </a:prstGeom>
          <a:solidFill>
            <a:srgbClr val="241E33"/>
          </a:solidFill>
          <a:ln/>
        </p:spPr>
      </p:sp>
      <p:sp>
        <p:nvSpPr>
          <p:cNvPr id="40" name="Text 38"/>
          <p:cNvSpPr/>
          <p:nvPr/>
        </p:nvSpPr>
        <p:spPr>
          <a:xfrm>
            <a:off x="640080" y="4517136"/>
            <a:ext cx="420624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Paying households, end of year</a:t>
            </a:r>
            <a:endParaRPr lang="en-US" sz="1250" dirty="0"/>
          </a:p>
        </p:txBody>
      </p:sp>
      <p:sp>
        <p:nvSpPr>
          <p:cNvPr id="41" name="Text 39"/>
          <p:cNvSpPr/>
          <p:nvPr/>
        </p:nvSpPr>
        <p:spPr>
          <a:xfrm>
            <a:off x="502920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208</a:t>
            </a:r>
            <a:endParaRPr lang="en-US" sz="1400" dirty="0"/>
          </a:p>
        </p:txBody>
      </p:sp>
      <p:sp>
        <p:nvSpPr>
          <p:cNvPr id="42" name="Text 40"/>
          <p:cNvSpPr/>
          <p:nvPr/>
        </p:nvSpPr>
        <p:spPr>
          <a:xfrm>
            <a:off x="630936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1,082</a:t>
            </a:r>
            <a:endParaRPr lang="en-US" sz="1400" dirty="0"/>
          </a:p>
        </p:txBody>
      </p:sp>
      <p:sp>
        <p:nvSpPr>
          <p:cNvPr id="43" name="Text 41"/>
          <p:cNvSpPr/>
          <p:nvPr/>
        </p:nvSpPr>
        <p:spPr>
          <a:xfrm>
            <a:off x="758952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3,461</a:t>
            </a:r>
            <a:endParaRPr lang="en-US" sz="1400" dirty="0"/>
          </a:p>
        </p:txBody>
      </p:sp>
      <p:sp>
        <p:nvSpPr>
          <p:cNvPr id="44" name="Text 42"/>
          <p:cNvSpPr/>
          <p:nvPr/>
        </p:nvSpPr>
        <p:spPr>
          <a:xfrm>
            <a:off x="886968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8,403</a:t>
            </a:r>
            <a:endParaRPr lang="en-US" sz="1400" dirty="0"/>
          </a:p>
        </p:txBody>
      </p:sp>
      <p:sp>
        <p:nvSpPr>
          <p:cNvPr id="45" name="Text 43"/>
          <p:cNvSpPr/>
          <p:nvPr/>
        </p:nvSpPr>
        <p:spPr>
          <a:xfrm>
            <a:off x="10149840" y="4535424"/>
            <a:ext cx="1188720" cy="420624"/>
          </a:xfrm>
          <a:prstGeom prst="rect">
            <a:avLst/>
          </a:prstGeom>
          <a:noFill/>
          <a:ln/>
        </p:spPr>
        <p:txBody>
          <a:bodyPr wrap="square" lIns="0" tIns="0" rIns="0" bIns="0" rtlCol="0" anchor="ctr"/>
          <a:lstStyle/>
          <a:p>
            <a:pPr algn="ctr" indent="0" marL="0">
              <a:buNone/>
            </a:pPr>
            <a:r>
              <a:rPr lang="en-US" sz="1400" b="1" dirty="0">
                <a:solidFill>
                  <a:srgbClr val="F0B429"/>
                </a:solidFill>
                <a:latin typeface="Calibri" pitchFamily="34" charset="0"/>
                <a:ea typeface="Calibri" pitchFamily="34" charset="-122"/>
                <a:cs typeface="Calibri" pitchFamily="34" charset="-120"/>
              </a:rPr>
              <a:t>16.0k</a:t>
            </a:r>
            <a:endParaRPr lang="en-US" sz="1400" dirty="0"/>
          </a:p>
        </p:txBody>
      </p:sp>
      <p:sp>
        <p:nvSpPr>
          <p:cNvPr id="46" name="Text 44"/>
          <p:cNvSpPr/>
          <p:nvPr/>
        </p:nvSpPr>
        <p:spPr>
          <a:xfrm>
            <a:off x="640080" y="5175504"/>
            <a:ext cx="6858000" cy="274320"/>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Of those households, how many can paid media actually buy?</a:t>
            </a:r>
            <a:endParaRPr lang="en-US" sz="1400" dirty="0"/>
          </a:p>
        </p:txBody>
      </p:sp>
      <p:sp>
        <p:nvSpPr>
          <p:cNvPr id="47" name="Shape 45"/>
          <p:cNvSpPr/>
          <p:nvPr/>
        </p:nvSpPr>
        <p:spPr>
          <a:xfrm>
            <a:off x="640080" y="5522976"/>
            <a:ext cx="1965960" cy="274320"/>
          </a:xfrm>
          <a:prstGeom prst="roundRect">
            <a:avLst>
              <a:gd name="adj" fmla="val 26667"/>
            </a:avLst>
          </a:prstGeom>
          <a:solidFill>
            <a:srgbClr val="E3DCF2"/>
          </a:solidFill>
          <a:ln/>
        </p:spPr>
      </p:sp>
      <p:sp>
        <p:nvSpPr>
          <p:cNvPr id="48" name="Shape 46"/>
          <p:cNvSpPr/>
          <p:nvPr/>
        </p:nvSpPr>
        <p:spPr>
          <a:xfrm>
            <a:off x="640080" y="5522976"/>
            <a:ext cx="340262" cy="274320"/>
          </a:xfrm>
          <a:prstGeom prst="roundRect">
            <a:avLst>
              <a:gd name="adj" fmla="val 26667"/>
            </a:avLst>
          </a:prstGeom>
          <a:solidFill>
            <a:srgbClr val="6C4FE0"/>
          </a:solidFill>
          <a:ln/>
        </p:spPr>
      </p:sp>
      <p:sp>
        <p:nvSpPr>
          <p:cNvPr id="49" name="Text 47"/>
          <p:cNvSpPr/>
          <p:nvPr/>
        </p:nvSpPr>
        <p:spPr>
          <a:xfrm>
            <a:off x="73152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Y1  17% paid</a:t>
            </a:r>
            <a:endParaRPr lang="en-US" sz="850" dirty="0"/>
          </a:p>
        </p:txBody>
      </p:sp>
      <p:sp>
        <p:nvSpPr>
          <p:cNvPr id="50" name="Text 48"/>
          <p:cNvSpPr/>
          <p:nvPr/>
        </p:nvSpPr>
        <p:spPr>
          <a:xfrm>
            <a:off x="64008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36 bought · 172 earned</a:t>
            </a:r>
            <a:endParaRPr lang="en-US" sz="750" dirty="0"/>
          </a:p>
        </p:txBody>
      </p:sp>
      <p:sp>
        <p:nvSpPr>
          <p:cNvPr id="51" name="Shape 49"/>
          <p:cNvSpPr/>
          <p:nvPr/>
        </p:nvSpPr>
        <p:spPr>
          <a:xfrm>
            <a:off x="2788920" y="5522976"/>
            <a:ext cx="1965960" cy="274320"/>
          </a:xfrm>
          <a:prstGeom prst="roundRect">
            <a:avLst>
              <a:gd name="adj" fmla="val 26667"/>
            </a:avLst>
          </a:prstGeom>
          <a:solidFill>
            <a:srgbClr val="E3DCF2"/>
          </a:solidFill>
          <a:ln/>
        </p:spPr>
      </p:sp>
      <p:sp>
        <p:nvSpPr>
          <p:cNvPr id="52" name="Shape 50"/>
          <p:cNvSpPr/>
          <p:nvPr/>
        </p:nvSpPr>
        <p:spPr>
          <a:xfrm>
            <a:off x="2788920" y="5522976"/>
            <a:ext cx="462085" cy="274320"/>
          </a:xfrm>
          <a:prstGeom prst="roundRect">
            <a:avLst>
              <a:gd name="adj" fmla="val 26667"/>
            </a:avLst>
          </a:prstGeom>
          <a:solidFill>
            <a:srgbClr val="6C4FE0"/>
          </a:solidFill>
          <a:ln/>
        </p:spPr>
      </p:sp>
      <p:sp>
        <p:nvSpPr>
          <p:cNvPr id="53" name="Text 51"/>
          <p:cNvSpPr/>
          <p:nvPr/>
        </p:nvSpPr>
        <p:spPr>
          <a:xfrm>
            <a:off x="288036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Y2  24% paid</a:t>
            </a:r>
            <a:endParaRPr lang="en-US" sz="850" dirty="0"/>
          </a:p>
        </p:txBody>
      </p:sp>
      <p:sp>
        <p:nvSpPr>
          <p:cNvPr id="54" name="Text 52"/>
          <p:cNvSpPr/>
          <p:nvPr/>
        </p:nvSpPr>
        <p:spPr>
          <a:xfrm>
            <a:off x="278892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220 bought · 716 earned</a:t>
            </a:r>
            <a:endParaRPr lang="en-US" sz="750" dirty="0"/>
          </a:p>
        </p:txBody>
      </p:sp>
      <p:sp>
        <p:nvSpPr>
          <p:cNvPr id="55" name="Shape 53"/>
          <p:cNvSpPr/>
          <p:nvPr/>
        </p:nvSpPr>
        <p:spPr>
          <a:xfrm>
            <a:off x="4937760" y="5522976"/>
            <a:ext cx="1965960" cy="274320"/>
          </a:xfrm>
          <a:prstGeom prst="roundRect">
            <a:avLst>
              <a:gd name="adj" fmla="val 26667"/>
            </a:avLst>
          </a:prstGeom>
          <a:solidFill>
            <a:srgbClr val="E3DCF2"/>
          </a:solidFill>
          <a:ln/>
        </p:spPr>
      </p:sp>
      <p:sp>
        <p:nvSpPr>
          <p:cNvPr id="56" name="Shape 54"/>
          <p:cNvSpPr/>
          <p:nvPr/>
        </p:nvSpPr>
        <p:spPr>
          <a:xfrm>
            <a:off x="4937760" y="5522976"/>
            <a:ext cx="604911" cy="274320"/>
          </a:xfrm>
          <a:prstGeom prst="roundRect">
            <a:avLst>
              <a:gd name="adj" fmla="val 26667"/>
            </a:avLst>
          </a:prstGeom>
          <a:solidFill>
            <a:srgbClr val="6C4FE0"/>
          </a:solidFill>
          <a:ln/>
        </p:spPr>
      </p:sp>
      <p:sp>
        <p:nvSpPr>
          <p:cNvPr id="57" name="Text 55"/>
          <p:cNvSpPr/>
          <p:nvPr/>
        </p:nvSpPr>
        <p:spPr>
          <a:xfrm>
            <a:off x="502920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Y3  31% paid</a:t>
            </a:r>
            <a:endParaRPr lang="en-US" sz="850" dirty="0"/>
          </a:p>
        </p:txBody>
      </p:sp>
      <p:sp>
        <p:nvSpPr>
          <p:cNvPr id="58" name="Text 56"/>
          <p:cNvSpPr/>
          <p:nvPr/>
        </p:nvSpPr>
        <p:spPr>
          <a:xfrm>
            <a:off x="493776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832 bought · 1,872 earned</a:t>
            </a:r>
            <a:endParaRPr lang="en-US" sz="750" dirty="0"/>
          </a:p>
        </p:txBody>
      </p:sp>
      <p:sp>
        <p:nvSpPr>
          <p:cNvPr id="59" name="Shape 57"/>
          <p:cNvSpPr/>
          <p:nvPr/>
        </p:nvSpPr>
        <p:spPr>
          <a:xfrm>
            <a:off x="7086600" y="5522976"/>
            <a:ext cx="1965960" cy="274320"/>
          </a:xfrm>
          <a:prstGeom prst="roundRect">
            <a:avLst>
              <a:gd name="adj" fmla="val 26667"/>
            </a:avLst>
          </a:prstGeom>
          <a:solidFill>
            <a:srgbClr val="E3DCF2"/>
          </a:solidFill>
          <a:ln/>
        </p:spPr>
      </p:sp>
      <p:sp>
        <p:nvSpPr>
          <p:cNvPr id="60" name="Shape 58"/>
          <p:cNvSpPr/>
          <p:nvPr/>
        </p:nvSpPr>
        <p:spPr>
          <a:xfrm>
            <a:off x="7086600" y="5522976"/>
            <a:ext cx="706825" cy="274320"/>
          </a:xfrm>
          <a:prstGeom prst="roundRect">
            <a:avLst>
              <a:gd name="adj" fmla="val 26667"/>
            </a:avLst>
          </a:prstGeom>
          <a:solidFill>
            <a:srgbClr val="6C4FE0"/>
          </a:solidFill>
          <a:ln/>
        </p:spPr>
      </p:sp>
      <p:sp>
        <p:nvSpPr>
          <p:cNvPr id="61" name="Text 59"/>
          <p:cNvSpPr/>
          <p:nvPr/>
        </p:nvSpPr>
        <p:spPr>
          <a:xfrm>
            <a:off x="717804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Y4  36% paid</a:t>
            </a:r>
            <a:endParaRPr lang="en-US" sz="850" dirty="0"/>
          </a:p>
        </p:txBody>
      </p:sp>
      <p:sp>
        <p:nvSpPr>
          <p:cNvPr id="62" name="Text 60"/>
          <p:cNvSpPr/>
          <p:nvPr/>
        </p:nvSpPr>
        <p:spPr>
          <a:xfrm>
            <a:off x="708660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2,150 bought · 3,830 earned</a:t>
            </a:r>
            <a:endParaRPr lang="en-US" sz="750" dirty="0"/>
          </a:p>
        </p:txBody>
      </p:sp>
      <p:sp>
        <p:nvSpPr>
          <p:cNvPr id="63" name="Shape 61"/>
          <p:cNvSpPr/>
          <p:nvPr/>
        </p:nvSpPr>
        <p:spPr>
          <a:xfrm>
            <a:off x="9235440" y="5522976"/>
            <a:ext cx="1965960" cy="274320"/>
          </a:xfrm>
          <a:prstGeom prst="roundRect">
            <a:avLst>
              <a:gd name="adj" fmla="val 26667"/>
            </a:avLst>
          </a:prstGeom>
          <a:solidFill>
            <a:srgbClr val="E3DCF2"/>
          </a:solidFill>
          <a:ln/>
        </p:spPr>
      </p:sp>
      <p:sp>
        <p:nvSpPr>
          <p:cNvPr id="64" name="Shape 62"/>
          <p:cNvSpPr/>
          <p:nvPr/>
        </p:nvSpPr>
        <p:spPr>
          <a:xfrm>
            <a:off x="9235440" y="5522976"/>
            <a:ext cx="829813" cy="274320"/>
          </a:xfrm>
          <a:prstGeom prst="roundRect">
            <a:avLst>
              <a:gd name="adj" fmla="val 26667"/>
            </a:avLst>
          </a:prstGeom>
          <a:solidFill>
            <a:srgbClr val="6C4FE0"/>
          </a:solidFill>
          <a:ln/>
        </p:spPr>
      </p:sp>
      <p:sp>
        <p:nvSpPr>
          <p:cNvPr id="65" name="Text 63"/>
          <p:cNvSpPr/>
          <p:nvPr/>
        </p:nvSpPr>
        <p:spPr>
          <a:xfrm>
            <a:off x="932688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Y5  42% paid</a:t>
            </a:r>
            <a:endParaRPr lang="en-US" sz="850" dirty="0"/>
          </a:p>
        </p:txBody>
      </p:sp>
      <p:sp>
        <p:nvSpPr>
          <p:cNvPr id="66" name="Text 64"/>
          <p:cNvSpPr/>
          <p:nvPr/>
        </p:nvSpPr>
        <p:spPr>
          <a:xfrm>
            <a:off x="923544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4,280 bought · 5,860 earned</a:t>
            </a:r>
            <a:endParaRPr lang="en-US" sz="750" dirty="0"/>
          </a:p>
        </p:txBody>
      </p:sp>
      <p:sp>
        <p:nvSpPr>
          <p:cNvPr id="67" name="Text 65"/>
          <p:cNvSpPr/>
          <p:nvPr/>
        </p:nvSpPr>
        <p:spPr>
          <a:xfrm>
            <a:off x="640080" y="6144768"/>
            <a:ext cx="4572000" cy="256032"/>
          </a:xfrm>
          <a:prstGeom prst="rect">
            <a:avLst/>
          </a:prstGeom>
          <a:noFill/>
          <a:ln/>
        </p:spPr>
        <p:txBody>
          <a:bodyPr wrap="square" lIns="0" tIns="0" rIns="0" bIns="0" rtlCol="0" anchor="ctr"/>
          <a:lstStyle/>
          <a:p>
            <a:pPr indent="0" marL="0">
              <a:buNone/>
            </a:pPr>
            <a:r>
              <a:rPr lang="en-US" sz="950" b="1" spc="140" kern="0" dirty="0">
                <a:solidFill>
                  <a:srgbClr val="4A31B0"/>
                </a:solidFill>
                <a:latin typeface="Calibri" pitchFamily="34" charset="0"/>
                <a:ea typeface="Calibri" pitchFamily="34" charset="-122"/>
                <a:cs typeface="Calibri" pitchFamily="34" charset="-120"/>
              </a:rPr>
              <a:t>Year 5 split by market</a:t>
            </a:r>
            <a:endParaRPr lang="en-US" sz="950" dirty="0"/>
          </a:p>
        </p:txBody>
      </p:sp>
      <p:sp>
        <p:nvSpPr>
          <p:cNvPr id="68" name="Text 66"/>
          <p:cNvSpPr/>
          <p:nvPr/>
        </p:nvSpPr>
        <p:spPr>
          <a:xfrm>
            <a:off x="64008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United States — </a:t>
            </a:r>
            <a:endParaRPr lang="en-US" sz="850" dirty="0"/>
          </a:p>
        </p:txBody>
      </p:sp>
      <p:sp>
        <p:nvSpPr>
          <p:cNvPr id="69" name="Text 67"/>
          <p:cNvSpPr/>
          <p:nvPr/>
        </p:nvSpPr>
        <p:spPr>
          <a:xfrm>
            <a:off x="201168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7.3k</a:t>
            </a:r>
            <a:endParaRPr lang="en-US" sz="1200" dirty="0"/>
          </a:p>
        </p:txBody>
      </p:sp>
      <p:sp>
        <p:nvSpPr>
          <p:cNvPr id="70" name="Text 68"/>
          <p:cNvSpPr/>
          <p:nvPr/>
        </p:nvSpPr>
        <p:spPr>
          <a:xfrm>
            <a:off x="64008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520k households</a:t>
            </a:r>
            <a:endParaRPr lang="en-US" sz="750" dirty="0"/>
          </a:p>
        </p:txBody>
      </p:sp>
      <p:sp>
        <p:nvSpPr>
          <p:cNvPr id="71" name="Text 69"/>
          <p:cNvSpPr/>
          <p:nvPr/>
        </p:nvSpPr>
        <p:spPr>
          <a:xfrm>
            <a:off x="278892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United Kingdom — </a:t>
            </a:r>
            <a:endParaRPr lang="en-US" sz="850" dirty="0"/>
          </a:p>
        </p:txBody>
      </p:sp>
      <p:sp>
        <p:nvSpPr>
          <p:cNvPr id="72" name="Text 70"/>
          <p:cNvSpPr/>
          <p:nvPr/>
        </p:nvSpPr>
        <p:spPr>
          <a:xfrm>
            <a:off x="416052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2.0k</a:t>
            </a:r>
            <a:endParaRPr lang="en-US" sz="1200" dirty="0"/>
          </a:p>
        </p:txBody>
      </p:sp>
      <p:sp>
        <p:nvSpPr>
          <p:cNvPr id="73" name="Text 71"/>
          <p:cNvSpPr/>
          <p:nvPr/>
        </p:nvSpPr>
        <p:spPr>
          <a:xfrm>
            <a:off x="278892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190k</a:t>
            </a:r>
            <a:endParaRPr lang="en-US" sz="750" dirty="0"/>
          </a:p>
        </p:txBody>
      </p:sp>
      <p:sp>
        <p:nvSpPr>
          <p:cNvPr id="74" name="Text 72"/>
          <p:cNvSpPr/>
          <p:nvPr/>
        </p:nvSpPr>
        <p:spPr>
          <a:xfrm>
            <a:off x="493776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Canada &amp; Australia — </a:t>
            </a:r>
            <a:endParaRPr lang="en-US" sz="850" dirty="0"/>
          </a:p>
        </p:txBody>
      </p:sp>
      <p:sp>
        <p:nvSpPr>
          <p:cNvPr id="75" name="Text 73"/>
          <p:cNvSpPr/>
          <p:nvPr/>
        </p:nvSpPr>
        <p:spPr>
          <a:xfrm>
            <a:off x="630936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1.3k</a:t>
            </a:r>
            <a:endParaRPr lang="en-US" sz="1200" dirty="0"/>
          </a:p>
        </p:txBody>
      </p:sp>
      <p:sp>
        <p:nvSpPr>
          <p:cNvPr id="76" name="Text 74"/>
          <p:cNvSpPr/>
          <p:nvPr/>
        </p:nvSpPr>
        <p:spPr>
          <a:xfrm>
            <a:off x="493776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250k</a:t>
            </a:r>
            <a:endParaRPr lang="en-US" sz="750" dirty="0"/>
          </a:p>
        </p:txBody>
      </p:sp>
      <p:sp>
        <p:nvSpPr>
          <p:cNvPr id="77" name="Text 75"/>
          <p:cNvSpPr/>
          <p:nvPr/>
        </p:nvSpPr>
        <p:spPr>
          <a:xfrm>
            <a:off x="708660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Gulf — </a:t>
            </a:r>
            <a:endParaRPr lang="en-US" sz="850" dirty="0"/>
          </a:p>
        </p:txBody>
      </p:sp>
      <p:sp>
        <p:nvSpPr>
          <p:cNvPr id="78" name="Text 76"/>
          <p:cNvSpPr/>
          <p:nvPr/>
        </p:nvSpPr>
        <p:spPr>
          <a:xfrm>
            <a:off x="8458200" y="6373368"/>
            <a:ext cx="594360" cy="256032"/>
          </a:xfrm>
          <a:prstGeom prst="rect">
            <a:avLst/>
          </a:prstGeom>
          <a:noFill/>
          <a:ln/>
        </p:spPr>
        <p:txBody>
          <a:bodyPr wrap="square" lIns="0" tIns="0" rIns="0" bIns="0" rtlCol="0" anchor="ctr"/>
          <a:lstStyle/>
          <a:p>
            <a:pPr indent="0" marL="0">
              <a:buNone/>
            </a:pPr>
            <a:r>
              <a:rPr lang="en-US" sz="1200" b="1" dirty="0">
                <a:solidFill>
                  <a:srgbClr val="F0B429"/>
                </a:solidFill>
                <a:latin typeface="Cambria" pitchFamily="34" charset="0"/>
                <a:ea typeface="Cambria" pitchFamily="34" charset="-122"/>
                <a:cs typeface="Cambria" pitchFamily="34" charset="-120"/>
              </a:rPr>
              <a:t>0.6k</a:t>
            </a:r>
            <a:endParaRPr lang="en-US" sz="1200" dirty="0"/>
          </a:p>
        </p:txBody>
      </p:sp>
      <p:sp>
        <p:nvSpPr>
          <p:cNvPr id="79" name="Text 77"/>
          <p:cNvSpPr/>
          <p:nvPr/>
        </p:nvSpPr>
        <p:spPr>
          <a:xfrm>
            <a:off x="708660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350k</a:t>
            </a:r>
            <a:endParaRPr lang="en-US" sz="750" dirty="0"/>
          </a:p>
        </p:txBody>
      </p:sp>
      <p:sp>
        <p:nvSpPr>
          <p:cNvPr id="80" name="Text 78"/>
          <p:cNvSpPr/>
          <p:nvPr/>
        </p:nvSpPr>
        <p:spPr>
          <a:xfrm>
            <a:off x="923544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India — </a:t>
            </a:r>
            <a:endParaRPr lang="en-US" sz="850" dirty="0"/>
          </a:p>
        </p:txBody>
      </p:sp>
      <p:sp>
        <p:nvSpPr>
          <p:cNvPr id="81" name="Text 79"/>
          <p:cNvSpPr/>
          <p:nvPr/>
        </p:nvSpPr>
        <p:spPr>
          <a:xfrm>
            <a:off x="10607040" y="6373368"/>
            <a:ext cx="594360" cy="256032"/>
          </a:xfrm>
          <a:prstGeom prst="rect">
            <a:avLst/>
          </a:prstGeom>
          <a:noFill/>
          <a:ln/>
        </p:spPr>
        <p:txBody>
          <a:bodyPr wrap="square" lIns="0" tIns="0" rIns="0" bIns="0" rtlCol="0" anchor="ctr"/>
          <a:lstStyle/>
          <a:p>
            <a:pPr indent="0" marL="0">
              <a:buNone/>
            </a:pPr>
            <a:r>
              <a:rPr lang="en-US" sz="1200" b="1" dirty="0">
                <a:solidFill>
                  <a:srgbClr val="178A4C"/>
                </a:solidFill>
                <a:latin typeface="Cambria" pitchFamily="34" charset="0"/>
                <a:ea typeface="Cambria" pitchFamily="34" charset="-122"/>
                <a:cs typeface="Cambria" pitchFamily="34" charset="-120"/>
              </a:rPr>
              <a:t>4.8k</a:t>
            </a:r>
            <a:endParaRPr lang="en-US" sz="1200" dirty="0"/>
          </a:p>
        </p:txBody>
      </p:sp>
      <p:sp>
        <p:nvSpPr>
          <p:cNvPr id="82" name="Text 80"/>
          <p:cNvSpPr/>
          <p:nvPr/>
        </p:nvSpPr>
        <p:spPr>
          <a:xfrm>
            <a:off x="923544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6.0M</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8229600" cy="27432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PAID MEDIA — WHAT IT WOULD TAKE</a:t>
            </a:r>
            <a:endParaRPr lang="en-US" sz="1200" dirty="0"/>
          </a:p>
        </p:txBody>
      </p:sp>
      <p:sp>
        <p:nvSpPr>
          <p:cNvPr id="3" name="Text 1"/>
          <p:cNvSpPr/>
          <p:nvPr/>
        </p:nvSpPr>
        <p:spPr>
          <a:xfrm>
            <a:off x="640080" y="822960"/>
            <a:ext cx="10424160" cy="932688"/>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The budget is not chosen. It is 18% of what came in last quarter.</a:t>
            </a:r>
            <a:endParaRPr lang="en-US" sz="2700" dirty="0"/>
          </a:p>
        </p:txBody>
      </p:sp>
      <p:sp>
        <p:nvSpPr>
          <p:cNvPr id="4" name="Text 2"/>
          <p:cNvSpPr/>
          <p:nvPr/>
        </p:nvSpPr>
        <p:spPr>
          <a:xfrm>
            <a:off x="640080" y="1810512"/>
            <a:ext cx="10424160" cy="384048"/>
          </a:xfrm>
          <a:prstGeom prst="rect">
            <a:avLst/>
          </a:prstGeom>
          <a:noFill/>
          <a:ln/>
        </p:spPr>
        <p:txBody>
          <a:bodyPr wrap="square" lIns="0" tIns="0" rIns="0" bIns="0" rtlCol="0" anchor="ctr"/>
          <a:lstStyle/>
          <a:p>
            <a:pPr indent="0" marL="0">
              <a:lnSpc>
                <a:spcPts val="1500"/>
              </a:lnSpc>
              <a:buNone/>
            </a:pPr>
            <a:r>
              <a:rPr lang="en-US" sz="1250" dirty="0">
                <a:solidFill>
                  <a:srgbClr val="E3DCF2"/>
                </a:solidFill>
                <a:latin typeface="Calibri" pitchFamily="34" charset="0"/>
                <a:ea typeface="Calibri" pitchFamily="34" charset="-122"/>
                <a:cs typeface="Calibri" pitchFamily="34" charset="-120"/>
              </a:rPr>
              <a:t>That is the whole discipline. It means paid media can never be the reason a month loses money — and it means we spend $4.7k in Year 1 and $556k in Year 5 without ever making a budget decision.</a:t>
            </a:r>
            <a:endParaRPr lang="en-US" sz="1250" dirty="0"/>
          </a:p>
        </p:txBody>
      </p:sp>
      <p:sp>
        <p:nvSpPr>
          <p:cNvPr id="5" name="Text 3"/>
          <p:cNvSpPr/>
          <p:nvPr/>
        </p:nvSpPr>
        <p:spPr>
          <a:xfrm>
            <a:off x="356616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CPC</a:t>
            </a:r>
            <a:endParaRPr lang="en-US" sz="900" dirty="0"/>
          </a:p>
        </p:txBody>
      </p:sp>
      <p:sp>
        <p:nvSpPr>
          <p:cNvPr id="6" name="Text 4"/>
          <p:cNvSpPr/>
          <p:nvPr/>
        </p:nvSpPr>
        <p:spPr>
          <a:xfrm>
            <a:off x="489204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CPL</a:t>
            </a:r>
            <a:endParaRPr lang="en-US" sz="900" dirty="0"/>
          </a:p>
        </p:txBody>
      </p:sp>
      <p:sp>
        <p:nvSpPr>
          <p:cNvPr id="7" name="Text 5"/>
          <p:cNvSpPr/>
          <p:nvPr/>
        </p:nvSpPr>
        <p:spPr>
          <a:xfrm>
            <a:off x="621792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CAC</a:t>
            </a:r>
            <a:endParaRPr lang="en-US" sz="900" dirty="0"/>
          </a:p>
        </p:txBody>
      </p:sp>
      <p:sp>
        <p:nvSpPr>
          <p:cNvPr id="8" name="Text 6"/>
          <p:cNvSpPr/>
          <p:nvPr/>
        </p:nvSpPr>
        <p:spPr>
          <a:xfrm>
            <a:off x="740664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YR-1 ROAS</a:t>
            </a:r>
            <a:endParaRPr lang="en-US" sz="900" dirty="0"/>
          </a:p>
        </p:txBody>
      </p:sp>
      <p:sp>
        <p:nvSpPr>
          <p:cNvPr id="9" name="Shape 7"/>
          <p:cNvSpPr/>
          <p:nvPr/>
        </p:nvSpPr>
        <p:spPr>
          <a:xfrm>
            <a:off x="512064" y="2459736"/>
            <a:ext cx="10954512" cy="585216"/>
          </a:xfrm>
          <a:prstGeom prst="roundRect">
            <a:avLst>
              <a:gd name="adj" fmla="val 14063"/>
            </a:avLst>
          </a:prstGeom>
          <a:solidFill>
            <a:srgbClr val="FFFFFF">
              <a:alpha val="6000"/>
            </a:srgbClr>
          </a:solidFill>
          <a:ln/>
        </p:spPr>
      </p:sp>
      <p:sp>
        <p:nvSpPr>
          <p:cNvPr id="10" name="Shape 8"/>
          <p:cNvSpPr/>
          <p:nvPr/>
        </p:nvSpPr>
        <p:spPr>
          <a:xfrm rot="5400000">
            <a:off x="640080" y="2642616"/>
            <a:ext cx="237744" cy="237744"/>
          </a:xfrm>
          <a:prstGeom prst="hexagon">
            <a:avLst/>
          </a:prstGeom>
          <a:solidFill>
            <a:srgbClr val="178A4C"/>
          </a:solidFill>
          <a:ln/>
        </p:spPr>
      </p:sp>
      <p:sp>
        <p:nvSpPr>
          <p:cNvPr id="11" name="Text 9"/>
          <p:cNvSpPr/>
          <p:nvPr/>
        </p:nvSpPr>
        <p:spPr>
          <a:xfrm>
            <a:off x="987552" y="2505456"/>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Google Search</a:t>
            </a:r>
            <a:endParaRPr lang="en-US" sz="1250" dirty="0"/>
          </a:p>
        </p:txBody>
      </p:sp>
      <p:sp>
        <p:nvSpPr>
          <p:cNvPr id="12" name="Text 10"/>
          <p:cNvSpPr/>
          <p:nvPr/>
        </p:nvSpPr>
        <p:spPr>
          <a:xfrm>
            <a:off x="3566160" y="2505456"/>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$1.80–3.50</a:t>
            </a:r>
            <a:endParaRPr lang="en-US" sz="1100" dirty="0"/>
          </a:p>
        </p:txBody>
      </p:sp>
      <p:sp>
        <p:nvSpPr>
          <p:cNvPr id="13" name="Text 11"/>
          <p:cNvSpPr/>
          <p:nvPr/>
        </p:nvSpPr>
        <p:spPr>
          <a:xfrm>
            <a:off x="4892040" y="2505456"/>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$10–16</a:t>
            </a:r>
            <a:endParaRPr lang="en-US" sz="1100" dirty="0"/>
          </a:p>
        </p:txBody>
      </p:sp>
      <p:sp>
        <p:nvSpPr>
          <p:cNvPr id="14" name="Text 12"/>
          <p:cNvSpPr/>
          <p:nvPr/>
        </p:nvSpPr>
        <p:spPr>
          <a:xfrm>
            <a:off x="6217920" y="2505456"/>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$100</a:t>
            </a:r>
            <a:endParaRPr lang="en-US" sz="1100" dirty="0"/>
          </a:p>
        </p:txBody>
      </p:sp>
      <p:sp>
        <p:nvSpPr>
          <p:cNvPr id="15" name="Text 13"/>
          <p:cNvSpPr/>
          <p:nvPr/>
        </p:nvSpPr>
        <p:spPr>
          <a:xfrm>
            <a:off x="7406640" y="2505456"/>
            <a:ext cx="1234440" cy="493776"/>
          </a:xfrm>
          <a:prstGeom prst="rect">
            <a:avLst/>
          </a:prstGeom>
          <a:noFill/>
          <a:ln/>
        </p:spPr>
        <p:txBody>
          <a:bodyPr wrap="square" lIns="0" tIns="0" rIns="0" bIns="0" rtlCol="0" anchor="ctr"/>
          <a:lstStyle/>
          <a:p>
            <a:pPr algn="ctr" indent="0" marL="0">
              <a:buNone/>
            </a:pPr>
            <a:r>
              <a:rPr lang="en-US" sz="1100" b="1" dirty="0">
                <a:solidFill>
                  <a:srgbClr val="178A4C"/>
                </a:solidFill>
                <a:latin typeface="Calibri" pitchFamily="34" charset="0"/>
                <a:ea typeface="Calibri" pitchFamily="34" charset="-122"/>
                <a:cs typeface="Calibri" pitchFamily="34" charset="-120"/>
              </a:rPr>
              <a:t>2.1×</a:t>
            </a:r>
            <a:endParaRPr lang="en-US" sz="1100" dirty="0"/>
          </a:p>
        </p:txBody>
      </p:sp>
      <p:sp>
        <p:nvSpPr>
          <p:cNvPr id="16" name="Text 14"/>
          <p:cNvSpPr/>
          <p:nvPr/>
        </p:nvSpPr>
        <p:spPr>
          <a:xfrm>
            <a:off x="8778240" y="2505456"/>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Highest intent: "spelling bee practice", "11+ verbal reasoning". Small volume, best economics. Start here.</a:t>
            </a:r>
            <a:endParaRPr lang="en-US" sz="900" dirty="0"/>
          </a:p>
        </p:txBody>
      </p:sp>
      <p:sp>
        <p:nvSpPr>
          <p:cNvPr id="17" name="Shape 15"/>
          <p:cNvSpPr/>
          <p:nvPr/>
        </p:nvSpPr>
        <p:spPr>
          <a:xfrm rot="5400000">
            <a:off x="640080" y="3273552"/>
            <a:ext cx="237744" cy="237744"/>
          </a:xfrm>
          <a:prstGeom prst="hexagon">
            <a:avLst/>
          </a:prstGeom>
          <a:solidFill>
            <a:srgbClr val="6C4FE0"/>
          </a:solidFill>
          <a:ln/>
        </p:spPr>
      </p:sp>
      <p:sp>
        <p:nvSpPr>
          <p:cNvPr id="18" name="Text 16"/>
          <p:cNvSpPr/>
          <p:nvPr/>
        </p:nvSpPr>
        <p:spPr>
          <a:xfrm>
            <a:off x="987552" y="3136392"/>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Meta</a:t>
            </a:r>
            <a:endParaRPr lang="en-US" sz="1250" dirty="0"/>
          </a:p>
        </p:txBody>
      </p:sp>
      <p:sp>
        <p:nvSpPr>
          <p:cNvPr id="19" name="Text 17"/>
          <p:cNvSpPr/>
          <p:nvPr/>
        </p:nvSpPr>
        <p:spPr>
          <a:xfrm>
            <a:off x="3566160" y="3136392"/>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$1.20–1.80</a:t>
            </a:r>
            <a:endParaRPr lang="en-US" sz="1100" dirty="0"/>
          </a:p>
        </p:txBody>
      </p:sp>
      <p:sp>
        <p:nvSpPr>
          <p:cNvPr id="20" name="Text 18"/>
          <p:cNvSpPr/>
          <p:nvPr/>
        </p:nvSpPr>
        <p:spPr>
          <a:xfrm>
            <a:off x="4892040" y="3136392"/>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$12–18</a:t>
            </a:r>
            <a:endParaRPr lang="en-US" sz="1100" dirty="0"/>
          </a:p>
        </p:txBody>
      </p:sp>
      <p:sp>
        <p:nvSpPr>
          <p:cNvPr id="21" name="Text 19"/>
          <p:cNvSpPr/>
          <p:nvPr/>
        </p:nvSpPr>
        <p:spPr>
          <a:xfrm>
            <a:off x="6217920" y="3136392"/>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$156</a:t>
            </a:r>
            <a:endParaRPr lang="en-US" sz="1100" dirty="0"/>
          </a:p>
        </p:txBody>
      </p:sp>
      <p:sp>
        <p:nvSpPr>
          <p:cNvPr id="22" name="Text 20"/>
          <p:cNvSpPr/>
          <p:nvPr/>
        </p:nvSpPr>
        <p:spPr>
          <a:xfrm>
            <a:off x="7406640" y="3136392"/>
            <a:ext cx="1234440" cy="493776"/>
          </a:xfrm>
          <a:prstGeom prst="rect">
            <a:avLst/>
          </a:prstGeom>
          <a:noFill/>
          <a:ln/>
        </p:spPr>
        <p:txBody>
          <a:bodyPr wrap="square" lIns="0" tIns="0" rIns="0" bIns="0" rtlCol="0" anchor="ctr"/>
          <a:lstStyle/>
          <a:p>
            <a:pPr algn="ctr" indent="0" marL="0">
              <a:buNone/>
            </a:pPr>
            <a:r>
              <a:rPr lang="en-US" sz="1100" b="1" dirty="0">
                <a:solidFill>
                  <a:srgbClr val="6C4FE0"/>
                </a:solidFill>
                <a:latin typeface="Calibri" pitchFamily="34" charset="0"/>
                <a:ea typeface="Calibri" pitchFamily="34" charset="-122"/>
                <a:cs typeface="Calibri" pitchFamily="34" charset="-120"/>
              </a:rPr>
              <a:t>1.3×</a:t>
            </a:r>
            <a:endParaRPr lang="en-US" sz="1100" dirty="0"/>
          </a:p>
        </p:txBody>
      </p:sp>
      <p:sp>
        <p:nvSpPr>
          <p:cNvPr id="23" name="Text 21"/>
          <p:cNvSpPr/>
          <p:nvPr/>
        </p:nvSpPr>
        <p:spPr>
          <a:xfrm>
            <a:off x="8778240" y="3136392"/>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Parent targeting and lookalikes off converters. Volume lives here; so does the waste.</a:t>
            </a:r>
            <a:endParaRPr lang="en-US" sz="900" dirty="0"/>
          </a:p>
        </p:txBody>
      </p:sp>
      <p:sp>
        <p:nvSpPr>
          <p:cNvPr id="24" name="Shape 22"/>
          <p:cNvSpPr/>
          <p:nvPr/>
        </p:nvSpPr>
        <p:spPr>
          <a:xfrm>
            <a:off x="512064" y="3721608"/>
            <a:ext cx="10954512" cy="585216"/>
          </a:xfrm>
          <a:prstGeom prst="roundRect">
            <a:avLst>
              <a:gd name="adj" fmla="val 14063"/>
            </a:avLst>
          </a:prstGeom>
          <a:solidFill>
            <a:srgbClr val="FFFFFF">
              <a:alpha val="6000"/>
            </a:srgbClr>
          </a:solidFill>
          <a:ln/>
        </p:spPr>
      </p:sp>
      <p:sp>
        <p:nvSpPr>
          <p:cNvPr id="25" name="Shape 23"/>
          <p:cNvSpPr/>
          <p:nvPr/>
        </p:nvSpPr>
        <p:spPr>
          <a:xfrm rot="5400000">
            <a:off x="640080" y="3904488"/>
            <a:ext cx="237744" cy="237744"/>
          </a:xfrm>
          <a:prstGeom prst="hexagon">
            <a:avLst/>
          </a:prstGeom>
          <a:solidFill>
            <a:srgbClr val="F0B429"/>
          </a:solidFill>
          <a:ln/>
        </p:spPr>
      </p:sp>
      <p:sp>
        <p:nvSpPr>
          <p:cNvPr id="26" name="Text 24"/>
          <p:cNvSpPr/>
          <p:nvPr/>
        </p:nvSpPr>
        <p:spPr>
          <a:xfrm>
            <a:off x="987552" y="3767328"/>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YouTube — own channel</a:t>
            </a:r>
            <a:endParaRPr lang="en-US" sz="1250" dirty="0"/>
          </a:p>
        </p:txBody>
      </p:sp>
      <p:sp>
        <p:nvSpPr>
          <p:cNvPr id="27" name="Text 25"/>
          <p:cNvSpPr/>
          <p:nvPr/>
        </p:nvSpPr>
        <p:spPr>
          <a:xfrm>
            <a:off x="3566160" y="3767328"/>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organic</a:t>
            </a:r>
            <a:endParaRPr lang="en-US" sz="1100" dirty="0"/>
          </a:p>
        </p:txBody>
      </p:sp>
      <p:sp>
        <p:nvSpPr>
          <p:cNvPr id="28" name="Text 26"/>
          <p:cNvSpPr/>
          <p:nvPr/>
        </p:nvSpPr>
        <p:spPr>
          <a:xfrm>
            <a:off x="4892040" y="3767328"/>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$2–6</a:t>
            </a:r>
            <a:endParaRPr lang="en-US" sz="1100" dirty="0"/>
          </a:p>
        </p:txBody>
      </p:sp>
      <p:sp>
        <p:nvSpPr>
          <p:cNvPr id="29" name="Text 27"/>
          <p:cNvSpPr/>
          <p:nvPr/>
        </p:nvSpPr>
        <p:spPr>
          <a:xfrm>
            <a:off x="6217920" y="3767328"/>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$25</a:t>
            </a:r>
            <a:endParaRPr lang="en-US" sz="1100" dirty="0"/>
          </a:p>
        </p:txBody>
      </p:sp>
      <p:sp>
        <p:nvSpPr>
          <p:cNvPr id="30" name="Text 28"/>
          <p:cNvSpPr/>
          <p:nvPr/>
        </p:nvSpPr>
        <p:spPr>
          <a:xfrm>
            <a:off x="7406640" y="3767328"/>
            <a:ext cx="1234440" cy="493776"/>
          </a:xfrm>
          <a:prstGeom prst="rect">
            <a:avLst/>
          </a:prstGeom>
          <a:noFill/>
          <a:ln/>
        </p:spPr>
        <p:txBody>
          <a:bodyPr wrap="square" lIns="0" tIns="0" rIns="0" bIns="0" rtlCol="0" anchor="ctr"/>
          <a:lstStyle/>
          <a:p>
            <a:pPr algn="ctr" indent="0" marL="0">
              <a:buNone/>
            </a:pPr>
            <a:r>
              <a:rPr lang="en-US" sz="1100" b="1" dirty="0">
                <a:solidFill>
                  <a:srgbClr val="F0B429"/>
                </a:solidFill>
                <a:latin typeface="Calibri" pitchFamily="34" charset="0"/>
                <a:ea typeface="Calibri" pitchFamily="34" charset="-122"/>
                <a:cs typeface="Calibri" pitchFamily="34" charset="-120"/>
              </a:rPr>
              <a:t>8.4×</a:t>
            </a:r>
            <a:endParaRPr lang="en-US" sz="1100" dirty="0"/>
          </a:p>
        </p:txBody>
      </p:sp>
      <p:sp>
        <p:nvSpPr>
          <p:cNvPr id="31" name="Text 29"/>
          <p:cNvSpPr/>
          <p:nvPr/>
        </p:nvSpPr>
        <p:spPr>
          <a:xfrm>
            <a:off x="8778240" y="3767328"/>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Amortised production cost per conversion, and it falls every year the back catalogue grows.</a:t>
            </a:r>
            <a:endParaRPr lang="en-US" sz="900" dirty="0"/>
          </a:p>
        </p:txBody>
      </p:sp>
      <p:sp>
        <p:nvSpPr>
          <p:cNvPr id="32" name="Shape 30"/>
          <p:cNvSpPr/>
          <p:nvPr/>
        </p:nvSpPr>
        <p:spPr>
          <a:xfrm rot="5400000">
            <a:off x="640080" y="4535424"/>
            <a:ext cx="237744" cy="237744"/>
          </a:xfrm>
          <a:prstGeom prst="hexagon">
            <a:avLst/>
          </a:prstGeom>
          <a:solidFill>
            <a:srgbClr val="E3B23C"/>
          </a:solidFill>
          <a:ln/>
        </p:spPr>
      </p:sp>
      <p:sp>
        <p:nvSpPr>
          <p:cNvPr id="33" name="Text 31"/>
          <p:cNvSpPr/>
          <p:nvPr/>
        </p:nvSpPr>
        <p:spPr>
          <a:xfrm>
            <a:off x="987552" y="4398264"/>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Events &amp; community</a:t>
            </a:r>
            <a:endParaRPr lang="en-US" sz="1250" dirty="0"/>
          </a:p>
        </p:txBody>
      </p:sp>
      <p:sp>
        <p:nvSpPr>
          <p:cNvPr id="34" name="Text 32"/>
          <p:cNvSpPr/>
          <p:nvPr/>
        </p:nvSpPr>
        <p:spPr>
          <a:xfrm>
            <a:off x="3566160" y="4398264"/>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n/a</a:t>
            </a:r>
            <a:endParaRPr lang="en-US" sz="1100" dirty="0"/>
          </a:p>
        </p:txBody>
      </p:sp>
      <p:sp>
        <p:nvSpPr>
          <p:cNvPr id="35" name="Text 33"/>
          <p:cNvSpPr/>
          <p:nvPr/>
        </p:nvSpPr>
        <p:spPr>
          <a:xfrm>
            <a:off x="4892040" y="4398264"/>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$25–50</a:t>
            </a:r>
            <a:endParaRPr lang="en-US" sz="1100" dirty="0"/>
          </a:p>
        </p:txBody>
      </p:sp>
      <p:sp>
        <p:nvSpPr>
          <p:cNvPr id="36" name="Text 34"/>
          <p:cNvSpPr/>
          <p:nvPr/>
        </p:nvSpPr>
        <p:spPr>
          <a:xfrm>
            <a:off x="6217920" y="4398264"/>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$70</a:t>
            </a:r>
            <a:endParaRPr lang="en-US" sz="1100" dirty="0"/>
          </a:p>
        </p:txBody>
      </p:sp>
      <p:sp>
        <p:nvSpPr>
          <p:cNvPr id="37" name="Text 35"/>
          <p:cNvSpPr/>
          <p:nvPr/>
        </p:nvSpPr>
        <p:spPr>
          <a:xfrm>
            <a:off x="7406640" y="4398264"/>
            <a:ext cx="1234440" cy="493776"/>
          </a:xfrm>
          <a:prstGeom prst="rect">
            <a:avLst/>
          </a:prstGeom>
          <a:noFill/>
          <a:ln/>
        </p:spPr>
        <p:txBody>
          <a:bodyPr wrap="square" lIns="0" tIns="0" rIns="0" bIns="0" rtlCol="0" anchor="ctr"/>
          <a:lstStyle/>
          <a:p>
            <a:pPr algn="ctr" indent="0" marL="0">
              <a:buNone/>
            </a:pPr>
            <a:r>
              <a:rPr lang="en-US" sz="1100" b="1" dirty="0">
                <a:solidFill>
                  <a:srgbClr val="E3B23C"/>
                </a:solidFill>
                <a:latin typeface="Calibri" pitchFamily="34" charset="0"/>
                <a:ea typeface="Calibri" pitchFamily="34" charset="-122"/>
                <a:cs typeface="Calibri" pitchFamily="34" charset="-120"/>
              </a:rPr>
              <a:t>3.0×</a:t>
            </a:r>
            <a:endParaRPr lang="en-US" sz="1100" dirty="0"/>
          </a:p>
        </p:txBody>
      </p:sp>
      <p:sp>
        <p:nvSpPr>
          <p:cNvPr id="38" name="Text 36"/>
          <p:cNvSpPr/>
          <p:nvPr/>
        </p:nvSpPr>
        <p:spPr>
          <a:xfrm>
            <a:off x="8778240" y="4398264"/>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Expensive per lead, converts three to four times better, and the LTV is longest.</a:t>
            </a:r>
            <a:endParaRPr lang="en-US" sz="900" dirty="0"/>
          </a:p>
        </p:txBody>
      </p:sp>
      <p:sp>
        <p:nvSpPr>
          <p:cNvPr id="39" name="Shape 37"/>
          <p:cNvSpPr/>
          <p:nvPr/>
        </p:nvSpPr>
        <p:spPr>
          <a:xfrm>
            <a:off x="512064" y="4983480"/>
            <a:ext cx="10954512" cy="585216"/>
          </a:xfrm>
          <a:prstGeom prst="roundRect">
            <a:avLst>
              <a:gd name="adj" fmla="val 14063"/>
            </a:avLst>
          </a:prstGeom>
          <a:solidFill>
            <a:srgbClr val="FFFFFF">
              <a:alpha val="6000"/>
            </a:srgbClr>
          </a:solidFill>
          <a:ln/>
        </p:spPr>
      </p:sp>
      <p:sp>
        <p:nvSpPr>
          <p:cNvPr id="40" name="Shape 38"/>
          <p:cNvSpPr/>
          <p:nvPr/>
        </p:nvSpPr>
        <p:spPr>
          <a:xfrm rot="5400000">
            <a:off x="640080" y="5166360"/>
            <a:ext cx="237744" cy="237744"/>
          </a:xfrm>
          <a:prstGeom prst="hexagon">
            <a:avLst/>
          </a:prstGeom>
          <a:solidFill>
            <a:srgbClr val="178A4C"/>
          </a:solidFill>
          <a:ln/>
        </p:spPr>
      </p:sp>
      <p:sp>
        <p:nvSpPr>
          <p:cNvPr id="41" name="Text 39"/>
          <p:cNvSpPr/>
          <p:nvPr/>
        </p:nvSpPr>
        <p:spPr>
          <a:xfrm>
            <a:off x="987552" y="5029200"/>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Referral &amp; WhatsApp</a:t>
            </a:r>
            <a:endParaRPr lang="en-US" sz="1250" dirty="0"/>
          </a:p>
        </p:txBody>
      </p:sp>
      <p:sp>
        <p:nvSpPr>
          <p:cNvPr id="42" name="Text 40"/>
          <p:cNvSpPr/>
          <p:nvPr/>
        </p:nvSpPr>
        <p:spPr>
          <a:xfrm>
            <a:off x="3566160" y="5029200"/>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~$0</a:t>
            </a:r>
            <a:endParaRPr lang="en-US" sz="1100" dirty="0"/>
          </a:p>
        </p:txBody>
      </p:sp>
      <p:sp>
        <p:nvSpPr>
          <p:cNvPr id="43" name="Text 41"/>
          <p:cNvSpPr/>
          <p:nvPr/>
        </p:nvSpPr>
        <p:spPr>
          <a:xfrm>
            <a:off x="4892040" y="5029200"/>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~$0</a:t>
            </a:r>
            <a:endParaRPr lang="en-US" sz="1100" dirty="0"/>
          </a:p>
        </p:txBody>
      </p:sp>
      <p:sp>
        <p:nvSpPr>
          <p:cNvPr id="44" name="Text 42"/>
          <p:cNvSpPr/>
          <p:nvPr/>
        </p:nvSpPr>
        <p:spPr>
          <a:xfrm>
            <a:off x="6217920" y="5029200"/>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$8</a:t>
            </a:r>
            <a:endParaRPr lang="en-US" sz="1100" dirty="0"/>
          </a:p>
        </p:txBody>
      </p:sp>
      <p:sp>
        <p:nvSpPr>
          <p:cNvPr id="45" name="Text 43"/>
          <p:cNvSpPr/>
          <p:nvPr/>
        </p:nvSpPr>
        <p:spPr>
          <a:xfrm>
            <a:off x="7406640" y="5029200"/>
            <a:ext cx="1234440" cy="493776"/>
          </a:xfrm>
          <a:prstGeom prst="rect">
            <a:avLst/>
          </a:prstGeom>
          <a:noFill/>
          <a:ln/>
        </p:spPr>
        <p:txBody>
          <a:bodyPr wrap="square" lIns="0" tIns="0" rIns="0" bIns="0" rtlCol="0" anchor="ctr"/>
          <a:lstStyle/>
          <a:p>
            <a:pPr algn="ctr" indent="0" marL="0">
              <a:buNone/>
            </a:pPr>
            <a:r>
              <a:rPr lang="en-US" sz="1100" b="1" dirty="0">
                <a:solidFill>
                  <a:srgbClr val="178A4C"/>
                </a:solidFill>
                <a:latin typeface="Calibri" pitchFamily="34" charset="0"/>
                <a:ea typeface="Calibri" pitchFamily="34" charset="-122"/>
                <a:cs typeface="Calibri" pitchFamily="34" charset="-120"/>
              </a:rPr>
              <a:t>26×</a:t>
            </a:r>
            <a:endParaRPr lang="en-US" sz="1100" dirty="0"/>
          </a:p>
        </p:txBody>
      </p:sp>
      <p:sp>
        <p:nvSpPr>
          <p:cNvPr id="46" name="Text 44"/>
          <p:cNvSpPr/>
          <p:nvPr/>
        </p:nvSpPr>
        <p:spPr>
          <a:xfrm>
            <a:off x="8778240" y="5029200"/>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The real diaspora channel. Cannot be bought, only earned — and it compounds.</a:t>
            </a:r>
            <a:endParaRPr lang="en-US" sz="900" dirty="0"/>
          </a:p>
        </p:txBody>
      </p:sp>
      <p:sp>
        <p:nvSpPr>
          <p:cNvPr id="47" name="Shape 45"/>
          <p:cNvSpPr/>
          <p:nvPr/>
        </p:nvSpPr>
        <p:spPr>
          <a:xfrm>
            <a:off x="640080" y="5742432"/>
            <a:ext cx="3401568" cy="969264"/>
          </a:xfrm>
          <a:prstGeom prst="roundRect">
            <a:avLst>
              <a:gd name="adj" fmla="val 11321"/>
            </a:avLst>
          </a:prstGeom>
          <a:solidFill>
            <a:srgbClr val="FFFFFF">
              <a:alpha val="8000"/>
            </a:srgbClr>
          </a:solidFill>
          <a:ln/>
        </p:spPr>
      </p:sp>
      <p:sp>
        <p:nvSpPr>
          <p:cNvPr id="48" name="Text 46"/>
          <p:cNvSpPr/>
          <p:nvPr/>
        </p:nvSpPr>
        <p:spPr>
          <a:xfrm>
            <a:off x="841248"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Blended CAC</a:t>
            </a:r>
            <a:endParaRPr lang="en-US" sz="900" dirty="0"/>
          </a:p>
        </p:txBody>
      </p:sp>
      <p:sp>
        <p:nvSpPr>
          <p:cNvPr id="49" name="Text 47"/>
          <p:cNvSpPr/>
          <p:nvPr/>
        </p:nvSpPr>
        <p:spPr>
          <a:xfrm>
            <a:off x="2240280"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$22 → $55</a:t>
            </a:r>
            <a:endParaRPr lang="en-US" sz="1500" dirty="0"/>
          </a:p>
        </p:txBody>
      </p:sp>
      <p:sp>
        <p:nvSpPr>
          <p:cNvPr id="50" name="Text 48"/>
          <p:cNvSpPr/>
          <p:nvPr/>
        </p:nvSpPr>
        <p:spPr>
          <a:xfrm>
            <a:off x="841248"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Total paid spend ÷ ALL new households. It rises as paid takes a larger share — from 17% of new households in Year 1 to 42% in Year 5.</a:t>
            </a:r>
            <a:endParaRPr lang="en-US" sz="800" dirty="0"/>
          </a:p>
        </p:txBody>
      </p:sp>
      <p:sp>
        <p:nvSpPr>
          <p:cNvPr id="51" name="Shape 49"/>
          <p:cNvSpPr/>
          <p:nvPr/>
        </p:nvSpPr>
        <p:spPr>
          <a:xfrm>
            <a:off x="4315968" y="5742432"/>
            <a:ext cx="3401568" cy="969264"/>
          </a:xfrm>
          <a:prstGeom prst="roundRect">
            <a:avLst>
              <a:gd name="adj" fmla="val 11321"/>
            </a:avLst>
          </a:prstGeom>
          <a:solidFill>
            <a:srgbClr val="FFFFFF">
              <a:alpha val="8000"/>
            </a:srgbClr>
          </a:solidFill>
          <a:ln/>
        </p:spPr>
      </p:sp>
      <p:sp>
        <p:nvSpPr>
          <p:cNvPr id="52" name="Text 50"/>
          <p:cNvSpPr/>
          <p:nvPr/>
        </p:nvSpPr>
        <p:spPr>
          <a:xfrm>
            <a:off x="4517136"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Payback</a:t>
            </a:r>
            <a:endParaRPr lang="en-US" sz="900" dirty="0"/>
          </a:p>
        </p:txBody>
      </p:sp>
      <p:sp>
        <p:nvSpPr>
          <p:cNvPr id="53" name="Text 51"/>
          <p:cNvSpPr/>
          <p:nvPr/>
        </p:nvSpPr>
        <p:spPr>
          <a:xfrm>
            <a:off x="5916168"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1.3 → 4.5 mo</a:t>
            </a:r>
            <a:endParaRPr lang="en-US" sz="1500" dirty="0"/>
          </a:p>
        </p:txBody>
      </p:sp>
      <p:sp>
        <p:nvSpPr>
          <p:cNvPr id="54" name="Text 52"/>
          <p:cNvSpPr/>
          <p:nvPr/>
        </p:nvSpPr>
        <p:spPr>
          <a:xfrm>
            <a:off x="4517136"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Against $250 ARPU at 85% gross margin. Annual billing means the cash is in on day one regardless; this is the accounting view.</a:t>
            </a:r>
            <a:endParaRPr lang="en-US" sz="800" dirty="0"/>
          </a:p>
        </p:txBody>
      </p:sp>
      <p:sp>
        <p:nvSpPr>
          <p:cNvPr id="55" name="Shape 53"/>
          <p:cNvSpPr/>
          <p:nvPr/>
        </p:nvSpPr>
        <p:spPr>
          <a:xfrm>
            <a:off x="7991856" y="5742432"/>
            <a:ext cx="3401568" cy="969264"/>
          </a:xfrm>
          <a:prstGeom prst="roundRect">
            <a:avLst>
              <a:gd name="adj" fmla="val 11321"/>
            </a:avLst>
          </a:prstGeom>
          <a:solidFill>
            <a:srgbClr val="FFFFFF">
              <a:alpha val="8000"/>
            </a:srgbClr>
          </a:solidFill>
          <a:ln/>
        </p:spPr>
      </p:sp>
      <p:sp>
        <p:nvSpPr>
          <p:cNvPr id="56" name="Text 54"/>
          <p:cNvSpPr/>
          <p:nvPr/>
        </p:nvSpPr>
        <p:spPr>
          <a:xfrm>
            <a:off x="8193024"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LTV : CAC</a:t>
            </a:r>
            <a:endParaRPr lang="en-US" sz="900" dirty="0"/>
          </a:p>
        </p:txBody>
      </p:sp>
      <p:sp>
        <p:nvSpPr>
          <p:cNvPr id="57" name="Text 55"/>
          <p:cNvSpPr/>
          <p:nvPr/>
        </p:nvSpPr>
        <p:spPr>
          <a:xfrm>
            <a:off x="9592056"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31 : 1 → 9 : 1</a:t>
            </a:r>
            <a:endParaRPr lang="en-US" sz="1500" dirty="0"/>
          </a:p>
        </p:txBody>
      </p:sp>
      <p:sp>
        <p:nvSpPr>
          <p:cNvPr id="58" name="Text 56"/>
          <p:cNvSpPr/>
          <p:nvPr/>
        </p:nvSpPr>
        <p:spPr>
          <a:xfrm>
            <a:off x="8193024"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$250 ÷ 30% churn × 85% = $708 LTV in Year 1, $488 by Year 5 as India dilutes ARPU. Three-to-one is the floor; we are far above it.</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REVENUE MIX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Where the money comes from</a:t>
            </a:r>
            <a:endParaRPr lang="en-US" sz="290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Subscription carries it. Everything else widens the margin, deepens the brand, or reaches an age the app cannot.</a:t>
            </a:r>
            <a:endParaRPr lang="en-US" sz="1450" dirty="0"/>
          </a:p>
        </p:txBody>
      </p:sp>
      <p:graphicFrame>
        <p:nvGraphicFramePr>
          <p:cNvPr id="5" name="Chart 0" descr=""/>
          <p:cNvGraphicFramePr/>
          <p:nvPr/>
        </p:nvGraphicFramePr>
        <p:xfrm>
          <a:off x="640080" y="205740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21214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7" name="Text 4"/>
          <p:cNvSpPr/>
          <p:nvPr/>
        </p:nvSpPr>
        <p:spPr>
          <a:xfrm>
            <a:off x="8010144" y="22494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1</a:t>
            </a:r>
            <a:endParaRPr lang="en-US" sz="1000" dirty="0"/>
          </a:p>
        </p:txBody>
      </p:sp>
      <p:sp>
        <p:nvSpPr>
          <p:cNvPr id="8" name="Text 5"/>
          <p:cNvSpPr/>
          <p:nvPr/>
        </p:nvSpPr>
        <p:spPr>
          <a:xfrm>
            <a:off x="9189720" y="2167128"/>
            <a:ext cx="1874520" cy="365760"/>
          </a:xfrm>
          <a:prstGeom prst="rect">
            <a:avLst/>
          </a:prstGeom>
          <a:noFill/>
          <a:ln/>
        </p:spPr>
        <p:txBody>
          <a:bodyPr wrap="square" lIns="0" tIns="0" rIns="0" bIns="0" rtlCol="0" anchor="ctr"/>
          <a:lstStyle/>
          <a:p>
            <a:pPr algn="r" indent="0" marL="0">
              <a:buNone/>
            </a:pPr>
            <a:r>
              <a:rPr lang="en-US" sz="2000" b="1" dirty="0">
                <a:solidFill>
                  <a:srgbClr val="6C4FE0"/>
                </a:solidFill>
                <a:latin typeface="Cambria" pitchFamily="34" charset="0"/>
                <a:ea typeface="Cambria" pitchFamily="34" charset="-122"/>
                <a:cs typeface="Cambria" pitchFamily="34" charset="-120"/>
              </a:rPr>
              <a:t>$26k</a:t>
            </a:r>
            <a:endParaRPr lang="en-US" sz="2000" dirty="0"/>
          </a:p>
        </p:txBody>
      </p:sp>
      <p:sp>
        <p:nvSpPr>
          <p:cNvPr id="9" name="Text 6"/>
          <p:cNvSpPr/>
          <p:nvPr/>
        </p:nvSpPr>
        <p:spPr>
          <a:xfrm>
            <a:off x="8010144" y="25511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only. 208 households, most joining late in the year — which is why average, not ending, households drive revenue.</a:t>
            </a:r>
            <a:endParaRPr lang="en-US" sz="1000" dirty="0"/>
          </a:p>
        </p:txBody>
      </p:sp>
      <p:sp>
        <p:nvSpPr>
          <p:cNvPr id="10" name="Shape 7"/>
          <p:cNvSpPr/>
          <p:nvPr/>
        </p:nvSpPr>
        <p:spPr>
          <a:xfrm>
            <a:off x="7772400" y="34930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11" name="Text 8"/>
          <p:cNvSpPr/>
          <p:nvPr/>
        </p:nvSpPr>
        <p:spPr>
          <a:xfrm>
            <a:off x="8010144" y="36210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3</a:t>
            </a:r>
            <a:endParaRPr lang="en-US" sz="1000" dirty="0"/>
          </a:p>
        </p:txBody>
      </p:sp>
      <p:sp>
        <p:nvSpPr>
          <p:cNvPr id="12" name="Text 9"/>
          <p:cNvSpPr/>
          <p:nvPr/>
        </p:nvSpPr>
        <p:spPr>
          <a:xfrm>
            <a:off x="9189720" y="3538728"/>
            <a:ext cx="1874520" cy="365760"/>
          </a:xfrm>
          <a:prstGeom prst="rect">
            <a:avLst/>
          </a:prstGeom>
          <a:noFill/>
          <a:ln/>
        </p:spPr>
        <p:txBody>
          <a:bodyPr wrap="square" lIns="0" tIns="0" rIns="0" bIns="0" rtlCol="0" anchor="ctr"/>
          <a:lstStyle/>
          <a:p>
            <a:pPr algn="r" indent="0" marL="0">
              <a:buNone/>
            </a:pPr>
            <a:r>
              <a:rPr lang="en-US" sz="2000" b="1" dirty="0">
                <a:solidFill>
                  <a:srgbClr val="178A4C"/>
                </a:solidFill>
                <a:latin typeface="Cambria" pitchFamily="34" charset="0"/>
                <a:ea typeface="Cambria" pitchFamily="34" charset="-122"/>
                <a:cs typeface="Cambria" pitchFamily="34" charset="-120"/>
              </a:rPr>
              <a:t>$601k</a:t>
            </a:r>
            <a:endParaRPr lang="en-US" sz="2000" dirty="0"/>
          </a:p>
        </p:txBody>
      </p:sp>
      <p:sp>
        <p:nvSpPr>
          <p:cNvPr id="13" name="Text 10"/>
          <p:cNvSpPr/>
          <p:nvPr/>
        </p:nvSpPr>
        <p:spPr>
          <a:xfrm>
            <a:off x="8010144" y="39227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Cohorts and physical arrive. Subscription still 79% of the line.</a:t>
            </a:r>
            <a:endParaRPr lang="en-US" sz="1000" dirty="0"/>
          </a:p>
        </p:txBody>
      </p:sp>
      <p:sp>
        <p:nvSpPr>
          <p:cNvPr id="14" name="Shape 11"/>
          <p:cNvSpPr/>
          <p:nvPr/>
        </p:nvSpPr>
        <p:spPr>
          <a:xfrm>
            <a:off x="7772400" y="48646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15" name="Text 12"/>
          <p:cNvSpPr/>
          <p:nvPr/>
        </p:nvSpPr>
        <p:spPr>
          <a:xfrm>
            <a:off x="8010144" y="49926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5</a:t>
            </a:r>
            <a:endParaRPr lang="en-US" sz="1000" dirty="0"/>
          </a:p>
        </p:txBody>
      </p:sp>
      <p:sp>
        <p:nvSpPr>
          <p:cNvPr id="16" name="Text 13"/>
          <p:cNvSpPr/>
          <p:nvPr/>
        </p:nvSpPr>
        <p:spPr>
          <a:xfrm>
            <a:off x="9189720" y="4910328"/>
            <a:ext cx="1874520" cy="365760"/>
          </a:xfrm>
          <a:prstGeom prst="rect">
            <a:avLst/>
          </a:prstGeom>
          <a:noFill/>
          <a:ln/>
        </p:spPr>
        <p:txBody>
          <a:bodyPr wrap="square" lIns="0" tIns="0" rIns="0" bIns="0" rtlCol="0" anchor="ctr"/>
          <a:lstStyle/>
          <a:p>
            <a:pPr algn="r" indent="0" marL="0">
              <a:buNone/>
            </a:pPr>
            <a:r>
              <a:rPr lang="en-US" sz="2000" b="1" dirty="0">
                <a:solidFill>
                  <a:srgbClr val="F0B429"/>
                </a:solidFill>
                <a:latin typeface="Cambria" pitchFamily="34" charset="0"/>
                <a:ea typeface="Cambria" pitchFamily="34" charset="-122"/>
                <a:cs typeface="Cambria" pitchFamily="34" charset="-120"/>
              </a:rPr>
              <a:t>$3.09M</a:t>
            </a:r>
            <a:endParaRPr lang="en-US" sz="2000" dirty="0"/>
          </a:p>
        </p:txBody>
      </p:sp>
      <p:sp>
        <p:nvSpPr>
          <p:cNvPr id="17" name="Text 14"/>
          <p:cNvSpPr/>
          <p:nvPr/>
        </p:nvSpPr>
        <p:spPr>
          <a:xfrm>
            <a:off x="8010144" y="52943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68%, cohorts 22%, physical and media 10%. Higher cohort pricing made that line matter more, not less.</a:t>
            </a:r>
            <a:endParaRPr lang="en-US" sz="1000" dirty="0"/>
          </a:p>
        </p:txBody>
      </p:sp>
      <p:sp>
        <p:nvSpPr>
          <p:cNvPr id="18" name="Text 15"/>
          <p:cNvSpPr/>
          <p:nvPr/>
        </p:nvSpPr>
        <p:spPr>
          <a:xfrm>
            <a:off x="640080" y="6272784"/>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The aggressive case reaches $5.37M at Year 5 on the same mix shape — 1.7× the households, not a different business.</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04120" y="457200"/>
            <a:ext cx="1371600" cy="137160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CEILING</a:t>
            </a:r>
            <a:endParaRPr lang="en-US" sz="1200" dirty="0"/>
          </a:p>
        </p:txBody>
      </p:sp>
      <p:sp>
        <p:nvSpPr>
          <p:cNvPr id="4" name="Text 1"/>
          <p:cNvSpPr/>
          <p:nvPr/>
        </p:nvSpPr>
        <p:spPr>
          <a:xfrm>
            <a:off x="640080" y="914400"/>
            <a:ext cx="9326880" cy="896112"/>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Priced against the tutor, we need less of the market than any app would.</a:t>
            </a:r>
            <a:endParaRPr lang="en-US" sz="2500" dirty="0"/>
          </a:p>
        </p:txBody>
      </p:sp>
      <p:sp>
        <p:nvSpPr>
          <p:cNvPr id="5" name="Text 2"/>
          <p:cNvSpPr/>
          <p:nvPr/>
        </p:nvSpPr>
        <p:spPr>
          <a:xfrm>
            <a:off x="640080" y="199339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Diaspora households with a child 4–16</a:t>
            </a:r>
            <a:endParaRPr lang="en-US" sz="1150" dirty="0"/>
          </a:p>
        </p:txBody>
      </p:sp>
      <p:sp>
        <p:nvSpPr>
          <p:cNvPr id="6" name="Shape 3"/>
          <p:cNvSpPr/>
          <p:nvPr/>
        </p:nvSpPr>
        <p:spPr>
          <a:xfrm>
            <a:off x="5760720" y="2075688"/>
            <a:ext cx="3840480" cy="256032"/>
          </a:xfrm>
          <a:prstGeom prst="roundRect">
            <a:avLst>
              <a:gd name="adj" fmla="val 50000"/>
            </a:avLst>
          </a:prstGeom>
          <a:solidFill>
            <a:srgbClr val="FFFFFF">
              <a:alpha val="10000"/>
            </a:srgbClr>
          </a:solidFill>
          <a:ln/>
        </p:spPr>
      </p:sp>
      <p:sp>
        <p:nvSpPr>
          <p:cNvPr id="7" name="Shape 4"/>
          <p:cNvSpPr/>
          <p:nvPr/>
        </p:nvSpPr>
        <p:spPr>
          <a:xfrm>
            <a:off x="5760720" y="2075688"/>
            <a:ext cx="3840480" cy="256032"/>
          </a:xfrm>
          <a:prstGeom prst="roundRect">
            <a:avLst>
              <a:gd name="adj" fmla="val 50000"/>
            </a:avLst>
          </a:prstGeom>
          <a:solidFill>
            <a:srgbClr val="F0B429"/>
          </a:solidFill>
          <a:ln/>
        </p:spPr>
      </p:sp>
      <p:sp>
        <p:nvSpPr>
          <p:cNvPr id="8" name="Text 5"/>
          <p:cNvSpPr/>
          <p:nvPr/>
        </p:nvSpPr>
        <p:spPr>
          <a:xfrm>
            <a:off x="9738360" y="1993392"/>
            <a:ext cx="1554480" cy="420624"/>
          </a:xfrm>
          <a:prstGeom prst="rect">
            <a:avLst/>
          </a:prstGeom>
          <a:noFill/>
          <a:ln/>
        </p:spPr>
        <p:txBody>
          <a:bodyPr wrap="square" lIns="0" tIns="0" rIns="0" bIns="0" rtlCol="0" anchor="ctr"/>
          <a:lstStyle/>
          <a:p>
            <a:pPr algn="r" indent="0" marL="0">
              <a:buNone/>
            </a:pPr>
            <a:r>
              <a:rPr lang="en-US" sz="1600" b="1" dirty="0">
                <a:solidFill>
                  <a:srgbClr val="F0B429"/>
                </a:solidFill>
                <a:latin typeface="Cambria" pitchFamily="34" charset="0"/>
                <a:ea typeface="Cambria" pitchFamily="34" charset="-122"/>
                <a:cs typeface="Cambria" pitchFamily="34" charset="-120"/>
              </a:rPr>
              <a:t>1.31M</a:t>
            </a:r>
            <a:endParaRPr lang="en-US" sz="1600" dirty="0"/>
          </a:p>
        </p:txBody>
      </p:sp>
      <p:sp>
        <p:nvSpPr>
          <p:cNvPr id="9" name="Text 6"/>
          <p:cNvSpPr/>
          <p:nvPr/>
        </p:nvSpPr>
        <p:spPr>
          <a:xfrm>
            <a:off x="640080" y="258775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 $250 blended — the whole diaspora market</a:t>
            </a:r>
            <a:endParaRPr lang="en-US" sz="1150" dirty="0"/>
          </a:p>
        </p:txBody>
      </p:sp>
      <p:sp>
        <p:nvSpPr>
          <p:cNvPr id="10" name="Shape 7"/>
          <p:cNvSpPr/>
          <p:nvPr/>
        </p:nvSpPr>
        <p:spPr>
          <a:xfrm>
            <a:off x="5760720" y="2670048"/>
            <a:ext cx="3840480" cy="256032"/>
          </a:xfrm>
          <a:prstGeom prst="roundRect">
            <a:avLst>
              <a:gd name="adj" fmla="val 50000"/>
            </a:avLst>
          </a:prstGeom>
          <a:solidFill>
            <a:srgbClr val="FFFFFF">
              <a:alpha val="10000"/>
            </a:srgbClr>
          </a:solidFill>
          <a:ln/>
        </p:spPr>
      </p:sp>
      <p:sp>
        <p:nvSpPr>
          <p:cNvPr id="11" name="Shape 8"/>
          <p:cNvSpPr/>
          <p:nvPr/>
        </p:nvSpPr>
        <p:spPr>
          <a:xfrm>
            <a:off x="5760720" y="2670048"/>
            <a:ext cx="3840480" cy="256032"/>
          </a:xfrm>
          <a:prstGeom prst="roundRect">
            <a:avLst>
              <a:gd name="adj" fmla="val 50000"/>
            </a:avLst>
          </a:prstGeom>
          <a:solidFill>
            <a:srgbClr val="F0B429"/>
          </a:solidFill>
          <a:ln/>
        </p:spPr>
      </p:sp>
      <p:sp>
        <p:nvSpPr>
          <p:cNvPr id="12" name="Text 9"/>
          <p:cNvSpPr/>
          <p:nvPr/>
        </p:nvSpPr>
        <p:spPr>
          <a:xfrm>
            <a:off x="9738360" y="2587752"/>
            <a:ext cx="1554480" cy="420624"/>
          </a:xfrm>
          <a:prstGeom prst="rect">
            <a:avLst/>
          </a:prstGeom>
          <a:noFill/>
          <a:ln/>
        </p:spPr>
        <p:txBody>
          <a:bodyPr wrap="square" lIns="0" tIns="0" rIns="0" bIns="0" rtlCol="0" anchor="ctr"/>
          <a:lstStyle/>
          <a:p>
            <a:pPr algn="r" indent="0" marL="0">
              <a:buNone/>
            </a:pPr>
            <a:r>
              <a:rPr lang="en-US" sz="1600" b="1" dirty="0">
                <a:solidFill>
                  <a:srgbClr val="F0B429"/>
                </a:solidFill>
                <a:latin typeface="Cambria" pitchFamily="34" charset="0"/>
                <a:ea typeface="Cambria" pitchFamily="34" charset="-122"/>
                <a:cs typeface="Cambria" pitchFamily="34" charset="-120"/>
              </a:rPr>
              <a:t>$328M</a:t>
            </a:r>
            <a:endParaRPr lang="en-US" sz="1600" dirty="0"/>
          </a:p>
        </p:txBody>
      </p:sp>
      <p:sp>
        <p:nvSpPr>
          <p:cNvPr id="13" name="Text 10"/>
          <p:cNvSpPr/>
          <p:nvPr/>
        </p:nvSpPr>
        <p:spPr>
          <a:xfrm>
            <a:off x="640080" y="318211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Year 5 base case — 16.0k households</a:t>
            </a:r>
            <a:endParaRPr lang="en-US" sz="1150" dirty="0"/>
          </a:p>
        </p:txBody>
      </p:sp>
      <p:sp>
        <p:nvSpPr>
          <p:cNvPr id="14" name="Shape 11"/>
          <p:cNvSpPr/>
          <p:nvPr/>
        </p:nvSpPr>
        <p:spPr>
          <a:xfrm>
            <a:off x="5760720" y="3264408"/>
            <a:ext cx="3840480" cy="256032"/>
          </a:xfrm>
          <a:prstGeom prst="roundRect">
            <a:avLst>
              <a:gd name="adj" fmla="val 50000"/>
            </a:avLst>
          </a:prstGeom>
          <a:solidFill>
            <a:srgbClr val="FFFFFF">
              <a:alpha val="10000"/>
            </a:srgbClr>
          </a:solidFill>
          <a:ln/>
        </p:spPr>
      </p:sp>
      <p:sp>
        <p:nvSpPr>
          <p:cNvPr id="15" name="Shape 12"/>
          <p:cNvSpPr/>
          <p:nvPr/>
        </p:nvSpPr>
        <p:spPr>
          <a:xfrm>
            <a:off x="5760720" y="3264408"/>
            <a:ext cx="237744" cy="256032"/>
          </a:xfrm>
          <a:prstGeom prst="roundRect">
            <a:avLst>
              <a:gd name="adj" fmla="val 53846"/>
            </a:avLst>
          </a:prstGeom>
          <a:solidFill>
            <a:srgbClr val="6C4FE0"/>
          </a:solidFill>
          <a:ln/>
        </p:spPr>
      </p:sp>
      <p:sp>
        <p:nvSpPr>
          <p:cNvPr id="16" name="Text 13"/>
          <p:cNvSpPr/>
          <p:nvPr/>
        </p:nvSpPr>
        <p:spPr>
          <a:xfrm>
            <a:off x="9738360" y="318211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0.9%</a:t>
            </a:r>
            <a:endParaRPr lang="en-US" sz="1600" dirty="0"/>
          </a:p>
        </p:txBody>
      </p:sp>
      <p:sp>
        <p:nvSpPr>
          <p:cNvPr id="17" name="Text 14"/>
          <p:cNvSpPr/>
          <p:nvPr/>
        </p:nvSpPr>
        <p:spPr>
          <a:xfrm>
            <a:off x="640080" y="377647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At 5% penetration</a:t>
            </a:r>
            <a:endParaRPr lang="en-US" sz="1150" dirty="0"/>
          </a:p>
        </p:txBody>
      </p:sp>
      <p:sp>
        <p:nvSpPr>
          <p:cNvPr id="18" name="Shape 15"/>
          <p:cNvSpPr/>
          <p:nvPr/>
        </p:nvSpPr>
        <p:spPr>
          <a:xfrm>
            <a:off x="5760720" y="3858768"/>
            <a:ext cx="3840480" cy="256032"/>
          </a:xfrm>
          <a:prstGeom prst="roundRect">
            <a:avLst>
              <a:gd name="adj" fmla="val 50000"/>
            </a:avLst>
          </a:prstGeom>
          <a:solidFill>
            <a:srgbClr val="FFFFFF">
              <a:alpha val="10000"/>
            </a:srgbClr>
          </a:solidFill>
          <a:ln/>
        </p:spPr>
      </p:sp>
      <p:sp>
        <p:nvSpPr>
          <p:cNvPr id="19" name="Shape 16"/>
          <p:cNvSpPr/>
          <p:nvPr/>
        </p:nvSpPr>
        <p:spPr>
          <a:xfrm>
            <a:off x="5760720" y="3858768"/>
            <a:ext cx="768096" cy="256032"/>
          </a:xfrm>
          <a:prstGeom prst="roundRect">
            <a:avLst>
              <a:gd name="adj" fmla="val 50000"/>
            </a:avLst>
          </a:prstGeom>
          <a:solidFill>
            <a:srgbClr val="6C4FE0"/>
          </a:solidFill>
          <a:ln/>
        </p:spPr>
      </p:sp>
      <p:sp>
        <p:nvSpPr>
          <p:cNvPr id="20" name="Text 17"/>
          <p:cNvSpPr/>
          <p:nvPr/>
        </p:nvSpPr>
        <p:spPr>
          <a:xfrm>
            <a:off x="9738360" y="377647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$16.4M</a:t>
            </a:r>
            <a:endParaRPr lang="en-US" sz="1600" dirty="0"/>
          </a:p>
        </p:txBody>
      </p:sp>
      <p:sp>
        <p:nvSpPr>
          <p:cNvPr id="21" name="Text 18"/>
          <p:cNvSpPr/>
          <p:nvPr/>
        </p:nvSpPr>
        <p:spPr>
          <a:xfrm>
            <a:off x="640080" y="437083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At 15% — category default, a decade in</a:t>
            </a:r>
            <a:endParaRPr lang="en-US" sz="1150" dirty="0"/>
          </a:p>
        </p:txBody>
      </p:sp>
      <p:sp>
        <p:nvSpPr>
          <p:cNvPr id="22" name="Shape 19"/>
          <p:cNvSpPr/>
          <p:nvPr/>
        </p:nvSpPr>
        <p:spPr>
          <a:xfrm>
            <a:off x="5760720" y="4453128"/>
            <a:ext cx="3840480" cy="256032"/>
          </a:xfrm>
          <a:prstGeom prst="roundRect">
            <a:avLst>
              <a:gd name="adj" fmla="val 50000"/>
            </a:avLst>
          </a:prstGeom>
          <a:solidFill>
            <a:srgbClr val="FFFFFF">
              <a:alpha val="10000"/>
            </a:srgbClr>
          </a:solidFill>
          <a:ln/>
        </p:spPr>
      </p:sp>
      <p:sp>
        <p:nvSpPr>
          <p:cNvPr id="23" name="Shape 20"/>
          <p:cNvSpPr/>
          <p:nvPr/>
        </p:nvSpPr>
        <p:spPr>
          <a:xfrm>
            <a:off x="5760720" y="4453128"/>
            <a:ext cx="2304288" cy="256032"/>
          </a:xfrm>
          <a:prstGeom prst="roundRect">
            <a:avLst>
              <a:gd name="adj" fmla="val 50000"/>
            </a:avLst>
          </a:prstGeom>
          <a:solidFill>
            <a:srgbClr val="6C4FE0"/>
          </a:solidFill>
          <a:ln/>
        </p:spPr>
      </p:sp>
      <p:sp>
        <p:nvSpPr>
          <p:cNvPr id="24" name="Text 21"/>
          <p:cNvSpPr/>
          <p:nvPr/>
        </p:nvSpPr>
        <p:spPr>
          <a:xfrm>
            <a:off x="9738360" y="437083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$49M</a:t>
            </a:r>
            <a:endParaRPr lang="en-US" sz="1600" dirty="0"/>
          </a:p>
        </p:txBody>
      </p:sp>
      <p:sp>
        <p:nvSpPr>
          <p:cNvPr id="25" name="Text 22"/>
          <p:cNvSpPr/>
          <p:nvPr/>
        </p:nvSpPr>
        <p:spPr>
          <a:xfrm>
            <a:off x="640080" y="496519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India at 5% of 6.0M × $45</a:t>
            </a:r>
            <a:endParaRPr lang="en-US" sz="1150" dirty="0"/>
          </a:p>
        </p:txBody>
      </p:sp>
      <p:sp>
        <p:nvSpPr>
          <p:cNvPr id="26" name="Shape 23"/>
          <p:cNvSpPr/>
          <p:nvPr/>
        </p:nvSpPr>
        <p:spPr>
          <a:xfrm>
            <a:off x="5760720" y="5047488"/>
            <a:ext cx="3840480" cy="256032"/>
          </a:xfrm>
          <a:prstGeom prst="roundRect">
            <a:avLst>
              <a:gd name="adj" fmla="val 50000"/>
            </a:avLst>
          </a:prstGeom>
          <a:solidFill>
            <a:srgbClr val="FFFFFF">
              <a:alpha val="10000"/>
            </a:srgbClr>
          </a:solidFill>
          <a:ln/>
        </p:spPr>
      </p:sp>
      <p:sp>
        <p:nvSpPr>
          <p:cNvPr id="27" name="Shape 24"/>
          <p:cNvSpPr/>
          <p:nvPr/>
        </p:nvSpPr>
        <p:spPr>
          <a:xfrm>
            <a:off x="5760720" y="5047488"/>
            <a:ext cx="1459382" cy="256032"/>
          </a:xfrm>
          <a:prstGeom prst="roundRect">
            <a:avLst>
              <a:gd name="adj" fmla="val 50000"/>
            </a:avLst>
          </a:prstGeom>
          <a:solidFill>
            <a:srgbClr val="178A4C"/>
          </a:solidFill>
          <a:ln/>
        </p:spPr>
      </p:sp>
      <p:sp>
        <p:nvSpPr>
          <p:cNvPr id="28" name="Text 25"/>
          <p:cNvSpPr/>
          <p:nvPr/>
        </p:nvSpPr>
        <p:spPr>
          <a:xfrm>
            <a:off x="9738360" y="4965192"/>
            <a:ext cx="1554480" cy="420624"/>
          </a:xfrm>
          <a:prstGeom prst="rect">
            <a:avLst/>
          </a:prstGeom>
          <a:noFill/>
          <a:ln/>
        </p:spPr>
        <p:txBody>
          <a:bodyPr wrap="square" lIns="0" tIns="0" rIns="0" bIns="0" rtlCol="0" anchor="ctr"/>
          <a:lstStyle/>
          <a:p>
            <a:pPr algn="r" indent="0" marL="0">
              <a:buNone/>
            </a:pPr>
            <a:r>
              <a:rPr lang="en-US" sz="1600" b="1" dirty="0">
                <a:solidFill>
                  <a:srgbClr val="178A4C"/>
                </a:solidFill>
                <a:latin typeface="Cambria" pitchFamily="34" charset="0"/>
                <a:ea typeface="Cambria" pitchFamily="34" charset="-122"/>
                <a:cs typeface="Cambria" pitchFamily="34" charset="-120"/>
              </a:rPr>
              <a:t>$13.5M</a:t>
            </a:r>
            <a:endParaRPr lang="en-US" sz="1600" dirty="0"/>
          </a:p>
        </p:txBody>
      </p:sp>
      <p:sp>
        <p:nvSpPr>
          <p:cNvPr id="29" name="Shape 26"/>
          <p:cNvSpPr/>
          <p:nvPr/>
        </p:nvSpPr>
        <p:spPr>
          <a:xfrm>
            <a:off x="640080" y="5614416"/>
            <a:ext cx="10607040" cy="1115568"/>
          </a:xfrm>
          <a:prstGeom prst="roundRect">
            <a:avLst>
              <a:gd name="adj" fmla="val 9836"/>
            </a:avLst>
          </a:prstGeom>
          <a:solidFill>
            <a:srgbClr val="FFFFFF">
              <a:alpha val="7000"/>
            </a:srgbClr>
          </a:solidFill>
          <a:ln/>
        </p:spPr>
      </p:sp>
      <p:sp>
        <p:nvSpPr>
          <p:cNvPr id="30" name="Text 27"/>
          <p:cNvSpPr/>
          <p:nvPr/>
        </p:nvSpPr>
        <p:spPr>
          <a:xfrm>
            <a:off x="932688" y="5705856"/>
            <a:ext cx="3657600" cy="256032"/>
          </a:xfrm>
          <a:prstGeom prst="rect">
            <a:avLst/>
          </a:prstGeom>
          <a:noFill/>
          <a:ln/>
        </p:spPr>
        <p:txBody>
          <a:bodyPr wrap="square" lIns="0" tIns="0" rIns="0" bIns="0" rtlCol="0" anchor="ctr"/>
          <a:lstStyle/>
          <a:p>
            <a:pPr indent="0" marL="0">
              <a:buNone/>
            </a:pPr>
            <a:r>
              <a:rPr lang="en-US" sz="1000" b="1" spc="160" kern="0" dirty="0">
                <a:solidFill>
                  <a:srgbClr val="F0B429"/>
                </a:solidFill>
                <a:latin typeface="Calibri" pitchFamily="34" charset="0"/>
                <a:ea typeface="Calibri" pitchFamily="34" charset="-122"/>
                <a:cs typeface="Calibri" pitchFamily="34" charset="-120"/>
              </a:rPr>
              <a:t>The honest read</a:t>
            </a:r>
            <a:endParaRPr lang="en-US" sz="1000" dirty="0"/>
          </a:p>
        </p:txBody>
      </p:sp>
      <p:sp>
        <p:nvSpPr>
          <p:cNvPr id="31" name="Text 28"/>
          <p:cNvSpPr/>
          <p:nvPr/>
        </p:nvSpPr>
        <p:spPr>
          <a:xfrm>
            <a:off x="932688" y="5943600"/>
            <a:ext cx="10012680" cy="74980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At tutor-adjacent pricing the realistic ceiling as category leader is $45–90M of revenue. Year 5 needs 0.9% of the diaspora, which is the strongest fact on this slide: the plan does not require winning the market, only being findable in it. But the same cost rules that guarantee profit also cap the pace — 18% of revenue on media cannot outrun a competitor who raises $20M and spends it. We win slowly or not at all, and the deck should not pretend otherwise.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COST STRUCTURE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Costs are fractions, not budgets</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Only two lines are fixed, and together they are smaller than one week of Year 1 sales. Everything else moves with revenue by rule — which is the mechanism, not the forecast, behind never losing money.</a:t>
            </a:r>
            <a:endParaRPr lang="en-US" sz="1400" dirty="0"/>
          </a:p>
        </p:txBody>
      </p:sp>
      <p:sp>
        <p:nvSpPr>
          <p:cNvPr id="5" name="Text 3"/>
          <p:cNvSpPr/>
          <p:nvPr/>
        </p:nvSpPr>
        <p:spPr>
          <a:xfrm>
            <a:off x="6035040"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Y1</a:t>
            </a:r>
            <a:endParaRPr lang="en-US" sz="1050" dirty="0"/>
          </a:p>
        </p:txBody>
      </p:sp>
      <p:sp>
        <p:nvSpPr>
          <p:cNvPr id="6" name="Text 4"/>
          <p:cNvSpPr/>
          <p:nvPr/>
        </p:nvSpPr>
        <p:spPr>
          <a:xfrm>
            <a:off x="7059168"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Y2</a:t>
            </a:r>
            <a:endParaRPr lang="en-US" sz="1050" dirty="0"/>
          </a:p>
        </p:txBody>
      </p:sp>
      <p:sp>
        <p:nvSpPr>
          <p:cNvPr id="7" name="Text 5"/>
          <p:cNvSpPr/>
          <p:nvPr/>
        </p:nvSpPr>
        <p:spPr>
          <a:xfrm>
            <a:off x="8083296"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Y3</a:t>
            </a:r>
            <a:endParaRPr lang="en-US" sz="1050" dirty="0"/>
          </a:p>
        </p:txBody>
      </p:sp>
      <p:sp>
        <p:nvSpPr>
          <p:cNvPr id="8" name="Text 6"/>
          <p:cNvSpPr/>
          <p:nvPr/>
        </p:nvSpPr>
        <p:spPr>
          <a:xfrm>
            <a:off x="9107424"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Y4</a:t>
            </a:r>
            <a:endParaRPr lang="en-US" sz="1050" dirty="0"/>
          </a:p>
        </p:txBody>
      </p:sp>
      <p:sp>
        <p:nvSpPr>
          <p:cNvPr id="9" name="Text 7"/>
          <p:cNvSpPr/>
          <p:nvPr/>
        </p:nvSpPr>
        <p:spPr>
          <a:xfrm>
            <a:off x="10131552"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Y5</a:t>
            </a:r>
            <a:endParaRPr lang="en-US" sz="1050" dirty="0"/>
          </a:p>
        </p:txBody>
      </p:sp>
      <p:sp>
        <p:nvSpPr>
          <p:cNvPr id="10" name="Shape 8"/>
          <p:cNvSpPr/>
          <p:nvPr/>
        </p:nvSpPr>
        <p:spPr>
          <a:xfrm>
            <a:off x="512064" y="2249424"/>
            <a:ext cx="10954512" cy="475488"/>
          </a:xfrm>
          <a:prstGeom prst="roundRect">
            <a:avLst>
              <a:gd name="adj" fmla="val 17308"/>
            </a:avLst>
          </a:prstGeom>
          <a:solidFill>
            <a:srgbClr val="EFEBF8"/>
          </a:solidFill>
          <a:ln/>
        </p:spPr>
      </p:sp>
      <p:sp>
        <p:nvSpPr>
          <p:cNvPr id="11" name="Shape 9"/>
          <p:cNvSpPr/>
          <p:nvPr/>
        </p:nvSpPr>
        <p:spPr>
          <a:xfrm rot="5400000">
            <a:off x="640080" y="2359152"/>
            <a:ext cx="237744" cy="237744"/>
          </a:xfrm>
          <a:prstGeom prst="hexagon">
            <a:avLst/>
          </a:prstGeom>
          <a:solidFill>
            <a:srgbClr val="6C4FE0"/>
          </a:solidFill>
          <a:ln/>
        </p:spPr>
      </p:sp>
      <p:sp>
        <p:nvSpPr>
          <p:cNvPr id="12" name="Text 10"/>
          <p:cNvSpPr/>
          <p:nvPr/>
        </p:nvSpPr>
        <p:spPr>
          <a:xfrm>
            <a:off x="969264" y="2258568"/>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Paid media</a:t>
            </a:r>
            <a:endParaRPr lang="en-US" sz="1150" dirty="0"/>
          </a:p>
        </p:txBody>
      </p:sp>
      <p:sp>
        <p:nvSpPr>
          <p:cNvPr id="13" name="Shape 11"/>
          <p:cNvSpPr/>
          <p:nvPr/>
        </p:nvSpPr>
        <p:spPr>
          <a:xfrm>
            <a:off x="3291840" y="2304288"/>
            <a:ext cx="1298448" cy="219456"/>
          </a:xfrm>
          <a:prstGeom prst="roundRect">
            <a:avLst>
              <a:gd name="adj" fmla="val 50000"/>
            </a:avLst>
          </a:prstGeom>
          <a:solidFill>
            <a:srgbClr val="6C4FE0"/>
          </a:solidFill>
          <a:ln/>
        </p:spPr>
      </p:sp>
      <p:sp>
        <p:nvSpPr>
          <p:cNvPr id="14" name="Text 12"/>
          <p:cNvSpPr/>
          <p:nvPr/>
        </p:nvSpPr>
        <p:spPr>
          <a:xfrm>
            <a:off x="3291840" y="2304288"/>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18% of revenue</a:t>
            </a:r>
            <a:endParaRPr lang="en-US" sz="750" dirty="0"/>
          </a:p>
        </p:txBody>
      </p:sp>
      <p:sp>
        <p:nvSpPr>
          <p:cNvPr id="15" name="Text 13"/>
          <p:cNvSpPr/>
          <p:nvPr/>
        </p:nvSpPr>
        <p:spPr>
          <a:xfrm>
            <a:off x="969264" y="2487168"/>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Never a budget. Can be switched off in a week without breaking anything.</a:t>
            </a:r>
            <a:endParaRPr lang="en-US" sz="800" dirty="0"/>
          </a:p>
        </p:txBody>
      </p:sp>
      <p:sp>
        <p:nvSpPr>
          <p:cNvPr id="16" name="Text 14"/>
          <p:cNvSpPr/>
          <p:nvPr/>
        </p:nvSpPr>
        <p:spPr>
          <a:xfrm>
            <a:off x="6035040"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$4.7k</a:t>
            </a:r>
            <a:endParaRPr lang="en-US" sz="1050" dirty="0"/>
          </a:p>
        </p:txBody>
      </p:sp>
      <p:sp>
        <p:nvSpPr>
          <p:cNvPr id="17" name="Text 15"/>
          <p:cNvSpPr/>
          <p:nvPr/>
        </p:nvSpPr>
        <p:spPr>
          <a:xfrm>
            <a:off x="7059168"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$29k</a:t>
            </a:r>
            <a:endParaRPr lang="en-US" sz="1050" dirty="0"/>
          </a:p>
        </p:txBody>
      </p:sp>
      <p:sp>
        <p:nvSpPr>
          <p:cNvPr id="18" name="Text 16"/>
          <p:cNvSpPr/>
          <p:nvPr/>
        </p:nvSpPr>
        <p:spPr>
          <a:xfrm>
            <a:off x="8083296"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$108k</a:t>
            </a:r>
            <a:endParaRPr lang="en-US" sz="1050" dirty="0"/>
          </a:p>
        </p:txBody>
      </p:sp>
      <p:sp>
        <p:nvSpPr>
          <p:cNvPr id="19" name="Text 17"/>
          <p:cNvSpPr/>
          <p:nvPr/>
        </p:nvSpPr>
        <p:spPr>
          <a:xfrm>
            <a:off x="9107424"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$280k</a:t>
            </a:r>
            <a:endParaRPr lang="en-US" sz="1050" dirty="0"/>
          </a:p>
        </p:txBody>
      </p:sp>
      <p:sp>
        <p:nvSpPr>
          <p:cNvPr id="20" name="Text 18"/>
          <p:cNvSpPr/>
          <p:nvPr/>
        </p:nvSpPr>
        <p:spPr>
          <a:xfrm>
            <a:off x="10131552"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$556k</a:t>
            </a:r>
            <a:endParaRPr lang="en-US" sz="1050" dirty="0"/>
          </a:p>
        </p:txBody>
      </p:sp>
      <p:sp>
        <p:nvSpPr>
          <p:cNvPr id="21" name="Shape 19"/>
          <p:cNvSpPr/>
          <p:nvPr/>
        </p:nvSpPr>
        <p:spPr>
          <a:xfrm rot="5400000">
            <a:off x="640080" y="2871216"/>
            <a:ext cx="237744" cy="237744"/>
          </a:xfrm>
          <a:prstGeom prst="hexagon">
            <a:avLst/>
          </a:prstGeom>
          <a:solidFill>
            <a:srgbClr val="6C4FE0"/>
          </a:solidFill>
          <a:ln/>
        </p:spPr>
      </p:sp>
      <p:sp>
        <p:nvSpPr>
          <p:cNvPr id="22" name="Text 20"/>
          <p:cNvSpPr/>
          <p:nvPr/>
        </p:nvSpPr>
        <p:spPr>
          <a:xfrm>
            <a:off x="969264" y="2770632"/>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Content &amp; tools</a:t>
            </a:r>
            <a:endParaRPr lang="en-US" sz="1150" dirty="0"/>
          </a:p>
        </p:txBody>
      </p:sp>
      <p:sp>
        <p:nvSpPr>
          <p:cNvPr id="23" name="Shape 21"/>
          <p:cNvSpPr/>
          <p:nvPr/>
        </p:nvSpPr>
        <p:spPr>
          <a:xfrm>
            <a:off x="3291840" y="2816352"/>
            <a:ext cx="1298448" cy="219456"/>
          </a:xfrm>
          <a:prstGeom prst="roundRect">
            <a:avLst>
              <a:gd name="adj" fmla="val 50000"/>
            </a:avLst>
          </a:prstGeom>
          <a:solidFill>
            <a:srgbClr val="6C4FE0"/>
          </a:solidFill>
          <a:ln/>
        </p:spPr>
      </p:sp>
      <p:sp>
        <p:nvSpPr>
          <p:cNvPr id="24" name="Text 22"/>
          <p:cNvSpPr/>
          <p:nvPr/>
        </p:nvSpPr>
        <p:spPr>
          <a:xfrm>
            <a:off x="3291840" y="2816352"/>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12%, floored</a:t>
            </a:r>
            <a:endParaRPr lang="en-US" sz="750" dirty="0"/>
          </a:p>
        </p:txBody>
      </p:sp>
      <p:sp>
        <p:nvSpPr>
          <p:cNvPr id="25" name="Text 23"/>
          <p:cNvSpPr/>
          <p:nvPr/>
        </p:nvSpPr>
        <p:spPr>
          <a:xfrm>
            <a:off x="969264" y="2999232"/>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AI credits, art, audio, contract writers. Floored in Y1–Y2 because some spend is real even at tiny revenue.</a:t>
            </a:r>
            <a:endParaRPr lang="en-US" sz="800" dirty="0"/>
          </a:p>
        </p:txBody>
      </p:sp>
      <p:sp>
        <p:nvSpPr>
          <p:cNvPr id="26" name="Text 24"/>
          <p:cNvSpPr/>
          <p:nvPr/>
        </p:nvSpPr>
        <p:spPr>
          <a:xfrm>
            <a:off x="6035040"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$11k</a:t>
            </a:r>
            <a:endParaRPr lang="en-US" sz="1050" dirty="0"/>
          </a:p>
        </p:txBody>
      </p:sp>
      <p:sp>
        <p:nvSpPr>
          <p:cNvPr id="27" name="Text 25"/>
          <p:cNvSpPr/>
          <p:nvPr/>
        </p:nvSpPr>
        <p:spPr>
          <a:xfrm>
            <a:off x="7059168"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$34k</a:t>
            </a:r>
            <a:endParaRPr lang="en-US" sz="1050" dirty="0"/>
          </a:p>
        </p:txBody>
      </p:sp>
      <p:sp>
        <p:nvSpPr>
          <p:cNvPr id="28" name="Text 26"/>
          <p:cNvSpPr/>
          <p:nvPr/>
        </p:nvSpPr>
        <p:spPr>
          <a:xfrm>
            <a:off x="8083296"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$72k</a:t>
            </a:r>
            <a:endParaRPr lang="en-US" sz="1050" dirty="0"/>
          </a:p>
        </p:txBody>
      </p:sp>
      <p:sp>
        <p:nvSpPr>
          <p:cNvPr id="29" name="Text 27"/>
          <p:cNvSpPr/>
          <p:nvPr/>
        </p:nvSpPr>
        <p:spPr>
          <a:xfrm>
            <a:off x="9107424"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$186k</a:t>
            </a:r>
            <a:endParaRPr lang="en-US" sz="1050" dirty="0"/>
          </a:p>
        </p:txBody>
      </p:sp>
      <p:sp>
        <p:nvSpPr>
          <p:cNvPr id="30" name="Text 28"/>
          <p:cNvSpPr/>
          <p:nvPr/>
        </p:nvSpPr>
        <p:spPr>
          <a:xfrm>
            <a:off x="10131552"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$371k</a:t>
            </a:r>
            <a:endParaRPr lang="en-US" sz="1050" dirty="0"/>
          </a:p>
        </p:txBody>
      </p:sp>
      <p:sp>
        <p:nvSpPr>
          <p:cNvPr id="31" name="Shape 29"/>
          <p:cNvSpPr/>
          <p:nvPr/>
        </p:nvSpPr>
        <p:spPr>
          <a:xfrm>
            <a:off x="512064" y="3273552"/>
            <a:ext cx="10954512" cy="475488"/>
          </a:xfrm>
          <a:prstGeom prst="roundRect">
            <a:avLst>
              <a:gd name="adj" fmla="val 17308"/>
            </a:avLst>
          </a:prstGeom>
          <a:solidFill>
            <a:srgbClr val="EFEBF8"/>
          </a:solidFill>
          <a:ln/>
        </p:spPr>
      </p:sp>
      <p:sp>
        <p:nvSpPr>
          <p:cNvPr id="32" name="Shape 30"/>
          <p:cNvSpPr/>
          <p:nvPr/>
        </p:nvSpPr>
        <p:spPr>
          <a:xfrm rot="5400000">
            <a:off x="640080" y="3383280"/>
            <a:ext cx="237744" cy="237744"/>
          </a:xfrm>
          <a:prstGeom prst="hexagon">
            <a:avLst/>
          </a:prstGeom>
          <a:solidFill>
            <a:srgbClr val="C4453C"/>
          </a:solidFill>
          <a:ln/>
        </p:spPr>
      </p:sp>
      <p:sp>
        <p:nvSpPr>
          <p:cNvPr id="33" name="Text 31"/>
          <p:cNvSpPr/>
          <p:nvPr/>
        </p:nvSpPr>
        <p:spPr>
          <a:xfrm>
            <a:off x="969264" y="3282696"/>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People</a:t>
            </a:r>
            <a:endParaRPr lang="en-US" sz="1150" dirty="0"/>
          </a:p>
        </p:txBody>
      </p:sp>
      <p:sp>
        <p:nvSpPr>
          <p:cNvPr id="34" name="Shape 32"/>
          <p:cNvSpPr/>
          <p:nvPr/>
        </p:nvSpPr>
        <p:spPr>
          <a:xfrm>
            <a:off x="3291840" y="3328416"/>
            <a:ext cx="1298448" cy="219456"/>
          </a:xfrm>
          <a:prstGeom prst="roundRect">
            <a:avLst>
              <a:gd name="adj" fmla="val 50000"/>
            </a:avLst>
          </a:prstGeom>
          <a:solidFill>
            <a:srgbClr val="C4453C"/>
          </a:solidFill>
          <a:ln/>
        </p:spPr>
      </p:sp>
      <p:sp>
        <p:nvSpPr>
          <p:cNvPr id="35" name="Text 33"/>
          <p:cNvSpPr/>
          <p:nvPr/>
        </p:nvSpPr>
        <p:spPr>
          <a:xfrm>
            <a:off x="3291840" y="3328416"/>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capped at 20%</a:t>
            </a:r>
            <a:endParaRPr lang="en-US" sz="750" dirty="0"/>
          </a:p>
        </p:txBody>
      </p:sp>
      <p:sp>
        <p:nvSpPr>
          <p:cNvPr id="36" name="Text 34"/>
          <p:cNvSpPr/>
          <p:nvPr/>
        </p:nvSpPr>
        <p:spPr>
          <a:xfrm>
            <a:off x="969264" y="3511296"/>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Founders unpaid until Year 3 — until then EBITDA IS founder pay. First hire Y2 part-time; six by Y5.</a:t>
            </a:r>
            <a:endParaRPr lang="en-US" sz="800" dirty="0"/>
          </a:p>
        </p:txBody>
      </p:sp>
      <p:sp>
        <p:nvSpPr>
          <p:cNvPr id="37" name="Text 35"/>
          <p:cNvSpPr/>
          <p:nvPr/>
        </p:nvSpPr>
        <p:spPr>
          <a:xfrm>
            <a:off x="6035040" y="3310128"/>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38" name="Text 36"/>
          <p:cNvSpPr/>
          <p:nvPr/>
        </p:nvSpPr>
        <p:spPr>
          <a:xfrm>
            <a:off x="7059168"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$24k</a:t>
            </a:r>
            <a:endParaRPr lang="en-US" sz="1050" dirty="0"/>
          </a:p>
        </p:txBody>
      </p:sp>
      <p:sp>
        <p:nvSpPr>
          <p:cNvPr id="39" name="Text 37"/>
          <p:cNvSpPr/>
          <p:nvPr/>
        </p:nvSpPr>
        <p:spPr>
          <a:xfrm>
            <a:off x="8083296"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$96k</a:t>
            </a:r>
            <a:endParaRPr lang="en-US" sz="1050" dirty="0"/>
          </a:p>
        </p:txBody>
      </p:sp>
      <p:sp>
        <p:nvSpPr>
          <p:cNvPr id="40" name="Text 38"/>
          <p:cNvSpPr/>
          <p:nvPr/>
        </p:nvSpPr>
        <p:spPr>
          <a:xfrm>
            <a:off x="9107424"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$300k</a:t>
            </a:r>
            <a:endParaRPr lang="en-US" sz="1050" dirty="0"/>
          </a:p>
        </p:txBody>
      </p:sp>
      <p:sp>
        <p:nvSpPr>
          <p:cNvPr id="41" name="Text 39"/>
          <p:cNvSpPr/>
          <p:nvPr/>
        </p:nvSpPr>
        <p:spPr>
          <a:xfrm>
            <a:off x="10131552"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$620k</a:t>
            </a:r>
            <a:endParaRPr lang="en-US" sz="1050" dirty="0"/>
          </a:p>
        </p:txBody>
      </p:sp>
      <p:sp>
        <p:nvSpPr>
          <p:cNvPr id="42" name="Shape 40"/>
          <p:cNvSpPr/>
          <p:nvPr/>
        </p:nvSpPr>
        <p:spPr>
          <a:xfrm rot="5400000">
            <a:off x="640080" y="3895344"/>
            <a:ext cx="237744" cy="237744"/>
          </a:xfrm>
          <a:prstGeom prst="hexagon">
            <a:avLst/>
          </a:prstGeom>
          <a:solidFill>
            <a:srgbClr val="178A4C"/>
          </a:solidFill>
          <a:ln/>
        </p:spPr>
      </p:sp>
      <p:sp>
        <p:nvSpPr>
          <p:cNvPr id="43" name="Text 41"/>
          <p:cNvSpPr/>
          <p:nvPr/>
        </p:nvSpPr>
        <p:spPr>
          <a:xfrm>
            <a:off x="969264" y="3794760"/>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Mentors &amp; live delivery</a:t>
            </a:r>
            <a:endParaRPr lang="en-US" sz="1150" dirty="0"/>
          </a:p>
        </p:txBody>
      </p:sp>
      <p:sp>
        <p:nvSpPr>
          <p:cNvPr id="44" name="Shape 42"/>
          <p:cNvSpPr/>
          <p:nvPr/>
        </p:nvSpPr>
        <p:spPr>
          <a:xfrm>
            <a:off x="3291840" y="3840480"/>
            <a:ext cx="1298448" cy="219456"/>
          </a:xfrm>
          <a:prstGeom prst="roundRect">
            <a:avLst>
              <a:gd name="adj" fmla="val 50000"/>
            </a:avLst>
          </a:prstGeom>
          <a:solidFill>
            <a:srgbClr val="178A4C"/>
          </a:solidFill>
          <a:ln/>
        </p:spPr>
      </p:sp>
      <p:sp>
        <p:nvSpPr>
          <p:cNvPr id="45" name="Text 43"/>
          <p:cNvSpPr/>
          <p:nvPr/>
        </p:nvSpPr>
        <p:spPr>
          <a:xfrm>
            <a:off x="3291840" y="3840480"/>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50% of cohort rev</a:t>
            </a:r>
            <a:endParaRPr lang="en-US" sz="750" dirty="0"/>
          </a:p>
        </p:txBody>
      </p:sp>
      <p:sp>
        <p:nvSpPr>
          <p:cNvPr id="46" name="Text 44"/>
          <p:cNvSpPr/>
          <p:nvPr/>
        </p:nvSpPr>
        <p:spPr>
          <a:xfrm>
            <a:off x="969264" y="4023360"/>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A true cost of goods. It exists only when a cohort has already been sold.</a:t>
            </a:r>
            <a:endParaRPr lang="en-US" sz="800" dirty="0"/>
          </a:p>
        </p:txBody>
      </p:sp>
      <p:sp>
        <p:nvSpPr>
          <p:cNvPr id="47" name="Text 45"/>
          <p:cNvSpPr/>
          <p:nvPr/>
        </p:nvSpPr>
        <p:spPr>
          <a:xfrm>
            <a:off x="6035040" y="3822192"/>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48" name="Text 46"/>
          <p:cNvSpPr/>
          <p:nvPr/>
        </p:nvSpPr>
        <p:spPr>
          <a:xfrm>
            <a:off x="7059168" y="3822192"/>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49" name="Text 47"/>
          <p:cNvSpPr/>
          <p:nvPr/>
        </p:nvSpPr>
        <p:spPr>
          <a:xfrm>
            <a:off x="8083296"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$39k</a:t>
            </a:r>
            <a:endParaRPr lang="en-US" sz="1050" dirty="0"/>
          </a:p>
        </p:txBody>
      </p:sp>
      <p:sp>
        <p:nvSpPr>
          <p:cNvPr id="50" name="Text 48"/>
          <p:cNvSpPr/>
          <p:nvPr/>
        </p:nvSpPr>
        <p:spPr>
          <a:xfrm>
            <a:off x="9107424"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$148k</a:t>
            </a:r>
            <a:endParaRPr lang="en-US" sz="1050" dirty="0"/>
          </a:p>
        </p:txBody>
      </p:sp>
      <p:sp>
        <p:nvSpPr>
          <p:cNvPr id="51" name="Text 49"/>
          <p:cNvSpPr/>
          <p:nvPr/>
        </p:nvSpPr>
        <p:spPr>
          <a:xfrm>
            <a:off x="10131552"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$340k</a:t>
            </a:r>
            <a:endParaRPr lang="en-US" sz="1050" dirty="0"/>
          </a:p>
        </p:txBody>
      </p:sp>
      <p:sp>
        <p:nvSpPr>
          <p:cNvPr id="52" name="Shape 50"/>
          <p:cNvSpPr/>
          <p:nvPr/>
        </p:nvSpPr>
        <p:spPr>
          <a:xfrm>
            <a:off x="512064" y="4297680"/>
            <a:ext cx="10954512" cy="475488"/>
          </a:xfrm>
          <a:prstGeom prst="roundRect">
            <a:avLst>
              <a:gd name="adj" fmla="val 17308"/>
            </a:avLst>
          </a:prstGeom>
          <a:solidFill>
            <a:srgbClr val="EFEBF8"/>
          </a:solidFill>
          <a:ln/>
        </p:spPr>
      </p:sp>
      <p:sp>
        <p:nvSpPr>
          <p:cNvPr id="53" name="Shape 51"/>
          <p:cNvSpPr/>
          <p:nvPr/>
        </p:nvSpPr>
        <p:spPr>
          <a:xfrm rot="5400000">
            <a:off x="640080" y="4407408"/>
            <a:ext cx="237744" cy="237744"/>
          </a:xfrm>
          <a:prstGeom prst="hexagon">
            <a:avLst/>
          </a:prstGeom>
          <a:solidFill>
            <a:srgbClr val="F0B429"/>
          </a:solidFill>
          <a:ln/>
        </p:spPr>
      </p:sp>
      <p:sp>
        <p:nvSpPr>
          <p:cNvPr id="54" name="Text 52"/>
          <p:cNvSpPr/>
          <p:nvPr/>
        </p:nvSpPr>
        <p:spPr>
          <a:xfrm>
            <a:off x="969264" y="4306824"/>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Physical COGS</a:t>
            </a:r>
            <a:endParaRPr lang="en-US" sz="1150" dirty="0"/>
          </a:p>
        </p:txBody>
      </p:sp>
      <p:sp>
        <p:nvSpPr>
          <p:cNvPr id="55" name="Shape 53"/>
          <p:cNvSpPr/>
          <p:nvPr/>
        </p:nvSpPr>
        <p:spPr>
          <a:xfrm>
            <a:off x="3291840" y="4352544"/>
            <a:ext cx="1298448" cy="219456"/>
          </a:xfrm>
          <a:prstGeom prst="roundRect">
            <a:avLst>
              <a:gd name="adj" fmla="val 50000"/>
            </a:avLst>
          </a:prstGeom>
          <a:solidFill>
            <a:srgbClr val="F0B429"/>
          </a:solidFill>
          <a:ln/>
        </p:spPr>
      </p:sp>
      <p:sp>
        <p:nvSpPr>
          <p:cNvPr id="56" name="Text 54"/>
          <p:cNvSpPr/>
          <p:nvPr/>
        </p:nvSpPr>
        <p:spPr>
          <a:xfrm>
            <a:off x="3291840" y="4352544"/>
            <a:ext cx="1298448" cy="219456"/>
          </a:xfrm>
          <a:prstGeom prst="rect">
            <a:avLst/>
          </a:prstGeom>
          <a:noFill/>
          <a:ln/>
        </p:spPr>
        <p:txBody>
          <a:bodyPr wrap="square" lIns="0" tIns="0" rIns="0" bIns="0" rtlCol="0" anchor="ctr"/>
          <a:lstStyle/>
          <a:p>
            <a:pPr algn="ctr" indent="0" marL="0">
              <a:buNone/>
            </a:pPr>
            <a:r>
              <a:rPr lang="en-US" sz="750" b="1" dirty="0">
                <a:solidFill>
                  <a:srgbClr val="241E33"/>
                </a:solidFill>
                <a:latin typeface="Calibri" pitchFamily="34" charset="0"/>
                <a:ea typeface="Calibri" pitchFamily="34" charset="-122"/>
                <a:cs typeface="Calibri" pitchFamily="34" charset="-120"/>
              </a:rPr>
              <a:t>55% of physical rev</a:t>
            </a:r>
            <a:endParaRPr lang="en-US" sz="750" dirty="0"/>
          </a:p>
        </p:txBody>
      </p:sp>
      <p:sp>
        <p:nvSpPr>
          <p:cNvPr id="57" name="Text 55"/>
          <p:cNvSpPr/>
          <p:nvPr/>
        </p:nvSpPr>
        <p:spPr>
          <a:xfrm>
            <a:off x="969264" y="4535424"/>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Print-on-demand. We never hold stock we have not already sold.</a:t>
            </a:r>
            <a:endParaRPr lang="en-US" sz="800" dirty="0"/>
          </a:p>
        </p:txBody>
      </p:sp>
      <p:sp>
        <p:nvSpPr>
          <p:cNvPr id="58" name="Text 56"/>
          <p:cNvSpPr/>
          <p:nvPr/>
        </p:nvSpPr>
        <p:spPr>
          <a:xfrm>
            <a:off x="6035040" y="4334256"/>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59" name="Text 57"/>
          <p:cNvSpPr/>
          <p:nvPr/>
        </p:nvSpPr>
        <p:spPr>
          <a:xfrm>
            <a:off x="7059168"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$4.4k</a:t>
            </a:r>
            <a:endParaRPr lang="en-US" sz="1050" dirty="0"/>
          </a:p>
        </p:txBody>
      </p:sp>
      <p:sp>
        <p:nvSpPr>
          <p:cNvPr id="60" name="Text 58"/>
          <p:cNvSpPr/>
          <p:nvPr/>
        </p:nvSpPr>
        <p:spPr>
          <a:xfrm>
            <a:off x="8083296"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$26k</a:t>
            </a:r>
            <a:endParaRPr lang="en-US" sz="1050" dirty="0"/>
          </a:p>
        </p:txBody>
      </p:sp>
      <p:sp>
        <p:nvSpPr>
          <p:cNvPr id="61" name="Text 59"/>
          <p:cNvSpPr/>
          <p:nvPr/>
        </p:nvSpPr>
        <p:spPr>
          <a:xfrm>
            <a:off x="9107424"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$77k</a:t>
            </a:r>
            <a:endParaRPr lang="en-US" sz="1050" dirty="0"/>
          </a:p>
        </p:txBody>
      </p:sp>
      <p:sp>
        <p:nvSpPr>
          <p:cNvPr id="62" name="Text 60"/>
          <p:cNvSpPr/>
          <p:nvPr/>
        </p:nvSpPr>
        <p:spPr>
          <a:xfrm>
            <a:off x="10131552"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$170k</a:t>
            </a:r>
            <a:endParaRPr lang="en-US" sz="1050" dirty="0"/>
          </a:p>
        </p:txBody>
      </p:sp>
      <p:sp>
        <p:nvSpPr>
          <p:cNvPr id="63" name="Shape 61"/>
          <p:cNvSpPr/>
          <p:nvPr/>
        </p:nvSpPr>
        <p:spPr>
          <a:xfrm rot="5400000">
            <a:off x="640080" y="4919472"/>
            <a:ext cx="237744" cy="237744"/>
          </a:xfrm>
          <a:prstGeom prst="hexagon">
            <a:avLst/>
          </a:prstGeom>
          <a:solidFill>
            <a:srgbClr val="178A4C"/>
          </a:solidFill>
          <a:ln/>
        </p:spPr>
      </p:sp>
      <p:sp>
        <p:nvSpPr>
          <p:cNvPr id="64" name="Text 62"/>
          <p:cNvSpPr/>
          <p:nvPr/>
        </p:nvSpPr>
        <p:spPr>
          <a:xfrm>
            <a:off x="969264" y="4818888"/>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Payment fees &amp; hosting</a:t>
            </a:r>
            <a:endParaRPr lang="en-US" sz="1150" dirty="0"/>
          </a:p>
        </p:txBody>
      </p:sp>
      <p:sp>
        <p:nvSpPr>
          <p:cNvPr id="65" name="Shape 63"/>
          <p:cNvSpPr/>
          <p:nvPr/>
        </p:nvSpPr>
        <p:spPr>
          <a:xfrm>
            <a:off x="3291840" y="4864608"/>
            <a:ext cx="1298448" cy="219456"/>
          </a:xfrm>
          <a:prstGeom prst="roundRect">
            <a:avLst>
              <a:gd name="adj" fmla="val 50000"/>
            </a:avLst>
          </a:prstGeom>
          <a:solidFill>
            <a:srgbClr val="178A4C"/>
          </a:solidFill>
          <a:ln/>
        </p:spPr>
      </p:sp>
      <p:sp>
        <p:nvSpPr>
          <p:cNvPr id="66" name="Text 64"/>
          <p:cNvSpPr/>
          <p:nvPr/>
        </p:nvSpPr>
        <p:spPr>
          <a:xfrm>
            <a:off x="3291840" y="4864608"/>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3.9% of revenue</a:t>
            </a:r>
            <a:endParaRPr lang="en-US" sz="750" dirty="0"/>
          </a:p>
        </p:txBody>
      </p:sp>
      <p:sp>
        <p:nvSpPr>
          <p:cNvPr id="67" name="Text 65"/>
          <p:cNvSpPr/>
          <p:nvPr/>
        </p:nvSpPr>
        <p:spPr>
          <a:xfrm>
            <a:off x="969264" y="5047488"/>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Stripe, plus a statically hosted offline-first app. Genuinely small, and it stays small.</a:t>
            </a:r>
            <a:endParaRPr lang="en-US" sz="800" dirty="0"/>
          </a:p>
        </p:txBody>
      </p:sp>
      <p:sp>
        <p:nvSpPr>
          <p:cNvPr id="68" name="Text 66"/>
          <p:cNvSpPr/>
          <p:nvPr/>
        </p:nvSpPr>
        <p:spPr>
          <a:xfrm>
            <a:off x="6035040"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$1.0k</a:t>
            </a:r>
            <a:endParaRPr lang="en-US" sz="1050" dirty="0"/>
          </a:p>
        </p:txBody>
      </p:sp>
      <p:sp>
        <p:nvSpPr>
          <p:cNvPr id="69" name="Text 67"/>
          <p:cNvSpPr/>
          <p:nvPr/>
        </p:nvSpPr>
        <p:spPr>
          <a:xfrm>
            <a:off x="7059168"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$6.2k</a:t>
            </a:r>
            <a:endParaRPr lang="en-US" sz="1050" dirty="0"/>
          </a:p>
        </p:txBody>
      </p:sp>
      <p:sp>
        <p:nvSpPr>
          <p:cNvPr id="70" name="Text 68"/>
          <p:cNvSpPr/>
          <p:nvPr/>
        </p:nvSpPr>
        <p:spPr>
          <a:xfrm>
            <a:off x="8083296"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$23k</a:t>
            </a:r>
            <a:endParaRPr lang="en-US" sz="1050" dirty="0"/>
          </a:p>
        </p:txBody>
      </p:sp>
      <p:sp>
        <p:nvSpPr>
          <p:cNvPr id="71" name="Text 69"/>
          <p:cNvSpPr/>
          <p:nvPr/>
        </p:nvSpPr>
        <p:spPr>
          <a:xfrm>
            <a:off x="9107424"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$61k</a:t>
            </a:r>
            <a:endParaRPr lang="en-US" sz="1050" dirty="0"/>
          </a:p>
        </p:txBody>
      </p:sp>
      <p:sp>
        <p:nvSpPr>
          <p:cNvPr id="72" name="Text 70"/>
          <p:cNvSpPr/>
          <p:nvPr/>
        </p:nvSpPr>
        <p:spPr>
          <a:xfrm>
            <a:off x="10131552"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$121k</a:t>
            </a:r>
            <a:endParaRPr lang="en-US" sz="1050" dirty="0"/>
          </a:p>
        </p:txBody>
      </p:sp>
      <p:sp>
        <p:nvSpPr>
          <p:cNvPr id="73" name="Shape 71"/>
          <p:cNvSpPr/>
          <p:nvPr/>
        </p:nvSpPr>
        <p:spPr>
          <a:xfrm>
            <a:off x="512064" y="5321808"/>
            <a:ext cx="10954512" cy="475488"/>
          </a:xfrm>
          <a:prstGeom prst="roundRect">
            <a:avLst>
              <a:gd name="adj" fmla="val 17308"/>
            </a:avLst>
          </a:prstGeom>
          <a:solidFill>
            <a:srgbClr val="EFEBF8"/>
          </a:solidFill>
          <a:ln/>
        </p:spPr>
      </p:sp>
      <p:sp>
        <p:nvSpPr>
          <p:cNvPr id="74" name="Shape 72"/>
          <p:cNvSpPr/>
          <p:nvPr/>
        </p:nvSpPr>
        <p:spPr>
          <a:xfrm rot="5400000">
            <a:off x="640080" y="5431536"/>
            <a:ext cx="237744" cy="237744"/>
          </a:xfrm>
          <a:prstGeom prst="hexagon">
            <a:avLst/>
          </a:prstGeom>
          <a:solidFill>
            <a:srgbClr val="F0B429"/>
          </a:solidFill>
          <a:ln/>
        </p:spPr>
      </p:sp>
      <p:sp>
        <p:nvSpPr>
          <p:cNvPr id="75" name="Text 73"/>
          <p:cNvSpPr/>
          <p:nvPr/>
        </p:nvSpPr>
        <p:spPr>
          <a:xfrm>
            <a:off x="969264" y="5330952"/>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G&amp;A — the only fixed line</a:t>
            </a:r>
            <a:endParaRPr lang="en-US" sz="1150" dirty="0"/>
          </a:p>
        </p:txBody>
      </p:sp>
      <p:sp>
        <p:nvSpPr>
          <p:cNvPr id="76" name="Shape 74"/>
          <p:cNvSpPr/>
          <p:nvPr/>
        </p:nvSpPr>
        <p:spPr>
          <a:xfrm>
            <a:off x="3291840" y="5376672"/>
            <a:ext cx="1298448" cy="219456"/>
          </a:xfrm>
          <a:prstGeom prst="roundRect">
            <a:avLst>
              <a:gd name="adj" fmla="val 50000"/>
            </a:avLst>
          </a:prstGeom>
          <a:solidFill>
            <a:srgbClr val="F0B429"/>
          </a:solidFill>
          <a:ln/>
        </p:spPr>
      </p:sp>
      <p:sp>
        <p:nvSpPr>
          <p:cNvPr id="77" name="Text 75"/>
          <p:cNvSpPr/>
          <p:nvPr/>
        </p:nvSpPr>
        <p:spPr>
          <a:xfrm>
            <a:off x="3291840" y="5376672"/>
            <a:ext cx="1298448" cy="219456"/>
          </a:xfrm>
          <a:prstGeom prst="rect">
            <a:avLst/>
          </a:prstGeom>
          <a:noFill/>
          <a:ln/>
        </p:spPr>
        <p:txBody>
          <a:bodyPr wrap="square" lIns="0" tIns="0" rIns="0" bIns="0" rtlCol="0" anchor="ctr"/>
          <a:lstStyle/>
          <a:p>
            <a:pPr algn="ctr" indent="0" marL="0">
              <a:buNone/>
            </a:pPr>
            <a:r>
              <a:rPr lang="en-US" sz="750" b="1" dirty="0">
                <a:solidFill>
                  <a:srgbClr val="241E33"/>
                </a:solidFill>
                <a:latin typeface="Calibri" pitchFamily="34" charset="0"/>
                <a:ea typeface="Calibri" pitchFamily="34" charset="-122"/>
                <a:cs typeface="Calibri" pitchFamily="34" charset="-120"/>
              </a:rPr>
              <a:t>fixed</a:t>
            </a:r>
            <a:endParaRPr lang="en-US" sz="750" dirty="0"/>
          </a:p>
        </p:txBody>
      </p:sp>
      <p:sp>
        <p:nvSpPr>
          <p:cNvPr id="78" name="Text 76"/>
          <p:cNvSpPr/>
          <p:nvPr/>
        </p:nvSpPr>
        <p:spPr>
          <a:xfrm>
            <a:off x="969264" y="5559552"/>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Entity, filings, accounting, insurance, background checks. $40 a week in Year 1.</a:t>
            </a:r>
            <a:endParaRPr lang="en-US" sz="800" dirty="0"/>
          </a:p>
        </p:txBody>
      </p:sp>
      <p:sp>
        <p:nvSpPr>
          <p:cNvPr id="79" name="Text 77"/>
          <p:cNvSpPr/>
          <p:nvPr/>
        </p:nvSpPr>
        <p:spPr>
          <a:xfrm>
            <a:off x="6035040"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$2.1k</a:t>
            </a:r>
            <a:endParaRPr lang="en-US" sz="1050" dirty="0"/>
          </a:p>
        </p:txBody>
      </p:sp>
      <p:sp>
        <p:nvSpPr>
          <p:cNvPr id="80" name="Text 78"/>
          <p:cNvSpPr/>
          <p:nvPr/>
        </p:nvSpPr>
        <p:spPr>
          <a:xfrm>
            <a:off x="7059168"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$9.0k</a:t>
            </a:r>
            <a:endParaRPr lang="en-US" sz="1050" dirty="0"/>
          </a:p>
        </p:txBody>
      </p:sp>
      <p:sp>
        <p:nvSpPr>
          <p:cNvPr id="81" name="Text 79"/>
          <p:cNvSpPr/>
          <p:nvPr/>
        </p:nvSpPr>
        <p:spPr>
          <a:xfrm>
            <a:off x="8083296"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$26k</a:t>
            </a:r>
            <a:endParaRPr lang="en-US" sz="1050" dirty="0"/>
          </a:p>
        </p:txBody>
      </p:sp>
      <p:sp>
        <p:nvSpPr>
          <p:cNvPr id="82" name="Text 80"/>
          <p:cNvSpPr/>
          <p:nvPr/>
        </p:nvSpPr>
        <p:spPr>
          <a:xfrm>
            <a:off x="9107424"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$52k</a:t>
            </a:r>
            <a:endParaRPr lang="en-US" sz="1050" dirty="0"/>
          </a:p>
        </p:txBody>
      </p:sp>
      <p:sp>
        <p:nvSpPr>
          <p:cNvPr id="83" name="Text 81"/>
          <p:cNvSpPr/>
          <p:nvPr/>
        </p:nvSpPr>
        <p:spPr>
          <a:xfrm>
            <a:off x="10131552"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$84k</a:t>
            </a:r>
            <a:endParaRPr lang="en-US" sz="1050" dirty="0"/>
          </a:p>
        </p:txBody>
      </p:sp>
      <p:sp>
        <p:nvSpPr>
          <p:cNvPr id="84" name="Shape 82"/>
          <p:cNvSpPr/>
          <p:nvPr/>
        </p:nvSpPr>
        <p:spPr>
          <a:xfrm>
            <a:off x="512064" y="5833872"/>
            <a:ext cx="10954512" cy="475488"/>
          </a:xfrm>
          <a:prstGeom prst="roundRect">
            <a:avLst>
              <a:gd name="adj" fmla="val 17308"/>
            </a:avLst>
          </a:prstGeom>
          <a:solidFill>
            <a:srgbClr val="241E33"/>
          </a:solidFill>
          <a:ln/>
        </p:spPr>
      </p:sp>
      <p:sp>
        <p:nvSpPr>
          <p:cNvPr id="85" name="Text 83"/>
          <p:cNvSpPr/>
          <p:nvPr/>
        </p:nvSpPr>
        <p:spPr>
          <a:xfrm>
            <a:off x="969264" y="5870448"/>
            <a:ext cx="3657600" cy="420624"/>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Total operating cost</a:t>
            </a:r>
            <a:endParaRPr lang="en-US" sz="1250" dirty="0"/>
          </a:p>
        </p:txBody>
      </p:sp>
      <p:sp>
        <p:nvSpPr>
          <p:cNvPr id="86" name="Text 84"/>
          <p:cNvSpPr/>
          <p:nvPr/>
        </p:nvSpPr>
        <p:spPr>
          <a:xfrm>
            <a:off x="6035040"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$19k</a:t>
            </a:r>
            <a:endParaRPr lang="en-US" sz="1100" dirty="0"/>
          </a:p>
        </p:txBody>
      </p:sp>
      <p:sp>
        <p:nvSpPr>
          <p:cNvPr id="87" name="Text 85"/>
          <p:cNvSpPr/>
          <p:nvPr/>
        </p:nvSpPr>
        <p:spPr>
          <a:xfrm>
            <a:off x="7059168"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$106k</a:t>
            </a:r>
            <a:endParaRPr lang="en-US" sz="1100" dirty="0"/>
          </a:p>
        </p:txBody>
      </p:sp>
      <p:sp>
        <p:nvSpPr>
          <p:cNvPr id="88" name="Text 86"/>
          <p:cNvSpPr/>
          <p:nvPr/>
        </p:nvSpPr>
        <p:spPr>
          <a:xfrm>
            <a:off x="8083296"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$391k</a:t>
            </a:r>
            <a:endParaRPr lang="en-US" sz="1100" dirty="0"/>
          </a:p>
        </p:txBody>
      </p:sp>
      <p:sp>
        <p:nvSpPr>
          <p:cNvPr id="89" name="Text 87"/>
          <p:cNvSpPr/>
          <p:nvPr/>
        </p:nvSpPr>
        <p:spPr>
          <a:xfrm>
            <a:off x="9107424"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$1.10M</a:t>
            </a:r>
            <a:endParaRPr lang="en-US" sz="1100" dirty="0"/>
          </a:p>
        </p:txBody>
      </p:sp>
      <p:sp>
        <p:nvSpPr>
          <p:cNvPr id="90" name="Text 88"/>
          <p:cNvSpPr/>
          <p:nvPr/>
        </p:nvSpPr>
        <p:spPr>
          <a:xfrm>
            <a:off x="10131552" y="5870448"/>
            <a:ext cx="932688" cy="420624"/>
          </a:xfrm>
          <a:prstGeom prst="rect">
            <a:avLst/>
          </a:prstGeom>
          <a:noFill/>
          <a:ln/>
        </p:spPr>
        <p:txBody>
          <a:bodyPr wrap="square" lIns="0" tIns="0" rIns="0" bIns="0" rtlCol="0" anchor="ctr"/>
          <a:lstStyle/>
          <a:p>
            <a:pPr algn="ctr" indent="0" marL="0">
              <a:buNone/>
            </a:pPr>
            <a:r>
              <a:rPr lang="en-US" sz="1100" b="1" dirty="0">
                <a:solidFill>
                  <a:srgbClr val="F0B429"/>
                </a:solidFill>
                <a:latin typeface="Calibri" pitchFamily="34" charset="0"/>
                <a:ea typeface="Calibri" pitchFamily="34" charset="-122"/>
                <a:cs typeface="Calibri" pitchFamily="34" charset="-120"/>
              </a:rPr>
              <a:t>$2.26M</a:t>
            </a:r>
            <a:endParaRPr lang="en-US" sz="1100" dirty="0"/>
          </a:p>
        </p:txBody>
      </p:sp>
      <p:sp>
        <p:nvSpPr>
          <p:cNvPr id="91" name="Shape 89"/>
          <p:cNvSpPr/>
          <p:nvPr/>
        </p:nvSpPr>
        <p:spPr>
          <a:xfrm>
            <a:off x="640080" y="6345936"/>
            <a:ext cx="10607040" cy="402336"/>
          </a:xfrm>
          <a:prstGeom prst="roundRect">
            <a:avLst>
              <a:gd name="adj" fmla="val 22727"/>
            </a:avLst>
          </a:prstGeom>
          <a:solidFill>
            <a:srgbClr val="E8F4EC"/>
          </a:solidFill>
          <a:ln/>
        </p:spPr>
      </p:sp>
      <p:sp>
        <p:nvSpPr>
          <p:cNvPr id="92" name="Text 90"/>
          <p:cNvSpPr/>
          <p:nvPr/>
        </p:nvSpPr>
        <p:spPr>
          <a:xfrm>
            <a:off x="877824" y="6345936"/>
            <a:ext cx="10149840" cy="402336"/>
          </a:xfrm>
          <a:prstGeom prst="rect">
            <a:avLst/>
          </a:prstGeom>
          <a:noFill/>
          <a:ln/>
        </p:spPr>
        <p:txBody>
          <a:bodyPr wrap="square" lIns="0" tIns="0" rIns="0" bIns="0" rtlCol="0" anchor="ctr"/>
          <a:lstStyle/>
          <a:p>
            <a:pPr indent="0" marL="0">
              <a:lnSpc>
                <a:spcPts val="1150"/>
              </a:lnSpc>
              <a:buNone/>
            </a:pPr>
            <a:r>
              <a:rPr lang="en-US" sz="950" b="1" dirty="0">
                <a:solidFill>
                  <a:srgbClr val="1F4A33"/>
                </a:solidFill>
                <a:latin typeface="Calibri" pitchFamily="34" charset="0"/>
                <a:ea typeface="Calibri" pitchFamily="34" charset="-122"/>
                <a:cs typeface="Calibri" pitchFamily="34" charset="-120"/>
              </a:rPr>
              <a:t>Why this cannot produce a loss:  </a:t>
            </a:r>
            <a:pPr indent="0" marL="0">
              <a:lnSpc>
                <a:spcPts val="1150"/>
              </a:lnSpc>
              <a:buNone/>
            </a:pPr>
            <a:r>
              <a:rPr lang="en-US" sz="950" dirty="0">
                <a:solidFill>
                  <a:srgbClr val="1F4A33"/>
                </a:solidFill>
                <a:latin typeface="Calibri" pitchFamily="34" charset="0"/>
                <a:ea typeface="Calibri" pitchFamily="34" charset="-122"/>
                <a:cs typeface="Calibri" pitchFamily="34" charset="-120"/>
              </a:rPr>
              <a:t>the rule-driven lines sum to 33.9% of revenue plus 50% of cohort and 55% of physical revenue — about 42% blended. The only way to lose money is for the two fixed lines, People and G&amp;A, to exceed the remaining 58%. Both are set annually, in arrears, from revenue already banked.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SUMMARY · STRESS TESTED</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Five-year P&amp;L, and what breaks it</a:t>
            </a:r>
            <a:endParaRPr lang="en-US" sz="2900" dirty="0"/>
          </a:p>
        </p:txBody>
      </p:sp>
      <p:sp>
        <p:nvSpPr>
          <p:cNvPr id="4" name="Shape 2"/>
          <p:cNvSpPr/>
          <p:nvPr/>
        </p:nvSpPr>
        <p:spPr>
          <a:xfrm>
            <a:off x="512064" y="1371600"/>
            <a:ext cx="9509760" cy="274320"/>
          </a:xfrm>
          <a:prstGeom prst="roundRect">
            <a:avLst>
              <a:gd name="adj" fmla="val 30000"/>
            </a:avLst>
          </a:prstGeom>
          <a:solidFill>
            <a:srgbClr val="6C4FE0"/>
          </a:solidFill>
          <a:ln/>
        </p:spPr>
      </p:sp>
      <p:sp>
        <p:nvSpPr>
          <p:cNvPr id="5" name="Text 3"/>
          <p:cNvSpPr/>
          <p:nvPr/>
        </p:nvSpPr>
        <p:spPr>
          <a:xfrm>
            <a:off x="694944" y="1371600"/>
            <a:ext cx="3017520" cy="274320"/>
          </a:xfrm>
          <a:prstGeom prst="rect">
            <a:avLst/>
          </a:prstGeom>
          <a:noFill/>
          <a:ln/>
        </p:spPr>
        <p:txBody>
          <a:bodyPr wrap="square" lIns="0" tIns="0" rIns="0" bIns="0" rtlCol="0" anchor="ctr"/>
          <a:lstStyle/>
          <a:p>
            <a:pPr indent="0" marL="0">
              <a:buNone/>
            </a:pPr>
            <a:r>
              <a:rPr lang="en-US" sz="950" b="1" spc="160" kern="0" dirty="0">
                <a:solidFill>
                  <a:srgbClr val="FFFFFF"/>
                </a:solidFill>
                <a:latin typeface="Calibri" pitchFamily="34" charset="0"/>
                <a:ea typeface="Calibri" pitchFamily="34" charset="-122"/>
                <a:cs typeface="Calibri" pitchFamily="34" charset="-120"/>
              </a:rPr>
              <a:t>BASE CASE — 4 / 18 / 52 / 115 / 195 per week</a:t>
            </a:r>
            <a:endParaRPr lang="en-US" sz="950" dirty="0"/>
          </a:p>
        </p:txBody>
      </p:sp>
      <p:sp>
        <p:nvSpPr>
          <p:cNvPr id="6" name="Text 4"/>
          <p:cNvSpPr/>
          <p:nvPr/>
        </p:nvSpPr>
        <p:spPr>
          <a:xfrm>
            <a:off x="379476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Y1</a:t>
            </a:r>
            <a:endParaRPr lang="en-US" sz="900" dirty="0"/>
          </a:p>
        </p:txBody>
      </p:sp>
      <p:sp>
        <p:nvSpPr>
          <p:cNvPr id="7" name="Text 5"/>
          <p:cNvSpPr/>
          <p:nvPr/>
        </p:nvSpPr>
        <p:spPr>
          <a:xfrm>
            <a:off x="502920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Y2</a:t>
            </a:r>
            <a:endParaRPr lang="en-US" sz="900" dirty="0"/>
          </a:p>
        </p:txBody>
      </p:sp>
      <p:sp>
        <p:nvSpPr>
          <p:cNvPr id="8" name="Text 6"/>
          <p:cNvSpPr/>
          <p:nvPr/>
        </p:nvSpPr>
        <p:spPr>
          <a:xfrm>
            <a:off x="626364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Y3</a:t>
            </a:r>
            <a:endParaRPr lang="en-US" sz="900" dirty="0"/>
          </a:p>
        </p:txBody>
      </p:sp>
      <p:sp>
        <p:nvSpPr>
          <p:cNvPr id="9" name="Text 7"/>
          <p:cNvSpPr/>
          <p:nvPr/>
        </p:nvSpPr>
        <p:spPr>
          <a:xfrm>
            <a:off x="749808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Y4</a:t>
            </a:r>
            <a:endParaRPr lang="en-US" sz="900" dirty="0"/>
          </a:p>
        </p:txBody>
      </p:sp>
      <p:sp>
        <p:nvSpPr>
          <p:cNvPr id="10" name="Text 8"/>
          <p:cNvSpPr/>
          <p:nvPr/>
        </p:nvSpPr>
        <p:spPr>
          <a:xfrm>
            <a:off x="873252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Y5</a:t>
            </a:r>
            <a:endParaRPr lang="en-US" sz="900" dirty="0"/>
          </a:p>
        </p:txBody>
      </p:sp>
      <p:sp>
        <p:nvSpPr>
          <p:cNvPr id="11" name="Text 9"/>
          <p:cNvSpPr/>
          <p:nvPr/>
        </p:nvSpPr>
        <p:spPr>
          <a:xfrm>
            <a:off x="640080" y="1664208"/>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Paying households</a:t>
            </a:r>
            <a:endParaRPr lang="en-US" sz="1050" dirty="0"/>
          </a:p>
        </p:txBody>
      </p:sp>
      <p:sp>
        <p:nvSpPr>
          <p:cNvPr id="12" name="Text 10"/>
          <p:cNvSpPr/>
          <p:nvPr/>
        </p:nvSpPr>
        <p:spPr>
          <a:xfrm>
            <a:off x="379476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208</a:t>
            </a:r>
            <a:endParaRPr lang="en-US" sz="1000" dirty="0"/>
          </a:p>
        </p:txBody>
      </p:sp>
      <p:sp>
        <p:nvSpPr>
          <p:cNvPr id="13" name="Text 11"/>
          <p:cNvSpPr/>
          <p:nvPr/>
        </p:nvSpPr>
        <p:spPr>
          <a:xfrm>
            <a:off x="502920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1,082</a:t>
            </a:r>
            <a:endParaRPr lang="en-US" sz="1000" dirty="0"/>
          </a:p>
        </p:txBody>
      </p:sp>
      <p:sp>
        <p:nvSpPr>
          <p:cNvPr id="14" name="Text 12"/>
          <p:cNvSpPr/>
          <p:nvPr/>
        </p:nvSpPr>
        <p:spPr>
          <a:xfrm>
            <a:off x="626364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3,461</a:t>
            </a:r>
            <a:endParaRPr lang="en-US" sz="1000" dirty="0"/>
          </a:p>
        </p:txBody>
      </p:sp>
      <p:sp>
        <p:nvSpPr>
          <p:cNvPr id="15" name="Text 13"/>
          <p:cNvSpPr/>
          <p:nvPr/>
        </p:nvSpPr>
        <p:spPr>
          <a:xfrm>
            <a:off x="749808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8,403</a:t>
            </a:r>
            <a:endParaRPr lang="en-US" sz="1000" dirty="0"/>
          </a:p>
        </p:txBody>
      </p:sp>
      <p:sp>
        <p:nvSpPr>
          <p:cNvPr id="16" name="Text 14"/>
          <p:cNvSpPr/>
          <p:nvPr/>
        </p:nvSpPr>
        <p:spPr>
          <a:xfrm>
            <a:off x="873252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16.0k</a:t>
            </a:r>
            <a:endParaRPr lang="en-US" sz="1000" dirty="0"/>
          </a:p>
        </p:txBody>
      </p:sp>
      <p:sp>
        <p:nvSpPr>
          <p:cNvPr id="17" name="Text 15"/>
          <p:cNvSpPr/>
          <p:nvPr/>
        </p:nvSpPr>
        <p:spPr>
          <a:xfrm>
            <a:off x="640080" y="1993392"/>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Revenue</a:t>
            </a:r>
            <a:endParaRPr lang="en-US" sz="1150" dirty="0"/>
          </a:p>
        </p:txBody>
      </p:sp>
      <p:sp>
        <p:nvSpPr>
          <p:cNvPr id="18" name="Text 16"/>
          <p:cNvSpPr/>
          <p:nvPr/>
        </p:nvSpPr>
        <p:spPr>
          <a:xfrm>
            <a:off x="379476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$26k</a:t>
            </a:r>
            <a:endParaRPr lang="en-US" sz="1100" dirty="0"/>
          </a:p>
        </p:txBody>
      </p:sp>
      <p:sp>
        <p:nvSpPr>
          <p:cNvPr id="19" name="Text 17"/>
          <p:cNvSpPr/>
          <p:nvPr/>
        </p:nvSpPr>
        <p:spPr>
          <a:xfrm>
            <a:off x="502920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$159k</a:t>
            </a:r>
            <a:endParaRPr lang="en-US" sz="1100" dirty="0"/>
          </a:p>
        </p:txBody>
      </p:sp>
      <p:sp>
        <p:nvSpPr>
          <p:cNvPr id="20" name="Text 18"/>
          <p:cNvSpPr/>
          <p:nvPr/>
        </p:nvSpPr>
        <p:spPr>
          <a:xfrm>
            <a:off x="626364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$601k</a:t>
            </a:r>
            <a:endParaRPr lang="en-US" sz="1100" dirty="0"/>
          </a:p>
        </p:txBody>
      </p:sp>
      <p:sp>
        <p:nvSpPr>
          <p:cNvPr id="21" name="Text 19"/>
          <p:cNvSpPr/>
          <p:nvPr/>
        </p:nvSpPr>
        <p:spPr>
          <a:xfrm>
            <a:off x="749808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$1.55M</a:t>
            </a:r>
            <a:endParaRPr lang="en-US" sz="1100" dirty="0"/>
          </a:p>
        </p:txBody>
      </p:sp>
      <p:sp>
        <p:nvSpPr>
          <p:cNvPr id="22" name="Text 20"/>
          <p:cNvSpPr/>
          <p:nvPr/>
        </p:nvSpPr>
        <p:spPr>
          <a:xfrm>
            <a:off x="873252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$3.09M</a:t>
            </a:r>
            <a:endParaRPr lang="en-US" sz="1100" dirty="0"/>
          </a:p>
        </p:txBody>
      </p:sp>
      <p:sp>
        <p:nvSpPr>
          <p:cNvPr id="23" name="Text 21"/>
          <p:cNvSpPr/>
          <p:nvPr/>
        </p:nvSpPr>
        <p:spPr>
          <a:xfrm>
            <a:off x="640080" y="2322576"/>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Operating cost</a:t>
            </a:r>
            <a:endParaRPr lang="en-US" sz="1050" dirty="0"/>
          </a:p>
        </p:txBody>
      </p:sp>
      <p:sp>
        <p:nvSpPr>
          <p:cNvPr id="24" name="Text 22"/>
          <p:cNvSpPr/>
          <p:nvPr/>
        </p:nvSpPr>
        <p:spPr>
          <a:xfrm>
            <a:off x="379476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$19k</a:t>
            </a:r>
            <a:endParaRPr lang="en-US" sz="1000" dirty="0"/>
          </a:p>
        </p:txBody>
      </p:sp>
      <p:sp>
        <p:nvSpPr>
          <p:cNvPr id="25" name="Text 23"/>
          <p:cNvSpPr/>
          <p:nvPr/>
        </p:nvSpPr>
        <p:spPr>
          <a:xfrm>
            <a:off x="502920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$106k</a:t>
            </a:r>
            <a:endParaRPr lang="en-US" sz="1000" dirty="0"/>
          </a:p>
        </p:txBody>
      </p:sp>
      <p:sp>
        <p:nvSpPr>
          <p:cNvPr id="26" name="Text 24"/>
          <p:cNvSpPr/>
          <p:nvPr/>
        </p:nvSpPr>
        <p:spPr>
          <a:xfrm>
            <a:off x="626364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$391k</a:t>
            </a:r>
            <a:endParaRPr lang="en-US" sz="1000" dirty="0"/>
          </a:p>
        </p:txBody>
      </p:sp>
      <p:sp>
        <p:nvSpPr>
          <p:cNvPr id="27" name="Text 25"/>
          <p:cNvSpPr/>
          <p:nvPr/>
        </p:nvSpPr>
        <p:spPr>
          <a:xfrm>
            <a:off x="749808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$1.10M</a:t>
            </a:r>
            <a:endParaRPr lang="en-US" sz="1000" dirty="0"/>
          </a:p>
        </p:txBody>
      </p:sp>
      <p:sp>
        <p:nvSpPr>
          <p:cNvPr id="28" name="Text 26"/>
          <p:cNvSpPr/>
          <p:nvPr/>
        </p:nvSpPr>
        <p:spPr>
          <a:xfrm>
            <a:off x="873252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$2.26M</a:t>
            </a:r>
            <a:endParaRPr lang="en-US" sz="1000" dirty="0"/>
          </a:p>
        </p:txBody>
      </p:sp>
      <p:sp>
        <p:nvSpPr>
          <p:cNvPr id="29" name="Text 27"/>
          <p:cNvSpPr/>
          <p:nvPr/>
        </p:nvSpPr>
        <p:spPr>
          <a:xfrm>
            <a:off x="640080" y="2651760"/>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EBITDA</a:t>
            </a:r>
            <a:endParaRPr lang="en-US" sz="1150" dirty="0"/>
          </a:p>
        </p:txBody>
      </p:sp>
      <p:sp>
        <p:nvSpPr>
          <p:cNvPr id="30" name="Text 28"/>
          <p:cNvSpPr/>
          <p:nvPr/>
        </p:nvSpPr>
        <p:spPr>
          <a:xfrm>
            <a:off x="379476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$7k</a:t>
            </a:r>
            <a:endParaRPr lang="en-US" sz="1100" dirty="0"/>
          </a:p>
        </p:txBody>
      </p:sp>
      <p:sp>
        <p:nvSpPr>
          <p:cNvPr id="31" name="Text 29"/>
          <p:cNvSpPr/>
          <p:nvPr/>
        </p:nvSpPr>
        <p:spPr>
          <a:xfrm>
            <a:off x="502920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$53k</a:t>
            </a:r>
            <a:endParaRPr lang="en-US" sz="1100" dirty="0"/>
          </a:p>
        </p:txBody>
      </p:sp>
      <p:sp>
        <p:nvSpPr>
          <p:cNvPr id="32" name="Text 30"/>
          <p:cNvSpPr/>
          <p:nvPr/>
        </p:nvSpPr>
        <p:spPr>
          <a:xfrm>
            <a:off x="626364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$210k</a:t>
            </a:r>
            <a:endParaRPr lang="en-US" sz="1100" dirty="0"/>
          </a:p>
        </p:txBody>
      </p:sp>
      <p:sp>
        <p:nvSpPr>
          <p:cNvPr id="33" name="Text 31"/>
          <p:cNvSpPr/>
          <p:nvPr/>
        </p:nvSpPr>
        <p:spPr>
          <a:xfrm>
            <a:off x="749808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$450k</a:t>
            </a:r>
            <a:endParaRPr lang="en-US" sz="1100" dirty="0"/>
          </a:p>
        </p:txBody>
      </p:sp>
      <p:sp>
        <p:nvSpPr>
          <p:cNvPr id="34" name="Text 32"/>
          <p:cNvSpPr/>
          <p:nvPr/>
        </p:nvSpPr>
        <p:spPr>
          <a:xfrm>
            <a:off x="873252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$829k</a:t>
            </a:r>
            <a:endParaRPr lang="en-US" sz="1100" dirty="0"/>
          </a:p>
        </p:txBody>
      </p:sp>
      <p:sp>
        <p:nvSpPr>
          <p:cNvPr id="35" name="Shape 33"/>
          <p:cNvSpPr/>
          <p:nvPr/>
        </p:nvSpPr>
        <p:spPr>
          <a:xfrm>
            <a:off x="512064" y="3017520"/>
            <a:ext cx="9509760" cy="274320"/>
          </a:xfrm>
          <a:prstGeom prst="roundRect">
            <a:avLst>
              <a:gd name="adj" fmla="val 30000"/>
            </a:avLst>
          </a:prstGeom>
          <a:solidFill>
            <a:srgbClr val="178A4C"/>
          </a:solidFill>
          <a:ln/>
        </p:spPr>
      </p:sp>
      <p:sp>
        <p:nvSpPr>
          <p:cNvPr id="36" name="Text 34"/>
          <p:cNvSpPr/>
          <p:nvPr/>
        </p:nvSpPr>
        <p:spPr>
          <a:xfrm>
            <a:off x="694944" y="3017520"/>
            <a:ext cx="3017520" cy="274320"/>
          </a:xfrm>
          <a:prstGeom prst="rect">
            <a:avLst/>
          </a:prstGeom>
          <a:noFill/>
          <a:ln/>
        </p:spPr>
        <p:txBody>
          <a:bodyPr wrap="square" lIns="0" tIns="0" rIns="0" bIns="0" rtlCol="0" anchor="ctr"/>
          <a:lstStyle/>
          <a:p>
            <a:pPr indent="0" marL="0">
              <a:buNone/>
            </a:pPr>
            <a:r>
              <a:rPr lang="en-US" sz="950" b="1" spc="160" kern="0" dirty="0">
                <a:solidFill>
                  <a:srgbClr val="FFFFFF"/>
                </a:solidFill>
                <a:latin typeface="Calibri" pitchFamily="34" charset="0"/>
                <a:ea typeface="Calibri" pitchFamily="34" charset="-122"/>
                <a:cs typeface="Calibri" pitchFamily="34" charset="-120"/>
              </a:rPr>
              <a:t>AGGRESSIVE CASE — 6 / 30 / 90 / 200 / 340 per week</a:t>
            </a:r>
            <a:endParaRPr lang="en-US" sz="950" dirty="0"/>
          </a:p>
        </p:txBody>
      </p:sp>
      <p:sp>
        <p:nvSpPr>
          <p:cNvPr id="37" name="Text 35"/>
          <p:cNvSpPr/>
          <p:nvPr/>
        </p:nvSpPr>
        <p:spPr>
          <a:xfrm>
            <a:off x="379476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Y1</a:t>
            </a:r>
            <a:endParaRPr lang="en-US" sz="900" dirty="0"/>
          </a:p>
        </p:txBody>
      </p:sp>
      <p:sp>
        <p:nvSpPr>
          <p:cNvPr id="38" name="Text 36"/>
          <p:cNvSpPr/>
          <p:nvPr/>
        </p:nvSpPr>
        <p:spPr>
          <a:xfrm>
            <a:off x="502920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Y2</a:t>
            </a:r>
            <a:endParaRPr lang="en-US" sz="900" dirty="0"/>
          </a:p>
        </p:txBody>
      </p:sp>
      <p:sp>
        <p:nvSpPr>
          <p:cNvPr id="39" name="Text 37"/>
          <p:cNvSpPr/>
          <p:nvPr/>
        </p:nvSpPr>
        <p:spPr>
          <a:xfrm>
            <a:off x="626364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Y3</a:t>
            </a:r>
            <a:endParaRPr lang="en-US" sz="900" dirty="0"/>
          </a:p>
        </p:txBody>
      </p:sp>
      <p:sp>
        <p:nvSpPr>
          <p:cNvPr id="40" name="Text 38"/>
          <p:cNvSpPr/>
          <p:nvPr/>
        </p:nvSpPr>
        <p:spPr>
          <a:xfrm>
            <a:off x="749808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Y4</a:t>
            </a:r>
            <a:endParaRPr lang="en-US" sz="900" dirty="0"/>
          </a:p>
        </p:txBody>
      </p:sp>
      <p:sp>
        <p:nvSpPr>
          <p:cNvPr id="41" name="Text 39"/>
          <p:cNvSpPr/>
          <p:nvPr/>
        </p:nvSpPr>
        <p:spPr>
          <a:xfrm>
            <a:off x="873252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Y5</a:t>
            </a:r>
            <a:endParaRPr lang="en-US" sz="900" dirty="0"/>
          </a:p>
        </p:txBody>
      </p:sp>
      <p:sp>
        <p:nvSpPr>
          <p:cNvPr id="42" name="Text 40"/>
          <p:cNvSpPr/>
          <p:nvPr/>
        </p:nvSpPr>
        <p:spPr>
          <a:xfrm>
            <a:off x="640080" y="3310128"/>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Paying households</a:t>
            </a:r>
            <a:endParaRPr lang="en-US" sz="1050" dirty="0"/>
          </a:p>
        </p:txBody>
      </p:sp>
      <p:sp>
        <p:nvSpPr>
          <p:cNvPr id="43" name="Text 41"/>
          <p:cNvSpPr/>
          <p:nvPr/>
        </p:nvSpPr>
        <p:spPr>
          <a:xfrm>
            <a:off x="379476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312</a:t>
            </a:r>
            <a:endParaRPr lang="en-US" sz="1000" dirty="0"/>
          </a:p>
        </p:txBody>
      </p:sp>
      <p:sp>
        <p:nvSpPr>
          <p:cNvPr id="44" name="Text 42"/>
          <p:cNvSpPr/>
          <p:nvPr/>
        </p:nvSpPr>
        <p:spPr>
          <a:xfrm>
            <a:off x="502920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1,778</a:t>
            </a:r>
            <a:endParaRPr lang="en-US" sz="1000" dirty="0"/>
          </a:p>
        </p:txBody>
      </p:sp>
      <p:sp>
        <p:nvSpPr>
          <p:cNvPr id="45" name="Text 43"/>
          <p:cNvSpPr/>
          <p:nvPr/>
        </p:nvSpPr>
        <p:spPr>
          <a:xfrm>
            <a:off x="626364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5,925</a:t>
            </a:r>
            <a:endParaRPr lang="en-US" sz="1000" dirty="0"/>
          </a:p>
        </p:txBody>
      </p:sp>
      <p:sp>
        <p:nvSpPr>
          <p:cNvPr id="46" name="Text 44"/>
          <p:cNvSpPr/>
          <p:nvPr/>
        </p:nvSpPr>
        <p:spPr>
          <a:xfrm>
            <a:off x="749808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14.5k</a:t>
            </a:r>
            <a:endParaRPr lang="en-US" sz="1000" dirty="0"/>
          </a:p>
        </p:txBody>
      </p:sp>
      <p:sp>
        <p:nvSpPr>
          <p:cNvPr id="47" name="Text 45"/>
          <p:cNvSpPr/>
          <p:nvPr/>
        </p:nvSpPr>
        <p:spPr>
          <a:xfrm>
            <a:off x="873252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27.9k</a:t>
            </a:r>
            <a:endParaRPr lang="en-US" sz="1000" dirty="0"/>
          </a:p>
        </p:txBody>
      </p:sp>
      <p:sp>
        <p:nvSpPr>
          <p:cNvPr id="48" name="Text 46"/>
          <p:cNvSpPr/>
          <p:nvPr/>
        </p:nvSpPr>
        <p:spPr>
          <a:xfrm>
            <a:off x="640080" y="3639312"/>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Revenue</a:t>
            </a:r>
            <a:endParaRPr lang="en-US" sz="1150" dirty="0"/>
          </a:p>
        </p:txBody>
      </p:sp>
      <p:sp>
        <p:nvSpPr>
          <p:cNvPr id="49" name="Text 47"/>
          <p:cNvSpPr/>
          <p:nvPr/>
        </p:nvSpPr>
        <p:spPr>
          <a:xfrm>
            <a:off x="379476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$39k</a:t>
            </a:r>
            <a:endParaRPr lang="en-US" sz="1100" dirty="0"/>
          </a:p>
        </p:txBody>
      </p:sp>
      <p:sp>
        <p:nvSpPr>
          <p:cNvPr id="50" name="Text 48"/>
          <p:cNvSpPr/>
          <p:nvPr/>
        </p:nvSpPr>
        <p:spPr>
          <a:xfrm>
            <a:off x="502920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$257k</a:t>
            </a:r>
            <a:endParaRPr lang="en-US" sz="1100" dirty="0"/>
          </a:p>
        </p:txBody>
      </p:sp>
      <p:sp>
        <p:nvSpPr>
          <p:cNvPr id="51" name="Text 49"/>
          <p:cNvSpPr/>
          <p:nvPr/>
        </p:nvSpPr>
        <p:spPr>
          <a:xfrm>
            <a:off x="626364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$1.02M</a:t>
            </a:r>
            <a:endParaRPr lang="en-US" sz="1100" dirty="0"/>
          </a:p>
        </p:txBody>
      </p:sp>
      <p:sp>
        <p:nvSpPr>
          <p:cNvPr id="52" name="Text 50"/>
          <p:cNvSpPr/>
          <p:nvPr/>
        </p:nvSpPr>
        <p:spPr>
          <a:xfrm>
            <a:off x="749808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$2.68M</a:t>
            </a:r>
            <a:endParaRPr lang="en-US" sz="1100" dirty="0"/>
          </a:p>
        </p:txBody>
      </p:sp>
      <p:sp>
        <p:nvSpPr>
          <p:cNvPr id="53" name="Text 51"/>
          <p:cNvSpPr/>
          <p:nvPr/>
        </p:nvSpPr>
        <p:spPr>
          <a:xfrm>
            <a:off x="873252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$5.37M</a:t>
            </a:r>
            <a:endParaRPr lang="en-US" sz="1100" dirty="0"/>
          </a:p>
        </p:txBody>
      </p:sp>
      <p:sp>
        <p:nvSpPr>
          <p:cNvPr id="54" name="Text 52"/>
          <p:cNvSpPr/>
          <p:nvPr/>
        </p:nvSpPr>
        <p:spPr>
          <a:xfrm>
            <a:off x="640080" y="3968496"/>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Operating cost</a:t>
            </a:r>
            <a:endParaRPr lang="en-US" sz="1050" dirty="0"/>
          </a:p>
        </p:txBody>
      </p:sp>
      <p:sp>
        <p:nvSpPr>
          <p:cNvPr id="55" name="Text 53"/>
          <p:cNvSpPr/>
          <p:nvPr/>
        </p:nvSpPr>
        <p:spPr>
          <a:xfrm>
            <a:off x="379476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$21k</a:t>
            </a:r>
            <a:endParaRPr lang="en-US" sz="1000" dirty="0"/>
          </a:p>
        </p:txBody>
      </p:sp>
      <p:sp>
        <p:nvSpPr>
          <p:cNvPr id="56" name="Text 54"/>
          <p:cNvSpPr/>
          <p:nvPr/>
        </p:nvSpPr>
        <p:spPr>
          <a:xfrm>
            <a:off x="502920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$142k</a:t>
            </a:r>
            <a:endParaRPr lang="en-US" sz="1000" dirty="0"/>
          </a:p>
        </p:txBody>
      </p:sp>
      <p:sp>
        <p:nvSpPr>
          <p:cNvPr id="57" name="Text 55"/>
          <p:cNvSpPr/>
          <p:nvPr/>
        </p:nvSpPr>
        <p:spPr>
          <a:xfrm>
            <a:off x="626364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$633k</a:t>
            </a:r>
            <a:endParaRPr lang="en-US" sz="1000" dirty="0"/>
          </a:p>
        </p:txBody>
      </p:sp>
      <p:sp>
        <p:nvSpPr>
          <p:cNvPr id="58" name="Text 56"/>
          <p:cNvSpPr/>
          <p:nvPr/>
        </p:nvSpPr>
        <p:spPr>
          <a:xfrm>
            <a:off x="749808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$1.82M</a:t>
            </a:r>
            <a:endParaRPr lang="en-US" sz="1000" dirty="0"/>
          </a:p>
        </p:txBody>
      </p:sp>
      <p:sp>
        <p:nvSpPr>
          <p:cNvPr id="59" name="Text 57"/>
          <p:cNvSpPr/>
          <p:nvPr/>
        </p:nvSpPr>
        <p:spPr>
          <a:xfrm>
            <a:off x="873252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$3.75M</a:t>
            </a:r>
            <a:endParaRPr lang="en-US" sz="1000" dirty="0"/>
          </a:p>
        </p:txBody>
      </p:sp>
      <p:sp>
        <p:nvSpPr>
          <p:cNvPr id="60" name="Text 58"/>
          <p:cNvSpPr/>
          <p:nvPr/>
        </p:nvSpPr>
        <p:spPr>
          <a:xfrm>
            <a:off x="640080" y="4297680"/>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EBITDA</a:t>
            </a:r>
            <a:endParaRPr lang="en-US" sz="1150" dirty="0"/>
          </a:p>
        </p:txBody>
      </p:sp>
      <p:sp>
        <p:nvSpPr>
          <p:cNvPr id="61" name="Text 59"/>
          <p:cNvSpPr/>
          <p:nvPr/>
        </p:nvSpPr>
        <p:spPr>
          <a:xfrm>
            <a:off x="379476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$18k</a:t>
            </a:r>
            <a:endParaRPr lang="en-US" sz="1100" dirty="0"/>
          </a:p>
        </p:txBody>
      </p:sp>
      <p:sp>
        <p:nvSpPr>
          <p:cNvPr id="62" name="Text 60"/>
          <p:cNvSpPr/>
          <p:nvPr/>
        </p:nvSpPr>
        <p:spPr>
          <a:xfrm>
            <a:off x="502920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$115k</a:t>
            </a:r>
            <a:endParaRPr lang="en-US" sz="1100" dirty="0"/>
          </a:p>
        </p:txBody>
      </p:sp>
      <p:sp>
        <p:nvSpPr>
          <p:cNvPr id="63" name="Text 61"/>
          <p:cNvSpPr/>
          <p:nvPr/>
        </p:nvSpPr>
        <p:spPr>
          <a:xfrm>
            <a:off x="626364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$387k</a:t>
            </a:r>
            <a:endParaRPr lang="en-US" sz="1100" dirty="0"/>
          </a:p>
        </p:txBody>
      </p:sp>
      <p:sp>
        <p:nvSpPr>
          <p:cNvPr id="64" name="Text 62"/>
          <p:cNvSpPr/>
          <p:nvPr/>
        </p:nvSpPr>
        <p:spPr>
          <a:xfrm>
            <a:off x="749808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$862k</a:t>
            </a:r>
            <a:endParaRPr lang="en-US" sz="1100" dirty="0"/>
          </a:p>
        </p:txBody>
      </p:sp>
      <p:sp>
        <p:nvSpPr>
          <p:cNvPr id="65" name="Text 63"/>
          <p:cNvSpPr/>
          <p:nvPr/>
        </p:nvSpPr>
        <p:spPr>
          <a:xfrm>
            <a:off x="873252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$1.62M</a:t>
            </a:r>
            <a:endParaRPr lang="en-US" sz="1100" dirty="0"/>
          </a:p>
        </p:txBody>
      </p:sp>
      <p:sp>
        <p:nvSpPr>
          <p:cNvPr id="66" name="Shape 64"/>
          <p:cNvSpPr/>
          <p:nvPr/>
        </p:nvSpPr>
        <p:spPr>
          <a:xfrm>
            <a:off x="10076688" y="1371600"/>
            <a:ext cx="1243584" cy="3346704"/>
          </a:xfrm>
          <a:prstGeom prst="roundRect">
            <a:avLst>
              <a:gd name="adj" fmla="val 8824"/>
            </a:avLst>
          </a:prstGeom>
          <a:solidFill>
            <a:srgbClr val="E8F4EC"/>
          </a:solidFill>
          <a:ln/>
        </p:spPr>
      </p:sp>
      <p:sp>
        <p:nvSpPr>
          <p:cNvPr id="67" name="Text 65"/>
          <p:cNvSpPr/>
          <p:nvPr/>
        </p:nvSpPr>
        <p:spPr>
          <a:xfrm>
            <a:off x="10076688" y="1481328"/>
            <a:ext cx="1243584" cy="420624"/>
          </a:xfrm>
          <a:prstGeom prst="rect">
            <a:avLst/>
          </a:prstGeom>
          <a:noFill/>
          <a:ln/>
        </p:spPr>
        <p:txBody>
          <a:bodyPr wrap="square" lIns="0" tIns="0" rIns="0" bIns="0" rtlCol="0" anchor="ctr"/>
          <a:lstStyle/>
          <a:p>
            <a:pPr algn="ctr" indent="0" marL="0">
              <a:lnSpc>
                <a:spcPts val="1000"/>
              </a:lnSpc>
              <a:buNone/>
            </a:pPr>
            <a:r>
              <a:rPr lang="en-US" sz="800" b="1" dirty="0">
                <a:solidFill>
                  <a:srgbClr val="1F4A33"/>
                </a:solidFill>
                <a:latin typeface="Calibri" pitchFamily="34" charset="0"/>
                <a:ea typeface="Calibri" pitchFamily="34" charset="-122"/>
                <a:cs typeface="Calibri" pitchFamily="34" charset="-120"/>
              </a:rPr>
              <a:t>PEAK CASH</a:t>
            </a:r>
            <a:endParaRPr lang="en-US" sz="800" dirty="0"/>
          </a:p>
          <a:p>
            <a:pPr algn="ctr" indent="0" marL="0">
              <a:lnSpc>
                <a:spcPts val="1000"/>
              </a:lnSpc>
              <a:buNone/>
            </a:pPr>
            <a:r>
              <a:rPr lang="en-US" sz="800" b="1" dirty="0">
                <a:solidFill>
                  <a:srgbClr val="1F4A33"/>
                </a:solidFill>
                <a:latin typeface="Calibri" pitchFamily="34" charset="0"/>
                <a:ea typeface="Calibri" pitchFamily="34" charset="-122"/>
                <a:cs typeface="Calibri" pitchFamily="34" charset="-120"/>
              </a:rPr>
              <a:t>NEED</a:t>
            </a:r>
            <a:endParaRPr lang="en-US" sz="800" dirty="0"/>
          </a:p>
        </p:txBody>
      </p:sp>
      <p:sp>
        <p:nvSpPr>
          <p:cNvPr id="68" name="Text 66"/>
          <p:cNvSpPr/>
          <p:nvPr/>
        </p:nvSpPr>
        <p:spPr>
          <a:xfrm>
            <a:off x="10076688" y="1901952"/>
            <a:ext cx="1243584" cy="457200"/>
          </a:xfrm>
          <a:prstGeom prst="rect">
            <a:avLst/>
          </a:prstGeom>
          <a:noFill/>
          <a:ln/>
        </p:spPr>
        <p:txBody>
          <a:bodyPr wrap="square" lIns="0" tIns="0" rIns="0" bIns="0" rtlCol="0" anchor="ctr"/>
          <a:lstStyle/>
          <a:p>
            <a:pPr algn="ctr" indent="0" marL="0">
              <a:buNone/>
            </a:pPr>
            <a:r>
              <a:rPr lang="en-US" sz="2600" b="1" dirty="0">
                <a:solidFill>
                  <a:srgbClr val="178A4C"/>
                </a:solidFill>
                <a:latin typeface="Cambria" pitchFamily="34" charset="0"/>
                <a:ea typeface="Cambria" pitchFamily="34" charset="-122"/>
                <a:cs typeface="Cambria" pitchFamily="34" charset="-120"/>
              </a:rPr>
              <a:t>$0</a:t>
            </a:r>
            <a:endParaRPr lang="en-US" sz="2600" dirty="0"/>
          </a:p>
        </p:txBody>
      </p:sp>
      <p:sp>
        <p:nvSpPr>
          <p:cNvPr id="69" name="Text 67"/>
          <p:cNvSpPr/>
          <p:nvPr/>
        </p:nvSpPr>
        <p:spPr>
          <a:xfrm>
            <a:off x="10076688" y="2359152"/>
            <a:ext cx="1243584" cy="402336"/>
          </a:xfrm>
          <a:prstGeom prst="rect">
            <a:avLst/>
          </a:prstGeom>
          <a:noFill/>
          <a:ln/>
        </p:spPr>
        <p:txBody>
          <a:bodyPr wrap="square" lIns="0" tIns="0" rIns="0" bIns="0" rtlCol="0" anchor="ctr"/>
          <a:lstStyle/>
          <a:p>
            <a:pPr algn="ctr" indent="0" marL="0">
              <a:lnSpc>
                <a:spcPts val="1000"/>
              </a:lnSpc>
              <a:buNone/>
            </a:pPr>
            <a:r>
              <a:rPr lang="en-US" sz="800" dirty="0">
                <a:solidFill>
                  <a:srgbClr val="1F4A33"/>
                </a:solidFill>
                <a:latin typeface="Calibri" pitchFamily="34" charset="0"/>
                <a:ea typeface="Calibri" pitchFamily="34" charset="-122"/>
                <a:cs typeface="Calibri" pitchFamily="34" charset="-120"/>
              </a:rPr>
              <a:t>in both cases,</a:t>
            </a:r>
            <a:endParaRPr lang="en-US" sz="800" dirty="0"/>
          </a:p>
          <a:p>
            <a:pPr algn="ctr" indent="0" marL="0">
              <a:lnSpc>
                <a:spcPts val="1000"/>
              </a:lnSpc>
              <a:buNone/>
            </a:pPr>
            <a:r>
              <a:rPr lang="en-US" sz="800" dirty="0">
                <a:solidFill>
                  <a:srgbClr val="1F4A33"/>
                </a:solidFill>
                <a:latin typeface="Calibri" pitchFamily="34" charset="0"/>
                <a:ea typeface="Calibri" pitchFamily="34" charset="-122"/>
                <a:cs typeface="Calibri" pitchFamily="34" charset="-120"/>
              </a:rPr>
              <a:t>in every month</a:t>
            </a:r>
            <a:endParaRPr lang="en-US" sz="800" dirty="0"/>
          </a:p>
        </p:txBody>
      </p:sp>
      <p:sp>
        <p:nvSpPr>
          <p:cNvPr id="70" name="Text 68"/>
          <p:cNvSpPr/>
          <p:nvPr/>
        </p:nvSpPr>
        <p:spPr>
          <a:xfrm>
            <a:off x="10076688" y="2889504"/>
            <a:ext cx="1243584" cy="219456"/>
          </a:xfrm>
          <a:prstGeom prst="rect">
            <a:avLst/>
          </a:prstGeom>
          <a:noFill/>
          <a:ln/>
        </p:spPr>
        <p:txBody>
          <a:bodyPr wrap="square" lIns="0" tIns="0" rIns="0" bIns="0" rtlCol="0" anchor="ctr"/>
          <a:lstStyle/>
          <a:p>
            <a:pPr algn="ctr" indent="0" marL="0">
              <a:buNone/>
            </a:pPr>
            <a:r>
              <a:rPr lang="en-US" sz="800" b="1" dirty="0">
                <a:solidFill>
                  <a:srgbClr val="1F4A33"/>
                </a:solidFill>
                <a:latin typeface="Calibri" pitchFamily="34" charset="0"/>
                <a:ea typeface="Calibri" pitchFamily="34" charset="-122"/>
                <a:cs typeface="Calibri" pitchFamily="34" charset="-120"/>
              </a:rPr>
              <a:t>BREAK-EVEN</a:t>
            </a:r>
            <a:endParaRPr lang="en-US" sz="800" dirty="0"/>
          </a:p>
        </p:txBody>
      </p:sp>
      <p:sp>
        <p:nvSpPr>
          <p:cNvPr id="71" name="Text 69"/>
          <p:cNvSpPr/>
          <p:nvPr/>
        </p:nvSpPr>
        <p:spPr>
          <a:xfrm>
            <a:off x="10076688" y="3108960"/>
            <a:ext cx="1243584" cy="310896"/>
          </a:xfrm>
          <a:prstGeom prst="rect">
            <a:avLst/>
          </a:prstGeom>
          <a:noFill/>
          <a:ln/>
        </p:spPr>
        <p:txBody>
          <a:bodyPr wrap="square" lIns="0" tIns="0" rIns="0" bIns="0" rtlCol="0" anchor="ctr"/>
          <a:lstStyle/>
          <a:p>
            <a:pPr algn="ctr" indent="0" marL="0">
              <a:buNone/>
            </a:pPr>
            <a:r>
              <a:rPr lang="en-US" sz="1700" b="1" dirty="0">
                <a:solidFill>
                  <a:srgbClr val="178A4C"/>
                </a:solidFill>
                <a:latin typeface="Cambria" pitchFamily="34" charset="0"/>
                <a:ea typeface="Cambria" pitchFamily="34" charset="-122"/>
                <a:cs typeface="Cambria" pitchFamily="34" charset="-120"/>
              </a:rPr>
              <a:t>Week 1</a:t>
            </a:r>
            <a:endParaRPr lang="en-US" sz="1700" dirty="0"/>
          </a:p>
        </p:txBody>
      </p:sp>
      <p:sp>
        <p:nvSpPr>
          <p:cNvPr id="72" name="Text 70"/>
          <p:cNvSpPr/>
          <p:nvPr/>
        </p:nvSpPr>
        <p:spPr>
          <a:xfrm>
            <a:off x="10076688" y="3529584"/>
            <a:ext cx="1243584" cy="274320"/>
          </a:xfrm>
          <a:prstGeom prst="rect">
            <a:avLst/>
          </a:prstGeom>
          <a:noFill/>
          <a:ln/>
        </p:spPr>
        <p:txBody>
          <a:bodyPr wrap="square" lIns="0" tIns="0" rIns="0" bIns="0" rtlCol="0" anchor="ctr"/>
          <a:lstStyle/>
          <a:p>
            <a:pPr algn="ctr" indent="0" marL="0">
              <a:buNone/>
            </a:pPr>
            <a:r>
              <a:rPr lang="en-US" sz="1300" b="1" dirty="0">
                <a:solidFill>
                  <a:srgbClr val="6C4FE0"/>
                </a:solidFill>
                <a:latin typeface="Cambria" pitchFamily="34" charset="0"/>
                <a:ea typeface="Cambria" pitchFamily="34" charset="-122"/>
                <a:cs typeface="Cambria" pitchFamily="34" charset="-120"/>
              </a:rPr>
              <a:t>27% / 30%</a:t>
            </a:r>
            <a:endParaRPr lang="en-US" sz="1300" dirty="0"/>
          </a:p>
        </p:txBody>
      </p:sp>
      <p:sp>
        <p:nvSpPr>
          <p:cNvPr id="73" name="Text 71"/>
          <p:cNvSpPr/>
          <p:nvPr/>
        </p:nvSpPr>
        <p:spPr>
          <a:xfrm>
            <a:off x="10076688" y="3803904"/>
            <a:ext cx="1243584" cy="329184"/>
          </a:xfrm>
          <a:prstGeom prst="rect">
            <a:avLst/>
          </a:prstGeom>
          <a:noFill/>
          <a:ln/>
        </p:spPr>
        <p:txBody>
          <a:bodyPr wrap="square" lIns="0" tIns="0" rIns="0" bIns="0" rtlCol="0" anchor="ctr"/>
          <a:lstStyle/>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Y5 EBITDA margin,</a:t>
            </a:r>
            <a:endParaRPr lang="en-US" sz="750" dirty="0"/>
          </a:p>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base / aggressive</a:t>
            </a:r>
            <a:endParaRPr lang="en-US" sz="750" dirty="0"/>
          </a:p>
        </p:txBody>
      </p:sp>
      <p:sp>
        <p:nvSpPr>
          <p:cNvPr id="74" name="Text 72"/>
          <p:cNvSpPr/>
          <p:nvPr/>
        </p:nvSpPr>
        <p:spPr>
          <a:xfrm>
            <a:off x="10076688" y="4169664"/>
            <a:ext cx="1243584" cy="292608"/>
          </a:xfrm>
          <a:prstGeom prst="rect">
            <a:avLst/>
          </a:prstGeom>
          <a:noFill/>
          <a:ln/>
        </p:spPr>
        <p:txBody>
          <a:bodyPr wrap="square" lIns="0" tIns="0" rIns="0" bIns="0" rtlCol="0" anchor="ctr"/>
          <a:lstStyle/>
          <a:p>
            <a:pPr algn="ctr" indent="0" marL="0">
              <a:buNone/>
            </a:pPr>
            <a:r>
              <a:rPr lang="en-US" sz="1400" b="1" dirty="0">
                <a:solidFill>
                  <a:srgbClr val="8A5B00"/>
                </a:solidFill>
                <a:latin typeface="Cambria" pitchFamily="34" charset="0"/>
                <a:ea typeface="Cambria" pitchFamily="34" charset="-122"/>
                <a:cs typeface="Cambria" pitchFamily="34" charset="-120"/>
              </a:rPr>
              <a:t>$1.55M</a:t>
            </a:r>
            <a:endParaRPr lang="en-US" sz="1400" dirty="0"/>
          </a:p>
        </p:txBody>
      </p:sp>
      <p:sp>
        <p:nvSpPr>
          <p:cNvPr id="75" name="Text 73"/>
          <p:cNvSpPr/>
          <p:nvPr/>
        </p:nvSpPr>
        <p:spPr>
          <a:xfrm>
            <a:off x="10076688" y="4443984"/>
            <a:ext cx="1243584" cy="310896"/>
          </a:xfrm>
          <a:prstGeom prst="rect">
            <a:avLst/>
          </a:prstGeom>
          <a:noFill/>
          <a:ln/>
        </p:spPr>
        <p:txBody>
          <a:bodyPr wrap="square" lIns="0" tIns="0" rIns="0" bIns="0" rtlCol="0" anchor="ctr"/>
          <a:lstStyle/>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cumulative EBITDA,</a:t>
            </a:r>
            <a:endParaRPr lang="en-US" sz="750" dirty="0"/>
          </a:p>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base, Y1–Y5</a:t>
            </a:r>
            <a:endParaRPr lang="en-US" sz="750" dirty="0"/>
          </a:p>
        </p:txBody>
      </p:sp>
      <p:sp>
        <p:nvSpPr>
          <p:cNvPr id="76" name="Text 74"/>
          <p:cNvSpPr/>
          <p:nvPr/>
        </p:nvSpPr>
        <p:spPr>
          <a:xfrm>
            <a:off x="640080" y="4828032"/>
            <a:ext cx="7315200" cy="292608"/>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Stress tests — none of them produce a loss, and that is the point</a:t>
            </a:r>
            <a:endParaRPr lang="en-US" sz="1450" dirty="0"/>
          </a:p>
        </p:txBody>
      </p:sp>
      <p:sp>
        <p:nvSpPr>
          <p:cNvPr id="77" name="Shape 75"/>
          <p:cNvSpPr/>
          <p:nvPr/>
        </p:nvSpPr>
        <p:spPr>
          <a:xfrm>
            <a:off x="640080" y="5193792"/>
            <a:ext cx="5074920" cy="603504"/>
          </a:xfrm>
          <a:prstGeom prst="roundRect">
            <a:avLst>
              <a:gd name="adj" fmla="val 15152"/>
            </a:avLst>
          </a:prstGeom>
          <a:solidFill>
            <a:srgbClr val="E8F4EC"/>
          </a:solidFill>
          <a:ln/>
        </p:spPr>
      </p:sp>
      <p:sp>
        <p:nvSpPr>
          <p:cNvPr id="78" name="Text 76"/>
          <p:cNvSpPr/>
          <p:nvPr/>
        </p:nvSpPr>
        <p:spPr>
          <a:xfrm>
            <a:off x="822960" y="5230368"/>
            <a:ext cx="4709160" cy="219456"/>
          </a:xfrm>
          <a:prstGeom prst="rect">
            <a:avLst/>
          </a:prstGeom>
          <a:noFill/>
          <a:ln/>
        </p:spPr>
        <p:txBody>
          <a:bodyPr wrap="square" lIns="0" tIns="0" rIns="0" bIns="0" rtlCol="0" anchor="ctr"/>
          <a:lstStyle/>
          <a:p>
            <a:pPr indent="0" marL="0">
              <a:buNone/>
            </a:pPr>
            <a:r>
              <a:rPr lang="en-US" sz="1000" b="1" dirty="0">
                <a:solidFill>
                  <a:srgbClr val="1F4A33"/>
                </a:solidFill>
                <a:latin typeface="Calibri" pitchFamily="34" charset="0"/>
                <a:ea typeface="Calibri" pitchFamily="34" charset="-122"/>
                <a:cs typeface="Calibri" pitchFamily="34" charset="-120"/>
              </a:rPr>
              <a:t>We only ever hit 2 a week, not 4</a:t>
            </a:r>
            <a:endParaRPr lang="en-US" sz="1000" dirty="0"/>
          </a:p>
        </p:txBody>
      </p:sp>
      <p:sp>
        <p:nvSpPr>
          <p:cNvPr id="79" name="Text 77"/>
          <p:cNvSpPr/>
          <p:nvPr/>
        </p:nvSpPr>
        <p:spPr>
          <a:xfrm>
            <a:off x="822960" y="5440680"/>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1F4A33"/>
                </a:solidFill>
                <a:latin typeface="Calibri" pitchFamily="34" charset="0"/>
                <a:ea typeface="Calibri" pitchFamily="34" charset="-122"/>
                <a:cs typeface="Calibri" pitchFamily="34" charset="-120"/>
              </a:rPr>
              <a:t>Year 1 revenue halves to $13k — and so do the four cost lines that are fractions of it. EBITDA stays positive at ~$1.5k. Slower, never underwater.</a:t>
            </a:r>
            <a:endParaRPr lang="en-US" sz="850" dirty="0"/>
          </a:p>
        </p:txBody>
      </p:sp>
      <p:sp>
        <p:nvSpPr>
          <p:cNvPr id="80" name="Shape 78"/>
          <p:cNvSpPr/>
          <p:nvPr/>
        </p:nvSpPr>
        <p:spPr>
          <a:xfrm>
            <a:off x="6035040" y="5193792"/>
            <a:ext cx="5074920" cy="603504"/>
          </a:xfrm>
          <a:prstGeom prst="roundRect">
            <a:avLst>
              <a:gd name="adj" fmla="val 15152"/>
            </a:avLst>
          </a:prstGeom>
          <a:solidFill>
            <a:srgbClr val="E8F4EC"/>
          </a:solidFill>
          <a:ln/>
        </p:spPr>
      </p:sp>
      <p:sp>
        <p:nvSpPr>
          <p:cNvPr id="81" name="Text 79"/>
          <p:cNvSpPr/>
          <p:nvPr/>
        </p:nvSpPr>
        <p:spPr>
          <a:xfrm>
            <a:off x="6217920" y="5230368"/>
            <a:ext cx="4709160" cy="219456"/>
          </a:xfrm>
          <a:prstGeom prst="rect">
            <a:avLst/>
          </a:prstGeom>
          <a:noFill/>
          <a:ln/>
        </p:spPr>
        <p:txBody>
          <a:bodyPr wrap="square" lIns="0" tIns="0" rIns="0" bIns="0" rtlCol="0" anchor="ctr"/>
          <a:lstStyle/>
          <a:p>
            <a:pPr indent="0" marL="0">
              <a:buNone/>
            </a:pPr>
            <a:r>
              <a:rPr lang="en-US" sz="1000" b="1" dirty="0">
                <a:solidFill>
                  <a:srgbClr val="1F4A33"/>
                </a:solidFill>
                <a:latin typeface="Calibri" pitchFamily="34" charset="0"/>
                <a:ea typeface="Calibri" pitchFamily="34" charset="-122"/>
                <a:cs typeface="Calibri" pitchFamily="34" charset="-120"/>
              </a:rPr>
              <a:t>Churn 30% → 45%</a:t>
            </a:r>
            <a:endParaRPr lang="en-US" sz="1000" dirty="0"/>
          </a:p>
        </p:txBody>
      </p:sp>
      <p:sp>
        <p:nvSpPr>
          <p:cNvPr id="82" name="Text 80"/>
          <p:cNvSpPr/>
          <p:nvPr/>
        </p:nvSpPr>
        <p:spPr>
          <a:xfrm>
            <a:off x="6217920" y="5440680"/>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1F4A33"/>
                </a:solidFill>
                <a:latin typeface="Calibri" pitchFamily="34" charset="0"/>
                <a:ea typeface="Calibri" pitchFamily="34" charset="-122"/>
                <a:cs typeface="Calibri" pitchFamily="34" charset="-120"/>
              </a:rPr>
              <a:t>LTV falls to $472 and Year 5 revenue drops about 21%. Costs fall with it. Margin holds within two points.</a:t>
            </a:r>
            <a:endParaRPr lang="en-US" sz="850" dirty="0"/>
          </a:p>
        </p:txBody>
      </p:sp>
      <p:sp>
        <p:nvSpPr>
          <p:cNvPr id="83" name="Shape 81"/>
          <p:cNvSpPr/>
          <p:nvPr/>
        </p:nvSpPr>
        <p:spPr>
          <a:xfrm>
            <a:off x="640080" y="5870448"/>
            <a:ext cx="5074920" cy="603504"/>
          </a:xfrm>
          <a:prstGeom prst="roundRect">
            <a:avLst>
              <a:gd name="adj" fmla="val 15152"/>
            </a:avLst>
          </a:prstGeom>
          <a:solidFill>
            <a:srgbClr val="FBF3E0"/>
          </a:solidFill>
          <a:ln/>
        </p:spPr>
      </p:sp>
      <p:sp>
        <p:nvSpPr>
          <p:cNvPr id="84" name="Text 82"/>
          <p:cNvSpPr/>
          <p:nvPr/>
        </p:nvSpPr>
        <p:spPr>
          <a:xfrm>
            <a:off x="822960" y="5907024"/>
            <a:ext cx="4709160" cy="219456"/>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Bee Plus $149 → $99</a:t>
            </a:r>
            <a:endParaRPr lang="en-US" sz="1000" dirty="0"/>
          </a:p>
        </p:txBody>
      </p:sp>
      <p:sp>
        <p:nvSpPr>
          <p:cNvPr id="85" name="Text 83"/>
          <p:cNvSpPr/>
          <p:nvPr/>
        </p:nvSpPr>
        <p:spPr>
          <a:xfrm>
            <a:off x="822960" y="6117336"/>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ARPU falls to $190. This is the one that genuinely hurts: Year 5 EBITDA roughly halves. The pricing decision IS the plan.</a:t>
            </a:r>
            <a:endParaRPr lang="en-US" sz="850" dirty="0"/>
          </a:p>
        </p:txBody>
      </p:sp>
      <p:sp>
        <p:nvSpPr>
          <p:cNvPr id="86" name="Shape 84"/>
          <p:cNvSpPr/>
          <p:nvPr/>
        </p:nvSpPr>
        <p:spPr>
          <a:xfrm>
            <a:off x="6035040" y="5870448"/>
            <a:ext cx="5074920" cy="603504"/>
          </a:xfrm>
          <a:prstGeom prst="roundRect">
            <a:avLst>
              <a:gd name="adj" fmla="val 15152"/>
            </a:avLst>
          </a:prstGeom>
          <a:solidFill>
            <a:srgbClr val="FBF3E0"/>
          </a:solidFill>
          <a:ln/>
        </p:spPr>
      </p:sp>
      <p:sp>
        <p:nvSpPr>
          <p:cNvPr id="87" name="Text 85"/>
          <p:cNvSpPr/>
          <p:nvPr/>
        </p:nvSpPr>
        <p:spPr>
          <a:xfrm>
            <a:off x="6217920" y="5907024"/>
            <a:ext cx="4709160" cy="219456"/>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India stalls entirely</a:t>
            </a:r>
            <a:endParaRPr lang="en-US" sz="1000" dirty="0"/>
          </a:p>
        </p:txBody>
      </p:sp>
      <p:sp>
        <p:nvSpPr>
          <p:cNvPr id="88" name="Text 86"/>
          <p:cNvSpPr/>
          <p:nvPr/>
        </p:nvSpPr>
        <p:spPr>
          <a:xfrm>
            <a:off x="6217920" y="6117336"/>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Year 5 revenue −$830k, about 27% — but blended ARPU RISES to $250 and margin improves. India is volume, not profit.</a:t>
            </a:r>
            <a:endParaRPr lang="en-US" sz="850" dirty="0"/>
          </a:p>
        </p:txBody>
      </p:sp>
      <p:sp>
        <p:nvSpPr>
          <p:cNvPr id="89" name="Shape 87"/>
          <p:cNvSpPr/>
          <p:nvPr/>
        </p:nvSpPr>
        <p:spPr>
          <a:xfrm>
            <a:off x="640080" y="6583680"/>
            <a:ext cx="10607040" cy="274320"/>
          </a:xfrm>
          <a:prstGeom prst="roundRect">
            <a:avLst>
              <a:gd name="adj" fmla="val 26667"/>
            </a:avLst>
          </a:prstGeom>
          <a:solidFill>
            <a:srgbClr val="EFEBF8"/>
          </a:solidFill>
          <a:ln/>
        </p:spPr>
      </p:sp>
      <p:sp>
        <p:nvSpPr>
          <p:cNvPr id="90" name="Text 88"/>
          <p:cNvSpPr/>
          <p:nvPr/>
        </p:nvSpPr>
        <p:spPr>
          <a:xfrm>
            <a:off x="859536" y="6583680"/>
            <a:ext cx="10149840" cy="274320"/>
          </a:xfrm>
          <a:prstGeom prst="rect">
            <a:avLst/>
          </a:prstGeom>
          <a:noFill/>
          <a:ln/>
        </p:spPr>
        <p:txBody>
          <a:bodyPr wrap="square" lIns="0" tIns="0" rIns="0" bIns="0" rtlCol="0" anchor="ctr"/>
          <a:lstStyle/>
          <a:p>
            <a:pPr indent="0" marL="0">
              <a:buNone/>
            </a:pPr>
            <a:r>
              <a:rPr lang="en-US" sz="800" b="1" dirty="0">
                <a:solidFill>
                  <a:srgbClr val="4A4360"/>
                </a:solidFill>
                <a:latin typeface="Calibri" pitchFamily="34" charset="0"/>
                <a:ea typeface="Calibri" pitchFamily="34" charset="-122"/>
                <a:cs typeface="Calibri" pitchFamily="34" charset="-120"/>
              </a:rPr>
              <a:t>Assumptions:  </a:t>
            </a:r>
            <a:pPr indent="0" marL="0">
              <a:buNone/>
            </a:pPr>
            <a:r>
              <a:rPr lang="en-US" sz="800" dirty="0">
                <a:solidFill>
                  <a:srgbClr val="4A4360"/>
                </a:solidFill>
                <a:latin typeface="Calibri" pitchFamily="34" charset="0"/>
                <a:ea typeface="Calibri" pitchFamily="34" charset="-122"/>
                <a:cs typeface="Calibri" pitchFamily="34" charset="-120"/>
              </a:rPr>
              <a:t>ARPU $250 diaspora / $45 India, blended falling $250→$172 as India grows · churn 30% · annual upfront billing · paid media 18% of revenue, content 12%, mentors 50% of cohort, COGS 55% of physical, fees &amp; hosting 3.9% · founders unpaid to Y3 · cohorts from Y3 at $999. Computed by strategy/model.py, which asserts positive EBITDA in every year and in week one.</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GAMES · ACQUISITION AND SHELF</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Games are the hook, not the product</a:t>
            </a:r>
            <a:endParaRPr lang="en-US" sz="2900" dirty="0"/>
          </a:p>
        </p:txBody>
      </p:sp>
      <p:pic>
        <p:nvPicPr>
          <p:cNvPr id="4" name="Image 0" descr="preencoded.png">    </p:cNvPr>
          <p:cNvPicPr>
            <a:picLocks noChangeAspect="1"/>
          </p:cNvPicPr>
          <p:nvPr/>
        </p:nvPicPr>
        <p:blipFill>
          <a:blip r:embed="rId1"/>
          <a:stretch>
            <a:fillRect/>
          </a:stretch>
        </p:blipFill>
        <p:spPr>
          <a:xfrm>
            <a:off x="10561320" y="566928"/>
            <a:ext cx="960120" cy="960120"/>
          </a:xfrm>
          <a:prstGeom prst="rect">
            <a:avLst/>
          </a:prstGeom>
        </p:spPr>
      </p:pic>
      <p:sp>
        <p:nvSpPr>
          <p:cNvPr id="5" name="Text 2"/>
          <p:cNvSpPr/>
          <p:nvPr/>
        </p:nvSpPr>
        <p:spPr>
          <a:xfrm>
            <a:off x="640080" y="1408176"/>
            <a:ext cx="9784080" cy="457200"/>
          </a:xfrm>
          <a:prstGeom prst="rect">
            <a:avLst/>
          </a:prstGeom>
          <a:noFill/>
          <a:ln/>
        </p:spPr>
        <p:txBody>
          <a:bodyPr wrap="square" lIns="0" tIns="0" rIns="0" bIns="0" rtlCol="0" anchor="ctr"/>
          <a:lstStyle/>
          <a:p>
            <a:pPr indent="0" marL="0">
              <a:lnSpc>
                <a:spcPts val="1600"/>
              </a:lnSpc>
              <a:buNone/>
            </a:pPr>
            <a:r>
              <a:rPr lang="en-US" sz="1350" dirty="0">
                <a:solidFill>
                  <a:srgbClr val="7A7291"/>
                </a:solidFill>
                <a:latin typeface="Calibri" pitchFamily="34" charset="0"/>
                <a:ea typeface="Calibri" pitchFamily="34" charset="-122"/>
                <a:cs typeface="Calibri" pitchFamily="34" charset="-120"/>
              </a:rPr>
              <a:t>Two businesses, one asset. A free game is the cheapest way to EARN a household — and most must be earned. A printed game is real revenue that wants cash first.</a:t>
            </a:r>
            <a:endParaRPr lang="en-US" sz="1350" dirty="0"/>
          </a:p>
        </p:txBody>
      </p:sp>
      <p:sp>
        <p:nvSpPr>
          <p:cNvPr id="6" name="Shape 3"/>
          <p:cNvSpPr/>
          <p:nvPr/>
        </p:nvSpPr>
        <p:spPr>
          <a:xfrm>
            <a:off x="640080" y="1956816"/>
            <a:ext cx="5623560" cy="274320"/>
          </a:xfrm>
          <a:prstGeom prst="roundRect">
            <a:avLst>
              <a:gd name="adj" fmla="val 40000"/>
            </a:avLst>
          </a:prstGeom>
          <a:solidFill>
            <a:srgbClr val="6C4FE0"/>
          </a:solidFill>
          <a:ln/>
        </p:spPr>
      </p:sp>
      <p:sp>
        <p:nvSpPr>
          <p:cNvPr id="7" name="Text 4"/>
          <p:cNvSpPr/>
          <p:nvPr/>
        </p:nvSpPr>
        <p:spPr>
          <a:xfrm>
            <a:off x="640080" y="1956816"/>
            <a:ext cx="5623560" cy="274320"/>
          </a:xfrm>
          <a:prstGeom prst="rect">
            <a:avLst/>
          </a:prstGeom>
          <a:noFill/>
          <a:ln/>
        </p:spPr>
        <p:txBody>
          <a:bodyPr wrap="square" lIns="0" tIns="0" rIns="0" bIns="0" rtlCol="0" anchor="ctr"/>
          <a:lstStyle/>
          <a:p>
            <a:pPr algn="ctr" indent="0" marL="0">
              <a:buNone/>
            </a:pPr>
            <a:r>
              <a:rPr lang="en-US" sz="850" b="1" spc="140" kern="0" dirty="0">
                <a:solidFill>
                  <a:srgbClr val="FFFFFF"/>
                </a:solidFill>
                <a:latin typeface="Calibri" pitchFamily="34" charset="0"/>
                <a:ea typeface="Calibri" pitchFamily="34" charset="-122"/>
                <a:cs typeface="Calibri" pitchFamily="34" charset="-120"/>
              </a:rPr>
              <a:t>IN THE APP — FREE, TO BE SHARED</a:t>
            </a:r>
            <a:endParaRPr lang="en-US" sz="850" dirty="0"/>
          </a:p>
        </p:txBody>
      </p:sp>
      <p:sp>
        <p:nvSpPr>
          <p:cNvPr id="8" name="Text 5"/>
          <p:cNvSpPr/>
          <p:nvPr/>
        </p:nvSpPr>
        <p:spPr>
          <a:xfrm>
            <a:off x="640080" y="2286000"/>
            <a:ext cx="5623560" cy="384048"/>
          </a:xfrm>
          <a:prstGeom prst="rect">
            <a:avLst/>
          </a:prstGeom>
          <a:noFill/>
          <a:ln/>
        </p:spPr>
        <p:txBody>
          <a:bodyPr wrap="square" lIns="0" tIns="0" rIns="0" bIns="0" rtlCol="0" anchor="ctr"/>
          <a:lstStyle/>
          <a:p>
            <a:pPr indent="0" marL="0">
              <a:lnSpc>
                <a:spcPts val="1150"/>
              </a:lnSpc>
              <a:buNone/>
            </a:pPr>
            <a:r>
              <a:rPr lang="en-US" sz="950" i="1" dirty="0">
                <a:solidFill>
                  <a:srgbClr val="7A7291"/>
                </a:solidFill>
                <a:latin typeface="Calibri" pitchFamily="34" charset="0"/>
                <a:ea typeface="Calibri" pitchFamily="34" charset="-122"/>
                <a:cs typeface="Calibri" pitchFamily="34" charset="-120"/>
              </a:rPr>
              <a:t>A child who would never install a spelling app will install carrom. They arrive for the game and land on a Bizzing account — same avatar collection, same coin wallet, same household.</a:t>
            </a:r>
            <a:endParaRPr lang="en-US" sz="950" dirty="0"/>
          </a:p>
        </p:txBody>
      </p:sp>
      <p:sp>
        <p:nvSpPr>
          <p:cNvPr id="9" name="Shape 6"/>
          <p:cNvSpPr/>
          <p:nvPr/>
        </p:nvSpPr>
        <p:spPr>
          <a:xfrm>
            <a:off x="640080" y="2761488"/>
            <a:ext cx="5623560" cy="713232"/>
          </a:xfrm>
          <a:prstGeom prst="roundRect">
            <a:avLst>
              <a:gd name="adj" fmla="val 12821"/>
            </a:avLst>
          </a:prstGeom>
          <a:solidFill>
            <a:srgbClr val="EFEBF8"/>
          </a:solidFill>
          <a:ln/>
        </p:spPr>
      </p:sp>
      <p:sp>
        <p:nvSpPr>
          <p:cNvPr id="10" name="Shape 7"/>
          <p:cNvSpPr/>
          <p:nvPr/>
        </p:nvSpPr>
        <p:spPr>
          <a:xfrm>
            <a:off x="640080" y="2761488"/>
            <a:ext cx="54864" cy="713232"/>
          </a:xfrm>
          <a:prstGeom prst="rect">
            <a:avLst/>
          </a:prstGeom>
          <a:solidFill>
            <a:srgbClr val="178A4C"/>
          </a:solidFill>
          <a:ln/>
        </p:spPr>
      </p:sp>
      <p:sp>
        <p:nvSpPr>
          <p:cNvPr id="11" name="Text 8"/>
          <p:cNvSpPr/>
          <p:nvPr/>
        </p:nvSpPr>
        <p:spPr>
          <a:xfrm>
            <a:off x="822960" y="2816352"/>
            <a:ext cx="23774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Carrom</a:t>
            </a:r>
            <a:endParaRPr lang="en-US" sz="1200" dirty="0"/>
          </a:p>
        </p:txBody>
      </p:sp>
      <p:sp>
        <p:nvSpPr>
          <p:cNvPr id="12" name="Shape 9"/>
          <p:cNvSpPr/>
          <p:nvPr/>
        </p:nvSpPr>
        <p:spPr>
          <a:xfrm>
            <a:off x="3291840" y="2825496"/>
            <a:ext cx="1371600" cy="201168"/>
          </a:xfrm>
          <a:prstGeom prst="roundRect">
            <a:avLst>
              <a:gd name="adj" fmla="val 50000"/>
            </a:avLst>
          </a:prstGeom>
          <a:solidFill>
            <a:srgbClr val="178A4C"/>
          </a:solidFill>
          <a:ln/>
        </p:spPr>
      </p:sp>
      <p:sp>
        <p:nvSpPr>
          <p:cNvPr id="13" name="Text 10"/>
          <p:cNvSpPr/>
          <p:nvPr/>
        </p:nvSpPr>
        <p:spPr>
          <a:xfrm>
            <a:off x="3291840" y="2825496"/>
            <a:ext cx="137160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THE ONE TO BUILD</a:t>
            </a:r>
            <a:endParaRPr lang="en-US" sz="650" dirty="0"/>
          </a:p>
        </p:txBody>
      </p:sp>
      <p:sp>
        <p:nvSpPr>
          <p:cNvPr id="14" name="Text 11"/>
          <p:cNvSpPr/>
          <p:nvPr/>
        </p:nvSpPr>
        <p:spPr>
          <a:xfrm>
            <a:off x="822960" y="3054096"/>
            <a:ext cx="530352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Every South Asian household knows it, and the parents know it best — so they play WITH the child, putting the brand in front of the person who pays. Pure physics, no homework smell.</a:t>
            </a:r>
            <a:endParaRPr lang="en-US" sz="850" dirty="0"/>
          </a:p>
        </p:txBody>
      </p:sp>
      <p:sp>
        <p:nvSpPr>
          <p:cNvPr id="15" name="Shape 12"/>
          <p:cNvSpPr/>
          <p:nvPr/>
        </p:nvSpPr>
        <p:spPr>
          <a:xfrm>
            <a:off x="640080" y="3547872"/>
            <a:ext cx="5623560" cy="713232"/>
          </a:xfrm>
          <a:prstGeom prst="roundRect">
            <a:avLst>
              <a:gd name="adj" fmla="val 12821"/>
            </a:avLst>
          </a:prstGeom>
          <a:solidFill>
            <a:srgbClr val="EFEBF8"/>
          </a:solidFill>
          <a:ln/>
        </p:spPr>
      </p:sp>
      <p:sp>
        <p:nvSpPr>
          <p:cNvPr id="16" name="Shape 13"/>
          <p:cNvSpPr/>
          <p:nvPr/>
        </p:nvSpPr>
        <p:spPr>
          <a:xfrm>
            <a:off x="640080" y="3547872"/>
            <a:ext cx="54864" cy="713232"/>
          </a:xfrm>
          <a:prstGeom prst="rect">
            <a:avLst/>
          </a:prstGeom>
          <a:solidFill>
            <a:srgbClr val="178A4C"/>
          </a:solidFill>
          <a:ln/>
        </p:spPr>
      </p:sp>
      <p:sp>
        <p:nvSpPr>
          <p:cNvPr id="17" name="Text 14"/>
          <p:cNvSpPr/>
          <p:nvPr/>
        </p:nvSpPr>
        <p:spPr>
          <a:xfrm>
            <a:off x="822960" y="3602736"/>
            <a:ext cx="23774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Antakshari</a:t>
            </a:r>
            <a:endParaRPr lang="en-US" sz="1200" dirty="0"/>
          </a:p>
        </p:txBody>
      </p:sp>
      <p:sp>
        <p:nvSpPr>
          <p:cNvPr id="18" name="Shape 15"/>
          <p:cNvSpPr/>
          <p:nvPr/>
        </p:nvSpPr>
        <p:spPr>
          <a:xfrm>
            <a:off x="3291840" y="3611880"/>
            <a:ext cx="1371600" cy="201168"/>
          </a:xfrm>
          <a:prstGeom prst="roundRect">
            <a:avLst>
              <a:gd name="adj" fmla="val 50000"/>
            </a:avLst>
          </a:prstGeom>
          <a:solidFill>
            <a:srgbClr val="178A4C"/>
          </a:solidFill>
          <a:ln/>
        </p:spPr>
      </p:sp>
      <p:sp>
        <p:nvSpPr>
          <p:cNvPr id="19" name="Text 16"/>
          <p:cNvSpPr/>
          <p:nvPr/>
        </p:nvSpPr>
        <p:spPr>
          <a:xfrm>
            <a:off x="3291840" y="3611880"/>
            <a:ext cx="137160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BEST FIT OF ALL</a:t>
            </a:r>
            <a:endParaRPr lang="en-US" sz="650" dirty="0"/>
          </a:p>
        </p:txBody>
      </p:sp>
      <p:sp>
        <p:nvSpPr>
          <p:cNvPr id="20" name="Text 17"/>
          <p:cNvSpPr/>
          <p:nvPr/>
        </p:nvSpPr>
        <p:spPr>
          <a:xfrm>
            <a:off x="822960" y="3840480"/>
            <a:ext cx="530352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song-chain game is already a WORD game — the last syllable of one song starts the next. It runs on the voice layer we have already built, and it walks straight into Bhasha.</a:t>
            </a:r>
            <a:endParaRPr lang="en-US" sz="850" dirty="0"/>
          </a:p>
        </p:txBody>
      </p:sp>
      <p:sp>
        <p:nvSpPr>
          <p:cNvPr id="21" name="Shape 18"/>
          <p:cNvSpPr/>
          <p:nvPr/>
        </p:nvSpPr>
        <p:spPr>
          <a:xfrm>
            <a:off x="640080" y="4334256"/>
            <a:ext cx="5623560" cy="713232"/>
          </a:xfrm>
          <a:prstGeom prst="roundRect">
            <a:avLst>
              <a:gd name="adj" fmla="val 12821"/>
            </a:avLst>
          </a:prstGeom>
          <a:solidFill>
            <a:srgbClr val="EFEBF8"/>
          </a:solidFill>
          <a:ln/>
        </p:spPr>
      </p:sp>
      <p:sp>
        <p:nvSpPr>
          <p:cNvPr id="22" name="Shape 19"/>
          <p:cNvSpPr/>
          <p:nvPr/>
        </p:nvSpPr>
        <p:spPr>
          <a:xfrm>
            <a:off x="640080" y="4334256"/>
            <a:ext cx="54864" cy="713232"/>
          </a:xfrm>
          <a:prstGeom prst="rect">
            <a:avLst/>
          </a:prstGeom>
          <a:solidFill>
            <a:srgbClr val="C4453C"/>
          </a:solidFill>
          <a:ln/>
        </p:spPr>
      </p:sp>
      <p:sp>
        <p:nvSpPr>
          <p:cNvPr id="23" name="Text 20"/>
          <p:cNvSpPr/>
          <p:nvPr/>
        </p:nvSpPr>
        <p:spPr>
          <a:xfrm>
            <a:off x="822960" y="4389120"/>
            <a:ext cx="23774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Ludo · Snakes &amp; Ladders</a:t>
            </a:r>
            <a:endParaRPr lang="en-US" sz="1200" dirty="0"/>
          </a:p>
        </p:txBody>
      </p:sp>
      <p:sp>
        <p:nvSpPr>
          <p:cNvPr id="24" name="Shape 21"/>
          <p:cNvSpPr/>
          <p:nvPr/>
        </p:nvSpPr>
        <p:spPr>
          <a:xfrm>
            <a:off x="3291840" y="4398264"/>
            <a:ext cx="1371600" cy="201168"/>
          </a:xfrm>
          <a:prstGeom prst="roundRect">
            <a:avLst>
              <a:gd name="adj" fmla="val 50000"/>
            </a:avLst>
          </a:prstGeom>
          <a:solidFill>
            <a:srgbClr val="C4453C"/>
          </a:solidFill>
          <a:ln/>
        </p:spPr>
      </p:sp>
      <p:sp>
        <p:nvSpPr>
          <p:cNvPr id="25" name="Text 22"/>
          <p:cNvSpPr/>
          <p:nvPr/>
        </p:nvSpPr>
        <p:spPr>
          <a:xfrm>
            <a:off x="3291840" y="4398264"/>
            <a:ext cx="137160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PROBABLY NOT</a:t>
            </a:r>
            <a:endParaRPr lang="en-US" sz="650" dirty="0"/>
          </a:p>
        </p:txBody>
      </p:sp>
      <p:sp>
        <p:nvSpPr>
          <p:cNvPr id="26" name="Text 23"/>
          <p:cNvSpPr/>
          <p:nvPr/>
        </p:nvSpPr>
        <p:spPr>
          <a:xfrm>
            <a:off x="822960" y="4626864"/>
            <a:ext cx="530352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Familiar and multiplayer, but there are a thousand good free clones and nothing about ours would be better. Recognition is not differentiation.</a:t>
            </a:r>
            <a:endParaRPr lang="en-US" sz="850" dirty="0"/>
          </a:p>
        </p:txBody>
      </p:sp>
      <p:sp>
        <p:nvSpPr>
          <p:cNvPr id="27" name="Shape 24"/>
          <p:cNvSpPr/>
          <p:nvPr/>
        </p:nvSpPr>
        <p:spPr>
          <a:xfrm>
            <a:off x="640080" y="5120640"/>
            <a:ext cx="5623560" cy="713232"/>
          </a:xfrm>
          <a:prstGeom prst="roundRect">
            <a:avLst>
              <a:gd name="adj" fmla="val 12821"/>
            </a:avLst>
          </a:prstGeom>
          <a:solidFill>
            <a:srgbClr val="EFEBF8"/>
          </a:solidFill>
          <a:ln/>
        </p:spPr>
      </p:sp>
      <p:sp>
        <p:nvSpPr>
          <p:cNvPr id="28" name="Shape 25"/>
          <p:cNvSpPr/>
          <p:nvPr/>
        </p:nvSpPr>
        <p:spPr>
          <a:xfrm>
            <a:off x="640080" y="5120640"/>
            <a:ext cx="54864" cy="713232"/>
          </a:xfrm>
          <a:prstGeom prst="rect">
            <a:avLst/>
          </a:prstGeom>
          <a:solidFill>
            <a:srgbClr val="F0B429"/>
          </a:solidFill>
          <a:ln/>
        </p:spPr>
      </p:sp>
      <p:sp>
        <p:nvSpPr>
          <p:cNvPr id="29" name="Text 26"/>
          <p:cNvSpPr/>
          <p:nvPr/>
        </p:nvSpPr>
        <p:spPr>
          <a:xfrm>
            <a:off x="822960" y="5175504"/>
            <a:ext cx="23774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Gully cricket</a:t>
            </a:r>
            <a:endParaRPr lang="en-US" sz="1200" dirty="0"/>
          </a:p>
        </p:txBody>
      </p:sp>
      <p:sp>
        <p:nvSpPr>
          <p:cNvPr id="30" name="Shape 27"/>
          <p:cNvSpPr/>
          <p:nvPr/>
        </p:nvSpPr>
        <p:spPr>
          <a:xfrm>
            <a:off x="3291840" y="5184648"/>
            <a:ext cx="1371600" cy="201168"/>
          </a:xfrm>
          <a:prstGeom prst="roundRect">
            <a:avLst>
              <a:gd name="adj" fmla="val 50000"/>
            </a:avLst>
          </a:prstGeom>
          <a:solidFill>
            <a:srgbClr val="F0B429"/>
          </a:solidFill>
          <a:ln/>
        </p:spPr>
      </p:sp>
      <p:sp>
        <p:nvSpPr>
          <p:cNvPr id="31" name="Text 28"/>
          <p:cNvSpPr/>
          <p:nvPr/>
        </p:nvSpPr>
        <p:spPr>
          <a:xfrm>
            <a:off x="3291840" y="5184648"/>
            <a:ext cx="1371600" cy="201168"/>
          </a:xfrm>
          <a:prstGeom prst="rect">
            <a:avLst/>
          </a:prstGeom>
          <a:noFill/>
          <a:ln/>
        </p:spPr>
        <p:txBody>
          <a:bodyPr wrap="square" lIns="0" tIns="0" rIns="0" bIns="0" rtlCol="0" anchor="ctr"/>
          <a:lstStyle/>
          <a:p>
            <a:pPr algn="ctr" indent="0" marL="0">
              <a:buNone/>
            </a:pPr>
            <a:r>
              <a:rPr lang="en-US" sz="650" b="1" dirty="0">
                <a:solidFill>
                  <a:srgbClr val="241E33"/>
                </a:solidFill>
                <a:latin typeface="Calibri" pitchFamily="34" charset="0"/>
                <a:ea typeface="Calibri" pitchFamily="34" charset="-122"/>
                <a:cs typeface="Calibri" pitchFamily="34" charset="-120"/>
              </a:rPr>
              <a:t>LATER, IF EVER</a:t>
            </a:r>
            <a:endParaRPr lang="en-US" sz="650" dirty="0"/>
          </a:p>
        </p:txBody>
      </p:sp>
      <p:sp>
        <p:nvSpPr>
          <p:cNvPr id="32" name="Text 29"/>
          <p:cNvSpPr/>
          <p:nvPr/>
        </p:nvSpPr>
        <p:spPr>
          <a:xfrm>
            <a:off x="822960" y="5413248"/>
            <a:ext cx="530352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largest pull on this list and the largest build. A real game studio project, not a content pack.</a:t>
            </a:r>
            <a:endParaRPr lang="en-US" sz="850" dirty="0"/>
          </a:p>
        </p:txBody>
      </p:sp>
      <p:sp>
        <p:nvSpPr>
          <p:cNvPr id="33" name="Shape 30"/>
          <p:cNvSpPr/>
          <p:nvPr/>
        </p:nvSpPr>
        <p:spPr>
          <a:xfrm>
            <a:off x="640080" y="5888736"/>
            <a:ext cx="5623560" cy="877824"/>
          </a:xfrm>
          <a:prstGeom prst="roundRect">
            <a:avLst>
              <a:gd name="adj" fmla="val 11458"/>
            </a:avLst>
          </a:prstGeom>
          <a:solidFill>
            <a:srgbClr val="241E33"/>
          </a:solidFill>
          <a:ln/>
        </p:spPr>
      </p:sp>
      <p:sp>
        <p:nvSpPr>
          <p:cNvPr id="34" name="Text 31"/>
          <p:cNvSpPr/>
          <p:nvPr/>
        </p:nvSpPr>
        <p:spPr>
          <a:xfrm>
            <a:off x="859536" y="5943600"/>
            <a:ext cx="5212080" cy="201168"/>
          </a:xfrm>
          <a:prstGeom prst="rect">
            <a:avLst/>
          </a:prstGeom>
          <a:noFill/>
          <a:ln/>
        </p:spPr>
        <p:txBody>
          <a:bodyPr wrap="square" lIns="0" tIns="0" rIns="0" bIns="0" rtlCol="0" anchor="ctr"/>
          <a:lstStyle/>
          <a:p>
            <a:pPr indent="0" marL="0">
              <a:buNone/>
            </a:pPr>
            <a:r>
              <a:rPr lang="en-US" sz="800" b="1" spc="130" kern="0" dirty="0">
                <a:solidFill>
                  <a:srgbClr val="F0B429"/>
                </a:solidFill>
                <a:latin typeface="Calibri" pitchFamily="34" charset="0"/>
                <a:ea typeface="Calibri" pitchFamily="34" charset="-122"/>
                <a:cs typeface="Calibri" pitchFamily="34" charset="-120"/>
              </a:rPr>
              <a:t>THE BRIDGE, AND THE KILL SWITCH</a:t>
            </a:r>
            <a:endParaRPr lang="en-US" sz="800" dirty="0"/>
          </a:p>
        </p:txBody>
      </p:sp>
      <p:sp>
        <p:nvSpPr>
          <p:cNvPr id="35" name="Text 32"/>
          <p:cNvSpPr/>
          <p:nvPr/>
        </p:nvSpPr>
        <p:spPr>
          <a:xfrm>
            <a:off x="859536" y="6144768"/>
            <a:ext cx="5212080" cy="603504"/>
          </a:xfrm>
          <a:prstGeom prst="rect">
            <a:avLst/>
          </a:prstGeom>
          <a:noFill/>
          <a:ln/>
        </p:spPr>
        <p:txBody>
          <a:bodyPr wrap="square" lIns="0" tIns="0" rIns="0" bIns="0" rtlCol="0" anchor="ctr"/>
          <a:lstStyle/>
          <a:p>
            <a:pPr indent="0" marL="0">
              <a:lnSpc>
                <a:spcPts val="1050"/>
              </a:lnSpc>
              <a:buNone/>
            </a:pPr>
            <a:r>
              <a:rPr lang="en-US" sz="850" dirty="0">
                <a:solidFill>
                  <a:srgbClr val="E3DCF2"/>
                </a:solidFill>
                <a:latin typeface="Calibri" pitchFamily="34" charset="0"/>
                <a:ea typeface="Calibri" pitchFamily="34" charset="-122"/>
                <a:cs typeface="Calibri" pitchFamily="34" charset="-120"/>
              </a:rPr>
              <a:t>Coins earned in carrom buy an avatar worn in Bee — one account, one collection, one wallet. That is the whole mechanism. Watch CROSS-OVER RATE: the share of game-only households that open a learning product within 30 days. Below 10%, the game is not a hook, it is a hobby, and we stop paying for it.</a:t>
            </a:r>
            <a:endParaRPr lang="en-US" sz="850" dirty="0"/>
          </a:p>
        </p:txBody>
      </p:sp>
      <p:sp>
        <p:nvSpPr>
          <p:cNvPr id="36" name="Shape 33"/>
          <p:cNvSpPr/>
          <p:nvPr/>
        </p:nvSpPr>
        <p:spPr>
          <a:xfrm>
            <a:off x="6537960" y="1956816"/>
            <a:ext cx="4709160" cy="274320"/>
          </a:xfrm>
          <a:prstGeom prst="roundRect">
            <a:avLst>
              <a:gd name="adj" fmla="val 40000"/>
            </a:avLst>
          </a:prstGeom>
          <a:solidFill>
            <a:srgbClr val="F0B429"/>
          </a:solidFill>
          <a:ln/>
        </p:spPr>
      </p:sp>
      <p:sp>
        <p:nvSpPr>
          <p:cNvPr id="37" name="Text 34"/>
          <p:cNvSpPr/>
          <p:nvPr/>
        </p:nvSpPr>
        <p:spPr>
          <a:xfrm>
            <a:off x="6537960" y="1956816"/>
            <a:ext cx="4709160" cy="274320"/>
          </a:xfrm>
          <a:prstGeom prst="rect">
            <a:avLst/>
          </a:prstGeom>
          <a:noFill/>
          <a:ln/>
        </p:spPr>
        <p:txBody>
          <a:bodyPr wrap="square" lIns="0" tIns="0" rIns="0" bIns="0" rtlCol="0" anchor="ctr"/>
          <a:lstStyle/>
          <a:p>
            <a:pPr algn="ctr" indent="0" marL="0">
              <a:buNone/>
            </a:pPr>
            <a:r>
              <a:rPr lang="en-US" sz="850" b="1" spc="140" kern="0" dirty="0">
                <a:solidFill>
                  <a:srgbClr val="241E33"/>
                </a:solidFill>
                <a:latin typeface="Calibri" pitchFamily="34" charset="0"/>
                <a:ea typeface="Calibri" pitchFamily="34" charset="-122"/>
                <a:cs typeface="Calibri" pitchFamily="34" charset="-120"/>
              </a:rPr>
              <a:t>ON THE SHELF — PAID, PRE-ORDER ONLY</a:t>
            </a:r>
            <a:endParaRPr lang="en-US" sz="850" dirty="0"/>
          </a:p>
        </p:txBody>
      </p:sp>
      <p:sp>
        <p:nvSpPr>
          <p:cNvPr id="38" name="Text 35"/>
          <p:cNvSpPr/>
          <p:nvPr/>
        </p:nvSpPr>
        <p:spPr>
          <a:xfrm>
            <a:off x="6537960" y="2286000"/>
            <a:ext cx="4709160" cy="384048"/>
          </a:xfrm>
          <a:prstGeom prst="rect">
            <a:avLst/>
          </a:prstGeom>
          <a:noFill/>
          <a:ln/>
        </p:spPr>
        <p:txBody>
          <a:bodyPr wrap="square" lIns="0" tIns="0" rIns="0" bIns="0" rtlCol="0" anchor="ctr"/>
          <a:lstStyle/>
          <a:p>
            <a:pPr indent="0" marL="0">
              <a:lnSpc>
                <a:spcPts val="1150"/>
              </a:lnSpc>
              <a:buNone/>
            </a:pPr>
            <a:r>
              <a:rPr lang="en-US" sz="950" i="1" dirty="0">
                <a:solidFill>
                  <a:srgbClr val="7A7291"/>
                </a:solidFill>
                <a:latin typeface="Calibri" pitchFamily="34" charset="0"/>
                <a:ea typeface="Calibri" pitchFamily="34" charset="-122"/>
                <a:cs typeface="Calibri" pitchFamily="34" charset="-120"/>
              </a:rPr>
              <a:t>The art is drawn and the card game already exists inside the app. Printing it is packaging, not invention.</a:t>
            </a:r>
            <a:endParaRPr lang="en-US" sz="950" dirty="0"/>
          </a:p>
        </p:txBody>
      </p:sp>
      <p:sp>
        <p:nvSpPr>
          <p:cNvPr id="39" name="Shape 36"/>
          <p:cNvSpPr/>
          <p:nvPr/>
        </p:nvSpPr>
        <p:spPr>
          <a:xfrm>
            <a:off x="6537960" y="2761488"/>
            <a:ext cx="4709160" cy="713232"/>
          </a:xfrm>
          <a:prstGeom prst="roundRect">
            <a:avLst>
              <a:gd name="adj" fmla="val 12821"/>
            </a:avLst>
          </a:prstGeom>
          <a:solidFill>
            <a:srgbClr val="EFEBF8"/>
          </a:solidFill>
          <a:ln/>
        </p:spPr>
      </p:sp>
      <p:sp>
        <p:nvSpPr>
          <p:cNvPr id="40" name="Shape 37"/>
          <p:cNvSpPr/>
          <p:nvPr/>
        </p:nvSpPr>
        <p:spPr>
          <a:xfrm>
            <a:off x="6537960" y="2761488"/>
            <a:ext cx="54864" cy="713232"/>
          </a:xfrm>
          <a:prstGeom prst="rect">
            <a:avLst/>
          </a:prstGeom>
          <a:solidFill>
            <a:srgbClr val="178A4C"/>
          </a:solidFill>
          <a:ln/>
        </p:spPr>
      </p:sp>
      <p:sp>
        <p:nvSpPr>
          <p:cNvPr id="41" name="Text 38"/>
          <p:cNvSpPr/>
          <p:nvPr/>
        </p:nvSpPr>
        <p:spPr>
          <a:xfrm>
            <a:off x="6720840" y="2816352"/>
            <a:ext cx="32918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Trump Cards</a:t>
            </a:r>
            <a:endParaRPr lang="en-US" sz="1200" dirty="0"/>
          </a:p>
        </p:txBody>
      </p:sp>
      <p:sp>
        <p:nvSpPr>
          <p:cNvPr id="42" name="Text 39"/>
          <p:cNvSpPr/>
          <p:nvPr/>
        </p:nvSpPr>
        <p:spPr>
          <a:xfrm>
            <a:off x="10058400" y="2798064"/>
            <a:ext cx="1005840" cy="237744"/>
          </a:xfrm>
          <a:prstGeom prst="rect">
            <a:avLst/>
          </a:prstGeom>
          <a:noFill/>
          <a:ln/>
        </p:spPr>
        <p:txBody>
          <a:bodyPr wrap="square" lIns="0" tIns="0" rIns="0" bIns="0" rtlCol="0" anchor="ctr"/>
          <a:lstStyle/>
          <a:p>
            <a:pPr algn="r" indent="0" marL="0">
              <a:buNone/>
            </a:pPr>
            <a:r>
              <a:rPr lang="en-US" sz="1300" b="1" dirty="0">
                <a:solidFill>
                  <a:srgbClr val="178A4C"/>
                </a:solidFill>
                <a:latin typeface="Cambria" pitchFamily="34" charset="0"/>
                <a:ea typeface="Cambria" pitchFamily="34" charset="-122"/>
                <a:cs typeface="Cambria" pitchFamily="34" charset="-120"/>
              </a:rPr>
              <a:t>$24.99</a:t>
            </a:r>
            <a:endParaRPr lang="en-US" sz="1300" dirty="0"/>
          </a:p>
        </p:txBody>
      </p:sp>
      <p:sp>
        <p:nvSpPr>
          <p:cNvPr id="43" name="Text 40"/>
          <p:cNvSpPr/>
          <p:nvPr/>
        </p:nvSpPr>
        <p:spPr>
          <a:xfrm>
            <a:off x="6720840" y="3054096"/>
            <a:ext cx="434340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deck already exists in-app across 217 painted avatars, each carrying a real word fact. Lowest-risk physical product in the house.</a:t>
            </a:r>
            <a:endParaRPr lang="en-US" sz="850" dirty="0"/>
          </a:p>
        </p:txBody>
      </p:sp>
      <p:sp>
        <p:nvSpPr>
          <p:cNvPr id="44" name="Shape 41"/>
          <p:cNvSpPr/>
          <p:nvPr/>
        </p:nvSpPr>
        <p:spPr>
          <a:xfrm>
            <a:off x="6537960" y="3547872"/>
            <a:ext cx="4709160" cy="713232"/>
          </a:xfrm>
          <a:prstGeom prst="roundRect">
            <a:avLst>
              <a:gd name="adj" fmla="val 12821"/>
            </a:avLst>
          </a:prstGeom>
          <a:solidFill>
            <a:srgbClr val="EFEBF8"/>
          </a:solidFill>
          <a:ln/>
        </p:spPr>
      </p:sp>
      <p:sp>
        <p:nvSpPr>
          <p:cNvPr id="45" name="Shape 42"/>
          <p:cNvSpPr/>
          <p:nvPr/>
        </p:nvSpPr>
        <p:spPr>
          <a:xfrm>
            <a:off x="6537960" y="3547872"/>
            <a:ext cx="54864" cy="713232"/>
          </a:xfrm>
          <a:prstGeom prst="rect">
            <a:avLst/>
          </a:prstGeom>
          <a:solidFill>
            <a:srgbClr val="6C4FE0"/>
          </a:solidFill>
          <a:ln/>
        </p:spPr>
      </p:sp>
      <p:sp>
        <p:nvSpPr>
          <p:cNvPr id="46" name="Text 43"/>
          <p:cNvSpPr/>
          <p:nvPr/>
        </p:nvSpPr>
        <p:spPr>
          <a:xfrm>
            <a:off x="6720840" y="3602736"/>
            <a:ext cx="32918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The Bee Box — family word game</a:t>
            </a:r>
            <a:endParaRPr lang="en-US" sz="1200" dirty="0"/>
          </a:p>
        </p:txBody>
      </p:sp>
      <p:sp>
        <p:nvSpPr>
          <p:cNvPr id="47" name="Text 44"/>
          <p:cNvSpPr/>
          <p:nvPr/>
        </p:nvSpPr>
        <p:spPr>
          <a:xfrm>
            <a:off x="10058400" y="3584448"/>
            <a:ext cx="1005840" cy="237744"/>
          </a:xfrm>
          <a:prstGeom prst="rect">
            <a:avLst/>
          </a:prstGeom>
          <a:noFill/>
          <a:ln/>
        </p:spPr>
        <p:txBody>
          <a:bodyPr wrap="square" lIns="0" tIns="0" rIns="0" bIns="0" rtlCol="0" anchor="ctr"/>
          <a:lstStyle/>
          <a:p>
            <a:pPr algn="r" indent="0" marL="0">
              <a:buNone/>
            </a:pPr>
            <a:r>
              <a:rPr lang="en-US" sz="1300" b="1" dirty="0">
                <a:solidFill>
                  <a:srgbClr val="6C4FE0"/>
                </a:solidFill>
                <a:latin typeface="Cambria" pitchFamily="34" charset="0"/>
                <a:ea typeface="Cambria" pitchFamily="34" charset="-122"/>
                <a:cs typeface="Cambria" pitchFamily="34" charset="-120"/>
              </a:rPr>
              <a:t>$39.99</a:t>
            </a:r>
            <a:endParaRPr lang="en-US" sz="1300" dirty="0"/>
          </a:p>
        </p:txBody>
      </p:sp>
      <p:sp>
        <p:nvSpPr>
          <p:cNvPr id="48" name="Text 45"/>
          <p:cNvSpPr/>
          <p:nvPr/>
        </p:nvSpPr>
        <p:spPr>
          <a:xfrm>
            <a:off x="6720840" y="3840480"/>
            <a:ext cx="434340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Graded word cards from the 128k corpus, with a QR code to the recorded pronunciation so no adult has to be the pronouncer.</a:t>
            </a:r>
            <a:endParaRPr lang="en-US" sz="850" dirty="0"/>
          </a:p>
        </p:txBody>
      </p:sp>
      <p:sp>
        <p:nvSpPr>
          <p:cNvPr id="49" name="Shape 46"/>
          <p:cNvSpPr/>
          <p:nvPr/>
        </p:nvSpPr>
        <p:spPr>
          <a:xfrm>
            <a:off x="6537960" y="4334256"/>
            <a:ext cx="4709160" cy="713232"/>
          </a:xfrm>
          <a:prstGeom prst="roundRect">
            <a:avLst>
              <a:gd name="adj" fmla="val 12821"/>
            </a:avLst>
          </a:prstGeom>
          <a:solidFill>
            <a:srgbClr val="EFEBF8"/>
          </a:solidFill>
          <a:ln/>
        </p:spPr>
      </p:sp>
      <p:sp>
        <p:nvSpPr>
          <p:cNvPr id="50" name="Shape 47"/>
          <p:cNvSpPr/>
          <p:nvPr/>
        </p:nvSpPr>
        <p:spPr>
          <a:xfrm>
            <a:off x="6537960" y="4334256"/>
            <a:ext cx="54864" cy="713232"/>
          </a:xfrm>
          <a:prstGeom prst="rect">
            <a:avLst/>
          </a:prstGeom>
          <a:solidFill>
            <a:srgbClr val="C4453C"/>
          </a:solidFill>
          <a:ln/>
        </p:spPr>
      </p:sp>
      <p:sp>
        <p:nvSpPr>
          <p:cNvPr id="51" name="Text 48"/>
          <p:cNvSpPr/>
          <p:nvPr/>
        </p:nvSpPr>
        <p:spPr>
          <a:xfrm>
            <a:off x="6720840" y="4389120"/>
            <a:ext cx="32918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Co-branded carrom board</a:t>
            </a:r>
            <a:endParaRPr lang="en-US" sz="1200" dirty="0"/>
          </a:p>
        </p:txBody>
      </p:sp>
      <p:sp>
        <p:nvSpPr>
          <p:cNvPr id="52" name="Text 49"/>
          <p:cNvSpPr/>
          <p:nvPr/>
        </p:nvSpPr>
        <p:spPr>
          <a:xfrm>
            <a:off x="10058400" y="4370832"/>
            <a:ext cx="1005840" cy="237744"/>
          </a:xfrm>
          <a:prstGeom prst="rect">
            <a:avLst/>
          </a:prstGeom>
          <a:noFill/>
          <a:ln/>
        </p:spPr>
        <p:txBody>
          <a:bodyPr wrap="square" lIns="0" tIns="0" rIns="0" bIns="0" rtlCol="0" anchor="ctr"/>
          <a:lstStyle/>
          <a:p>
            <a:pPr algn="r" indent="0" marL="0">
              <a:buNone/>
            </a:pPr>
            <a:r>
              <a:rPr lang="en-US" sz="1300" b="1" dirty="0">
                <a:solidFill>
                  <a:srgbClr val="C4453C"/>
                </a:solidFill>
                <a:latin typeface="Cambria" pitchFamily="34" charset="0"/>
                <a:ea typeface="Cambria" pitchFamily="34" charset="-122"/>
                <a:cs typeface="Cambria" pitchFamily="34" charset="-120"/>
              </a:rPr>
              <a:t>—</a:t>
            </a:r>
            <a:endParaRPr lang="en-US" sz="1300" dirty="0"/>
          </a:p>
        </p:txBody>
      </p:sp>
      <p:sp>
        <p:nvSpPr>
          <p:cNvPr id="53" name="Text 50"/>
          <p:cNvSpPr/>
          <p:nvPr/>
        </p:nvSpPr>
        <p:spPr>
          <a:xfrm>
            <a:off x="6720840" y="4626864"/>
            <a:ext cx="434340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Heavy, bulky, freight-expensive, thin margin. Licence the artwork to someone who already makes them, or skip it.</a:t>
            </a:r>
            <a:endParaRPr lang="en-US" sz="850" dirty="0"/>
          </a:p>
        </p:txBody>
      </p:sp>
      <p:sp>
        <p:nvSpPr>
          <p:cNvPr id="54" name="Text 51"/>
          <p:cNvSpPr/>
          <p:nvPr/>
        </p:nvSpPr>
        <p:spPr>
          <a:xfrm>
            <a:off x="6537960" y="5102352"/>
            <a:ext cx="3291840" cy="219456"/>
          </a:xfrm>
          <a:prstGeom prst="rect">
            <a:avLst/>
          </a:prstGeom>
          <a:noFill/>
          <a:ln/>
        </p:spPr>
        <p:txBody>
          <a:bodyPr wrap="square" lIns="0" tIns="0" rIns="0" bIns="0" rtlCol="0" anchor="ctr"/>
          <a:lstStyle/>
          <a:p>
            <a:pPr indent="0" marL="0">
              <a:buNone/>
            </a:pPr>
            <a:r>
              <a:rPr lang="en-US" sz="850" b="1" spc="120" kern="0" dirty="0">
                <a:solidFill>
                  <a:srgbClr val="4A31B0"/>
                </a:solidFill>
                <a:latin typeface="Calibri" pitchFamily="34" charset="0"/>
                <a:ea typeface="Calibri" pitchFamily="34" charset="-122"/>
                <a:cs typeface="Calibri" pitchFamily="34" charset="-120"/>
              </a:rPr>
              <a:t>Where a $24.99 deck actually goes</a:t>
            </a:r>
            <a:endParaRPr lang="en-US" sz="850" dirty="0"/>
          </a:p>
        </p:txBody>
      </p:sp>
      <p:sp>
        <p:nvSpPr>
          <p:cNvPr id="55" name="Text 52"/>
          <p:cNvSpPr/>
          <p:nvPr/>
        </p:nvSpPr>
        <p:spPr>
          <a:xfrm>
            <a:off x="6537960" y="5358384"/>
            <a:ext cx="2286000" cy="219456"/>
          </a:xfrm>
          <a:prstGeom prst="rect">
            <a:avLst/>
          </a:prstGeom>
          <a:noFill/>
          <a:ln/>
        </p:spPr>
        <p:txBody>
          <a:bodyPr wrap="square" lIns="0" tIns="0" rIns="0" bIns="0" rtlCol="0" anchor="ctr"/>
          <a:lstStyle/>
          <a:p>
            <a:pPr indent="0" marL="0">
              <a:buNone/>
            </a:pPr>
            <a:r>
              <a:rPr lang="en-US" sz="850" dirty="0">
                <a:solidFill>
                  <a:srgbClr val="4A4360"/>
                </a:solidFill>
                <a:latin typeface="Calibri" pitchFamily="34" charset="0"/>
                <a:ea typeface="Calibri" pitchFamily="34" charset="-122"/>
                <a:cs typeface="Calibri" pitchFamily="34" charset="-120"/>
              </a:rPr>
              <a:t>Direct to our own list</a:t>
            </a:r>
            <a:endParaRPr lang="en-US" sz="850" dirty="0"/>
          </a:p>
        </p:txBody>
      </p:sp>
      <p:sp>
        <p:nvSpPr>
          <p:cNvPr id="56" name="Shape 53"/>
          <p:cNvSpPr/>
          <p:nvPr/>
        </p:nvSpPr>
        <p:spPr>
          <a:xfrm>
            <a:off x="8869680" y="5413248"/>
            <a:ext cx="1737360" cy="118872"/>
          </a:xfrm>
          <a:prstGeom prst="roundRect">
            <a:avLst>
              <a:gd name="adj" fmla="val 50000"/>
            </a:avLst>
          </a:prstGeom>
          <a:solidFill>
            <a:srgbClr val="178A4C"/>
          </a:solidFill>
          <a:ln/>
        </p:spPr>
      </p:sp>
      <p:sp>
        <p:nvSpPr>
          <p:cNvPr id="57" name="Text 54"/>
          <p:cNvSpPr/>
          <p:nvPr/>
        </p:nvSpPr>
        <p:spPr>
          <a:xfrm>
            <a:off x="10652760" y="5358384"/>
            <a:ext cx="594360" cy="219456"/>
          </a:xfrm>
          <a:prstGeom prst="rect">
            <a:avLst/>
          </a:prstGeom>
          <a:noFill/>
          <a:ln/>
        </p:spPr>
        <p:txBody>
          <a:bodyPr wrap="square" lIns="0" tIns="0" rIns="0" bIns="0" rtlCol="0" anchor="ctr"/>
          <a:lstStyle/>
          <a:p>
            <a:pPr algn="r" indent="0" marL="0">
              <a:buNone/>
            </a:pPr>
            <a:r>
              <a:rPr lang="en-US" sz="850" b="1" dirty="0">
                <a:solidFill>
                  <a:srgbClr val="178A4C"/>
                </a:solidFill>
                <a:latin typeface="Calibri" pitchFamily="34" charset="0"/>
                <a:ea typeface="Calibri" pitchFamily="34" charset="-122"/>
                <a:cs typeface="Calibri" pitchFamily="34" charset="-120"/>
              </a:rPr>
              <a:t>$18 kept</a:t>
            </a:r>
            <a:endParaRPr lang="en-US" sz="850" dirty="0"/>
          </a:p>
        </p:txBody>
      </p:sp>
      <p:sp>
        <p:nvSpPr>
          <p:cNvPr id="58" name="Text 55"/>
          <p:cNvSpPr/>
          <p:nvPr/>
        </p:nvSpPr>
        <p:spPr>
          <a:xfrm>
            <a:off x="6537960" y="5596128"/>
            <a:ext cx="2286000" cy="219456"/>
          </a:xfrm>
          <a:prstGeom prst="rect">
            <a:avLst/>
          </a:prstGeom>
          <a:noFill/>
          <a:ln/>
        </p:spPr>
        <p:txBody>
          <a:bodyPr wrap="square" lIns="0" tIns="0" rIns="0" bIns="0" rtlCol="0" anchor="ctr"/>
          <a:lstStyle/>
          <a:p>
            <a:pPr indent="0" marL="0">
              <a:buNone/>
            </a:pPr>
            <a:r>
              <a:rPr lang="en-US" sz="850" dirty="0">
                <a:solidFill>
                  <a:srgbClr val="4A4360"/>
                </a:solidFill>
                <a:latin typeface="Calibri" pitchFamily="34" charset="0"/>
                <a:ea typeface="Calibri" pitchFamily="34" charset="-122"/>
                <a:cs typeface="Calibri" pitchFamily="34" charset="-120"/>
              </a:rPr>
              <a:t>Through Amazon</a:t>
            </a:r>
            <a:endParaRPr lang="en-US" sz="850" dirty="0"/>
          </a:p>
        </p:txBody>
      </p:sp>
      <p:sp>
        <p:nvSpPr>
          <p:cNvPr id="59" name="Shape 56"/>
          <p:cNvSpPr/>
          <p:nvPr/>
        </p:nvSpPr>
        <p:spPr>
          <a:xfrm>
            <a:off x="8869680" y="5650992"/>
            <a:ext cx="1061720" cy="118872"/>
          </a:xfrm>
          <a:prstGeom prst="roundRect">
            <a:avLst>
              <a:gd name="adj" fmla="val 50000"/>
            </a:avLst>
          </a:prstGeom>
          <a:solidFill>
            <a:srgbClr val="F0B429"/>
          </a:solidFill>
          <a:ln/>
        </p:spPr>
      </p:sp>
      <p:sp>
        <p:nvSpPr>
          <p:cNvPr id="60" name="Text 57"/>
          <p:cNvSpPr/>
          <p:nvPr/>
        </p:nvSpPr>
        <p:spPr>
          <a:xfrm>
            <a:off x="10652760" y="5596128"/>
            <a:ext cx="594360" cy="219456"/>
          </a:xfrm>
          <a:prstGeom prst="rect">
            <a:avLst/>
          </a:prstGeom>
          <a:noFill/>
          <a:ln/>
        </p:spPr>
        <p:txBody>
          <a:bodyPr wrap="square" lIns="0" tIns="0" rIns="0" bIns="0" rtlCol="0" anchor="ctr"/>
          <a:lstStyle/>
          <a:p>
            <a:pPr algn="r" indent="0" marL="0">
              <a:buNone/>
            </a:pPr>
            <a:r>
              <a:rPr lang="en-US" sz="850" b="1" dirty="0">
                <a:solidFill>
                  <a:srgbClr val="F0B429"/>
                </a:solidFill>
                <a:latin typeface="Calibri" pitchFamily="34" charset="0"/>
                <a:ea typeface="Calibri" pitchFamily="34" charset="-122"/>
                <a:cs typeface="Calibri" pitchFamily="34" charset="-120"/>
              </a:rPr>
              <a:t>$11 kept</a:t>
            </a:r>
            <a:endParaRPr lang="en-US" sz="850" dirty="0"/>
          </a:p>
        </p:txBody>
      </p:sp>
      <p:sp>
        <p:nvSpPr>
          <p:cNvPr id="61" name="Text 58"/>
          <p:cNvSpPr/>
          <p:nvPr/>
        </p:nvSpPr>
        <p:spPr>
          <a:xfrm>
            <a:off x="6537960" y="5833872"/>
            <a:ext cx="2286000" cy="219456"/>
          </a:xfrm>
          <a:prstGeom prst="rect">
            <a:avLst/>
          </a:prstGeom>
          <a:noFill/>
          <a:ln/>
        </p:spPr>
        <p:txBody>
          <a:bodyPr wrap="square" lIns="0" tIns="0" rIns="0" bIns="0" rtlCol="0" anchor="ctr"/>
          <a:lstStyle/>
          <a:p>
            <a:pPr indent="0" marL="0">
              <a:buNone/>
            </a:pPr>
            <a:r>
              <a:rPr lang="en-US" sz="850" dirty="0">
                <a:solidFill>
                  <a:srgbClr val="4A4360"/>
                </a:solidFill>
                <a:latin typeface="Calibri" pitchFamily="34" charset="0"/>
                <a:ea typeface="Calibri" pitchFamily="34" charset="-122"/>
                <a:cs typeface="Calibri" pitchFamily="34" charset="-120"/>
              </a:rPr>
              <a:t>Through retail distribution</a:t>
            </a:r>
            <a:endParaRPr lang="en-US" sz="850" dirty="0"/>
          </a:p>
        </p:txBody>
      </p:sp>
      <p:sp>
        <p:nvSpPr>
          <p:cNvPr id="62" name="Shape 59"/>
          <p:cNvSpPr/>
          <p:nvPr/>
        </p:nvSpPr>
        <p:spPr>
          <a:xfrm>
            <a:off x="8869680" y="5888736"/>
            <a:ext cx="579120" cy="118872"/>
          </a:xfrm>
          <a:prstGeom prst="roundRect">
            <a:avLst>
              <a:gd name="adj" fmla="val 50000"/>
            </a:avLst>
          </a:prstGeom>
          <a:solidFill>
            <a:srgbClr val="C4453C"/>
          </a:solidFill>
          <a:ln/>
        </p:spPr>
      </p:sp>
      <p:sp>
        <p:nvSpPr>
          <p:cNvPr id="63" name="Text 60"/>
          <p:cNvSpPr/>
          <p:nvPr/>
        </p:nvSpPr>
        <p:spPr>
          <a:xfrm>
            <a:off x="10652760" y="5833872"/>
            <a:ext cx="594360" cy="219456"/>
          </a:xfrm>
          <a:prstGeom prst="rect">
            <a:avLst/>
          </a:prstGeom>
          <a:noFill/>
          <a:ln/>
        </p:spPr>
        <p:txBody>
          <a:bodyPr wrap="square" lIns="0" tIns="0" rIns="0" bIns="0" rtlCol="0" anchor="ctr"/>
          <a:lstStyle/>
          <a:p>
            <a:pPr algn="r" indent="0" marL="0">
              <a:buNone/>
            </a:pPr>
            <a:r>
              <a:rPr lang="en-US" sz="850" b="1" dirty="0">
                <a:solidFill>
                  <a:srgbClr val="C4453C"/>
                </a:solidFill>
                <a:latin typeface="Calibri" pitchFamily="34" charset="0"/>
                <a:ea typeface="Calibri" pitchFamily="34" charset="-122"/>
                <a:cs typeface="Calibri" pitchFamily="34" charset="-120"/>
              </a:rPr>
              <a:t>$6 kept</a:t>
            </a:r>
            <a:endParaRPr lang="en-US" sz="850" dirty="0"/>
          </a:p>
        </p:txBody>
      </p:sp>
      <p:sp>
        <p:nvSpPr>
          <p:cNvPr id="64" name="Shape 61"/>
          <p:cNvSpPr/>
          <p:nvPr/>
        </p:nvSpPr>
        <p:spPr>
          <a:xfrm>
            <a:off x="6537960" y="5888736"/>
            <a:ext cx="4709160" cy="877824"/>
          </a:xfrm>
          <a:prstGeom prst="roundRect">
            <a:avLst>
              <a:gd name="adj" fmla="val 11458"/>
            </a:avLst>
          </a:prstGeom>
          <a:solidFill>
            <a:srgbClr val="FBF3E0"/>
          </a:solidFill>
          <a:ln/>
        </p:spPr>
      </p:sp>
      <p:sp>
        <p:nvSpPr>
          <p:cNvPr id="65" name="Text 62"/>
          <p:cNvSpPr/>
          <p:nvPr/>
        </p:nvSpPr>
        <p:spPr>
          <a:xfrm>
            <a:off x="6739128" y="5961888"/>
            <a:ext cx="4343400" cy="731520"/>
          </a:xfrm>
          <a:prstGeom prst="rect">
            <a:avLst/>
          </a:prstGeom>
          <a:noFill/>
          <a:ln/>
        </p:spPr>
        <p:txBody>
          <a:bodyPr wrap="square" lIns="0" tIns="0" rIns="0" bIns="0" rtlCol="0" anchor="ctr"/>
          <a:lstStyle/>
          <a:p>
            <a:pPr indent="0" marL="0">
              <a:lnSpc>
                <a:spcPts val="1050"/>
              </a:lnSpc>
              <a:buNone/>
            </a:pPr>
            <a:r>
              <a:rPr lang="en-US" sz="850" b="1" dirty="0">
                <a:solidFill>
                  <a:srgbClr val="8A5B00"/>
                </a:solidFill>
                <a:latin typeface="Calibri" pitchFamily="34" charset="0"/>
                <a:ea typeface="Calibri" pitchFamily="34" charset="-122"/>
                <a:cs typeface="Calibri" pitchFamily="34" charset="-120"/>
              </a:rPr>
              <a:t>The rule: never print what is not already sold. </a:t>
            </a:r>
            <a:pPr indent="0" marL="0">
              <a:lnSpc>
                <a:spcPts val="1050"/>
              </a:lnSpc>
              <a:buNone/>
            </a:pPr>
            <a:r>
              <a:rPr lang="en-US" sz="850" dirty="0">
                <a:solidFill>
                  <a:srgbClr val="8A5B00"/>
                </a:solidFill>
                <a:latin typeface="Calibri" pitchFamily="34" charset="0"/>
                <a:ea typeface="Calibri" pitchFamily="34" charset="-122"/>
                <a:cs typeface="Calibri" pitchFamily="34" charset="-120"/>
              </a:rPr>
              <a:t>Inventory is the one thing here that wants cash before revenue, which is exactly what week-one profitability forbids. So it runs on pre-order — a campaign, then a print run. Same discipline as billing the year up front, applied to cardboard.</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ADDITIONAL OPPORTUNITIES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Six doors we have not opened</a:t>
            </a:r>
            <a:endParaRPr lang="en-US" sz="2900" dirty="0"/>
          </a:p>
        </p:txBody>
      </p:sp>
      <p:sp>
        <p:nvSpPr>
          <p:cNvPr id="4" name="Text 2"/>
          <p:cNvSpPr/>
          <p:nvPr/>
        </p:nvSpPr>
        <p:spPr>
          <a:xfrm>
            <a:off x="640080" y="1408176"/>
            <a:ext cx="10607040" cy="457200"/>
          </a:xfrm>
          <a:prstGeom prst="rect">
            <a:avLst/>
          </a:prstGeom>
          <a:noFill/>
          <a:ln/>
        </p:spPr>
        <p:txBody>
          <a:bodyPr wrap="square" lIns="0" tIns="0" rIns="0" bIns="0" rtlCol="0" anchor="ctr"/>
          <a:lstStyle/>
          <a:p>
            <a:pPr indent="0" marL="0">
              <a:lnSpc>
                <a:spcPts val="1600"/>
              </a:lnSpc>
              <a:buNone/>
            </a:pPr>
            <a:r>
              <a:rPr lang="en-US" sz="1350" dirty="0">
                <a:solidFill>
                  <a:srgbClr val="7A7291"/>
                </a:solidFill>
                <a:latin typeface="Calibri" pitchFamily="34" charset="0"/>
                <a:ea typeface="Calibri" pitchFamily="34" charset="-122"/>
                <a:cs typeface="Calibri" pitchFamily="34" charset="-120"/>
              </a:rPr>
              <a:t>None of this is in the five-year P&amp;L, and it should not be — the plan has to work without it. Ranked, ranked by RETURN ON UNLOCK, which is not the order of headline size.</a:t>
            </a:r>
            <a:endParaRPr lang="en-US" sz="1350" dirty="0"/>
          </a:p>
        </p:txBody>
      </p:sp>
      <p:sp>
        <p:nvSpPr>
          <p:cNvPr id="5" name="Text 3"/>
          <p:cNvSpPr/>
          <p:nvPr/>
        </p:nvSpPr>
        <p:spPr>
          <a:xfrm>
            <a:off x="3566160" y="1956816"/>
            <a:ext cx="914400" cy="237744"/>
          </a:xfrm>
          <a:prstGeom prst="rect">
            <a:avLst/>
          </a:prstGeom>
          <a:noFill/>
          <a:ln/>
        </p:spPr>
        <p:txBody>
          <a:bodyPr wrap="square" lIns="0" tIns="0" rIns="0" bIns="0" rtlCol="0" anchor="ctr"/>
          <a:lstStyle/>
          <a:p>
            <a:pPr algn="r" indent="0" marL="0">
              <a:buNone/>
            </a:pPr>
            <a:r>
              <a:rPr lang="en-US" sz="750" b="1" spc="110" kern="0" dirty="0">
                <a:solidFill>
                  <a:srgbClr val="4A31B0"/>
                </a:solidFill>
                <a:latin typeface="Calibri" pitchFamily="34" charset="0"/>
                <a:ea typeface="Calibri" pitchFamily="34" charset="-122"/>
                <a:cs typeface="Calibri" pitchFamily="34" charset="-120"/>
              </a:rPr>
              <a:t>ANNUAL VALUE</a:t>
            </a:r>
            <a:endParaRPr lang="en-US" sz="750" dirty="0"/>
          </a:p>
        </p:txBody>
      </p:sp>
      <p:sp>
        <p:nvSpPr>
          <p:cNvPr id="6" name="Text 4"/>
          <p:cNvSpPr/>
          <p:nvPr/>
        </p:nvSpPr>
        <p:spPr>
          <a:xfrm>
            <a:off x="4663440" y="1956816"/>
            <a:ext cx="4663440" cy="237744"/>
          </a:xfrm>
          <a:prstGeom prst="rect">
            <a:avLst/>
          </a:prstGeom>
          <a:noFill/>
          <a:ln/>
        </p:spPr>
        <p:txBody>
          <a:bodyPr wrap="square" lIns="0" tIns="0" rIns="0" bIns="0" rtlCol="0" anchor="ctr"/>
          <a:lstStyle/>
          <a:p>
            <a:pPr algn="l" indent="0" marL="0">
              <a:buNone/>
            </a:pPr>
            <a:r>
              <a:rPr lang="en-US" sz="750" b="1" spc="110" kern="0" dirty="0">
                <a:solidFill>
                  <a:srgbClr val="4A31B0"/>
                </a:solidFill>
                <a:latin typeface="Calibri" pitchFamily="34" charset="0"/>
                <a:ea typeface="Calibri" pitchFamily="34" charset="-122"/>
                <a:cs typeface="Calibri" pitchFamily="34" charset="-120"/>
              </a:rPr>
              <a:t>WHAT IT TAKES TO UNLOCK</a:t>
            </a:r>
            <a:endParaRPr lang="en-US" sz="750" dirty="0"/>
          </a:p>
        </p:txBody>
      </p:sp>
      <p:sp>
        <p:nvSpPr>
          <p:cNvPr id="7" name="Text 5"/>
          <p:cNvSpPr/>
          <p:nvPr/>
        </p:nvSpPr>
        <p:spPr>
          <a:xfrm>
            <a:off x="9464040" y="1956816"/>
            <a:ext cx="914400" cy="237744"/>
          </a:xfrm>
          <a:prstGeom prst="rect">
            <a:avLst/>
          </a:prstGeom>
          <a:noFill/>
          <a:ln/>
        </p:spPr>
        <p:txBody>
          <a:bodyPr wrap="square" lIns="0" tIns="0" rIns="0" bIns="0" rtlCol="0" anchor="ctr"/>
          <a:lstStyle/>
          <a:p>
            <a:pPr algn="r" indent="0" marL="0">
              <a:buNone/>
            </a:pPr>
            <a:r>
              <a:rPr lang="en-US" sz="750" b="1" spc="110" kern="0" dirty="0">
                <a:solidFill>
                  <a:srgbClr val="4A31B0"/>
                </a:solidFill>
                <a:latin typeface="Calibri" pitchFamily="34" charset="0"/>
                <a:ea typeface="Calibri" pitchFamily="34" charset="-122"/>
                <a:cs typeface="Calibri" pitchFamily="34" charset="-120"/>
              </a:rPr>
              <a:t>UNLOCK COST</a:t>
            </a:r>
            <a:endParaRPr lang="en-US" sz="750" dirty="0"/>
          </a:p>
        </p:txBody>
      </p:sp>
      <p:sp>
        <p:nvSpPr>
          <p:cNvPr id="8" name="Text 6"/>
          <p:cNvSpPr/>
          <p:nvPr/>
        </p:nvSpPr>
        <p:spPr>
          <a:xfrm>
            <a:off x="10515600" y="1956816"/>
            <a:ext cx="868680" cy="237744"/>
          </a:xfrm>
          <a:prstGeom prst="rect">
            <a:avLst/>
          </a:prstGeom>
          <a:noFill/>
          <a:ln/>
        </p:spPr>
        <p:txBody>
          <a:bodyPr wrap="square" lIns="0" tIns="0" rIns="0" bIns="0" rtlCol="0" anchor="ctr"/>
          <a:lstStyle/>
          <a:p>
            <a:pPr algn="ctr" indent="0" marL="0">
              <a:buNone/>
            </a:pPr>
            <a:r>
              <a:rPr lang="en-US" sz="750" b="1" spc="110" kern="0" dirty="0">
                <a:solidFill>
                  <a:srgbClr val="4A31B0"/>
                </a:solidFill>
                <a:latin typeface="Calibri" pitchFamily="34" charset="0"/>
                <a:ea typeface="Calibri" pitchFamily="34" charset="-122"/>
                <a:cs typeface="Calibri" pitchFamily="34" charset="-120"/>
              </a:rPr>
              <a:t>RETURN</a:t>
            </a:r>
            <a:endParaRPr lang="en-US" sz="750" dirty="0"/>
          </a:p>
        </p:txBody>
      </p:sp>
      <p:sp>
        <p:nvSpPr>
          <p:cNvPr id="9" name="Shape 7"/>
          <p:cNvSpPr/>
          <p:nvPr/>
        </p:nvSpPr>
        <p:spPr>
          <a:xfrm>
            <a:off x="512064" y="2185416"/>
            <a:ext cx="10954512" cy="512064"/>
          </a:xfrm>
          <a:prstGeom prst="roundRect">
            <a:avLst>
              <a:gd name="adj" fmla="val 16071"/>
            </a:avLst>
          </a:prstGeom>
          <a:solidFill>
            <a:srgbClr val="EFEBF8"/>
          </a:solidFill>
          <a:ln/>
        </p:spPr>
      </p:sp>
      <p:sp>
        <p:nvSpPr>
          <p:cNvPr id="10" name="Shape 8"/>
          <p:cNvSpPr/>
          <p:nvPr/>
        </p:nvSpPr>
        <p:spPr>
          <a:xfrm rot="5400000">
            <a:off x="640080" y="2304288"/>
            <a:ext cx="219456" cy="219456"/>
          </a:xfrm>
          <a:prstGeom prst="hexagon">
            <a:avLst/>
          </a:prstGeom>
          <a:solidFill>
            <a:srgbClr val="178A4C"/>
          </a:solidFill>
          <a:ln/>
        </p:spPr>
      </p:sp>
      <p:sp>
        <p:nvSpPr>
          <p:cNvPr id="11" name="Text 9"/>
          <p:cNvSpPr/>
          <p:nvPr/>
        </p:nvSpPr>
        <p:spPr>
          <a:xfrm>
            <a:off x="950976" y="219456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Bee &amp; tutor networks</a:t>
            </a:r>
            <a:endParaRPr lang="en-US" sz="1150" dirty="0"/>
          </a:p>
        </p:txBody>
      </p:sp>
      <p:sp>
        <p:nvSpPr>
          <p:cNvPr id="12" name="Text 10"/>
          <p:cNvSpPr/>
          <p:nvPr/>
        </p:nvSpPr>
        <p:spPr>
          <a:xfrm>
            <a:off x="2852928" y="221284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13" name="Text 11"/>
          <p:cNvSpPr/>
          <p:nvPr/>
        </p:nvSpPr>
        <p:spPr>
          <a:xfrm>
            <a:off x="950976" y="241401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NSF and SASB chapters reach tens of thousands of exactly our families. 5,000 households at a $60 partner price.</a:t>
            </a:r>
            <a:endParaRPr lang="en-US" sz="750" dirty="0"/>
          </a:p>
        </p:txBody>
      </p:sp>
      <p:sp>
        <p:nvSpPr>
          <p:cNvPr id="14" name="Text 12"/>
          <p:cNvSpPr/>
          <p:nvPr/>
        </p:nvSpPr>
        <p:spPr>
          <a:xfrm>
            <a:off x="3566160" y="2231136"/>
            <a:ext cx="914400" cy="493776"/>
          </a:xfrm>
          <a:prstGeom prst="rect">
            <a:avLst/>
          </a:prstGeom>
          <a:noFill/>
          <a:ln/>
        </p:spPr>
        <p:txBody>
          <a:bodyPr wrap="square" lIns="0" tIns="0" rIns="0" bIns="0" rtlCol="0" anchor="ctr"/>
          <a:lstStyle/>
          <a:p>
            <a:pPr algn="r" indent="0" marL="0">
              <a:buNone/>
            </a:pPr>
            <a:r>
              <a:rPr lang="en-US" sz="1500" b="1" dirty="0">
                <a:solidFill>
                  <a:srgbClr val="178A4C"/>
                </a:solidFill>
                <a:latin typeface="Cambria" pitchFamily="34" charset="0"/>
                <a:ea typeface="Cambria" pitchFamily="34" charset="-122"/>
                <a:cs typeface="Cambria" pitchFamily="34" charset="-120"/>
              </a:rPr>
              <a:t>$300k</a:t>
            </a:r>
            <a:endParaRPr lang="en-US" sz="1500" dirty="0"/>
          </a:p>
        </p:txBody>
      </p:sp>
      <p:sp>
        <p:nvSpPr>
          <p:cNvPr id="15" name="Text 13"/>
          <p:cNvSpPr/>
          <p:nvPr/>
        </p:nvSpPr>
        <p:spPr>
          <a:xfrm>
            <a:off x="4663440" y="223113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One relationship, a co-branded practice track, a revenue share. The app already ships NSF’s own 2026 word lists — we are not asking them to trust a stranger.</a:t>
            </a:r>
            <a:endParaRPr lang="en-US" sz="850" dirty="0"/>
          </a:p>
        </p:txBody>
      </p:sp>
      <p:sp>
        <p:nvSpPr>
          <p:cNvPr id="16" name="Text 14"/>
          <p:cNvSpPr/>
          <p:nvPr/>
        </p:nvSpPr>
        <p:spPr>
          <a:xfrm>
            <a:off x="9464040" y="223113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$5k</a:t>
            </a:r>
            <a:endParaRPr lang="en-US" sz="1100" dirty="0"/>
          </a:p>
        </p:txBody>
      </p:sp>
      <p:sp>
        <p:nvSpPr>
          <p:cNvPr id="17" name="Shape 15"/>
          <p:cNvSpPr/>
          <p:nvPr/>
        </p:nvSpPr>
        <p:spPr>
          <a:xfrm>
            <a:off x="10515600" y="2350008"/>
            <a:ext cx="868680" cy="256032"/>
          </a:xfrm>
          <a:prstGeom prst="roundRect">
            <a:avLst>
              <a:gd name="adj" fmla="val 50000"/>
            </a:avLst>
          </a:prstGeom>
          <a:solidFill>
            <a:srgbClr val="178A4C"/>
          </a:solidFill>
          <a:ln/>
        </p:spPr>
      </p:sp>
      <p:sp>
        <p:nvSpPr>
          <p:cNvPr id="18" name="Text 16"/>
          <p:cNvSpPr/>
          <p:nvPr/>
        </p:nvSpPr>
        <p:spPr>
          <a:xfrm>
            <a:off x="10515600" y="235000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60×</a:t>
            </a:r>
            <a:endParaRPr lang="en-US" sz="900" dirty="0"/>
          </a:p>
        </p:txBody>
      </p:sp>
      <p:sp>
        <p:nvSpPr>
          <p:cNvPr id="19" name="Shape 17"/>
          <p:cNvSpPr/>
          <p:nvPr/>
        </p:nvSpPr>
        <p:spPr>
          <a:xfrm rot="5400000">
            <a:off x="640080" y="2852928"/>
            <a:ext cx="219456" cy="219456"/>
          </a:xfrm>
          <a:prstGeom prst="hexagon">
            <a:avLst/>
          </a:prstGeom>
          <a:solidFill>
            <a:srgbClr val="178A4C"/>
          </a:solidFill>
          <a:ln/>
        </p:spPr>
      </p:sp>
      <p:sp>
        <p:nvSpPr>
          <p:cNvPr id="20" name="Text 18"/>
          <p:cNvSpPr/>
          <p:nvPr/>
        </p:nvSpPr>
        <p:spPr>
          <a:xfrm>
            <a:off x="950976" y="274320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Amazon KDP &amp; audiobook</a:t>
            </a:r>
            <a:endParaRPr lang="en-US" sz="1150" dirty="0"/>
          </a:p>
        </p:txBody>
      </p:sp>
      <p:sp>
        <p:nvSpPr>
          <p:cNvPr id="21" name="Text 19"/>
          <p:cNvSpPr/>
          <p:nvPr/>
        </p:nvSpPr>
        <p:spPr>
          <a:xfrm>
            <a:off x="2852928" y="276148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1</a:t>
            </a:r>
            <a:endParaRPr lang="en-US" sz="750" dirty="0"/>
          </a:p>
        </p:txBody>
      </p:sp>
      <p:sp>
        <p:nvSpPr>
          <p:cNvPr id="22" name="Text 20"/>
          <p:cNvSpPr/>
          <p:nvPr/>
        </p:nvSpPr>
        <p:spPr>
          <a:xfrm>
            <a:off x="950976" y="296265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23 volumes are already written, typeset and illustrated. 8,000 units a year at ~$4.50 net across the list.</a:t>
            </a:r>
            <a:endParaRPr lang="en-US" sz="750" dirty="0"/>
          </a:p>
        </p:txBody>
      </p:sp>
      <p:sp>
        <p:nvSpPr>
          <p:cNvPr id="23" name="Text 21"/>
          <p:cNvSpPr/>
          <p:nvPr/>
        </p:nvSpPr>
        <p:spPr>
          <a:xfrm>
            <a:off x="3566160" y="2779776"/>
            <a:ext cx="914400" cy="493776"/>
          </a:xfrm>
          <a:prstGeom prst="rect">
            <a:avLst/>
          </a:prstGeom>
          <a:noFill/>
          <a:ln/>
        </p:spPr>
        <p:txBody>
          <a:bodyPr wrap="square" lIns="0" tIns="0" rIns="0" bIns="0" rtlCol="0" anchor="ctr"/>
          <a:lstStyle/>
          <a:p>
            <a:pPr algn="r" indent="0" marL="0">
              <a:buNone/>
            </a:pPr>
            <a:r>
              <a:rPr lang="en-US" sz="1500" b="1" dirty="0">
                <a:solidFill>
                  <a:srgbClr val="178A4C"/>
                </a:solidFill>
                <a:latin typeface="Cambria" pitchFamily="34" charset="0"/>
                <a:ea typeface="Cambria" pitchFamily="34" charset="-122"/>
                <a:cs typeface="Cambria" pitchFamily="34" charset="-120"/>
              </a:rPr>
              <a:t>$45k</a:t>
            </a:r>
            <a:endParaRPr lang="en-US" sz="1500" dirty="0"/>
          </a:p>
        </p:txBody>
      </p:sp>
      <p:sp>
        <p:nvSpPr>
          <p:cNvPr id="24" name="Text 22"/>
          <p:cNvSpPr/>
          <p:nvPr/>
        </p:nvSpPr>
        <p:spPr>
          <a:xfrm>
            <a:off x="4663440" y="277977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ISBNs, print-ready covers, a KDP and ACX account. The audiobook narration can come off the TTS pipeline already built for the films.</a:t>
            </a:r>
            <a:endParaRPr lang="en-US" sz="850" dirty="0"/>
          </a:p>
        </p:txBody>
      </p:sp>
      <p:sp>
        <p:nvSpPr>
          <p:cNvPr id="25" name="Text 23"/>
          <p:cNvSpPr/>
          <p:nvPr/>
        </p:nvSpPr>
        <p:spPr>
          <a:xfrm>
            <a:off x="9464040" y="277977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$3k</a:t>
            </a:r>
            <a:endParaRPr lang="en-US" sz="1100" dirty="0"/>
          </a:p>
        </p:txBody>
      </p:sp>
      <p:sp>
        <p:nvSpPr>
          <p:cNvPr id="26" name="Shape 24"/>
          <p:cNvSpPr/>
          <p:nvPr/>
        </p:nvSpPr>
        <p:spPr>
          <a:xfrm>
            <a:off x="10515600" y="2898648"/>
            <a:ext cx="868680" cy="256032"/>
          </a:xfrm>
          <a:prstGeom prst="roundRect">
            <a:avLst>
              <a:gd name="adj" fmla="val 50000"/>
            </a:avLst>
          </a:prstGeom>
          <a:solidFill>
            <a:srgbClr val="178A4C"/>
          </a:solidFill>
          <a:ln/>
        </p:spPr>
      </p:sp>
      <p:sp>
        <p:nvSpPr>
          <p:cNvPr id="27" name="Text 25"/>
          <p:cNvSpPr/>
          <p:nvPr/>
        </p:nvSpPr>
        <p:spPr>
          <a:xfrm>
            <a:off x="10515600" y="289864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15×</a:t>
            </a:r>
            <a:endParaRPr lang="en-US" sz="900" dirty="0"/>
          </a:p>
        </p:txBody>
      </p:sp>
      <p:sp>
        <p:nvSpPr>
          <p:cNvPr id="28" name="Shape 26"/>
          <p:cNvSpPr/>
          <p:nvPr/>
        </p:nvSpPr>
        <p:spPr>
          <a:xfrm>
            <a:off x="512064" y="3282696"/>
            <a:ext cx="10954512" cy="512064"/>
          </a:xfrm>
          <a:prstGeom prst="roundRect">
            <a:avLst>
              <a:gd name="adj" fmla="val 16071"/>
            </a:avLst>
          </a:prstGeom>
          <a:solidFill>
            <a:srgbClr val="EFEBF8"/>
          </a:solidFill>
          <a:ln/>
        </p:spPr>
      </p:sp>
      <p:sp>
        <p:nvSpPr>
          <p:cNvPr id="29" name="Shape 27"/>
          <p:cNvSpPr/>
          <p:nvPr/>
        </p:nvSpPr>
        <p:spPr>
          <a:xfrm rot="5400000">
            <a:off x="640080" y="3401568"/>
            <a:ext cx="219456" cy="219456"/>
          </a:xfrm>
          <a:prstGeom prst="hexagon">
            <a:avLst/>
          </a:prstGeom>
          <a:solidFill>
            <a:srgbClr val="6C4FE0"/>
          </a:solidFill>
          <a:ln/>
        </p:spPr>
      </p:sp>
      <p:sp>
        <p:nvSpPr>
          <p:cNvPr id="30" name="Text 28"/>
          <p:cNvSpPr/>
          <p:nvPr/>
        </p:nvSpPr>
        <p:spPr>
          <a:xfrm>
            <a:off x="950976" y="329184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Employer learning benefit</a:t>
            </a:r>
            <a:endParaRPr lang="en-US" sz="1150" dirty="0"/>
          </a:p>
        </p:txBody>
      </p:sp>
      <p:sp>
        <p:nvSpPr>
          <p:cNvPr id="31" name="Text 29"/>
          <p:cNvSpPr/>
          <p:nvPr/>
        </p:nvSpPr>
        <p:spPr>
          <a:xfrm>
            <a:off x="2852928" y="331012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4</a:t>
            </a:r>
            <a:endParaRPr lang="en-US" sz="750" dirty="0"/>
          </a:p>
        </p:txBody>
      </p:sp>
      <p:sp>
        <p:nvSpPr>
          <p:cNvPr id="32" name="Text 30"/>
          <p:cNvSpPr/>
          <p:nvPr/>
        </p:nvSpPr>
        <p:spPr>
          <a:xfrm>
            <a:off x="950976" y="351129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Firms with large diaspora workforces already run family learning stipends. 4 employers × 200 families × $250.</a:t>
            </a:r>
            <a:endParaRPr lang="en-US" sz="750" dirty="0"/>
          </a:p>
        </p:txBody>
      </p:sp>
      <p:sp>
        <p:nvSpPr>
          <p:cNvPr id="33" name="Text 31"/>
          <p:cNvSpPr/>
          <p:nvPr/>
        </p:nvSpPr>
        <p:spPr>
          <a:xfrm>
            <a:off x="3566160" y="3328416"/>
            <a:ext cx="914400" cy="493776"/>
          </a:xfrm>
          <a:prstGeom prst="rect">
            <a:avLst/>
          </a:prstGeom>
          <a:noFill/>
          <a:ln/>
        </p:spPr>
        <p:txBody>
          <a:bodyPr wrap="square" lIns="0" tIns="0" rIns="0" bIns="0" rtlCol="0" anchor="ctr"/>
          <a:lstStyle/>
          <a:p>
            <a:pPr algn="r" indent="0" marL="0">
              <a:buNone/>
            </a:pPr>
            <a:r>
              <a:rPr lang="en-US" sz="1500" b="1" dirty="0">
                <a:solidFill>
                  <a:srgbClr val="6C4FE0"/>
                </a:solidFill>
                <a:latin typeface="Cambria" pitchFamily="34" charset="0"/>
                <a:ea typeface="Cambria" pitchFamily="34" charset="-122"/>
                <a:cs typeface="Cambria" pitchFamily="34" charset="-120"/>
              </a:rPr>
              <a:t>$200k</a:t>
            </a:r>
            <a:endParaRPr lang="en-US" sz="1500" dirty="0"/>
          </a:p>
        </p:txBody>
      </p:sp>
      <p:sp>
        <p:nvSpPr>
          <p:cNvPr id="34" name="Text 32"/>
          <p:cNvSpPr/>
          <p:nvPr/>
        </p:nvSpPr>
        <p:spPr>
          <a:xfrm>
            <a:off x="4663440" y="332841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A W-9, invoicing, an HR-facing one-pager and a named reference. SOC 2 becomes necessary above roughly ten employers, not before.</a:t>
            </a:r>
            <a:endParaRPr lang="en-US" sz="850" dirty="0"/>
          </a:p>
        </p:txBody>
      </p:sp>
      <p:sp>
        <p:nvSpPr>
          <p:cNvPr id="35" name="Text 33"/>
          <p:cNvSpPr/>
          <p:nvPr/>
        </p:nvSpPr>
        <p:spPr>
          <a:xfrm>
            <a:off x="9464040" y="332841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$15k</a:t>
            </a:r>
            <a:endParaRPr lang="en-US" sz="1100" dirty="0"/>
          </a:p>
        </p:txBody>
      </p:sp>
      <p:sp>
        <p:nvSpPr>
          <p:cNvPr id="36" name="Shape 34"/>
          <p:cNvSpPr/>
          <p:nvPr/>
        </p:nvSpPr>
        <p:spPr>
          <a:xfrm>
            <a:off x="10515600" y="3447288"/>
            <a:ext cx="868680" cy="256032"/>
          </a:xfrm>
          <a:prstGeom prst="roundRect">
            <a:avLst>
              <a:gd name="adj" fmla="val 50000"/>
            </a:avLst>
          </a:prstGeom>
          <a:solidFill>
            <a:srgbClr val="6C4FE0"/>
          </a:solidFill>
          <a:ln/>
        </p:spPr>
      </p:sp>
      <p:sp>
        <p:nvSpPr>
          <p:cNvPr id="37" name="Text 35"/>
          <p:cNvSpPr/>
          <p:nvPr/>
        </p:nvSpPr>
        <p:spPr>
          <a:xfrm>
            <a:off x="10515600" y="344728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13×</a:t>
            </a:r>
            <a:endParaRPr lang="en-US" sz="900" dirty="0"/>
          </a:p>
        </p:txBody>
      </p:sp>
      <p:sp>
        <p:nvSpPr>
          <p:cNvPr id="38" name="Shape 36"/>
          <p:cNvSpPr/>
          <p:nvPr/>
        </p:nvSpPr>
        <p:spPr>
          <a:xfrm rot="5400000">
            <a:off x="640080" y="3950208"/>
            <a:ext cx="219456" cy="219456"/>
          </a:xfrm>
          <a:prstGeom prst="hexagon">
            <a:avLst/>
          </a:prstGeom>
          <a:solidFill>
            <a:srgbClr val="6C4FE0"/>
          </a:solidFill>
          <a:ln/>
        </p:spPr>
      </p:sp>
      <p:sp>
        <p:nvSpPr>
          <p:cNvPr id="39" name="Text 37"/>
          <p:cNvSpPr/>
          <p:nvPr/>
        </p:nvSpPr>
        <p:spPr>
          <a:xfrm>
            <a:off x="950976" y="384048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Weekend &amp; heritage</a:t>
            </a:r>
            <a:endParaRPr lang="en-US" sz="1150" dirty="0"/>
          </a:p>
        </p:txBody>
      </p:sp>
      <p:sp>
        <p:nvSpPr>
          <p:cNvPr id="40" name="Text 38"/>
          <p:cNvSpPr/>
          <p:nvPr/>
        </p:nvSpPr>
        <p:spPr>
          <a:xfrm>
            <a:off x="2852928" y="385876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41" name="Text 39"/>
          <p:cNvSpPr/>
          <p:nvPr/>
        </p:nvSpPr>
        <p:spPr>
          <a:xfrm>
            <a:off x="950976" y="405993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Bhasha’s natural home. ~1,500 such schools in North America; 100 of them at a $500 site licence.</a:t>
            </a:r>
            <a:endParaRPr lang="en-US" sz="750" dirty="0"/>
          </a:p>
        </p:txBody>
      </p:sp>
      <p:sp>
        <p:nvSpPr>
          <p:cNvPr id="42" name="Text 40"/>
          <p:cNvSpPr/>
          <p:nvPr/>
        </p:nvSpPr>
        <p:spPr>
          <a:xfrm>
            <a:off x="3566160" y="3877056"/>
            <a:ext cx="914400" cy="493776"/>
          </a:xfrm>
          <a:prstGeom prst="rect">
            <a:avLst/>
          </a:prstGeom>
          <a:noFill/>
          <a:ln/>
        </p:spPr>
        <p:txBody>
          <a:bodyPr wrap="square" lIns="0" tIns="0" rIns="0" bIns="0" rtlCol="0" anchor="ctr"/>
          <a:lstStyle/>
          <a:p>
            <a:pPr algn="r" indent="0" marL="0">
              <a:buNone/>
            </a:pPr>
            <a:r>
              <a:rPr lang="en-US" sz="1500" b="1" dirty="0">
                <a:solidFill>
                  <a:srgbClr val="6C4FE0"/>
                </a:solidFill>
                <a:latin typeface="Cambria" pitchFamily="34" charset="0"/>
                <a:ea typeface="Cambria" pitchFamily="34" charset="-122"/>
                <a:cs typeface="Cambria" pitchFamily="34" charset="-120"/>
              </a:rPr>
              <a:t>$50k</a:t>
            </a:r>
            <a:endParaRPr lang="en-US" sz="1500" dirty="0"/>
          </a:p>
        </p:txBody>
      </p:sp>
      <p:sp>
        <p:nvSpPr>
          <p:cNvPr id="43" name="Text 41"/>
          <p:cNvSpPr/>
          <p:nvPr/>
        </p:nvSpPr>
        <p:spPr>
          <a:xfrm>
            <a:off x="4663440" y="387705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A teacher mode, printable packs and a 30-week scope cut to a Saturday-morning rhythm. No procurement, no privacy review — a head teacher decides.</a:t>
            </a:r>
            <a:endParaRPr lang="en-US" sz="850" dirty="0"/>
          </a:p>
        </p:txBody>
      </p:sp>
      <p:sp>
        <p:nvSpPr>
          <p:cNvPr id="44" name="Text 42"/>
          <p:cNvSpPr/>
          <p:nvPr/>
        </p:nvSpPr>
        <p:spPr>
          <a:xfrm>
            <a:off x="9464040" y="387705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$10k</a:t>
            </a:r>
            <a:endParaRPr lang="en-US" sz="1100" dirty="0"/>
          </a:p>
        </p:txBody>
      </p:sp>
      <p:sp>
        <p:nvSpPr>
          <p:cNvPr id="45" name="Shape 43"/>
          <p:cNvSpPr/>
          <p:nvPr/>
        </p:nvSpPr>
        <p:spPr>
          <a:xfrm>
            <a:off x="10515600" y="3995928"/>
            <a:ext cx="868680" cy="256032"/>
          </a:xfrm>
          <a:prstGeom prst="roundRect">
            <a:avLst>
              <a:gd name="adj" fmla="val 50000"/>
            </a:avLst>
          </a:prstGeom>
          <a:solidFill>
            <a:srgbClr val="6C4FE0"/>
          </a:solidFill>
          <a:ln/>
        </p:spPr>
      </p:sp>
      <p:sp>
        <p:nvSpPr>
          <p:cNvPr id="46" name="Text 44"/>
          <p:cNvSpPr/>
          <p:nvPr/>
        </p:nvSpPr>
        <p:spPr>
          <a:xfrm>
            <a:off x="10515600" y="399592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47" name="Shape 45"/>
          <p:cNvSpPr/>
          <p:nvPr/>
        </p:nvSpPr>
        <p:spPr>
          <a:xfrm>
            <a:off x="512064" y="4379976"/>
            <a:ext cx="10954512" cy="512064"/>
          </a:xfrm>
          <a:prstGeom prst="roundRect">
            <a:avLst>
              <a:gd name="adj" fmla="val 16071"/>
            </a:avLst>
          </a:prstGeom>
          <a:solidFill>
            <a:srgbClr val="EFEBF8"/>
          </a:solidFill>
          <a:ln/>
        </p:spPr>
      </p:sp>
      <p:sp>
        <p:nvSpPr>
          <p:cNvPr id="48" name="Shape 46"/>
          <p:cNvSpPr/>
          <p:nvPr/>
        </p:nvSpPr>
        <p:spPr>
          <a:xfrm rot="5400000">
            <a:off x="640080" y="4498848"/>
            <a:ext cx="219456" cy="219456"/>
          </a:xfrm>
          <a:prstGeom prst="hexagon">
            <a:avLst/>
          </a:prstGeom>
          <a:solidFill>
            <a:srgbClr val="F0B429"/>
          </a:solidFill>
          <a:ln/>
        </p:spPr>
      </p:sp>
      <p:sp>
        <p:nvSpPr>
          <p:cNvPr id="49" name="Text 47"/>
          <p:cNvSpPr/>
          <p:nvPr/>
        </p:nvSpPr>
        <p:spPr>
          <a:xfrm>
            <a:off x="950976" y="438912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Shopify — avatar merch</a:t>
            </a:r>
            <a:endParaRPr lang="en-US" sz="1150" dirty="0"/>
          </a:p>
        </p:txBody>
      </p:sp>
      <p:sp>
        <p:nvSpPr>
          <p:cNvPr id="50" name="Text 48"/>
          <p:cNvSpPr/>
          <p:nvPr/>
        </p:nvSpPr>
        <p:spPr>
          <a:xfrm>
            <a:off x="2852928" y="440740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51" name="Text 49"/>
          <p:cNvSpPr/>
          <p:nvPr/>
        </p:nvSpPr>
        <p:spPr>
          <a:xfrm>
            <a:off x="950976" y="460857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217 painted avatars already exist. 2,000 orders a year at a $32 average basket.</a:t>
            </a:r>
            <a:endParaRPr lang="en-US" sz="750" dirty="0"/>
          </a:p>
        </p:txBody>
      </p:sp>
      <p:sp>
        <p:nvSpPr>
          <p:cNvPr id="52" name="Text 50"/>
          <p:cNvSpPr/>
          <p:nvPr/>
        </p:nvSpPr>
        <p:spPr>
          <a:xfrm>
            <a:off x="3566160" y="4425696"/>
            <a:ext cx="914400" cy="493776"/>
          </a:xfrm>
          <a:prstGeom prst="rect">
            <a:avLst/>
          </a:prstGeom>
          <a:noFill/>
          <a:ln/>
        </p:spPr>
        <p:txBody>
          <a:bodyPr wrap="square" lIns="0" tIns="0" rIns="0" bIns="0" rtlCol="0" anchor="ctr"/>
          <a:lstStyle/>
          <a:p>
            <a:pPr algn="r" indent="0" marL="0">
              <a:buNone/>
            </a:pPr>
            <a:r>
              <a:rPr lang="en-US" sz="1500" b="1" dirty="0">
                <a:solidFill>
                  <a:srgbClr val="F0B429"/>
                </a:solidFill>
                <a:latin typeface="Cambria" pitchFamily="34" charset="0"/>
                <a:ea typeface="Cambria" pitchFamily="34" charset="-122"/>
                <a:cs typeface="Cambria" pitchFamily="34" charset="-120"/>
              </a:rPr>
              <a:t>$65k</a:t>
            </a:r>
            <a:endParaRPr lang="en-US" sz="1500" dirty="0"/>
          </a:p>
        </p:txBody>
      </p:sp>
      <p:sp>
        <p:nvSpPr>
          <p:cNvPr id="53" name="Text 51"/>
          <p:cNvSpPr/>
          <p:nvPr/>
        </p:nvSpPr>
        <p:spPr>
          <a:xfrm>
            <a:off x="4663440" y="442569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Store plus print-on-demand for tees and posters is cheap. Plushies are the expensive half: a real minimum order, sizes, returns.</a:t>
            </a:r>
            <a:endParaRPr lang="en-US" sz="850" dirty="0"/>
          </a:p>
        </p:txBody>
      </p:sp>
      <p:sp>
        <p:nvSpPr>
          <p:cNvPr id="54" name="Text 52"/>
          <p:cNvSpPr/>
          <p:nvPr/>
        </p:nvSpPr>
        <p:spPr>
          <a:xfrm>
            <a:off x="9464040" y="442569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$16k</a:t>
            </a:r>
            <a:endParaRPr lang="en-US" sz="1100" dirty="0"/>
          </a:p>
        </p:txBody>
      </p:sp>
      <p:sp>
        <p:nvSpPr>
          <p:cNvPr id="55" name="Shape 53"/>
          <p:cNvSpPr/>
          <p:nvPr/>
        </p:nvSpPr>
        <p:spPr>
          <a:xfrm>
            <a:off x="10515600" y="4544568"/>
            <a:ext cx="868680" cy="256032"/>
          </a:xfrm>
          <a:prstGeom prst="roundRect">
            <a:avLst>
              <a:gd name="adj" fmla="val 50000"/>
            </a:avLst>
          </a:prstGeom>
          <a:solidFill>
            <a:srgbClr val="F0B429"/>
          </a:solidFill>
          <a:ln/>
        </p:spPr>
      </p:sp>
      <p:sp>
        <p:nvSpPr>
          <p:cNvPr id="56" name="Text 54"/>
          <p:cNvSpPr/>
          <p:nvPr/>
        </p:nvSpPr>
        <p:spPr>
          <a:xfrm>
            <a:off x="10515600" y="4544568"/>
            <a:ext cx="868680" cy="256032"/>
          </a:xfrm>
          <a:prstGeom prst="rect">
            <a:avLst/>
          </a:prstGeom>
          <a:noFill/>
          <a:ln/>
        </p:spPr>
        <p:txBody>
          <a:bodyPr wrap="square" lIns="0" tIns="0" rIns="0" bIns="0" rtlCol="0" anchor="ctr"/>
          <a:lstStyle/>
          <a:p>
            <a:pPr algn="ctr" indent="0" marL="0">
              <a:buNone/>
            </a:pPr>
            <a:r>
              <a:rPr lang="en-US" sz="900" b="1" dirty="0">
                <a:solidFill>
                  <a:srgbClr val="241E33"/>
                </a:solidFill>
                <a:latin typeface="Calibri" pitchFamily="34" charset="0"/>
                <a:ea typeface="Calibri" pitchFamily="34" charset="-122"/>
                <a:cs typeface="Calibri" pitchFamily="34" charset="-120"/>
              </a:rPr>
              <a:t>4×</a:t>
            </a:r>
            <a:endParaRPr lang="en-US" sz="900" dirty="0"/>
          </a:p>
        </p:txBody>
      </p:sp>
      <p:sp>
        <p:nvSpPr>
          <p:cNvPr id="57" name="Shape 55"/>
          <p:cNvSpPr/>
          <p:nvPr/>
        </p:nvSpPr>
        <p:spPr>
          <a:xfrm rot="5400000">
            <a:off x="640080" y="5047488"/>
            <a:ext cx="219456" cy="219456"/>
          </a:xfrm>
          <a:prstGeom prst="hexagon">
            <a:avLst/>
          </a:prstGeom>
          <a:solidFill>
            <a:srgbClr val="F0B429"/>
          </a:solidFill>
          <a:ln/>
        </p:spPr>
      </p:sp>
      <p:sp>
        <p:nvSpPr>
          <p:cNvPr id="58" name="Text 56"/>
          <p:cNvSpPr/>
          <p:nvPr/>
        </p:nvSpPr>
        <p:spPr>
          <a:xfrm>
            <a:off x="950976" y="493776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Printed games</a:t>
            </a:r>
            <a:endParaRPr lang="en-US" sz="1150" dirty="0"/>
          </a:p>
        </p:txBody>
      </p:sp>
      <p:sp>
        <p:nvSpPr>
          <p:cNvPr id="59" name="Text 57"/>
          <p:cNvSpPr/>
          <p:nvPr/>
        </p:nvSpPr>
        <p:spPr>
          <a:xfrm>
            <a:off x="2852928" y="495604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3</a:t>
            </a:r>
            <a:endParaRPr lang="en-US" sz="750" dirty="0"/>
          </a:p>
        </p:txBody>
      </p:sp>
      <p:sp>
        <p:nvSpPr>
          <p:cNvPr id="60" name="Text 58"/>
          <p:cNvSpPr/>
          <p:nvPr/>
        </p:nvSpPr>
        <p:spPr>
          <a:xfrm>
            <a:off x="950976" y="515721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The trump deck already exists in-app across 217 avatars. 3,000 decks at ~$18 kept selling direct.</a:t>
            </a:r>
            <a:endParaRPr lang="en-US" sz="750" dirty="0"/>
          </a:p>
        </p:txBody>
      </p:sp>
      <p:sp>
        <p:nvSpPr>
          <p:cNvPr id="61" name="Text 59"/>
          <p:cNvSpPr/>
          <p:nvPr/>
        </p:nvSpPr>
        <p:spPr>
          <a:xfrm>
            <a:off x="3566160" y="4974336"/>
            <a:ext cx="914400" cy="493776"/>
          </a:xfrm>
          <a:prstGeom prst="rect">
            <a:avLst/>
          </a:prstGeom>
          <a:noFill/>
          <a:ln/>
        </p:spPr>
        <p:txBody>
          <a:bodyPr wrap="square" lIns="0" tIns="0" rIns="0" bIns="0" rtlCol="0" anchor="ctr"/>
          <a:lstStyle/>
          <a:p>
            <a:pPr algn="r" indent="0" marL="0">
              <a:buNone/>
            </a:pPr>
            <a:r>
              <a:rPr lang="en-US" sz="1500" b="1" dirty="0">
                <a:solidFill>
                  <a:srgbClr val="F0B429"/>
                </a:solidFill>
                <a:latin typeface="Cambria" pitchFamily="34" charset="0"/>
                <a:ea typeface="Cambria" pitchFamily="34" charset="-122"/>
                <a:cs typeface="Cambria" pitchFamily="34" charset="-120"/>
              </a:rPr>
              <a:t>$75k</a:t>
            </a:r>
            <a:endParaRPr lang="en-US" sz="1500" dirty="0"/>
          </a:p>
        </p:txBody>
      </p:sp>
      <p:sp>
        <p:nvSpPr>
          <p:cNvPr id="62" name="Text 60"/>
          <p:cNvSpPr/>
          <p:nvPr/>
        </p:nvSpPr>
        <p:spPr>
          <a:xfrm>
            <a:off x="4663440" y="497433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Die lines, a manufacturer and a pre-order campaign. Never print what is not already sold — inventory is the one thing here that wants cash before revenue.</a:t>
            </a:r>
            <a:endParaRPr lang="en-US" sz="850" dirty="0"/>
          </a:p>
        </p:txBody>
      </p:sp>
      <p:sp>
        <p:nvSpPr>
          <p:cNvPr id="63" name="Text 61"/>
          <p:cNvSpPr/>
          <p:nvPr/>
        </p:nvSpPr>
        <p:spPr>
          <a:xfrm>
            <a:off x="9464040" y="497433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$8k</a:t>
            </a:r>
            <a:endParaRPr lang="en-US" sz="1100" dirty="0"/>
          </a:p>
        </p:txBody>
      </p:sp>
      <p:sp>
        <p:nvSpPr>
          <p:cNvPr id="64" name="Shape 62"/>
          <p:cNvSpPr/>
          <p:nvPr/>
        </p:nvSpPr>
        <p:spPr>
          <a:xfrm>
            <a:off x="10515600" y="5093208"/>
            <a:ext cx="868680" cy="256032"/>
          </a:xfrm>
          <a:prstGeom prst="roundRect">
            <a:avLst>
              <a:gd name="adj" fmla="val 50000"/>
            </a:avLst>
          </a:prstGeom>
          <a:solidFill>
            <a:srgbClr val="F0B429"/>
          </a:solidFill>
          <a:ln/>
        </p:spPr>
      </p:sp>
      <p:sp>
        <p:nvSpPr>
          <p:cNvPr id="65" name="Text 63"/>
          <p:cNvSpPr/>
          <p:nvPr/>
        </p:nvSpPr>
        <p:spPr>
          <a:xfrm>
            <a:off x="10515600" y="5093208"/>
            <a:ext cx="868680" cy="256032"/>
          </a:xfrm>
          <a:prstGeom prst="rect">
            <a:avLst/>
          </a:prstGeom>
          <a:noFill/>
          <a:ln/>
        </p:spPr>
        <p:txBody>
          <a:bodyPr wrap="square" lIns="0" tIns="0" rIns="0" bIns="0" rtlCol="0" anchor="ctr"/>
          <a:lstStyle/>
          <a:p>
            <a:pPr algn="ctr" indent="0" marL="0">
              <a:buNone/>
            </a:pPr>
            <a:r>
              <a:rPr lang="en-US" sz="900" b="1" dirty="0">
                <a:solidFill>
                  <a:srgbClr val="241E33"/>
                </a:solidFill>
                <a:latin typeface="Calibri" pitchFamily="34" charset="0"/>
                <a:ea typeface="Calibri" pitchFamily="34" charset="-122"/>
                <a:cs typeface="Calibri" pitchFamily="34" charset="-120"/>
              </a:rPr>
              <a:t>9×</a:t>
            </a:r>
            <a:endParaRPr lang="en-US" sz="900" dirty="0"/>
          </a:p>
        </p:txBody>
      </p:sp>
      <p:sp>
        <p:nvSpPr>
          <p:cNvPr id="66" name="Shape 64"/>
          <p:cNvSpPr/>
          <p:nvPr/>
        </p:nvSpPr>
        <p:spPr>
          <a:xfrm>
            <a:off x="512064" y="5477256"/>
            <a:ext cx="10954512" cy="512064"/>
          </a:xfrm>
          <a:prstGeom prst="roundRect">
            <a:avLst>
              <a:gd name="adj" fmla="val 16071"/>
            </a:avLst>
          </a:prstGeom>
          <a:solidFill>
            <a:srgbClr val="EFEBF8"/>
          </a:solidFill>
          <a:ln/>
        </p:spPr>
      </p:sp>
      <p:sp>
        <p:nvSpPr>
          <p:cNvPr id="67" name="Shape 65"/>
          <p:cNvSpPr/>
          <p:nvPr/>
        </p:nvSpPr>
        <p:spPr>
          <a:xfrm rot="5400000">
            <a:off x="640080" y="5596128"/>
            <a:ext cx="219456" cy="219456"/>
          </a:xfrm>
          <a:prstGeom prst="hexagon">
            <a:avLst/>
          </a:prstGeom>
          <a:solidFill>
            <a:srgbClr val="C4453C"/>
          </a:solidFill>
          <a:ln/>
        </p:spPr>
      </p:sp>
      <p:sp>
        <p:nvSpPr>
          <p:cNvPr id="68" name="Text 66"/>
          <p:cNvSpPr/>
          <p:nvPr/>
        </p:nvSpPr>
        <p:spPr>
          <a:xfrm>
            <a:off x="950976" y="548640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School districts</a:t>
            </a:r>
            <a:endParaRPr lang="en-US" sz="1150" dirty="0"/>
          </a:p>
        </p:txBody>
      </p:sp>
      <p:sp>
        <p:nvSpPr>
          <p:cNvPr id="69" name="Text 67"/>
          <p:cNvSpPr/>
          <p:nvPr/>
        </p:nvSpPr>
        <p:spPr>
          <a:xfrm>
            <a:off x="2852928" y="550468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3</a:t>
            </a:r>
            <a:endParaRPr lang="en-US" sz="750" dirty="0"/>
          </a:p>
        </p:txBody>
      </p:sp>
      <p:sp>
        <p:nvSpPr>
          <p:cNvPr id="70" name="Text 68"/>
          <p:cNvSpPr/>
          <p:nvPr/>
        </p:nvSpPr>
        <p:spPr>
          <a:xfrm>
            <a:off x="950976" y="570585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Supplemental literacy licensing. 3 districts × ~10,000 students in band × $4 per student per year.</a:t>
            </a:r>
            <a:endParaRPr lang="en-US" sz="750" dirty="0"/>
          </a:p>
        </p:txBody>
      </p:sp>
      <p:sp>
        <p:nvSpPr>
          <p:cNvPr id="71" name="Text 69"/>
          <p:cNvSpPr/>
          <p:nvPr/>
        </p:nvSpPr>
        <p:spPr>
          <a:xfrm>
            <a:off x="3566160" y="5522976"/>
            <a:ext cx="914400" cy="493776"/>
          </a:xfrm>
          <a:prstGeom prst="rect">
            <a:avLst/>
          </a:prstGeom>
          <a:noFill/>
          <a:ln/>
        </p:spPr>
        <p:txBody>
          <a:bodyPr wrap="square" lIns="0" tIns="0" rIns="0" bIns="0" rtlCol="0" anchor="ctr"/>
          <a:lstStyle/>
          <a:p>
            <a:pPr algn="r" indent="0" marL="0">
              <a:buNone/>
            </a:pPr>
            <a:r>
              <a:rPr lang="en-US" sz="1500" b="1" dirty="0">
                <a:solidFill>
                  <a:srgbClr val="C4453C"/>
                </a:solidFill>
                <a:latin typeface="Cambria" pitchFamily="34" charset="0"/>
                <a:ea typeface="Cambria" pitchFamily="34" charset="-122"/>
                <a:cs typeface="Cambria" pitchFamily="34" charset="-120"/>
              </a:rPr>
              <a:t>$120k</a:t>
            </a:r>
            <a:endParaRPr lang="en-US" sz="1500" dirty="0"/>
          </a:p>
        </p:txBody>
      </p:sp>
      <p:sp>
        <p:nvSpPr>
          <p:cNvPr id="72" name="Text 70"/>
          <p:cNvSpPr/>
          <p:nvPr/>
        </p:nvSpPr>
        <p:spPr>
          <a:xfrm>
            <a:off x="4663440" y="552297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COPPA/FERPA compliance, an SDPC data agreement, Clever or ClassLink rostering, a teacher dashboard, and one pilot with real outcome data.</a:t>
            </a:r>
            <a:endParaRPr lang="en-US" sz="850" dirty="0"/>
          </a:p>
        </p:txBody>
      </p:sp>
      <p:sp>
        <p:nvSpPr>
          <p:cNvPr id="73" name="Text 71"/>
          <p:cNvSpPr/>
          <p:nvPr/>
        </p:nvSpPr>
        <p:spPr>
          <a:xfrm>
            <a:off x="9464040" y="552297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$35k</a:t>
            </a:r>
            <a:endParaRPr lang="en-US" sz="1100" dirty="0"/>
          </a:p>
        </p:txBody>
      </p:sp>
      <p:sp>
        <p:nvSpPr>
          <p:cNvPr id="74" name="Shape 72"/>
          <p:cNvSpPr/>
          <p:nvPr/>
        </p:nvSpPr>
        <p:spPr>
          <a:xfrm>
            <a:off x="10515600" y="5641848"/>
            <a:ext cx="868680" cy="256032"/>
          </a:xfrm>
          <a:prstGeom prst="roundRect">
            <a:avLst>
              <a:gd name="adj" fmla="val 50000"/>
            </a:avLst>
          </a:prstGeom>
          <a:solidFill>
            <a:srgbClr val="C4453C"/>
          </a:solidFill>
          <a:ln/>
        </p:spPr>
      </p:sp>
      <p:sp>
        <p:nvSpPr>
          <p:cNvPr id="75" name="Text 73"/>
          <p:cNvSpPr/>
          <p:nvPr/>
        </p:nvSpPr>
        <p:spPr>
          <a:xfrm>
            <a:off x="10515600" y="564184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76" name="Shape 74"/>
          <p:cNvSpPr/>
          <p:nvPr/>
        </p:nvSpPr>
        <p:spPr>
          <a:xfrm>
            <a:off x="512064" y="6025896"/>
            <a:ext cx="10954512" cy="512064"/>
          </a:xfrm>
          <a:prstGeom prst="roundRect">
            <a:avLst>
              <a:gd name="adj" fmla="val 16071"/>
            </a:avLst>
          </a:prstGeom>
          <a:solidFill>
            <a:srgbClr val="241E33"/>
          </a:solidFill>
          <a:ln/>
        </p:spPr>
      </p:sp>
      <p:sp>
        <p:nvSpPr>
          <p:cNvPr id="77" name="Text 75"/>
          <p:cNvSpPr/>
          <p:nvPr/>
        </p:nvSpPr>
        <p:spPr>
          <a:xfrm>
            <a:off x="950976" y="6071616"/>
            <a:ext cx="2514600" cy="420624"/>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All seven, fully open</a:t>
            </a:r>
            <a:endParaRPr lang="en-US" sz="1250" dirty="0"/>
          </a:p>
        </p:txBody>
      </p:sp>
      <p:sp>
        <p:nvSpPr>
          <p:cNvPr id="78" name="Text 76"/>
          <p:cNvSpPr/>
          <p:nvPr/>
        </p:nvSpPr>
        <p:spPr>
          <a:xfrm>
            <a:off x="3566160" y="6071616"/>
            <a:ext cx="914400" cy="420624"/>
          </a:xfrm>
          <a:prstGeom prst="rect">
            <a:avLst/>
          </a:prstGeom>
          <a:noFill/>
          <a:ln/>
        </p:spPr>
        <p:txBody>
          <a:bodyPr wrap="square" lIns="0" tIns="0" rIns="0" bIns="0" rtlCol="0" anchor="ctr"/>
          <a:lstStyle/>
          <a:p>
            <a:pPr algn="r" indent="0" marL="0">
              <a:buNone/>
            </a:pPr>
            <a:r>
              <a:rPr lang="en-US" sz="1500" b="1" dirty="0">
                <a:solidFill>
                  <a:srgbClr val="F0B429"/>
                </a:solidFill>
                <a:latin typeface="Cambria" pitchFamily="34" charset="0"/>
                <a:ea typeface="Cambria" pitchFamily="34" charset="-122"/>
                <a:cs typeface="Cambria" pitchFamily="34" charset="-120"/>
              </a:rPr>
              <a:t>$855k</a:t>
            </a:r>
            <a:endParaRPr lang="en-US" sz="1500" dirty="0"/>
          </a:p>
        </p:txBody>
      </p:sp>
      <p:sp>
        <p:nvSpPr>
          <p:cNvPr id="79" name="Text 77"/>
          <p:cNvSpPr/>
          <p:nvPr/>
        </p:nvSpPr>
        <p:spPr>
          <a:xfrm>
            <a:off x="4663440" y="6071616"/>
            <a:ext cx="4663440" cy="420624"/>
          </a:xfrm>
          <a:prstGeom prst="rect">
            <a:avLst/>
          </a:prstGeom>
          <a:noFill/>
          <a:ln/>
        </p:spPr>
        <p:txBody>
          <a:bodyPr wrap="square" lIns="0" tIns="0" rIns="0" bIns="0" rtlCol="0" anchor="ctr"/>
          <a:lstStyle/>
          <a:p>
            <a:pPr indent="0" marL="0">
              <a:buNone/>
            </a:pPr>
            <a:r>
              <a:rPr lang="en-US" sz="850" dirty="0">
                <a:solidFill>
                  <a:srgbClr val="E3DCF2"/>
                </a:solidFill>
                <a:latin typeface="Calibri" pitchFamily="34" charset="0"/>
                <a:ea typeface="Calibri" pitchFamily="34" charset="-122"/>
                <a:cs typeface="Calibri" pitchFamily="34" charset="-120"/>
              </a:rPr>
              <a:t>a year by Year 4 — roughly half of base-case Year 4 revenue, added to a business that already pays for itself without any of it.</a:t>
            </a:r>
            <a:endParaRPr lang="en-US" sz="850" dirty="0"/>
          </a:p>
        </p:txBody>
      </p:sp>
      <p:sp>
        <p:nvSpPr>
          <p:cNvPr id="80" name="Text 78"/>
          <p:cNvSpPr/>
          <p:nvPr/>
        </p:nvSpPr>
        <p:spPr>
          <a:xfrm>
            <a:off x="9464040" y="6071616"/>
            <a:ext cx="914400" cy="420624"/>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$92k</a:t>
            </a:r>
            <a:endParaRPr lang="en-US" sz="1100" dirty="0"/>
          </a:p>
        </p:txBody>
      </p:sp>
      <p:sp>
        <p:nvSpPr>
          <p:cNvPr id="81" name="Text 79"/>
          <p:cNvSpPr/>
          <p:nvPr/>
        </p:nvSpPr>
        <p:spPr>
          <a:xfrm>
            <a:off x="10515600" y="6071616"/>
            <a:ext cx="868680" cy="420624"/>
          </a:xfrm>
          <a:prstGeom prst="rect">
            <a:avLst/>
          </a:prstGeom>
          <a:noFill/>
          <a:ln/>
        </p:spPr>
        <p:txBody>
          <a:bodyPr wrap="square" lIns="0" tIns="0" rIns="0" bIns="0" rtlCol="0" anchor="ctr"/>
          <a:lstStyle/>
          <a:p>
            <a:pPr algn="ctr" indent="0" marL="0">
              <a:buNone/>
            </a:pPr>
            <a:r>
              <a:rPr lang="en-US" sz="1300" b="1" dirty="0">
                <a:solidFill>
                  <a:srgbClr val="F0B429"/>
                </a:solidFill>
                <a:latin typeface="Cambria" pitchFamily="34" charset="0"/>
                <a:ea typeface="Cambria" pitchFamily="34" charset="-122"/>
                <a:cs typeface="Cambria" pitchFamily="34" charset="-120"/>
              </a:rPr>
              <a:t>9×</a:t>
            </a:r>
            <a:endParaRPr lang="en-US" sz="1300" dirty="0"/>
          </a:p>
        </p:txBody>
      </p:sp>
      <p:sp>
        <p:nvSpPr>
          <p:cNvPr id="82" name="Shape 80"/>
          <p:cNvSpPr/>
          <p:nvPr/>
        </p:nvSpPr>
        <p:spPr>
          <a:xfrm>
            <a:off x="640080" y="6419088"/>
            <a:ext cx="10607040" cy="384048"/>
          </a:xfrm>
          <a:prstGeom prst="roundRect">
            <a:avLst>
              <a:gd name="adj" fmla="val 23810"/>
            </a:avLst>
          </a:prstGeom>
          <a:solidFill>
            <a:srgbClr val="E8F4EC"/>
          </a:solidFill>
          <a:ln/>
        </p:spPr>
      </p:sp>
      <p:sp>
        <p:nvSpPr>
          <p:cNvPr id="83" name="Text 81"/>
          <p:cNvSpPr/>
          <p:nvPr/>
        </p:nvSpPr>
        <p:spPr>
          <a:xfrm>
            <a:off x="877824" y="6419088"/>
            <a:ext cx="10149840" cy="384048"/>
          </a:xfrm>
          <a:prstGeom prst="rect">
            <a:avLst/>
          </a:prstGeom>
          <a:noFill/>
          <a:ln/>
        </p:spPr>
        <p:txBody>
          <a:bodyPr wrap="square" lIns="0" tIns="0" rIns="0" bIns="0" rtlCol="0" anchor="ctr"/>
          <a:lstStyle/>
          <a:p>
            <a:pPr indent="0" marL="0">
              <a:lnSpc>
                <a:spcPts val="1100"/>
              </a:lnSpc>
              <a:buNone/>
            </a:pPr>
            <a:r>
              <a:rPr lang="en-US" sz="900" b="1" dirty="0">
                <a:solidFill>
                  <a:srgbClr val="1F4A33"/>
                </a:solidFill>
                <a:latin typeface="Calibri" pitchFamily="34" charset="0"/>
                <a:ea typeface="Calibri" pitchFamily="34" charset="-122"/>
                <a:cs typeface="Calibri" pitchFamily="34" charset="-120"/>
              </a:rPr>
              <a:t>The rule these have to clear:  </a:t>
            </a:r>
            <a:pPr indent="0" marL="0">
              <a:lnSpc>
                <a:spcPts val="1100"/>
              </a:lnSpc>
              <a:buNone/>
            </a:pPr>
            <a:r>
              <a:rPr lang="en-US" sz="900" dirty="0">
                <a:solidFill>
                  <a:srgbClr val="1F4A33"/>
                </a:solidFill>
                <a:latin typeface="Calibri" pitchFamily="34" charset="0"/>
                <a:ea typeface="Calibri" pitchFamily="34" charset="-122"/>
                <a:cs typeface="Calibri" pitchFamily="34" charset="-120"/>
              </a:rPr>
              <a:t>an unlock cost is paid out of the PRIOR year’s profit, never out of a budget. $93k opens all seven — which the base case cannot afford until Year 3, so the top two go first and fund the rest. That ordering is why school districts, the most impressive line on this slide, is also the last one we should touch.</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PARTNERS · NEEDS VERIFICATION</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Who we would actually call</a:t>
            </a:r>
            <a:endParaRPr lang="en-US" sz="2900" dirty="0"/>
          </a:p>
        </p:txBody>
      </p:sp>
      <p:sp>
        <p:nvSpPr>
          <p:cNvPr id="4" name="Text 2"/>
          <p:cNvSpPr/>
          <p:nvPr/>
        </p:nvSpPr>
        <p:spPr>
          <a:xfrm>
            <a:off x="640080" y="1408176"/>
            <a:ext cx="10607040" cy="457200"/>
          </a:xfrm>
          <a:prstGeom prst="rect">
            <a:avLst/>
          </a:prstGeom>
          <a:noFill/>
          <a:ln/>
        </p:spPr>
        <p:txBody>
          <a:bodyPr wrap="square" lIns="0" tIns="0" rIns="0" bIns="0" rtlCol="0" anchor="ctr"/>
          <a:lstStyle/>
          <a:p>
            <a:pPr indent="0" marL="0">
              <a:lnSpc>
                <a:spcPts val="1600"/>
              </a:lnSpc>
              <a:buNone/>
            </a:pPr>
            <a:r>
              <a:rPr lang="en-US" sz="1350" dirty="0">
                <a:solidFill>
                  <a:srgbClr val="7A7291"/>
                </a:solidFill>
                <a:latin typeface="Calibri" pitchFamily="34" charset="0"/>
                <a:ea typeface="Calibri" pitchFamily="34" charset="-122"/>
                <a:cs typeface="Calibri" pitchFamily="34" charset="-120"/>
              </a:rPr>
              <a:t>Four networks that already gather our families in one place, so we rent an audience instead of buying one. The app already ships North South Foundation’s own word lists — we arrive built to their syllabus.</a:t>
            </a:r>
            <a:endParaRPr lang="en-US" sz="1350" dirty="0"/>
          </a:p>
        </p:txBody>
      </p:sp>
      <p:sp>
        <p:nvSpPr>
          <p:cNvPr id="5" name="Shape 3"/>
          <p:cNvSpPr/>
          <p:nvPr/>
        </p:nvSpPr>
        <p:spPr>
          <a:xfrm>
            <a:off x="640080" y="1956816"/>
            <a:ext cx="2523744" cy="2212848"/>
          </a:xfrm>
          <a:prstGeom prst="roundRect">
            <a:avLst>
              <a:gd name="adj" fmla="val 4959"/>
            </a:avLst>
          </a:prstGeom>
          <a:solidFill>
            <a:srgbClr val="EFEBF8"/>
          </a:solidFill>
          <a:ln/>
        </p:spPr>
      </p:sp>
      <p:sp>
        <p:nvSpPr>
          <p:cNvPr id="6" name="Shape 4"/>
          <p:cNvSpPr/>
          <p:nvPr/>
        </p:nvSpPr>
        <p:spPr>
          <a:xfrm>
            <a:off x="640080" y="1956816"/>
            <a:ext cx="2523744" cy="256032"/>
          </a:xfrm>
          <a:prstGeom prst="roundRect">
            <a:avLst>
              <a:gd name="adj" fmla="val 42857"/>
            </a:avLst>
          </a:prstGeom>
          <a:solidFill>
            <a:srgbClr val="178A4C"/>
          </a:solidFill>
          <a:ln/>
        </p:spPr>
      </p:sp>
      <p:sp>
        <p:nvSpPr>
          <p:cNvPr id="7" name="Text 5"/>
          <p:cNvSpPr/>
          <p:nvPr/>
        </p:nvSpPr>
        <p:spPr>
          <a:xfrm>
            <a:off x="64008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BEE &amp; DIASPORA</a:t>
            </a:r>
            <a:endParaRPr lang="en-US" sz="800" dirty="0"/>
          </a:p>
        </p:txBody>
      </p:sp>
      <p:sp>
        <p:nvSpPr>
          <p:cNvPr id="8" name="Text 6"/>
          <p:cNvSpPr/>
          <p:nvPr/>
        </p:nvSpPr>
        <p:spPr>
          <a:xfrm>
            <a:off x="78638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The warmest room we could walk into</a:t>
            </a:r>
            <a:endParaRPr lang="en-US" sz="750" dirty="0"/>
          </a:p>
        </p:txBody>
      </p:sp>
      <p:sp>
        <p:nvSpPr>
          <p:cNvPr id="9" name="Text 7"/>
          <p:cNvSpPr/>
          <p:nvPr/>
        </p:nvSpPr>
        <p:spPr>
          <a:xfrm>
            <a:off x="78638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North South Foundation</a:t>
            </a:r>
            <a:endParaRPr lang="en-US" sz="900" dirty="0"/>
          </a:p>
        </p:txBody>
      </p:sp>
      <p:sp>
        <p:nvSpPr>
          <p:cNvPr id="10" name="Text 8"/>
          <p:cNvSpPr/>
          <p:nvPr/>
        </p:nvSpPr>
        <p:spPr>
          <a:xfrm>
            <a:off x="78638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~100 US chapters; regional and national contests for Indian-American children</a:t>
            </a:r>
            <a:endParaRPr lang="en-US" sz="700" dirty="0"/>
          </a:p>
        </p:txBody>
      </p:sp>
      <p:sp>
        <p:nvSpPr>
          <p:cNvPr id="11" name="Text 9"/>
          <p:cNvSpPr/>
          <p:nvPr/>
        </p:nvSpPr>
        <p:spPr>
          <a:xfrm>
            <a:off x="78638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South Asian Spelling Bee</a:t>
            </a:r>
            <a:endParaRPr lang="en-US" sz="900" dirty="0"/>
          </a:p>
        </p:txBody>
      </p:sp>
      <p:sp>
        <p:nvSpPr>
          <p:cNvPr id="12" name="Text 10"/>
          <p:cNvSpPr/>
          <p:nvPr/>
        </p:nvSpPr>
        <p:spPr>
          <a:xfrm>
            <a:off x="78638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National competition, exactly our demographic</a:t>
            </a:r>
            <a:endParaRPr lang="en-US" sz="700" dirty="0"/>
          </a:p>
        </p:txBody>
      </p:sp>
      <p:sp>
        <p:nvSpPr>
          <p:cNvPr id="13" name="Text 11"/>
          <p:cNvSpPr/>
          <p:nvPr/>
        </p:nvSpPr>
        <p:spPr>
          <a:xfrm>
            <a:off x="78638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Scripps National Spelling Bee</a:t>
            </a:r>
            <a:endParaRPr lang="en-US" sz="900" dirty="0"/>
          </a:p>
        </p:txBody>
      </p:sp>
      <p:sp>
        <p:nvSpPr>
          <p:cNvPr id="14" name="Text 12"/>
          <p:cNvSpPr/>
          <p:nvPr/>
        </p:nvSpPr>
        <p:spPr>
          <a:xfrm>
            <a:off x="78638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apex — but ships Word Club, so partner and rival at once</a:t>
            </a:r>
            <a:endParaRPr lang="en-US" sz="700" dirty="0"/>
          </a:p>
        </p:txBody>
      </p:sp>
      <p:sp>
        <p:nvSpPr>
          <p:cNvPr id="15" name="Text 13"/>
          <p:cNvSpPr/>
          <p:nvPr/>
        </p:nvSpPr>
        <p:spPr>
          <a:xfrm>
            <a:off x="78638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SPELLPundit · Hexco</a:t>
            </a:r>
            <a:endParaRPr lang="en-US" sz="900" dirty="0"/>
          </a:p>
        </p:txBody>
      </p:sp>
      <p:sp>
        <p:nvSpPr>
          <p:cNvPr id="16" name="Text 14"/>
          <p:cNvSpPr/>
          <p:nvPr/>
        </p:nvSpPr>
        <p:spPr>
          <a:xfrm>
            <a:off x="78638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Direct competitors. Partner, or the eventual acquirer</a:t>
            </a:r>
            <a:endParaRPr lang="en-US" sz="700" dirty="0"/>
          </a:p>
        </p:txBody>
      </p:sp>
      <p:sp>
        <p:nvSpPr>
          <p:cNvPr id="17" name="Shape 15"/>
          <p:cNvSpPr/>
          <p:nvPr/>
        </p:nvSpPr>
        <p:spPr>
          <a:xfrm>
            <a:off x="3337560" y="1956816"/>
            <a:ext cx="2523744" cy="2212848"/>
          </a:xfrm>
          <a:prstGeom prst="roundRect">
            <a:avLst>
              <a:gd name="adj" fmla="val 4959"/>
            </a:avLst>
          </a:prstGeom>
          <a:solidFill>
            <a:srgbClr val="EFEBF8"/>
          </a:solidFill>
          <a:ln/>
        </p:spPr>
      </p:sp>
      <p:sp>
        <p:nvSpPr>
          <p:cNvPr id="18" name="Shape 16"/>
          <p:cNvSpPr/>
          <p:nvPr/>
        </p:nvSpPr>
        <p:spPr>
          <a:xfrm>
            <a:off x="3337560" y="1956816"/>
            <a:ext cx="2523744" cy="256032"/>
          </a:xfrm>
          <a:prstGeom prst="roundRect">
            <a:avLst>
              <a:gd name="adj" fmla="val 42857"/>
            </a:avLst>
          </a:prstGeom>
          <a:solidFill>
            <a:srgbClr val="6C4FE0"/>
          </a:solidFill>
          <a:ln/>
        </p:spPr>
      </p:sp>
      <p:sp>
        <p:nvSpPr>
          <p:cNvPr id="19" name="Text 17"/>
          <p:cNvSpPr/>
          <p:nvPr/>
        </p:nvSpPr>
        <p:spPr>
          <a:xfrm>
            <a:off x="333756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TUTOR &amp; TEACHER</a:t>
            </a:r>
            <a:endParaRPr lang="en-US" sz="800" dirty="0"/>
          </a:p>
        </p:txBody>
      </p:sp>
      <p:sp>
        <p:nvSpPr>
          <p:cNvPr id="20" name="Text 18"/>
          <p:cNvSpPr/>
          <p:nvPr/>
        </p:nvSpPr>
        <p:spPr>
          <a:xfrm>
            <a:off x="348386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Distribution that already charges by the hour</a:t>
            </a:r>
            <a:endParaRPr lang="en-US" sz="750" dirty="0"/>
          </a:p>
        </p:txBody>
      </p:sp>
      <p:sp>
        <p:nvSpPr>
          <p:cNvPr id="21" name="Text 19"/>
          <p:cNvSpPr/>
          <p:nvPr/>
        </p:nvSpPr>
        <p:spPr>
          <a:xfrm>
            <a:off x="348386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Outschool</a:t>
            </a:r>
            <a:endParaRPr lang="en-US" sz="900" dirty="0"/>
          </a:p>
        </p:txBody>
      </p:sp>
      <p:sp>
        <p:nvSpPr>
          <p:cNvPr id="22" name="Text 20"/>
          <p:cNvSpPr/>
          <p:nvPr/>
        </p:nvSpPr>
        <p:spPr>
          <a:xfrm>
            <a:off x="348386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Live small-group marketplace — the natural shelf for Business cohorts</a:t>
            </a:r>
            <a:endParaRPr lang="en-US" sz="700" dirty="0"/>
          </a:p>
        </p:txBody>
      </p:sp>
      <p:sp>
        <p:nvSpPr>
          <p:cNvPr id="23" name="Text 21"/>
          <p:cNvSpPr/>
          <p:nvPr/>
        </p:nvSpPr>
        <p:spPr>
          <a:xfrm>
            <a:off x="348386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Varsity Tutors · Wyzant</a:t>
            </a:r>
            <a:endParaRPr lang="en-US" sz="900" dirty="0"/>
          </a:p>
        </p:txBody>
      </p:sp>
      <p:sp>
        <p:nvSpPr>
          <p:cNvPr id="24" name="Text 22"/>
          <p:cNvSpPr/>
          <p:nvPr/>
        </p:nvSpPr>
        <p:spPr>
          <a:xfrm>
            <a:off x="348386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Large US networks, both with a schools arm</a:t>
            </a:r>
            <a:endParaRPr lang="en-US" sz="700" dirty="0"/>
          </a:p>
        </p:txBody>
      </p:sp>
      <p:sp>
        <p:nvSpPr>
          <p:cNvPr id="25" name="Text 23"/>
          <p:cNvSpPr/>
          <p:nvPr/>
        </p:nvSpPr>
        <p:spPr>
          <a:xfrm>
            <a:off x="348386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Kumon · Mathnasium · Sylvan</a:t>
            </a:r>
            <a:endParaRPr lang="en-US" sz="900" dirty="0"/>
          </a:p>
        </p:txBody>
      </p:sp>
      <p:sp>
        <p:nvSpPr>
          <p:cNvPr id="26" name="Text 24"/>
          <p:cNvSpPr/>
          <p:nvPr/>
        </p:nvSpPr>
        <p:spPr>
          <a:xfrm>
            <a:off x="348386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Franchise centres, heavy diaspora footfall. Sell as an add-on</a:t>
            </a:r>
            <a:endParaRPr lang="en-US" sz="700" dirty="0"/>
          </a:p>
        </p:txBody>
      </p:sp>
      <p:sp>
        <p:nvSpPr>
          <p:cNvPr id="27" name="Text 25"/>
          <p:cNvSpPr/>
          <p:nvPr/>
        </p:nvSpPr>
        <p:spPr>
          <a:xfrm>
            <a:off x="348386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UK: Explore Learning</a:t>
            </a:r>
            <a:endParaRPr lang="en-US" sz="900" dirty="0"/>
          </a:p>
        </p:txBody>
      </p:sp>
      <p:sp>
        <p:nvSpPr>
          <p:cNvPr id="28" name="Text 26"/>
          <p:cNvSpPr/>
          <p:nvPr/>
        </p:nvSpPr>
        <p:spPr>
          <a:xfrm>
            <a:off x="348386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Third Space Learning sells tutoring INTO schools — a rail, not a rival</a:t>
            </a:r>
            <a:endParaRPr lang="en-US" sz="700" dirty="0"/>
          </a:p>
        </p:txBody>
      </p:sp>
      <p:sp>
        <p:nvSpPr>
          <p:cNvPr id="29" name="Shape 27"/>
          <p:cNvSpPr/>
          <p:nvPr/>
        </p:nvSpPr>
        <p:spPr>
          <a:xfrm>
            <a:off x="6035040" y="1956816"/>
            <a:ext cx="2523744" cy="2212848"/>
          </a:xfrm>
          <a:prstGeom prst="roundRect">
            <a:avLst>
              <a:gd name="adj" fmla="val 4959"/>
            </a:avLst>
          </a:prstGeom>
          <a:solidFill>
            <a:srgbClr val="EFEBF8"/>
          </a:solidFill>
          <a:ln/>
        </p:spPr>
      </p:sp>
      <p:sp>
        <p:nvSpPr>
          <p:cNvPr id="30" name="Shape 28"/>
          <p:cNvSpPr/>
          <p:nvPr/>
        </p:nvSpPr>
        <p:spPr>
          <a:xfrm>
            <a:off x="6035040" y="1956816"/>
            <a:ext cx="2523744" cy="256032"/>
          </a:xfrm>
          <a:prstGeom prst="roundRect">
            <a:avLst>
              <a:gd name="adj" fmla="val 42857"/>
            </a:avLst>
          </a:prstGeom>
          <a:solidFill>
            <a:srgbClr val="F0B429"/>
          </a:solidFill>
          <a:ln/>
        </p:spPr>
      </p:sp>
      <p:sp>
        <p:nvSpPr>
          <p:cNvPr id="31" name="Text 29"/>
          <p:cNvSpPr/>
          <p:nvPr/>
        </p:nvSpPr>
        <p:spPr>
          <a:xfrm>
            <a:off x="603504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241E33"/>
                </a:solidFill>
                <a:latin typeface="Calibri" pitchFamily="34" charset="0"/>
                <a:ea typeface="Calibri" pitchFamily="34" charset="-122"/>
                <a:cs typeface="Calibri" pitchFamily="34" charset="-120"/>
              </a:rPr>
              <a:t>WEEKEND &amp; HERITAGE</a:t>
            </a:r>
            <a:endParaRPr lang="en-US" sz="800" dirty="0"/>
          </a:p>
        </p:txBody>
      </p:sp>
      <p:sp>
        <p:nvSpPr>
          <p:cNvPr id="32" name="Text 30"/>
          <p:cNvSpPr/>
          <p:nvPr/>
        </p:nvSpPr>
        <p:spPr>
          <a:xfrm>
            <a:off x="618134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Where Bhasha belongs, and nobody is serving it</a:t>
            </a:r>
            <a:endParaRPr lang="en-US" sz="750" dirty="0"/>
          </a:p>
        </p:txBody>
      </p:sp>
      <p:sp>
        <p:nvSpPr>
          <p:cNvPr id="33" name="Text 31"/>
          <p:cNvSpPr/>
          <p:nvPr/>
        </p:nvSpPr>
        <p:spPr>
          <a:xfrm>
            <a:off x="618134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Chinmaya Mission · BAPS</a:t>
            </a:r>
            <a:endParaRPr lang="en-US" sz="900" dirty="0"/>
          </a:p>
        </p:txBody>
      </p:sp>
      <p:sp>
        <p:nvSpPr>
          <p:cNvPr id="34" name="Text 32"/>
          <p:cNvSpPr/>
          <p:nvPr/>
        </p:nvSpPr>
        <p:spPr>
          <a:xfrm>
            <a:off x="618134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Bala Vihar and Bal Mandal run weekly classes at scale</a:t>
            </a:r>
            <a:endParaRPr lang="en-US" sz="700" dirty="0"/>
          </a:p>
        </p:txBody>
      </p:sp>
      <p:sp>
        <p:nvSpPr>
          <p:cNvPr id="35" name="Text 33"/>
          <p:cNvSpPr/>
          <p:nvPr/>
        </p:nvSpPr>
        <p:spPr>
          <a:xfrm>
            <a:off x="618134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Language academies</a:t>
            </a:r>
            <a:endParaRPr lang="en-US" sz="900" dirty="0"/>
          </a:p>
        </p:txBody>
      </p:sp>
      <p:sp>
        <p:nvSpPr>
          <p:cNvPr id="36" name="Text 34"/>
          <p:cNvSpPr/>
          <p:nvPr/>
        </p:nvSpPr>
        <p:spPr>
          <a:xfrm>
            <a:off x="618134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Tamil, Telugu, Gujarati, Punjabi and Bengali schools across North America</a:t>
            </a:r>
            <a:endParaRPr lang="en-US" sz="700" dirty="0"/>
          </a:p>
        </p:txBody>
      </p:sp>
      <p:sp>
        <p:nvSpPr>
          <p:cNvPr id="37" name="Text 35"/>
          <p:cNvSpPr/>
          <p:nvPr/>
        </p:nvSpPr>
        <p:spPr>
          <a:xfrm>
            <a:off x="618134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TANA · ATA · community bodies</a:t>
            </a:r>
            <a:endParaRPr lang="en-US" sz="900" dirty="0"/>
          </a:p>
        </p:txBody>
      </p:sp>
      <p:sp>
        <p:nvSpPr>
          <p:cNvPr id="38" name="Text 36"/>
          <p:cNvSpPr/>
          <p:nvPr/>
        </p:nvSpPr>
        <p:spPr>
          <a:xfrm>
            <a:off x="618134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Regional associations with conference stages and mailing lists</a:t>
            </a:r>
            <a:endParaRPr lang="en-US" sz="700" dirty="0"/>
          </a:p>
        </p:txBody>
      </p:sp>
      <p:sp>
        <p:nvSpPr>
          <p:cNvPr id="39" name="Text 37"/>
          <p:cNvSpPr/>
          <p:nvPr/>
        </p:nvSpPr>
        <p:spPr>
          <a:xfrm>
            <a:off x="618134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Temple &amp; gurdwara networks</a:t>
            </a:r>
            <a:endParaRPr lang="en-US" sz="900" dirty="0"/>
          </a:p>
        </p:txBody>
      </p:sp>
      <p:sp>
        <p:nvSpPr>
          <p:cNvPr id="40" name="Text 38"/>
          <p:cNvSpPr/>
          <p:nvPr/>
        </p:nvSpPr>
        <p:spPr>
          <a:xfrm>
            <a:off x="618134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most trusted room, and the hardest to enter on a sales call</a:t>
            </a:r>
            <a:endParaRPr lang="en-US" sz="700" dirty="0"/>
          </a:p>
        </p:txBody>
      </p:sp>
      <p:sp>
        <p:nvSpPr>
          <p:cNvPr id="41" name="Shape 39"/>
          <p:cNvSpPr/>
          <p:nvPr/>
        </p:nvSpPr>
        <p:spPr>
          <a:xfrm>
            <a:off x="8732520" y="1956816"/>
            <a:ext cx="2523744" cy="2212848"/>
          </a:xfrm>
          <a:prstGeom prst="roundRect">
            <a:avLst>
              <a:gd name="adj" fmla="val 4959"/>
            </a:avLst>
          </a:prstGeom>
          <a:solidFill>
            <a:srgbClr val="EFEBF8"/>
          </a:solidFill>
          <a:ln/>
        </p:spPr>
      </p:sp>
      <p:sp>
        <p:nvSpPr>
          <p:cNvPr id="42" name="Shape 40"/>
          <p:cNvSpPr/>
          <p:nvPr/>
        </p:nvSpPr>
        <p:spPr>
          <a:xfrm>
            <a:off x="8732520" y="1956816"/>
            <a:ext cx="2523744" cy="256032"/>
          </a:xfrm>
          <a:prstGeom prst="roundRect">
            <a:avLst>
              <a:gd name="adj" fmla="val 42857"/>
            </a:avLst>
          </a:prstGeom>
          <a:solidFill>
            <a:srgbClr val="C4453C"/>
          </a:solidFill>
          <a:ln/>
        </p:spPr>
      </p:sp>
      <p:sp>
        <p:nvSpPr>
          <p:cNvPr id="43" name="Text 41"/>
          <p:cNvSpPr/>
          <p:nvPr/>
        </p:nvSpPr>
        <p:spPr>
          <a:xfrm>
            <a:off x="873252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SCHOOL &amp; EMPLOYER RAILS</a:t>
            </a:r>
            <a:endParaRPr lang="en-US" sz="800" dirty="0"/>
          </a:p>
        </p:txBody>
      </p:sp>
      <p:sp>
        <p:nvSpPr>
          <p:cNvPr id="44" name="Text 42"/>
          <p:cNvSpPr/>
          <p:nvPr/>
        </p:nvSpPr>
        <p:spPr>
          <a:xfrm>
            <a:off x="887882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Procurement, not persuasion</a:t>
            </a:r>
            <a:endParaRPr lang="en-US" sz="750" dirty="0"/>
          </a:p>
        </p:txBody>
      </p:sp>
      <p:sp>
        <p:nvSpPr>
          <p:cNvPr id="45" name="Text 43"/>
          <p:cNvSpPr/>
          <p:nvPr/>
        </p:nvSpPr>
        <p:spPr>
          <a:xfrm>
            <a:off x="887882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Clever · ClassLink</a:t>
            </a:r>
            <a:endParaRPr lang="en-US" sz="900" dirty="0"/>
          </a:p>
        </p:txBody>
      </p:sp>
      <p:sp>
        <p:nvSpPr>
          <p:cNvPr id="46" name="Text 44"/>
          <p:cNvSpPr/>
          <p:nvPr/>
        </p:nvSpPr>
        <p:spPr>
          <a:xfrm>
            <a:off x="887882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Rostering. Without one of these a district cannot deploy us</a:t>
            </a:r>
            <a:endParaRPr lang="en-US" sz="700" dirty="0"/>
          </a:p>
        </p:txBody>
      </p:sp>
      <p:sp>
        <p:nvSpPr>
          <p:cNvPr id="47" name="Text 45"/>
          <p:cNvSpPr/>
          <p:nvPr/>
        </p:nvSpPr>
        <p:spPr>
          <a:xfrm>
            <a:off x="887882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SDPC · iKeepSafe</a:t>
            </a:r>
            <a:endParaRPr lang="en-US" sz="900" dirty="0"/>
          </a:p>
        </p:txBody>
      </p:sp>
      <p:sp>
        <p:nvSpPr>
          <p:cNvPr id="48" name="Text 46"/>
          <p:cNvSpPr/>
          <p:nvPr/>
        </p:nvSpPr>
        <p:spPr>
          <a:xfrm>
            <a:off x="887882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data agreement and COPPA/FERPA certification that gate every district</a:t>
            </a:r>
            <a:endParaRPr lang="en-US" sz="700" dirty="0"/>
          </a:p>
        </p:txBody>
      </p:sp>
      <p:sp>
        <p:nvSpPr>
          <p:cNvPr id="49" name="Text 47"/>
          <p:cNvSpPr/>
          <p:nvPr/>
        </p:nvSpPr>
        <p:spPr>
          <a:xfrm>
            <a:off x="887882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First districts to try</a:t>
            </a:r>
            <a:endParaRPr lang="en-US" sz="900" dirty="0"/>
          </a:p>
        </p:txBody>
      </p:sp>
      <p:sp>
        <p:nvSpPr>
          <p:cNvPr id="50" name="Text 48"/>
          <p:cNvSpPr/>
          <p:nvPr/>
        </p:nvSpPr>
        <p:spPr>
          <a:xfrm>
            <a:off x="887882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Fremont, Cupertino, Plano, Frisco, Naperville, Edison, Bellevue</a:t>
            </a:r>
            <a:endParaRPr lang="en-US" sz="700" dirty="0"/>
          </a:p>
        </p:txBody>
      </p:sp>
      <p:sp>
        <p:nvSpPr>
          <p:cNvPr id="51" name="Text 49"/>
          <p:cNvSpPr/>
          <p:nvPr/>
        </p:nvSpPr>
        <p:spPr>
          <a:xfrm>
            <a:off x="887882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Employer benefits teams</a:t>
            </a:r>
            <a:endParaRPr lang="en-US" sz="900" dirty="0"/>
          </a:p>
        </p:txBody>
      </p:sp>
      <p:sp>
        <p:nvSpPr>
          <p:cNvPr id="52" name="Text 50"/>
          <p:cNvSpPr/>
          <p:nvPr/>
        </p:nvSpPr>
        <p:spPr>
          <a:xfrm>
            <a:off x="887882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Microsoft, Google, Deloitte, Infosys, TCS — family learning stipends</a:t>
            </a:r>
            <a:endParaRPr lang="en-US" sz="700" dirty="0"/>
          </a:p>
        </p:txBody>
      </p:sp>
      <p:sp>
        <p:nvSpPr>
          <p:cNvPr id="53" name="Text 51"/>
          <p:cNvSpPr/>
          <p:nvPr/>
        </p:nvSpPr>
        <p:spPr>
          <a:xfrm>
            <a:off x="640080" y="4279392"/>
            <a:ext cx="4572000" cy="274320"/>
          </a:xfrm>
          <a:prstGeom prst="rect">
            <a:avLst/>
          </a:prstGeom>
          <a:noFill/>
          <a:ln/>
        </p:spPr>
        <p:txBody>
          <a:bodyPr wrap="square" lIns="0" tIns="0" rIns="0" bIns="0" rtlCol="0" anchor="ctr"/>
          <a:lstStyle/>
          <a:p>
            <a:pPr indent="0" marL="0">
              <a:buNone/>
            </a:pPr>
            <a:r>
              <a:rPr lang="en-US" sz="1500" b="1" dirty="0">
                <a:solidFill>
                  <a:srgbClr val="241E33"/>
                </a:solidFill>
                <a:latin typeface="Cambria" pitchFamily="34" charset="0"/>
                <a:ea typeface="Cambria" pitchFamily="34" charset="-122"/>
                <a:cs typeface="Cambria" pitchFamily="34" charset="-120"/>
              </a:rPr>
              <a:t>Three flagship programmes to take to them</a:t>
            </a:r>
            <a:endParaRPr lang="en-US" sz="1500" dirty="0"/>
          </a:p>
        </p:txBody>
      </p:sp>
      <p:sp>
        <p:nvSpPr>
          <p:cNvPr id="54" name="Text 52"/>
          <p:cNvSpPr/>
          <p:nvPr/>
        </p:nvSpPr>
        <p:spPr>
          <a:xfrm>
            <a:off x="5394960" y="4315968"/>
            <a:ext cx="5852160" cy="237744"/>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Each sells a whole thing a network can run, not a licence it has to explain.</a:t>
            </a:r>
            <a:endParaRPr lang="en-US" sz="950" dirty="0"/>
          </a:p>
        </p:txBody>
      </p:sp>
      <p:sp>
        <p:nvSpPr>
          <p:cNvPr id="55" name="Shape 53"/>
          <p:cNvSpPr/>
          <p:nvPr/>
        </p:nvSpPr>
        <p:spPr>
          <a:xfrm>
            <a:off x="640080" y="4608576"/>
            <a:ext cx="3429000" cy="1170432"/>
          </a:xfrm>
          <a:prstGeom prst="roundRect">
            <a:avLst>
              <a:gd name="adj" fmla="val 9375"/>
            </a:avLst>
          </a:prstGeom>
          <a:solidFill>
            <a:srgbClr val="EFEBF8"/>
          </a:solidFill>
          <a:ln/>
        </p:spPr>
      </p:sp>
      <p:sp>
        <p:nvSpPr>
          <p:cNvPr id="56" name="Shape 54"/>
          <p:cNvSpPr/>
          <p:nvPr/>
        </p:nvSpPr>
        <p:spPr>
          <a:xfrm>
            <a:off x="640080" y="4608576"/>
            <a:ext cx="64008" cy="1170432"/>
          </a:xfrm>
          <a:prstGeom prst="rect">
            <a:avLst/>
          </a:prstGeom>
          <a:solidFill>
            <a:srgbClr val="178A4C"/>
          </a:solidFill>
          <a:ln/>
        </p:spPr>
      </p:sp>
      <p:sp>
        <p:nvSpPr>
          <p:cNvPr id="57" name="Text 55"/>
          <p:cNvSpPr/>
          <p:nvPr/>
        </p:nvSpPr>
        <p:spPr>
          <a:xfrm>
            <a:off x="859536" y="4690872"/>
            <a:ext cx="3063240" cy="219456"/>
          </a:xfrm>
          <a:prstGeom prst="rect">
            <a:avLst/>
          </a:prstGeom>
          <a:noFill/>
          <a:ln/>
        </p:spPr>
        <p:txBody>
          <a:bodyPr wrap="square" lIns="0" tIns="0" rIns="0" bIns="0" rtlCol="0" anchor="ctr"/>
          <a:lstStyle/>
          <a:p>
            <a:pPr indent="0" marL="0">
              <a:buNone/>
            </a:pPr>
            <a:r>
              <a:rPr lang="en-US" sz="850" b="1" spc="120" kern="0" dirty="0">
                <a:solidFill>
                  <a:srgbClr val="178A4C"/>
                </a:solidFill>
                <a:latin typeface="Calibri" pitchFamily="34" charset="0"/>
                <a:ea typeface="Calibri" pitchFamily="34" charset="-122"/>
                <a:cs typeface="Calibri" pitchFamily="34" charset="-120"/>
              </a:rPr>
              <a:t>BEE SEASON IN A BOX</a:t>
            </a:r>
            <a:endParaRPr lang="en-US" sz="850" dirty="0"/>
          </a:p>
        </p:txBody>
      </p:sp>
      <p:sp>
        <p:nvSpPr>
          <p:cNvPr id="58" name="Text 56"/>
          <p:cNvSpPr/>
          <p:nvPr/>
        </p:nvSpPr>
        <p:spPr>
          <a:xfrm>
            <a:off x="85953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A chapter or district runs its own bee</a:t>
            </a:r>
            <a:endParaRPr lang="en-US" sz="1100" dirty="0"/>
          </a:p>
        </p:txBody>
      </p:sp>
      <p:sp>
        <p:nvSpPr>
          <p:cNvPr id="59" name="Text 57"/>
          <p:cNvSpPr/>
          <p:nvPr/>
        </p:nvSpPr>
        <p:spPr>
          <a:xfrm>
            <a:off x="85953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Graded word lists, pronouncer audio, judge sheets, a live scoreboard. The 42,483 recorded clips mean we can already pronounce every word — the single hardest part of running a bee, solved before we ask.</a:t>
            </a:r>
            <a:endParaRPr lang="en-US" sz="800" dirty="0"/>
          </a:p>
        </p:txBody>
      </p:sp>
      <p:sp>
        <p:nvSpPr>
          <p:cNvPr id="60" name="Shape 58"/>
          <p:cNvSpPr/>
          <p:nvPr/>
        </p:nvSpPr>
        <p:spPr>
          <a:xfrm>
            <a:off x="4251960" y="4608576"/>
            <a:ext cx="3429000" cy="1170432"/>
          </a:xfrm>
          <a:prstGeom prst="roundRect">
            <a:avLst>
              <a:gd name="adj" fmla="val 9375"/>
            </a:avLst>
          </a:prstGeom>
          <a:solidFill>
            <a:srgbClr val="EFEBF8"/>
          </a:solidFill>
          <a:ln/>
        </p:spPr>
      </p:sp>
      <p:sp>
        <p:nvSpPr>
          <p:cNvPr id="61" name="Shape 59"/>
          <p:cNvSpPr/>
          <p:nvPr/>
        </p:nvSpPr>
        <p:spPr>
          <a:xfrm>
            <a:off x="4251960" y="4608576"/>
            <a:ext cx="64008" cy="1170432"/>
          </a:xfrm>
          <a:prstGeom prst="rect">
            <a:avLst/>
          </a:prstGeom>
          <a:solidFill>
            <a:srgbClr val="F0B429"/>
          </a:solidFill>
          <a:ln/>
        </p:spPr>
      </p:sp>
      <p:sp>
        <p:nvSpPr>
          <p:cNvPr id="62" name="Text 60"/>
          <p:cNvSpPr/>
          <p:nvPr/>
        </p:nvSpPr>
        <p:spPr>
          <a:xfrm>
            <a:off x="4471416" y="4690872"/>
            <a:ext cx="3063240" cy="219456"/>
          </a:xfrm>
          <a:prstGeom prst="rect">
            <a:avLst/>
          </a:prstGeom>
          <a:noFill/>
          <a:ln/>
        </p:spPr>
        <p:txBody>
          <a:bodyPr wrap="square" lIns="0" tIns="0" rIns="0" bIns="0" rtlCol="0" anchor="ctr"/>
          <a:lstStyle/>
          <a:p>
            <a:pPr indent="0" marL="0">
              <a:buNone/>
            </a:pPr>
            <a:r>
              <a:rPr lang="en-US" sz="850" b="1" spc="120" kern="0" dirty="0">
                <a:solidFill>
                  <a:srgbClr val="F0B429"/>
                </a:solidFill>
                <a:latin typeface="Calibri" pitchFamily="34" charset="0"/>
                <a:ea typeface="Calibri" pitchFamily="34" charset="-122"/>
                <a:cs typeface="Calibri" pitchFamily="34" charset="-120"/>
              </a:rPr>
              <a:t>BHASHA SATURDAY</a:t>
            </a:r>
            <a:endParaRPr lang="en-US" sz="850" dirty="0"/>
          </a:p>
        </p:txBody>
      </p:sp>
      <p:sp>
        <p:nvSpPr>
          <p:cNvPr id="63" name="Text 61"/>
          <p:cNvSpPr/>
          <p:nvPr/>
        </p:nvSpPr>
        <p:spPr>
          <a:xfrm>
            <a:off x="447141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A 30-week heritage-language track</a:t>
            </a:r>
            <a:endParaRPr lang="en-US" sz="1100" dirty="0"/>
          </a:p>
        </p:txBody>
      </p:sp>
      <p:sp>
        <p:nvSpPr>
          <p:cNvPr id="64" name="Text 62"/>
          <p:cNvSpPr/>
          <p:nvPr/>
        </p:nvSpPr>
        <p:spPr>
          <a:xfrm>
            <a:off x="447141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Cut to the rhythm of a weekend school: teacher mode, printable packs, a term that ends in something parents are invited to. Sold to a head teacher, not a procurement office.</a:t>
            </a:r>
            <a:endParaRPr lang="en-US" sz="800" dirty="0"/>
          </a:p>
        </p:txBody>
      </p:sp>
      <p:sp>
        <p:nvSpPr>
          <p:cNvPr id="65" name="Shape 63"/>
          <p:cNvSpPr/>
          <p:nvPr/>
        </p:nvSpPr>
        <p:spPr>
          <a:xfrm>
            <a:off x="7863840" y="4608576"/>
            <a:ext cx="3429000" cy="1170432"/>
          </a:xfrm>
          <a:prstGeom prst="roundRect">
            <a:avLst>
              <a:gd name="adj" fmla="val 9375"/>
            </a:avLst>
          </a:prstGeom>
          <a:solidFill>
            <a:srgbClr val="EFEBF8"/>
          </a:solidFill>
          <a:ln/>
        </p:spPr>
      </p:sp>
      <p:sp>
        <p:nvSpPr>
          <p:cNvPr id="66" name="Shape 64"/>
          <p:cNvSpPr/>
          <p:nvPr/>
        </p:nvSpPr>
        <p:spPr>
          <a:xfrm>
            <a:off x="7863840" y="4608576"/>
            <a:ext cx="64008" cy="1170432"/>
          </a:xfrm>
          <a:prstGeom prst="rect">
            <a:avLst/>
          </a:prstGeom>
          <a:solidFill>
            <a:srgbClr val="6C4FE0"/>
          </a:solidFill>
          <a:ln/>
        </p:spPr>
      </p:sp>
      <p:sp>
        <p:nvSpPr>
          <p:cNvPr id="67" name="Text 65"/>
          <p:cNvSpPr/>
          <p:nvPr/>
        </p:nvSpPr>
        <p:spPr>
          <a:xfrm>
            <a:off x="8083296" y="4690872"/>
            <a:ext cx="3063240" cy="219456"/>
          </a:xfrm>
          <a:prstGeom prst="rect">
            <a:avLst/>
          </a:prstGeom>
          <a:noFill/>
          <a:ln/>
        </p:spPr>
        <p:txBody>
          <a:bodyPr wrap="square" lIns="0" tIns="0" rIns="0" bIns="0" rtlCol="0" anchor="ctr"/>
          <a:lstStyle/>
          <a:p>
            <a:pPr indent="0" marL="0">
              <a:buNone/>
            </a:pPr>
            <a:r>
              <a:rPr lang="en-US" sz="850" b="1" spc="120" kern="0" dirty="0">
                <a:solidFill>
                  <a:srgbClr val="6C4FE0"/>
                </a:solidFill>
                <a:latin typeface="Calibri" pitchFamily="34" charset="0"/>
                <a:ea typeface="Calibri" pitchFamily="34" charset="-122"/>
                <a:cs typeface="Calibri" pitchFamily="34" charset="-120"/>
              </a:rPr>
              <a:t>FOUNDERS’ EIGHT</a:t>
            </a:r>
            <a:endParaRPr lang="en-US" sz="850" dirty="0"/>
          </a:p>
        </p:txBody>
      </p:sp>
      <p:sp>
        <p:nvSpPr>
          <p:cNvPr id="68" name="Text 66"/>
          <p:cNvSpPr/>
          <p:nvPr/>
        </p:nvSpPr>
        <p:spPr>
          <a:xfrm>
            <a:off x="808329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Bizzing Business, after school</a:t>
            </a:r>
            <a:endParaRPr lang="en-US" sz="1100" dirty="0"/>
          </a:p>
        </p:txBody>
      </p:sp>
      <p:sp>
        <p:nvSpPr>
          <p:cNvPr id="69" name="Text 67"/>
          <p:cNvSpPr/>
          <p:nvPr/>
        </p:nvSpPr>
        <p:spPr>
          <a:xfrm>
            <a:off x="808329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Eight weeks, a team, a mentor, a demo night. The highest price per family we have, and the one programme a school can put its own name on.</a:t>
            </a:r>
            <a:endParaRPr lang="en-US" sz="800" dirty="0"/>
          </a:p>
        </p:txBody>
      </p:sp>
      <p:sp>
        <p:nvSpPr>
          <p:cNvPr id="70" name="Shape 68"/>
          <p:cNvSpPr/>
          <p:nvPr/>
        </p:nvSpPr>
        <p:spPr>
          <a:xfrm>
            <a:off x="640080" y="5870448"/>
            <a:ext cx="10607040" cy="914400"/>
          </a:xfrm>
          <a:prstGeom prst="roundRect">
            <a:avLst>
              <a:gd name="adj" fmla="val 12000"/>
            </a:avLst>
          </a:prstGeom>
          <a:solidFill>
            <a:srgbClr val="FBF3E0"/>
          </a:solidFill>
          <a:ln/>
        </p:spPr>
      </p:sp>
      <p:sp>
        <p:nvSpPr>
          <p:cNvPr id="71" name="Text 69"/>
          <p:cNvSpPr/>
          <p:nvPr/>
        </p:nvSpPr>
        <p:spPr>
          <a:xfrm>
            <a:off x="896112" y="5925312"/>
            <a:ext cx="7315200" cy="237744"/>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 Every name on this slide needs verifying before anyone is contacted</a:t>
            </a:r>
            <a:endParaRPr lang="en-US" sz="1000" dirty="0"/>
          </a:p>
        </p:txBody>
      </p:sp>
      <p:sp>
        <p:nvSpPr>
          <p:cNvPr id="72" name="Text 70"/>
          <p:cNvSpPr/>
          <p:nvPr/>
        </p:nvSpPr>
        <p:spPr>
          <a:xfrm>
            <a:off x="896112" y="6126480"/>
            <a:ext cx="10094976" cy="621792"/>
          </a:xfrm>
          <a:prstGeom prst="rect">
            <a:avLst/>
          </a:prstGeom>
          <a:noFill/>
          <a:ln/>
        </p:spPr>
        <p:txBody>
          <a:bodyPr wrap="square" lIns="0" tIns="0" rIns="0" bIns="0" rtlCol="0" anchor="ctr"/>
          <a:lstStyle/>
          <a:p>
            <a:pPr indent="0" marL="0">
              <a:lnSpc>
                <a:spcPts val="1100"/>
              </a:lnSpc>
              <a:buNone/>
            </a:pPr>
            <a:r>
              <a:rPr lang="en-US" sz="900" dirty="0">
                <a:solidFill>
                  <a:srgbClr val="8A5B00"/>
                </a:solidFill>
                <a:latin typeface="Calibri" pitchFamily="34" charset="0"/>
                <a:ea typeface="Calibri" pitchFamily="34" charset="-122"/>
                <a:cs typeface="Calibri" pitchFamily="34" charset="-120"/>
              </a:rPr>
              <a:t>These organisations are named from working knowledge, not from research done today — chapter counts, programme names and even whether a body still operates all need checking. Three specific cautions. Scripps ships a competing app, so an approach there is a negotiation, not a partnership. SPELLPundit and Hexco are direct competitors before they are anything else. And in India, at least one major tutoring brand has been in serious financial distress — confirm a partner is solvent before building anything on them. Treat this slide as a research brief with a starting list, not as a contact sheet.</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006840" y="4069080"/>
            <a:ext cx="731520" cy="731520"/>
          </a:xfrm>
          <a:prstGeom prst="hexagon">
            <a:avLst/>
          </a:prstGeom>
          <a:solidFill>
            <a:srgbClr val="F0B429">
              <a:alpha val="18000"/>
            </a:srgbClr>
          </a:solidFill>
          <a:ln/>
        </p:spPr>
      </p:sp>
      <p:sp>
        <p:nvSpPr>
          <p:cNvPr id="3" name="Shape 1"/>
          <p:cNvSpPr/>
          <p:nvPr/>
        </p:nvSpPr>
        <p:spPr>
          <a:xfrm rot="5400000">
            <a:off x="9921240" y="4069080"/>
            <a:ext cx="731520" cy="731520"/>
          </a:xfrm>
          <a:prstGeom prst="hexagon">
            <a:avLst/>
          </a:prstGeom>
          <a:solidFill>
            <a:srgbClr val="F0B429">
              <a:alpha val="18000"/>
            </a:srgbClr>
          </a:solidFill>
          <a:ln/>
        </p:spPr>
      </p:sp>
      <p:sp>
        <p:nvSpPr>
          <p:cNvPr id="4" name="Shape 2"/>
          <p:cNvSpPr/>
          <p:nvPr/>
        </p:nvSpPr>
        <p:spPr>
          <a:xfrm rot="5400000">
            <a:off x="10835640" y="4069080"/>
            <a:ext cx="731520" cy="731520"/>
          </a:xfrm>
          <a:prstGeom prst="hexagon">
            <a:avLst/>
          </a:prstGeom>
          <a:solidFill>
            <a:srgbClr val="F0B429">
              <a:alpha val="18000"/>
            </a:srgbClr>
          </a:solidFill>
          <a:ln/>
        </p:spPr>
      </p:sp>
      <p:sp>
        <p:nvSpPr>
          <p:cNvPr id="5" name="Shape 3"/>
          <p:cNvSpPr/>
          <p:nvPr/>
        </p:nvSpPr>
        <p:spPr>
          <a:xfrm rot="5400000">
            <a:off x="9464040" y="4855464"/>
            <a:ext cx="731520" cy="731520"/>
          </a:xfrm>
          <a:prstGeom prst="hexagon">
            <a:avLst/>
          </a:prstGeom>
          <a:solidFill>
            <a:srgbClr val="F0B429">
              <a:alpha val="18000"/>
            </a:srgbClr>
          </a:solidFill>
          <a:ln/>
        </p:spPr>
      </p:sp>
      <p:sp>
        <p:nvSpPr>
          <p:cNvPr id="6" name="Shape 4"/>
          <p:cNvSpPr/>
          <p:nvPr/>
        </p:nvSpPr>
        <p:spPr>
          <a:xfrm rot="5400000">
            <a:off x="10378440" y="4855464"/>
            <a:ext cx="731520" cy="731520"/>
          </a:xfrm>
          <a:prstGeom prst="hexagon">
            <a:avLst/>
          </a:prstGeom>
          <a:solidFill>
            <a:srgbClr val="F0B429">
              <a:alpha val="18000"/>
            </a:srgbClr>
          </a:solidFill>
          <a:ln/>
        </p:spPr>
      </p:sp>
      <p:sp>
        <p:nvSpPr>
          <p:cNvPr id="7" name="Shape 5"/>
          <p:cNvSpPr/>
          <p:nvPr/>
        </p:nvSpPr>
        <p:spPr>
          <a:xfrm rot="5400000">
            <a:off x="11292840" y="4855464"/>
            <a:ext cx="731520" cy="731520"/>
          </a:xfrm>
          <a:prstGeom prst="hexagon">
            <a:avLst/>
          </a:prstGeom>
          <a:solidFill>
            <a:srgbClr val="F0B429">
              <a:alpha val="18000"/>
            </a:srgbClr>
          </a:solidFill>
          <a:ln/>
        </p:spPr>
      </p:sp>
      <p:sp>
        <p:nvSpPr>
          <p:cNvPr id="8" name="Text 6"/>
          <p:cNvSpPr/>
          <p:nvPr/>
        </p:nvSpPr>
        <p:spPr>
          <a:xfrm>
            <a:off x="640080" y="68580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WHAT WE DECIDE NEXT</a:t>
            </a:r>
            <a:endParaRPr lang="en-US" sz="1200" dirty="0"/>
          </a:p>
        </p:txBody>
      </p:sp>
      <p:sp>
        <p:nvSpPr>
          <p:cNvPr id="9" name="Text 7"/>
          <p:cNvSpPr/>
          <p:nvPr/>
        </p:nvSpPr>
        <p:spPr>
          <a:xfrm>
            <a:off x="640080" y="1051560"/>
            <a:ext cx="10607040" cy="6858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Four open questions, in the order they block work.</a:t>
            </a:r>
            <a:endParaRPr lang="en-US" sz="2900" dirty="0"/>
          </a:p>
        </p:txBody>
      </p:sp>
      <p:sp>
        <p:nvSpPr>
          <p:cNvPr id="10" name="Shape 8"/>
          <p:cNvSpPr/>
          <p:nvPr/>
        </p:nvSpPr>
        <p:spPr>
          <a:xfrm rot="5400000">
            <a:off x="640080" y="2084832"/>
            <a:ext cx="384048" cy="384048"/>
          </a:xfrm>
          <a:prstGeom prst="hexagon">
            <a:avLst/>
          </a:prstGeom>
          <a:solidFill>
            <a:srgbClr val="F0B429"/>
          </a:solidFill>
          <a:ln/>
        </p:spPr>
      </p:sp>
      <p:sp>
        <p:nvSpPr>
          <p:cNvPr id="11" name="Text 9"/>
          <p:cNvSpPr/>
          <p:nvPr/>
        </p:nvSpPr>
        <p:spPr>
          <a:xfrm>
            <a:off x="640080" y="20848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12" name="Text 10"/>
          <p:cNvSpPr/>
          <p:nvPr/>
        </p:nvSpPr>
        <p:spPr>
          <a:xfrm>
            <a:off x="1207008" y="2011680"/>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Brand axis</a:t>
            </a:r>
            <a:endParaRPr lang="en-US" sz="1600" dirty="0"/>
          </a:p>
        </p:txBody>
      </p:sp>
      <p:sp>
        <p:nvSpPr>
          <p:cNvPr id="13" name="Text 11"/>
          <p:cNvSpPr/>
          <p:nvPr/>
        </p:nvSpPr>
        <p:spPr>
          <a:xfrm>
            <a:off x="3657600" y="2011680"/>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Are the sub-brands subjects or geographies? Everything downstream — domains, marks, roadmap naming — waits on this.</a:t>
            </a:r>
            <a:endParaRPr lang="en-US" sz="1250" dirty="0"/>
          </a:p>
        </p:txBody>
      </p:sp>
      <p:sp>
        <p:nvSpPr>
          <p:cNvPr id="14" name="Shape 12"/>
          <p:cNvSpPr/>
          <p:nvPr/>
        </p:nvSpPr>
        <p:spPr>
          <a:xfrm rot="5400000">
            <a:off x="640080" y="3054096"/>
            <a:ext cx="384048" cy="384048"/>
          </a:xfrm>
          <a:prstGeom prst="hexagon">
            <a:avLst/>
          </a:prstGeom>
          <a:solidFill>
            <a:srgbClr val="F0B429"/>
          </a:solidFill>
          <a:ln/>
        </p:spPr>
      </p:sp>
      <p:sp>
        <p:nvSpPr>
          <p:cNvPr id="15" name="Text 13"/>
          <p:cNvSpPr/>
          <p:nvPr/>
        </p:nvSpPr>
        <p:spPr>
          <a:xfrm>
            <a:off x="640080" y="3054096"/>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6" name="Text 14"/>
          <p:cNvSpPr/>
          <p:nvPr/>
        </p:nvSpPr>
        <p:spPr>
          <a:xfrm>
            <a:off x="1207008" y="2980944"/>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Second product</a:t>
            </a:r>
            <a:endParaRPr lang="en-US" sz="1600" dirty="0"/>
          </a:p>
        </p:txBody>
      </p:sp>
      <p:sp>
        <p:nvSpPr>
          <p:cNvPr id="17" name="Text 15"/>
          <p:cNvSpPr/>
          <p:nvPr/>
        </p:nvSpPr>
        <p:spPr>
          <a:xfrm>
            <a:off x="3657600" y="2980944"/>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Bizzing Eleven is the fastest to ship because the engine already does it. Bizzing Bhasha is the more valuable business. Which first?</a:t>
            </a:r>
            <a:endParaRPr lang="en-US" sz="1250" dirty="0"/>
          </a:p>
        </p:txBody>
      </p:sp>
      <p:sp>
        <p:nvSpPr>
          <p:cNvPr id="18" name="Shape 16"/>
          <p:cNvSpPr/>
          <p:nvPr/>
        </p:nvSpPr>
        <p:spPr>
          <a:xfrm rot="5400000">
            <a:off x="640080" y="4023360"/>
            <a:ext cx="384048" cy="384048"/>
          </a:xfrm>
          <a:prstGeom prst="hexagon">
            <a:avLst/>
          </a:prstGeom>
          <a:solidFill>
            <a:srgbClr val="F0B429"/>
          </a:solidFill>
          <a:ln/>
        </p:spPr>
      </p:sp>
      <p:sp>
        <p:nvSpPr>
          <p:cNvPr id="19" name="Text 17"/>
          <p:cNvSpPr/>
          <p:nvPr/>
        </p:nvSpPr>
        <p:spPr>
          <a:xfrm>
            <a:off x="640080" y="40233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1207008" y="3950208"/>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Monetisation shape</a:t>
            </a:r>
            <a:endParaRPr lang="en-US" sz="1600" dirty="0"/>
          </a:p>
        </p:txBody>
      </p:sp>
      <p:sp>
        <p:nvSpPr>
          <p:cNvPr id="21" name="Text 19"/>
          <p:cNvSpPr/>
          <p:nvPr/>
        </p:nvSpPr>
        <p:spPr>
          <a:xfrm>
            <a:off x="3657600" y="3950208"/>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One subscription across the house, or a price per product? Decide before the second product exists, not after.</a:t>
            </a:r>
            <a:endParaRPr lang="en-US" sz="1250" dirty="0"/>
          </a:p>
        </p:txBody>
      </p:sp>
      <p:sp>
        <p:nvSpPr>
          <p:cNvPr id="22" name="Shape 20"/>
          <p:cNvSpPr/>
          <p:nvPr/>
        </p:nvSpPr>
        <p:spPr>
          <a:xfrm rot="5400000">
            <a:off x="640080" y="4992624"/>
            <a:ext cx="384048" cy="384048"/>
          </a:xfrm>
          <a:prstGeom prst="hexagon">
            <a:avLst/>
          </a:prstGeom>
          <a:solidFill>
            <a:srgbClr val="F0B429"/>
          </a:solidFill>
          <a:ln/>
        </p:spPr>
      </p:sp>
      <p:sp>
        <p:nvSpPr>
          <p:cNvPr id="23" name="Text 21"/>
          <p:cNvSpPr/>
          <p:nvPr/>
        </p:nvSpPr>
        <p:spPr>
          <a:xfrm>
            <a:off x="640080" y="499262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4" name="Text 22"/>
          <p:cNvSpPr/>
          <p:nvPr/>
        </p:nvSpPr>
        <p:spPr>
          <a:xfrm>
            <a:off x="1207008" y="4919472"/>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Entity &amp; filings</a:t>
            </a:r>
            <a:endParaRPr lang="en-US" sz="1600" dirty="0"/>
          </a:p>
        </p:txBody>
      </p:sp>
      <p:sp>
        <p:nvSpPr>
          <p:cNvPr id="25" name="Text 23"/>
          <p:cNvSpPr/>
          <p:nvPr/>
        </p:nvSpPr>
        <p:spPr>
          <a:xfrm>
            <a:off x="3657600" y="4919472"/>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LLC, trademark filings, and the child-performer question before any paid appearance by the CKO.</a:t>
            </a:r>
            <a:endParaRPr lang="en-US" sz="1250" dirty="0"/>
          </a:p>
        </p:txBody>
      </p:sp>
      <p:sp>
        <p:nvSpPr>
          <p:cNvPr id="26" name="Text 24"/>
          <p:cNvSpPr/>
          <p:nvPr/>
        </p:nvSpPr>
        <p:spPr>
          <a:xfrm>
            <a:off x="640080" y="6035040"/>
            <a:ext cx="5486400" cy="274320"/>
          </a:xfrm>
          <a:prstGeom prst="rect">
            <a:avLst/>
          </a:prstGeom>
          <a:noFill/>
          <a:ln/>
        </p:spPr>
        <p:txBody>
          <a:bodyPr wrap="square" lIns="0" tIns="0" rIns="0" bIns="0" rtlCol="0" anchor="ctr"/>
          <a:lstStyle/>
          <a:p>
            <a:pPr indent="0" marL="0">
              <a:buNone/>
            </a:pPr>
            <a:r>
              <a:rPr lang="en-US" sz="1100" dirty="0">
                <a:solidFill>
                  <a:srgbClr val="7A7291"/>
                </a:solidFill>
                <a:latin typeface="Calibri" pitchFamily="34" charset="0"/>
                <a:ea typeface="Calibri" pitchFamily="34" charset="-122"/>
                <a:cs typeface="Calibri" pitchFamily="34" charset="-120"/>
              </a:rPr>
              <a:t>Bizzing · bizzingbee.com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Bizzing — Vision, Strategy &amp; Organisation</dc:title>
  <dc:subject>PptxGenJS Presentation</dc:subject>
  <dc:creator>Bizzing</dc:creator>
  <cp:lastModifiedBy>Bizzing</cp:lastModifiedBy>
  <cp:revision>1</cp:revision>
  <dcterms:created xsi:type="dcterms:W3CDTF">2026-08-23T02:58:09Z</dcterms:created>
  <dcterms:modified xsi:type="dcterms:W3CDTF">2026-08-23T02:58:09Z</dcterms:modified>
</cp:coreProperties>
</file>