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Subscriptions</c:v>
                </c:pt>
              </c:strCache>
            </c:strRef>
          </c:tx>
          <c:spPr>
            <a:solidFill>
              <a:srgbClr val="6C4FE0"/>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0.026</c:v>
                </c:pt>
                <c:pt idx="1">
                  <c:v>0.151</c:v>
                </c:pt>
                <c:pt idx="2">
                  <c:v>0.475</c:v>
                </c:pt>
                <c:pt idx="3">
                  <c:v>1.118</c:v>
                </c:pt>
                <c:pt idx="4">
                  <c:v>2.102</c:v>
                </c:pt>
              </c:numCache>
            </c:numRef>
          </c:val>
        </c:ser>
        <c:ser>
          <c:idx val="1"/>
          <c:order val="1"/>
          <c:tx>
            <c:strRef>
              <c:f>Sheet1!$C$1</c:f>
              <c:strCache>
                <c:ptCount val="1"/>
                <c:pt idx="0">
                  <c:v>Business cohorts</c:v>
                </c:pt>
              </c:strCache>
            </c:strRef>
          </c:tx>
          <c:spPr>
            <a:solidFill>
              <a:srgbClr val="178A4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0</c:v>
                </c:pt>
                <c:pt idx="1">
                  <c:v>0</c:v>
                </c:pt>
                <c:pt idx="2">
                  <c:v>0.078</c:v>
                </c:pt>
                <c:pt idx="3">
                  <c:v>0.295</c:v>
                </c:pt>
                <c:pt idx="4">
                  <c:v>0.68</c:v>
                </c:pt>
              </c:numCache>
            </c:numRef>
          </c:val>
        </c:ser>
        <c:ser>
          <c:idx val="2"/>
          <c:order val="2"/>
          <c:tx>
            <c:strRef>
              <c:f>Sheet1!$D$1</c:f>
              <c:strCache>
                <c:ptCount val="1"/>
                <c:pt idx="0">
                  <c:v>Books, cards, merch, YouTube</c:v>
                </c:pt>
              </c:strCache>
            </c:strRef>
          </c:tx>
          <c:spPr>
            <a:solidFill>
              <a:srgbClr val="F0B429"/>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Sheet1!$D$2:$D$6</c:f>
              <c:numCache>
                <c:formatCode>General</c:formatCode>
                <c:ptCount val="5"/>
                <c:pt idx="0">
                  <c:v>0</c:v>
                </c:pt>
                <c:pt idx="1">
                  <c:v>0.008</c:v>
                </c:pt>
                <c:pt idx="2">
                  <c:v>0.048</c:v>
                </c:pt>
                <c:pt idx="3">
                  <c:v>0.14</c:v>
                </c:pt>
                <c:pt idx="4">
                  <c:v>0.309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436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DCF2"/>
              </a:solidFill>
              <a:prstDash val="solid"/>
              <a:round/>
            </a:ln>
          </c:spPr>
        </c:majorGridlines>
        <c:title>
          <c:tx>
            <c:rich>
              <a:bodyPr/>
              <a:lstStyle/>
              <a:p>
                <a:pPr>
                  <a:defRPr sz="1000" b="0" i="0" u="none" strike="noStrike">
                    <a:solidFill>
                      <a:srgbClr val="7A7291"/>
                    </a:solidFill>
                    <a:latin typeface="Arial"/>
                  </a:defRPr>
                </a:pPr>
                <a:r>
                  <a:rPr sz="1000" b="0" i="0" u="none" strike="noStrike">
                    <a:solidFill>
                      <a:srgbClr val="7A7291"/>
                    </a:solidFill>
                    <a:latin typeface="Arial"/>
                  </a:rPr>
                  <a:t>Revenue, $M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36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436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is deliberately narrow and the caveats are on the slide: cash profit with unpaid founders, and deferred revenue means the P&amp;L lags the bank. Both are stated so nobody discovers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18% paid cap makes organic acquisition load-bearing. If only one metric survives, it is week-two return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explicit: never losing money and growing fast are not both available. This deck chooses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cash need $0. Break-even week 1. The two things that genuinely hurt are a price cut and a product families do not return to — not a slow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return on unlock, not by size. Bee networks and Amazon are near-free and should start in Year 1; districts are a 9–18 month enterprise sale and should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brief, not a contact sheet. The NSF angle is the strongest because the product is already built to their word lists — that is verifiable in the repo (nsf-vocab26-data.js, nsf-finals500-data.js).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pic>
        <p:nvPicPr>
          <p:cNvPr id="11" name="Image 0" descr="preencoded.png">    </p:cNvPr>
          <p:cNvPicPr>
            <a:picLocks noChangeAspect="1"/>
          </p:cNvPicPr>
          <p:nvPr/>
        </p:nvPicPr>
        <p:blipFill>
          <a:blip r:embed="rId1"/>
          <a:stretch>
            <a:fillRect/>
          </a:stretch>
        </p:blipFill>
        <p:spPr>
          <a:xfrm>
            <a:off x="8732520" y="1965960"/>
            <a:ext cx="2651760" cy="2651760"/>
          </a:xfrm>
          <a:prstGeom prst="rect">
            <a:avLst/>
          </a:prstGeom>
        </p:spPr>
      </p:pic>
      <p:pic>
        <p:nvPicPr>
          <p:cNvPr id="12" name="Image 1" descr="preencoded.png">    </p:cNvPr>
          <p:cNvPicPr>
            <a:picLocks noChangeAspect="1"/>
          </p:cNvPicPr>
          <p:nvPr/>
        </p:nvPicPr>
        <p:blipFill>
          <a:blip r:embed="rId2"/>
          <a:stretch>
            <a:fillRect/>
          </a:stretch>
        </p:blipFill>
        <p:spPr>
          <a:xfrm>
            <a:off x="640080" y="5257800"/>
            <a:ext cx="841248" cy="841248"/>
          </a:xfrm>
          <a:prstGeom prst="rect">
            <a:avLst/>
          </a:prstGeom>
        </p:spPr>
      </p:pic>
      <p:pic>
        <p:nvPicPr>
          <p:cNvPr id="13" name="Image 2" descr="preencoded.png">    </p:cNvPr>
          <p:cNvPicPr>
            <a:picLocks noChangeAspect="1"/>
          </p:cNvPicPr>
          <p:nvPr/>
        </p:nvPicPr>
        <p:blipFill>
          <a:blip r:embed="rId3"/>
          <a:stretch>
            <a:fillRect/>
          </a:stretch>
        </p:blipFill>
        <p:spPr>
          <a:xfrm>
            <a:off x="1572768" y="5257800"/>
            <a:ext cx="841248" cy="841248"/>
          </a:xfrm>
          <a:prstGeom prst="rect">
            <a:avLst/>
          </a:prstGeom>
        </p:spPr>
      </p:pic>
      <p:pic>
        <p:nvPicPr>
          <p:cNvPr id="14" name="Image 3" descr="preencoded.png">    </p:cNvPr>
          <p:cNvPicPr>
            <a:picLocks noChangeAspect="1"/>
          </p:cNvPicPr>
          <p:nvPr/>
        </p:nvPicPr>
        <p:blipFill>
          <a:blip r:embed="rId4"/>
          <a:stretch>
            <a:fillRect/>
          </a:stretch>
        </p:blipFill>
        <p:spPr>
          <a:xfrm>
            <a:off x="2505456" y="5257800"/>
            <a:ext cx="841248" cy="841248"/>
          </a:xfrm>
          <a:prstGeom prst="rect">
            <a:avLst/>
          </a:prstGeom>
        </p:spPr>
      </p:pic>
      <p:pic>
        <p:nvPicPr>
          <p:cNvPr id="15" name="Image 4" descr="preencoded.png">    </p:cNvPr>
          <p:cNvPicPr>
            <a:picLocks noChangeAspect="1"/>
          </p:cNvPicPr>
          <p:nvPr/>
        </p:nvPicPr>
        <p:blipFill>
          <a:blip r:embed="rId5"/>
          <a:stretch>
            <a:fillRect/>
          </a:stretch>
        </p:blipFill>
        <p:spPr>
          <a:xfrm>
            <a:off x="3438144" y="5257800"/>
            <a:ext cx="841248" cy="841248"/>
          </a:xfrm>
          <a:prstGeom prst="rect">
            <a:avLst/>
          </a:prstGeom>
        </p:spPr>
      </p:pic>
      <p:sp>
        <p:nvSpPr>
          <p:cNvPr id="16"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7"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8"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9" name="Shape 12"/>
          <p:cNvSpPr/>
          <p:nvPr/>
        </p:nvSpPr>
        <p:spPr>
          <a:xfrm>
            <a:off x="640080" y="4709160"/>
            <a:ext cx="2926080" cy="0"/>
          </a:xfrm>
          <a:prstGeom prst="line">
            <a:avLst/>
          </a:prstGeom>
          <a:noFill/>
          <a:ln w="31750">
            <a:solidFill>
              <a:srgbClr val="6C4FE0"/>
            </a:solidFill>
            <a:prstDash val="solid"/>
          </a:ln>
        </p:spPr>
      </p:sp>
      <p:sp>
        <p:nvSpPr>
          <p:cNvPr id="20"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
        <p:nvSpPr>
          <p:cNvPr id="21" name="Text 14"/>
          <p:cNvSpPr/>
          <p:nvPr/>
        </p:nvSpPr>
        <p:spPr>
          <a:xfrm>
            <a:off x="4480560" y="5541264"/>
            <a:ext cx="6766560" cy="29260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Marie Bolden · Frank Neuhauser · Pauline Bell · Dean Lucas — the first four champions, in the pack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481328"/>
            <a:ext cx="8595360" cy="1051560"/>
          </a:xfrm>
          <a:prstGeom prst="rect">
            <a:avLst/>
          </a:prstGeom>
          <a:noFill/>
          <a:ln/>
        </p:spPr>
        <p:txBody>
          <a:bodyPr wrap="square" lIns="0" tIns="0" rIns="0" bIns="0" rtlCol="0" anchor="ctr"/>
          <a:lstStyle/>
          <a:p>
            <a:pPr indent="0" marL="0">
              <a:buNone/>
            </a:pPr>
            <a:r>
              <a:rPr lang="en-US" sz="6200" b="1" dirty="0">
                <a:solidFill>
                  <a:srgbClr val="F0B429"/>
                </a:solidFill>
                <a:latin typeface="Cambria" pitchFamily="34" charset="0"/>
                <a:ea typeface="Cambria" pitchFamily="34" charset="-122"/>
                <a:cs typeface="Cambria" pitchFamily="34" charset="-120"/>
              </a:rPr>
              <a:t>Own the stage.</a:t>
            </a:r>
            <a:endParaRPr lang="en-US" sz="6200" dirty="0"/>
          </a:p>
        </p:txBody>
      </p:sp>
      <p:sp>
        <p:nvSpPr>
          <p:cNvPr id="10" name="Text 8"/>
          <p:cNvSpPr/>
          <p:nvPr/>
        </p:nvSpPr>
        <p:spPr>
          <a:xfrm>
            <a:off x="640080" y="2670048"/>
            <a:ext cx="932688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Every stage in the world has one of our kids on it.</a:t>
            </a:r>
            <a:endParaRPr lang="en-US" sz="3600" dirty="0"/>
          </a:p>
        </p:txBody>
      </p:sp>
      <p:sp>
        <p:nvSpPr>
          <p:cNvPr id="11" name="Text 9"/>
          <p:cNvSpPr/>
          <p:nvPr/>
        </p:nvSpPr>
        <p:spPr>
          <a:xfrm>
            <a:off x="640080" y="4224528"/>
            <a:ext cx="8686800" cy="960120"/>
          </a:xfrm>
          <a:prstGeom prst="rect">
            <a:avLst/>
          </a:prstGeom>
          <a:noFill/>
          <a:ln/>
        </p:spPr>
        <p:txBody>
          <a:bodyPr wrap="square" lIns="0" tIns="0" rIns="0" bIns="0" rtlCol="0" anchor="ctr"/>
          <a:lstStyle/>
          <a:p>
            <a:pPr indent="0" marL="0">
              <a:lnSpc>
                <a:spcPts val="2100"/>
              </a:lnSpc>
              <a:buNone/>
            </a:pPr>
            <a:r>
              <a:rPr lang="en-US" sz="1450" dirty="0">
                <a:solidFill>
                  <a:srgbClr val="E3DCF2"/>
                </a:solidFill>
                <a:latin typeface="Calibri" pitchFamily="34" charset="0"/>
                <a:ea typeface="Calibri" pitchFamily="34" charset="-122"/>
                <a:cs typeface="Calibri" pitchFamily="34" charset="-120"/>
              </a:rPr>
              <a:t>A spelling bee is a child at a microphone under lights. So is a debate, a pitch, a boardroom and a parliament. We are not raising children who fit in quietly — we are raising the ones who take the mic.</a:t>
            </a:r>
            <a:endParaRPr lang="en-US" sz="1450" dirty="0"/>
          </a:p>
        </p:txBody>
      </p:sp>
      <p:pic>
        <p:nvPicPr>
          <p:cNvPr id="12" name="Image 0" descr="preencoded.png">    </p:cNvPr>
          <p:cNvPicPr>
            <a:picLocks noChangeAspect="1"/>
          </p:cNvPicPr>
          <p:nvPr/>
        </p:nvPicPr>
        <p:blipFill>
          <a:blip r:embed="rId1"/>
          <a:stretch>
            <a:fillRect/>
          </a:stretch>
        </p:blipFill>
        <p:spPr>
          <a:xfrm>
            <a:off x="9464040" y="1417320"/>
            <a:ext cx="1920240" cy="1920240"/>
          </a:xfrm>
          <a:prstGeom prst="rect">
            <a:avLst/>
          </a:prstGeom>
        </p:spPr>
      </p:pic>
      <p:pic>
        <p:nvPicPr>
          <p:cNvPr id="13" name="Image 1" descr="preencoded.png">    </p:cNvPr>
          <p:cNvPicPr>
            <a:picLocks noChangeAspect="1"/>
          </p:cNvPicPr>
          <p:nvPr/>
        </p:nvPicPr>
        <p:blipFill>
          <a:blip r:embed="rId2"/>
          <a:stretch>
            <a:fillRect/>
          </a:stretch>
        </p:blipFill>
        <p:spPr>
          <a:xfrm>
            <a:off x="9829800" y="3429000"/>
            <a:ext cx="1371600" cy="137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pic>
        <p:nvPicPr>
          <p:cNvPr id="13" name="Image 0" descr="preencoded.png">    </p:cNvPr>
          <p:cNvPicPr>
            <a:picLocks noChangeAspect="1"/>
          </p:cNvPicPr>
          <p:nvPr/>
        </p:nvPicPr>
        <p:blipFill>
          <a:blip r:embed="rId1"/>
          <a:stretch>
            <a:fillRect/>
          </a:stretch>
        </p:blipFill>
        <p:spPr>
          <a:xfrm>
            <a:off x="694944" y="3621024"/>
            <a:ext cx="310896" cy="310896"/>
          </a:xfrm>
          <a:prstGeom prst="rect">
            <a:avLst/>
          </a:prstGeom>
        </p:spPr>
      </p:pic>
      <p:sp>
        <p:nvSpPr>
          <p:cNvPr id="14" name="Text 11"/>
          <p:cNvSpPr/>
          <p:nvPr/>
        </p:nvSpPr>
        <p:spPr>
          <a:xfrm>
            <a:off x="1060704"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5"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6" name="Shape 13"/>
          <p:cNvSpPr/>
          <p:nvPr/>
        </p:nvSpPr>
        <p:spPr>
          <a:xfrm>
            <a:off x="640080" y="4023360"/>
            <a:ext cx="3319272" cy="347472"/>
          </a:xfrm>
          <a:prstGeom prst="roundRect">
            <a:avLst>
              <a:gd name="adj" fmla="val 23684"/>
            </a:avLst>
          </a:prstGeom>
          <a:solidFill>
            <a:srgbClr val="EFEBF8"/>
          </a:solidFill>
          <a:ln/>
        </p:spPr>
      </p:sp>
      <p:pic>
        <p:nvPicPr>
          <p:cNvPr id="17" name="Image 1" descr="preencoded.png">    </p:cNvPr>
          <p:cNvPicPr>
            <a:picLocks noChangeAspect="1"/>
          </p:cNvPicPr>
          <p:nvPr/>
        </p:nvPicPr>
        <p:blipFill>
          <a:blip r:embed="rId2"/>
          <a:stretch>
            <a:fillRect/>
          </a:stretch>
        </p:blipFill>
        <p:spPr>
          <a:xfrm>
            <a:off x="694944" y="4041648"/>
            <a:ext cx="310896" cy="310896"/>
          </a:xfrm>
          <a:prstGeom prst="rect">
            <a:avLst/>
          </a:prstGeom>
        </p:spPr>
      </p:pic>
      <p:sp>
        <p:nvSpPr>
          <p:cNvPr id="18" name="Text 14"/>
          <p:cNvSpPr/>
          <p:nvPr/>
        </p:nvSpPr>
        <p:spPr>
          <a:xfrm>
            <a:off x="1060704"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9"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20" name="Shape 16"/>
          <p:cNvSpPr/>
          <p:nvPr/>
        </p:nvSpPr>
        <p:spPr>
          <a:xfrm>
            <a:off x="640080" y="4443984"/>
            <a:ext cx="3319272" cy="347472"/>
          </a:xfrm>
          <a:prstGeom prst="roundRect">
            <a:avLst>
              <a:gd name="adj" fmla="val 23684"/>
            </a:avLst>
          </a:prstGeom>
          <a:solidFill>
            <a:srgbClr val="EFEBF8"/>
          </a:solidFill>
          <a:ln/>
        </p:spPr>
      </p:sp>
      <p:pic>
        <p:nvPicPr>
          <p:cNvPr id="21" name="Image 2" descr="preencoded.png">    </p:cNvPr>
          <p:cNvPicPr>
            <a:picLocks noChangeAspect="1"/>
          </p:cNvPicPr>
          <p:nvPr/>
        </p:nvPicPr>
        <p:blipFill>
          <a:blip r:embed="rId3"/>
          <a:stretch>
            <a:fillRect/>
          </a:stretch>
        </p:blipFill>
        <p:spPr>
          <a:xfrm>
            <a:off x="694944" y="4462272"/>
            <a:ext cx="310896" cy="310896"/>
          </a:xfrm>
          <a:prstGeom prst="rect">
            <a:avLst/>
          </a:prstGeom>
        </p:spPr>
      </p:pic>
      <p:sp>
        <p:nvSpPr>
          <p:cNvPr id="22" name="Text 17"/>
          <p:cNvSpPr/>
          <p:nvPr/>
        </p:nvSpPr>
        <p:spPr>
          <a:xfrm>
            <a:off x="1060704"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3"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4" name="Shape 19"/>
          <p:cNvSpPr/>
          <p:nvPr/>
        </p:nvSpPr>
        <p:spPr>
          <a:xfrm>
            <a:off x="640080" y="4864608"/>
            <a:ext cx="3319272" cy="347472"/>
          </a:xfrm>
          <a:prstGeom prst="roundRect">
            <a:avLst>
              <a:gd name="adj" fmla="val 23684"/>
            </a:avLst>
          </a:prstGeom>
          <a:solidFill>
            <a:srgbClr val="EFEBF8"/>
          </a:solidFill>
          <a:ln/>
        </p:spPr>
      </p:sp>
      <p:pic>
        <p:nvPicPr>
          <p:cNvPr id="25" name="Image 3" descr="preencoded.png">    </p:cNvPr>
          <p:cNvPicPr>
            <a:picLocks noChangeAspect="1"/>
          </p:cNvPicPr>
          <p:nvPr/>
        </p:nvPicPr>
        <p:blipFill>
          <a:blip r:embed="rId4"/>
          <a:stretch>
            <a:fillRect/>
          </a:stretch>
        </p:blipFill>
        <p:spPr>
          <a:xfrm>
            <a:off x="694944" y="4882896"/>
            <a:ext cx="310896" cy="310896"/>
          </a:xfrm>
          <a:prstGeom prst="rect">
            <a:avLst/>
          </a:prstGeom>
        </p:spPr>
      </p:pic>
      <p:sp>
        <p:nvSpPr>
          <p:cNvPr id="26" name="Text 20"/>
          <p:cNvSpPr/>
          <p:nvPr/>
        </p:nvSpPr>
        <p:spPr>
          <a:xfrm>
            <a:off x="1060704"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7"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8" name="Shape 22"/>
          <p:cNvSpPr/>
          <p:nvPr/>
        </p:nvSpPr>
        <p:spPr>
          <a:xfrm>
            <a:off x="640080" y="5285232"/>
            <a:ext cx="3319272" cy="347472"/>
          </a:xfrm>
          <a:prstGeom prst="roundRect">
            <a:avLst>
              <a:gd name="adj" fmla="val 23684"/>
            </a:avLst>
          </a:prstGeom>
          <a:solidFill>
            <a:srgbClr val="EFEBF8"/>
          </a:solidFill>
          <a:ln/>
        </p:spPr>
      </p:sp>
      <p:pic>
        <p:nvPicPr>
          <p:cNvPr id="29" name="Image 4" descr="preencoded.png">    </p:cNvPr>
          <p:cNvPicPr>
            <a:picLocks noChangeAspect="1"/>
          </p:cNvPicPr>
          <p:nvPr/>
        </p:nvPicPr>
        <p:blipFill>
          <a:blip r:embed="rId5"/>
          <a:stretch>
            <a:fillRect/>
          </a:stretch>
        </p:blipFill>
        <p:spPr>
          <a:xfrm>
            <a:off x="694944" y="5303520"/>
            <a:ext cx="310896" cy="310896"/>
          </a:xfrm>
          <a:prstGeom prst="rect">
            <a:avLst/>
          </a:prstGeom>
        </p:spPr>
      </p:pic>
      <p:sp>
        <p:nvSpPr>
          <p:cNvPr id="30" name="Text 23"/>
          <p:cNvSpPr/>
          <p:nvPr/>
        </p:nvSpPr>
        <p:spPr>
          <a:xfrm>
            <a:off x="1060704"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31"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2" name="Shape 25"/>
          <p:cNvSpPr/>
          <p:nvPr/>
        </p:nvSpPr>
        <p:spPr>
          <a:xfrm>
            <a:off x="640080" y="5705856"/>
            <a:ext cx="3319272" cy="347472"/>
          </a:xfrm>
          <a:prstGeom prst="roundRect">
            <a:avLst>
              <a:gd name="adj" fmla="val 23684"/>
            </a:avLst>
          </a:prstGeom>
          <a:solidFill>
            <a:srgbClr val="EFEBF8"/>
          </a:solidFill>
          <a:ln/>
        </p:spPr>
      </p:sp>
      <p:pic>
        <p:nvPicPr>
          <p:cNvPr id="33" name="Image 5" descr="preencoded.png">    </p:cNvPr>
          <p:cNvPicPr>
            <a:picLocks noChangeAspect="1"/>
          </p:cNvPicPr>
          <p:nvPr/>
        </p:nvPicPr>
        <p:blipFill>
          <a:blip r:embed="rId6"/>
          <a:stretch>
            <a:fillRect/>
          </a:stretch>
        </p:blipFill>
        <p:spPr>
          <a:xfrm>
            <a:off x="694944" y="5724144"/>
            <a:ext cx="310896" cy="310896"/>
          </a:xfrm>
          <a:prstGeom prst="rect">
            <a:avLst/>
          </a:prstGeom>
        </p:spPr>
      </p:pic>
      <p:sp>
        <p:nvSpPr>
          <p:cNvPr id="34" name="Text 26"/>
          <p:cNvSpPr/>
          <p:nvPr/>
        </p:nvSpPr>
        <p:spPr>
          <a:xfrm>
            <a:off x="1060704" y="570585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35"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6" name="Shape 28"/>
          <p:cNvSpPr/>
          <p:nvPr/>
        </p:nvSpPr>
        <p:spPr>
          <a:xfrm>
            <a:off x="6076188" y="2798064"/>
            <a:ext cx="0" cy="274320"/>
          </a:xfrm>
          <a:prstGeom prst="line">
            <a:avLst/>
          </a:prstGeom>
          <a:noFill/>
          <a:ln w="25400">
            <a:solidFill>
              <a:srgbClr val="E3DCF2"/>
            </a:solidFill>
            <a:prstDash val="solid"/>
          </a:ln>
        </p:spPr>
      </p:sp>
      <p:sp>
        <p:nvSpPr>
          <p:cNvPr id="37" name="Shape 29"/>
          <p:cNvSpPr/>
          <p:nvPr/>
        </p:nvSpPr>
        <p:spPr>
          <a:xfrm>
            <a:off x="4416552" y="3072384"/>
            <a:ext cx="3319272" cy="384048"/>
          </a:xfrm>
          <a:prstGeom prst="roundRect">
            <a:avLst>
              <a:gd name="adj" fmla="val 23810"/>
            </a:avLst>
          </a:prstGeom>
          <a:solidFill>
            <a:srgbClr val="F0B429"/>
          </a:solidFill>
          <a:ln/>
        </p:spPr>
      </p:sp>
      <p:sp>
        <p:nvSpPr>
          <p:cNvPr id="38"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9" name="Shape 31"/>
          <p:cNvSpPr/>
          <p:nvPr/>
        </p:nvSpPr>
        <p:spPr>
          <a:xfrm>
            <a:off x="4416552" y="3602736"/>
            <a:ext cx="3319272" cy="347472"/>
          </a:xfrm>
          <a:prstGeom prst="roundRect">
            <a:avLst>
              <a:gd name="adj" fmla="val 23684"/>
            </a:avLst>
          </a:prstGeom>
          <a:solidFill>
            <a:srgbClr val="EFEBF8"/>
          </a:solidFill>
          <a:ln/>
        </p:spPr>
      </p:sp>
      <p:pic>
        <p:nvPicPr>
          <p:cNvPr id="40" name="Image 6" descr="preencoded.png">    </p:cNvPr>
          <p:cNvPicPr>
            <a:picLocks noChangeAspect="1"/>
          </p:cNvPicPr>
          <p:nvPr/>
        </p:nvPicPr>
        <p:blipFill>
          <a:blip r:embed="rId7"/>
          <a:stretch>
            <a:fillRect/>
          </a:stretch>
        </p:blipFill>
        <p:spPr>
          <a:xfrm>
            <a:off x="4471416" y="3621024"/>
            <a:ext cx="310896" cy="310896"/>
          </a:xfrm>
          <a:prstGeom prst="rect">
            <a:avLst/>
          </a:prstGeom>
        </p:spPr>
      </p:pic>
      <p:sp>
        <p:nvSpPr>
          <p:cNvPr id="41" name="Text 32"/>
          <p:cNvSpPr/>
          <p:nvPr/>
        </p:nvSpPr>
        <p:spPr>
          <a:xfrm>
            <a:off x="4837176"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42"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43" name="Shape 34"/>
          <p:cNvSpPr/>
          <p:nvPr/>
        </p:nvSpPr>
        <p:spPr>
          <a:xfrm>
            <a:off x="4727448" y="4023360"/>
            <a:ext cx="3008376" cy="347472"/>
          </a:xfrm>
          <a:prstGeom prst="roundRect">
            <a:avLst>
              <a:gd name="adj" fmla="val 23684"/>
            </a:avLst>
          </a:prstGeom>
          <a:solidFill>
            <a:srgbClr val="EFEBF8"/>
          </a:solidFill>
          <a:ln/>
        </p:spPr>
      </p:sp>
      <p:pic>
        <p:nvPicPr>
          <p:cNvPr id="44" name="Image 7" descr="preencoded.png">    </p:cNvPr>
          <p:cNvPicPr>
            <a:picLocks noChangeAspect="1"/>
          </p:cNvPicPr>
          <p:nvPr/>
        </p:nvPicPr>
        <p:blipFill>
          <a:blip r:embed="rId8"/>
          <a:stretch>
            <a:fillRect/>
          </a:stretch>
        </p:blipFill>
        <p:spPr>
          <a:xfrm>
            <a:off x="4782312" y="4041648"/>
            <a:ext cx="310896" cy="310896"/>
          </a:xfrm>
          <a:prstGeom prst="rect">
            <a:avLst/>
          </a:prstGeom>
        </p:spPr>
      </p:pic>
      <p:sp>
        <p:nvSpPr>
          <p:cNvPr id="45" name="Text 35"/>
          <p:cNvSpPr/>
          <p:nvPr/>
        </p:nvSpPr>
        <p:spPr>
          <a:xfrm>
            <a:off x="5148072" y="4023360"/>
            <a:ext cx="119786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46"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47" name="Shape 37"/>
          <p:cNvSpPr/>
          <p:nvPr/>
        </p:nvSpPr>
        <p:spPr>
          <a:xfrm>
            <a:off x="9852660" y="2798064"/>
            <a:ext cx="0" cy="274320"/>
          </a:xfrm>
          <a:prstGeom prst="line">
            <a:avLst/>
          </a:prstGeom>
          <a:noFill/>
          <a:ln w="25400">
            <a:solidFill>
              <a:srgbClr val="E3DCF2"/>
            </a:solidFill>
            <a:prstDash val="solid"/>
          </a:ln>
        </p:spPr>
      </p:sp>
      <p:sp>
        <p:nvSpPr>
          <p:cNvPr id="48" name="Shape 38"/>
          <p:cNvSpPr/>
          <p:nvPr/>
        </p:nvSpPr>
        <p:spPr>
          <a:xfrm>
            <a:off x="8193024" y="3072384"/>
            <a:ext cx="3319272" cy="384048"/>
          </a:xfrm>
          <a:prstGeom prst="roundRect">
            <a:avLst>
              <a:gd name="adj" fmla="val 23810"/>
            </a:avLst>
          </a:prstGeom>
          <a:solidFill>
            <a:srgbClr val="178A4C"/>
          </a:solidFill>
          <a:ln/>
        </p:spPr>
      </p:sp>
      <p:sp>
        <p:nvSpPr>
          <p:cNvPr id="49"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50" name="Shape 40"/>
          <p:cNvSpPr/>
          <p:nvPr/>
        </p:nvSpPr>
        <p:spPr>
          <a:xfrm>
            <a:off x="8193024" y="3602736"/>
            <a:ext cx="3319272" cy="347472"/>
          </a:xfrm>
          <a:prstGeom prst="roundRect">
            <a:avLst>
              <a:gd name="adj" fmla="val 23684"/>
            </a:avLst>
          </a:prstGeom>
          <a:solidFill>
            <a:srgbClr val="EFEBF8"/>
          </a:solidFill>
          <a:ln/>
        </p:spPr>
      </p:sp>
      <p:pic>
        <p:nvPicPr>
          <p:cNvPr id="51" name="Image 8" descr="preencoded.png">    </p:cNvPr>
          <p:cNvPicPr>
            <a:picLocks noChangeAspect="1"/>
          </p:cNvPicPr>
          <p:nvPr/>
        </p:nvPicPr>
        <p:blipFill>
          <a:blip r:embed="rId9"/>
          <a:stretch>
            <a:fillRect/>
          </a:stretch>
        </p:blipFill>
        <p:spPr>
          <a:xfrm>
            <a:off x="8247888" y="3621024"/>
            <a:ext cx="310896" cy="310896"/>
          </a:xfrm>
          <a:prstGeom prst="rect">
            <a:avLst/>
          </a:prstGeom>
        </p:spPr>
      </p:pic>
      <p:sp>
        <p:nvSpPr>
          <p:cNvPr id="52" name="Text 41"/>
          <p:cNvSpPr/>
          <p:nvPr/>
        </p:nvSpPr>
        <p:spPr>
          <a:xfrm>
            <a:off x="8613648"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53"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54" name="Shape 43"/>
          <p:cNvSpPr/>
          <p:nvPr/>
        </p:nvSpPr>
        <p:spPr>
          <a:xfrm>
            <a:off x="8193024" y="4023360"/>
            <a:ext cx="3319272" cy="347472"/>
          </a:xfrm>
          <a:prstGeom prst="roundRect">
            <a:avLst>
              <a:gd name="adj" fmla="val 23684"/>
            </a:avLst>
          </a:prstGeom>
          <a:solidFill>
            <a:srgbClr val="EFEBF8"/>
          </a:solidFill>
          <a:ln/>
        </p:spPr>
      </p:sp>
      <p:sp>
        <p:nvSpPr>
          <p:cNvPr id="55" name="Text 44"/>
          <p:cNvSpPr/>
          <p:nvPr/>
        </p:nvSpPr>
        <p:spPr>
          <a:xfrm>
            <a:off x="8613648"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56"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57" name="Shape 46"/>
          <p:cNvSpPr/>
          <p:nvPr/>
        </p:nvSpPr>
        <p:spPr>
          <a:xfrm>
            <a:off x="8193024" y="4443984"/>
            <a:ext cx="3319272" cy="347472"/>
          </a:xfrm>
          <a:prstGeom prst="roundRect">
            <a:avLst>
              <a:gd name="adj" fmla="val 23684"/>
            </a:avLst>
          </a:prstGeom>
          <a:solidFill>
            <a:srgbClr val="EFEBF8"/>
          </a:solidFill>
          <a:ln/>
        </p:spPr>
      </p:sp>
      <p:pic>
        <p:nvPicPr>
          <p:cNvPr id="58" name="Image 9" descr="preencoded.png">    </p:cNvPr>
          <p:cNvPicPr>
            <a:picLocks noChangeAspect="1"/>
          </p:cNvPicPr>
          <p:nvPr/>
        </p:nvPicPr>
        <p:blipFill>
          <a:blip r:embed="rId10"/>
          <a:stretch>
            <a:fillRect/>
          </a:stretch>
        </p:blipFill>
        <p:spPr>
          <a:xfrm>
            <a:off x="8247888" y="4462272"/>
            <a:ext cx="310896" cy="310896"/>
          </a:xfrm>
          <a:prstGeom prst="rect">
            <a:avLst/>
          </a:prstGeom>
        </p:spPr>
      </p:pic>
      <p:sp>
        <p:nvSpPr>
          <p:cNvPr id="59" name="Text 47"/>
          <p:cNvSpPr/>
          <p:nvPr/>
        </p:nvSpPr>
        <p:spPr>
          <a:xfrm>
            <a:off x="8613648"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6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61" name="Shape 49"/>
          <p:cNvSpPr/>
          <p:nvPr/>
        </p:nvSpPr>
        <p:spPr>
          <a:xfrm>
            <a:off x="8193024" y="4864608"/>
            <a:ext cx="3319272" cy="347472"/>
          </a:xfrm>
          <a:prstGeom prst="roundRect">
            <a:avLst>
              <a:gd name="adj" fmla="val 23684"/>
            </a:avLst>
          </a:prstGeom>
          <a:solidFill>
            <a:srgbClr val="EFEBF8"/>
          </a:solidFill>
          <a:ln/>
        </p:spPr>
      </p:sp>
      <p:pic>
        <p:nvPicPr>
          <p:cNvPr id="62" name="Image 10" descr="preencoded.png">    </p:cNvPr>
          <p:cNvPicPr>
            <a:picLocks noChangeAspect="1"/>
          </p:cNvPicPr>
          <p:nvPr/>
        </p:nvPicPr>
        <p:blipFill>
          <a:blip r:embed="rId11"/>
          <a:stretch>
            <a:fillRect/>
          </a:stretch>
        </p:blipFill>
        <p:spPr>
          <a:xfrm>
            <a:off x="8247888" y="4882896"/>
            <a:ext cx="310896" cy="310896"/>
          </a:xfrm>
          <a:prstGeom prst="rect">
            <a:avLst/>
          </a:prstGeom>
        </p:spPr>
      </p:pic>
      <p:sp>
        <p:nvSpPr>
          <p:cNvPr id="63" name="Text 50"/>
          <p:cNvSpPr/>
          <p:nvPr/>
        </p:nvSpPr>
        <p:spPr>
          <a:xfrm>
            <a:off x="8613648"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64"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65" name="Text 52"/>
          <p:cNvSpPr/>
          <p:nvPr/>
        </p:nvSpPr>
        <p:spPr>
          <a:xfrm>
            <a:off x="640080" y="6144768"/>
            <a:ext cx="10607040" cy="502920"/>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Twelve products named. Three already have real content behind them — Bee, India and Quiz — and the rest are still a sentence. The naming rule: sub-brands are SUBJECTS, so there is no Bizzing UK, only a UK edition of Bizzing Eleven.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178A4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C4453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four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5" name="Image 0" descr="preencoded.png">    </p:cNvPr>
          <p:cNvPicPr>
            <a:picLocks noChangeAspect="1"/>
          </p:cNvPicPr>
          <p:nvPr/>
        </p:nvPicPr>
        <p:blipFill>
          <a:blip r:embed="rId1"/>
          <a:stretch>
            <a:fillRect/>
          </a:stretch>
        </p:blipFill>
        <p:spPr>
          <a:xfrm>
            <a:off x="896112" y="2011680"/>
            <a:ext cx="658368" cy="658368"/>
          </a:xfrm>
          <a:prstGeom prst="rect">
            <a:avLst/>
          </a:prstGeom>
        </p:spPr>
      </p:pic>
      <p:sp>
        <p:nvSpPr>
          <p:cNvPr id="6" name="Text 3"/>
          <p:cNvSpPr/>
          <p:nvPr/>
        </p:nvSpPr>
        <p:spPr>
          <a:xfrm>
            <a:off x="896112"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7" name="Text 4"/>
          <p:cNvSpPr/>
          <p:nvPr/>
        </p:nvSpPr>
        <p:spPr>
          <a:xfrm>
            <a:off x="896112"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8" name="Text 5"/>
          <p:cNvSpPr/>
          <p:nvPr/>
        </p:nvSpPr>
        <p:spPr>
          <a:xfrm>
            <a:off x="896112"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00" dirty="0"/>
          </a:p>
        </p:txBody>
      </p:sp>
      <p:sp>
        <p:nvSpPr>
          <p:cNvPr id="9" name="Shape 6"/>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0" name="Image 1" descr="preencoded.png">    </p:cNvPr>
          <p:cNvPicPr>
            <a:picLocks noChangeAspect="1"/>
          </p:cNvPicPr>
          <p:nvPr/>
        </p:nvPicPr>
        <p:blipFill>
          <a:blip r:embed="rId2"/>
          <a:stretch>
            <a:fillRect/>
          </a:stretch>
        </p:blipFill>
        <p:spPr>
          <a:xfrm>
            <a:off x="4581144" y="2011680"/>
            <a:ext cx="658368" cy="658368"/>
          </a:xfrm>
          <a:prstGeom prst="rect">
            <a:avLst/>
          </a:prstGeom>
        </p:spPr>
      </p:pic>
      <p:sp>
        <p:nvSpPr>
          <p:cNvPr id="11" name="Text 7"/>
          <p:cNvSpPr/>
          <p:nvPr/>
        </p:nvSpPr>
        <p:spPr>
          <a:xfrm>
            <a:off x="4581144"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2" name="Text 8"/>
          <p:cNvSpPr/>
          <p:nvPr/>
        </p:nvSpPr>
        <p:spPr>
          <a:xfrm>
            <a:off x="4581144"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3" name="Text 9"/>
          <p:cNvSpPr/>
          <p:nvPr/>
        </p:nvSpPr>
        <p:spPr>
          <a:xfrm>
            <a:off x="4581144"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00" dirty="0"/>
          </a:p>
        </p:txBody>
      </p:sp>
      <p:sp>
        <p:nvSpPr>
          <p:cNvPr id="14" name="Shape 10"/>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5" name="Image 2" descr="preencoded.png">    </p:cNvPr>
          <p:cNvPicPr>
            <a:picLocks noChangeAspect="1"/>
          </p:cNvPicPr>
          <p:nvPr/>
        </p:nvPicPr>
        <p:blipFill>
          <a:blip r:embed="rId3"/>
          <a:stretch>
            <a:fillRect/>
          </a:stretch>
        </p:blipFill>
        <p:spPr>
          <a:xfrm>
            <a:off x="8266176" y="2011680"/>
            <a:ext cx="658368" cy="658368"/>
          </a:xfrm>
          <a:prstGeom prst="rect">
            <a:avLst/>
          </a:prstGeom>
        </p:spPr>
      </p:pic>
      <p:sp>
        <p:nvSpPr>
          <p:cNvPr id="16" name="Text 11"/>
          <p:cNvSpPr/>
          <p:nvPr/>
        </p:nvSpPr>
        <p:spPr>
          <a:xfrm>
            <a:off x="8266176"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17" name="Text 12"/>
          <p:cNvSpPr/>
          <p:nvPr/>
        </p:nvSpPr>
        <p:spPr>
          <a:xfrm>
            <a:off x="8266176"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18" name="Text 13"/>
          <p:cNvSpPr/>
          <p:nvPr/>
        </p:nvSpPr>
        <p:spPr>
          <a:xfrm>
            <a:off x="8266176"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00" dirty="0"/>
          </a:p>
        </p:txBody>
      </p:sp>
      <p:sp>
        <p:nvSpPr>
          <p:cNvPr id="19" name="Shape 14"/>
          <p:cNvSpPr/>
          <p:nvPr/>
        </p:nvSpPr>
        <p:spPr>
          <a:xfrm>
            <a:off x="640080" y="4956048"/>
            <a:ext cx="10607040" cy="1170432"/>
          </a:xfrm>
          <a:prstGeom prst="roundRect">
            <a:avLst>
              <a:gd name="adj" fmla="val 9375"/>
            </a:avLst>
          </a:prstGeom>
          <a:solidFill>
            <a:srgbClr val="FFFFFF">
              <a:alpha val="6000"/>
            </a:srgbClr>
          </a:solidFill>
          <a:ln/>
        </p:spPr>
      </p:sp>
      <p:sp>
        <p:nvSpPr>
          <p:cNvPr id="20" name="Text 15"/>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1" name="Text 16"/>
          <p:cNvSpPr/>
          <p:nvPr/>
        </p:nvSpPr>
        <p:spPr>
          <a:xfrm>
            <a:off x="932688" y="5394960"/>
            <a:ext cx="10012680" cy="64008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Coding · chess · music · dance. Every one has real diaspora demand, and every one needs a solver, a rating system or a live teacher. None of them reuses a single line of what has been built, and each would be a company of its own. Chess in particular is surging right now and is still the wrong answer for this house.</a:t>
            </a:r>
            <a:endParaRPr lang="en-US" sz="1150" dirty="0"/>
          </a:p>
        </p:txBody>
      </p:sp>
      <p:sp>
        <p:nvSpPr>
          <p:cNvPr id="22" name="Text 17"/>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Four products aim here and not one of them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058400" y="457200"/>
            <a:ext cx="1417320" cy="141732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BUSINESS MODEL</a:t>
            </a:r>
            <a:endParaRPr lang="en-US" sz="1200" dirty="0"/>
          </a:p>
        </p:txBody>
      </p:sp>
      <p:sp>
        <p:nvSpPr>
          <p:cNvPr id="4" name="Text 1"/>
          <p:cNvSpPr/>
          <p:nvPr/>
        </p:nvSpPr>
        <p:spPr>
          <a:xfrm>
            <a:off x="640080" y="914400"/>
            <a:ext cx="9692640" cy="8686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Free to arrive. Paid to go deep. Human where it matters.</a:t>
            </a:r>
            <a:endParaRPr lang="en-US" sz="2800" dirty="0"/>
          </a:p>
        </p:txBody>
      </p:sp>
      <p:sp>
        <p:nvSpPr>
          <p:cNvPr id="5" name="Text 2"/>
          <p:cNvSpPr/>
          <p:nvPr/>
        </p:nvSpPr>
        <p:spPr>
          <a:xfrm>
            <a:off x="640080" y="1828800"/>
            <a:ext cx="9692640" cy="658368"/>
          </a:xfrm>
          <a:prstGeom prst="rect">
            <a:avLst/>
          </a:prstGeom>
          <a:noFill/>
          <a:ln/>
        </p:spPr>
        <p:txBody>
          <a:bodyPr wrap="square" lIns="0" tIns="0" rIns="0" bIns="0" rtlCol="0" anchor="ctr"/>
          <a:lstStyle/>
          <a:p>
            <a:pPr indent="0" marL="0">
              <a:lnSpc>
                <a:spcPts val="1600"/>
              </a:lnSpc>
              <a:buNone/>
            </a:pPr>
            <a:r>
              <a:rPr lang="en-US" sz="1250" dirty="0">
                <a:solidFill>
                  <a:srgbClr val="E3DCF2"/>
                </a:solidFill>
                <a:latin typeface="Calibri" pitchFamily="34" charset="0"/>
                <a:ea typeface="Calibri" pitchFamily="34" charset="-122"/>
                <a:cs typeface="Calibri" pitchFamily="34" charset="-120"/>
              </a:rPr>
              <a:t>The unit is the HOUSEHOLD, not the child, and the competitor is the tutor, not the app. A family with three children buys once and stays twelve years — which is why every price is a family price, and why the age gaps cost more than any conversion rate.</a:t>
            </a:r>
            <a:endParaRPr lang="en-US" sz="1250" dirty="0"/>
          </a:p>
        </p:txBody>
      </p:sp>
      <p:sp>
        <p:nvSpPr>
          <p:cNvPr id="6" name="Shape 3"/>
          <p:cNvSpPr/>
          <p:nvPr/>
        </p:nvSpPr>
        <p:spPr>
          <a:xfrm>
            <a:off x="640080" y="2542032"/>
            <a:ext cx="2194560" cy="804672"/>
          </a:xfrm>
          <a:prstGeom prst="roundRect">
            <a:avLst>
              <a:gd name="adj" fmla="val 12500"/>
            </a:avLst>
          </a:prstGeom>
          <a:solidFill>
            <a:srgbClr val="F0B429"/>
          </a:solidFill>
          <a:ln/>
        </p:spPr>
      </p:sp>
      <p:sp>
        <p:nvSpPr>
          <p:cNvPr id="7" name="Text 4"/>
          <p:cNvSpPr/>
          <p:nvPr/>
        </p:nvSpPr>
        <p:spPr>
          <a:xfrm>
            <a:off x="640080" y="26517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FREE</a:t>
            </a:r>
            <a:endParaRPr lang="en-US" sz="950" dirty="0"/>
          </a:p>
        </p:txBody>
      </p:sp>
      <p:sp>
        <p:nvSpPr>
          <p:cNvPr id="8" name="Text 5"/>
          <p:cNvSpPr/>
          <p:nvPr/>
        </p:nvSpPr>
        <p:spPr>
          <a:xfrm>
            <a:off x="640080" y="29352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Arrive</a:t>
            </a:r>
            <a:endParaRPr lang="en-US" sz="1500" dirty="0"/>
          </a:p>
        </p:txBody>
      </p:sp>
      <p:sp>
        <p:nvSpPr>
          <p:cNvPr id="9" name="Text 6"/>
          <p:cNvSpPr/>
          <p:nvPr/>
        </p:nvSpPr>
        <p:spPr>
          <a:xfrm>
            <a:off x="3127248" y="25786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Bee core · Bizzing India culture · the YouTube channel. No card, no signup wall. This layer exists to be shared.</a:t>
            </a:r>
            <a:endParaRPr lang="en-US" sz="1200" dirty="0"/>
          </a:p>
        </p:txBody>
      </p:sp>
      <p:sp>
        <p:nvSpPr>
          <p:cNvPr id="10" name="Shape 7"/>
          <p:cNvSpPr/>
          <p:nvPr/>
        </p:nvSpPr>
        <p:spPr>
          <a:xfrm>
            <a:off x="640080" y="3456432"/>
            <a:ext cx="2194560" cy="804672"/>
          </a:xfrm>
          <a:prstGeom prst="roundRect">
            <a:avLst>
              <a:gd name="adj" fmla="val 12500"/>
            </a:avLst>
          </a:prstGeom>
          <a:solidFill>
            <a:srgbClr val="6C4FE0"/>
          </a:solidFill>
          <a:ln/>
        </p:spPr>
      </p:sp>
      <p:sp>
        <p:nvSpPr>
          <p:cNvPr id="11" name="Text 8"/>
          <p:cNvSpPr/>
          <p:nvPr/>
        </p:nvSpPr>
        <p:spPr>
          <a:xfrm>
            <a:off x="640080" y="35661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SUBSCRIPTION</a:t>
            </a:r>
            <a:endParaRPr lang="en-US" sz="950" dirty="0"/>
          </a:p>
        </p:txBody>
      </p:sp>
      <p:sp>
        <p:nvSpPr>
          <p:cNvPr id="12" name="Text 9"/>
          <p:cNvSpPr/>
          <p:nvPr/>
        </p:nvSpPr>
        <p:spPr>
          <a:xfrm>
            <a:off x="640080" y="38496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deep</a:t>
            </a:r>
            <a:endParaRPr lang="en-US" sz="1500" dirty="0"/>
          </a:p>
        </p:txBody>
      </p:sp>
      <p:sp>
        <p:nvSpPr>
          <p:cNvPr id="13" name="Text 10"/>
          <p:cNvSpPr/>
          <p:nvPr/>
        </p:nvSpPr>
        <p:spPr>
          <a:xfrm>
            <a:off x="3127248" y="34930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Per-product packs, or one family plan across the house. Billed annually up front — the decision that makes week one cash-positive.</a:t>
            </a:r>
            <a:endParaRPr lang="en-US" sz="1200" dirty="0"/>
          </a:p>
        </p:txBody>
      </p:sp>
      <p:sp>
        <p:nvSpPr>
          <p:cNvPr id="14" name="Shape 11"/>
          <p:cNvSpPr/>
          <p:nvPr/>
        </p:nvSpPr>
        <p:spPr>
          <a:xfrm>
            <a:off x="640080" y="4370832"/>
            <a:ext cx="2194560" cy="804672"/>
          </a:xfrm>
          <a:prstGeom prst="roundRect">
            <a:avLst>
              <a:gd name="adj" fmla="val 12500"/>
            </a:avLst>
          </a:prstGeom>
          <a:solidFill>
            <a:srgbClr val="178A4C"/>
          </a:solidFill>
          <a:ln/>
        </p:spPr>
      </p:sp>
      <p:sp>
        <p:nvSpPr>
          <p:cNvPr id="15" name="Text 12"/>
          <p:cNvSpPr/>
          <p:nvPr/>
        </p:nvSpPr>
        <p:spPr>
          <a:xfrm>
            <a:off x="640080" y="448056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COHORT</a:t>
            </a:r>
            <a:endParaRPr lang="en-US" sz="950" dirty="0"/>
          </a:p>
        </p:txBody>
      </p:sp>
      <p:sp>
        <p:nvSpPr>
          <p:cNvPr id="16" name="Text 13"/>
          <p:cNvSpPr/>
          <p:nvPr/>
        </p:nvSpPr>
        <p:spPr>
          <a:xfrm>
            <a:off x="640080" y="476402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 taught</a:t>
            </a:r>
            <a:endParaRPr lang="en-US" sz="1500" dirty="0"/>
          </a:p>
        </p:txBody>
      </p:sp>
      <p:sp>
        <p:nvSpPr>
          <p:cNvPr id="17" name="Text 14"/>
          <p:cNvSpPr/>
          <p:nvPr/>
        </p:nvSpPr>
        <p:spPr>
          <a:xfrm>
            <a:off x="3127248" y="44074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Business, bee coaching, beginner classes. Highest price per family, capped by people rather than by servers.</a:t>
            </a:r>
            <a:endParaRPr lang="en-US" sz="1200" dirty="0"/>
          </a:p>
        </p:txBody>
      </p:sp>
      <p:sp>
        <p:nvSpPr>
          <p:cNvPr id="18" name="Shape 15"/>
          <p:cNvSpPr/>
          <p:nvPr/>
        </p:nvSpPr>
        <p:spPr>
          <a:xfrm>
            <a:off x="640080" y="5285232"/>
            <a:ext cx="2194560" cy="804672"/>
          </a:xfrm>
          <a:prstGeom prst="roundRect">
            <a:avLst>
              <a:gd name="adj" fmla="val 12500"/>
            </a:avLst>
          </a:prstGeom>
          <a:solidFill>
            <a:srgbClr val="E3B23C"/>
          </a:solidFill>
          <a:ln/>
        </p:spPr>
      </p:sp>
      <p:sp>
        <p:nvSpPr>
          <p:cNvPr id="19" name="Text 16"/>
          <p:cNvSpPr/>
          <p:nvPr/>
        </p:nvSpPr>
        <p:spPr>
          <a:xfrm>
            <a:off x="640080" y="5394960"/>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PHYSICAL &amp; MEDIA</a:t>
            </a:r>
            <a:endParaRPr lang="en-US" sz="950" dirty="0"/>
          </a:p>
        </p:txBody>
      </p:sp>
      <p:sp>
        <p:nvSpPr>
          <p:cNvPr id="20" name="Text 17"/>
          <p:cNvSpPr/>
          <p:nvPr/>
        </p:nvSpPr>
        <p:spPr>
          <a:xfrm>
            <a:off x="640080" y="5678424"/>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Take it home</a:t>
            </a:r>
            <a:endParaRPr lang="en-US" sz="1500" dirty="0"/>
          </a:p>
        </p:txBody>
      </p:sp>
      <p:sp>
        <p:nvSpPr>
          <p:cNvPr id="21" name="Text 18"/>
          <p:cNvSpPr/>
          <p:nvPr/>
        </p:nvSpPr>
        <p:spPr>
          <a:xfrm>
            <a:off x="3127248" y="53218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Books, avatar cards, plushies and tees; YouTube ad and sponsorship. Margin support, and a brand a child can hold.</a:t>
            </a:r>
            <a:endParaRPr lang="en-US" sz="1200" dirty="0"/>
          </a:p>
        </p:txBody>
      </p:sp>
      <p:sp>
        <p:nvSpPr>
          <p:cNvPr id="22" name="Text 19"/>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Everything after this slide derives from one assumption block, printed in full at the end — so any number can be argued with by changing an input rather than by disbelieving a chart.</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966960" y="5029200"/>
            <a:ext cx="640080" cy="640080"/>
          </a:xfrm>
          <a:prstGeom prst="hexagon">
            <a:avLst/>
          </a:prstGeom>
          <a:solidFill>
            <a:srgbClr val="178A4C">
              <a:alpha val="18000"/>
            </a:srgbClr>
          </a:solidFill>
          <a:ln/>
        </p:spPr>
      </p:sp>
      <p:sp>
        <p:nvSpPr>
          <p:cNvPr id="3" name="Shape 1"/>
          <p:cNvSpPr/>
          <p:nvPr/>
        </p:nvSpPr>
        <p:spPr>
          <a:xfrm rot="5400000">
            <a:off x="10771632" y="5029200"/>
            <a:ext cx="640080" cy="640080"/>
          </a:xfrm>
          <a:prstGeom prst="hexagon">
            <a:avLst/>
          </a:prstGeom>
          <a:solidFill>
            <a:srgbClr val="178A4C">
              <a:alpha val="18000"/>
            </a:srgbClr>
          </a:solidFill>
          <a:ln/>
        </p:spPr>
      </p:sp>
      <p:sp>
        <p:nvSpPr>
          <p:cNvPr id="4" name="Shape 2"/>
          <p:cNvSpPr/>
          <p:nvPr/>
        </p:nvSpPr>
        <p:spPr>
          <a:xfrm rot="5400000">
            <a:off x="11576304" y="5029200"/>
            <a:ext cx="640080" cy="640080"/>
          </a:xfrm>
          <a:prstGeom prst="hexagon">
            <a:avLst/>
          </a:prstGeom>
          <a:solidFill>
            <a:srgbClr val="178A4C">
              <a:alpha val="18000"/>
            </a:srgbClr>
          </a:solidFill>
          <a:ln/>
        </p:spPr>
      </p:sp>
      <p:sp>
        <p:nvSpPr>
          <p:cNvPr id="5" name="Text 3"/>
          <p:cNvSpPr/>
          <p:nvPr/>
        </p:nvSpPr>
        <p:spPr>
          <a:xfrm>
            <a:off x="640080" y="502920"/>
            <a:ext cx="73152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CONSTRAINT</a:t>
            </a:r>
            <a:endParaRPr lang="en-US" sz="1200" dirty="0"/>
          </a:p>
        </p:txBody>
      </p:sp>
      <p:sp>
        <p:nvSpPr>
          <p:cNvPr id="6" name="Text 4"/>
          <p:cNvSpPr/>
          <p:nvPr/>
        </p:nvSpPr>
        <p:spPr>
          <a:xfrm>
            <a:off x="640080" y="841248"/>
            <a:ext cx="1042416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Profitable in week one. No outside cash, in any year.</a:t>
            </a:r>
            <a:endParaRPr lang="en-US" sz="3000" dirty="0"/>
          </a:p>
        </p:txBody>
      </p:sp>
      <p:sp>
        <p:nvSpPr>
          <p:cNvPr id="7" name="Text 5"/>
          <p:cNvSpPr/>
          <p:nvPr/>
        </p:nvSpPr>
        <p:spPr>
          <a:xfrm>
            <a:off x="640080" y="1682496"/>
            <a:ext cx="10424160" cy="329184"/>
          </a:xfrm>
          <a:prstGeom prst="rect">
            <a:avLst/>
          </a:prstGeom>
          <a:noFill/>
          <a:ln/>
        </p:spPr>
        <p:txBody>
          <a:bodyPr wrap="square" lIns="0" tIns="0" rIns="0" bIns="0" rtlCol="0" anchor="ctr"/>
          <a:lstStyle/>
          <a:p>
            <a:pPr indent="0" marL="0">
              <a:buNone/>
            </a:pPr>
            <a:r>
              <a:rPr lang="en-US" sz="1300" dirty="0">
                <a:solidFill>
                  <a:srgbClr val="E3DCF2"/>
                </a:solidFill>
                <a:latin typeface="Calibri" pitchFamily="34" charset="0"/>
                <a:ea typeface="Calibri" pitchFamily="34" charset="-122"/>
                <a:cs typeface="Calibri" pitchFamily="34" charset="-120"/>
              </a:rPr>
              <a:t>This is not a forecast that happens to turn positive. It is a cost structure built so that it cannot turn negative.</a:t>
            </a:r>
            <a:endParaRPr lang="en-US" sz="1300" dirty="0"/>
          </a:p>
        </p:txBody>
      </p:sp>
      <p:sp>
        <p:nvSpPr>
          <p:cNvPr id="8" name="Shape 6"/>
          <p:cNvSpPr/>
          <p:nvPr/>
        </p:nvSpPr>
        <p:spPr>
          <a:xfrm>
            <a:off x="640080" y="2157984"/>
            <a:ext cx="4754880" cy="2487168"/>
          </a:xfrm>
          <a:prstGeom prst="roundRect">
            <a:avLst>
              <a:gd name="adj" fmla="val 5147"/>
            </a:avLst>
          </a:prstGeom>
          <a:solidFill>
            <a:srgbClr val="FFFFFF">
              <a:alpha val="8000"/>
            </a:srgbClr>
          </a:solidFill>
          <a:ln/>
        </p:spPr>
      </p:sp>
      <p:sp>
        <p:nvSpPr>
          <p:cNvPr id="9" name="Text 7"/>
          <p:cNvSpPr/>
          <p:nvPr/>
        </p:nvSpPr>
        <p:spPr>
          <a:xfrm>
            <a:off x="896112" y="2286000"/>
            <a:ext cx="420624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WEEK ONE, IN FULL</a:t>
            </a:r>
            <a:endParaRPr lang="en-US" sz="950" dirty="0"/>
          </a:p>
        </p:txBody>
      </p:sp>
      <p:sp>
        <p:nvSpPr>
          <p:cNvPr id="10" name="Text 8"/>
          <p:cNvSpPr/>
          <p:nvPr/>
        </p:nvSpPr>
        <p:spPr>
          <a:xfrm>
            <a:off x="896112" y="2615184"/>
            <a:ext cx="3200400" cy="25603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4 households × $250, billed annually</a:t>
            </a:r>
            <a:endParaRPr lang="en-US" sz="1000" dirty="0"/>
          </a:p>
        </p:txBody>
      </p:sp>
      <p:sp>
        <p:nvSpPr>
          <p:cNvPr id="11" name="Text 9"/>
          <p:cNvSpPr/>
          <p:nvPr/>
        </p:nvSpPr>
        <p:spPr>
          <a:xfrm>
            <a:off x="4023360" y="2615184"/>
            <a:ext cx="1097280" cy="256032"/>
          </a:xfrm>
          <a:prstGeom prst="rect">
            <a:avLst/>
          </a:prstGeom>
          <a:noFill/>
          <a:ln/>
        </p:spPr>
        <p:txBody>
          <a:bodyPr wrap="square" lIns="0" tIns="0" rIns="0" bIns="0" rtlCol="0" anchor="ctr"/>
          <a:lstStyle/>
          <a:p>
            <a:pPr algn="r" indent="0" marL="0">
              <a:buNone/>
            </a:pPr>
            <a:r>
              <a:rPr lang="en-US" sz="1050" b="1" dirty="0">
                <a:solidFill>
                  <a:srgbClr val="178A4C"/>
                </a:solidFill>
                <a:latin typeface="Calibri" pitchFamily="34" charset="0"/>
                <a:ea typeface="Calibri" pitchFamily="34" charset="-122"/>
                <a:cs typeface="Calibri" pitchFamily="34" charset="-120"/>
              </a:rPr>
              <a:t>+$1,000</a:t>
            </a:r>
            <a:endParaRPr lang="en-US" sz="1050" dirty="0"/>
          </a:p>
        </p:txBody>
      </p:sp>
      <p:sp>
        <p:nvSpPr>
          <p:cNvPr id="12" name="Text 10"/>
          <p:cNvSpPr/>
          <p:nvPr/>
        </p:nvSpPr>
        <p:spPr>
          <a:xfrm>
            <a:off x="896112" y="2898648"/>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Paid media — 18% of that revenue</a:t>
            </a:r>
            <a:endParaRPr lang="en-US" sz="1000" dirty="0"/>
          </a:p>
        </p:txBody>
      </p:sp>
      <p:sp>
        <p:nvSpPr>
          <p:cNvPr id="13" name="Text 11"/>
          <p:cNvSpPr/>
          <p:nvPr/>
        </p:nvSpPr>
        <p:spPr>
          <a:xfrm>
            <a:off x="4023360" y="2898648"/>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−$180</a:t>
            </a:r>
            <a:endParaRPr lang="en-US" sz="1050" dirty="0"/>
          </a:p>
        </p:txBody>
      </p:sp>
      <p:sp>
        <p:nvSpPr>
          <p:cNvPr id="14" name="Text 12"/>
          <p:cNvSpPr/>
          <p:nvPr/>
        </p:nvSpPr>
        <p:spPr>
          <a:xfrm>
            <a:off x="896112" y="3182112"/>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Content &amp; tools — weekly share</a:t>
            </a:r>
            <a:endParaRPr lang="en-US" sz="1000" dirty="0"/>
          </a:p>
        </p:txBody>
      </p:sp>
      <p:sp>
        <p:nvSpPr>
          <p:cNvPr id="15" name="Text 13"/>
          <p:cNvSpPr/>
          <p:nvPr/>
        </p:nvSpPr>
        <p:spPr>
          <a:xfrm>
            <a:off x="4023360" y="3182112"/>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−$208</a:t>
            </a:r>
            <a:endParaRPr lang="en-US" sz="1050" dirty="0"/>
          </a:p>
        </p:txBody>
      </p:sp>
      <p:sp>
        <p:nvSpPr>
          <p:cNvPr id="16" name="Text 14"/>
          <p:cNvSpPr/>
          <p:nvPr/>
        </p:nvSpPr>
        <p:spPr>
          <a:xfrm>
            <a:off x="896112" y="3465576"/>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Payment fees — 3.5%</a:t>
            </a:r>
            <a:endParaRPr lang="en-US" sz="1000" dirty="0"/>
          </a:p>
        </p:txBody>
      </p:sp>
      <p:sp>
        <p:nvSpPr>
          <p:cNvPr id="17" name="Text 15"/>
          <p:cNvSpPr/>
          <p:nvPr/>
        </p:nvSpPr>
        <p:spPr>
          <a:xfrm>
            <a:off x="4023360" y="3465576"/>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−$35</a:t>
            </a:r>
            <a:endParaRPr lang="en-US" sz="1050" dirty="0"/>
          </a:p>
        </p:txBody>
      </p:sp>
      <p:sp>
        <p:nvSpPr>
          <p:cNvPr id="18" name="Text 16"/>
          <p:cNvSpPr/>
          <p:nvPr/>
        </p:nvSpPr>
        <p:spPr>
          <a:xfrm>
            <a:off x="896112" y="3749040"/>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Hosting</a:t>
            </a:r>
            <a:endParaRPr lang="en-US" sz="1000" dirty="0"/>
          </a:p>
        </p:txBody>
      </p:sp>
      <p:sp>
        <p:nvSpPr>
          <p:cNvPr id="19" name="Text 17"/>
          <p:cNvSpPr/>
          <p:nvPr/>
        </p:nvSpPr>
        <p:spPr>
          <a:xfrm>
            <a:off x="4023360" y="3749040"/>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a:t>
            </a:r>
            <a:endParaRPr lang="en-US" sz="1050" dirty="0"/>
          </a:p>
        </p:txBody>
      </p:sp>
      <p:sp>
        <p:nvSpPr>
          <p:cNvPr id="20" name="Text 18"/>
          <p:cNvSpPr/>
          <p:nvPr/>
        </p:nvSpPr>
        <p:spPr>
          <a:xfrm>
            <a:off x="896112" y="4032504"/>
            <a:ext cx="3200400" cy="256032"/>
          </a:xfrm>
          <a:prstGeom prst="rect">
            <a:avLst/>
          </a:prstGeom>
          <a:noFill/>
          <a:ln/>
        </p:spPr>
        <p:txBody>
          <a:bodyPr wrap="square" lIns="0" tIns="0" rIns="0" bIns="0" rtlCol="0" anchor="ctr"/>
          <a:lstStyle/>
          <a:p>
            <a:pPr indent="0" marL="0">
              <a:buNone/>
            </a:pPr>
            <a:r>
              <a:rPr lang="en-US" sz="1000" dirty="0">
                <a:solidFill>
                  <a:srgbClr val="E3DCF2"/>
                </a:solidFill>
                <a:latin typeface="Calibri" pitchFamily="34" charset="0"/>
                <a:ea typeface="Calibri" pitchFamily="34" charset="-122"/>
                <a:cs typeface="Calibri" pitchFamily="34" charset="-120"/>
              </a:rPr>
              <a:t>G&amp;A — weekly share</a:t>
            </a:r>
            <a:endParaRPr lang="en-US" sz="1000" dirty="0"/>
          </a:p>
        </p:txBody>
      </p:sp>
      <p:sp>
        <p:nvSpPr>
          <p:cNvPr id="21" name="Text 19"/>
          <p:cNvSpPr/>
          <p:nvPr/>
        </p:nvSpPr>
        <p:spPr>
          <a:xfrm>
            <a:off x="4023360" y="4032504"/>
            <a:ext cx="1097280" cy="256032"/>
          </a:xfrm>
          <a:prstGeom prst="rect">
            <a:avLst/>
          </a:prstGeom>
          <a:noFill/>
          <a:ln/>
        </p:spPr>
        <p:txBody>
          <a:bodyPr wrap="square" lIns="0" tIns="0" rIns="0" bIns="0" rtlCol="0" anchor="ctr"/>
          <a:lstStyle/>
          <a:p>
            <a:pPr algn="r" indent="0" marL="0">
              <a:buNone/>
            </a:pPr>
            <a:r>
              <a:rPr lang="en-US" sz="1050" b="1" dirty="0">
                <a:solidFill>
                  <a:srgbClr val="E3DCF2"/>
                </a:solidFill>
                <a:latin typeface="Calibri" pitchFamily="34" charset="0"/>
                <a:ea typeface="Calibri" pitchFamily="34" charset="-122"/>
                <a:cs typeface="Calibri" pitchFamily="34" charset="-120"/>
              </a:rPr>
              <a:t>−$40</a:t>
            </a:r>
            <a:endParaRPr lang="en-US" sz="1050" dirty="0"/>
          </a:p>
        </p:txBody>
      </p:sp>
      <p:sp>
        <p:nvSpPr>
          <p:cNvPr id="22" name="Shape 20"/>
          <p:cNvSpPr/>
          <p:nvPr/>
        </p:nvSpPr>
        <p:spPr>
          <a:xfrm>
            <a:off x="896112" y="4352544"/>
            <a:ext cx="4224528" cy="0"/>
          </a:xfrm>
          <a:prstGeom prst="line">
            <a:avLst/>
          </a:prstGeom>
          <a:noFill/>
          <a:ln w="12700">
            <a:solidFill>
              <a:srgbClr val="FFFFFF">
                <a:alpha val="40000"/>
              </a:srgbClr>
            </a:solidFill>
            <a:prstDash val="solid"/>
          </a:ln>
        </p:spPr>
      </p:sp>
      <p:sp>
        <p:nvSpPr>
          <p:cNvPr id="23" name="Text 21"/>
          <p:cNvSpPr/>
          <p:nvPr/>
        </p:nvSpPr>
        <p:spPr>
          <a:xfrm>
            <a:off x="896112" y="4407408"/>
            <a:ext cx="2743200" cy="310896"/>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Week-one profit</a:t>
            </a:r>
            <a:endParaRPr lang="en-US" sz="1300" dirty="0"/>
          </a:p>
        </p:txBody>
      </p:sp>
      <p:sp>
        <p:nvSpPr>
          <p:cNvPr id="24" name="Text 22"/>
          <p:cNvSpPr/>
          <p:nvPr/>
        </p:nvSpPr>
        <p:spPr>
          <a:xfrm>
            <a:off x="3566160" y="4389120"/>
            <a:ext cx="1554480" cy="329184"/>
          </a:xfrm>
          <a:prstGeom prst="rect">
            <a:avLst/>
          </a:prstGeom>
          <a:noFill/>
          <a:ln/>
        </p:spPr>
        <p:txBody>
          <a:bodyPr wrap="square" lIns="0" tIns="0" rIns="0" bIns="0" rtlCol="0" anchor="ctr"/>
          <a:lstStyle/>
          <a:p>
            <a:pPr algn="r" indent="0" marL="0">
              <a:buNone/>
            </a:pPr>
            <a:r>
              <a:rPr lang="en-US" sz="2100" b="1" dirty="0">
                <a:solidFill>
                  <a:srgbClr val="178A4C"/>
                </a:solidFill>
                <a:latin typeface="Cambria" pitchFamily="34" charset="0"/>
                <a:ea typeface="Cambria" pitchFamily="34" charset="-122"/>
                <a:cs typeface="Cambria" pitchFamily="34" charset="-120"/>
              </a:rPr>
              <a:t>+$533</a:t>
            </a:r>
            <a:endParaRPr lang="en-US" sz="2100" dirty="0"/>
          </a:p>
        </p:txBody>
      </p:sp>
      <p:sp>
        <p:nvSpPr>
          <p:cNvPr id="25" name="Text 23"/>
          <p:cNvSpPr/>
          <p:nvPr/>
        </p:nvSpPr>
        <p:spPr>
          <a:xfrm>
            <a:off x="5852160" y="2286000"/>
            <a:ext cx="5486400" cy="256032"/>
          </a:xfrm>
          <a:prstGeom prst="rect">
            <a:avLst/>
          </a:prstGeom>
          <a:noFill/>
          <a:ln/>
        </p:spPr>
        <p:txBody>
          <a:bodyPr wrap="square" lIns="0" tIns="0" rIns="0" bIns="0" rtlCol="0" anchor="ctr"/>
          <a:lstStyle/>
          <a:p>
            <a:pPr indent="0" marL="0">
              <a:buNone/>
            </a:pPr>
            <a:r>
              <a:rPr lang="en-US" sz="950" b="1" spc="180" kern="0" dirty="0">
                <a:solidFill>
                  <a:srgbClr val="F0B429"/>
                </a:solidFill>
                <a:latin typeface="Calibri" pitchFamily="34" charset="0"/>
                <a:ea typeface="Calibri" pitchFamily="34" charset="-122"/>
                <a:cs typeface="Calibri" pitchFamily="34" charset="-120"/>
              </a:rPr>
              <a:t>THE THREE RULES</a:t>
            </a:r>
            <a:endParaRPr lang="en-US" sz="950" dirty="0"/>
          </a:p>
        </p:txBody>
      </p:sp>
      <p:sp>
        <p:nvSpPr>
          <p:cNvPr id="26" name="Shape 24"/>
          <p:cNvSpPr/>
          <p:nvPr/>
        </p:nvSpPr>
        <p:spPr>
          <a:xfrm rot="5400000">
            <a:off x="5852160" y="2615184"/>
            <a:ext cx="384048" cy="384048"/>
          </a:xfrm>
          <a:prstGeom prst="hexagon">
            <a:avLst/>
          </a:prstGeom>
          <a:solidFill>
            <a:srgbClr val="6C4FE0"/>
          </a:solidFill>
          <a:ln/>
        </p:spPr>
      </p:sp>
      <p:sp>
        <p:nvSpPr>
          <p:cNvPr id="27" name="Text 25"/>
          <p:cNvSpPr/>
          <p:nvPr/>
        </p:nvSpPr>
        <p:spPr>
          <a:xfrm>
            <a:off x="5852160" y="2615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8" name="Text 26"/>
          <p:cNvSpPr/>
          <p:nvPr/>
        </p:nvSpPr>
        <p:spPr>
          <a:xfrm>
            <a:off x="6382512" y="2587752"/>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Bill the year up front</a:t>
            </a:r>
            <a:endParaRPr lang="en-US" sz="1300" dirty="0"/>
          </a:p>
        </p:txBody>
      </p:sp>
      <p:sp>
        <p:nvSpPr>
          <p:cNvPr id="29" name="Text 27"/>
          <p:cNvSpPr/>
          <p:nvPr/>
        </p:nvSpPr>
        <p:spPr>
          <a:xfrm>
            <a:off x="6382512" y="2825496"/>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Cash arrives before the service is delivered. A household that joins in January funds twelve months of its own cost on the day it joins.</a:t>
            </a:r>
            <a:endParaRPr lang="en-US" sz="950" dirty="0"/>
          </a:p>
        </p:txBody>
      </p:sp>
      <p:sp>
        <p:nvSpPr>
          <p:cNvPr id="30" name="Shape 28"/>
          <p:cNvSpPr/>
          <p:nvPr/>
        </p:nvSpPr>
        <p:spPr>
          <a:xfrm rot="5400000">
            <a:off x="5852160" y="3310128"/>
            <a:ext cx="384048" cy="384048"/>
          </a:xfrm>
          <a:prstGeom prst="hexagon">
            <a:avLst/>
          </a:prstGeom>
          <a:solidFill>
            <a:srgbClr val="F0B429"/>
          </a:solidFill>
          <a:ln/>
        </p:spPr>
      </p:sp>
      <p:sp>
        <p:nvSpPr>
          <p:cNvPr id="31" name="Text 29"/>
          <p:cNvSpPr/>
          <p:nvPr/>
        </p:nvSpPr>
        <p:spPr>
          <a:xfrm>
            <a:off x="5852160" y="331012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32" name="Text 30"/>
          <p:cNvSpPr/>
          <p:nvPr/>
        </p:nvSpPr>
        <p:spPr>
          <a:xfrm>
            <a:off x="6382512" y="3282696"/>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Every discretionary cost is a % of revenue</a:t>
            </a:r>
            <a:endParaRPr lang="en-US" sz="1300" dirty="0"/>
          </a:p>
        </p:txBody>
      </p:sp>
      <p:sp>
        <p:nvSpPr>
          <p:cNvPr id="33" name="Text 31"/>
          <p:cNvSpPr/>
          <p:nvPr/>
        </p:nvSpPr>
        <p:spPr>
          <a:xfrm>
            <a:off x="6382512" y="3520440"/>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Paid media 18%. Content and tools 12%. Mentors 50% of cohort revenue only. COGS 55% of physical revenue only. These are not budgets — they are fractions, and a fraction of income cannot exceed income.</a:t>
            </a:r>
            <a:endParaRPr lang="en-US" sz="950" dirty="0"/>
          </a:p>
        </p:txBody>
      </p:sp>
      <p:sp>
        <p:nvSpPr>
          <p:cNvPr id="34" name="Shape 32"/>
          <p:cNvSpPr/>
          <p:nvPr/>
        </p:nvSpPr>
        <p:spPr>
          <a:xfrm rot="5400000">
            <a:off x="5852160" y="4005072"/>
            <a:ext cx="384048" cy="384048"/>
          </a:xfrm>
          <a:prstGeom prst="hexagon">
            <a:avLst/>
          </a:prstGeom>
          <a:solidFill>
            <a:srgbClr val="6C4FE0"/>
          </a:solidFill>
          <a:ln/>
        </p:spPr>
      </p:sp>
      <p:sp>
        <p:nvSpPr>
          <p:cNvPr id="35" name="Text 33"/>
          <p:cNvSpPr/>
          <p:nvPr/>
        </p:nvSpPr>
        <p:spPr>
          <a:xfrm>
            <a:off x="5852160" y="40050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36" name="Text 34"/>
          <p:cNvSpPr/>
          <p:nvPr/>
        </p:nvSpPr>
        <p:spPr>
          <a:xfrm>
            <a:off x="6382512" y="3977640"/>
            <a:ext cx="512064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Fixed cost stays smaller than one week of sales</a:t>
            </a:r>
            <a:endParaRPr lang="en-US" sz="1300" dirty="0"/>
          </a:p>
        </p:txBody>
      </p:sp>
      <p:sp>
        <p:nvSpPr>
          <p:cNvPr id="37" name="Text 35"/>
          <p:cNvSpPr/>
          <p:nvPr/>
        </p:nvSpPr>
        <p:spPr>
          <a:xfrm>
            <a:off x="6382512" y="4215384"/>
            <a:ext cx="5120640" cy="457200"/>
          </a:xfrm>
          <a:prstGeom prst="rect">
            <a:avLst/>
          </a:prstGeom>
          <a:noFill/>
          <a:ln/>
        </p:spPr>
        <p:txBody>
          <a:bodyPr wrap="square" lIns="0" tIns="0" rIns="0" bIns="0" rtlCol="0" anchor="ctr"/>
          <a:lstStyle/>
          <a:p>
            <a:pPr indent="0" marL="0">
              <a:lnSpc>
                <a:spcPts val="1150"/>
              </a:lnSpc>
              <a:buNone/>
            </a:pPr>
            <a:r>
              <a:rPr lang="en-US" sz="950" dirty="0">
                <a:solidFill>
                  <a:srgbClr val="E3DCF2"/>
                </a:solidFill>
                <a:latin typeface="Calibri" pitchFamily="34" charset="0"/>
                <a:ea typeface="Calibri" pitchFamily="34" charset="-122"/>
                <a:cs typeface="Calibri" pitchFamily="34" charset="-120"/>
              </a:rPr>
              <a:t>G&amp;A and hosting total $2.1k in Year 1 — $40 a week against $1,000 of weekly revenue. Nothing else is fixed.</a:t>
            </a:r>
            <a:endParaRPr lang="en-US" sz="950" dirty="0"/>
          </a:p>
        </p:txBody>
      </p:sp>
      <p:sp>
        <p:nvSpPr>
          <p:cNvPr id="38" name="Text 36"/>
          <p:cNvSpPr/>
          <p:nvPr/>
        </p:nvSpPr>
        <p:spPr>
          <a:xfrm>
            <a:off x="640080" y="4846320"/>
            <a:ext cx="4572000" cy="274320"/>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EBITDA, every year, base case</a:t>
            </a:r>
            <a:endParaRPr lang="en-US" sz="950" dirty="0"/>
          </a:p>
        </p:txBody>
      </p:sp>
      <p:sp>
        <p:nvSpPr>
          <p:cNvPr id="39" name="Shape 37"/>
          <p:cNvSpPr/>
          <p:nvPr/>
        </p:nvSpPr>
        <p:spPr>
          <a:xfrm>
            <a:off x="640080" y="5138928"/>
            <a:ext cx="1965960" cy="566928"/>
          </a:xfrm>
          <a:prstGeom prst="roundRect">
            <a:avLst>
              <a:gd name="adj" fmla="val 16129"/>
            </a:avLst>
          </a:prstGeom>
          <a:solidFill>
            <a:srgbClr val="178A4C">
              <a:alpha val="24000"/>
            </a:srgbClr>
          </a:solidFill>
          <a:ln/>
        </p:spPr>
      </p:sp>
      <p:sp>
        <p:nvSpPr>
          <p:cNvPr id="40" name="Text 38"/>
          <p:cNvSpPr/>
          <p:nvPr/>
        </p:nvSpPr>
        <p:spPr>
          <a:xfrm>
            <a:off x="78638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Y1</a:t>
            </a:r>
            <a:endParaRPr lang="en-US" sz="950" dirty="0"/>
          </a:p>
        </p:txBody>
      </p:sp>
      <p:sp>
        <p:nvSpPr>
          <p:cNvPr id="41" name="Text 39"/>
          <p:cNvSpPr/>
          <p:nvPr/>
        </p:nvSpPr>
        <p:spPr>
          <a:xfrm>
            <a:off x="114300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+$7k</a:t>
            </a:r>
            <a:endParaRPr lang="en-US" sz="1600" dirty="0"/>
          </a:p>
        </p:txBody>
      </p:sp>
      <p:sp>
        <p:nvSpPr>
          <p:cNvPr id="42" name="Shape 40"/>
          <p:cNvSpPr/>
          <p:nvPr/>
        </p:nvSpPr>
        <p:spPr>
          <a:xfrm>
            <a:off x="2788920" y="5138928"/>
            <a:ext cx="1965960" cy="566928"/>
          </a:xfrm>
          <a:prstGeom prst="roundRect">
            <a:avLst>
              <a:gd name="adj" fmla="val 16129"/>
            </a:avLst>
          </a:prstGeom>
          <a:solidFill>
            <a:srgbClr val="178A4C">
              <a:alpha val="24000"/>
            </a:srgbClr>
          </a:solidFill>
          <a:ln/>
        </p:spPr>
      </p:sp>
      <p:sp>
        <p:nvSpPr>
          <p:cNvPr id="43" name="Text 41"/>
          <p:cNvSpPr/>
          <p:nvPr/>
        </p:nvSpPr>
        <p:spPr>
          <a:xfrm>
            <a:off x="293522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Y2</a:t>
            </a:r>
            <a:endParaRPr lang="en-US" sz="950" dirty="0"/>
          </a:p>
        </p:txBody>
      </p:sp>
      <p:sp>
        <p:nvSpPr>
          <p:cNvPr id="44" name="Text 42"/>
          <p:cNvSpPr/>
          <p:nvPr/>
        </p:nvSpPr>
        <p:spPr>
          <a:xfrm>
            <a:off x="329184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+$52k</a:t>
            </a:r>
            <a:endParaRPr lang="en-US" sz="1600" dirty="0"/>
          </a:p>
        </p:txBody>
      </p:sp>
      <p:sp>
        <p:nvSpPr>
          <p:cNvPr id="45" name="Shape 43"/>
          <p:cNvSpPr/>
          <p:nvPr/>
        </p:nvSpPr>
        <p:spPr>
          <a:xfrm>
            <a:off x="4937760" y="5138928"/>
            <a:ext cx="1965960" cy="566928"/>
          </a:xfrm>
          <a:prstGeom prst="roundRect">
            <a:avLst>
              <a:gd name="adj" fmla="val 16129"/>
            </a:avLst>
          </a:prstGeom>
          <a:solidFill>
            <a:srgbClr val="178A4C">
              <a:alpha val="24000"/>
            </a:srgbClr>
          </a:solidFill>
          <a:ln/>
        </p:spPr>
      </p:sp>
      <p:sp>
        <p:nvSpPr>
          <p:cNvPr id="46" name="Text 44"/>
          <p:cNvSpPr/>
          <p:nvPr/>
        </p:nvSpPr>
        <p:spPr>
          <a:xfrm>
            <a:off x="508406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Y3</a:t>
            </a:r>
            <a:endParaRPr lang="en-US" sz="950" dirty="0"/>
          </a:p>
        </p:txBody>
      </p:sp>
      <p:sp>
        <p:nvSpPr>
          <p:cNvPr id="47" name="Text 45"/>
          <p:cNvSpPr/>
          <p:nvPr/>
        </p:nvSpPr>
        <p:spPr>
          <a:xfrm>
            <a:off x="544068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+$210k</a:t>
            </a:r>
            <a:endParaRPr lang="en-US" sz="1600" dirty="0"/>
          </a:p>
        </p:txBody>
      </p:sp>
      <p:sp>
        <p:nvSpPr>
          <p:cNvPr id="48" name="Shape 46"/>
          <p:cNvSpPr/>
          <p:nvPr/>
        </p:nvSpPr>
        <p:spPr>
          <a:xfrm>
            <a:off x="7086600" y="5138928"/>
            <a:ext cx="1965960" cy="566928"/>
          </a:xfrm>
          <a:prstGeom prst="roundRect">
            <a:avLst>
              <a:gd name="adj" fmla="val 16129"/>
            </a:avLst>
          </a:prstGeom>
          <a:solidFill>
            <a:srgbClr val="178A4C">
              <a:alpha val="24000"/>
            </a:srgbClr>
          </a:solidFill>
          <a:ln/>
        </p:spPr>
      </p:sp>
      <p:sp>
        <p:nvSpPr>
          <p:cNvPr id="49" name="Text 47"/>
          <p:cNvSpPr/>
          <p:nvPr/>
        </p:nvSpPr>
        <p:spPr>
          <a:xfrm>
            <a:off x="723290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Y4</a:t>
            </a:r>
            <a:endParaRPr lang="en-US" sz="950" dirty="0"/>
          </a:p>
        </p:txBody>
      </p:sp>
      <p:sp>
        <p:nvSpPr>
          <p:cNvPr id="50" name="Text 48"/>
          <p:cNvSpPr/>
          <p:nvPr/>
        </p:nvSpPr>
        <p:spPr>
          <a:xfrm>
            <a:off x="758952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+$450k</a:t>
            </a:r>
            <a:endParaRPr lang="en-US" sz="1600" dirty="0"/>
          </a:p>
        </p:txBody>
      </p:sp>
      <p:sp>
        <p:nvSpPr>
          <p:cNvPr id="51" name="Shape 49"/>
          <p:cNvSpPr/>
          <p:nvPr/>
        </p:nvSpPr>
        <p:spPr>
          <a:xfrm>
            <a:off x="9235440" y="5138928"/>
            <a:ext cx="1965960" cy="566928"/>
          </a:xfrm>
          <a:prstGeom prst="roundRect">
            <a:avLst>
              <a:gd name="adj" fmla="val 16129"/>
            </a:avLst>
          </a:prstGeom>
          <a:solidFill>
            <a:srgbClr val="178A4C">
              <a:alpha val="24000"/>
            </a:srgbClr>
          </a:solidFill>
          <a:ln/>
        </p:spPr>
      </p:sp>
      <p:sp>
        <p:nvSpPr>
          <p:cNvPr id="52" name="Text 50"/>
          <p:cNvSpPr/>
          <p:nvPr/>
        </p:nvSpPr>
        <p:spPr>
          <a:xfrm>
            <a:off x="9381744" y="5212080"/>
            <a:ext cx="329184" cy="420624"/>
          </a:xfrm>
          <a:prstGeom prst="rect">
            <a:avLst/>
          </a:prstGeom>
          <a:noFill/>
          <a:ln/>
        </p:spPr>
        <p:txBody>
          <a:bodyPr wrap="square" lIns="0" tIns="0" rIns="0" bIns="0" rtlCol="0" anchor="ctr"/>
          <a:lstStyle/>
          <a:p>
            <a:pPr indent="0" marL="0">
              <a:buNone/>
            </a:pPr>
            <a:r>
              <a:rPr lang="en-US" sz="950" b="1" dirty="0">
                <a:solidFill>
                  <a:srgbClr val="E3DCF2"/>
                </a:solidFill>
                <a:latin typeface="Calibri" pitchFamily="34" charset="0"/>
                <a:ea typeface="Calibri" pitchFamily="34" charset="-122"/>
                <a:cs typeface="Calibri" pitchFamily="34" charset="-120"/>
              </a:rPr>
              <a:t>Y5</a:t>
            </a:r>
            <a:endParaRPr lang="en-US" sz="950" dirty="0"/>
          </a:p>
        </p:txBody>
      </p:sp>
      <p:sp>
        <p:nvSpPr>
          <p:cNvPr id="53" name="Text 51"/>
          <p:cNvSpPr/>
          <p:nvPr/>
        </p:nvSpPr>
        <p:spPr>
          <a:xfrm>
            <a:off x="9738360" y="5212080"/>
            <a:ext cx="1316736" cy="420624"/>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+$829k</a:t>
            </a:r>
            <a:endParaRPr lang="en-US" sz="1600" dirty="0"/>
          </a:p>
        </p:txBody>
      </p:sp>
      <p:sp>
        <p:nvSpPr>
          <p:cNvPr id="54" name="Shape 52"/>
          <p:cNvSpPr/>
          <p:nvPr/>
        </p:nvSpPr>
        <p:spPr>
          <a:xfrm>
            <a:off x="640080" y="5833872"/>
            <a:ext cx="10607040" cy="896112"/>
          </a:xfrm>
          <a:prstGeom prst="roundRect">
            <a:avLst>
              <a:gd name="adj" fmla="val 12245"/>
            </a:avLst>
          </a:prstGeom>
          <a:solidFill>
            <a:srgbClr val="F0B429">
              <a:alpha val="16000"/>
            </a:srgbClr>
          </a:solidFill>
          <a:ln/>
        </p:spPr>
      </p:sp>
      <p:sp>
        <p:nvSpPr>
          <p:cNvPr id="55" name="Text 53"/>
          <p:cNvSpPr/>
          <p:nvPr/>
        </p:nvSpPr>
        <p:spPr>
          <a:xfrm>
            <a:off x="914400" y="5907024"/>
            <a:ext cx="4572000" cy="237744"/>
          </a:xfrm>
          <a:prstGeom prst="rect">
            <a:avLst/>
          </a:prstGeom>
          <a:noFill/>
          <a:ln/>
        </p:spPr>
        <p:txBody>
          <a:bodyPr wrap="square" lIns="0" tIns="0" rIns="0" bIns="0" rtlCol="0" anchor="ctr"/>
          <a:lstStyle/>
          <a:p>
            <a:pPr indent="0" marL="0">
              <a:buNone/>
            </a:pPr>
            <a:r>
              <a:rPr lang="en-US" sz="950" b="1" spc="140" kern="0" dirty="0">
                <a:solidFill>
                  <a:srgbClr val="F0B429"/>
                </a:solidFill>
                <a:latin typeface="Calibri" pitchFamily="34" charset="0"/>
                <a:ea typeface="Calibri" pitchFamily="34" charset="-122"/>
                <a:cs typeface="Calibri" pitchFamily="34" charset="-120"/>
              </a:rPr>
              <a:t>Two things this claim does NOT mean</a:t>
            </a:r>
            <a:endParaRPr lang="en-US" sz="950" dirty="0"/>
          </a:p>
        </p:txBody>
      </p:sp>
      <p:sp>
        <p:nvSpPr>
          <p:cNvPr id="56" name="Text 54"/>
          <p:cNvSpPr/>
          <p:nvPr/>
        </p:nvSpPr>
        <p:spPr>
          <a:xfrm>
            <a:off x="914400" y="6126480"/>
            <a:ext cx="10058400" cy="548640"/>
          </a:xfrm>
          <a:prstGeom prst="rect">
            <a:avLst/>
          </a:prstGeom>
          <a:noFill/>
          <a:ln/>
        </p:spPr>
        <p:txBody>
          <a:bodyPr wrap="square" lIns="0" tIns="0" rIns="0" bIns="0" rtlCol="0" anchor="ctr"/>
          <a:lstStyle/>
          <a:p>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It is cash profit, not economic profit.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Founders draw no salary until Year 3 — until then EBITDA IS founder pay, and in Year 1 that is $7.4k between two people. That is the real price of a four-a-week start.   </a:t>
            </a:r>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And accounting profit lags cash, </a:t>
            </a:r>
            <a:pPr indent="0" marL="0">
              <a:lnSpc>
                <a:spcPts val="1250"/>
              </a:lnSpc>
              <a:buNone/>
            </a:pPr>
            <a:r>
              <a:rPr lang="en-US" sz="1000" dirty="0">
                <a:solidFill>
                  <a:srgbClr val="E3DCF2"/>
                </a:solidFill>
                <a:latin typeface="Calibri" pitchFamily="34" charset="0"/>
                <a:ea typeface="Calibri" pitchFamily="34" charset="-122"/>
                <a:cs typeface="Calibri" pitchFamily="34" charset="-120"/>
              </a:rPr>
              <a:t>because annual billing creates deferred revenue: the bank balance is right, the P&amp;L recognises it over twelve months.</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We are priced against the tutor, not the app</a:t>
            </a:r>
            <a:endParaRPr lang="en-US" sz="2900" dirty="0"/>
          </a:p>
        </p:txBody>
      </p:sp>
      <p:sp>
        <p:nvSpPr>
          <p:cNvPr id="3" name="Text 1"/>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COMPETITIVE BENCHMARK</a:t>
            </a:r>
            <a:endParaRPr lang="en-US" sz="115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preparing a child for a bee is already paying somebody by the hour. That is the alternative we actually replace — and against it, $149 is inexpensive.</a:t>
            </a:r>
            <a:endParaRPr lang="en-US" sz="1450" dirty="0"/>
          </a:p>
        </p:txBody>
      </p:sp>
      <p:sp>
        <p:nvSpPr>
          <p:cNvPr id="5" name="Text 3"/>
          <p:cNvSpPr/>
          <p:nvPr/>
        </p:nvSpPr>
        <p:spPr>
          <a:xfrm>
            <a:off x="640080" y="201168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Scripps Word Club (official bee app)</a:t>
            </a:r>
            <a:endParaRPr lang="en-US" sz="1000" dirty="0"/>
          </a:p>
        </p:txBody>
      </p:sp>
      <p:sp>
        <p:nvSpPr>
          <p:cNvPr id="6" name="Shape 4"/>
          <p:cNvSpPr/>
          <p:nvPr/>
        </p:nvSpPr>
        <p:spPr>
          <a:xfrm>
            <a:off x="5029200" y="2075688"/>
            <a:ext cx="668979" cy="155448"/>
          </a:xfrm>
          <a:prstGeom prst="roundRect">
            <a:avLst>
              <a:gd name="adj" fmla="val 50000"/>
            </a:avLst>
          </a:prstGeom>
          <a:solidFill>
            <a:srgbClr val="C4453C"/>
          </a:solidFill>
          <a:ln/>
        </p:spPr>
      </p:sp>
      <p:sp>
        <p:nvSpPr>
          <p:cNvPr id="7" name="Text 5"/>
          <p:cNvSpPr/>
          <p:nvPr/>
        </p:nvSpPr>
        <p:spPr>
          <a:xfrm>
            <a:off x="5771331" y="201168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a:t>
            </a:r>
            <a:endParaRPr lang="en-US" sz="950" dirty="0"/>
          </a:p>
        </p:txBody>
      </p:sp>
      <p:sp>
        <p:nvSpPr>
          <p:cNvPr id="8" name="Text 6"/>
          <p:cNvSpPr/>
          <p:nvPr/>
        </p:nvSpPr>
        <p:spPr>
          <a:xfrm>
            <a:off x="640080" y="231343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SpellingCity / bee practice apps</a:t>
            </a:r>
            <a:endParaRPr lang="en-US" sz="1000" dirty="0"/>
          </a:p>
        </p:txBody>
      </p:sp>
      <p:sp>
        <p:nvSpPr>
          <p:cNvPr id="9" name="Shape 7"/>
          <p:cNvSpPr/>
          <p:nvPr/>
        </p:nvSpPr>
        <p:spPr>
          <a:xfrm>
            <a:off x="5029200" y="2377440"/>
            <a:ext cx="895045" cy="155448"/>
          </a:xfrm>
          <a:prstGeom prst="roundRect">
            <a:avLst>
              <a:gd name="adj" fmla="val 50000"/>
            </a:avLst>
          </a:prstGeom>
          <a:solidFill>
            <a:srgbClr val="C4453C"/>
          </a:solidFill>
          <a:ln/>
        </p:spPr>
      </p:sp>
      <p:sp>
        <p:nvSpPr>
          <p:cNvPr id="10" name="Text 8"/>
          <p:cNvSpPr/>
          <p:nvPr/>
        </p:nvSpPr>
        <p:spPr>
          <a:xfrm>
            <a:off x="5997397" y="231343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$60</a:t>
            </a:r>
            <a:endParaRPr lang="en-US" sz="950" dirty="0"/>
          </a:p>
        </p:txBody>
      </p:sp>
      <p:sp>
        <p:nvSpPr>
          <p:cNvPr id="11" name="Text 9"/>
          <p:cNvSpPr/>
          <p:nvPr/>
        </p:nvSpPr>
        <p:spPr>
          <a:xfrm>
            <a:off x="640080" y="261518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Duolingo Super — family</a:t>
            </a:r>
            <a:endParaRPr lang="en-US" sz="1000" dirty="0"/>
          </a:p>
        </p:txBody>
      </p:sp>
      <p:sp>
        <p:nvSpPr>
          <p:cNvPr id="12" name="Shape 10"/>
          <p:cNvSpPr/>
          <p:nvPr/>
        </p:nvSpPr>
        <p:spPr>
          <a:xfrm>
            <a:off x="5029200" y="2679192"/>
            <a:ext cx="1197506" cy="155448"/>
          </a:xfrm>
          <a:prstGeom prst="roundRect">
            <a:avLst>
              <a:gd name="adj" fmla="val 50000"/>
            </a:avLst>
          </a:prstGeom>
          <a:solidFill>
            <a:srgbClr val="C4453C"/>
          </a:solidFill>
          <a:ln/>
        </p:spPr>
      </p:sp>
      <p:sp>
        <p:nvSpPr>
          <p:cNvPr id="13" name="Text 11"/>
          <p:cNvSpPr/>
          <p:nvPr/>
        </p:nvSpPr>
        <p:spPr>
          <a:xfrm>
            <a:off x="6299858" y="261518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$120</a:t>
            </a:r>
            <a:endParaRPr lang="en-US" sz="950" dirty="0"/>
          </a:p>
        </p:txBody>
      </p:sp>
      <p:sp>
        <p:nvSpPr>
          <p:cNvPr id="14" name="Shape 12"/>
          <p:cNvSpPr/>
          <p:nvPr/>
        </p:nvSpPr>
        <p:spPr>
          <a:xfrm>
            <a:off x="530352" y="2916936"/>
            <a:ext cx="10515600" cy="274320"/>
          </a:xfrm>
          <a:prstGeom prst="roundRect">
            <a:avLst>
              <a:gd name="adj" fmla="val 23333"/>
            </a:avLst>
          </a:prstGeom>
          <a:solidFill>
            <a:srgbClr val="EFEBF8"/>
          </a:solidFill>
          <a:ln/>
        </p:spPr>
      </p:sp>
      <p:sp>
        <p:nvSpPr>
          <p:cNvPr id="15" name="Text 13"/>
          <p:cNvSpPr/>
          <p:nvPr/>
        </p:nvSpPr>
        <p:spPr>
          <a:xfrm>
            <a:off x="640080" y="2916936"/>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Bee Plus</a:t>
            </a:r>
            <a:endParaRPr lang="en-US" sz="1100" dirty="0"/>
          </a:p>
        </p:txBody>
      </p:sp>
      <p:sp>
        <p:nvSpPr>
          <p:cNvPr id="16" name="Shape 14"/>
          <p:cNvSpPr/>
          <p:nvPr/>
        </p:nvSpPr>
        <p:spPr>
          <a:xfrm>
            <a:off x="5029200" y="2980944"/>
            <a:ext cx="1311474" cy="155448"/>
          </a:xfrm>
          <a:prstGeom prst="roundRect">
            <a:avLst>
              <a:gd name="adj" fmla="val 50000"/>
            </a:avLst>
          </a:prstGeom>
          <a:solidFill>
            <a:srgbClr val="6C4FE0"/>
          </a:solidFill>
          <a:ln/>
        </p:spPr>
      </p:sp>
      <p:sp>
        <p:nvSpPr>
          <p:cNvPr id="17" name="Text 15"/>
          <p:cNvSpPr/>
          <p:nvPr/>
        </p:nvSpPr>
        <p:spPr>
          <a:xfrm>
            <a:off x="6413826" y="2916936"/>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$149</a:t>
            </a:r>
            <a:endParaRPr lang="en-US" sz="950" dirty="0"/>
          </a:p>
        </p:txBody>
      </p:sp>
      <p:sp>
        <p:nvSpPr>
          <p:cNvPr id="18" name="Text 16"/>
          <p:cNvSpPr/>
          <p:nvPr/>
        </p:nvSpPr>
        <p:spPr>
          <a:xfrm>
            <a:off x="640080" y="3218688"/>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IXL family plan</a:t>
            </a:r>
            <a:endParaRPr lang="en-US" sz="1000" dirty="0"/>
          </a:p>
        </p:txBody>
      </p:sp>
      <p:sp>
        <p:nvSpPr>
          <p:cNvPr id="19" name="Shape 17"/>
          <p:cNvSpPr/>
          <p:nvPr/>
        </p:nvSpPr>
        <p:spPr>
          <a:xfrm>
            <a:off x="5029200" y="3282696"/>
            <a:ext cx="1602176" cy="155448"/>
          </a:xfrm>
          <a:prstGeom prst="roundRect">
            <a:avLst>
              <a:gd name="adj" fmla="val 50000"/>
            </a:avLst>
          </a:prstGeom>
          <a:solidFill>
            <a:srgbClr val="C4453C"/>
          </a:solidFill>
          <a:ln/>
        </p:spPr>
      </p:sp>
      <p:sp>
        <p:nvSpPr>
          <p:cNvPr id="20" name="Text 18"/>
          <p:cNvSpPr/>
          <p:nvPr/>
        </p:nvSpPr>
        <p:spPr>
          <a:xfrm>
            <a:off x="6704528" y="3218688"/>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$240</a:t>
            </a:r>
            <a:endParaRPr lang="en-US" sz="950" dirty="0"/>
          </a:p>
        </p:txBody>
      </p:sp>
      <p:sp>
        <p:nvSpPr>
          <p:cNvPr id="21" name="Shape 19"/>
          <p:cNvSpPr/>
          <p:nvPr/>
        </p:nvSpPr>
        <p:spPr>
          <a:xfrm>
            <a:off x="530352" y="3520440"/>
            <a:ext cx="10515600" cy="274320"/>
          </a:xfrm>
          <a:prstGeom prst="roundRect">
            <a:avLst>
              <a:gd name="adj" fmla="val 23333"/>
            </a:avLst>
          </a:prstGeom>
          <a:solidFill>
            <a:srgbClr val="EFEBF8"/>
          </a:solidFill>
          <a:ln/>
        </p:spPr>
      </p:sp>
      <p:sp>
        <p:nvSpPr>
          <p:cNvPr id="22" name="Text 20"/>
          <p:cNvSpPr/>
          <p:nvPr/>
        </p:nvSpPr>
        <p:spPr>
          <a:xfrm>
            <a:off x="640080" y="3520440"/>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Advanced Pack</a:t>
            </a:r>
            <a:endParaRPr lang="en-US" sz="1100" dirty="0"/>
          </a:p>
        </p:txBody>
      </p:sp>
      <p:sp>
        <p:nvSpPr>
          <p:cNvPr id="23" name="Shape 21"/>
          <p:cNvSpPr/>
          <p:nvPr/>
        </p:nvSpPr>
        <p:spPr>
          <a:xfrm>
            <a:off x="5029200" y="3584448"/>
            <a:ext cx="1983490" cy="155448"/>
          </a:xfrm>
          <a:prstGeom prst="roundRect">
            <a:avLst>
              <a:gd name="adj" fmla="val 50000"/>
            </a:avLst>
          </a:prstGeom>
          <a:solidFill>
            <a:srgbClr val="6C4FE0"/>
          </a:solidFill>
          <a:ln/>
        </p:spPr>
      </p:sp>
      <p:sp>
        <p:nvSpPr>
          <p:cNvPr id="24" name="Text 22"/>
          <p:cNvSpPr/>
          <p:nvPr/>
        </p:nvSpPr>
        <p:spPr>
          <a:xfrm>
            <a:off x="7085842" y="3520440"/>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$399</a:t>
            </a:r>
            <a:endParaRPr lang="en-US" sz="950" dirty="0"/>
          </a:p>
        </p:txBody>
      </p:sp>
      <p:sp>
        <p:nvSpPr>
          <p:cNvPr id="25" name="Text 23"/>
          <p:cNvSpPr/>
          <p:nvPr/>
        </p:nvSpPr>
        <p:spPr>
          <a:xfrm>
            <a:off x="640080" y="382219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Atom Learning (UK 11+)</a:t>
            </a:r>
            <a:endParaRPr lang="en-US" sz="1000" dirty="0"/>
          </a:p>
        </p:txBody>
      </p:sp>
      <p:sp>
        <p:nvSpPr>
          <p:cNvPr id="26" name="Shape 24"/>
          <p:cNvSpPr/>
          <p:nvPr/>
        </p:nvSpPr>
        <p:spPr>
          <a:xfrm>
            <a:off x="5029200" y="3886200"/>
            <a:ext cx="1985576" cy="155448"/>
          </a:xfrm>
          <a:prstGeom prst="roundRect">
            <a:avLst>
              <a:gd name="adj" fmla="val 50000"/>
            </a:avLst>
          </a:prstGeom>
          <a:solidFill>
            <a:srgbClr val="C4453C"/>
          </a:solidFill>
          <a:ln/>
        </p:spPr>
      </p:sp>
      <p:sp>
        <p:nvSpPr>
          <p:cNvPr id="27" name="Text 25"/>
          <p:cNvSpPr/>
          <p:nvPr/>
        </p:nvSpPr>
        <p:spPr>
          <a:xfrm>
            <a:off x="7087928" y="382219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$400</a:t>
            </a:r>
            <a:endParaRPr lang="en-US" sz="950" dirty="0"/>
          </a:p>
        </p:txBody>
      </p:sp>
      <p:sp>
        <p:nvSpPr>
          <p:cNvPr id="28" name="Shape 26"/>
          <p:cNvSpPr/>
          <p:nvPr/>
        </p:nvSpPr>
        <p:spPr>
          <a:xfrm>
            <a:off x="530352" y="4123944"/>
            <a:ext cx="10515600" cy="274320"/>
          </a:xfrm>
          <a:prstGeom prst="roundRect">
            <a:avLst>
              <a:gd name="adj" fmla="val 23333"/>
            </a:avLst>
          </a:prstGeom>
          <a:solidFill>
            <a:srgbClr val="EFEBF8"/>
          </a:solidFill>
          <a:ln/>
        </p:spPr>
      </p:sp>
      <p:sp>
        <p:nvSpPr>
          <p:cNvPr id="29" name="Text 27"/>
          <p:cNvSpPr/>
          <p:nvPr/>
        </p:nvSpPr>
        <p:spPr>
          <a:xfrm>
            <a:off x="640080" y="4123944"/>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Family (whole house)</a:t>
            </a:r>
            <a:endParaRPr lang="en-US" sz="1100" dirty="0"/>
          </a:p>
        </p:txBody>
      </p:sp>
      <p:sp>
        <p:nvSpPr>
          <p:cNvPr id="30" name="Shape 28"/>
          <p:cNvSpPr/>
          <p:nvPr/>
        </p:nvSpPr>
        <p:spPr>
          <a:xfrm>
            <a:off x="5029200" y="4187952"/>
            <a:ext cx="2178831" cy="155448"/>
          </a:xfrm>
          <a:prstGeom prst="roundRect">
            <a:avLst>
              <a:gd name="adj" fmla="val 50000"/>
            </a:avLst>
          </a:prstGeom>
          <a:solidFill>
            <a:srgbClr val="6C4FE0"/>
          </a:solidFill>
          <a:ln/>
        </p:spPr>
      </p:sp>
      <p:sp>
        <p:nvSpPr>
          <p:cNvPr id="31" name="Text 29"/>
          <p:cNvSpPr/>
          <p:nvPr/>
        </p:nvSpPr>
        <p:spPr>
          <a:xfrm>
            <a:off x="7281183" y="4123944"/>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$499</a:t>
            </a:r>
            <a:endParaRPr lang="en-US" sz="950" dirty="0"/>
          </a:p>
        </p:txBody>
      </p:sp>
      <p:sp>
        <p:nvSpPr>
          <p:cNvPr id="32" name="Text 30"/>
          <p:cNvSpPr/>
          <p:nvPr/>
        </p:nvSpPr>
        <p:spPr>
          <a:xfrm>
            <a:off x="640080" y="442569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Hexco bee study packages</a:t>
            </a:r>
            <a:endParaRPr lang="en-US" sz="1000" dirty="0"/>
          </a:p>
        </p:txBody>
      </p:sp>
      <p:sp>
        <p:nvSpPr>
          <p:cNvPr id="33" name="Shape 31"/>
          <p:cNvSpPr/>
          <p:nvPr/>
        </p:nvSpPr>
        <p:spPr>
          <a:xfrm>
            <a:off x="5029200" y="4489704"/>
            <a:ext cx="2511670" cy="155448"/>
          </a:xfrm>
          <a:prstGeom prst="roundRect">
            <a:avLst>
              <a:gd name="adj" fmla="val 50000"/>
            </a:avLst>
          </a:prstGeom>
          <a:solidFill>
            <a:srgbClr val="178A4C"/>
          </a:solidFill>
          <a:ln/>
        </p:spPr>
      </p:sp>
      <p:sp>
        <p:nvSpPr>
          <p:cNvPr id="34" name="Text 32"/>
          <p:cNvSpPr/>
          <p:nvPr/>
        </p:nvSpPr>
        <p:spPr>
          <a:xfrm>
            <a:off x="7614022" y="442569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$700</a:t>
            </a:r>
            <a:endParaRPr lang="en-US" sz="950" dirty="0"/>
          </a:p>
        </p:txBody>
      </p:sp>
      <p:sp>
        <p:nvSpPr>
          <p:cNvPr id="35" name="Shape 33"/>
          <p:cNvSpPr/>
          <p:nvPr/>
        </p:nvSpPr>
        <p:spPr>
          <a:xfrm>
            <a:off x="530352" y="4727448"/>
            <a:ext cx="10515600" cy="274320"/>
          </a:xfrm>
          <a:prstGeom prst="roundRect">
            <a:avLst>
              <a:gd name="adj" fmla="val 23333"/>
            </a:avLst>
          </a:prstGeom>
          <a:solidFill>
            <a:srgbClr val="EFEBF8"/>
          </a:solidFill>
          <a:ln/>
        </p:spPr>
      </p:sp>
      <p:sp>
        <p:nvSpPr>
          <p:cNvPr id="36" name="Text 34"/>
          <p:cNvSpPr/>
          <p:nvPr/>
        </p:nvSpPr>
        <p:spPr>
          <a:xfrm>
            <a:off x="640080" y="4727448"/>
            <a:ext cx="4206240" cy="274320"/>
          </a:xfrm>
          <a:prstGeom prst="rect">
            <a:avLst/>
          </a:prstGeom>
          <a:noFill/>
          <a:ln/>
        </p:spPr>
        <p:txBody>
          <a:bodyPr wrap="square" lIns="0" tIns="0" rIns="0" bIns="0" rtlCol="0" anchor="ctr"/>
          <a:lstStyle/>
          <a:p>
            <a:pPr indent="0" marL="0">
              <a:buNone/>
            </a:pPr>
            <a:r>
              <a:rPr lang="en-US" sz="1100" b="1" dirty="0">
                <a:solidFill>
                  <a:srgbClr val="6C4FE0"/>
                </a:solidFill>
                <a:latin typeface="Cambria" pitchFamily="34" charset="0"/>
                <a:ea typeface="Cambria" pitchFamily="34" charset="-122"/>
                <a:cs typeface="Cambria" pitchFamily="34" charset="-120"/>
              </a:rPr>
              <a:t>Bizzing Business cohort</a:t>
            </a:r>
            <a:endParaRPr lang="en-US" sz="1100" dirty="0"/>
          </a:p>
        </p:txBody>
      </p:sp>
      <p:sp>
        <p:nvSpPr>
          <p:cNvPr id="37" name="Shape 35"/>
          <p:cNvSpPr/>
          <p:nvPr/>
        </p:nvSpPr>
        <p:spPr>
          <a:xfrm>
            <a:off x="5029200" y="4791456"/>
            <a:ext cx="2916345" cy="155448"/>
          </a:xfrm>
          <a:prstGeom prst="roundRect">
            <a:avLst>
              <a:gd name="adj" fmla="val 50000"/>
            </a:avLst>
          </a:prstGeom>
          <a:solidFill>
            <a:srgbClr val="6C4FE0"/>
          </a:solidFill>
          <a:ln/>
        </p:spPr>
      </p:sp>
      <p:sp>
        <p:nvSpPr>
          <p:cNvPr id="38" name="Text 36"/>
          <p:cNvSpPr/>
          <p:nvPr/>
        </p:nvSpPr>
        <p:spPr>
          <a:xfrm>
            <a:off x="8018697" y="4727448"/>
            <a:ext cx="960120" cy="274320"/>
          </a:xfrm>
          <a:prstGeom prst="rect">
            <a:avLst/>
          </a:prstGeom>
          <a:noFill/>
          <a:ln/>
        </p:spPr>
        <p:txBody>
          <a:bodyPr wrap="square" lIns="0" tIns="0" rIns="0" bIns="0" rtlCol="0" anchor="ctr"/>
          <a:lstStyle/>
          <a:p>
            <a:pPr indent="0" marL="0">
              <a:buNone/>
            </a:pPr>
            <a:r>
              <a:rPr lang="en-US" sz="950" b="1" dirty="0">
                <a:solidFill>
                  <a:srgbClr val="6C4FE0"/>
                </a:solidFill>
                <a:latin typeface="Calibri" pitchFamily="34" charset="0"/>
                <a:ea typeface="Calibri" pitchFamily="34" charset="-122"/>
                <a:cs typeface="Calibri" pitchFamily="34" charset="-120"/>
              </a:rPr>
              <a:t>$999</a:t>
            </a:r>
            <a:endParaRPr lang="en-US" sz="950" dirty="0"/>
          </a:p>
        </p:txBody>
      </p:sp>
      <p:sp>
        <p:nvSpPr>
          <p:cNvPr id="39" name="Text 37"/>
          <p:cNvSpPr/>
          <p:nvPr/>
        </p:nvSpPr>
        <p:spPr>
          <a:xfrm>
            <a:off x="640080" y="5029200"/>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Kumon, one subject</a:t>
            </a:r>
            <a:endParaRPr lang="en-US" sz="1000" dirty="0"/>
          </a:p>
        </p:txBody>
      </p:sp>
      <p:sp>
        <p:nvSpPr>
          <p:cNvPr id="40" name="Shape 38"/>
          <p:cNvSpPr/>
          <p:nvPr/>
        </p:nvSpPr>
        <p:spPr>
          <a:xfrm>
            <a:off x="5029200" y="5093208"/>
            <a:ext cx="3903498" cy="155448"/>
          </a:xfrm>
          <a:prstGeom prst="roundRect">
            <a:avLst>
              <a:gd name="adj" fmla="val 50000"/>
            </a:avLst>
          </a:prstGeom>
          <a:solidFill>
            <a:srgbClr val="178A4C"/>
          </a:solidFill>
          <a:ln/>
        </p:spPr>
      </p:sp>
      <p:sp>
        <p:nvSpPr>
          <p:cNvPr id="41" name="Text 39"/>
          <p:cNvSpPr/>
          <p:nvPr/>
        </p:nvSpPr>
        <p:spPr>
          <a:xfrm>
            <a:off x="9005850" y="5029200"/>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$2,000</a:t>
            </a:r>
            <a:endParaRPr lang="en-US" sz="950" dirty="0"/>
          </a:p>
        </p:txBody>
      </p:sp>
      <p:sp>
        <p:nvSpPr>
          <p:cNvPr id="42" name="Text 40"/>
          <p:cNvSpPr/>
          <p:nvPr/>
        </p:nvSpPr>
        <p:spPr>
          <a:xfrm>
            <a:off x="640080" y="5330952"/>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Summer business camp, one week</a:t>
            </a:r>
            <a:endParaRPr lang="en-US" sz="1000" dirty="0"/>
          </a:p>
        </p:txBody>
      </p:sp>
      <p:sp>
        <p:nvSpPr>
          <p:cNvPr id="43" name="Shape 41"/>
          <p:cNvSpPr/>
          <p:nvPr/>
        </p:nvSpPr>
        <p:spPr>
          <a:xfrm>
            <a:off x="5029200" y="5394960"/>
            <a:ext cx="4062926" cy="155448"/>
          </a:xfrm>
          <a:prstGeom prst="roundRect">
            <a:avLst>
              <a:gd name="adj" fmla="val 50000"/>
            </a:avLst>
          </a:prstGeom>
          <a:solidFill>
            <a:srgbClr val="178A4C"/>
          </a:solidFill>
          <a:ln/>
        </p:spPr>
      </p:sp>
      <p:sp>
        <p:nvSpPr>
          <p:cNvPr id="44" name="Text 42"/>
          <p:cNvSpPr/>
          <p:nvPr/>
        </p:nvSpPr>
        <p:spPr>
          <a:xfrm>
            <a:off x="9165278" y="5330952"/>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$2,200</a:t>
            </a:r>
            <a:endParaRPr lang="en-US" sz="950" dirty="0"/>
          </a:p>
        </p:txBody>
      </p:sp>
      <p:sp>
        <p:nvSpPr>
          <p:cNvPr id="45" name="Text 43"/>
          <p:cNvSpPr/>
          <p:nvPr/>
        </p:nvSpPr>
        <p:spPr>
          <a:xfrm>
            <a:off x="640080" y="5632704"/>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UK 11+ tutoring, exam year</a:t>
            </a:r>
            <a:endParaRPr lang="en-US" sz="1000" dirty="0"/>
          </a:p>
        </p:txBody>
      </p:sp>
      <p:sp>
        <p:nvSpPr>
          <p:cNvPr id="46" name="Shape 44"/>
          <p:cNvSpPr/>
          <p:nvPr/>
        </p:nvSpPr>
        <p:spPr>
          <a:xfrm>
            <a:off x="5029200" y="5696712"/>
            <a:ext cx="4628202" cy="155448"/>
          </a:xfrm>
          <a:prstGeom prst="roundRect">
            <a:avLst>
              <a:gd name="adj" fmla="val 50000"/>
            </a:avLst>
          </a:prstGeom>
          <a:solidFill>
            <a:srgbClr val="178A4C"/>
          </a:solidFill>
          <a:ln/>
        </p:spPr>
      </p:sp>
      <p:sp>
        <p:nvSpPr>
          <p:cNvPr id="47" name="Text 45"/>
          <p:cNvSpPr/>
          <p:nvPr/>
        </p:nvSpPr>
        <p:spPr>
          <a:xfrm>
            <a:off x="9730554" y="5632704"/>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$3,000</a:t>
            </a:r>
            <a:endParaRPr lang="en-US" sz="950" dirty="0"/>
          </a:p>
        </p:txBody>
      </p:sp>
      <p:sp>
        <p:nvSpPr>
          <p:cNvPr id="48" name="Text 46"/>
          <p:cNvSpPr/>
          <p:nvPr/>
        </p:nvSpPr>
        <p:spPr>
          <a:xfrm>
            <a:off x="640080" y="5934456"/>
            <a:ext cx="4206240" cy="274320"/>
          </a:xfrm>
          <a:prstGeom prst="rect">
            <a:avLst/>
          </a:prstGeom>
          <a:noFill/>
          <a:ln/>
        </p:spPr>
        <p:txBody>
          <a:bodyPr wrap="square" lIns="0" tIns="0" rIns="0" bIns="0" rtlCol="0" anchor="ctr"/>
          <a:lstStyle/>
          <a:p>
            <a:pPr indent="0" marL="0">
              <a:buNone/>
            </a:pPr>
            <a:r>
              <a:rPr lang="en-US" sz="1000" dirty="0">
                <a:solidFill>
                  <a:srgbClr val="4A4360"/>
                </a:solidFill>
                <a:latin typeface="Calibri" pitchFamily="34" charset="0"/>
                <a:ea typeface="Calibri" pitchFamily="34" charset="-122"/>
                <a:cs typeface="Calibri" pitchFamily="34" charset="-120"/>
              </a:rPr>
              <a:t>Bee coach — weekly, one hour</a:t>
            </a:r>
            <a:endParaRPr lang="en-US" sz="1000" dirty="0"/>
          </a:p>
        </p:txBody>
      </p:sp>
      <p:sp>
        <p:nvSpPr>
          <p:cNvPr id="49" name="Shape 47"/>
          <p:cNvSpPr/>
          <p:nvPr/>
        </p:nvSpPr>
        <p:spPr>
          <a:xfrm>
            <a:off x="5029200" y="5998464"/>
            <a:ext cx="4937760" cy="155448"/>
          </a:xfrm>
          <a:prstGeom prst="roundRect">
            <a:avLst>
              <a:gd name="adj" fmla="val 50000"/>
            </a:avLst>
          </a:prstGeom>
          <a:solidFill>
            <a:srgbClr val="178A4C"/>
          </a:solidFill>
          <a:ln/>
        </p:spPr>
      </p:sp>
      <p:sp>
        <p:nvSpPr>
          <p:cNvPr id="50" name="Text 48"/>
          <p:cNvSpPr/>
          <p:nvPr/>
        </p:nvSpPr>
        <p:spPr>
          <a:xfrm>
            <a:off x="10040112" y="5934456"/>
            <a:ext cx="960120" cy="274320"/>
          </a:xfrm>
          <a:prstGeom prst="rect">
            <a:avLst/>
          </a:prstGeom>
          <a:noFill/>
          <a:ln/>
        </p:spPr>
        <p:txBody>
          <a:bodyPr wrap="square" lIns="0" tIns="0" rIns="0" bIns="0" rtlCol="0" anchor="ctr"/>
          <a:lstStyle/>
          <a:p>
            <a:pPr indent="0" marL="0">
              <a:buNone/>
            </a:pPr>
            <a:r>
              <a:rPr lang="en-US" sz="950" dirty="0">
                <a:solidFill>
                  <a:srgbClr val="7A7291"/>
                </a:solidFill>
                <a:latin typeface="Calibri" pitchFamily="34" charset="0"/>
                <a:ea typeface="Calibri" pitchFamily="34" charset="-122"/>
                <a:cs typeface="Calibri" pitchFamily="34" charset="-120"/>
              </a:rPr>
              <a:t>$3,500</a:t>
            </a:r>
            <a:endParaRPr lang="en-US" sz="950" dirty="0"/>
          </a:p>
        </p:txBody>
      </p:sp>
      <p:sp>
        <p:nvSpPr>
          <p:cNvPr id="51" name="Shape 49"/>
          <p:cNvSpPr/>
          <p:nvPr/>
        </p:nvSpPr>
        <p:spPr>
          <a:xfrm>
            <a:off x="10351008" y="2084832"/>
            <a:ext cx="1170432" cy="274320"/>
          </a:xfrm>
          <a:prstGeom prst="roundRect">
            <a:avLst>
              <a:gd name="adj" fmla="val 50000"/>
            </a:avLst>
          </a:prstGeom>
          <a:solidFill>
            <a:srgbClr val="C4453C"/>
          </a:solidFill>
          <a:ln/>
        </p:spPr>
      </p:sp>
      <p:sp>
        <p:nvSpPr>
          <p:cNvPr id="52" name="Text 50"/>
          <p:cNvSpPr/>
          <p:nvPr/>
        </p:nvSpPr>
        <p:spPr>
          <a:xfrm>
            <a:off x="10351008" y="208483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APPS</a:t>
            </a:r>
            <a:endParaRPr lang="en-US" sz="800" dirty="0"/>
          </a:p>
        </p:txBody>
      </p:sp>
      <p:sp>
        <p:nvSpPr>
          <p:cNvPr id="53" name="Shape 51"/>
          <p:cNvSpPr/>
          <p:nvPr/>
        </p:nvSpPr>
        <p:spPr>
          <a:xfrm>
            <a:off x="10351008" y="2450592"/>
            <a:ext cx="1170432" cy="274320"/>
          </a:xfrm>
          <a:prstGeom prst="roundRect">
            <a:avLst>
              <a:gd name="adj" fmla="val 50000"/>
            </a:avLst>
          </a:prstGeom>
          <a:solidFill>
            <a:srgbClr val="6C4FE0"/>
          </a:solidFill>
          <a:ln/>
        </p:spPr>
      </p:sp>
      <p:sp>
        <p:nvSpPr>
          <p:cNvPr id="54" name="Text 52"/>
          <p:cNvSpPr/>
          <p:nvPr/>
        </p:nvSpPr>
        <p:spPr>
          <a:xfrm>
            <a:off x="10351008" y="245059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BIZZING</a:t>
            </a:r>
            <a:endParaRPr lang="en-US" sz="800" dirty="0"/>
          </a:p>
        </p:txBody>
      </p:sp>
      <p:sp>
        <p:nvSpPr>
          <p:cNvPr id="55" name="Shape 53"/>
          <p:cNvSpPr/>
          <p:nvPr/>
        </p:nvSpPr>
        <p:spPr>
          <a:xfrm>
            <a:off x="10351008" y="2816352"/>
            <a:ext cx="1170432" cy="274320"/>
          </a:xfrm>
          <a:prstGeom prst="roundRect">
            <a:avLst>
              <a:gd name="adj" fmla="val 50000"/>
            </a:avLst>
          </a:prstGeom>
          <a:solidFill>
            <a:srgbClr val="178A4C"/>
          </a:solidFill>
          <a:ln/>
        </p:spPr>
      </p:sp>
      <p:sp>
        <p:nvSpPr>
          <p:cNvPr id="56" name="Text 54"/>
          <p:cNvSpPr/>
          <p:nvPr/>
        </p:nvSpPr>
        <p:spPr>
          <a:xfrm>
            <a:off x="10351008" y="2816352"/>
            <a:ext cx="1170432"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TUTORING</a:t>
            </a:r>
            <a:endParaRPr lang="en-US" sz="800" dirty="0"/>
          </a:p>
        </p:txBody>
      </p:sp>
      <p:sp>
        <p:nvSpPr>
          <p:cNvPr id="57" name="Text 55"/>
          <p:cNvSpPr/>
          <p:nvPr/>
        </p:nvSpPr>
        <p:spPr>
          <a:xfrm>
            <a:off x="10332720" y="3310128"/>
            <a:ext cx="1417320" cy="822960"/>
          </a:xfrm>
          <a:prstGeom prst="rect">
            <a:avLst/>
          </a:prstGeom>
          <a:noFill/>
          <a:ln/>
        </p:spPr>
        <p:txBody>
          <a:bodyPr wrap="square" lIns="0" tIns="0" rIns="0" bIns="0" rtlCol="0" anchor="ctr"/>
          <a:lstStyle/>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Annual cost, US dollars.</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Log-ish scale so a $30 app</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and a $3,500 coach share</a:t>
            </a:r>
            <a:endParaRPr lang="en-US" sz="750" dirty="0"/>
          </a:p>
          <a:p>
            <a:pPr indent="0" marL="0">
              <a:lnSpc>
                <a:spcPts val="950"/>
              </a:lnSpc>
              <a:buNone/>
            </a:pPr>
            <a:r>
              <a:rPr lang="en-US" sz="750" i="1" dirty="0">
                <a:solidFill>
                  <a:srgbClr val="7A7291"/>
                </a:solidFill>
                <a:latin typeface="Calibri" pitchFamily="34" charset="0"/>
                <a:ea typeface="Calibri" pitchFamily="34" charset="-122"/>
                <a:cs typeface="Calibri" pitchFamily="34" charset="-120"/>
              </a:rPr>
              <a:t>one axis.</a:t>
            </a:r>
            <a:endParaRPr lang="en-US" sz="750" dirty="0"/>
          </a:p>
        </p:txBody>
      </p:sp>
      <p:sp>
        <p:nvSpPr>
          <p:cNvPr id="58" name="Shape 56"/>
          <p:cNvSpPr/>
          <p:nvPr/>
        </p:nvSpPr>
        <p:spPr>
          <a:xfrm>
            <a:off x="640080" y="6364224"/>
            <a:ext cx="10607040" cy="365760"/>
          </a:xfrm>
          <a:prstGeom prst="roundRect">
            <a:avLst>
              <a:gd name="adj" fmla="val 25000"/>
            </a:avLst>
          </a:prstGeom>
          <a:solidFill>
            <a:srgbClr val="FBF3E0"/>
          </a:solidFill>
          <a:ln/>
        </p:spPr>
      </p:sp>
      <p:sp>
        <p:nvSpPr>
          <p:cNvPr id="59" name="Text 57"/>
          <p:cNvSpPr/>
          <p:nvPr/>
        </p:nvSpPr>
        <p:spPr>
          <a:xfrm>
            <a:off x="859536" y="6364224"/>
            <a:ext cx="10149840" cy="365760"/>
          </a:xfrm>
          <a:prstGeom prst="rect">
            <a:avLst/>
          </a:prstGeom>
          <a:noFill/>
          <a:ln/>
        </p:spPr>
        <p:txBody>
          <a:bodyPr wrap="square" lIns="0" tIns="0" rIns="0" bIns="0" rtlCol="0" anchor="ctr"/>
          <a:lstStyle/>
          <a:p>
            <a:pPr indent="0" marL="0">
              <a:buNone/>
            </a:pPr>
            <a:r>
              <a:rPr lang="en-US" sz="950" b="1" dirty="0">
                <a:solidFill>
                  <a:srgbClr val="8A5B00"/>
                </a:solidFill>
                <a:latin typeface="Calibri" pitchFamily="34" charset="0"/>
                <a:ea typeface="Calibri" pitchFamily="34" charset="-122"/>
                <a:cs typeface="Calibri" pitchFamily="34" charset="-120"/>
              </a:rPr>
              <a:t>⚠ Verify before showing externally:  </a:t>
            </a:r>
            <a:pPr indent="0" marL="0">
              <a:buNone/>
            </a:pPr>
            <a:r>
              <a:rPr lang="en-US" sz="950" dirty="0">
                <a:solidFill>
                  <a:srgbClr val="8A5B00"/>
                </a:solidFill>
                <a:latin typeface="Calibri" pitchFamily="34" charset="0"/>
                <a:ea typeface="Calibri" pitchFamily="34" charset="-122"/>
                <a:cs typeface="Calibri" pitchFamily="34" charset="-120"/>
              </a:rPr>
              <a:t>these benchmark prices are from working knowledge, not from live pricing pages pulled today. Atom and Kumon in particular vary by region and change often. Check each before this slide leaves the building.</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SUBSCRIPTION MODELS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each product charges</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Every price is annual and billed up front. That single billing choice is what puts the cash in before the cost goes out.</a:t>
            </a:r>
            <a:endParaRPr lang="en-US" sz="1450" dirty="0"/>
          </a:p>
        </p:txBody>
      </p:sp>
      <p:sp>
        <p:nvSpPr>
          <p:cNvPr id="5" name="Shape 3"/>
          <p:cNvSpPr/>
          <p:nvPr/>
        </p:nvSpPr>
        <p:spPr>
          <a:xfrm>
            <a:off x="512064" y="2029968"/>
            <a:ext cx="10954512" cy="448056"/>
          </a:xfrm>
          <a:prstGeom prst="roundRect">
            <a:avLst>
              <a:gd name="adj" fmla="val 18367"/>
            </a:avLst>
          </a:prstGeom>
          <a:solidFill>
            <a:srgbClr val="EFEBF8"/>
          </a:solidFill>
          <a:ln/>
        </p:spPr>
      </p:sp>
      <p:sp>
        <p:nvSpPr>
          <p:cNvPr id="6" name="Text 4"/>
          <p:cNvSpPr/>
          <p:nvPr/>
        </p:nvSpPr>
        <p:spPr>
          <a:xfrm>
            <a:off x="640080" y="206654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Bee</a:t>
            </a:r>
            <a:endParaRPr lang="en-US" sz="1200" dirty="0"/>
          </a:p>
        </p:txBody>
      </p:sp>
      <p:sp>
        <p:nvSpPr>
          <p:cNvPr id="7" name="Text 5"/>
          <p:cNvSpPr/>
          <p:nvPr/>
        </p:nvSpPr>
        <p:spPr>
          <a:xfrm>
            <a:off x="2926080" y="206654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Free</a:t>
            </a:r>
            <a:endParaRPr lang="en-US" sz="950" dirty="0"/>
          </a:p>
        </p:txBody>
      </p:sp>
      <p:sp>
        <p:nvSpPr>
          <p:cNvPr id="8" name="Text 6"/>
          <p:cNvSpPr/>
          <p:nvPr/>
        </p:nvSpPr>
        <p:spPr>
          <a:xfrm>
            <a:off x="4343400" y="206654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$0</a:t>
            </a:r>
            <a:endParaRPr lang="en-US" sz="1200" dirty="0"/>
          </a:p>
        </p:txBody>
      </p:sp>
      <p:sp>
        <p:nvSpPr>
          <p:cNvPr id="9" name="Text 7"/>
          <p:cNvSpPr/>
          <p:nvPr/>
        </p:nvSpPr>
        <p:spPr>
          <a:xfrm>
            <a:off x="5852160" y="206654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Full library, journey, arcade. Most families never pay — and that is what makes them trust us.</a:t>
            </a:r>
            <a:endParaRPr lang="en-US" sz="950" dirty="0"/>
          </a:p>
        </p:txBody>
      </p:sp>
      <p:sp>
        <p:nvSpPr>
          <p:cNvPr id="10" name="Text 8"/>
          <p:cNvSpPr/>
          <p:nvPr/>
        </p:nvSpPr>
        <p:spPr>
          <a:xfrm>
            <a:off x="640080" y="254203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Bee Plus</a:t>
            </a:r>
            <a:endParaRPr lang="en-US" sz="1200" dirty="0"/>
          </a:p>
        </p:txBody>
      </p:sp>
      <p:sp>
        <p:nvSpPr>
          <p:cNvPr id="11" name="Text 9"/>
          <p:cNvSpPr/>
          <p:nvPr/>
        </p:nvSpPr>
        <p:spPr>
          <a:xfrm>
            <a:off x="2926080" y="254203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2" name="Text 10"/>
          <p:cNvSpPr/>
          <p:nvPr/>
        </p:nvSpPr>
        <p:spPr>
          <a:xfrm>
            <a:off x="4343400" y="254203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$149 / yr</a:t>
            </a:r>
            <a:endParaRPr lang="en-US" sz="1200" dirty="0"/>
          </a:p>
        </p:txBody>
      </p:sp>
      <p:sp>
        <p:nvSpPr>
          <p:cNvPr id="13" name="Text 11"/>
          <p:cNvSpPr/>
          <p:nvPr/>
        </p:nvSpPr>
        <p:spPr>
          <a:xfrm>
            <a:off x="5852160" y="254203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One twenty-third of a weekly bee coach. The default upgrade.</a:t>
            </a:r>
            <a:endParaRPr lang="en-US" sz="950" dirty="0"/>
          </a:p>
        </p:txBody>
      </p:sp>
      <p:sp>
        <p:nvSpPr>
          <p:cNvPr id="14" name="Shape 12"/>
          <p:cNvSpPr/>
          <p:nvPr/>
        </p:nvSpPr>
        <p:spPr>
          <a:xfrm>
            <a:off x="512064" y="2980944"/>
            <a:ext cx="10954512" cy="448056"/>
          </a:xfrm>
          <a:prstGeom prst="roundRect">
            <a:avLst>
              <a:gd name="adj" fmla="val 18367"/>
            </a:avLst>
          </a:prstGeom>
          <a:solidFill>
            <a:srgbClr val="EFEBF8"/>
          </a:solidFill>
          <a:ln/>
        </p:spPr>
      </p:sp>
      <p:sp>
        <p:nvSpPr>
          <p:cNvPr id="15" name="Text 13"/>
          <p:cNvSpPr/>
          <p:nvPr/>
        </p:nvSpPr>
        <p:spPr>
          <a:xfrm>
            <a:off x="640080" y="3017520"/>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Advanced Pack</a:t>
            </a:r>
            <a:endParaRPr lang="en-US" sz="1200" dirty="0"/>
          </a:p>
        </p:txBody>
      </p:sp>
      <p:sp>
        <p:nvSpPr>
          <p:cNvPr id="16" name="Text 14"/>
          <p:cNvSpPr/>
          <p:nvPr/>
        </p:nvSpPr>
        <p:spPr>
          <a:xfrm>
            <a:off x="2926080" y="301752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17" name="Text 15"/>
          <p:cNvSpPr/>
          <p:nvPr/>
        </p:nvSpPr>
        <p:spPr>
          <a:xfrm>
            <a:off x="4343400" y="3017520"/>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$399 / yr</a:t>
            </a:r>
            <a:endParaRPr lang="en-US" sz="1200" dirty="0"/>
          </a:p>
        </p:txBody>
      </p:sp>
      <p:sp>
        <p:nvSpPr>
          <p:cNvPr id="18" name="Text 16"/>
          <p:cNvSpPr/>
          <p:nvPr/>
        </p:nvSpPr>
        <p:spPr>
          <a:xfrm>
            <a:off x="5852160" y="301752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The champion track. Sits against Hexco packages and coaching, not against apps.</a:t>
            </a:r>
            <a:endParaRPr lang="en-US" sz="950" dirty="0"/>
          </a:p>
        </p:txBody>
      </p:sp>
      <p:sp>
        <p:nvSpPr>
          <p:cNvPr id="19" name="Text 17"/>
          <p:cNvSpPr/>
          <p:nvPr/>
        </p:nvSpPr>
        <p:spPr>
          <a:xfrm>
            <a:off x="640080" y="349300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Eleven</a:t>
            </a:r>
            <a:endParaRPr lang="en-US" sz="1200" dirty="0"/>
          </a:p>
        </p:txBody>
      </p:sp>
      <p:sp>
        <p:nvSpPr>
          <p:cNvPr id="20" name="Text 18"/>
          <p:cNvSpPr/>
          <p:nvPr/>
        </p:nvSpPr>
        <p:spPr>
          <a:xfrm>
            <a:off x="2926080" y="349300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Exam year</a:t>
            </a:r>
            <a:endParaRPr lang="en-US" sz="950" dirty="0"/>
          </a:p>
        </p:txBody>
      </p:sp>
      <p:sp>
        <p:nvSpPr>
          <p:cNvPr id="21" name="Text 19"/>
          <p:cNvSpPr/>
          <p:nvPr/>
        </p:nvSpPr>
        <p:spPr>
          <a:xfrm>
            <a:off x="4343400" y="349300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$349 / yr</a:t>
            </a:r>
            <a:endParaRPr lang="en-US" sz="1200" dirty="0"/>
          </a:p>
        </p:txBody>
      </p:sp>
      <p:sp>
        <p:nvSpPr>
          <p:cNvPr id="22" name="Text 20"/>
          <p:cNvSpPr/>
          <p:nvPr/>
        </p:nvSpPr>
        <p:spPr>
          <a:xfrm>
            <a:off x="5852160" y="349300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Atom Learning is ~$400 and does not speak every word. 11+ tutoring is ten times this.</a:t>
            </a:r>
            <a:endParaRPr lang="en-US" sz="950" dirty="0"/>
          </a:p>
        </p:txBody>
      </p:sp>
      <p:sp>
        <p:nvSpPr>
          <p:cNvPr id="23" name="Shape 21"/>
          <p:cNvSpPr/>
          <p:nvPr/>
        </p:nvSpPr>
        <p:spPr>
          <a:xfrm>
            <a:off x="512064" y="3931920"/>
            <a:ext cx="10954512" cy="448056"/>
          </a:xfrm>
          <a:prstGeom prst="roundRect">
            <a:avLst>
              <a:gd name="adj" fmla="val 18367"/>
            </a:avLst>
          </a:prstGeom>
          <a:solidFill>
            <a:srgbClr val="EFEBF8"/>
          </a:solidFill>
          <a:ln/>
        </p:spPr>
      </p:sp>
      <p:sp>
        <p:nvSpPr>
          <p:cNvPr id="24" name="Text 22"/>
          <p:cNvSpPr/>
          <p:nvPr/>
        </p:nvSpPr>
        <p:spPr>
          <a:xfrm>
            <a:off x="640080" y="3968496"/>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Bhasha</a:t>
            </a:r>
            <a:endParaRPr lang="en-US" sz="1200" dirty="0"/>
          </a:p>
        </p:txBody>
      </p:sp>
      <p:sp>
        <p:nvSpPr>
          <p:cNvPr id="25" name="Text 23"/>
          <p:cNvSpPr/>
          <p:nvPr/>
        </p:nvSpPr>
        <p:spPr>
          <a:xfrm>
            <a:off x="2926080" y="3968496"/>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Per language</a:t>
            </a:r>
            <a:endParaRPr lang="en-US" sz="950" dirty="0"/>
          </a:p>
        </p:txBody>
      </p:sp>
      <p:sp>
        <p:nvSpPr>
          <p:cNvPr id="26" name="Text 24"/>
          <p:cNvSpPr/>
          <p:nvPr/>
        </p:nvSpPr>
        <p:spPr>
          <a:xfrm>
            <a:off x="4343400" y="3968496"/>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$199 / yr</a:t>
            </a:r>
            <a:endParaRPr lang="en-US" sz="1200" dirty="0"/>
          </a:p>
        </p:txBody>
      </p:sp>
      <p:sp>
        <p:nvSpPr>
          <p:cNvPr id="27" name="Text 25"/>
          <p:cNvSpPr/>
          <p:nvPr/>
        </p:nvSpPr>
        <p:spPr>
          <a:xfrm>
            <a:off x="5852160" y="3968496"/>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Heritage-language tutoring runs $40–60 an hour. Nothing comparable exists as software.</a:t>
            </a:r>
            <a:endParaRPr lang="en-US" sz="950" dirty="0"/>
          </a:p>
        </p:txBody>
      </p:sp>
      <p:sp>
        <p:nvSpPr>
          <p:cNvPr id="28" name="Text 26"/>
          <p:cNvSpPr/>
          <p:nvPr/>
        </p:nvSpPr>
        <p:spPr>
          <a:xfrm>
            <a:off x="640080" y="4443984"/>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Maths · English · Finance</a:t>
            </a:r>
            <a:endParaRPr lang="en-US" sz="1200" dirty="0"/>
          </a:p>
        </p:txBody>
      </p:sp>
      <p:sp>
        <p:nvSpPr>
          <p:cNvPr id="29" name="Text 27"/>
          <p:cNvSpPr/>
          <p:nvPr/>
        </p:nvSpPr>
        <p:spPr>
          <a:xfrm>
            <a:off x="2926080" y="4443984"/>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Subscription</a:t>
            </a:r>
            <a:endParaRPr lang="en-US" sz="950" dirty="0"/>
          </a:p>
        </p:txBody>
      </p:sp>
      <p:sp>
        <p:nvSpPr>
          <p:cNvPr id="30" name="Text 28"/>
          <p:cNvSpPr/>
          <p:nvPr/>
        </p:nvSpPr>
        <p:spPr>
          <a:xfrm>
            <a:off x="4343400" y="4443984"/>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$149 / yr</a:t>
            </a:r>
            <a:endParaRPr lang="en-US" sz="1200" dirty="0"/>
          </a:p>
        </p:txBody>
      </p:sp>
      <p:sp>
        <p:nvSpPr>
          <p:cNvPr id="31" name="Text 29"/>
          <p:cNvSpPr/>
          <p:nvPr/>
        </p:nvSpPr>
        <p:spPr>
          <a:xfrm>
            <a:off x="5852160" y="4443984"/>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Priced to be added without a family meeting.</a:t>
            </a:r>
            <a:endParaRPr lang="en-US" sz="950" dirty="0"/>
          </a:p>
        </p:txBody>
      </p:sp>
      <p:sp>
        <p:nvSpPr>
          <p:cNvPr id="32" name="Shape 30"/>
          <p:cNvSpPr/>
          <p:nvPr/>
        </p:nvSpPr>
        <p:spPr>
          <a:xfrm>
            <a:off x="512064" y="4882896"/>
            <a:ext cx="10954512" cy="448056"/>
          </a:xfrm>
          <a:prstGeom prst="roundRect">
            <a:avLst>
              <a:gd name="adj" fmla="val 18367"/>
            </a:avLst>
          </a:prstGeom>
          <a:solidFill>
            <a:srgbClr val="EFEBF8"/>
          </a:solidFill>
          <a:ln/>
        </p:spPr>
      </p:sp>
      <p:sp>
        <p:nvSpPr>
          <p:cNvPr id="33" name="Text 31"/>
          <p:cNvSpPr/>
          <p:nvPr/>
        </p:nvSpPr>
        <p:spPr>
          <a:xfrm>
            <a:off x="640080" y="4919472"/>
            <a:ext cx="2240280" cy="384048"/>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Bizzing Family</a:t>
            </a:r>
            <a:endParaRPr lang="en-US" sz="1200" dirty="0"/>
          </a:p>
        </p:txBody>
      </p:sp>
      <p:sp>
        <p:nvSpPr>
          <p:cNvPr id="34" name="Text 32"/>
          <p:cNvSpPr/>
          <p:nvPr/>
        </p:nvSpPr>
        <p:spPr>
          <a:xfrm>
            <a:off x="2926080" y="4919472"/>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Everything</a:t>
            </a:r>
            <a:endParaRPr lang="en-US" sz="950" dirty="0"/>
          </a:p>
        </p:txBody>
      </p:sp>
      <p:sp>
        <p:nvSpPr>
          <p:cNvPr id="35" name="Text 33"/>
          <p:cNvSpPr/>
          <p:nvPr/>
        </p:nvSpPr>
        <p:spPr>
          <a:xfrm>
            <a:off x="4343400" y="4919472"/>
            <a:ext cx="128016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$499 / yr</a:t>
            </a:r>
            <a:endParaRPr lang="en-US" sz="1200" dirty="0"/>
          </a:p>
        </p:txBody>
      </p:sp>
      <p:sp>
        <p:nvSpPr>
          <p:cNvPr id="36" name="Text 34"/>
          <p:cNvSpPr/>
          <p:nvPr/>
        </p:nvSpPr>
        <p:spPr>
          <a:xfrm>
            <a:off x="5852160" y="4919472"/>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Whole house, up to four children. Cheaper than any three packs — the SKU that makes a twelve-year household real.</a:t>
            </a:r>
            <a:endParaRPr lang="en-US" sz="950" dirty="0"/>
          </a:p>
        </p:txBody>
      </p:sp>
      <p:sp>
        <p:nvSpPr>
          <p:cNvPr id="37" name="Text 35"/>
          <p:cNvSpPr/>
          <p:nvPr/>
        </p:nvSpPr>
        <p:spPr>
          <a:xfrm>
            <a:off x="640080" y="5394960"/>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Bizzing Business</a:t>
            </a:r>
            <a:endParaRPr lang="en-US" sz="1200" dirty="0"/>
          </a:p>
        </p:txBody>
      </p:sp>
      <p:sp>
        <p:nvSpPr>
          <p:cNvPr id="38" name="Text 36"/>
          <p:cNvSpPr/>
          <p:nvPr/>
        </p:nvSpPr>
        <p:spPr>
          <a:xfrm>
            <a:off x="2926080" y="5394960"/>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Cohort</a:t>
            </a:r>
            <a:endParaRPr lang="en-US" sz="950" dirty="0"/>
          </a:p>
        </p:txBody>
      </p:sp>
      <p:sp>
        <p:nvSpPr>
          <p:cNvPr id="39" name="Text 37"/>
          <p:cNvSpPr/>
          <p:nvPr/>
        </p:nvSpPr>
        <p:spPr>
          <a:xfrm>
            <a:off x="4343400" y="5394960"/>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$999</a:t>
            </a:r>
            <a:endParaRPr lang="en-US" sz="1200" dirty="0"/>
          </a:p>
        </p:txBody>
      </p:sp>
      <p:sp>
        <p:nvSpPr>
          <p:cNvPr id="40" name="Text 38"/>
          <p:cNvSpPr/>
          <p:nvPr/>
        </p:nvSpPr>
        <p:spPr>
          <a:xfrm>
            <a:off x="5852160" y="5394960"/>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Eight weeks, a team, a mentor, a demo day. A one-week summer camp is $2,200.</a:t>
            </a:r>
            <a:endParaRPr lang="en-US" sz="950" dirty="0"/>
          </a:p>
        </p:txBody>
      </p:sp>
      <p:sp>
        <p:nvSpPr>
          <p:cNvPr id="41" name="Shape 39"/>
          <p:cNvSpPr/>
          <p:nvPr/>
        </p:nvSpPr>
        <p:spPr>
          <a:xfrm>
            <a:off x="512064" y="5833872"/>
            <a:ext cx="10954512" cy="448056"/>
          </a:xfrm>
          <a:prstGeom prst="roundRect">
            <a:avLst>
              <a:gd name="adj" fmla="val 18367"/>
            </a:avLst>
          </a:prstGeom>
          <a:solidFill>
            <a:srgbClr val="EFEBF8"/>
          </a:solidFill>
          <a:ln/>
        </p:spPr>
      </p:sp>
      <p:sp>
        <p:nvSpPr>
          <p:cNvPr id="42" name="Text 40"/>
          <p:cNvSpPr/>
          <p:nvPr/>
        </p:nvSpPr>
        <p:spPr>
          <a:xfrm>
            <a:off x="640080" y="5870448"/>
            <a:ext cx="2240280" cy="384048"/>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India edition</a:t>
            </a:r>
            <a:endParaRPr lang="en-US" sz="1200" dirty="0"/>
          </a:p>
        </p:txBody>
      </p:sp>
      <p:sp>
        <p:nvSpPr>
          <p:cNvPr id="43" name="Text 41"/>
          <p:cNvSpPr/>
          <p:nvPr/>
        </p:nvSpPr>
        <p:spPr>
          <a:xfrm>
            <a:off x="2926080" y="5870448"/>
            <a:ext cx="1371600" cy="384048"/>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All products</a:t>
            </a:r>
            <a:endParaRPr lang="en-US" sz="950" dirty="0"/>
          </a:p>
        </p:txBody>
      </p:sp>
      <p:sp>
        <p:nvSpPr>
          <p:cNvPr id="44" name="Text 42"/>
          <p:cNvSpPr/>
          <p:nvPr/>
        </p:nvSpPr>
        <p:spPr>
          <a:xfrm>
            <a:off x="4343400" y="5870448"/>
            <a:ext cx="128016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 $49 / yr</a:t>
            </a:r>
            <a:endParaRPr lang="en-US" sz="1200" dirty="0"/>
          </a:p>
        </p:txBody>
      </p:sp>
      <p:sp>
        <p:nvSpPr>
          <p:cNvPr id="45" name="Text 43"/>
          <p:cNvSpPr/>
          <p:nvPr/>
        </p:nvSpPr>
        <p:spPr>
          <a:xfrm>
            <a:off x="5852160" y="5870448"/>
            <a:ext cx="5303520" cy="384048"/>
          </a:xfrm>
          <a:prstGeom prst="rect">
            <a:avLst/>
          </a:prstGeom>
          <a:noFill/>
          <a:ln/>
        </p:spPr>
        <p:txBody>
          <a:bodyPr wrap="square" lIns="0" tIns="0" rIns="0" bIns="0" rtlCol="0" anchor="ctr"/>
          <a:lstStyle/>
          <a:p>
            <a:pPr indent="0" marL="0">
              <a:buNone/>
            </a:pPr>
            <a:r>
              <a:rPr lang="en-US" sz="950" dirty="0">
                <a:solidFill>
                  <a:srgbClr val="4A4360"/>
                </a:solidFill>
                <a:latin typeface="Calibri" pitchFamily="34" charset="0"/>
                <a:ea typeface="Calibri" pitchFamily="34" charset="-122"/>
                <a:cs typeface="Calibri" pitchFamily="34" charset="-120"/>
              </a:rPr>
              <a:t>Roughly ₹3,999. A different market at a different price, not a discount.</a:t>
            </a:r>
            <a:endParaRPr lang="en-US" sz="950" dirty="0"/>
          </a:p>
        </p:txBody>
      </p:sp>
      <p:sp>
        <p:nvSpPr>
          <p:cNvPr id="46" name="Shape 44"/>
          <p:cNvSpPr/>
          <p:nvPr/>
        </p:nvSpPr>
        <p:spPr>
          <a:xfrm>
            <a:off x="640080" y="6382512"/>
            <a:ext cx="10607040" cy="365760"/>
          </a:xfrm>
          <a:prstGeom prst="roundRect">
            <a:avLst>
              <a:gd name="adj" fmla="val 25000"/>
            </a:avLst>
          </a:prstGeom>
          <a:solidFill>
            <a:srgbClr val="EFEBF8"/>
          </a:solidFill>
          <a:ln/>
        </p:spPr>
      </p:sp>
      <p:sp>
        <p:nvSpPr>
          <p:cNvPr id="47" name="Text 45"/>
          <p:cNvSpPr/>
          <p:nvPr/>
        </p:nvSpPr>
        <p:spPr>
          <a:xfrm>
            <a:off x="877824" y="6382512"/>
            <a:ext cx="10149840" cy="365760"/>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Blended ARPU used throughout:  </a:t>
            </a:r>
            <a:pPr indent="0" marL="0">
              <a:buNone/>
            </a:pPr>
            <a:r>
              <a:rPr lang="en-US" sz="950" dirty="0">
                <a:solidFill>
                  <a:srgbClr val="4A4360"/>
                </a:solidFill>
                <a:latin typeface="Calibri" pitchFamily="34" charset="0"/>
                <a:ea typeface="Calibri" pitchFamily="34" charset="-122"/>
                <a:cs typeface="Calibri" pitchFamily="34" charset="-120"/>
              </a:rPr>
              <a:t>$250 diaspora (55% Bee Plus, 12% Advanced, 20% another single pack, 13% Family) and $45 India. The blended figure FALLS from $250 to $172 across five years as India grows into a third of the base — that dilution is in the model, not assumed away.</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CUSTOMER ACQUISITION STRATEGY</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a household actually arrives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Capping paid media at 18% of revenue has a consequence we should say out loud: growth cannot be bought. Between 83% of Year 1 and 58% of Year 5, households have to be earned. This slide is how.</a:t>
            </a:r>
            <a:endParaRPr lang="en-US" sz="1400" dirty="0"/>
          </a:p>
        </p:txBody>
      </p:sp>
      <p:sp>
        <p:nvSpPr>
          <p:cNvPr id="5" name="Shape 3"/>
          <p:cNvSpPr/>
          <p:nvPr/>
        </p:nvSpPr>
        <p:spPr>
          <a:xfrm>
            <a:off x="640080" y="2048256"/>
            <a:ext cx="2514600" cy="1481328"/>
          </a:xfrm>
          <a:prstGeom prst="roundRect">
            <a:avLst>
              <a:gd name="adj" fmla="val 7407"/>
            </a:avLst>
          </a:prstGeom>
          <a:solidFill>
            <a:srgbClr val="EFEBF8"/>
          </a:solidFill>
          <a:ln/>
        </p:spPr>
      </p:sp>
      <p:sp>
        <p:nvSpPr>
          <p:cNvPr id="6" name="Shape 4"/>
          <p:cNvSpPr/>
          <p:nvPr/>
        </p:nvSpPr>
        <p:spPr>
          <a:xfrm>
            <a:off x="640080" y="2048256"/>
            <a:ext cx="2514600" cy="256032"/>
          </a:xfrm>
          <a:prstGeom prst="roundRect">
            <a:avLst>
              <a:gd name="adj" fmla="val 42857"/>
            </a:avLst>
          </a:prstGeom>
          <a:solidFill>
            <a:srgbClr val="F0B429"/>
          </a:solidFill>
          <a:ln/>
        </p:spPr>
      </p:sp>
      <p:sp>
        <p:nvSpPr>
          <p:cNvPr id="7" name="Text 5"/>
          <p:cNvSpPr/>
          <p:nvPr/>
        </p:nvSpPr>
        <p:spPr>
          <a:xfrm>
            <a:off x="64008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FIND</a:t>
            </a:r>
            <a:endParaRPr lang="en-US" sz="900" dirty="0"/>
          </a:p>
        </p:txBody>
      </p:sp>
      <p:sp>
        <p:nvSpPr>
          <p:cNvPr id="8" name="Text 6"/>
          <p:cNvSpPr/>
          <p:nvPr/>
        </p:nvSpPr>
        <p:spPr>
          <a:xfrm>
            <a:off x="80467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A parent searches, or a video finds them</a:t>
            </a:r>
            <a:endParaRPr lang="en-US" sz="1150" dirty="0"/>
          </a:p>
        </p:txBody>
      </p:sp>
      <p:sp>
        <p:nvSpPr>
          <p:cNvPr id="9" name="Text 7"/>
          <p:cNvSpPr/>
          <p:nvPr/>
        </p:nvSpPr>
        <p:spPr>
          <a:xfrm>
            <a:off x="80467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YouTube and search are where a bee parent already is. The free product means there is nothing between the click and the child playing.</a:t>
            </a:r>
            <a:endParaRPr lang="en-US" sz="850" dirty="0"/>
          </a:p>
        </p:txBody>
      </p:sp>
      <p:sp>
        <p:nvSpPr>
          <p:cNvPr id="10" name="Text 8"/>
          <p:cNvSpPr/>
          <p:nvPr/>
        </p:nvSpPr>
        <p:spPr>
          <a:xfrm>
            <a:off x="316382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337560" y="2048256"/>
            <a:ext cx="2514600" cy="1481328"/>
          </a:xfrm>
          <a:prstGeom prst="roundRect">
            <a:avLst>
              <a:gd name="adj" fmla="val 7407"/>
            </a:avLst>
          </a:prstGeom>
          <a:solidFill>
            <a:srgbClr val="EFEBF8"/>
          </a:solidFill>
          <a:ln/>
        </p:spPr>
      </p:sp>
      <p:sp>
        <p:nvSpPr>
          <p:cNvPr id="12" name="Shape 10"/>
          <p:cNvSpPr/>
          <p:nvPr/>
        </p:nvSpPr>
        <p:spPr>
          <a:xfrm>
            <a:off x="3337560" y="2048256"/>
            <a:ext cx="2514600" cy="256032"/>
          </a:xfrm>
          <a:prstGeom prst="roundRect">
            <a:avLst>
              <a:gd name="adj" fmla="val 42857"/>
            </a:avLst>
          </a:prstGeom>
          <a:solidFill>
            <a:srgbClr val="6C4FE0"/>
          </a:solidFill>
          <a:ln/>
        </p:spPr>
      </p:sp>
      <p:sp>
        <p:nvSpPr>
          <p:cNvPr id="13" name="Text 11"/>
          <p:cNvSpPr/>
          <p:nvPr/>
        </p:nvSpPr>
        <p:spPr>
          <a:xfrm>
            <a:off x="333756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PROVE</a:t>
            </a:r>
            <a:endParaRPr lang="en-US" sz="900" dirty="0"/>
          </a:p>
        </p:txBody>
      </p:sp>
      <p:sp>
        <p:nvSpPr>
          <p:cNvPr id="14" name="Text 12"/>
          <p:cNvSpPr/>
          <p:nvPr/>
        </p:nvSpPr>
        <p:spPr>
          <a:xfrm>
            <a:off x="350215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The child comes back without being asked</a:t>
            </a:r>
            <a:endParaRPr lang="en-US" sz="1150" dirty="0"/>
          </a:p>
        </p:txBody>
      </p:sp>
      <p:sp>
        <p:nvSpPr>
          <p:cNvPr id="15" name="Text 13"/>
          <p:cNvSpPr/>
          <p:nvPr/>
        </p:nvSpPr>
        <p:spPr>
          <a:xfrm>
            <a:off x="350215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only honest signal. We watch week-two return rate, not signups — a family that returns is a family that will pay.</a:t>
            </a:r>
            <a:endParaRPr lang="en-US" sz="850" dirty="0"/>
          </a:p>
        </p:txBody>
      </p:sp>
      <p:sp>
        <p:nvSpPr>
          <p:cNvPr id="16" name="Text 14"/>
          <p:cNvSpPr/>
          <p:nvPr/>
        </p:nvSpPr>
        <p:spPr>
          <a:xfrm>
            <a:off x="586130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6035040" y="2048256"/>
            <a:ext cx="2514600" cy="1481328"/>
          </a:xfrm>
          <a:prstGeom prst="roundRect">
            <a:avLst>
              <a:gd name="adj" fmla="val 7407"/>
            </a:avLst>
          </a:prstGeom>
          <a:solidFill>
            <a:srgbClr val="EFEBF8"/>
          </a:solidFill>
          <a:ln/>
        </p:spPr>
      </p:sp>
      <p:sp>
        <p:nvSpPr>
          <p:cNvPr id="18" name="Shape 16"/>
          <p:cNvSpPr/>
          <p:nvPr/>
        </p:nvSpPr>
        <p:spPr>
          <a:xfrm>
            <a:off x="6035040" y="2048256"/>
            <a:ext cx="2514600" cy="256032"/>
          </a:xfrm>
          <a:prstGeom prst="roundRect">
            <a:avLst>
              <a:gd name="adj" fmla="val 42857"/>
            </a:avLst>
          </a:prstGeom>
          <a:solidFill>
            <a:srgbClr val="178A4C"/>
          </a:solidFill>
          <a:ln/>
        </p:spPr>
      </p:sp>
      <p:sp>
        <p:nvSpPr>
          <p:cNvPr id="19" name="Text 17"/>
          <p:cNvSpPr/>
          <p:nvPr/>
        </p:nvSpPr>
        <p:spPr>
          <a:xfrm>
            <a:off x="603504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Calibri" pitchFamily="34" charset="0"/>
                <a:ea typeface="Calibri" pitchFamily="34" charset="-122"/>
                <a:cs typeface="Calibri" pitchFamily="34" charset="-120"/>
              </a:rPr>
              <a:t>ASK</a:t>
            </a:r>
            <a:endParaRPr lang="en-US" sz="900" dirty="0"/>
          </a:p>
        </p:txBody>
      </p:sp>
      <p:sp>
        <p:nvSpPr>
          <p:cNvPr id="20" name="Text 18"/>
          <p:cNvSpPr/>
          <p:nvPr/>
        </p:nvSpPr>
        <p:spPr>
          <a:xfrm>
            <a:off x="619963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Upgrade at the moment of ambition</a:t>
            </a:r>
            <a:endParaRPr lang="en-US" sz="1150" dirty="0"/>
          </a:p>
        </p:txBody>
      </p:sp>
      <p:sp>
        <p:nvSpPr>
          <p:cNvPr id="21" name="Text 19"/>
          <p:cNvSpPr/>
          <p:nvPr/>
        </p:nvSpPr>
        <p:spPr>
          <a:xfrm>
            <a:off x="619963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Not on day one. At the point the child hits the wall the free tier stops at — a regional list, a harder root, a real bee date.</a:t>
            </a:r>
            <a:endParaRPr lang="en-US" sz="850" dirty="0"/>
          </a:p>
        </p:txBody>
      </p:sp>
      <p:sp>
        <p:nvSpPr>
          <p:cNvPr id="22" name="Text 20"/>
          <p:cNvSpPr/>
          <p:nvPr/>
        </p:nvSpPr>
        <p:spPr>
          <a:xfrm>
            <a:off x="8558784" y="2596896"/>
            <a:ext cx="182880" cy="365760"/>
          </a:xfrm>
          <a:prstGeom prst="rect">
            <a:avLst/>
          </a:prstGeom>
          <a:noFill/>
          <a:ln/>
        </p:spPr>
        <p:txBody>
          <a:bodyPr wrap="square" lIns="0" tIns="0" rIns="0" bIns="0" rtlCol="0" anchor="ctr"/>
          <a:lstStyle/>
          <a:p>
            <a:pPr algn="ctr" indent="0" marL="0">
              <a:buNone/>
            </a:pPr>
            <a:r>
              <a:rPr lang="en-US" sz="1500" dirty="0">
                <a:solidFill>
                  <a:srgbClr val="7A7291"/>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8732520" y="2048256"/>
            <a:ext cx="2514600" cy="1481328"/>
          </a:xfrm>
          <a:prstGeom prst="roundRect">
            <a:avLst>
              <a:gd name="adj" fmla="val 7407"/>
            </a:avLst>
          </a:prstGeom>
          <a:solidFill>
            <a:srgbClr val="EFEBF8"/>
          </a:solidFill>
          <a:ln/>
        </p:spPr>
      </p:sp>
      <p:sp>
        <p:nvSpPr>
          <p:cNvPr id="24" name="Shape 22"/>
          <p:cNvSpPr/>
          <p:nvPr/>
        </p:nvSpPr>
        <p:spPr>
          <a:xfrm>
            <a:off x="8732520" y="2048256"/>
            <a:ext cx="2514600" cy="256032"/>
          </a:xfrm>
          <a:prstGeom prst="roundRect">
            <a:avLst>
              <a:gd name="adj" fmla="val 42857"/>
            </a:avLst>
          </a:prstGeom>
          <a:solidFill>
            <a:srgbClr val="E3B23C"/>
          </a:solidFill>
          <a:ln/>
        </p:spPr>
      </p:sp>
      <p:sp>
        <p:nvSpPr>
          <p:cNvPr id="25" name="Text 23"/>
          <p:cNvSpPr/>
          <p:nvPr/>
        </p:nvSpPr>
        <p:spPr>
          <a:xfrm>
            <a:off x="8732520" y="2048256"/>
            <a:ext cx="2514600" cy="256032"/>
          </a:xfrm>
          <a:prstGeom prst="rect">
            <a:avLst/>
          </a:prstGeom>
          <a:noFill/>
          <a:ln/>
        </p:spPr>
        <p:txBody>
          <a:bodyPr wrap="square" lIns="0" tIns="0" rIns="0" bIns="0" rtlCol="0" anchor="ctr"/>
          <a:lstStyle/>
          <a:p>
            <a:pPr algn="ctr" indent="0" marL="0">
              <a:buNone/>
            </a:pPr>
            <a:r>
              <a:rPr lang="en-US" sz="900" b="1" spc="160" kern="0" dirty="0">
                <a:solidFill>
                  <a:srgbClr val="241E33"/>
                </a:solidFill>
                <a:latin typeface="Calibri" pitchFamily="34" charset="0"/>
                <a:ea typeface="Calibri" pitchFamily="34" charset="-122"/>
                <a:cs typeface="Calibri" pitchFamily="34" charset="-120"/>
              </a:rPr>
              <a:t>SPREAD</a:t>
            </a:r>
            <a:endParaRPr lang="en-US" sz="900" dirty="0"/>
          </a:p>
        </p:txBody>
      </p:sp>
      <p:sp>
        <p:nvSpPr>
          <p:cNvPr id="26" name="Text 24"/>
          <p:cNvSpPr/>
          <p:nvPr/>
        </p:nvSpPr>
        <p:spPr>
          <a:xfrm>
            <a:off x="8897112" y="2377440"/>
            <a:ext cx="2194560" cy="402336"/>
          </a:xfrm>
          <a:prstGeom prst="rect">
            <a:avLst/>
          </a:prstGeom>
          <a:noFill/>
          <a:ln/>
        </p:spPr>
        <p:txBody>
          <a:bodyPr wrap="square" lIns="0" tIns="0" rIns="0" bIns="0" rtlCol="0" anchor="ctr"/>
          <a:lstStyle/>
          <a:p>
            <a:pPr indent="0" marL="0">
              <a:lnSpc>
                <a:spcPts val="1300"/>
              </a:lnSpc>
              <a:buNone/>
            </a:pPr>
            <a:r>
              <a:rPr lang="en-US" sz="1150" b="1" dirty="0">
                <a:solidFill>
                  <a:srgbClr val="241E33"/>
                </a:solidFill>
                <a:latin typeface="Cambria" pitchFamily="34" charset="0"/>
                <a:ea typeface="Cambria" pitchFamily="34" charset="-122"/>
                <a:cs typeface="Cambria" pitchFamily="34" charset="-120"/>
              </a:rPr>
              <a:t>One family tells four</a:t>
            </a:r>
            <a:endParaRPr lang="en-US" sz="1150" dirty="0"/>
          </a:p>
        </p:txBody>
      </p:sp>
      <p:sp>
        <p:nvSpPr>
          <p:cNvPr id="27" name="Text 25"/>
          <p:cNvSpPr/>
          <p:nvPr/>
        </p:nvSpPr>
        <p:spPr>
          <a:xfrm>
            <a:off x="8897112" y="2798064"/>
            <a:ext cx="2194560" cy="676656"/>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The diaspora channel is a WhatsApp group, a temple hall, a school corridor. It cannot be bought. It can be deserved, and it compounds.</a:t>
            </a:r>
            <a:endParaRPr lang="en-US" sz="850" dirty="0"/>
          </a:p>
        </p:txBody>
      </p:sp>
      <p:sp>
        <p:nvSpPr>
          <p:cNvPr id="28" name="Text 26"/>
          <p:cNvSpPr/>
          <p:nvPr/>
        </p:nvSpPr>
        <p:spPr>
          <a:xfrm>
            <a:off x="640080" y="3675888"/>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What each channel is for</a:t>
            </a:r>
            <a:endParaRPr lang="en-US" sz="1500" dirty="0"/>
          </a:p>
        </p:txBody>
      </p:sp>
      <p:sp>
        <p:nvSpPr>
          <p:cNvPr id="29" name="Text 27"/>
          <p:cNvSpPr/>
          <p:nvPr/>
        </p:nvSpPr>
        <p:spPr>
          <a:xfrm>
            <a:off x="397764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ROLE</a:t>
            </a:r>
            <a:endParaRPr lang="en-US" sz="800" dirty="0"/>
          </a:p>
        </p:txBody>
      </p:sp>
      <p:sp>
        <p:nvSpPr>
          <p:cNvPr id="30" name="Text 28"/>
          <p:cNvSpPr/>
          <p:nvPr/>
        </p:nvSpPr>
        <p:spPr>
          <a:xfrm>
            <a:off x="5623560" y="4005072"/>
            <a:ext cx="1600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SWITCHES ON</a:t>
            </a:r>
            <a:endParaRPr lang="en-US" sz="800" dirty="0"/>
          </a:p>
        </p:txBody>
      </p:sp>
      <p:sp>
        <p:nvSpPr>
          <p:cNvPr id="31" name="Text 29"/>
          <p:cNvSpPr/>
          <p:nvPr/>
        </p:nvSpPr>
        <p:spPr>
          <a:xfrm>
            <a:off x="7360920" y="4005072"/>
            <a:ext cx="3886200" cy="237744"/>
          </a:xfrm>
          <a:prstGeom prst="rect">
            <a:avLst/>
          </a:prstGeom>
          <a:noFill/>
          <a:ln/>
        </p:spPr>
        <p:txBody>
          <a:bodyPr wrap="square" lIns="0" tIns="0" rIns="0" bIns="0" rtlCol="0" anchor="ctr"/>
          <a:lstStyle/>
          <a:p>
            <a:pPr indent="0" marL="0">
              <a:buNone/>
            </a:pPr>
            <a:r>
              <a:rPr lang="en-US" sz="800" b="1" spc="120" kern="0" dirty="0">
                <a:solidFill>
                  <a:srgbClr val="4A31B0"/>
                </a:solidFill>
                <a:latin typeface="Calibri" pitchFamily="34" charset="0"/>
                <a:ea typeface="Calibri" pitchFamily="34" charset="-122"/>
                <a:cs typeface="Calibri" pitchFamily="34" charset="-120"/>
              </a:rPr>
              <a:t>THE NUMBER WE WATCH</a:t>
            </a:r>
            <a:endParaRPr lang="en-US" sz="800" dirty="0"/>
          </a:p>
        </p:txBody>
      </p:sp>
      <p:sp>
        <p:nvSpPr>
          <p:cNvPr id="32" name="Shape 30"/>
          <p:cNvSpPr/>
          <p:nvPr/>
        </p:nvSpPr>
        <p:spPr>
          <a:xfrm>
            <a:off x="512064" y="4251960"/>
            <a:ext cx="10954512" cy="347472"/>
          </a:xfrm>
          <a:prstGeom prst="roundRect">
            <a:avLst>
              <a:gd name="adj" fmla="val 21053"/>
            </a:avLst>
          </a:prstGeom>
          <a:solidFill>
            <a:srgbClr val="EFEBF8"/>
          </a:solidFill>
          <a:ln/>
        </p:spPr>
      </p:sp>
      <p:sp>
        <p:nvSpPr>
          <p:cNvPr id="33" name="Shape 31"/>
          <p:cNvSpPr/>
          <p:nvPr/>
        </p:nvSpPr>
        <p:spPr>
          <a:xfrm rot="5400000">
            <a:off x="640080" y="4315968"/>
            <a:ext cx="219456" cy="219456"/>
          </a:xfrm>
          <a:prstGeom prst="hexagon">
            <a:avLst/>
          </a:prstGeom>
          <a:solidFill>
            <a:srgbClr val="178A4C"/>
          </a:solidFill>
          <a:ln/>
        </p:spPr>
      </p:sp>
      <p:sp>
        <p:nvSpPr>
          <p:cNvPr id="34" name="Text 32"/>
          <p:cNvSpPr/>
          <p:nvPr/>
        </p:nvSpPr>
        <p:spPr>
          <a:xfrm>
            <a:off x="950976" y="42611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The free product itself</a:t>
            </a:r>
            <a:endParaRPr lang="en-US" sz="1100" dirty="0"/>
          </a:p>
        </p:txBody>
      </p:sp>
      <p:sp>
        <p:nvSpPr>
          <p:cNvPr id="35" name="Text 33"/>
          <p:cNvSpPr/>
          <p:nvPr/>
        </p:nvSpPr>
        <p:spPr>
          <a:xfrm>
            <a:off x="3977640" y="426110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Converts</a:t>
            </a:r>
            <a:endParaRPr lang="en-US" sz="950" dirty="0"/>
          </a:p>
        </p:txBody>
      </p:sp>
      <p:sp>
        <p:nvSpPr>
          <p:cNvPr id="36" name="Text 34"/>
          <p:cNvSpPr/>
          <p:nvPr/>
        </p:nvSpPr>
        <p:spPr>
          <a:xfrm>
            <a:off x="5623560" y="42611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37" name="Text 35"/>
          <p:cNvSpPr/>
          <p:nvPr/>
        </p:nvSpPr>
        <p:spPr>
          <a:xfrm>
            <a:off x="7360920" y="42611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Week-two return rate — everything downstream is a function of it</a:t>
            </a:r>
            <a:endParaRPr lang="en-US" sz="900" dirty="0"/>
          </a:p>
        </p:txBody>
      </p:sp>
      <p:sp>
        <p:nvSpPr>
          <p:cNvPr id="38" name="Shape 36"/>
          <p:cNvSpPr/>
          <p:nvPr/>
        </p:nvSpPr>
        <p:spPr>
          <a:xfrm rot="5400000">
            <a:off x="640080" y="4681728"/>
            <a:ext cx="219456" cy="219456"/>
          </a:xfrm>
          <a:prstGeom prst="hexagon">
            <a:avLst/>
          </a:prstGeom>
          <a:solidFill>
            <a:srgbClr val="F0B429"/>
          </a:solidFill>
          <a:ln/>
        </p:spPr>
      </p:sp>
      <p:sp>
        <p:nvSpPr>
          <p:cNvPr id="39" name="Text 37"/>
          <p:cNvSpPr/>
          <p:nvPr/>
        </p:nvSpPr>
        <p:spPr>
          <a:xfrm>
            <a:off x="950976" y="462686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YouTube back catalogue</a:t>
            </a:r>
            <a:endParaRPr lang="en-US" sz="1100" dirty="0"/>
          </a:p>
        </p:txBody>
      </p:sp>
      <p:sp>
        <p:nvSpPr>
          <p:cNvPr id="40" name="Text 38"/>
          <p:cNvSpPr/>
          <p:nvPr/>
        </p:nvSpPr>
        <p:spPr>
          <a:xfrm>
            <a:off x="3977640" y="4626864"/>
            <a:ext cx="1600200" cy="329184"/>
          </a:xfrm>
          <a:prstGeom prst="rect">
            <a:avLst/>
          </a:prstGeom>
          <a:noFill/>
          <a:ln/>
        </p:spPr>
        <p:txBody>
          <a:bodyPr wrap="square" lIns="0" tIns="0" rIns="0" bIns="0" rtlCol="0" anchor="ctr"/>
          <a:lstStyle/>
          <a:p>
            <a:pPr indent="0" marL="0">
              <a:buNone/>
            </a:pPr>
            <a:r>
              <a:rPr lang="en-US" sz="950" i="1" dirty="0">
                <a:solidFill>
                  <a:srgbClr val="F0B429"/>
                </a:solidFill>
                <a:latin typeface="Calibri" pitchFamily="34" charset="0"/>
                <a:ea typeface="Calibri" pitchFamily="34" charset="-122"/>
                <a:cs typeface="Calibri" pitchFamily="34" charset="-120"/>
              </a:rPr>
              <a:t>Finds</a:t>
            </a:r>
            <a:endParaRPr lang="en-US" sz="950" dirty="0"/>
          </a:p>
        </p:txBody>
      </p:sp>
      <p:sp>
        <p:nvSpPr>
          <p:cNvPr id="41" name="Text 39"/>
          <p:cNvSpPr/>
          <p:nvPr/>
        </p:nvSpPr>
        <p:spPr>
          <a:xfrm>
            <a:off x="5623560" y="462686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Week 1</a:t>
            </a:r>
            <a:endParaRPr lang="en-US" sz="950" dirty="0"/>
          </a:p>
        </p:txBody>
      </p:sp>
      <p:sp>
        <p:nvSpPr>
          <p:cNvPr id="42" name="Text 40"/>
          <p:cNvSpPr/>
          <p:nvPr/>
        </p:nvSpPr>
        <p:spPr>
          <a:xfrm>
            <a:off x="7360920" y="462686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Views per video after 90 days, not on launch day</a:t>
            </a:r>
            <a:endParaRPr lang="en-US" sz="900" dirty="0"/>
          </a:p>
        </p:txBody>
      </p:sp>
      <p:sp>
        <p:nvSpPr>
          <p:cNvPr id="43" name="Shape 41"/>
          <p:cNvSpPr/>
          <p:nvPr/>
        </p:nvSpPr>
        <p:spPr>
          <a:xfrm>
            <a:off x="512064" y="4983480"/>
            <a:ext cx="10954512" cy="347472"/>
          </a:xfrm>
          <a:prstGeom prst="roundRect">
            <a:avLst>
              <a:gd name="adj" fmla="val 21053"/>
            </a:avLst>
          </a:prstGeom>
          <a:solidFill>
            <a:srgbClr val="EFEBF8"/>
          </a:solidFill>
          <a:ln/>
        </p:spPr>
      </p:sp>
      <p:sp>
        <p:nvSpPr>
          <p:cNvPr id="44" name="Shape 42"/>
          <p:cNvSpPr/>
          <p:nvPr/>
        </p:nvSpPr>
        <p:spPr>
          <a:xfrm rot="5400000">
            <a:off x="640080" y="5047488"/>
            <a:ext cx="219456" cy="219456"/>
          </a:xfrm>
          <a:prstGeom prst="hexagon">
            <a:avLst/>
          </a:prstGeom>
          <a:solidFill>
            <a:srgbClr val="178A4C"/>
          </a:solidFill>
          <a:ln/>
        </p:spPr>
      </p:sp>
      <p:sp>
        <p:nvSpPr>
          <p:cNvPr id="45" name="Text 43"/>
          <p:cNvSpPr/>
          <p:nvPr/>
        </p:nvSpPr>
        <p:spPr>
          <a:xfrm>
            <a:off x="950976" y="499262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Referral &amp; WhatsApp</a:t>
            </a:r>
            <a:endParaRPr lang="en-US" sz="1100" dirty="0"/>
          </a:p>
        </p:txBody>
      </p:sp>
      <p:sp>
        <p:nvSpPr>
          <p:cNvPr id="46" name="Text 44"/>
          <p:cNvSpPr/>
          <p:nvPr/>
        </p:nvSpPr>
        <p:spPr>
          <a:xfrm>
            <a:off x="3977640" y="4992624"/>
            <a:ext cx="1600200" cy="329184"/>
          </a:xfrm>
          <a:prstGeom prst="rect">
            <a:avLst/>
          </a:prstGeom>
          <a:noFill/>
          <a:ln/>
        </p:spPr>
        <p:txBody>
          <a:bodyPr wrap="square" lIns="0" tIns="0" rIns="0" bIns="0" rtlCol="0" anchor="ctr"/>
          <a:lstStyle/>
          <a:p>
            <a:pPr indent="0" marL="0">
              <a:buNone/>
            </a:pPr>
            <a:r>
              <a:rPr lang="en-US" sz="950" i="1" dirty="0">
                <a:solidFill>
                  <a:srgbClr val="178A4C"/>
                </a:solidFill>
                <a:latin typeface="Calibri" pitchFamily="34" charset="0"/>
                <a:ea typeface="Calibri" pitchFamily="34" charset="-122"/>
                <a:cs typeface="Calibri" pitchFamily="34" charset="-120"/>
              </a:rPr>
              <a:t>Multiplies</a:t>
            </a:r>
            <a:endParaRPr lang="en-US" sz="950" dirty="0"/>
          </a:p>
        </p:txBody>
      </p:sp>
      <p:sp>
        <p:nvSpPr>
          <p:cNvPr id="47" name="Text 45"/>
          <p:cNvSpPr/>
          <p:nvPr/>
        </p:nvSpPr>
        <p:spPr>
          <a:xfrm>
            <a:off x="5623560" y="499262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3</a:t>
            </a:r>
            <a:endParaRPr lang="en-US" sz="950" dirty="0"/>
          </a:p>
        </p:txBody>
      </p:sp>
      <p:sp>
        <p:nvSpPr>
          <p:cNvPr id="48" name="Text 46"/>
          <p:cNvSpPr/>
          <p:nvPr/>
        </p:nvSpPr>
        <p:spPr>
          <a:xfrm>
            <a:off x="7360920" y="499262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Invites sent per paying household per year — target 2+</a:t>
            </a:r>
            <a:endParaRPr lang="en-US" sz="900" dirty="0"/>
          </a:p>
        </p:txBody>
      </p:sp>
      <p:sp>
        <p:nvSpPr>
          <p:cNvPr id="49" name="Shape 47"/>
          <p:cNvSpPr/>
          <p:nvPr/>
        </p:nvSpPr>
        <p:spPr>
          <a:xfrm rot="5400000">
            <a:off x="640080" y="5413248"/>
            <a:ext cx="219456" cy="219456"/>
          </a:xfrm>
          <a:prstGeom prst="hexagon">
            <a:avLst/>
          </a:prstGeom>
          <a:solidFill>
            <a:srgbClr val="E3B23C"/>
          </a:solidFill>
          <a:ln/>
        </p:spPr>
      </p:sp>
      <p:sp>
        <p:nvSpPr>
          <p:cNvPr id="50" name="Text 48"/>
          <p:cNvSpPr/>
          <p:nvPr/>
        </p:nvSpPr>
        <p:spPr>
          <a:xfrm>
            <a:off x="950976" y="535838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Community &amp; events</a:t>
            </a:r>
            <a:endParaRPr lang="en-US" sz="1100" dirty="0"/>
          </a:p>
        </p:txBody>
      </p:sp>
      <p:sp>
        <p:nvSpPr>
          <p:cNvPr id="51" name="Text 49"/>
          <p:cNvSpPr/>
          <p:nvPr/>
        </p:nvSpPr>
        <p:spPr>
          <a:xfrm>
            <a:off x="3977640" y="5358384"/>
            <a:ext cx="1600200" cy="329184"/>
          </a:xfrm>
          <a:prstGeom prst="rect">
            <a:avLst/>
          </a:prstGeom>
          <a:noFill/>
          <a:ln/>
        </p:spPr>
        <p:txBody>
          <a:bodyPr wrap="square" lIns="0" tIns="0" rIns="0" bIns="0" rtlCol="0" anchor="ctr"/>
          <a:lstStyle/>
          <a:p>
            <a:pPr indent="0" marL="0">
              <a:buNone/>
            </a:pPr>
            <a:r>
              <a:rPr lang="en-US" sz="950" i="1" dirty="0">
                <a:solidFill>
                  <a:srgbClr val="E3B23C"/>
                </a:solidFill>
                <a:latin typeface="Calibri" pitchFamily="34" charset="0"/>
                <a:ea typeface="Calibri" pitchFamily="34" charset="-122"/>
                <a:cs typeface="Calibri" pitchFamily="34" charset="-120"/>
              </a:rPr>
              <a:t>Converts hardest</a:t>
            </a:r>
            <a:endParaRPr lang="en-US" sz="950" dirty="0"/>
          </a:p>
        </p:txBody>
      </p:sp>
      <p:sp>
        <p:nvSpPr>
          <p:cNvPr id="52" name="Text 50"/>
          <p:cNvSpPr/>
          <p:nvPr/>
        </p:nvSpPr>
        <p:spPr>
          <a:xfrm>
            <a:off x="5623560" y="535838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Month 6</a:t>
            </a:r>
            <a:endParaRPr lang="en-US" sz="950" dirty="0"/>
          </a:p>
        </p:txBody>
      </p:sp>
      <p:sp>
        <p:nvSpPr>
          <p:cNvPr id="53" name="Text 51"/>
          <p:cNvSpPr/>
          <p:nvPr/>
        </p:nvSpPr>
        <p:spPr>
          <a:xfrm>
            <a:off x="7360920" y="535838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Cost per household at a regional bee, versus $130 paid</a:t>
            </a:r>
            <a:endParaRPr lang="en-US" sz="900" dirty="0"/>
          </a:p>
        </p:txBody>
      </p:sp>
      <p:sp>
        <p:nvSpPr>
          <p:cNvPr id="54" name="Shape 52"/>
          <p:cNvSpPr/>
          <p:nvPr/>
        </p:nvSpPr>
        <p:spPr>
          <a:xfrm>
            <a:off x="512064" y="5715000"/>
            <a:ext cx="10954512" cy="347472"/>
          </a:xfrm>
          <a:prstGeom prst="roundRect">
            <a:avLst>
              <a:gd name="adj" fmla="val 21053"/>
            </a:avLst>
          </a:prstGeom>
          <a:solidFill>
            <a:srgbClr val="EFEBF8"/>
          </a:solidFill>
          <a:ln/>
        </p:spPr>
      </p:sp>
      <p:sp>
        <p:nvSpPr>
          <p:cNvPr id="55" name="Shape 53"/>
          <p:cNvSpPr/>
          <p:nvPr/>
        </p:nvSpPr>
        <p:spPr>
          <a:xfrm rot="5400000">
            <a:off x="640080" y="5779008"/>
            <a:ext cx="219456" cy="219456"/>
          </a:xfrm>
          <a:prstGeom prst="hexagon">
            <a:avLst/>
          </a:prstGeom>
          <a:solidFill>
            <a:srgbClr val="6C4FE0"/>
          </a:solidFill>
          <a:ln/>
        </p:spPr>
      </p:sp>
      <p:sp>
        <p:nvSpPr>
          <p:cNvPr id="56" name="Text 54"/>
          <p:cNvSpPr/>
          <p:nvPr/>
        </p:nvSpPr>
        <p:spPr>
          <a:xfrm>
            <a:off x="950976" y="572414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Search &amp; Meta</a:t>
            </a:r>
            <a:endParaRPr lang="en-US" sz="1100" dirty="0"/>
          </a:p>
        </p:txBody>
      </p:sp>
      <p:sp>
        <p:nvSpPr>
          <p:cNvPr id="57" name="Text 55"/>
          <p:cNvSpPr/>
          <p:nvPr/>
        </p:nvSpPr>
        <p:spPr>
          <a:xfrm>
            <a:off x="3977640" y="572414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Amplifies</a:t>
            </a:r>
            <a:endParaRPr lang="en-US" sz="950" dirty="0"/>
          </a:p>
        </p:txBody>
      </p:sp>
      <p:sp>
        <p:nvSpPr>
          <p:cNvPr id="58" name="Text 56"/>
          <p:cNvSpPr/>
          <p:nvPr/>
        </p:nvSpPr>
        <p:spPr>
          <a:xfrm>
            <a:off x="5623560" y="572414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When funded</a:t>
            </a:r>
            <a:endParaRPr lang="en-US" sz="950" dirty="0"/>
          </a:p>
        </p:txBody>
      </p:sp>
      <p:sp>
        <p:nvSpPr>
          <p:cNvPr id="59" name="Text 57"/>
          <p:cNvSpPr/>
          <p:nvPr/>
        </p:nvSpPr>
        <p:spPr>
          <a:xfrm>
            <a:off x="7360920" y="572414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Only ever 18% of trailing revenue — never a fixed budget</a:t>
            </a:r>
            <a:endParaRPr lang="en-US" sz="900" dirty="0"/>
          </a:p>
        </p:txBody>
      </p:sp>
      <p:sp>
        <p:nvSpPr>
          <p:cNvPr id="60" name="Shape 58"/>
          <p:cNvSpPr/>
          <p:nvPr/>
        </p:nvSpPr>
        <p:spPr>
          <a:xfrm rot="5400000">
            <a:off x="640080" y="6144768"/>
            <a:ext cx="219456" cy="219456"/>
          </a:xfrm>
          <a:prstGeom prst="hexagon">
            <a:avLst/>
          </a:prstGeom>
          <a:solidFill>
            <a:srgbClr val="6C4FE0"/>
          </a:solidFill>
          <a:ln/>
        </p:spPr>
      </p:sp>
      <p:sp>
        <p:nvSpPr>
          <p:cNvPr id="61" name="Text 59"/>
          <p:cNvSpPr/>
          <p:nvPr/>
        </p:nvSpPr>
        <p:spPr>
          <a:xfrm>
            <a:off x="950976" y="6089904"/>
            <a:ext cx="3017520" cy="32918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School &amp; club partnerships</a:t>
            </a:r>
            <a:endParaRPr lang="en-US" sz="1100" dirty="0"/>
          </a:p>
        </p:txBody>
      </p:sp>
      <p:sp>
        <p:nvSpPr>
          <p:cNvPr id="62" name="Text 60"/>
          <p:cNvSpPr/>
          <p:nvPr/>
        </p:nvSpPr>
        <p:spPr>
          <a:xfrm>
            <a:off x="3977640" y="6089904"/>
            <a:ext cx="1600200" cy="329184"/>
          </a:xfrm>
          <a:prstGeom prst="rect">
            <a:avLst/>
          </a:prstGeom>
          <a:noFill/>
          <a:ln/>
        </p:spPr>
        <p:txBody>
          <a:bodyPr wrap="square" lIns="0" tIns="0" rIns="0" bIns="0" rtlCol="0" anchor="ctr"/>
          <a:lstStyle/>
          <a:p>
            <a:pPr indent="0" marL="0">
              <a:buNone/>
            </a:pPr>
            <a:r>
              <a:rPr lang="en-US" sz="950" i="1" dirty="0">
                <a:solidFill>
                  <a:srgbClr val="6C4FE0"/>
                </a:solidFill>
                <a:latin typeface="Calibri" pitchFamily="34" charset="0"/>
                <a:ea typeface="Calibri" pitchFamily="34" charset="-122"/>
                <a:cs typeface="Calibri" pitchFamily="34" charset="-120"/>
              </a:rPr>
              <a:t>Reaches at scale</a:t>
            </a:r>
            <a:endParaRPr lang="en-US" sz="950" dirty="0"/>
          </a:p>
        </p:txBody>
      </p:sp>
      <p:sp>
        <p:nvSpPr>
          <p:cNvPr id="63" name="Text 61"/>
          <p:cNvSpPr/>
          <p:nvPr/>
        </p:nvSpPr>
        <p:spPr>
          <a:xfrm>
            <a:off x="5623560" y="6089904"/>
            <a:ext cx="1600200" cy="329184"/>
          </a:xfrm>
          <a:prstGeom prst="rect">
            <a:avLst/>
          </a:prstGeom>
          <a:noFill/>
          <a:ln/>
        </p:spPr>
        <p:txBody>
          <a:bodyPr wrap="square" lIns="0" tIns="0" rIns="0" bIns="0" rtlCol="0" anchor="ctr"/>
          <a:lstStyle/>
          <a:p>
            <a:pPr indent="0" marL="0">
              <a:buNone/>
            </a:pPr>
            <a:r>
              <a:rPr lang="en-US" sz="950" b="1" dirty="0">
                <a:solidFill>
                  <a:srgbClr val="4A4360"/>
                </a:solidFill>
                <a:latin typeface="Calibri" pitchFamily="34" charset="0"/>
                <a:ea typeface="Calibri" pitchFamily="34" charset="-122"/>
                <a:cs typeface="Calibri" pitchFamily="34" charset="-120"/>
              </a:rPr>
              <a:t>Year 2</a:t>
            </a:r>
            <a:endParaRPr lang="en-US" sz="950" dirty="0"/>
          </a:p>
        </p:txBody>
      </p:sp>
      <p:sp>
        <p:nvSpPr>
          <p:cNvPr id="64" name="Text 62"/>
          <p:cNvSpPr/>
          <p:nvPr/>
        </p:nvSpPr>
        <p:spPr>
          <a:xfrm>
            <a:off x="7360920" y="6089904"/>
            <a:ext cx="3886200" cy="329184"/>
          </a:xfrm>
          <a:prstGeom prst="rect">
            <a:avLst/>
          </a:prstGeom>
          <a:noFill/>
          <a:ln/>
        </p:spPr>
        <p:txBody>
          <a:bodyPr wrap="square" lIns="0" tIns="0" rIns="0" bIns="0" rtlCol="0" anchor="ctr"/>
          <a:lstStyle/>
          <a:p>
            <a:pPr indent="0" marL="0">
              <a:buNone/>
            </a:pPr>
            <a:r>
              <a:rPr lang="en-US" sz="900" dirty="0">
                <a:solidFill>
                  <a:srgbClr val="4A4360"/>
                </a:solidFill>
                <a:latin typeface="Calibri" pitchFamily="34" charset="0"/>
                <a:ea typeface="Calibri" pitchFamily="34" charset="-122"/>
                <a:cs typeface="Calibri" pitchFamily="34" charset="-120"/>
              </a:rPr>
              <a:t>Households per partnership; one club is worth ~40</a:t>
            </a:r>
            <a:endParaRPr lang="en-US" sz="900" dirty="0"/>
          </a:p>
        </p:txBody>
      </p:sp>
      <p:sp>
        <p:nvSpPr>
          <p:cNvPr id="65" name="Shape 63"/>
          <p:cNvSpPr/>
          <p:nvPr/>
        </p:nvSpPr>
        <p:spPr>
          <a:xfrm>
            <a:off x="640080" y="6455664"/>
            <a:ext cx="10607040" cy="347472"/>
          </a:xfrm>
          <a:prstGeom prst="roundRect">
            <a:avLst>
              <a:gd name="adj" fmla="val 23684"/>
            </a:avLst>
          </a:prstGeom>
          <a:solidFill>
            <a:srgbClr val="241E33"/>
          </a:solidFill>
          <a:ln/>
        </p:spPr>
      </p:sp>
      <p:sp>
        <p:nvSpPr>
          <p:cNvPr id="66" name="Text 64"/>
          <p:cNvSpPr/>
          <p:nvPr/>
        </p:nvSpPr>
        <p:spPr>
          <a:xfrm>
            <a:off x="877824" y="6455664"/>
            <a:ext cx="10149840" cy="347472"/>
          </a:xfrm>
          <a:prstGeom prst="rect">
            <a:avLst/>
          </a:prstGeom>
          <a:noFill/>
          <a:ln/>
        </p:spPr>
        <p:txBody>
          <a:bodyPr wrap="square" lIns="0" tIns="0" rIns="0" bIns="0" rtlCol="0" anchor="ctr"/>
          <a:lstStyle/>
          <a:p>
            <a:pPr indent="0" marL="0">
              <a:buNone/>
            </a:pPr>
            <a:r>
              <a:rPr lang="en-US" sz="950" b="1" dirty="0">
                <a:solidFill>
                  <a:srgbClr val="F0B429"/>
                </a:solidFill>
                <a:latin typeface="Calibri" pitchFamily="34" charset="0"/>
                <a:ea typeface="Calibri" pitchFamily="34" charset="-122"/>
                <a:cs typeface="Calibri" pitchFamily="34" charset="-120"/>
              </a:rPr>
              <a:t>The order is deliberate.  </a:t>
            </a:r>
            <a:pPr indent="0" marL="0">
              <a:buNone/>
            </a:pPr>
            <a:r>
              <a:rPr lang="en-US" sz="950" dirty="0">
                <a:solidFill>
                  <a:srgbClr val="E3DCF2"/>
                </a:solidFill>
                <a:latin typeface="Calibri" pitchFamily="34" charset="0"/>
                <a:ea typeface="Calibri" pitchFamily="34" charset="-122"/>
                <a:cs typeface="Calibri" pitchFamily="34" charset="-120"/>
              </a:rPr>
              <a:t>Paid media is last because it multiplies whatever it is pointed at. Pointed at a product families do not return to, it multiplies a leak — which is the most common way a plan like this loses money.</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ACQUISITION TARGETS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a week, then earn the right to more</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The rate rises every year, but the growth MULTIPLE falls every year — 4.5×, then 2.9×, 2.2×, 1.7×. That deceleration is the honest shape of acquisition getting harder as the easy households are used up.</a:t>
            </a:r>
            <a:endParaRPr lang="en-US" sz="1400" dirty="0"/>
          </a:p>
        </p:txBody>
      </p:sp>
      <p:sp>
        <p:nvSpPr>
          <p:cNvPr id="5" name="Text 3"/>
          <p:cNvSpPr/>
          <p:nvPr/>
        </p:nvSpPr>
        <p:spPr>
          <a:xfrm>
            <a:off x="502920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1</a:t>
            </a:r>
            <a:endParaRPr lang="en-US" sz="1050" dirty="0"/>
          </a:p>
        </p:txBody>
      </p:sp>
      <p:sp>
        <p:nvSpPr>
          <p:cNvPr id="6" name="Text 4"/>
          <p:cNvSpPr/>
          <p:nvPr/>
        </p:nvSpPr>
        <p:spPr>
          <a:xfrm>
            <a:off x="630936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2</a:t>
            </a:r>
            <a:endParaRPr lang="en-US" sz="1050" dirty="0"/>
          </a:p>
        </p:txBody>
      </p:sp>
      <p:sp>
        <p:nvSpPr>
          <p:cNvPr id="7" name="Text 5"/>
          <p:cNvSpPr/>
          <p:nvPr/>
        </p:nvSpPr>
        <p:spPr>
          <a:xfrm>
            <a:off x="758952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3</a:t>
            </a:r>
            <a:endParaRPr lang="en-US" sz="1050" dirty="0"/>
          </a:p>
        </p:txBody>
      </p:sp>
      <p:sp>
        <p:nvSpPr>
          <p:cNvPr id="8" name="Text 6"/>
          <p:cNvSpPr/>
          <p:nvPr/>
        </p:nvSpPr>
        <p:spPr>
          <a:xfrm>
            <a:off x="886968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4</a:t>
            </a:r>
            <a:endParaRPr lang="en-US" sz="1050" dirty="0"/>
          </a:p>
        </p:txBody>
      </p:sp>
      <p:sp>
        <p:nvSpPr>
          <p:cNvPr id="9" name="Text 7"/>
          <p:cNvSpPr/>
          <p:nvPr/>
        </p:nvSpPr>
        <p:spPr>
          <a:xfrm>
            <a:off x="10149840" y="2011680"/>
            <a:ext cx="11887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Year 5</a:t>
            </a:r>
            <a:endParaRPr lang="en-US" sz="1050" dirty="0"/>
          </a:p>
        </p:txBody>
      </p:sp>
      <p:sp>
        <p:nvSpPr>
          <p:cNvPr id="10" name="Shape 8"/>
          <p:cNvSpPr/>
          <p:nvPr/>
        </p:nvSpPr>
        <p:spPr>
          <a:xfrm>
            <a:off x="512064" y="2295144"/>
            <a:ext cx="10954512" cy="512064"/>
          </a:xfrm>
          <a:prstGeom prst="roundRect">
            <a:avLst>
              <a:gd name="adj" fmla="val 16071"/>
            </a:avLst>
          </a:prstGeom>
          <a:solidFill>
            <a:srgbClr val="EFEBF8"/>
          </a:solidFill>
          <a:ln/>
        </p:spPr>
      </p:sp>
      <p:sp>
        <p:nvSpPr>
          <p:cNvPr id="11" name="Text 9"/>
          <p:cNvSpPr/>
          <p:nvPr/>
        </p:nvSpPr>
        <p:spPr>
          <a:xfrm>
            <a:off x="640080" y="2322576"/>
            <a:ext cx="4206240" cy="274320"/>
          </a:xfrm>
          <a:prstGeom prst="rect">
            <a:avLst/>
          </a:prstGeom>
          <a:noFill/>
          <a:ln/>
        </p:spPr>
        <p:txBody>
          <a:bodyPr wrap="square" lIns="0" tIns="0" rIns="0" bIns="0" rtlCol="0" anchor="ctr"/>
          <a:lstStyle/>
          <a:p>
            <a:pPr indent="0" marL="0">
              <a:buNone/>
            </a:pPr>
            <a:r>
              <a:rPr lang="en-US" sz="1250" b="1" dirty="0">
                <a:solidFill>
                  <a:srgbClr val="6C4FE0"/>
                </a:solidFill>
                <a:latin typeface="Cambria" pitchFamily="34" charset="0"/>
                <a:ea typeface="Cambria" pitchFamily="34" charset="-122"/>
                <a:cs typeface="Cambria" pitchFamily="34" charset="-120"/>
              </a:rPr>
              <a:t>New paying households / week</a:t>
            </a:r>
            <a:endParaRPr lang="en-US" sz="1250" dirty="0"/>
          </a:p>
        </p:txBody>
      </p:sp>
      <p:sp>
        <p:nvSpPr>
          <p:cNvPr id="12" name="Text 10"/>
          <p:cNvSpPr/>
          <p:nvPr/>
        </p:nvSpPr>
        <p:spPr>
          <a:xfrm>
            <a:off x="640080" y="256032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The target the team is actually run against</a:t>
            </a:r>
            <a:endParaRPr lang="en-US" sz="800" dirty="0"/>
          </a:p>
        </p:txBody>
      </p:sp>
      <p:sp>
        <p:nvSpPr>
          <p:cNvPr id="13" name="Text 11"/>
          <p:cNvSpPr/>
          <p:nvPr/>
        </p:nvSpPr>
        <p:spPr>
          <a:xfrm>
            <a:off x="502920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630936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18</a:t>
            </a:r>
            <a:endParaRPr lang="en-US" sz="1400" dirty="0"/>
          </a:p>
        </p:txBody>
      </p:sp>
      <p:sp>
        <p:nvSpPr>
          <p:cNvPr id="15" name="Text 13"/>
          <p:cNvSpPr/>
          <p:nvPr/>
        </p:nvSpPr>
        <p:spPr>
          <a:xfrm>
            <a:off x="758952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52</a:t>
            </a:r>
            <a:endParaRPr lang="en-US" sz="1400" dirty="0"/>
          </a:p>
        </p:txBody>
      </p:sp>
      <p:sp>
        <p:nvSpPr>
          <p:cNvPr id="16" name="Text 14"/>
          <p:cNvSpPr/>
          <p:nvPr/>
        </p:nvSpPr>
        <p:spPr>
          <a:xfrm>
            <a:off x="886968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115</a:t>
            </a:r>
            <a:endParaRPr lang="en-US" sz="1400" dirty="0"/>
          </a:p>
        </p:txBody>
      </p:sp>
      <p:sp>
        <p:nvSpPr>
          <p:cNvPr id="17" name="Text 15"/>
          <p:cNvSpPr/>
          <p:nvPr/>
        </p:nvSpPr>
        <p:spPr>
          <a:xfrm>
            <a:off x="10149840" y="2340864"/>
            <a:ext cx="1188720" cy="420624"/>
          </a:xfrm>
          <a:prstGeom prst="rect">
            <a:avLst/>
          </a:prstGeom>
          <a:noFill/>
          <a:ln/>
        </p:spPr>
        <p:txBody>
          <a:bodyPr wrap="square" lIns="0" tIns="0" rIns="0" bIns="0" rtlCol="0" anchor="ctr"/>
          <a:lstStyle/>
          <a:p>
            <a:pPr algn="ctr" indent="0" marL="0">
              <a:buNone/>
            </a:pPr>
            <a:r>
              <a:rPr lang="en-US" sz="1400" b="1" dirty="0">
                <a:solidFill>
                  <a:srgbClr val="241E33"/>
                </a:solidFill>
                <a:latin typeface="Calibri" pitchFamily="34" charset="0"/>
                <a:ea typeface="Calibri" pitchFamily="34" charset="-122"/>
                <a:cs typeface="Calibri" pitchFamily="34" charset="-120"/>
              </a:rPr>
              <a:t>195</a:t>
            </a:r>
            <a:endParaRPr lang="en-US" sz="1400" dirty="0"/>
          </a:p>
        </p:txBody>
      </p:sp>
      <p:sp>
        <p:nvSpPr>
          <p:cNvPr id="18" name="Text 16"/>
          <p:cNvSpPr/>
          <p:nvPr/>
        </p:nvSpPr>
        <p:spPr>
          <a:xfrm>
            <a:off x="640080" y="287121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Growth on the year before</a:t>
            </a:r>
            <a:endParaRPr lang="en-US" sz="1100" dirty="0"/>
          </a:p>
        </p:txBody>
      </p:sp>
      <p:sp>
        <p:nvSpPr>
          <p:cNvPr id="19" name="Text 17"/>
          <p:cNvSpPr/>
          <p:nvPr/>
        </p:nvSpPr>
        <p:spPr>
          <a:xfrm>
            <a:off x="640080" y="310896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Decelerating, because it should</a:t>
            </a:r>
            <a:endParaRPr lang="en-US" sz="800" dirty="0"/>
          </a:p>
        </p:txBody>
      </p:sp>
      <p:sp>
        <p:nvSpPr>
          <p:cNvPr id="20" name="Text 18"/>
          <p:cNvSpPr/>
          <p:nvPr/>
        </p:nvSpPr>
        <p:spPr>
          <a:xfrm>
            <a:off x="502920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630936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4.5×</a:t>
            </a:r>
            <a:endParaRPr lang="en-US" sz="1150" dirty="0"/>
          </a:p>
        </p:txBody>
      </p:sp>
      <p:sp>
        <p:nvSpPr>
          <p:cNvPr id="22" name="Text 20"/>
          <p:cNvSpPr/>
          <p:nvPr/>
        </p:nvSpPr>
        <p:spPr>
          <a:xfrm>
            <a:off x="758952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2.9×</a:t>
            </a:r>
            <a:endParaRPr lang="en-US" sz="1150" dirty="0"/>
          </a:p>
        </p:txBody>
      </p:sp>
      <p:sp>
        <p:nvSpPr>
          <p:cNvPr id="23" name="Text 21"/>
          <p:cNvSpPr/>
          <p:nvPr/>
        </p:nvSpPr>
        <p:spPr>
          <a:xfrm>
            <a:off x="886968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2.2×</a:t>
            </a:r>
            <a:endParaRPr lang="en-US" sz="1150" dirty="0"/>
          </a:p>
        </p:txBody>
      </p:sp>
      <p:sp>
        <p:nvSpPr>
          <p:cNvPr id="24" name="Text 22"/>
          <p:cNvSpPr/>
          <p:nvPr/>
        </p:nvSpPr>
        <p:spPr>
          <a:xfrm>
            <a:off x="10149840" y="288950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1.7×</a:t>
            </a:r>
            <a:endParaRPr lang="en-US" sz="1150" dirty="0"/>
          </a:p>
        </p:txBody>
      </p:sp>
      <p:sp>
        <p:nvSpPr>
          <p:cNvPr id="25" name="Shape 23"/>
          <p:cNvSpPr/>
          <p:nvPr/>
        </p:nvSpPr>
        <p:spPr>
          <a:xfrm>
            <a:off x="512064" y="3392424"/>
            <a:ext cx="10954512" cy="512064"/>
          </a:xfrm>
          <a:prstGeom prst="roundRect">
            <a:avLst>
              <a:gd name="adj" fmla="val 16071"/>
            </a:avLst>
          </a:prstGeom>
          <a:solidFill>
            <a:srgbClr val="EFEBF8"/>
          </a:solidFill>
          <a:ln/>
        </p:spPr>
      </p:sp>
      <p:sp>
        <p:nvSpPr>
          <p:cNvPr id="26" name="Text 24"/>
          <p:cNvSpPr/>
          <p:nvPr/>
        </p:nvSpPr>
        <p:spPr>
          <a:xfrm>
            <a:off x="640080" y="341985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New in the year</a:t>
            </a:r>
            <a:endParaRPr lang="en-US" sz="1100" dirty="0"/>
          </a:p>
        </p:txBody>
      </p:sp>
      <p:sp>
        <p:nvSpPr>
          <p:cNvPr id="27" name="Text 25"/>
          <p:cNvSpPr/>
          <p:nvPr/>
        </p:nvSpPr>
        <p:spPr>
          <a:xfrm>
            <a:off x="502920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208</a:t>
            </a:r>
            <a:endParaRPr lang="en-US" sz="1150" dirty="0"/>
          </a:p>
        </p:txBody>
      </p:sp>
      <p:sp>
        <p:nvSpPr>
          <p:cNvPr id="28" name="Text 26"/>
          <p:cNvSpPr/>
          <p:nvPr/>
        </p:nvSpPr>
        <p:spPr>
          <a:xfrm>
            <a:off x="630936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936</a:t>
            </a:r>
            <a:endParaRPr lang="en-US" sz="1150" dirty="0"/>
          </a:p>
        </p:txBody>
      </p:sp>
      <p:sp>
        <p:nvSpPr>
          <p:cNvPr id="29" name="Text 27"/>
          <p:cNvSpPr/>
          <p:nvPr/>
        </p:nvSpPr>
        <p:spPr>
          <a:xfrm>
            <a:off x="758952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2,704</a:t>
            </a:r>
            <a:endParaRPr lang="en-US" sz="1150" dirty="0"/>
          </a:p>
        </p:txBody>
      </p:sp>
      <p:sp>
        <p:nvSpPr>
          <p:cNvPr id="30" name="Text 28"/>
          <p:cNvSpPr/>
          <p:nvPr/>
        </p:nvSpPr>
        <p:spPr>
          <a:xfrm>
            <a:off x="886968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5,980</a:t>
            </a:r>
            <a:endParaRPr lang="en-US" sz="1150" dirty="0"/>
          </a:p>
        </p:txBody>
      </p:sp>
      <p:sp>
        <p:nvSpPr>
          <p:cNvPr id="31" name="Text 29"/>
          <p:cNvSpPr/>
          <p:nvPr/>
        </p:nvSpPr>
        <p:spPr>
          <a:xfrm>
            <a:off x="10149840" y="343814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10,140</a:t>
            </a:r>
            <a:endParaRPr lang="en-US" sz="1150" dirty="0"/>
          </a:p>
        </p:txBody>
      </p:sp>
      <p:sp>
        <p:nvSpPr>
          <p:cNvPr id="32" name="Text 30"/>
          <p:cNvSpPr/>
          <p:nvPr/>
        </p:nvSpPr>
        <p:spPr>
          <a:xfrm>
            <a:off x="640080" y="3968496"/>
            <a:ext cx="4206240" cy="274320"/>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Retained from prior year (70%)</a:t>
            </a:r>
            <a:endParaRPr lang="en-US" sz="1100" dirty="0"/>
          </a:p>
        </p:txBody>
      </p:sp>
      <p:sp>
        <p:nvSpPr>
          <p:cNvPr id="33" name="Text 31"/>
          <p:cNvSpPr/>
          <p:nvPr/>
        </p:nvSpPr>
        <p:spPr>
          <a:xfrm>
            <a:off x="640080" y="4206240"/>
            <a:ext cx="4206240" cy="219456"/>
          </a:xfrm>
          <a:prstGeom prst="rect">
            <a:avLst/>
          </a:prstGeom>
          <a:noFill/>
          <a:ln/>
        </p:spPr>
        <p:txBody>
          <a:bodyPr wrap="square" lIns="0" tIns="0" rIns="0" bIns="0" rtlCol="0" anchor="ctr"/>
          <a:lstStyle/>
          <a:p>
            <a:pPr indent="0" marL="0">
              <a:buNone/>
            </a:pPr>
            <a:r>
              <a:rPr lang="en-US" sz="800" i="1" dirty="0">
                <a:solidFill>
                  <a:srgbClr val="7A7291"/>
                </a:solidFill>
                <a:latin typeface="Calibri" pitchFamily="34" charset="0"/>
                <a:ea typeface="Calibri" pitchFamily="34" charset="-122"/>
                <a:cs typeface="Calibri" pitchFamily="34" charset="-120"/>
              </a:rPr>
              <a:t>30% annual churn taken off the front</a:t>
            </a:r>
            <a:endParaRPr lang="en-US" sz="800" dirty="0"/>
          </a:p>
        </p:txBody>
      </p:sp>
      <p:sp>
        <p:nvSpPr>
          <p:cNvPr id="34" name="Text 32"/>
          <p:cNvSpPr/>
          <p:nvPr/>
        </p:nvSpPr>
        <p:spPr>
          <a:xfrm>
            <a:off x="502920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a:t>
            </a:r>
            <a:endParaRPr lang="en-US" sz="1150" dirty="0"/>
          </a:p>
        </p:txBody>
      </p:sp>
      <p:sp>
        <p:nvSpPr>
          <p:cNvPr id="35" name="Text 33"/>
          <p:cNvSpPr/>
          <p:nvPr/>
        </p:nvSpPr>
        <p:spPr>
          <a:xfrm>
            <a:off x="630936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146</a:t>
            </a:r>
            <a:endParaRPr lang="en-US" sz="1150" dirty="0"/>
          </a:p>
        </p:txBody>
      </p:sp>
      <p:sp>
        <p:nvSpPr>
          <p:cNvPr id="36" name="Text 34"/>
          <p:cNvSpPr/>
          <p:nvPr/>
        </p:nvSpPr>
        <p:spPr>
          <a:xfrm>
            <a:off x="758952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757</a:t>
            </a:r>
            <a:endParaRPr lang="en-US" sz="1150" dirty="0"/>
          </a:p>
        </p:txBody>
      </p:sp>
      <p:sp>
        <p:nvSpPr>
          <p:cNvPr id="37" name="Text 35"/>
          <p:cNvSpPr/>
          <p:nvPr/>
        </p:nvSpPr>
        <p:spPr>
          <a:xfrm>
            <a:off x="886968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2,422</a:t>
            </a:r>
            <a:endParaRPr lang="en-US" sz="1150" dirty="0"/>
          </a:p>
        </p:txBody>
      </p:sp>
      <p:sp>
        <p:nvSpPr>
          <p:cNvPr id="38" name="Text 36"/>
          <p:cNvSpPr/>
          <p:nvPr/>
        </p:nvSpPr>
        <p:spPr>
          <a:xfrm>
            <a:off x="10149840" y="3986784"/>
            <a:ext cx="1188720" cy="420624"/>
          </a:xfrm>
          <a:prstGeom prst="rect">
            <a:avLst/>
          </a:prstGeom>
          <a:noFill/>
          <a:ln/>
        </p:spPr>
        <p:txBody>
          <a:bodyPr wrap="square" lIns="0" tIns="0" rIns="0" bIns="0" rtlCol="0" anchor="ctr"/>
          <a:lstStyle/>
          <a:p>
            <a:pPr algn="ctr" indent="0" marL="0">
              <a:buNone/>
            </a:pPr>
            <a:r>
              <a:rPr lang="en-US" sz="1150" dirty="0">
                <a:solidFill>
                  <a:srgbClr val="241E33"/>
                </a:solidFill>
                <a:latin typeface="Calibri" pitchFamily="34" charset="0"/>
                <a:ea typeface="Calibri" pitchFamily="34" charset="-122"/>
                <a:cs typeface="Calibri" pitchFamily="34" charset="-120"/>
              </a:rPr>
              <a:t>5,882</a:t>
            </a:r>
            <a:endParaRPr lang="en-US" sz="1150" dirty="0"/>
          </a:p>
        </p:txBody>
      </p:sp>
      <p:sp>
        <p:nvSpPr>
          <p:cNvPr id="39" name="Shape 37"/>
          <p:cNvSpPr/>
          <p:nvPr/>
        </p:nvSpPr>
        <p:spPr>
          <a:xfrm>
            <a:off x="512064" y="4489704"/>
            <a:ext cx="10954512" cy="512064"/>
          </a:xfrm>
          <a:prstGeom prst="roundRect">
            <a:avLst>
              <a:gd name="adj" fmla="val 16071"/>
            </a:avLst>
          </a:prstGeom>
          <a:solidFill>
            <a:srgbClr val="241E33"/>
          </a:solidFill>
          <a:ln/>
        </p:spPr>
      </p:sp>
      <p:sp>
        <p:nvSpPr>
          <p:cNvPr id="40" name="Text 38"/>
          <p:cNvSpPr/>
          <p:nvPr/>
        </p:nvSpPr>
        <p:spPr>
          <a:xfrm>
            <a:off x="640080" y="4517136"/>
            <a:ext cx="420624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Paying households, end of year</a:t>
            </a:r>
            <a:endParaRPr lang="en-US" sz="1250" dirty="0"/>
          </a:p>
        </p:txBody>
      </p:sp>
      <p:sp>
        <p:nvSpPr>
          <p:cNvPr id="41" name="Text 39"/>
          <p:cNvSpPr/>
          <p:nvPr/>
        </p:nvSpPr>
        <p:spPr>
          <a:xfrm>
            <a:off x="502920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208</a:t>
            </a:r>
            <a:endParaRPr lang="en-US" sz="1400" dirty="0"/>
          </a:p>
        </p:txBody>
      </p:sp>
      <p:sp>
        <p:nvSpPr>
          <p:cNvPr id="42" name="Text 40"/>
          <p:cNvSpPr/>
          <p:nvPr/>
        </p:nvSpPr>
        <p:spPr>
          <a:xfrm>
            <a:off x="630936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1,082</a:t>
            </a:r>
            <a:endParaRPr lang="en-US" sz="1400" dirty="0"/>
          </a:p>
        </p:txBody>
      </p:sp>
      <p:sp>
        <p:nvSpPr>
          <p:cNvPr id="43" name="Text 41"/>
          <p:cNvSpPr/>
          <p:nvPr/>
        </p:nvSpPr>
        <p:spPr>
          <a:xfrm>
            <a:off x="758952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3,461</a:t>
            </a:r>
            <a:endParaRPr lang="en-US" sz="1400" dirty="0"/>
          </a:p>
        </p:txBody>
      </p:sp>
      <p:sp>
        <p:nvSpPr>
          <p:cNvPr id="44" name="Text 42"/>
          <p:cNvSpPr/>
          <p:nvPr/>
        </p:nvSpPr>
        <p:spPr>
          <a:xfrm>
            <a:off x="8869680" y="4535424"/>
            <a:ext cx="118872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8,403</a:t>
            </a:r>
            <a:endParaRPr lang="en-US" sz="1400" dirty="0"/>
          </a:p>
        </p:txBody>
      </p:sp>
      <p:sp>
        <p:nvSpPr>
          <p:cNvPr id="45" name="Text 43"/>
          <p:cNvSpPr/>
          <p:nvPr/>
        </p:nvSpPr>
        <p:spPr>
          <a:xfrm>
            <a:off x="10149840" y="4535424"/>
            <a:ext cx="1188720" cy="420624"/>
          </a:xfrm>
          <a:prstGeom prst="rect">
            <a:avLst/>
          </a:prstGeom>
          <a:noFill/>
          <a:ln/>
        </p:spPr>
        <p:txBody>
          <a:bodyPr wrap="square" lIns="0" tIns="0" rIns="0" bIns="0" rtlCol="0" anchor="ctr"/>
          <a:lstStyle/>
          <a:p>
            <a:pPr algn="ctr" indent="0" marL="0">
              <a:buNone/>
            </a:pPr>
            <a:r>
              <a:rPr lang="en-US" sz="1400" b="1" dirty="0">
                <a:solidFill>
                  <a:srgbClr val="F0B429"/>
                </a:solidFill>
                <a:latin typeface="Calibri" pitchFamily="34" charset="0"/>
                <a:ea typeface="Calibri" pitchFamily="34" charset="-122"/>
                <a:cs typeface="Calibri" pitchFamily="34" charset="-120"/>
              </a:rPr>
              <a:t>16.0k</a:t>
            </a:r>
            <a:endParaRPr lang="en-US" sz="1400" dirty="0"/>
          </a:p>
        </p:txBody>
      </p:sp>
      <p:sp>
        <p:nvSpPr>
          <p:cNvPr id="46" name="Text 44"/>
          <p:cNvSpPr/>
          <p:nvPr/>
        </p:nvSpPr>
        <p:spPr>
          <a:xfrm>
            <a:off x="640080" y="5175504"/>
            <a:ext cx="6858000" cy="274320"/>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Of those households, how many can paid media actually buy?</a:t>
            </a:r>
            <a:endParaRPr lang="en-US" sz="1400" dirty="0"/>
          </a:p>
        </p:txBody>
      </p:sp>
      <p:sp>
        <p:nvSpPr>
          <p:cNvPr id="47" name="Shape 45"/>
          <p:cNvSpPr/>
          <p:nvPr/>
        </p:nvSpPr>
        <p:spPr>
          <a:xfrm>
            <a:off x="640080" y="5522976"/>
            <a:ext cx="1965960" cy="274320"/>
          </a:xfrm>
          <a:prstGeom prst="roundRect">
            <a:avLst>
              <a:gd name="adj" fmla="val 26667"/>
            </a:avLst>
          </a:prstGeom>
          <a:solidFill>
            <a:srgbClr val="E3DCF2"/>
          </a:solidFill>
          <a:ln/>
        </p:spPr>
      </p:sp>
      <p:sp>
        <p:nvSpPr>
          <p:cNvPr id="48" name="Shape 46"/>
          <p:cNvSpPr/>
          <p:nvPr/>
        </p:nvSpPr>
        <p:spPr>
          <a:xfrm>
            <a:off x="640080" y="5522976"/>
            <a:ext cx="340262" cy="274320"/>
          </a:xfrm>
          <a:prstGeom prst="roundRect">
            <a:avLst>
              <a:gd name="adj" fmla="val 26667"/>
            </a:avLst>
          </a:prstGeom>
          <a:solidFill>
            <a:srgbClr val="6C4FE0"/>
          </a:solidFill>
          <a:ln/>
        </p:spPr>
      </p:sp>
      <p:sp>
        <p:nvSpPr>
          <p:cNvPr id="49" name="Text 47"/>
          <p:cNvSpPr/>
          <p:nvPr/>
        </p:nvSpPr>
        <p:spPr>
          <a:xfrm>
            <a:off x="73152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Y1  17% paid</a:t>
            </a:r>
            <a:endParaRPr lang="en-US" sz="850" dirty="0"/>
          </a:p>
        </p:txBody>
      </p:sp>
      <p:sp>
        <p:nvSpPr>
          <p:cNvPr id="50" name="Text 48"/>
          <p:cNvSpPr/>
          <p:nvPr/>
        </p:nvSpPr>
        <p:spPr>
          <a:xfrm>
            <a:off x="64008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36 bought · 172 earned</a:t>
            </a:r>
            <a:endParaRPr lang="en-US" sz="750" dirty="0"/>
          </a:p>
        </p:txBody>
      </p:sp>
      <p:sp>
        <p:nvSpPr>
          <p:cNvPr id="51" name="Shape 49"/>
          <p:cNvSpPr/>
          <p:nvPr/>
        </p:nvSpPr>
        <p:spPr>
          <a:xfrm>
            <a:off x="2788920" y="5522976"/>
            <a:ext cx="1965960" cy="274320"/>
          </a:xfrm>
          <a:prstGeom prst="roundRect">
            <a:avLst>
              <a:gd name="adj" fmla="val 26667"/>
            </a:avLst>
          </a:prstGeom>
          <a:solidFill>
            <a:srgbClr val="E3DCF2"/>
          </a:solidFill>
          <a:ln/>
        </p:spPr>
      </p:sp>
      <p:sp>
        <p:nvSpPr>
          <p:cNvPr id="52" name="Shape 50"/>
          <p:cNvSpPr/>
          <p:nvPr/>
        </p:nvSpPr>
        <p:spPr>
          <a:xfrm>
            <a:off x="2788920" y="5522976"/>
            <a:ext cx="462085" cy="274320"/>
          </a:xfrm>
          <a:prstGeom prst="roundRect">
            <a:avLst>
              <a:gd name="adj" fmla="val 26667"/>
            </a:avLst>
          </a:prstGeom>
          <a:solidFill>
            <a:srgbClr val="6C4FE0"/>
          </a:solidFill>
          <a:ln/>
        </p:spPr>
      </p:sp>
      <p:sp>
        <p:nvSpPr>
          <p:cNvPr id="53" name="Text 51"/>
          <p:cNvSpPr/>
          <p:nvPr/>
        </p:nvSpPr>
        <p:spPr>
          <a:xfrm>
            <a:off x="288036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Y2  24% paid</a:t>
            </a:r>
            <a:endParaRPr lang="en-US" sz="850" dirty="0"/>
          </a:p>
        </p:txBody>
      </p:sp>
      <p:sp>
        <p:nvSpPr>
          <p:cNvPr id="54" name="Text 52"/>
          <p:cNvSpPr/>
          <p:nvPr/>
        </p:nvSpPr>
        <p:spPr>
          <a:xfrm>
            <a:off x="278892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220 bought · 716 earned</a:t>
            </a:r>
            <a:endParaRPr lang="en-US" sz="750" dirty="0"/>
          </a:p>
        </p:txBody>
      </p:sp>
      <p:sp>
        <p:nvSpPr>
          <p:cNvPr id="55" name="Shape 53"/>
          <p:cNvSpPr/>
          <p:nvPr/>
        </p:nvSpPr>
        <p:spPr>
          <a:xfrm>
            <a:off x="4937760" y="5522976"/>
            <a:ext cx="1965960" cy="274320"/>
          </a:xfrm>
          <a:prstGeom prst="roundRect">
            <a:avLst>
              <a:gd name="adj" fmla="val 26667"/>
            </a:avLst>
          </a:prstGeom>
          <a:solidFill>
            <a:srgbClr val="E3DCF2"/>
          </a:solidFill>
          <a:ln/>
        </p:spPr>
      </p:sp>
      <p:sp>
        <p:nvSpPr>
          <p:cNvPr id="56" name="Shape 54"/>
          <p:cNvSpPr/>
          <p:nvPr/>
        </p:nvSpPr>
        <p:spPr>
          <a:xfrm>
            <a:off x="4937760" y="5522976"/>
            <a:ext cx="604911" cy="274320"/>
          </a:xfrm>
          <a:prstGeom prst="roundRect">
            <a:avLst>
              <a:gd name="adj" fmla="val 26667"/>
            </a:avLst>
          </a:prstGeom>
          <a:solidFill>
            <a:srgbClr val="6C4FE0"/>
          </a:solidFill>
          <a:ln/>
        </p:spPr>
      </p:sp>
      <p:sp>
        <p:nvSpPr>
          <p:cNvPr id="57" name="Text 55"/>
          <p:cNvSpPr/>
          <p:nvPr/>
        </p:nvSpPr>
        <p:spPr>
          <a:xfrm>
            <a:off x="502920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Y3  31% paid</a:t>
            </a:r>
            <a:endParaRPr lang="en-US" sz="850" dirty="0"/>
          </a:p>
        </p:txBody>
      </p:sp>
      <p:sp>
        <p:nvSpPr>
          <p:cNvPr id="58" name="Text 56"/>
          <p:cNvSpPr/>
          <p:nvPr/>
        </p:nvSpPr>
        <p:spPr>
          <a:xfrm>
            <a:off x="493776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832 bought · 1,872 earned</a:t>
            </a:r>
            <a:endParaRPr lang="en-US" sz="750" dirty="0"/>
          </a:p>
        </p:txBody>
      </p:sp>
      <p:sp>
        <p:nvSpPr>
          <p:cNvPr id="59" name="Shape 57"/>
          <p:cNvSpPr/>
          <p:nvPr/>
        </p:nvSpPr>
        <p:spPr>
          <a:xfrm>
            <a:off x="7086600" y="5522976"/>
            <a:ext cx="1965960" cy="274320"/>
          </a:xfrm>
          <a:prstGeom prst="roundRect">
            <a:avLst>
              <a:gd name="adj" fmla="val 26667"/>
            </a:avLst>
          </a:prstGeom>
          <a:solidFill>
            <a:srgbClr val="E3DCF2"/>
          </a:solidFill>
          <a:ln/>
        </p:spPr>
      </p:sp>
      <p:sp>
        <p:nvSpPr>
          <p:cNvPr id="60" name="Shape 58"/>
          <p:cNvSpPr/>
          <p:nvPr/>
        </p:nvSpPr>
        <p:spPr>
          <a:xfrm>
            <a:off x="7086600" y="5522976"/>
            <a:ext cx="706825" cy="274320"/>
          </a:xfrm>
          <a:prstGeom prst="roundRect">
            <a:avLst>
              <a:gd name="adj" fmla="val 26667"/>
            </a:avLst>
          </a:prstGeom>
          <a:solidFill>
            <a:srgbClr val="6C4FE0"/>
          </a:solidFill>
          <a:ln/>
        </p:spPr>
      </p:sp>
      <p:sp>
        <p:nvSpPr>
          <p:cNvPr id="61" name="Text 59"/>
          <p:cNvSpPr/>
          <p:nvPr/>
        </p:nvSpPr>
        <p:spPr>
          <a:xfrm>
            <a:off x="717804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Y4  36% paid</a:t>
            </a:r>
            <a:endParaRPr lang="en-US" sz="850" dirty="0"/>
          </a:p>
        </p:txBody>
      </p:sp>
      <p:sp>
        <p:nvSpPr>
          <p:cNvPr id="62" name="Text 60"/>
          <p:cNvSpPr/>
          <p:nvPr/>
        </p:nvSpPr>
        <p:spPr>
          <a:xfrm>
            <a:off x="708660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2,150 bought · 3,830 earned</a:t>
            </a:r>
            <a:endParaRPr lang="en-US" sz="750" dirty="0"/>
          </a:p>
        </p:txBody>
      </p:sp>
      <p:sp>
        <p:nvSpPr>
          <p:cNvPr id="63" name="Shape 61"/>
          <p:cNvSpPr/>
          <p:nvPr/>
        </p:nvSpPr>
        <p:spPr>
          <a:xfrm>
            <a:off x="9235440" y="5522976"/>
            <a:ext cx="1965960" cy="274320"/>
          </a:xfrm>
          <a:prstGeom prst="roundRect">
            <a:avLst>
              <a:gd name="adj" fmla="val 26667"/>
            </a:avLst>
          </a:prstGeom>
          <a:solidFill>
            <a:srgbClr val="E3DCF2"/>
          </a:solidFill>
          <a:ln/>
        </p:spPr>
      </p:sp>
      <p:sp>
        <p:nvSpPr>
          <p:cNvPr id="64" name="Shape 62"/>
          <p:cNvSpPr/>
          <p:nvPr/>
        </p:nvSpPr>
        <p:spPr>
          <a:xfrm>
            <a:off x="9235440" y="5522976"/>
            <a:ext cx="829813" cy="274320"/>
          </a:xfrm>
          <a:prstGeom prst="roundRect">
            <a:avLst>
              <a:gd name="adj" fmla="val 26667"/>
            </a:avLst>
          </a:prstGeom>
          <a:solidFill>
            <a:srgbClr val="6C4FE0"/>
          </a:solidFill>
          <a:ln/>
        </p:spPr>
      </p:sp>
      <p:sp>
        <p:nvSpPr>
          <p:cNvPr id="65" name="Text 63"/>
          <p:cNvSpPr/>
          <p:nvPr/>
        </p:nvSpPr>
        <p:spPr>
          <a:xfrm>
            <a:off x="9326880" y="5522976"/>
            <a:ext cx="1783080" cy="274320"/>
          </a:xfrm>
          <a:prstGeom prst="rect">
            <a:avLst/>
          </a:prstGeom>
          <a:noFill/>
          <a:ln/>
        </p:spPr>
        <p:txBody>
          <a:bodyPr wrap="square" lIns="0" tIns="0" rIns="0" bIns="0" rtlCol="0" anchor="ctr"/>
          <a:lstStyle/>
          <a:p>
            <a:pPr indent="0" marL="0">
              <a:buNone/>
            </a:pPr>
            <a:r>
              <a:rPr lang="en-US" sz="850" b="1" dirty="0">
                <a:solidFill>
                  <a:srgbClr val="241E33"/>
                </a:solidFill>
                <a:latin typeface="Calibri" pitchFamily="34" charset="0"/>
                <a:ea typeface="Calibri" pitchFamily="34" charset="-122"/>
                <a:cs typeface="Calibri" pitchFamily="34" charset="-120"/>
              </a:rPr>
              <a:t>Y5  42% paid</a:t>
            </a:r>
            <a:endParaRPr lang="en-US" sz="850" dirty="0"/>
          </a:p>
        </p:txBody>
      </p:sp>
      <p:sp>
        <p:nvSpPr>
          <p:cNvPr id="66" name="Text 64"/>
          <p:cNvSpPr/>
          <p:nvPr/>
        </p:nvSpPr>
        <p:spPr>
          <a:xfrm>
            <a:off x="9235440" y="5815584"/>
            <a:ext cx="1965960" cy="237744"/>
          </a:xfrm>
          <a:prstGeom prst="rect">
            <a:avLst/>
          </a:prstGeom>
          <a:noFill/>
          <a:ln/>
        </p:spPr>
        <p:txBody>
          <a:bodyPr wrap="square" lIns="0" tIns="0" rIns="0" bIns="0" rtlCol="0" anchor="ctr"/>
          <a:lstStyle/>
          <a:p>
            <a:pPr indent="0" marL="0">
              <a:buNone/>
            </a:pPr>
            <a:r>
              <a:rPr lang="en-US" sz="750" dirty="0">
                <a:solidFill>
                  <a:srgbClr val="7A7291"/>
                </a:solidFill>
                <a:latin typeface="Calibri" pitchFamily="34" charset="0"/>
                <a:ea typeface="Calibri" pitchFamily="34" charset="-122"/>
                <a:cs typeface="Calibri" pitchFamily="34" charset="-120"/>
              </a:rPr>
              <a:t>4,280 bought · 5,860 earned</a:t>
            </a:r>
            <a:endParaRPr lang="en-US" sz="750" dirty="0"/>
          </a:p>
        </p:txBody>
      </p:sp>
      <p:sp>
        <p:nvSpPr>
          <p:cNvPr id="67" name="Text 65"/>
          <p:cNvSpPr/>
          <p:nvPr/>
        </p:nvSpPr>
        <p:spPr>
          <a:xfrm>
            <a:off x="640080" y="6144768"/>
            <a:ext cx="4572000" cy="256032"/>
          </a:xfrm>
          <a:prstGeom prst="rect">
            <a:avLst/>
          </a:prstGeom>
          <a:noFill/>
          <a:ln/>
        </p:spPr>
        <p:txBody>
          <a:bodyPr wrap="square" lIns="0" tIns="0" rIns="0" bIns="0" rtlCol="0" anchor="ctr"/>
          <a:lstStyle/>
          <a:p>
            <a:pPr indent="0" marL="0">
              <a:buNone/>
            </a:pPr>
            <a:r>
              <a:rPr lang="en-US" sz="950" b="1" spc="140" kern="0" dirty="0">
                <a:solidFill>
                  <a:srgbClr val="4A31B0"/>
                </a:solidFill>
                <a:latin typeface="Calibri" pitchFamily="34" charset="0"/>
                <a:ea typeface="Calibri" pitchFamily="34" charset="-122"/>
                <a:cs typeface="Calibri" pitchFamily="34" charset="-120"/>
              </a:rPr>
              <a:t>Year 5 split by market</a:t>
            </a:r>
            <a:endParaRPr lang="en-US" sz="950" dirty="0"/>
          </a:p>
        </p:txBody>
      </p:sp>
      <p:sp>
        <p:nvSpPr>
          <p:cNvPr id="68" name="Text 66"/>
          <p:cNvSpPr/>
          <p:nvPr/>
        </p:nvSpPr>
        <p:spPr>
          <a:xfrm>
            <a:off x="64008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States — </a:t>
            </a:r>
            <a:endParaRPr lang="en-US" sz="850" dirty="0"/>
          </a:p>
        </p:txBody>
      </p:sp>
      <p:sp>
        <p:nvSpPr>
          <p:cNvPr id="69" name="Text 67"/>
          <p:cNvSpPr/>
          <p:nvPr/>
        </p:nvSpPr>
        <p:spPr>
          <a:xfrm>
            <a:off x="201168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7.3k</a:t>
            </a:r>
            <a:endParaRPr lang="en-US" sz="1200" dirty="0"/>
          </a:p>
        </p:txBody>
      </p:sp>
      <p:sp>
        <p:nvSpPr>
          <p:cNvPr id="70" name="Text 68"/>
          <p:cNvSpPr/>
          <p:nvPr/>
        </p:nvSpPr>
        <p:spPr>
          <a:xfrm>
            <a:off x="64008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520k households</a:t>
            </a:r>
            <a:endParaRPr lang="en-US" sz="750" dirty="0"/>
          </a:p>
        </p:txBody>
      </p:sp>
      <p:sp>
        <p:nvSpPr>
          <p:cNvPr id="71" name="Text 69"/>
          <p:cNvSpPr/>
          <p:nvPr/>
        </p:nvSpPr>
        <p:spPr>
          <a:xfrm>
            <a:off x="278892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United Kingdom — </a:t>
            </a:r>
            <a:endParaRPr lang="en-US" sz="850" dirty="0"/>
          </a:p>
        </p:txBody>
      </p:sp>
      <p:sp>
        <p:nvSpPr>
          <p:cNvPr id="72" name="Text 70"/>
          <p:cNvSpPr/>
          <p:nvPr/>
        </p:nvSpPr>
        <p:spPr>
          <a:xfrm>
            <a:off x="416052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2.0k</a:t>
            </a:r>
            <a:endParaRPr lang="en-US" sz="1200" dirty="0"/>
          </a:p>
        </p:txBody>
      </p:sp>
      <p:sp>
        <p:nvSpPr>
          <p:cNvPr id="73" name="Text 71"/>
          <p:cNvSpPr/>
          <p:nvPr/>
        </p:nvSpPr>
        <p:spPr>
          <a:xfrm>
            <a:off x="278892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190k</a:t>
            </a:r>
            <a:endParaRPr lang="en-US" sz="750" dirty="0"/>
          </a:p>
        </p:txBody>
      </p:sp>
      <p:sp>
        <p:nvSpPr>
          <p:cNvPr id="74" name="Text 72"/>
          <p:cNvSpPr/>
          <p:nvPr/>
        </p:nvSpPr>
        <p:spPr>
          <a:xfrm>
            <a:off x="493776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Canada &amp; Australia — </a:t>
            </a:r>
            <a:endParaRPr lang="en-US" sz="850" dirty="0"/>
          </a:p>
        </p:txBody>
      </p:sp>
      <p:sp>
        <p:nvSpPr>
          <p:cNvPr id="75" name="Text 73"/>
          <p:cNvSpPr/>
          <p:nvPr/>
        </p:nvSpPr>
        <p:spPr>
          <a:xfrm>
            <a:off x="6309360" y="6373368"/>
            <a:ext cx="594360" cy="256032"/>
          </a:xfrm>
          <a:prstGeom prst="rect">
            <a:avLst/>
          </a:prstGeom>
          <a:noFill/>
          <a:ln/>
        </p:spPr>
        <p:txBody>
          <a:bodyPr wrap="square" lIns="0" tIns="0" rIns="0" bIns="0" rtlCol="0" anchor="ctr"/>
          <a:lstStyle/>
          <a:p>
            <a:pPr indent="0" marL="0">
              <a:buNone/>
            </a:pPr>
            <a:r>
              <a:rPr lang="en-US" sz="1200" b="1" dirty="0">
                <a:solidFill>
                  <a:srgbClr val="6C4FE0"/>
                </a:solidFill>
                <a:latin typeface="Cambria" pitchFamily="34" charset="0"/>
                <a:ea typeface="Cambria" pitchFamily="34" charset="-122"/>
                <a:cs typeface="Cambria" pitchFamily="34" charset="-120"/>
              </a:rPr>
              <a:t>1.3k</a:t>
            </a:r>
            <a:endParaRPr lang="en-US" sz="1200" dirty="0"/>
          </a:p>
        </p:txBody>
      </p:sp>
      <p:sp>
        <p:nvSpPr>
          <p:cNvPr id="76" name="Text 74"/>
          <p:cNvSpPr/>
          <p:nvPr/>
        </p:nvSpPr>
        <p:spPr>
          <a:xfrm>
            <a:off x="493776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250k</a:t>
            </a:r>
            <a:endParaRPr lang="en-US" sz="750" dirty="0"/>
          </a:p>
        </p:txBody>
      </p:sp>
      <p:sp>
        <p:nvSpPr>
          <p:cNvPr id="77" name="Text 75"/>
          <p:cNvSpPr/>
          <p:nvPr/>
        </p:nvSpPr>
        <p:spPr>
          <a:xfrm>
            <a:off x="708660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Gulf — </a:t>
            </a:r>
            <a:endParaRPr lang="en-US" sz="850" dirty="0"/>
          </a:p>
        </p:txBody>
      </p:sp>
      <p:sp>
        <p:nvSpPr>
          <p:cNvPr id="78" name="Text 76"/>
          <p:cNvSpPr/>
          <p:nvPr/>
        </p:nvSpPr>
        <p:spPr>
          <a:xfrm>
            <a:off x="8458200" y="6373368"/>
            <a:ext cx="594360" cy="256032"/>
          </a:xfrm>
          <a:prstGeom prst="rect">
            <a:avLst/>
          </a:prstGeom>
          <a:noFill/>
          <a:ln/>
        </p:spPr>
        <p:txBody>
          <a:bodyPr wrap="square" lIns="0" tIns="0" rIns="0" bIns="0" rtlCol="0" anchor="ctr"/>
          <a:lstStyle/>
          <a:p>
            <a:pPr indent="0" marL="0">
              <a:buNone/>
            </a:pPr>
            <a:r>
              <a:rPr lang="en-US" sz="1200" b="1" dirty="0">
                <a:solidFill>
                  <a:srgbClr val="F0B429"/>
                </a:solidFill>
                <a:latin typeface="Cambria" pitchFamily="34" charset="0"/>
                <a:ea typeface="Cambria" pitchFamily="34" charset="-122"/>
                <a:cs typeface="Cambria" pitchFamily="34" charset="-120"/>
              </a:rPr>
              <a:t>0.6k</a:t>
            </a:r>
            <a:endParaRPr lang="en-US" sz="1200" dirty="0"/>
          </a:p>
        </p:txBody>
      </p:sp>
      <p:sp>
        <p:nvSpPr>
          <p:cNvPr id="79" name="Text 77"/>
          <p:cNvSpPr/>
          <p:nvPr/>
        </p:nvSpPr>
        <p:spPr>
          <a:xfrm>
            <a:off x="708660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350k</a:t>
            </a:r>
            <a:endParaRPr lang="en-US" sz="750" dirty="0"/>
          </a:p>
        </p:txBody>
      </p:sp>
      <p:sp>
        <p:nvSpPr>
          <p:cNvPr id="80" name="Text 78"/>
          <p:cNvSpPr/>
          <p:nvPr/>
        </p:nvSpPr>
        <p:spPr>
          <a:xfrm>
            <a:off x="9235440" y="6400800"/>
            <a:ext cx="1371600" cy="219456"/>
          </a:xfrm>
          <a:prstGeom prst="rect">
            <a:avLst/>
          </a:prstGeom>
          <a:noFill/>
          <a:ln/>
        </p:spPr>
        <p:txBody>
          <a:bodyPr wrap="square" lIns="0" tIns="0" rIns="0" bIns="0" rtlCol="0" anchor="ctr"/>
          <a:lstStyle/>
          <a:p>
            <a:pPr indent="0" marL="0">
              <a:buNone/>
            </a:pPr>
            <a:r>
              <a:rPr lang="en-US" sz="850" dirty="0">
                <a:solidFill>
                  <a:srgbClr val="7A7291"/>
                </a:solidFill>
                <a:latin typeface="Calibri" pitchFamily="34" charset="0"/>
                <a:ea typeface="Calibri" pitchFamily="34" charset="-122"/>
                <a:cs typeface="Calibri" pitchFamily="34" charset="-120"/>
              </a:rPr>
              <a:t>India — </a:t>
            </a:r>
            <a:endParaRPr lang="en-US" sz="850" dirty="0"/>
          </a:p>
        </p:txBody>
      </p:sp>
      <p:sp>
        <p:nvSpPr>
          <p:cNvPr id="81" name="Text 79"/>
          <p:cNvSpPr/>
          <p:nvPr/>
        </p:nvSpPr>
        <p:spPr>
          <a:xfrm>
            <a:off x="10607040" y="6373368"/>
            <a:ext cx="594360" cy="256032"/>
          </a:xfrm>
          <a:prstGeom prst="rect">
            <a:avLst/>
          </a:prstGeom>
          <a:noFill/>
          <a:ln/>
        </p:spPr>
        <p:txBody>
          <a:bodyPr wrap="square" lIns="0" tIns="0" rIns="0" bIns="0" rtlCol="0" anchor="ctr"/>
          <a:lstStyle/>
          <a:p>
            <a:pPr indent="0" marL="0">
              <a:buNone/>
            </a:pPr>
            <a:r>
              <a:rPr lang="en-US" sz="1200" b="1" dirty="0">
                <a:solidFill>
                  <a:srgbClr val="178A4C"/>
                </a:solidFill>
                <a:latin typeface="Cambria" pitchFamily="34" charset="0"/>
                <a:ea typeface="Cambria" pitchFamily="34" charset="-122"/>
                <a:cs typeface="Cambria" pitchFamily="34" charset="-120"/>
              </a:rPr>
              <a:t>4.8k</a:t>
            </a:r>
            <a:endParaRPr lang="en-US" sz="1200" dirty="0"/>
          </a:p>
        </p:txBody>
      </p:sp>
      <p:sp>
        <p:nvSpPr>
          <p:cNvPr id="82" name="Text 80"/>
          <p:cNvSpPr/>
          <p:nvPr/>
        </p:nvSpPr>
        <p:spPr>
          <a:xfrm>
            <a:off x="9235440" y="6583680"/>
            <a:ext cx="1920240" cy="201168"/>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of 6.0M</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8229600" cy="27432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PAID MEDIA — WHAT IT WOULD TAKE</a:t>
            </a:r>
            <a:endParaRPr lang="en-US" sz="1200" dirty="0"/>
          </a:p>
        </p:txBody>
      </p:sp>
      <p:sp>
        <p:nvSpPr>
          <p:cNvPr id="3" name="Text 1"/>
          <p:cNvSpPr/>
          <p:nvPr/>
        </p:nvSpPr>
        <p:spPr>
          <a:xfrm>
            <a:off x="640080" y="822960"/>
            <a:ext cx="10424160" cy="932688"/>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budget is not chosen. It is 18% of what came in last quarter.</a:t>
            </a:r>
            <a:endParaRPr lang="en-US" sz="2700" dirty="0"/>
          </a:p>
        </p:txBody>
      </p:sp>
      <p:sp>
        <p:nvSpPr>
          <p:cNvPr id="4" name="Text 2"/>
          <p:cNvSpPr/>
          <p:nvPr/>
        </p:nvSpPr>
        <p:spPr>
          <a:xfrm>
            <a:off x="640080" y="1810512"/>
            <a:ext cx="10424160" cy="384048"/>
          </a:xfrm>
          <a:prstGeom prst="rect">
            <a:avLst/>
          </a:prstGeom>
          <a:noFill/>
          <a:ln/>
        </p:spPr>
        <p:txBody>
          <a:bodyPr wrap="square" lIns="0" tIns="0" rIns="0" bIns="0" rtlCol="0" anchor="ctr"/>
          <a:lstStyle/>
          <a:p>
            <a:pPr indent="0" marL="0">
              <a:lnSpc>
                <a:spcPts val="1500"/>
              </a:lnSpc>
              <a:buNone/>
            </a:pPr>
            <a:r>
              <a:rPr lang="en-US" sz="1250" dirty="0">
                <a:solidFill>
                  <a:srgbClr val="E3DCF2"/>
                </a:solidFill>
                <a:latin typeface="Calibri" pitchFamily="34" charset="0"/>
                <a:ea typeface="Calibri" pitchFamily="34" charset="-122"/>
                <a:cs typeface="Calibri" pitchFamily="34" charset="-120"/>
              </a:rPr>
              <a:t>That is the whole discipline. It means paid media can never be the reason a month loses money — and it means we spend $4.7k in Year 1 and $556k in Year 5 without ever making a budget decision.</a:t>
            </a:r>
            <a:endParaRPr lang="en-US" sz="1250" dirty="0"/>
          </a:p>
        </p:txBody>
      </p:sp>
      <p:sp>
        <p:nvSpPr>
          <p:cNvPr id="5" name="Text 3"/>
          <p:cNvSpPr/>
          <p:nvPr/>
        </p:nvSpPr>
        <p:spPr>
          <a:xfrm>
            <a:off x="356616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CPC</a:t>
            </a:r>
            <a:endParaRPr lang="en-US" sz="900" dirty="0"/>
          </a:p>
        </p:txBody>
      </p:sp>
      <p:sp>
        <p:nvSpPr>
          <p:cNvPr id="6" name="Text 4"/>
          <p:cNvSpPr/>
          <p:nvPr/>
        </p:nvSpPr>
        <p:spPr>
          <a:xfrm>
            <a:off x="48920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CPL</a:t>
            </a:r>
            <a:endParaRPr lang="en-US" sz="900" dirty="0"/>
          </a:p>
        </p:txBody>
      </p:sp>
      <p:sp>
        <p:nvSpPr>
          <p:cNvPr id="7" name="Text 5"/>
          <p:cNvSpPr/>
          <p:nvPr/>
        </p:nvSpPr>
        <p:spPr>
          <a:xfrm>
            <a:off x="621792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CAC</a:t>
            </a:r>
            <a:endParaRPr lang="en-US" sz="900" dirty="0"/>
          </a:p>
        </p:txBody>
      </p:sp>
      <p:sp>
        <p:nvSpPr>
          <p:cNvPr id="8" name="Text 6"/>
          <p:cNvSpPr/>
          <p:nvPr/>
        </p:nvSpPr>
        <p:spPr>
          <a:xfrm>
            <a:off x="7406640" y="2231136"/>
            <a:ext cx="1234440" cy="237744"/>
          </a:xfrm>
          <a:prstGeom prst="rect">
            <a:avLst/>
          </a:prstGeom>
          <a:noFill/>
          <a:ln/>
        </p:spPr>
        <p:txBody>
          <a:bodyPr wrap="square" lIns="0" tIns="0" rIns="0" bIns="0" rtlCol="0" anchor="ctr"/>
          <a:lstStyle/>
          <a:p>
            <a:pPr algn="ctr" indent="0" marL="0">
              <a:buNone/>
            </a:pPr>
            <a:r>
              <a:rPr lang="en-US" sz="900" b="1" spc="120" kern="0" dirty="0">
                <a:solidFill>
                  <a:srgbClr val="F0B429"/>
                </a:solidFill>
                <a:latin typeface="Calibri" pitchFamily="34" charset="0"/>
                <a:ea typeface="Calibri" pitchFamily="34" charset="-122"/>
                <a:cs typeface="Calibri" pitchFamily="34" charset="-120"/>
              </a:rPr>
              <a:t>YR-1 ROAS</a:t>
            </a:r>
            <a:endParaRPr lang="en-US" sz="900" dirty="0"/>
          </a:p>
        </p:txBody>
      </p:sp>
      <p:sp>
        <p:nvSpPr>
          <p:cNvPr id="9" name="Shape 7"/>
          <p:cNvSpPr/>
          <p:nvPr/>
        </p:nvSpPr>
        <p:spPr>
          <a:xfrm>
            <a:off x="512064" y="2459736"/>
            <a:ext cx="10954512" cy="585216"/>
          </a:xfrm>
          <a:prstGeom prst="roundRect">
            <a:avLst>
              <a:gd name="adj" fmla="val 14063"/>
            </a:avLst>
          </a:prstGeom>
          <a:solidFill>
            <a:srgbClr val="FFFFFF">
              <a:alpha val="6000"/>
            </a:srgbClr>
          </a:solidFill>
          <a:ln/>
        </p:spPr>
      </p:sp>
      <p:sp>
        <p:nvSpPr>
          <p:cNvPr id="10" name="Shape 8"/>
          <p:cNvSpPr/>
          <p:nvPr/>
        </p:nvSpPr>
        <p:spPr>
          <a:xfrm rot="5400000">
            <a:off x="640080" y="2642616"/>
            <a:ext cx="237744" cy="237744"/>
          </a:xfrm>
          <a:prstGeom prst="hexagon">
            <a:avLst/>
          </a:prstGeom>
          <a:solidFill>
            <a:srgbClr val="178A4C"/>
          </a:solidFill>
          <a:ln/>
        </p:spPr>
      </p:sp>
      <p:sp>
        <p:nvSpPr>
          <p:cNvPr id="11" name="Text 9"/>
          <p:cNvSpPr/>
          <p:nvPr/>
        </p:nvSpPr>
        <p:spPr>
          <a:xfrm>
            <a:off x="987552" y="2505456"/>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Google Search</a:t>
            </a:r>
            <a:endParaRPr lang="en-US" sz="1250" dirty="0"/>
          </a:p>
        </p:txBody>
      </p:sp>
      <p:sp>
        <p:nvSpPr>
          <p:cNvPr id="12" name="Text 10"/>
          <p:cNvSpPr/>
          <p:nvPr/>
        </p:nvSpPr>
        <p:spPr>
          <a:xfrm>
            <a:off x="356616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$1.80–3.50</a:t>
            </a:r>
            <a:endParaRPr lang="en-US" sz="1100" dirty="0"/>
          </a:p>
        </p:txBody>
      </p:sp>
      <p:sp>
        <p:nvSpPr>
          <p:cNvPr id="13" name="Text 11"/>
          <p:cNvSpPr/>
          <p:nvPr/>
        </p:nvSpPr>
        <p:spPr>
          <a:xfrm>
            <a:off x="4892040" y="2505456"/>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$10–16</a:t>
            </a:r>
            <a:endParaRPr lang="en-US" sz="1100" dirty="0"/>
          </a:p>
        </p:txBody>
      </p:sp>
      <p:sp>
        <p:nvSpPr>
          <p:cNvPr id="14" name="Text 12"/>
          <p:cNvSpPr/>
          <p:nvPr/>
        </p:nvSpPr>
        <p:spPr>
          <a:xfrm>
            <a:off x="6217920" y="2505456"/>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$100</a:t>
            </a:r>
            <a:endParaRPr lang="en-US" sz="1100" dirty="0"/>
          </a:p>
        </p:txBody>
      </p:sp>
      <p:sp>
        <p:nvSpPr>
          <p:cNvPr id="15" name="Text 13"/>
          <p:cNvSpPr/>
          <p:nvPr/>
        </p:nvSpPr>
        <p:spPr>
          <a:xfrm>
            <a:off x="7406640" y="2505456"/>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2.1×</a:t>
            </a:r>
            <a:endParaRPr lang="en-US" sz="1100" dirty="0"/>
          </a:p>
        </p:txBody>
      </p:sp>
      <p:sp>
        <p:nvSpPr>
          <p:cNvPr id="16" name="Text 14"/>
          <p:cNvSpPr/>
          <p:nvPr/>
        </p:nvSpPr>
        <p:spPr>
          <a:xfrm>
            <a:off x="8778240" y="2505456"/>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Highest intent: "spelling bee practice", "11+ verbal reasoning". Small volume, best economics. Start here.</a:t>
            </a:r>
            <a:endParaRPr lang="en-US" sz="900" dirty="0"/>
          </a:p>
        </p:txBody>
      </p:sp>
      <p:sp>
        <p:nvSpPr>
          <p:cNvPr id="17" name="Shape 15"/>
          <p:cNvSpPr/>
          <p:nvPr/>
        </p:nvSpPr>
        <p:spPr>
          <a:xfrm rot="5400000">
            <a:off x="640080" y="3273552"/>
            <a:ext cx="237744" cy="237744"/>
          </a:xfrm>
          <a:prstGeom prst="hexagon">
            <a:avLst/>
          </a:prstGeom>
          <a:solidFill>
            <a:srgbClr val="6C4FE0"/>
          </a:solidFill>
          <a:ln/>
        </p:spPr>
      </p:sp>
      <p:sp>
        <p:nvSpPr>
          <p:cNvPr id="18" name="Text 16"/>
          <p:cNvSpPr/>
          <p:nvPr/>
        </p:nvSpPr>
        <p:spPr>
          <a:xfrm>
            <a:off x="987552" y="3136392"/>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Meta</a:t>
            </a:r>
            <a:endParaRPr lang="en-US" sz="1250" dirty="0"/>
          </a:p>
        </p:txBody>
      </p:sp>
      <p:sp>
        <p:nvSpPr>
          <p:cNvPr id="19" name="Text 17"/>
          <p:cNvSpPr/>
          <p:nvPr/>
        </p:nvSpPr>
        <p:spPr>
          <a:xfrm>
            <a:off x="356616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$1.20–1.80</a:t>
            </a:r>
            <a:endParaRPr lang="en-US" sz="1100" dirty="0"/>
          </a:p>
        </p:txBody>
      </p:sp>
      <p:sp>
        <p:nvSpPr>
          <p:cNvPr id="20" name="Text 18"/>
          <p:cNvSpPr/>
          <p:nvPr/>
        </p:nvSpPr>
        <p:spPr>
          <a:xfrm>
            <a:off x="4892040" y="3136392"/>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$12–18</a:t>
            </a:r>
            <a:endParaRPr lang="en-US" sz="1100" dirty="0"/>
          </a:p>
        </p:txBody>
      </p:sp>
      <p:sp>
        <p:nvSpPr>
          <p:cNvPr id="21" name="Text 19"/>
          <p:cNvSpPr/>
          <p:nvPr/>
        </p:nvSpPr>
        <p:spPr>
          <a:xfrm>
            <a:off x="6217920" y="3136392"/>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$156</a:t>
            </a:r>
            <a:endParaRPr lang="en-US" sz="1100" dirty="0"/>
          </a:p>
        </p:txBody>
      </p:sp>
      <p:sp>
        <p:nvSpPr>
          <p:cNvPr id="22" name="Text 20"/>
          <p:cNvSpPr/>
          <p:nvPr/>
        </p:nvSpPr>
        <p:spPr>
          <a:xfrm>
            <a:off x="7406640" y="3136392"/>
            <a:ext cx="1234440" cy="493776"/>
          </a:xfrm>
          <a:prstGeom prst="rect">
            <a:avLst/>
          </a:prstGeom>
          <a:noFill/>
          <a:ln/>
        </p:spPr>
        <p:txBody>
          <a:bodyPr wrap="square" lIns="0" tIns="0" rIns="0" bIns="0" rtlCol="0" anchor="ctr"/>
          <a:lstStyle/>
          <a:p>
            <a:pPr algn="ctr" indent="0" marL="0">
              <a:buNone/>
            </a:pPr>
            <a:r>
              <a:rPr lang="en-US" sz="1100" b="1" dirty="0">
                <a:solidFill>
                  <a:srgbClr val="6C4FE0"/>
                </a:solidFill>
                <a:latin typeface="Calibri" pitchFamily="34" charset="0"/>
                <a:ea typeface="Calibri" pitchFamily="34" charset="-122"/>
                <a:cs typeface="Calibri" pitchFamily="34" charset="-120"/>
              </a:rPr>
              <a:t>1.3×</a:t>
            </a:r>
            <a:endParaRPr lang="en-US" sz="1100" dirty="0"/>
          </a:p>
        </p:txBody>
      </p:sp>
      <p:sp>
        <p:nvSpPr>
          <p:cNvPr id="23" name="Text 21"/>
          <p:cNvSpPr/>
          <p:nvPr/>
        </p:nvSpPr>
        <p:spPr>
          <a:xfrm>
            <a:off x="8778240" y="3136392"/>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Parent targeting and lookalikes off converters. Volume lives here; so does the waste.</a:t>
            </a:r>
            <a:endParaRPr lang="en-US" sz="900" dirty="0"/>
          </a:p>
        </p:txBody>
      </p:sp>
      <p:sp>
        <p:nvSpPr>
          <p:cNvPr id="24" name="Shape 22"/>
          <p:cNvSpPr/>
          <p:nvPr/>
        </p:nvSpPr>
        <p:spPr>
          <a:xfrm>
            <a:off x="512064" y="3721608"/>
            <a:ext cx="10954512" cy="585216"/>
          </a:xfrm>
          <a:prstGeom prst="roundRect">
            <a:avLst>
              <a:gd name="adj" fmla="val 14063"/>
            </a:avLst>
          </a:prstGeom>
          <a:solidFill>
            <a:srgbClr val="FFFFFF">
              <a:alpha val="6000"/>
            </a:srgbClr>
          </a:solidFill>
          <a:ln/>
        </p:spPr>
      </p:sp>
      <p:sp>
        <p:nvSpPr>
          <p:cNvPr id="25" name="Shape 23"/>
          <p:cNvSpPr/>
          <p:nvPr/>
        </p:nvSpPr>
        <p:spPr>
          <a:xfrm rot="5400000">
            <a:off x="640080" y="3904488"/>
            <a:ext cx="237744" cy="237744"/>
          </a:xfrm>
          <a:prstGeom prst="hexagon">
            <a:avLst/>
          </a:prstGeom>
          <a:solidFill>
            <a:srgbClr val="F0B429"/>
          </a:solidFill>
          <a:ln/>
        </p:spPr>
      </p:sp>
      <p:sp>
        <p:nvSpPr>
          <p:cNvPr id="26" name="Text 24"/>
          <p:cNvSpPr/>
          <p:nvPr/>
        </p:nvSpPr>
        <p:spPr>
          <a:xfrm>
            <a:off x="987552" y="3767328"/>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YouTube — own channel</a:t>
            </a:r>
            <a:endParaRPr lang="en-US" sz="1250" dirty="0"/>
          </a:p>
        </p:txBody>
      </p:sp>
      <p:sp>
        <p:nvSpPr>
          <p:cNvPr id="27" name="Text 25"/>
          <p:cNvSpPr/>
          <p:nvPr/>
        </p:nvSpPr>
        <p:spPr>
          <a:xfrm>
            <a:off x="356616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organic</a:t>
            </a:r>
            <a:endParaRPr lang="en-US" sz="1100" dirty="0"/>
          </a:p>
        </p:txBody>
      </p:sp>
      <p:sp>
        <p:nvSpPr>
          <p:cNvPr id="28" name="Text 26"/>
          <p:cNvSpPr/>
          <p:nvPr/>
        </p:nvSpPr>
        <p:spPr>
          <a:xfrm>
            <a:off x="4892040" y="3767328"/>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$2–6</a:t>
            </a:r>
            <a:endParaRPr lang="en-US" sz="1100" dirty="0"/>
          </a:p>
        </p:txBody>
      </p:sp>
      <p:sp>
        <p:nvSpPr>
          <p:cNvPr id="29" name="Text 27"/>
          <p:cNvSpPr/>
          <p:nvPr/>
        </p:nvSpPr>
        <p:spPr>
          <a:xfrm>
            <a:off x="6217920" y="3767328"/>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$25</a:t>
            </a:r>
            <a:endParaRPr lang="en-US" sz="1100" dirty="0"/>
          </a:p>
        </p:txBody>
      </p:sp>
      <p:sp>
        <p:nvSpPr>
          <p:cNvPr id="30" name="Text 28"/>
          <p:cNvSpPr/>
          <p:nvPr/>
        </p:nvSpPr>
        <p:spPr>
          <a:xfrm>
            <a:off x="7406640" y="3767328"/>
            <a:ext cx="1234440" cy="493776"/>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8.4×</a:t>
            </a:r>
            <a:endParaRPr lang="en-US" sz="1100" dirty="0"/>
          </a:p>
        </p:txBody>
      </p:sp>
      <p:sp>
        <p:nvSpPr>
          <p:cNvPr id="31" name="Text 29"/>
          <p:cNvSpPr/>
          <p:nvPr/>
        </p:nvSpPr>
        <p:spPr>
          <a:xfrm>
            <a:off x="8778240" y="3767328"/>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Amortised production cost per conversion, and it falls every year the back catalogue grows.</a:t>
            </a:r>
            <a:endParaRPr lang="en-US" sz="900" dirty="0"/>
          </a:p>
        </p:txBody>
      </p:sp>
      <p:sp>
        <p:nvSpPr>
          <p:cNvPr id="32" name="Shape 30"/>
          <p:cNvSpPr/>
          <p:nvPr/>
        </p:nvSpPr>
        <p:spPr>
          <a:xfrm rot="5400000">
            <a:off x="640080" y="4535424"/>
            <a:ext cx="237744" cy="237744"/>
          </a:xfrm>
          <a:prstGeom prst="hexagon">
            <a:avLst/>
          </a:prstGeom>
          <a:solidFill>
            <a:srgbClr val="E3B23C"/>
          </a:solidFill>
          <a:ln/>
        </p:spPr>
      </p:sp>
      <p:sp>
        <p:nvSpPr>
          <p:cNvPr id="33" name="Text 31"/>
          <p:cNvSpPr/>
          <p:nvPr/>
        </p:nvSpPr>
        <p:spPr>
          <a:xfrm>
            <a:off x="987552" y="4398264"/>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Events &amp; community</a:t>
            </a:r>
            <a:endParaRPr lang="en-US" sz="1250" dirty="0"/>
          </a:p>
        </p:txBody>
      </p:sp>
      <p:sp>
        <p:nvSpPr>
          <p:cNvPr id="34" name="Text 32"/>
          <p:cNvSpPr/>
          <p:nvPr/>
        </p:nvSpPr>
        <p:spPr>
          <a:xfrm>
            <a:off x="356616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n/a</a:t>
            </a:r>
            <a:endParaRPr lang="en-US" sz="1100" dirty="0"/>
          </a:p>
        </p:txBody>
      </p:sp>
      <p:sp>
        <p:nvSpPr>
          <p:cNvPr id="35" name="Text 33"/>
          <p:cNvSpPr/>
          <p:nvPr/>
        </p:nvSpPr>
        <p:spPr>
          <a:xfrm>
            <a:off x="4892040" y="4398264"/>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$25–50</a:t>
            </a:r>
            <a:endParaRPr lang="en-US" sz="1100" dirty="0"/>
          </a:p>
        </p:txBody>
      </p:sp>
      <p:sp>
        <p:nvSpPr>
          <p:cNvPr id="36" name="Text 34"/>
          <p:cNvSpPr/>
          <p:nvPr/>
        </p:nvSpPr>
        <p:spPr>
          <a:xfrm>
            <a:off x="6217920" y="4398264"/>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$70</a:t>
            </a:r>
            <a:endParaRPr lang="en-US" sz="1100" dirty="0"/>
          </a:p>
        </p:txBody>
      </p:sp>
      <p:sp>
        <p:nvSpPr>
          <p:cNvPr id="37" name="Text 35"/>
          <p:cNvSpPr/>
          <p:nvPr/>
        </p:nvSpPr>
        <p:spPr>
          <a:xfrm>
            <a:off x="7406640" y="4398264"/>
            <a:ext cx="1234440" cy="493776"/>
          </a:xfrm>
          <a:prstGeom prst="rect">
            <a:avLst/>
          </a:prstGeom>
          <a:noFill/>
          <a:ln/>
        </p:spPr>
        <p:txBody>
          <a:bodyPr wrap="square" lIns="0" tIns="0" rIns="0" bIns="0" rtlCol="0" anchor="ctr"/>
          <a:lstStyle/>
          <a:p>
            <a:pPr algn="ctr" indent="0" marL="0">
              <a:buNone/>
            </a:pPr>
            <a:r>
              <a:rPr lang="en-US" sz="1100" b="1" dirty="0">
                <a:solidFill>
                  <a:srgbClr val="E3B23C"/>
                </a:solidFill>
                <a:latin typeface="Calibri" pitchFamily="34" charset="0"/>
                <a:ea typeface="Calibri" pitchFamily="34" charset="-122"/>
                <a:cs typeface="Calibri" pitchFamily="34" charset="-120"/>
              </a:rPr>
              <a:t>3.0×</a:t>
            </a:r>
            <a:endParaRPr lang="en-US" sz="1100" dirty="0"/>
          </a:p>
        </p:txBody>
      </p:sp>
      <p:sp>
        <p:nvSpPr>
          <p:cNvPr id="38" name="Text 36"/>
          <p:cNvSpPr/>
          <p:nvPr/>
        </p:nvSpPr>
        <p:spPr>
          <a:xfrm>
            <a:off x="8778240" y="4398264"/>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Expensive per lead, converts three to four times better, and the LTV is longest.</a:t>
            </a:r>
            <a:endParaRPr lang="en-US" sz="900" dirty="0"/>
          </a:p>
        </p:txBody>
      </p:sp>
      <p:sp>
        <p:nvSpPr>
          <p:cNvPr id="39" name="Shape 37"/>
          <p:cNvSpPr/>
          <p:nvPr/>
        </p:nvSpPr>
        <p:spPr>
          <a:xfrm>
            <a:off x="512064" y="4983480"/>
            <a:ext cx="10954512" cy="585216"/>
          </a:xfrm>
          <a:prstGeom prst="roundRect">
            <a:avLst>
              <a:gd name="adj" fmla="val 14063"/>
            </a:avLst>
          </a:prstGeom>
          <a:solidFill>
            <a:srgbClr val="FFFFFF">
              <a:alpha val="6000"/>
            </a:srgbClr>
          </a:solidFill>
          <a:ln/>
        </p:spPr>
      </p:sp>
      <p:sp>
        <p:nvSpPr>
          <p:cNvPr id="40" name="Shape 38"/>
          <p:cNvSpPr/>
          <p:nvPr/>
        </p:nvSpPr>
        <p:spPr>
          <a:xfrm rot="5400000">
            <a:off x="640080" y="5166360"/>
            <a:ext cx="237744" cy="237744"/>
          </a:xfrm>
          <a:prstGeom prst="hexagon">
            <a:avLst/>
          </a:prstGeom>
          <a:solidFill>
            <a:srgbClr val="178A4C"/>
          </a:solidFill>
          <a:ln/>
        </p:spPr>
      </p:sp>
      <p:sp>
        <p:nvSpPr>
          <p:cNvPr id="41" name="Text 39"/>
          <p:cNvSpPr/>
          <p:nvPr/>
        </p:nvSpPr>
        <p:spPr>
          <a:xfrm>
            <a:off x="987552" y="5029200"/>
            <a:ext cx="2560320" cy="493776"/>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Referral &amp; WhatsApp</a:t>
            </a:r>
            <a:endParaRPr lang="en-US" sz="1250" dirty="0"/>
          </a:p>
        </p:txBody>
      </p:sp>
      <p:sp>
        <p:nvSpPr>
          <p:cNvPr id="42" name="Text 40"/>
          <p:cNvSpPr/>
          <p:nvPr/>
        </p:nvSpPr>
        <p:spPr>
          <a:xfrm>
            <a:off x="356616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3" name="Text 41"/>
          <p:cNvSpPr/>
          <p:nvPr/>
        </p:nvSpPr>
        <p:spPr>
          <a:xfrm>
            <a:off x="4892040" y="5029200"/>
            <a:ext cx="1234440" cy="493776"/>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~$0</a:t>
            </a:r>
            <a:endParaRPr lang="en-US" sz="1100" dirty="0"/>
          </a:p>
        </p:txBody>
      </p:sp>
      <p:sp>
        <p:nvSpPr>
          <p:cNvPr id="44" name="Text 42"/>
          <p:cNvSpPr/>
          <p:nvPr/>
        </p:nvSpPr>
        <p:spPr>
          <a:xfrm>
            <a:off x="6217920" y="5029200"/>
            <a:ext cx="1234440" cy="493776"/>
          </a:xfrm>
          <a:prstGeom prst="rect">
            <a:avLst/>
          </a:prstGeom>
          <a:noFill/>
          <a:ln/>
        </p:spPr>
        <p:txBody>
          <a:bodyPr wrap="square" lIns="0" tIns="0" rIns="0" bIns="0" rtlCol="0" anchor="ctr"/>
          <a:lstStyle/>
          <a:p>
            <a:pPr algn="ctr" indent="0" marL="0">
              <a:buNone/>
            </a:pPr>
            <a:r>
              <a:rPr lang="en-US" sz="1100" b="1" dirty="0">
                <a:solidFill>
                  <a:srgbClr val="E3DCF2"/>
                </a:solidFill>
                <a:latin typeface="Calibri" pitchFamily="34" charset="0"/>
                <a:ea typeface="Calibri" pitchFamily="34" charset="-122"/>
                <a:cs typeface="Calibri" pitchFamily="34" charset="-120"/>
              </a:rPr>
              <a:t>$8</a:t>
            </a:r>
            <a:endParaRPr lang="en-US" sz="1100" dirty="0"/>
          </a:p>
        </p:txBody>
      </p:sp>
      <p:sp>
        <p:nvSpPr>
          <p:cNvPr id="45" name="Text 43"/>
          <p:cNvSpPr/>
          <p:nvPr/>
        </p:nvSpPr>
        <p:spPr>
          <a:xfrm>
            <a:off x="7406640" y="5029200"/>
            <a:ext cx="1234440" cy="493776"/>
          </a:xfrm>
          <a:prstGeom prst="rect">
            <a:avLst/>
          </a:prstGeom>
          <a:noFill/>
          <a:ln/>
        </p:spPr>
        <p:txBody>
          <a:bodyPr wrap="square" lIns="0" tIns="0" rIns="0" bIns="0" rtlCol="0" anchor="ctr"/>
          <a:lstStyle/>
          <a:p>
            <a:pPr algn="ctr" indent="0" marL="0">
              <a:buNone/>
            </a:pPr>
            <a:r>
              <a:rPr lang="en-US" sz="1100" b="1" dirty="0">
                <a:solidFill>
                  <a:srgbClr val="178A4C"/>
                </a:solidFill>
                <a:latin typeface="Calibri" pitchFamily="34" charset="0"/>
                <a:ea typeface="Calibri" pitchFamily="34" charset="-122"/>
                <a:cs typeface="Calibri" pitchFamily="34" charset="-120"/>
              </a:rPr>
              <a:t>26×</a:t>
            </a:r>
            <a:endParaRPr lang="en-US" sz="1100" dirty="0"/>
          </a:p>
        </p:txBody>
      </p:sp>
      <p:sp>
        <p:nvSpPr>
          <p:cNvPr id="46" name="Text 44"/>
          <p:cNvSpPr/>
          <p:nvPr/>
        </p:nvSpPr>
        <p:spPr>
          <a:xfrm>
            <a:off x="8778240" y="5029200"/>
            <a:ext cx="2743200" cy="530352"/>
          </a:xfrm>
          <a:prstGeom prst="rect">
            <a:avLst/>
          </a:prstGeom>
          <a:noFill/>
          <a:ln/>
        </p:spPr>
        <p:txBody>
          <a:bodyPr wrap="square" lIns="0" tIns="0" rIns="0" bIns="0" rtlCol="0" anchor="ctr"/>
          <a:lstStyle/>
          <a:p>
            <a:pPr indent="0" marL="0">
              <a:lnSpc>
                <a:spcPts val="1100"/>
              </a:lnSpc>
              <a:buNone/>
            </a:pPr>
            <a:r>
              <a:rPr lang="en-US" sz="900" dirty="0">
                <a:solidFill>
                  <a:srgbClr val="E3DCF2"/>
                </a:solidFill>
                <a:latin typeface="Calibri" pitchFamily="34" charset="0"/>
                <a:ea typeface="Calibri" pitchFamily="34" charset="-122"/>
                <a:cs typeface="Calibri" pitchFamily="34" charset="-120"/>
              </a:rPr>
              <a:t>The real diaspora channel. Cannot be bought, only earned — and it compounds.</a:t>
            </a:r>
            <a:endParaRPr lang="en-US" sz="900" dirty="0"/>
          </a:p>
        </p:txBody>
      </p:sp>
      <p:sp>
        <p:nvSpPr>
          <p:cNvPr id="47" name="Shape 45"/>
          <p:cNvSpPr/>
          <p:nvPr/>
        </p:nvSpPr>
        <p:spPr>
          <a:xfrm>
            <a:off x="640080" y="5742432"/>
            <a:ext cx="3401568" cy="969264"/>
          </a:xfrm>
          <a:prstGeom prst="roundRect">
            <a:avLst>
              <a:gd name="adj" fmla="val 11321"/>
            </a:avLst>
          </a:prstGeom>
          <a:solidFill>
            <a:srgbClr val="FFFFFF">
              <a:alpha val="8000"/>
            </a:srgbClr>
          </a:solidFill>
          <a:ln/>
        </p:spPr>
      </p:sp>
      <p:sp>
        <p:nvSpPr>
          <p:cNvPr id="48" name="Text 46"/>
          <p:cNvSpPr/>
          <p:nvPr/>
        </p:nvSpPr>
        <p:spPr>
          <a:xfrm>
            <a:off x="841248"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Blended CAC</a:t>
            </a:r>
            <a:endParaRPr lang="en-US" sz="900" dirty="0"/>
          </a:p>
        </p:txBody>
      </p:sp>
      <p:sp>
        <p:nvSpPr>
          <p:cNvPr id="49" name="Text 47"/>
          <p:cNvSpPr/>
          <p:nvPr/>
        </p:nvSpPr>
        <p:spPr>
          <a:xfrm>
            <a:off x="2240280"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$22 → $55</a:t>
            </a:r>
            <a:endParaRPr lang="en-US" sz="1500" dirty="0"/>
          </a:p>
        </p:txBody>
      </p:sp>
      <p:sp>
        <p:nvSpPr>
          <p:cNvPr id="50" name="Text 48"/>
          <p:cNvSpPr/>
          <p:nvPr/>
        </p:nvSpPr>
        <p:spPr>
          <a:xfrm>
            <a:off x="841248"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Total paid spend ÷ ALL new households. It rises as paid takes a larger share — from 17% of new households in Year 1 to 42% in Year 5.</a:t>
            </a:r>
            <a:endParaRPr lang="en-US" sz="800" dirty="0"/>
          </a:p>
        </p:txBody>
      </p:sp>
      <p:sp>
        <p:nvSpPr>
          <p:cNvPr id="51" name="Shape 49"/>
          <p:cNvSpPr/>
          <p:nvPr/>
        </p:nvSpPr>
        <p:spPr>
          <a:xfrm>
            <a:off x="4315968" y="5742432"/>
            <a:ext cx="3401568" cy="969264"/>
          </a:xfrm>
          <a:prstGeom prst="roundRect">
            <a:avLst>
              <a:gd name="adj" fmla="val 11321"/>
            </a:avLst>
          </a:prstGeom>
          <a:solidFill>
            <a:srgbClr val="FFFFFF">
              <a:alpha val="8000"/>
            </a:srgbClr>
          </a:solidFill>
          <a:ln/>
        </p:spPr>
      </p:sp>
      <p:sp>
        <p:nvSpPr>
          <p:cNvPr id="52" name="Text 50"/>
          <p:cNvSpPr/>
          <p:nvPr/>
        </p:nvSpPr>
        <p:spPr>
          <a:xfrm>
            <a:off x="4517136"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Payback</a:t>
            </a:r>
            <a:endParaRPr lang="en-US" sz="900" dirty="0"/>
          </a:p>
        </p:txBody>
      </p:sp>
      <p:sp>
        <p:nvSpPr>
          <p:cNvPr id="53" name="Text 51"/>
          <p:cNvSpPr/>
          <p:nvPr/>
        </p:nvSpPr>
        <p:spPr>
          <a:xfrm>
            <a:off x="5916168"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1.3 → 4.5 mo</a:t>
            </a:r>
            <a:endParaRPr lang="en-US" sz="1500" dirty="0"/>
          </a:p>
        </p:txBody>
      </p:sp>
      <p:sp>
        <p:nvSpPr>
          <p:cNvPr id="54" name="Text 52"/>
          <p:cNvSpPr/>
          <p:nvPr/>
        </p:nvSpPr>
        <p:spPr>
          <a:xfrm>
            <a:off x="4517136"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Against $250 ARPU at 85% gross margin. Annual billing means the cash is in on day one regardless; this is the accounting view.</a:t>
            </a:r>
            <a:endParaRPr lang="en-US" sz="800" dirty="0"/>
          </a:p>
        </p:txBody>
      </p:sp>
      <p:sp>
        <p:nvSpPr>
          <p:cNvPr id="55" name="Shape 53"/>
          <p:cNvSpPr/>
          <p:nvPr/>
        </p:nvSpPr>
        <p:spPr>
          <a:xfrm>
            <a:off x="7991856" y="5742432"/>
            <a:ext cx="3401568" cy="969264"/>
          </a:xfrm>
          <a:prstGeom prst="roundRect">
            <a:avLst>
              <a:gd name="adj" fmla="val 11321"/>
            </a:avLst>
          </a:prstGeom>
          <a:solidFill>
            <a:srgbClr val="FFFFFF">
              <a:alpha val="8000"/>
            </a:srgbClr>
          </a:solidFill>
          <a:ln/>
        </p:spPr>
      </p:sp>
      <p:sp>
        <p:nvSpPr>
          <p:cNvPr id="56" name="Text 54"/>
          <p:cNvSpPr/>
          <p:nvPr/>
        </p:nvSpPr>
        <p:spPr>
          <a:xfrm>
            <a:off x="8193024" y="5815584"/>
            <a:ext cx="1353312" cy="256032"/>
          </a:xfrm>
          <a:prstGeom prst="rect">
            <a:avLst/>
          </a:prstGeom>
          <a:noFill/>
          <a:ln/>
        </p:spPr>
        <p:txBody>
          <a:bodyPr wrap="square" lIns="0" tIns="0" rIns="0" bIns="0" rtlCol="0" anchor="ctr"/>
          <a:lstStyle/>
          <a:p>
            <a:pPr indent="0" marL="0">
              <a:buNone/>
            </a:pPr>
            <a:r>
              <a:rPr lang="en-US" sz="900" b="1" spc="120" kern="0" dirty="0">
                <a:solidFill>
                  <a:srgbClr val="F0B429"/>
                </a:solidFill>
                <a:latin typeface="Calibri" pitchFamily="34" charset="0"/>
                <a:ea typeface="Calibri" pitchFamily="34" charset="-122"/>
                <a:cs typeface="Calibri" pitchFamily="34" charset="-120"/>
              </a:rPr>
              <a:t>LTV : CAC</a:t>
            </a:r>
            <a:endParaRPr lang="en-US" sz="900" dirty="0"/>
          </a:p>
        </p:txBody>
      </p:sp>
      <p:sp>
        <p:nvSpPr>
          <p:cNvPr id="57" name="Text 55"/>
          <p:cNvSpPr/>
          <p:nvPr/>
        </p:nvSpPr>
        <p:spPr>
          <a:xfrm>
            <a:off x="9592056" y="5788152"/>
            <a:ext cx="1645920" cy="292608"/>
          </a:xfrm>
          <a:prstGeom prst="rect">
            <a:avLst/>
          </a:prstGeom>
          <a:noFill/>
          <a:ln/>
        </p:spPr>
        <p:txBody>
          <a:bodyPr wrap="square" lIns="0" tIns="0" rIns="0" bIns="0"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31 : 1 → 9 : 1</a:t>
            </a:r>
            <a:endParaRPr lang="en-US" sz="1500" dirty="0"/>
          </a:p>
        </p:txBody>
      </p:sp>
      <p:sp>
        <p:nvSpPr>
          <p:cNvPr id="58" name="Text 56"/>
          <p:cNvSpPr/>
          <p:nvPr/>
        </p:nvSpPr>
        <p:spPr>
          <a:xfrm>
            <a:off x="8193024" y="6089904"/>
            <a:ext cx="3017520" cy="548640"/>
          </a:xfrm>
          <a:prstGeom prst="rect">
            <a:avLst/>
          </a:prstGeom>
          <a:noFill/>
          <a:ln/>
        </p:spPr>
        <p:txBody>
          <a:bodyPr wrap="square" lIns="0" tIns="0" rIns="0" bIns="0" rtlCol="0" anchor="ctr"/>
          <a:lstStyle/>
          <a:p>
            <a:pPr indent="0" marL="0">
              <a:lnSpc>
                <a:spcPts val="1000"/>
              </a:lnSpc>
              <a:buNone/>
            </a:pPr>
            <a:r>
              <a:rPr lang="en-US" sz="800" dirty="0">
                <a:solidFill>
                  <a:srgbClr val="E3DCF2"/>
                </a:solidFill>
                <a:latin typeface="Calibri" pitchFamily="34" charset="0"/>
                <a:ea typeface="Calibri" pitchFamily="34" charset="-122"/>
                <a:cs typeface="Calibri" pitchFamily="34" charset="-120"/>
              </a:rPr>
              <a:t>$250 ÷ 30% churn × 85% = $708 LTV in Year 1, $488 by Year 5 as India dilutes ARPU. Three-to-one is the floor; we are far above it.</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REVENUE MIX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Where the money comes from</a:t>
            </a:r>
            <a:endParaRPr lang="en-US" sz="2900" dirty="0"/>
          </a:p>
        </p:txBody>
      </p:sp>
      <p:sp>
        <p:nvSpPr>
          <p:cNvPr id="4" name="Text 2"/>
          <p:cNvSpPr/>
          <p:nvPr/>
        </p:nvSpPr>
        <p:spPr>
          <a:xfrm>
            <a:off x="640080" y="1444752"/>
            <a:ext cx="10607040" cy="475488"/>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Subscription carries it. Everything else widens the margin, deepens the brand, or reaches an age the app cannot.</a:t>
            </a:r>
            <a:endParaRPr lang="en-US" sz="1450" dirty="0"/>
          </a:p>
        </p:txBody>
      </p:sp>
      <p:graphicFrame>
        <p:nvGraphicFramePr>
          <p:cNvPr id="5" name="Chart 0" descr=""/>
          <p:cNvGraphicFramePr/>
          <p:nvPr/>
        </p:nvGraphicFramePr>
        <p:xfrm>
          <a:off x="640080" y="205740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21214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7" name="Text 4"/>
          <p:cNvSpPr/>
          <p:nvPr/>
        </p:nvSpPr>
        <p:spPr>
          <a:xfrm>
            <a:off x="8010144" y="22494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1</a:t>
            </a:r>
            <a:endParaRPr lang="en-US" sz="1000" dirty="0"/>
          </a:p>
        </p:txBody>
      </p:sp>
      <p:sp>
        <p:nvSpPr>
          <p:cNvPr id="8" name="Text 5"/>
          <p:cNvSpPr/>
          <p:nvPr/>
        </p:nvSpPr>
        <p:spPr>
          <a:xfrm>
            <a:off x="9189720" y="2167128"/>
            <a:ext cx="1874520" cy="365760"/>
          </a:xfrm>
          <a:prstGeom prst="rect">
            <a:avLst/>
          </a:prstGeom>
          <a:noFill/>
          <a:ln/>
        </p:spPr>
        <p:txBody>
          <a:bodyPr wrap="square" lIns="0" tIns="0" rIns="0" bIns="0" rtlCol="0" anchor="ctr"/>
          <a:lstStyle/>
          <a:p>
            <a:pPr algn="r" indent="0" marL="0">
              <a:buNone/>
            </a:pPr>
            <a:r>
              <a:rPr lang="en-US" sz="2000" b="1" dirty="0">
                <a:solidFill>
                  <a:srgbClr val="6C4FE0"/>
                </a:solidFill>
                <a:latin typeface="Cambria" pitchFamily="34" charset="0"/>
                <a:ea typeface="Cambria" pitchFamily="34" charset="-122"/>
                <a:cs typeface="Cambria" pitchFamily="34" charset="-120"/>
              </a:rPr>
              <a:t>$26k</a:t>
            </a:r>
            <a:endParaRPr lang="en-US" sz="2000" dirty="0"/>
          </a:p>
        </p:txBody>
      </p:sp>
      <p:sp>
        <p:nvSpPr>
          <p:cNvPr id="9" name="Text 6"/>
          <p:cNvSpPr/>
          <p:nvPr/>
        </p:nvSpPr>
        <p:spPr>
          <a:xfrm>
            <a:off x="8010144" y="25511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only. 208 households, most joining late in the year — which is why average, not ending, households drive revenue.</a:t>
            </a:r>
            <a:endParaRPr lang="en-US" sz="1000" dirty="0"/>
          </a:p>
        </p:txBody>
      </p:sp>
      <p:sp>
        <p:nvSpPr>
          <p:cNvPr id="10" name="Shape 7"/>
          <p:cNvSpPr/>
          <p:nvPr/>
        </p:nvSpPr>
        <p:spPr>
          <a:xfrm>
            <a:off x="7772400" y="34930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1" name="Text 8"/>
          <p:cNvSpPr/>
          <p:nvPr/>
        </p:nvSpPr>
        <p:spPr>
          <a:xfrm>
            <a:off x="8010144" y="36210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3</a:t>
            </a:r>
            <a:endParaRPr lang="en-US" sz="1000" dirty="0"/>
          </a:p>
        </p:txBody>
      </p:sp>
      <p:sp>
        <p:nvSpPr>
          <p:cNvPr id="12" name="Text 9"/>
          <p:cNvSpPr/>
          <p:nvPr/>
        </p:nvSpPr>
        <p:spPr>
          <a:xfrm>
            <a:off x="9189720" y="3538728"/>
            <a:ext cx="1874520" cy="365760"/>
          </a:xfrm>
          <a:prstGeom prst="rect">
            <a:avLst/>
          </a:prstGeom>
          <a:noFill/>
          <a:ln/>
        </p:spPr>
        <p:txBody>
          <a:bodyPr wrap="square" lIns="0" tIns="0" rIns="0" bIns="0" rtlCol="0" anchor="ctr"/>
          <a:lstStyle/>
          <a:p>
            <a:pPr algn="r" indent="0" marL="0">
              <a:buNone/>
            </a:pPr>
            <a:r>
              <a:rPr lang="en-US" sz="2000" b="1" dirty="0">
                <a:solidFill>
                  <a:srgbClr val="178A4C"/>
                </a:solidFill>
                <a:latin typeface="Cambria" pitchFamily="34" charset="0"/>
                <a:ea typeface="Cambria" pitchFamily="34" charset="-122"/>
                <a:cs typeface="Cambria" pitchFamily="34" charset="-120"/>
              </a:rPr>
              <a:t>$601k</a:t>
            </a:r>
            <a:endParaRPr lang="en-US" sz="2000" dirty="0"/>
          </a:p>
        </p:txBody>
      </p:sp>
      <p:sp>
        <p:nvSpPr>
          <p:cNvPr id="13" name="Text 10"/>
          <p:cNvSpPr/>
          <p:nvPr/>
        </p:nvSpPr>
        <p:spPr>
          <a:xfrm>
            <a:off x="8010144" y="39227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Cohorts and physical arrive. Subscription still 79% of the line.</a:t>
            </a:r>
            <a:endParaRPr lang="en-US" sz="1000" dirty="0"/>
          </a:p>
        </p:txBody>
      </p:sp>
      <p:sp>
        <p:nvSpPr>
          <p:cNvPr id="14" name="Shape 11"/>
          <p:cNvSpPr/>
          <p:nvPr/>
        </p:nvSpPr>
        <p:spPr>
          <a:xfrm>
            <a:off x="7772400" y="4864608"/>
            <a:ext cx="3474720" cy="1207008"/>
          </a:xfrm>
          <a:prstGeom prst="roundRect">
            <a:avLst>
              <a:gd name="adj" fmla="val 10606"/>
            </a:avLst>
          </a:prstGeom>
          <a:solidFill>
            <a:srgbClr val="EFEBF8"/>
          </a:solidFill>
          <a:ln/>
          <a:effectLst>
            <a:outerShdw sx="100000" sy="100000" kx="0" ky="0" algn="bl" rotWithShape="0" blurRad="127000" dist="25400" dir="5400000">
              <a:srgbClr val="241E33">
                <a:alpha val="10000"/>
              </a:srgbClr>
            </a:outerShdw>
          </a:effectLst>
        </p:spPr>
      </p:sp>
      <p:sp>
        <p:nvSpPr>
          <p:cNvPr id="15" name="Text 12"/>
          <p:cNvSpPr/>
          <p:nvPr/>
        </p:nvSpPr>
        <p:spPr>
          <a:xfrm>
            <a:off x="8010144" y="499262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5</a:t>
            </a:r>
            <a:endParaRPr lang="en-US" sz="1000" dirty="0"/>
          </a:p>
        </p:txBody>
      </p:sp>
      <p:sp>
        <p:nvSpPr>
          <p:cNvPr id="16" name="Text 13"/>
          <p:cNvSpPr/>
          <p:nvPr/>
        </p:nvSpPr>
        <p:spPr>
          <a:xfrm>
            <a:off x="9189720" y="4910328"/>
            <a:ext cx="1874520" cy="365760"/>
          </a:xfrm>
          <a:prstGeom prst="rect">
            <a:avLst/>
          </a:prstGeom>
          <a:noFill/>
          <a:ln/>
        </p:spPr>
        <p:txBody>
          <a:bodyPr wrap="square" lIns="0" tIns="0" rIns="0" bIns="0" rtlCol="0" anchor="ctr"/>
          <a:lstStyle/>
          <a:p>
            <a:pPr algn="r" indent="0" marL="0">
              <a:buNone/>
            </a:pPr>
            <a:r>
              <a:rPr lang="en-US" sz="2000" b="1" dirty="0">
                <a:solidFill>
                  <a:srgbClr val="F0B429"/>
                </a:solidFill>
                <a:latin typeface="Cambria" pitchFamily="34" charset="0"/>
                <a:ea typeface="Cambria" pitchFamily="34" charset="-122"/>
                <a:cs typeface="Cambria" pitchFamily="34" charset="-120"/>
              </a:rPr>
              <a:t>$3.09M</a:t>
            </a:r>
            <a:endParaRPr lang="en-US" sz="2000" dirty="0"/>
          </a:p>
        </p:txBody>
      </p:sp>
      <p:sp>
        <p:nvSpPr>
          <p:cNvPr id="17" name="Text 14"/>
          <p:cNvSpPr/>
          <p:nvPr/>
        </p:nvSpPr>
        <p:spPr>
          <a:xfrm>
            <a:off x="8010144" y="5294376"/>
            <a:ext cx="3017520" cy="694944"/>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68%, cohorts 22%, physical and media 10%. Higher cohort pricing made that line matter more, not less.</a:t>
            </a:r>
            <a:endParaRPr lang="en-US" sz="1000" dirty="0"/>
          </a:p>
        </p:txBody>
      </p:sp>
      <p:sp>
        <p:nvSpPr>
          <p:cNvPr id="18" name="Text 15"/>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The aggressive case reaches $5.37M at Year 5 on the same mix shape — 1.7× the households, not a different business.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04120" y="457200"/>
            <a:ext cx="1371600" cy="137160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CEILING</a:t>
            </a:r>
            <a:endParaRPr lang="en-US" sz="1200" dirty="0"/>
          </a:p>
        </p:txBody>
      </p:sp>
      <p:sp>
        <p:nvSpPr>
          <p:cNvPr id="4" name="Text 1"/>
          <p:cNvSpPr/>
          <p:nvPr/>
        </p:nvSpPr>
        <p:spPr>
          <a:xfrm>
            <a:off x="640080" y="914400"/>
            <a:ext cx="9326880" cy="896112"/>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Priced against the tutor, we need less of the market than any app would.</a:t>
            </a:r>
            <a:endParaRPr lang="en-US" sz="2500" dirty="0"/>
          </a:p>
        </p:txBody>
      </p:sp>
      <p:sp>
        <p:nvSpPr>
          <p:cNvPr id="5" name="Text 2"/>
          <p:cNvSpPr/>
          <p:nvPr/>
        </p:nvSpPr>
        <p:spPr>
          <a:xfrm>
            <a:off x="640080" y="19933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Diaspora households with a child 4–16</a:t>
            </a:r>
            <a:endParaRPr lang="en-US" sz="1150" dirty="0"/>
          </a:p>
        </p:txBody>
      </p:sp>
      <p:sp>
        <p:nvSpPr>
          <p:cNvPr id="6" name="Shape 3"/>
          <p:cNvSpPr/>
          <p:nvPr/>
        </p:nvSpPr>
        <p:spPr>
          <a:xfrm>
            <a:off x="5760720" y="2075688"/>
            <a:ext cx="3840480" cy="256032"/>
          </a:xfrm>
          <a:prstGeom prst="roundRect">
            <a:avLst>
              <a:gd name="adj" fmla="val 50000"/>
            </a:avLst>
          </a:prstGeom>
          <a:solidFill>
            <a:srgbClr val="FFFFFF">
              <a:alpha val="10000"/>
            </a:srgbClr>
          </a:solidFill>
          <a:ln/>
        </p:spPr>
      </p:sp>
      <p:sp>
        <p:nvSpPr>
          <p:cNvPr id="7" name="Shape 4"/>
          <p:cNvSpPr/>
          <p:nvPr/>
        </p:nvSpPr>
        <p:spPr>
          <a:xfrm>
            <a:off x="5760720" y="2075688"/>
            <a:ext cx="3840480" cy="256032"/>
          </a:xfrm>
          <a:prstGeom prst="roundRect">
            <a:avLst>
              <a:gd name="adj" fmla="val 50000"/>
            </a:avLst>
          </a:prstGeom>
          <a:solidFill>
            <a:srgbClr val="F0B429"/>
          </a:solidFill>
          <a:ln/>
        </p:spPr>
      </p:sp>
      <p:sp>
        <p:nvSpPr>
          <p:cNvPr id="8" name="Text 5"/>
          <p:cNvSpPr/>
          <p:nvPr/>
        </p:nvSpPr>
        <p:spPr>
          <a:xfrm>
            <a:off x="9738360" y="199339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1.31M</a:t>
            </a:r>
            <a:endParaRPr lang="en-US" sz="1600" dirty="0"/>
          </a:p>
        </p:txBody>
      </p:sp>
      <p:sp>
        <p:nvSpPr>
          <p:cNvPr id="9" name="Text 6"/>
          <p:cNvSpPr/>
          <p:nvPr/>
        </p:nvSpPr>
        <p:spPr>
          <a:xfrm>
            <a:off x="640080" y="258775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 $250 blended — the whole diaspora market</a:t>
            </a:r>
            <a:endParaRPr lang="en-US" sz="1150" dirty="0"/>
          </a:p>
        </p:txBody>
      </p:sp>
      <p:sp>
        <p:nvSpPr>
          <p:cNvPr id="10" name="Shape 7"/>
          <p:cNvSpPr/>
          <p:nvPr/>
        </p:nvSpPr>
        <p:spPr>
          <a:xfrm>
            <a:off x="5760720" y="2670048"/>
            <a:ext cx="3840480" cy="256032"/>
          </a:xfrm>
          <a:prstGeom prst="roundRect">
            <a:avLst>
              <a:gd name="adj" fmla="val 50000"/>
            </a:avLst>
          </a:prstGeom>
          <a:solidFill>
            <a:srgbClr val="FFFFFF">
              <a:alpha val="10000"/>
            </a:srgbClr>
          </a:solidFill>
          <a:ln/>
        </p:spPr>
      </p:sp>
      <p:sp>
        <p:nvSpPr>
          <p:cNvPr id="11" name="Shape 8"/>
          <p:cNvSpPr/>
          <p:nvPr/>
        </p:nvSpPr>
        <p:spPr>
          <a:xfrm>
            <a:off x="5760720" y="2670048"/>
            <a:ext cx="3840480" cy="256032"/>
          </a:xfrm>
          <a:prstGeom prst="roundRect">
            <a:avLst>
              <a:gd name="adj" fmla="val 50000"/>
            </a:avLst>
          </a:prstGeom>
          <a:solidFill>
            <a:srgbClr val="F0B429"/>
          </a:solidFill>
          <a:ln/>
        </p:spPr>
      </p:sp>
      <p:sp>
        <p:nvSpPr>
          <p:cNvPr id="12" name="Text 9"/>
          <p:cNvSpPr/>
          <p:nvPr/>
        </p:nvSpPr>
        <p:spPr>
          <a:xfrm>
            <a:off x="9738360" y="2587752"/>
            <a:ext cx="1554480" cy="420624"/>
          </a:xfrm>
          <a:prstGeom prst="rect">
            <a:avLst/>
          </a:prstGeom>
          <a:noFill/>
          <a:ln/>
        </p:spPr>
        <p:txBody>
          <a:bodyPr wrap="square" lIns="0" tIns="0" rIns="0" bIns="0" rtlCol="0" anchor="ctr"/>
          <a:lstStyle/>
          <a:p>
            <a:pPr algn="r" indent="0" marL="0">
              <a:buNone/>
            </a:pPr>
            <a:r>
              <a:rPr lang="en-US" sz="1600" b="1" dirty="0">
                <a:solidFill>
                  <a:srgbClr val="F0B429"/>
                </a:solidFill>
                <a:latin typeface="Cambria" pitchFamily="34" charset="0"/>
                <a:ea typeface="Cambria" pitchFamily="34" charset="-122"/>
                <a:cs typeface="Cambria" pitchFamily="34" charset="-120"/>
              </a:rPr>
              <a:t>$328M</a:t>
            </a:r>
            <a:endParaRPr lang="en-US" sz="1600" dirty="0"/>
          </a:p>
        </p:txBody>
      </p:sp>
      <p:sp>
        <p:nvSpPr>
          <p:cNvPr id="13" name="Text 10"/>
          <p:cNvSpPr/>
          <p:nvPr/>
        </p:nvSpPr>
        <p:spPr>
          <a:xfrm>
            <a:off x="640080" y="318211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Year 5 base case — 16.0k households</a:t>
            </a:r>
            <a:endParaRPr lang="en-US" sz="1150" dirty="0"/>
          </a:p>
        </p:txBody>
      </p:sp>
      <p:sp>
        <p:nvSpPr>
          <p:cNvPr id="14" name="Shape 11"/>
          <p:cNvSpPr/>
          <p:nvPr/>
        </p:nvSpPr>
        <p:spPr>
          <a:xfrm>
            <a:off x="5760720" y="3264408"/>
            <a:ext cx="3840480" cy="256032"/>
          </a:xfrm>
          <a:prstGeom prst="roundRect">
            <a:avLst>
              <a:gd name="adj" fmla="val 50000"/>
            </a:avLst>
          </a:prstGeom>
          <a:solidFill>
            <a:srgbClr val="FFFFFF">
              <a:alpha val="10000"/>
            </a:srgbClr>
          </a:solidFill>
          <a:ln/>
        </p:spPr>
      </p:sp>
      <p:sp>
        <p:nvSpPr>
          <p:cNvPr id="15" name="Shape 12"/>
          <p:cNvSpPr/>
          <p:nvPr/>
        </p:nvSpPr>
        <p:spPr>
          <a:xfrm>
            <a:off x="5760720" y="3264408"/>
            <a:ext cx="237744" cy="256032"/>
          </a:xfrm>
          <a:prstGeom prst="roundRect">
            <a:avLst>
              <a:gd name="adj" fmla="val 53846"/>
            </a:avLst>
          </a:prstGeom>
          <a:solidFill>
            <a:srgbClr val="6C4FE0"/>
          </a:solidFill>
          <a:ln/>
        </p:spPr>
      </p:sp>
      <p:sp>
        <p:nvSpPr>
          <p:cNvPr id="16" name="Text 13"/>
          <p:cNvSpPr/>
          <p:nvPr/>
        </p:nvSpPr>
        <p:spPr>
          <a:xfrm>
            <a:off x="9738360" y="318211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0.9%</a:t>
            </a:r>
            <a:endParaRPr lang="en-US" sz="1600" dirty="0"/>
          </a:p>
        </p:txBody>
      </p:sp>
      <p:sp>
        <p:nvSpPr>
          <p:cNvPr id="17" name="Text 14"/>
          <p:cNvSpPr/>
          <p:nvPr/>
        </p:nvSpPr>
        <p:spPr>
          <a:xfrm>
            <a:off x="640080" y="377647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5% penetration</a:t>
            </a:r>
            <a:endParaRPr lang="en-US" sz="1150" dirty="0"/>
          </a:p>
        </p:txBody>
      </p:sp>
      <p:sp>
        <p:nvSpPr>
          <p:cNvPr id="18" name="Shape 15"/>
          <p:cNvSpPr/>
          <p:nvPr/>
        </p:nvSpPr>
        <p:spPr>
          <a:xfrm>
            <a:off x="5760720" y="3858768"/>
            <a:ext cx="3840480" cy="256032"/>
          </a:xfrm>
          <a:prstGeom prst="roundRect">
            <a:avLst>
              <a:gd name="adj" fmla="val 50000"/>
            </a:avLst>
          </a:prstGeom>
          <a:solidFill>
            <a:srgbClr val="FFFFFF">
              <a:alpha val="10000"/>
            </a:srgbClr>
          </a:solidFill>
          <a:ln/>
        </p:spPr>
      </p:sp>
      <p:sp>
        <p:nvSpPr>
          <p:cNvPr id="19" name="Shape 16"/>
          <p:cNvSpPr/>
          <p:nvPr/>
        </p:nvSpPr>
        <p:spPr>
          <a:xfrm>
            <a:off x="5760720" y="3858768"/>
            <a:ext cx="768096" cy="256032"/>
          </a:xfrm>
          <a:prstGeom prst="roundRect">
            <a:avLst>
              <a:gd name="adj" fmla="val 50000"/>
            </a:avLst>
          </a:prstGeom>
          <a:solidFill>
            <a:srgbClr val="6C4FE0"/>
          </a:solidFill>
          <a:ln/>
        </p:spPr>
      </p:sp>
      <p:sp>
        <p:nvSpPr>
          <p:cNvPr id="20" name="Text 17"/>
          <p:cNvSpPr/>
          <p:nvPr/>
        </p:nvSpPr>
        <p:spPr>
          <a:xfrm>
            <a:off x="9738360" y="377647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$16.4M</a:t>
            </a:r>
            <a:endParaRPr lang="en-US" sz="1600" dirty="0"/>
          </a:p>
        </p:txBody>
      </p:sp>
      <p:sp>
        <p:nvSpPr>
          <p:cNvPr id="21" name="Text 18"/>
          <p:cNvSpPr/>
          <p:nvPr/>
        </p:nvSpPr>
        <p:spPr>
          <a:xfrm>
            <a:off x="640080" y="437083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At 15% — category default, a decade in</a:t>
            </a:r>
            <a:endParaRPr lang="en-US" sz="1150" dirty="0"/>
          </a:p>
        </p:txBody>
      </p:sp>
      <p:sp>
        <p:nvSpPr>
          <p:cNvPr id="22" name="Shape 19"/>
          <p:cNvSpPr/>
          <p:nvPr/>
        </p:nvSpPr>
        <p:spPr>
          <a:xfrm>
            <a:off x="5760720" y="4453128"/>
            <a:ext cx="3840480" cy="256032"/>
          </a:xfrm>
          <a:prstGeom prst="roundRect">
            <a:avLst>
              <a:gd name="adj" fmla="val 50000"/>
            </a:avLst>
          </a:prstGeom>
          <a:solidFill>
            <a:srgbClr val="FFFFFF">
              <a:alpha val="10000"/>
            </a:srgbClr>
          </a:solidFill>
          <a:ln/>
        </p:spPr>
      </p:sp>
      <p:sp>
        <p:nvSpPr>
          <p:cNvPr id="23" name="Shape 20"/>
          <p:cNvSpPr/>
          <p:nvPr/>
        </p:nvSpPr>
        <p:spPr>
          <a:xfrm>
            <a:off x="5760720" y="4453128"/>
            <a:ext cx="2304288" cy="256032"/>
          </a:xfrm>
          <a:prstGeom prst="roundRect">
            <a:avLst>
              <a:gd name="adj" fmla="val 50000"/>
            </a:avLst>
          </a:prstGeom>
          <a:solidFill>
            <a:srgbClr val="6C4FE0"/>
          </a:solidFill>
          <a:ln/>
        </p:spPr>
      </p:sp>
      <p:sp>
        <p:nvSpPr>
          <p:cNvPr id="24" name="Text 21"/>
          <p:cNvSpPr/>
          <p:nvPr/>
        </p:nvSpPr>
        <p:spPr>
          <a:xfrm>
            <a:off x="9738360" y="4370832"/>
            <a:ext cx="1554480" cy="420624"/>
          </a:xfrm>
          <a:prstGeom prst="rect">
            <a:avLst/>
          </a:prstGeom>
          <a:noFill/>
          <a:ln/>
        </p:spPr>
        <p:txBody>
          <a:bodyPr wrap="square" lIns="0" tIns="0" rIns="0" bIns="0" rtlCol="0" anchor="ctr"/>
          <a:lstStyle/>
          <a:p>
            <a:pPr algn="r" indent="0" marL="0">
              <a:buNone/>
            </a:pPr>
            <a:r>
              <a:rPr lang="en-US" sz="1600" b="1" dirty="0">
                <a:solidFill>
                  <a:srgbClr val="6C4FE0"/>
                </a:solidFill>
                <a:latin typeface="Cambria" pitchFamily="34" charset="0"/>
                <a:ea typeface="Cambria" pitchFamily="34" charset="-122"/>
                <a:cs typeface="Cambria" pitchFamily="34" charset="-120"/>
              </a:rPr>
              <a:t>$49M</a:t>
            </a:r>
            <a:endParaRPr lang="en-US" sz="1600" dirty="0"/>
          </a:p>
        </p:txBody>
      </p:sp>
      <p:sp>
        <p:nvSpPr>
          <p:cNvPr id="25" name="Text 22"/>
          <p:cNvSpPr/>
          <p:nvPr/>
        </p:nvSpPr>
        <p:spPr>
          <a:xfrm>
            <a:off x="640080" y="4965192"/>
            <a:ext cx="4937760" cy="420624"/>
          </a:xfrm>
          <a:prstGeom prst="rect">
            <a:avLst/>
          </a:prstGeom>
          <a:noFill/>
          <a:ln/>
        </p:spPr>
        <p:txBody>
          <a:bodyPr wrap="square" lIns="0" tIns="0" rIns="0" bIns="0" rtlCol="0" anchor="ctr"/>
          <a:lstStyle/>
          <a:p>
            <a:pPr indent="0" marL="0">
              <a:buNone/>
            </a:pPr>
            <a:r>
              <a:rPr lang="en-US" sz="1150" dirty="0">
                <a:solidFill>
                  <a:srgbClr val="E3DCF2"/>
                </a:solidFill>
                <a:latin typeface="Calibri" pitchFamily="34" charset="0"/>
                <a:ea typeface="Calibri" pitchFamily="34" charset="-122"/>
                <a:cs typeface="Calibri" pitchFamily="34" charset="-120"/>
              </a:rPr>
              <a:t>India at 5% of 6.0M × $45</a:t>
            </a:r>
            <a:endParaRPr lang="en-US" sz="1150" dirty="0"/>
          </a:p>
        </p:txBody>
      </p:sp>
      <p:sp>
        <p:nvSpPr>
          <p:cNvPr id="26" name="Shape 23"/>
          <p:cNvSpPr/>
          <p:nvPr/>
        </p:nvSpPr>
        <p:spPr>
          <a:xfrm>
            <a:off x="5760720" y="5047488"/>
            <a:ext cx="3840480" cy="256032"/>
          </a:xfrm>
          <a:prstGeom prst="roundRect">
            <a:avLst>
              <a:gd name="adj" fmla="val 50000"/>
            </a:avLst>
          </a:prstGeom>
          <a:solidFill>
            <a:srgbClr val="FFFFFF">
              <a:alpha val="10000"/>
            </a:srgbClr>
          </a:solidFill>
          <a:ln/>
        </p:spPr>
      </p:sp>
      <p:sp>
        <p:nvSpPr>
          <p:cNvPr id="27" name="Shape 24"/>
          <p:cNvSpPr/>
          <p:nvPr/>
        </p:nvSpPr>
        <p:spPr>
          <a:xfrm>
            <a:off x="5760720" y="5047488"/>
            <a:ext cx="1459382" cy="256032"/>
          </a:xfrm>
          <a:prstGeom prst="roundRect">
            <a:avLst>
              <a:gd name="adj" fmla="val 50000"/>
            </a:avLst>
          </a:prstGeom>
          <a:solidFill>
            <a:srgbClr val="178A4C"/>
          </a:solidFill>
          <a:ln/>
        </p:spPr>
      </p:sp>
      <p:sp>
        <p:nvSpPr>
          <p:cNvPr id="28" name="Text 25"/>
          <p:cNvSpPr/>
          <p:nvPr/>
        </p:nvSpPr>
        <p:spPr>
          <a:xfrm>
            <a:off x="9738360" y="4965192"/>
            <a:ext cx="1554480" cy="420624"/>
          </a:xfrm>
          <a:prstGeom prst="rect">
            <a:avLst/>
          </a:prstGeom>
          <a:noFill/>
          <a:ln/>
        </p:spPr>
        <p:txBody>
          <a:bodyPr wrap="square" lIns="0" tIns="0" rIns="0" bIns="0" rtlCol="0" anchor="ctr"/>
          <a:lstStyle/>
          <a:p>
            <a:pPr algn="r" indent="0" marL="0">
              <a:buNone/>
            </a:pPr>
            <a:r>
              <a:rPr lang="en-US" sz="1600" b="1" dirty="0">
                <a:solidFill>
                  <a:srgbClr val="178A4C"/>
                </a:solidFill>
                <a:latin typeface="Cambria" pitchFamily="34" charset="0"/>
                <a:ea typeface="Cambria" pitchFamily="34" charset="-122"/>
                <a:cs typeface="Cambria" pitchFamily="34" charset="-120"/>
              </a:rPr>
              <a:t>$13.5M</a:t>
            </a:r>
            <a:endParaRPr lang="en-US" sz="1600" dirty="0"/>
          </a:p>
        </p:txBody>
      </p:sp>
      <p:sp>
        <p:nvSpPr>
          <p:cNvPr id="29" name="Shape 26"/>
          <p:cNvSpPr/>
          <p:nvPr/>
        </p:nvSpPr>
        <p:spPr>
          <a:xfrm>
            <a:off x="640080" y="5614416"/>
            <a:ext cx="10607040" cy="1115568"/>
          </a:xfrm>
          <a:prstGeom prst="roundRect">
            <a:avLst>
              <a:gd name="adj" fmla="val 9836"/>
            </a:avLst>
          </a:prstGeom>
          <a:solidFill>
            <a:srgbClr val="FFFFFF">
              <a:alpha val="7000"/>
            </a:srgbClr>
          </a:solidFill>
          <a:ln/>
        </p:spPr>
      </p:sp>
      <p:sp>
        <p:nvSpPr>
          <p:cNvPr id="30" name="Text 27"/>
          <p:cNvSpPr/>
          <p:nvPr/>
        </p:nvSpPr>
        <p:spPr>
          <a:xfrm>
            <a:off x="932688" y="5705856"/>
            <a:ext cx="3657600" cy="256032"/>
          </a:xfrm>
          <a:prstGeom prst="rect">
            <a:avLst/>
          </a:prstGeom>
          <a:noFill/>
          <a:ln/>
        </p:spPr>
        <p:txBody>
          <a:bodyPr wrap="square" lIns="0" tIns="0" rIns="0" bIns="0" rtlCol="0" anchor="ctr"/>
          <a:lstStyle/>
          <a:p>
            <a:pPr indent="0" marL="0">
              <a:buNone/>
            </a:pPr>
            <a:r>
              <a:rPr lang="en-US" sz="1000" b="1" spc="160" kern="0" dirty="0">
                <a:solidFill>
                  <a:srgbClr val="F0B429"/>
                </a:solidFill>
                <a:latin typeface="Calibri" pitchFamily="34" charset="0"/>
                <a:ea typeface="Calibri" pitchFamily="34" charset="-122"/>
                <a:cs typeface="Calibri" pitchFamily="34" charset="-120"/>
              </a:rPr>
              <a:t>The honest read</a:t>
            </a:r>
            <a:endParaRPr lang="en-US" sz="1000" dirty="0"/>
          </a:p>
        </p:txBody>
      </p:sp>
      <p:sp>
        <p:nvSpPr>
          <p:cNvPr id="31" name="Text 28"/>
          <p:cNvSpPr/>
          <p:nvPr/>
        </p:nvSpPr>
        <p:spPr>
          <a:xfrm>
            <a:off x="932688" y="5943600"/>
            <a:ext cx="10012680" cy="74980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At tutor-adjacent pricing the realistic ceiling as category leader is $45–90M of revenue. Year 5 needs 0.9% of the diaspora, which is the strongest fact on this slide: the plan does not require winning the market, only being findable in it. But the same cost rules that guarantee profit also cap the pace — 18% of revenue on media cannot outrun a competitor who raises $20M and spends it. We win slowly or not at all, and the deck should not pretend otherwise.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COST STRUCTURE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Costs are fractions, not budgets</a:t>
            </a:r>
            <a:endParaRPr lang="en-US" sz="2900" dirty="0"/>
          </a:p>
        </p:txBody>
      </p:sp>
      <p:sp>
        <p:nvSpPr>
          <p:cNvPr id="4" name="Text 2"/>
          <p:cNvSpPr/>
          <p:nvPr/>
        </p:nvSpPr>
        <p:spPr>
          <a:xfrm>
            <a:off x="640080" y="1426464"/>
            <a:ext cx="10607040" cy="475488"/>
          </a:xfrm>
          <a:prstGeom prst="rect">
            <a:avLst/>
          </a:prstGeom>
          <a:noFill/>
          <a:ln/>
        </p:spPr>
        <p:txBody>
          <a:bodyPr wrap="square" lIns="0" tIns="0" rIns="0" bIns="0" rtlCol="0" anchor="ctr"/>
          <a:lstStyle/>
          <a:p>
            <a:pPr indent="0" marL="0">
              <a:buNone/>
            </a:pPr>
            <a:r>
              <a:rPr lang="en-US" sz="1400" dirty="0">
                <a:solidFill>
                  <a:srgbClr val="7A7291"/>
                </a:solidFill>
                <a:latin typeface="Calibri" pitchFamily="34" charset="0"/>
                <a:ea typeface="Calibri" pitchFamily="34" charset="-122"/>
                <a:cs typeface="Calibri" pitchFamily="34" charset="-120"/>
              </a:rPr>
              <a:t>Only two lines are fixed, and together they are smaller than one week of Year 1 sales. Everything else moves with revenue by rule — which is the mechanism, not the forecast, behind never losing money.</a:t>
            </a:r>
            <a:endParaRPr lang="en-US" sz="1400" dirty="0"/>
          </a:p>
        </p:txBody>
      </p:sp>
      <p:sp>
        <p:nvSpPr>
          <p:cNvPr id="5" name="Text 3"/>
          <p:cNvSpPr/>
          <p:nvPr/>
        </p:nvSpPr>
        <p:spPr>
          <a:xfrm>
            <a:off x="6035040"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7059168"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8083296"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9107424"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10131552" y="2011680"/>
            <a:ext cx="932688" cy="256032"/>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Y5</a:t>
            </a:r>
            <a:endParaRPr lang="en-US" sz="1050" dirty="0"/>
          </a:p>
        </p:txBody>
      </p:sp>
      <p:sp>
        <p:nvSpPr>
          <p:cNvPr id="10" name="Shape 8"/>
          <p:cNvSpPr/>
          <p:nvPr/>
        </p:nvSpPr>
        <p:spPr>
          <a:xfrm>
            <a:off x="512064" y="2249424"/>
            <a:ext cx="10954512" cy="475488"/>
          </a:xfrm>
          <a:prstGeom prst="roundRect">
            <a:avLst>
              <a:gd name="adj" fmla="val 17308"/>
            </a:avLst>
          </a:prstGeom>
          <a:solidFill>
            <a:srgbClr val="EFEBF8"/>
          </a:solidFill>
          <a:ln/>
        </p:spPr>
      </p:sp>
      <p:sp>
        <p:nvSpPr>
          <p:cNvPr id="11" name="Shape 9"/>
          <p:cNvSpPr/>
          <p:nvPr/>
        </p:nvSpPr>
        <p:spPr>
          <a:xfrm rot="5400000">
            <a:off x="640080" y="2359152"/>
            <a:ext cx="237744" cy="237744"/>
          </a:xfrm>
          <a:prstGeom prst="hexagon">
            <a:avLst/>
          </a:prstGeom>
          <a:solidFill>
            <a:srgbClr val="6C4FE0"/>
          </a:solidFill>
          <a:ln/>
        </p:spPr>
      </p:sp>
      <p:sp>
        <p:nvSpPr>
          <p:cNvPr id="12" name="Text 10"/>
          <p:cNvSpPr/>
          <p:nvPr/>
        </p:nvSpPr>
        <p:spPr>
          <a:xfrm>
            <a:off x="969264" y="225856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Paid media</a:t>
            </a:r>
            <a:endParaRPr lang="en-US" sz="1150" dirty="0"/>
          </a:p>
        </p:txBody>
      </p:sp>
      <p:sp>
        <p:nvSpPr>
          <p:cNvPr id="13" name="Shape 11"/>
          <p:cNvSpPr/>
          <p:nvPr/>
        </p:nvSpPr>
        <p:spPr>
          <a:xfrm>
            <a:off x="3291840" y="2304288"/>
            <a:ext cx="1298448" cy="219456"/>
          </a:xfrm>
          <a:prstGeom prst="roundRect">
            <a:avLst>
              <a:gd name="adj" fmla="val 50000"/>
            </a:avLst>
          </a:prstGeom>
          <a:solidFill>
            <a:srgbClr val="6C4FE0"/>
          </a:solidFill>
          <a:ln/>
        </p:spPr>
      </p:sp>
      <p:sp>
        <p:nvSpPr>
          <p:cNvPr id="14" name="Text 12"/>
          <p:cNvSpPr/>
          <p:nvPr/>
        </p:nvSpPr>
        <p:spPr>
          <a:xfrm>
            <a:off x="3291840" y="230428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18% of revenue</a:t>
            </a:r>
            <a:endParaRPr lang="en-US" sz="750" dirty="0"/>
          </a:p>
        </p:txBody>
      </p:sp>
      <p:sp>
        <p:nvSpPr>
          <p:cNvPr id="15" name="Text 13"/>
          <p:cNvSpPr/>
          <p:nvPr/>
        </p:nvSpPr>
        <p:spPr>
          <a:xfrm>
            <a:off x="969264" y="248716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Never a budget. Can be switched off in a week without breaking anything.</a:t>
            </a:r>
            <a:endParaRPr lang="en-US" sz="800" dirty="0"/>
          </a:p>
        </p:txBody>
      </p:sp>
      <p:sp>
        <p:nvSpPr>
          <p:cNvPr id="16" name="Text 14"/>
          <p:cNvSpPr/>
          <p:nvPr/>
        </p:nvSpPr>
        <p:spPr>
          <a:xfrm>
            <a:off x="6035040"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$4.7k</a:t>
            </a:r>
            <a:endParaRPr lang="en-US" sz="1050" dirty="0"/>
          </a:p>
        </p:txBody>
      </p:sp>
      <p:sp>
        <p:nvSpPr>
          <p:cNvPr id="17" name="Text 15"/>
          <p:cNvSpPr/>
          <p:nvPr/>
        </p:nvSpPr>
        <p:spPr>
          <a:xfrm>
            <a:off x="7059168"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$29k</a:t>
            </a:r>
            <a:endParaRPr lang="en-US" sz="1050" dirty="0"/>
          </a:p>
        </p:txBody>
      </p:sp>
      <p:sp>
        <p:nvSpPr>
          <p:cNvPr id="18" name="Text 16"/>
          <p:cNvSpPr/>
          <p:nvPr/>
        </p:nvSpPr>
        <p:spPr>
          <a:xfrm>
            <a:off x="8083296"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$108k</a:t>
            </a:r>
            <a:endParaRPr lang="en-US" sz="1050" dirty="0"/>
          </a:p>
        </p:txBody>
      </p:sp>
      <p:sp>
        <p:nvSpPr>
          <p:cNvPr id="19" name="Text 17"/>
          <p:cNvSpPr/>
          <p:nvPr/>
        </p:nvSpPr>
        <p:spPr>
          <a:xfrm>
            <a:off x="9107424"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$280k</a:t>
            </a:r>
            <a:endParaRPr lang="en-US" sz="1050" dirty="0"/>
          </a:p>
        </p:txBody>
      </p:sp>
      <p:sp>
        <p:nvSpPr>
          <p:cNvPr id="20" name="Text 18"/>
          <p:cNvSpPr/>
          <p:nvPr/>
        </p:nvSpPr>
        <p:spPr>
          <a:xfrm>
            <a:off x="10131552" y="228600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$556k</a:t>
            </a:r>
            <a:endParaRPr lang="en-US" sz="1050" dirty="0"/>
          </a:p>
        </p:txBody>
      </p:sp>
      <p:sp>
        <p:nvSpPr>
          <p:cNvPr id="21" name="Shape 19"/>
          <p:cNvSpPr/>
          <p:nvPr/>
        </p:nvSpPr>
        <p:spPr>
          <a:xfrm rot="5400000">
            <a:off x="640080" y="2871216"/>
            <a:ext cx="237744" cy="237744"/>
          </a:xfrm>
          <a:prstGeom prst="hexagon">
            <a:avLst/>
          </a:prstGeom>
          <a:solidFill>
            <a:srgbClr val="6C4FE0"/>
          </a:solidFill>
          <a:ln/>
        </p:spPr>
      </p:sp>
      <p:sp>
        <p:nvSpPr>
          <p:cNvPr id="22" name="Text 20"/>
          <p:cNvSpPr/>
          <p:nvPr/>
        </p:nvSpPr>
        <p:spPr>
          <a:xfrm>
            <a:off x="969264" y="277063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Content &amp; tools</a:t>
            </a:r>
            <a:endParaRPr lang="en-US" sz="1150" dirty="0"/>
          </a:p>
        </p:txBody>
      </p:sp>
      <p:sp>
        <p:nvSpPr>
          <p:cNvPr id="23" name="Shape 21"/>
          <p:cNvSpPr/>
          <p:nvPr/>
        </p:nvSpPr>
        <p:spPr>
          <a:xfrm>
            <a:off x="3291840" y="2816352"/>
            <a:ext cx="1298448" cy="219456"/>
          </a:xfrm>
          <a:prstGeom prst="roundRect">
            <a:avLst>
              <a:gd name="adj" fmla="val 50000"/>
            </a:avLst>
          </a:prstGeom>
          <a:solidFill>
            <a:srgbClr val="6C4FE0"/>
          </a:solidFill>
          <a:ln/>
        </p:spPr>
      </p:sp>
      <p:sp>
        <p:nvSpPr>
          <p:cNvPr id="24" name="Text 22"/>
          <p:cNvSpPr/>
          <p:nvPr/>
        </p:nvSpPr>
        <p:spPr>
          <a:xfrm>
            <a:off x="3291840" y="2816352"/>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12%, floored</a:t>
            </a:r>
            <a:endParaRPr lang="en-US" sz="750" dirty="0"/>
          </a:p>
        </p:txBody>
      </p:sp>
      <p:sp>
        <p:nvSpPr>
          <p:cNvPr id="25" name="Text 23"/>
          <p:cNvSpPr/>
          <p:nvPr/>
        </p:nvSpPr>
        <p:spPr>
          <a:xfrm>
            <a:off x="969264" y="299923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AI credits, art, audio, contract writers. Floored in Y1–Y2 because some spend is real even at tiny revenue.</a:t>
            </a:r>
            <a:endParaRPr lang="en-US" sz="800" dirty="0"/>
          </a:p>
        </p:txBody>
      </p:sp>
      <p:sp>
        <p:nvSpPr>
          <p:cNvPr id="26" name="Text 24"/>
          <p:cNvSpPr/>
          <p:nvPr/>
        </p:nvSpPr>
        <p:spPr>
          <a:xfrm>
            <a:off x="6035040"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$11k</a:t>
            </a:r>
            <a:endParaRPr lang="en-US" sz="1050" dirty="0"/>
          </a:p>
        </p:txBody>
      </p:sp>
      <p:sp>
        <p:nvSpPr>
          <p:cNvPr id="27" name="Text 25"/>
          <p:cNvSpPr/>
          <p:nvPr/>
        </p:nvSpPr>
        <p:spPr>
          <a:xfrm>
            <a:off x="7059168"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$34k</a:t>
            </a:r>
            <a:endParaRPr lang="en-US" sz="1050" dirty="0"/>
          </a:p>
        </p:txBody>
      </p:sp>
      <p:sp>
        <p:nvSpPr>
          <p:cNvPr id="28" name="Text 26"/>
          <p:cNvSpPr/>
          <p:nvPr/>
        </p:nvSpPr>
        <p:spPr>
          <a:xfrm>
            <a:off x="8083296"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$72k</a:t>
            </a:r>
            <a:endParaRPr lang="en-US" sz="1050" dirty="0"/>
          </a:p>
        </p:txBody>
      </p:sp>
      <p:sp>
        <p:nvSpPr>
          <p:cNvPr id="29" name="Text 27"/>
          <p:cNvSpPr/>
          <p:nvPr/>
        </p:nvSpPr>
        <p:spPr>
          <a:xfrm>
            <a:off x="9107424"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$186k</a:t>
            </a:r>
            <a:endParaRPr lang="en-US" sz="1050" dirty="0"/>
          </a:p>
        </p:txBody>
      </p:sp>
      <p:sp>
        <p:nvSpPr>
          <p:cNvPr id="30" name="Text 28"/>
          <p:cNvSpPr/>
          <p:nvPr/>
        </p:nvSpPr>
        <p:spPr>
          <a:xfrm>
            <a:off x="10131552" y="279806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$371k</a:t>
            </a:r>
            <a:endParaRPr lang="en-US" sz="1050" dirty="0"/>
          </a:p>
        </p:txBody>
      </p:sp>
      <p:sp>
        <p:nvSpPr>
          <p:cNvPr id="31" name="Shape 29"/>
          <p:cNvSpPr/>
          <p:nvPr/>
        </p:nvSpPr>
        <p:spPr>
          <a:xfrm>
            <a:off x="512064" y="3273552"/>
            <a:ext cx="10954512" cy="475488"/>
          </a:xfrm>
          <a:prstGeom prst="roundRect">
            <a:avLst>
              <a:gd name="adj" fmla="val 17308"/>
            </a:avLst>
          </a:prstGeom>
          <a:solidFill>
            <a:srgbClr val="EFEBF8"/>
          </a:solidFill>
          <a:ln/>
        </p:spPr>
      </p:sp>
      <p:sp>
        <p:nvSpPr>
          <p:cNvPr id="32" name="Shape 30"/>
          <p:cNvSpPr/>
          <p:nvPr/>
        </p:nvSpPr>
        <p:spPr>
          <a:xfrm rot="5400000">
            <a:off x="640080" y="3383280"/>
            <a:ext cx="237744" cy="237744"/>
          </a:xfrm>
          <a:prstGeom prst="hexagon">
            <a:avLst/>
          </a:prstGeom>
          <a:solidFill>
            <a:srgbClr val="C4453C"/>
          </a:solidFill>
          <a:ln/>
        </p:spPr>
      </p:sp>
      <p:sp>
        <p:nvSpPr>
          <p:cNvPr id="33" name="Text 31"/>
          <p:cNvSpPr/>
          <p:nvPr/>
        </p:nvSpPr>
        <p:spPr>
          <a:xfrm>
            <a:off x="969264" y="3282696"/>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People</a:t>
            </a:r>
            <a:endParaRPr lang="en-US" sz="1150" dirty="0"/>
          </a:p>
        </p:txBody>
      </p:sp>
      <p:sp>
        <p:nvSpPr>
          <p:cNvPr id="34" name="Shape 32"/>
          <p:cNvSpPr/>
          <p:nvPr/>
        </p:nvSpPr>
        <p:spPr>
          <a:xfrm>
            <a:off x="3291840" y="3328416"/>
            <a:ext cx="1298448" cy="219456"/>
          </a:xfrm>
          <a:prstGeom prst="roundRect">
            <a:avLst>
              <a:gd name="adj" fmla="val 50000"/>
            </a:avLst>
          </a:prstGeom>
          <a:solidFill>
            <a:srgbClr val="C4453C"/>
          </a:solidFill>
          <a:ln/>
        </p:spPr>
      </p:sp>
      <p:sp>
        <p:nvSpPr>
          <p:cNvPr id="35" name="Text 33"/>
          <p:cNvSpPr/>
          <p:nvPr/>
        </p:nvSpPr>
        <p:spPr>
          <a:xfrm>
            <a:off x="3291840" y="3328416"/>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capped at 20%</a:t>
            </a:r>
            <a:endParaRPr lang="en-US" sz="750" dirty="0"/>
          </a:p>
        </p:txBody>
      </p:sp>
      <p:sp>
        <p:nvSpPr>
          <p:cNvPr id="36" name="Text 34"/>
          <p:cNvSpPr/>
          <p:nvPr/>
        </p:nvSpPr>
        <p:spPr>
          <a:xfrm>
            <a:off x="969264" y="3511296"/>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Founders unpaid until Year 3 — until then EBITDA IS founder pay. First hire Y2 part-time; six by Y5.</a:t>
            </a:r>
            <a:endParaRPr lang="en-US" sz="800" dirty="0"/>
          </a:p>
        </p:txBody>
      </p:sp>
      <p:sp>
        <p:nvSpPr>
          <p:cNvPr id="37" name="Text 35"/>
          <p:cNvSpPr/>
          <p:nvPr/>
        </p:nvSpPr>
        <p:spPr>
          <a:xfrm>
            <a:off x="6035040" y="3310128"/>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38" name="Text 36"/>
          <p:cNvSpPr/>
          <p:nvPr/>
        </p:nvSpPr>
        <p:spPr>
          <a:xfrm>
            <a:off x="7059168"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$24k</a:t>
            </a:r>
            <a:endParaRPr lang="en-US" sz="1050" dirty="0"/>
          </a:p>
        </p:txBody>
      </p:sp>
      <p:sp>
        <p:nvSpPr>
          <p:cNvPr id="39" name="Text 37"/>
          <p:cNvSpPr/>
          <p:nvPr/>
        </p:nvSpPr>
        <p:spPr>
          <a:xfrm>
            <a:off x="8083296"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$96k</a:t>
            </a:r>
            <a:endParaRPr lang="en-US" sz="1050" dirty="0"/>
          </a:p>
        </p:txBody>
      </p:sp>
      <p:sp>
        <p:nvSpPr>
          <p:cNvPr id="40" name="Text 38"/>
          <p:cNvSpPr/>
          <p:nvPr/>
        </p:nvSpPr>
        <p:spPr>
          <a:xfrm>
            <a:off x="9107424"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$300k</a:t>
            </a:r>
            <a:endParaRPr lang="en-US" sz="1050" dirty="0"/>
          </a:p>
        </p:txBody>
      </p:sp>
      <p:sp>
        <p:nvSpPr>
          <p:cNvPr id="41" name="Text 39"/>
          <p:cNvSpPr/>
          <p:nvPr/>
        </p:nvSpPr>
        <p:spPr>
          <a:xfrm>
            <a:off x="10131552" y="3310128"/>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$620k</a:t>
            </a:r>
            <a:endParaRPr lang="en-US" sz="1050" dirty="0"/>
          </a:p>
        </p:txBody>
      </p:sp>
      <p:sp>
        <p:nvSpPr>
          <p:cNvPr id="42" name="Shape 40"/>
          <p:cNvSpPr/>
          <p:nvPr/>
        </p:nvSpPr>
        <p:spPr>
          <a:xfrm rot="5400000">
            <a:off x="640080" y="3895344"/>
            <a:ext cx="237744" cy="237744"/>
          </a:xfrm>
          <a:prstGeom prst="hexagon">
            <a:avLst/>
          </a:prstGeom>
          <a:solidFill>
            <a:srgbClr val="178A4C"/>
          </a:solidFill>
          <a:ln/>
        </p:spPr>
      </p:sp>
      <p:sp>
        <p:nvSpPr>
          <p:cNvPr id="43" name="Text 41"/>
          <p:cNvSpPr/>
          <p:nvPr/>
        </p:nvSpPr>
        <p:spPr>
          <a:xfrm>
            <a:off x="969264" y="3794760"/>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Mentors &amp; live delivery</a:t>
            </a:r>
            <a:endParaRPr lang="en-US" sz="1150" dirty="0"/>
          </a:p>
        </p:txBody>
      </p:sp>
      <p:sp>
        <p:nvSpPr>
          <p:cNvPr id="44" name="Shape 42"/>
          <p:cNvSpPr/>
          <p:nvPr/>
        </p:nvSpPr>
        <p:spPr>
          <a:xfrm>
            <a:off x="3291840" y="3840480"/>
            <a:ext cx="1298448" cy="219456"/>
          </a:xfrm>
          <a:prstGeom prst="roundRect">
            <a:avLst>
              <a:gd name="adj" fmla="val 50000"/>
            </a:avLst>
          </a:prstGeom>
          <a:solidFill>
            <a:srgbClr val="178A4C"/>
          </a:solidFill>
          <a:ln/>
        </p:spPr>
      </p:sp>
      <p:sp>
        <p:nvSpPr>
          <p:cNvPr id="45" name="Text 43"/>
          <p:cNvSpPr/>
          <p:nvPr/>
        </p:nvSpPr>
        <p:spPr>
          <a:xfrm>
            <a:off x="3291840" y="3840480"/>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50% of cohort rev</a:t>
            </a:r>
            <a:endParaRPr lang="en-US" sz="750" dirty="0"/>
          </a:p>
        </p:txBody>
      </p:sp>
      <p:sp>
        <p:nvSpPr>
          <p:cNvPr id="46" name="Text 44"/>
          <p:cNvSpPr/>
          <p:nvPr/>
        </p:nvSpPr>
        <p:spPr>
          <a:xfrm>
            <a:off x="969264" y="4023360"/>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 true cost of goods. It exists only when a cohort has already been sold.</a:t>
            </a:r>
            <a:endParaRPr lang="en-US" sz="800" dirty="0"/>
          </a:p>
        </p:txBody>
      </p:sp>
      <p:sp>
        <p:nvSpPr>
          <p:cNvPr id="47" name="Text 45"/>
          <p:cNvSpPr/>
          <p:nvPr/>
        </p:nvSpPr>
        <p:spPr>
          <a:xfrm>
            <a:off x="6035040"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8" name="Text 46"/>
          <p:cNvSpPr/>
          <p:nvPr/>
        </p:nvSpPr>
        <p:spPr>
          <a:xfrm>
            <a:off x="7059168" y="3822192"/>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49" name="Text 47"/>
          <p:cNvSpPr/>
          <p:nvPr/>
        </p:nvSpPr>
        <p:spPr>
          <a:xfrm>
            <a:off x="8083296"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$39k</a:t>
            </a:r>
            <a:endParaRPr lang="en-US" sz="1050" dirty="0"/>
          </a:p>
        </p:txBody>
      </p:sp>
      <p:sp>
        <p:nvSpPr>
          <p:cNvPr id="50" name="Text 48"/>
          <p:cNvSpPr/>
          <p:nvPr/>
        </p:nvSpPr>
        <p:spPr>
          <a:xfrm>
            <a:off x="9107424"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$148k</a:t>
            </a:r>
            <a:endParaRPr lang="en-US" sz="1050" dirty="0"/>
          </a:p>
        </p:txBody>
      </p:sp>
      <p:sp>
        <p:nvSpPr>
          <p:cNvPr id="51" name="Text 49"/>
          <p:cNvSpPr/>
          <p:nvPr/>
        </p:nvSpPr>
        <p:spPr>
          <a:xfrm>
            <a:off x="10131552" y="3822192"/>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$340k</a:t>
            </a:r>
            <a:endParaRPr lang="en-US" sz="1050" dirty="0"/>
          </a:p>
        </p:txBody>
      </p:sp>
      <p:sp>
        <p:nvSpPr>
          <p:cNvPr id="52" name="Shape 50"/>
          <p:cNvSpPr/>
          <p:nvPr/>
        </p:nvSpPr>
        <p:spPr>
          <a:xfrm>
            <a:off x="512064" y="4297680"/>
            <a:ext cx="10954512" cy="475488"/>
          </a:xfrm>
          <a:prstGeom prst="roundRect">
            <a:avLst>
              <a:gd name="adj" fmla="val 17308"/>
            </a:avLst>
          </a:prstGeom>
          <a:solidFill>
            <a:srgbClr val="EFEBF8"/>
          </a:solidFill>
          <a:ln/>
        </p:spPr>
      </p:sp>
      <p:sp>
        <p:nvSpPr>
          <p:cNvPr id="53" name="Shape 51"/>
          <p:cNvSpPr/>
          <p:nvPr/>
        </p:nvSpPr>
        <p:spPr>
          <a:xfrm rot="5400000">
            <a:off x="640080" y="4407408"/>
            <a:ext cx="237744" cy="237744"/>
          </a:xfrm>
          <a:prstGeom prst="hexagon">
            <a:avLst/>
          </a:prstGeom>
          <a:solidFill>
            <a:srgbClr val="F0B429"/>
          </a:solidFill>
          <a:ln/>
        </p:spPr>
      </p:sp>
      <p:sp>
        <p:nvSpPr>
          <p:cNvPr id="54" name="Text 52"/>
          <p:cNvSpPr/>
          <p:nvPr/>
        </p:nvSpPr>
        <p:spPr>
          <a:xfrm>
            <a:off x="969264" y="4306824"/>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Physical COGS</a:t>
            </a:r>
            <a:endParaRPr lang="en-US" sz="1150" dirty="0"/>
          </a:p>
        </p:txBody>
      </p:sp>
      <p:sp>
        <p:nvSpPr>
          <p:cNvPr id="55" name="Shape 53"/>
          <p:cNvSpPr/>
          <p:nvPr/>
        </p:nvSpPr>
        <p:spPr>
          <a:xfrm>
            <a:off x="3291840" y="4352544"/>
            <a:ext cx="1298448" cy="219456"/>
          </a:xfrm>
          <a:prstGeom prst="roundRect">
            <a:avLst>
              <a:gd name="adj" fmla="val 50000"/>
            </a:avLst>
          </a:prstGeom>
          <a:solidFill>
            <a:srgbClr val="F0B429"/>
          </a:solidFill>
          <a:ln/>
        </p:spPr>
      </p:sp>
      <p:sp>
        <p:nvSpPr>
          <p:cNvPr id="56" name="Text 54"/>
          <p:cNvSpPr/>
          <p:nvPr/>
        </p:nvSpPr>
        <p:spPr>
          <a:xfrm>
            <a:off x="3291840" y="4352544"/>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55% of physical rev</a:t>
            </a:r>
            <a:endParaRPr lang="en-US" sz="750" dirty="0"/>
          </a:p>
        </p:txBody>
      </p:sp>
      <p:sp>
        <p:nvSpPr>
          <p:cNvPr id="57" name="Text 55"/>
          <p:cNvSpPr/>
          <p:nvPr/>
        </p:nvSpPr>
        <p:spPr>
          <a:xfrm>
            <a:off x="969264" y="4535424"/>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Print-on-demand. We never hold stock we have not already sold.</a:t>
            </a:r>
            <a:endParaRPr lang="en-US" sz="800" dirty="0"/>
          </a:p>
        </p:txBody>
      </p:sp>
      <p:sp>
        <p:nvSpPr>
          <p:cNvPr id="58" name="Text 56"/>
          <p:cNvSpPr/>
          <p:nvPr/>
        </p:nvSpPr>
        <p:spPr>
          <a:xfrm>
            <a:off x="6035040" y="4334256"/>
            <a:ext cx="932688" cy="420624"/>
          </a:xfrm>
          <a:prstGeom prst="rect">
            <a:avLst/>
          </a:prstGeom>
          <a:noFill/>
          <a:ln/>
        </p:spPr>
        <p:txBody>
          <a:bodyPr wrap="square" lIns="0" tIns="0" rIns="0" bIns="0" rtlCol="0" anchor="ctr"/>
          <a:lstStyle/>
          <a:p>
            <a:pPr algn="ctr" indent="0" marL="0">
              <a:buNone/>
            </a:pPr>
            <a:r>
              <a:rPr lang="en-US" sz="1050" dirty="0">
                <a:solidFill>
                  <a:srgbClr val="E3DCF2"/>
                </a:solidFill>
                <a:latin typeface="Calibri" pitchFamily="34" charset="0"/>
                <a:ea typeface="Calibri" pitchFamily="34" charset="-122"/>
                <a:cs typeface="Calibri" pitchFamily="34" charset="-120"/>
              </a:rPr>
              <a:t>—</a:t>
            </a:r>
            <a:endParaRPr lang="en-US" sz="1050" dirty="0"/>
          </a:p>
        </p:txBody>
      </p:sp>
      <p:sp>
        <p:nvSpPr>
          <p:cNvPr id="59" name="Text 57"/>
          <p:cNvSpPr/>
          <p:nvPr/>
        </p:nvSpPr>
        <p:spPr>
          <a:xfrm>
            <a:off x="7059168"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$4.4k</a:t>
            </a:r>
            <a:endParaRPr lang="en-US" sz="1050" dirty="0"/>
          </a:p>
        </p:txBody>
      </p:sp>
      <p:sp>
        <p:nvSpPr>
          <p:cNvPr id="60" name="Text 58"/>
          <p:cNvSpPr/>
          <p:nvPr/>
        </p:nvSpPr>
        <p:spPr>
          <a:xfrm>
            <a:off x="8083296"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61" name="Text 59"/>
          <p:cNvSpPr/>
          <p:nvPr/>
        </p:nvSpPr>
        <p:spPr>
          <a:xfrm>
            <a:off x="9107424"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$77k</a:t>
            </a:r>
            <a:endParaRPr lang="en-US" sz="1050" dirty="0"/>
          </a:p>
        </p:txBody>
      </p:sp>
      <p:sp>
        <p:nvSpPr>
          <p:cNvPr id="62" name="Text 60"/>
          <p:cNvSpPr/>
          <p:nvPr/>
        </p:nvSpPr>
        <p:spPr>
          <a:xfrm>
            <a:off x="10131552" y="4334256"/>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$170k</a:t>
            </a:r>
            <a:endParaRPr lang="en-US" sz="1050" dirty="0"/>
          </a:p>
        </p:txBody>
      </p:sp>
      <p:sp>
        <p:nvSpPr>
          <p:cNvPr id="63" name="Shape 61"/>
          <p:cNvSpPr/>
          <p:nvPr/>
        </p:nvSpPr>
        <p:spPr>
          <a:xfrm rot="5400000">
            <a:off x="640080" y="4919472"/>
            <a:ext cx="237744" cy="237744"/>
          </a:xfrm>
          <a:prstGeom prst="hexagon">
            <a:avLst/>
          </a:prstGeom>
          <a:solidFill>
            <a:srgbClr val="178A4C"/>
          </a:solidFill>
          <a:ln/>
        </p:spPr>
      </p:sp>
      <p:sp>
        <p:nvSpPr>
          <p:cNvPr id="64" name="Text 62"/>
          <p:cNvSpPr/>
          <p:nvPr/>
        </p:nvSpPr>
        <p:spPr>
          <a:xfrm>
            <a:off x="969264" y="4818888"/>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Payment fees &amp; hosting</a:t>
            </a:r>
            <a:endParaRPr lang="en-US" sz="1150" dirty="0"/>
          </a:p>
        </p:txBody>
      </p:sp>
      <p:sp>
        <p:nvSpPr>
          <p:cNvPr id="65" name="Shape 63"/>
          <p:cNvSpPr/>
          <p:nvPr/>
        </p:nvSpPr>
        <p:spPr>
          <a:xfrm>
            <a:off x="3291840" y="4864608"/>
            <a:ext cx="1298448" cy="219456"/>
          </a:xfrm>
          <a:prstGeom prst="roundRect">
            <a:avLst>
              <a:gd name="adj" fmla="val 50000"/>
            </a:avLst>
          </a:prstGeom>
          <a:solidFill>
            <a:srgbClr val="178A4C"/>
          </a:solidFill>
          <a:ln/>
        </p:spPr>
      </p:sp>
      <p:sp>
        <p:nvSpPr>
          <p:cNvPr id="66" name="Text 64"/>
          <p:cNvSpPr/>
          <p:nvPr/>
        </p:nvSpPr>
        <p:spPr>
          <a:xfrm>
            <a:off x="3291840" y="4864608"/>
            <a:ext cx="1298448"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3.9% of revenue</a:t>
            </a:r>
            <a:endParaRPr lang="en-US" sz="750" dirty="0"/>
          </a:p>
        </p:txBody>
      </p:sp>
      <p:sp>
        <p:nvSpPr>
          <p:cNvPr id="67" name="Text 65"/>
          <p:cNvSpPr/>
          <p:nvPr/>
        </p:nvSpPr>
        <p:spPr>
          <a:xfrm>
            <a:off x="969264" y="5047488"/>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Stripe, plus a statically hosted offline-first app. Genuinely small, and it stays small.</a:t>
            </a:r>
            <a:endParaRPr lang="en-US" sz="800" dirty="0"/>
          </a:p>
        </p:txBody>
      </p:sp>
      <p:sp>
        <p:nvSpPr>
          <p:cNvPr id="68" name="Text 66"/>
          <p:cNvSpPr/>
          <p:nvPr/>
        </p:nvSpPr>
        <p:spPr>
          <a:xfrm>
            <a:off x="6035040"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$1.0k</a:t>
            </a:r>
            <a:endParaRPr lang="en-US" sz="1050" dirty="0"/>
          </a:p>
        </p:txBody>
      </p:sp>
      <p:sp>
        <p:nvSpPr>
          <p:cNvPr id="69" name="Text 67"/>
          <p:cNvSpPr/>
          <p:nvPr/>
        </p:nvSpPr>
        <p:spPr>
          <a:xfrm>
            <a:off x="7059168"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$6.2k</a:t>
            </a:r>
            <a:endParaRPr lang="en-US" sz="1050" dirty="0"/>
          </a:p>
        </p:txBody>
      </p:sp>
      <p:sp>
        <p:nvSpPr>
          <p:cNvPr id="70" name="Text 68"/>
          <p:cNvSpPr/>
          <p:nvPr/>
        </p:nvSpPr>
        <p:spPr>
          <a:xfrm>
            <a:off x="8083296"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$23k</a:t>
            </a:r>
            <a:endParaRPr lang="en-US" sz="1050" dirty="0"/>
          </a:p>
        </p:txBody>
      </p:sp>
      <p:sp>
        <p:nvSpPr>
          <p:cNvPr id="71" name="Text 69"/>
          <p:cNvSpPr/>
          <p:nvPr/>
        </p:nvSpPr>
        <p:spPr>
          <a:xfrm>
            <a:off x="9107424"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$61k</a:t>
            </a:r>
            <a:endParaRPr lang="en-US" sz="1050" dirty="0"/>
          </a:p>
        </p:txBody>
      </p:sp>
      <p:sp>
        <p:nvSpPr>
          <p:cNvPr id="72" name="Text 70"/>
          <p:cNvSpPr/>
          <p:nvPr/>
        </p:nvSpPr>
        <p:spPr>
          <a:xfrm>
            <a:off x="10131552" y="4846320"/>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$121k</a:t>
            </a:r>
            <a:endParaRPr lang="en-US" sz="1050" dirty="0"/>
          </a:p>
        </p:txBody>
      </p:sp>
      <p:sp>
        <p:nvSpPr>
          <p:cNvPr id="73" name="Shape 71"/>
          <p:cNvSpPr/>
          <p:nvPr/>
        </p:nvSpPr>
        <p:spPr>
          <a:xfrm>
            <a:off x="512064" y="5321808"/>
            <a:ext cx="10954512" cy="475488"/>
          </a:xfrm>
          <a:prstGeom prst="roundRect">
            <a:avLst>
              <a:gd name="adj" fmla="val 17308"/>
            </a:avLst>
          </a:prstGeom>
          <a:solidFill>
            <a:srgbClr val="EFEBF8"/>
          </a:solidFill>
          <a:ln/>
        </p:spPr>
      </p:sp>
      <p:sp>
        <p:nvSpPr>
          <p:cNvPr id="74" name="Shape 72"/>
          <p:cNvSpPr/>
          <p:nvPr/>
        </p:nvSpPr>
        <p:spPr>
          <a:xfrm rot="5400000">
            <a:off x="640080" y="5431536"/>
            <a:ext cx="237744" cy="237744"/>
          </a:xfrm>
          <a:prstGeom prst="hexagon">
            <a:avLst/>
          </a:prstGeom>
          <a:solidFill>
            <a:srgbClr val="F0B429"/>
          </a:solidFill>
          <a:ln/>
        </p:spPr>
      </p:sp>
      <p:sp>
        <p:nvSpPr>
          <p:cNvPr id="75" name="Text 73"/>
          <p:cNvSpPr/>
          <p:nvPr/>
        </p:nvSpPr>
        <p:spPr>
          <a:xfrm>
            <a:off x="969264" y="5330952"/>
            <a:ext cx="228600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G&amp;A — the only fixed line</a:t>
            </a:r>
            <a:endParaRPr lang="en-US" sz="1150" dirty="0"/>
          </a:p>
        </p:txBody>
      </p:sp>
      <p:sp>
        <p:nvSpPr>
          <p:cNvPr id="76" name="Shape 74"/>
          <p:cNvSpPr/>
          <p:nvPr/>
        </p:nvSpPr>
        <p:spPr>
          <a:xfrm>
            <a:off x="3291840" y="5376672"/>
            <a:ext cx="1298448" cy="219456"/>
          </a:xfrm>
          <a:prstGeom prst="roundRect">
            <a:avLst>
              <a:gd name="adj" fmla="val 50000"/>
            </a:avLst>
          </a:prstGeom>
          <a:solidFill>
            <a:srgbClr val="F0B429"/>
          </a:solidFill>
          <a:ln/>
        </p:spPr>
      </p:sp>
      <p:sp>
        <p:nvSpPr>
          <p:cNvPr id="77" name="Text 75"/>
          <p:cNvSpPr/>
          <p:nvPr/>
        </p:nvSpPr>
        <p:spPr>
          <a:xfrm>
            <a:off x="3291840" y="5376672"/>
            <a:ext cx="1298448" cy="219456"/>
          </a:xfrm>
          <a:prstGeom prst="rect">
            <a:avLst/>
          </a:prstGeom>
          <a:noFill/>
          <a:ln/>
        </p:spPr>
        <p:txBody>
          <a:bodyPr wrap="square" lIns="0" tIns="0" rIns="0" bIns="0" rtlCol="0" anchor="ctr"/>
          <a:lstStyle/>
          <a:p>
            <a:pPr algn="ctr" indent="0" marL="0">
              <a:buNone/>
            </a:pPr>
            <a:r>
              <a:rPr lang="en-US" sz="750" b="1" dirty="0">
                <a:solidFill>
                  <a:srgbClr val="241E33"/>
                </a:solidFill>
                <a:latin typeface="Calibri" pitchFamily="34" charset="0"/>
                <a:ea typeface="Calibri" pitchFamily="34" charset="-122"/>
                <a:cs typeface="Calibri" pitchFamily="34" charset="-120"/>
              </a:rPr>
              <a:t>fixed</a:t>
            </a:r>
            <a:endParaRPr lang="en-US" sz="750" dirty="0"/>
          </a:p>
        </p:txBody>
      </p:sp>
      <p:sp>
        <p:nvSpPr>
          <p:cNvPr id="78" name="Text 76"/>
          <p:cNvSpPr/>
          <p:nvPr/>
        </p:nvSpPr>
        <p:spPr>
          <a:xfrm>
            <a:off x="969264" y="5559552"/>
            <a:ext cx="5029200" cy="256032"/>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Entity, filings, accounting, insurance, background checks. $40 a week in Year 1.</a:t>
            </a:r>
            <a:endParaRPr lang="en-US" sz="800" dirty="0"/>
          </a:p>
        </p:txBody>
      </p:sp>
      <p:sp>
        <p:nvSpPr>
          <p:cNvPr id="79" name="Text 77"/>
          <p:cNvSpPr/>
          <p:nvPr/>
        </p:nvSpPr>
        <p:spPr>
          <a:xfrm>
            <a:off x="6035040"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$2.1k</a:t>
            </a:r>
            <a:endParaRPr lang="en-US" sz="1050" dirty="0"/>
          </a:p>
        </p:txBody>
      </p:sp>
      <p:sp>
        <p:nvSpPr>
          <p:cNvPr id="80" name="Text 78"/>
          <p:cNvSpPr/>
          <p:nvPr/>
        </p:nvSpPr>
        <p:spPr>
          <a:xfrm>
            <a:off x="7059168"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$9.0k</a:t>
            </a:r>
            <a:endParaRPr lang="en-US" sz="1050" dirty="0"/>
          </a:p>
        </p:txBody>
      </p:sp>
      <p:sp>
        <p:nvSpPr>
          <p:cNvPr id="81" name="Text 79"/>
          <p:cNvSpPr/>
          <p:nvPr/>
        </p:nvSpPr>
        <p:spPr>
          <a:xfrm>
            <a:off x="8083296"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$26k</a:t>
            </a:r>
            <a:endParaRPr lang="en-US" sz="1050" dirty="0"/>
          </a:p>
        </p:txBody>
      </p:sp>
      <p:sp>
        <p:nvSpPr>
          <p:cNvPr id="82" name="Text 80"/>
          <p:cNvSpPr/>
          <p:nvPr/>
        </p:nvSpPr>
        <p:spPr>
          <a:xfrm>
            <a:off x="9107424"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$52k</a:t>
            </a:r>
            <a:endParaRPr lang="en-US" sz="1050" dirty="0"/>
          </a:p>
        </p:txBody>
      </p:sp>
      <p:sp>
        <p:nvSpPr>
          <p:cNvPr id="83" name="Text 81"/>
          <p:cNvSpPr/>
          <p:nvPr/>
        </p:nvSpPr>
        <p:spPr>
          <a:xfrm>
            <a:off x="10131552" y="5358384"/>
            <a:ext cx="932688" cy="420624"/>
          </a:xfrm>
          <a:prstGeom prst="rect">
            <a:avLst/>
          </a:prstGeom>
          <a:noFill/>
          <a:ln/>
        </p:spPr>
        <p:txBody>
          <a:bodyPr wrap="square" lIns="0" tIns="0" rIns="0" bIns="0" rtlCol="0" anchor="ctr"/>
          <a:lstStyle/>
          <a:p>
            <a:pPr algn="ctr" indent="0" marL="0">
              <a:buNone/>
            </a:pPr>
            <a:r>
              <a:rPr lang="en-US" sz="1050" dirty="0">
                <a:solidFill>
                  <a:srgbClr val="241E33"/>
                </a:solidFill>
                <a:latin typeface="Calibri" pitchFamily="34" charset="0"/>
                <a:ea typeface="Calibri" pitchFamily="34" charset="-122"/>
                <a:cs typeface="Calibri" pitchFamily="34" charset="-120"/>
              </a:rPr>
              <a:t>$84k</a:t>
            </a:r>
            <a:endParaRPr lang="en-US" sz="1050" dirty="0"/>
          </a:p>
        </p:txBody>
      </p:sp>
      <p:sp>
        <p:nvSpPr>
          <p:cNvPr id="84" name="Shape 82"/>
          <p:cNvSpPr/>
          <p:nvPr/>
        </p:nvSpPr>
        <p:spPr>
          <a:xfrm>
            <a:off x="512064" y="5833872"/>
            <a:ext cx="10954512" cy="475488"/>
          </a:xfrm>
          <a:prstGeom prst="roundRect">
            <a:avLst>
              <a:gd name="adj" fmla="val 17308"/>
            </a:avLst>
          </a:prstGeom>
          <a:solidFill>
            <a:srgbClr val="241E33"/>
          </a:solidFill>
          <a:ln/>
        </p:spPr>
      </p:sp>
      <p:sp>
        <p:nvSpPr>
          <p:cNvPr id="85" name="Text 83"/>
          <p:cNvSpPr/>
          <p:nvPr/>
        </p:nvSpPr>
        <p:spPr>
          <a:xfrm>
            <a:off x="969264" y="5870448"/>
            <a:ext cx="3657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Total operating cost</a:t>
            </a:r>
            <a:endParaRPr lang="en-US" sz="1250" dirty="0"/>
          </a:p>
        </p:txBody>
      </p:sp>
      <p:sp>
        <p:nvSpPr>
          <p:cNvPr id="86" name="Text 84"/>
          <p:cNvSpPr/>
          <p:nvPr/>
        </p:nvSpPr>
        <p:spPr>
          <a:xfrm>
            <a:off x="6035040"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$19k</a:t>
            </a:r>
            <a:endParaRPr lang="en-US" sz="1100" dirty="0"/>
          </a:p>
        </p:txBody>
      </p:sp>
      <p:sp>
        <p:nvSpPr>
          <p:cNvPr id="87" name="Text 85"/>
          <p:cNvSpPr/>
          <p:nvPr/>
        </p:nvSpPr>
        <p:spPr>
          <a:xfrm>
            <a:off x="7059168"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$106k</a:t>
            </a:r>
            <a:endParaRPr lang="en-US" sz="1100" dirty="0"/>
          </a:p>
        </p:txBody>
      </p:sp>
      <p:sp>
        <p:nvSpPr>
          <p:cNvPr id="88" name="Text 86"/>
          <p:cNvSpPr/>
          <p:nvPr/>
        </p:nvSpPr>
        <p:spPr>
          <a:xfrm>
            <a:off x="8083296"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$391k</a:t>
            </a:r>
            <a:endParaRPr lang="en-US" sz="1100" dirty="0"/>
          </a:p>
        </p:txBody>
      </p:sp>
      <p:sp>
        <p:nvSpPr>
          <p:cNvPr id="89" name="Text 87"/>
          <p:cNvSpPr/>
          <p:nvPr/>
        </p:nvSpPr>
        <p:spPr>
          <a:xfrm>
            <a:off x="9107424" y="5870448"/>
            <a:ext cx="932688"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$1.10M</a:t>
            </a:r>
            <a:endParaRPr lang="en-US" sz="1100" dirty="0"/>
          </a:p>
        </p:txBody>
      </p:sp>
      <p:sp>
        <p:nvSpPr>
          <p:cNvPr id="90" name="Text 88"/>
          <p:cNvSpPr/>
          <p:nvPr/>
        </p:nvSpPr>
        <p:spPr>
          <a:xfrm>
            <a:off x="10131552" y="5870448"/>
            <a:ext cx="932688" cy="420624"/>
          </a:xfrm>
          <a:prstGeom prst="rect">
            <a:avLst/>
          </a:prstGeom>
          <a:noFill/>
          <a:ln/>
        </p:spPr>
        <p:txBody>
          <a:bodyPr wrap="square" lIns="0" tIns="0" rIns="0" bIns="0" rtlCol="0" anchor="ctr"/>
          <a:lstStyle/>
          <a:p>
            <a:pPr algn="ctr" indent="0" marL="0">
              <a:buNone/>
            </a:pPr>
            <a:r>
              <a:rPr lang="en-US" sz="1100" b="1" dirty="0">
                <a:solidFill>
                  <a:srgbClr val="F0B429"/>
                </a:solidFill>
                <a:latin typeface="Calibri" pitchFamily="34" charset="0"/>
                <a:ea typeface="Calibri" pitchFamily="34" charset="-122"/>
                <a:cs typeface="Calibri" pitchFamily="34" charset="-120"/>
              </a:rPr>
              <a:t>$2.26M</a:t>
            </a:r>
            <a:endParaRPr lang="en-US" sz="1100" dirty="0"/>
          </a:p>
        </p:txBody>
      </p:sp>
      <p:sp>
        <p:nvSpPr>
          <p:cNvPr id="91" name="Shape 89"/>
          <p:cNvSpPr/>
          <p:nvPr/>
        </p:nvSpPr>
        <p:spPr>
          <a:xfrm>
            <a:off x="640080" y="6345936"/>
            <a:ext cx="10607040" cy="402336"/>
          </a:xfrm>
          <a:prstGeom prst="roundRect">
            <a:avLst>
              <a:gd name="adj" fmla="val 22727"/>
            </a:avLst>
          </a:prstGeom>
          <a:solidFill>
            <a:srgbClr val="E8F4EC"/>
          </a:solidFill>
          <a:ln/>
        </p:spPr>
      </p:sp>
      <p:sp>
        <p:nvSpPr>
          <p:cNvPr id="92" name="Text 90"/>
          <p:cNvSpPr/>
          <p:nvPr/>
        </p:nvSpPr>
        <p:spPr>
          <a:xfrm>
            <a:off x="877824" y="6345936"/>
            <a:ext cx="10149840" cy="402336"/>
          </a:xfrm>
          <a:prstGeom prst="rect">
            <a:avLst/>
          </a:prstGeom>
          <a:noFill/>
          <a:ln/>
        </p:spPr>
        <p:txBody>
          <a:bodyPr wrap="square" lIns="0" tIns="0" rIns="0" bIns="0" rtlCol="0" anchor="ctr"/>
          <a:lstStyle/>
          <a:p>
            <a:pPr indent="0" marL="0">
              <a:lnSpc>
                <a:spcPts val="1150"/>
              </a:lnSpc>
              <a:buNone/>
            </a:pPr>
            <a:r>
              <a:rPr lang="en-US" sz="950" b="1" dirty="0">
                <a:solidFill>
                  <a:srgbClr val="1F4A33"/>
                </a:solidFill>
                <a:latin typeface="Calibri" pitchFamily="34" charset="0"/>
                <a:ea typeface="Calibri" pitchFamily="34" charset="-122"/>
                <a:cs typeface="Calibri" pitchFamily="34" charset="-120"/>
              </a:rPr>
              <a:t>Why this cannot produce a loss:  </a:t>
            </a:r>
            <a:pPr indent="0" marL="0">
              <a:lnSpc>
                <a:spcPts val="1150"/>
              </a:lnSpc>
              <a:buNone/>
            </a:pPr>
            <a:r>
              <a:rPr lang="en-US" sz="950" dirty="0">
                <a:solidFill>
                  <a:srgbClr val="1F4A33"/>
                </a:solidFill>
                <a:latin typeface="Calibri" pitchFamily="34" charset="0"/>
                <a:ea typeface="Calibri" pitchFamily="34" charset="-122"/>
                <a:cs typeface="Calibri" pitchFamily="34" charset="-120"/>
              </a:rPr>
              <a:t>the rule-driven lines sum to 33.9% of revenue plus 50% of cohort and 55% of physical revenue — about 42% blended. The only way to lose money is for the two fixed lines, People and G&amp;A, to exceed the remaining 58%. Both are set annually, in arrears, from revenue already banked.</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SUMMARY · STRESS TESTED</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Five-year P&amp;L, and what breaks it</a:t>
            </a:r>
            <a:endParaRPr lang="en-US" sz="2900" dirty="0"/>
          </a:p>
        </p:txBody>
      </p:sp>
      <p:sp>
        <p:nvSpPr>
          <p:cNvPr id="4" name="Shape 2"/>
          <p:cNvSpPr/>
          <p:nvPr/>
        </p:nvSpPr>
        <p:spPr>
          <a:xfrm>
            <a:off x="512064" y="1371600"/>
            <a:ext cx="9509760" cy="274320"/>
          </a:xfrm>
          <a:prstGeom prst="roundRect">
            <a:avLst>
              <a:gd name="adj" fmla="val 30000"/>
            </a:avLst>
          </a:prstGeom>
          <a:solidFill>
            <a:srgbClr val="6C4FE0"/>
          </a:solidFill>
          <a:ln/>
        </p:spPr>
      </p:sp>
      <p:sp>
        <p:nvSpPr>
          <p:cNvPr id="5" name="Text 3"/>
          <p:cNvSpPr/>
          <p:nvPr/>
        </p:nvSpPr>
        <p:spPr>
          <a:xfrm>
            <a:off x="694944" y="137160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BASE CASE — 4 / 18 / 52 / 115 / 195 per week</a:t>
            </a:r>
            <a:endParaRPr lang="en-US" sz="950" dirty="0"/>
          </a:p>
        </p:txBody>
      </p:sp>
      <p:sp>
        <p:nvSpPr>
          <p:cNvPr id="6" name="Text 4"/>
          <p:cNvSpPr/>
          <p:nvPr/>
        </p:nvSpPr>
        <p:spPr>
          <a:xfrm>
            <a:off x="379476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7" name="Text 5"/>
          <p:cNvSpPr/>
          <p:nvPr/>
        </p:nvSpPr>
        <p:spPr>
          <a:xfrm>
            <a:off x="502920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8" name="Text 6"/>
          <p:cNvSpPr/>
          <p:nvPr/>
        </p:nvSpPr>
        <p:spPr>
          <a:xfrm>
            <a:off x="626364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9" name="Text 7"/>
          <p:cNvSpPr/>
          <p:nvPr/>
        </p:nvSpPr>
        <p:spPr>
          <a:xfrm>
            <a:off x="749808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10" name="Text 8"/>
          <p:cNvSpPr/>
          <p:nvPr/>
        </p:nvSpPr>
        <p:spPr>
          <a:xfrm>
            <a:off x="8732520" y="137160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11" name="Text 9"/>
          <p:cNvSpPr/>
          <p:nvPr/>
        </p:nvSpPr>
        <p:spPr>
          <a:xfrm>
            <a:off x="640080" y="166420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12" name="Text 10"/>
          <p:cNvSpPr/>
          <p:nvPr/>
        </p:nvSpPr>
        <p:spPr>
          <a:xfrm>
            <a:off x="379476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208</a:t>
            </a:r>
            <a:endParaRPr lang="en-US" sz="1000" dirty="0"/>
          </a:p>
        </p:txBody>
      </p:sp>
      <p:sp>
        <p:nvSpPr>
          <p:cNvPr id="13" name="Text 11"/>
          <p:cNvSpPr/>
          <p:nvPr/>
        </p:nvSpPr>
        <p:spPr>
          <a:xfrm>
            <a:off x="502920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1,082</a:t>
            </a:r>
            <a:endParaRPr lang="en-US" sz="1000" dirty="0"/>
          </a:p>
        </p:txBody>
      </p:sp>
      <p:sp>
        <p:nvSpPr>
          <p:cNvPr id="14" name="Text 12"/>
          <p:cNvSpPr/>
          <p:nvPr/>
        </p:nvSpPr>
        <p:spPr>
          <a:xfrm>
            <a:off x="626364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3,461</a:t>
            </a:r>
            <a:endParaRPr lang="en-US" sz="1000" dirty="0"/>
          </a:p>
        </p:txBody>
      </p:sp>
      <p:sp>
        <p:nvSpPr>
          <p:cNvPr id="15" name="Text 13"/>
          <p:cNvSpPr/>
          <p:nvPr/>
        </p:nvSpPr>
        <p:spPr>
          <a:xfrm>
            <a:off x="749808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8,403</a:t>
            </a:r>
            <a:endParaRPr lang="en-US" sz="1000" dirty="0"/>
          </a:p>
        </p:txBody>
      </p:sp>
      <p:sp>
        <p:nvSpPr>
          <p:cNvPr id="16" name="Text 14"/>
          <p:cNvSpPr/>
          <p:nvPr/>
        </p:nvSpPr>
        <p:spPr>
          <a:xfrm>
            <a:off x="8732520" y="166420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16.0k</a:t>
            </a:r>
            <a:endParaRPr lang="en-US" sz="1000" dirty="0"/>
          </a:p>
        </p:txBody>
      </p:sp>
      <p:sp>
        <p:nvSpPr>
          <p:cNvPr id="17" name="Text 15"/>
          <p:cNvSpPr/>
          <p:nvPr/>
        </p:nvSpPr>
        <p:spPr>
          <a:xfrm>
            <a:off x="640080" y="199339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18" name="Text 16"/>
          <p:cNvSpPr/>
          <p:nvPr/>
        </p:nvSpPr>
        <p:spPr>
          <a:xfrm>
            <a:off x="379476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$26k</a:t>
            </a:r>
            <a:endParaRPr lang="en-US" sz="1100" dirty="0"/>
          </a:p>
        </p:txBody>
      </p:sp>
      <p:sp>
        <p:nvSpPr>
          <p:cNvPr id="19" name="Text 17"/>
          <p:cNvSpPr/>
          <p:nvPr/>
        </p:nvSpPr>
        <p:spPr>
          <a:xfrm>
            <a:off x="502920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$159k</a:t>
            </a:r>
            <a:endParaRPr lang="en-US" sz="1100" dirty="0"/>
          </a:p>
        </p:txBody>
      </p:sp>
      <p:sp>
        <p:nvSpPr>
          <p:cNvPr id="20" name="Text 18"/>
          <p:cNvSpPr/>
          <p:nvPr/>
        </p:nvSpPr>
        <p:spPr>
          <a:xfrm>
            <a:off x="626364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$601k</a:t>
            </a:r>
            <a:endParaRPr lang="en-US" sz="1100" dirty="0"/>
          </a:p>
        </p:txBody>
      </p:sp>
      <p:sp>
        <p:nvSpPr>
          <p:cNvPr id="21" name="Text 19"/>
          <p:cNvSpPr/>
          <p:nvPr/>
        </p:nvSpPr>
        <p:spPr>
          <a:xfrm>
            <a:off x="749808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$1.55M</a:t>
            </a:r>
            <a:endParaRPr lang="en-US" sz="1100" dirty="0"/>
          </a:p>
        </p:txBody>
      </p:sp>
      <p:sp>
        <p:nvSpPr>
          <p:cNvPr id="22" name="Text 20"/>
          <p:cNvSpPr/>
          <p:nvPr/>
        </p:nvSpPr>
        <p:spPr>
          <a:xfrm>
            <a:off x="8732520" y="199339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$3.09M</a:t>
            </a:r>
            <a:endParaRPr lang="en-US" sz="1100" dirty="0"/>
          </a:p>
        </p:txBody>
      </p:sp>
      <p:sp>
        <p:nvSpPr>
          <p:cNvPr id="23" name="Text 21"/>
          <p:cNvSpPr/>
          <p:nvPr/>
        </p:nvSpPr>
        <p:spPr>
          <a:xfrm>
            <a:off x="640080" y="232257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24" name="Text 22"/>
          <p:cNvSpPr/>
          <p:nvPr/>
        </p:nvSpPr>
        <p:spPr>
          <a:xfrm>
            <a:off x="379476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$19k</a:t>
            </a:r>
            <a:endParaRPr lang="en-US" sz="1000" dirty="0"/>
          </a:p>
        </p:txBody>
      </p:sp>
      <p:sp>
        <p:nvSpPr>
          <p:cNvPr id="25" name="Text 23"/>
          <p:cNvSpPr/>
          <p:nvPr/>
        </p:nvSpPr>
        <p:spPr>
          <a:xfrm>
            <a:off x="502920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$106k</a:t>
            </a:r>
            <a:endParaRPr lang="en-US" sz="1000" dirty="0"/>
          </a:p>
        </p:txBody>
      </p:sp>
      <p:sp>
        <p:nvSpPr>
          <p:cNvPr id="26" name="Text 24"/>
          <p:cNvSpPr/>
          <p:nvPr/>
        </p:nvSpPr>
        <p:spPr>
          <a:xfrm>
            <a:off x="626364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$391k</a:t>
            </a:r>
            <a:endParaRPr lang="en-US" sz="1000" dirty="0"/>
          </a:p>
        </p:txBody>
      </p:sp>
      <p:sp>
        <p:nvSpPr>
          <p:cNvPr id="27" name="Text 25"/>
          <p:cNvSpPr/>
          <p:nvPr/>
        </p:nvSpPr>
        <p:spPr>
          <a:xfrm>
            <a:off x="749808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$1.10M</a:t>
            </a:r>
            <a:endParaRPr lang="en-US" sz="1000" dirty="0"/>
          </a:p>
        </p:txBody>
      </p:sp>
      <p:sp>
        <p:nvSpPr>
          <p:cNvPr id="28" name="Text 26"/>
          <p:cNvSpPr/>
          <p:nvPr/>
        </p:nvSpPr>
        <p:spPr>
          <a:xfrm>
            <a:off x="8732520" y="232257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$2.26M</a:t>
            </a:r>
            <a:endParaRPr lang="en-US" sz="1000" dirty="0"/>
          </a:p>
        </p:txBody>
      </p:sp>
      <p:sp>
        <p:nvSpPr>
          <p:cNvPr id="29" name="Text 27"/>
          <p:cNvSpPr/>
          <p:nvPr/>
        </p:nvSpPr>
        <p:spPr>
          <a:xfrm>
            <a:off x="640080" y="265176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30" name="Text 28"/>
          <p:cNvSpPr/>
          <p:nvPr/>
        </p:nvSpPr>
        <p:spPr>
          <a:xfrm>
            <a:off x="379476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$7k</a:t>
            </a:r>
            <a:endParaRPr lang="en-US" sz="1100" dirty="0"/>
          </a:p>
        </p:txBody>
      </p:sp>
      <p:sp>
        <p:nvSpPr>
          <p:cNvPr id="31" name="Text 29"/>
          <p:cNvSpPr/>
          <p:nvPr/>
        </p:nvSpPr>
        <p:spPr>
          <a:xfrm>
            <a:off x="502920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$53k</a:t>
            </a:r>
            <a:endParaRPr lang="en-US" sz="1100" dirty="0"/>
          </a:p>
        </p:txBody>
      </p:sp>
      <p:sp>
        <p:nvSpPr>
          <p:cNvPr id="32" name="Text 30"/>
          <p:cNvSpPr/>
          <p:nvPr/>
        </p:nvSpPr>
        <p:spPr>
          <a:xfrm>
            <a:off x="626364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$210k</a:t>
            </a:r>
            <a:endParaRPr lang="en-US" sz="1100" dirty="0"/>
          </a:p>
        </p:txBody>
      </p:sp>
      <p:sp>
        <p:nvSpPr>
          <p:cNvPr id="33" name="Text 31"/>
          <p:cNvSpPr/>
          <p:nvPr/>
        </p:nvSpPr>
        <p:spPr>
          <a:xfrm>
            <a:off x="749808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$450k</a:t>
            </a:r>
            <a:endParaRPr lang="en-US" sz="1100" dirty="0"/>
          </a:p>
        </p:txBody>
      </p:sp>
      <p:sp>
        <p:nvSpPr>
          <p:cNvPr id="34" name="Text 32"/>
          <p:cNvSpPr/>
          <p:nvPr/>
        </p:nvSpPr>
        <p:spPr>
          <a:xfrm>
            <a:off x="8732520" y="265176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$829k</a:t>
            </a:r>
            <a:endParaRPr lang="en-US" sz="1100" dirty="0"/>
          </a:p>
        </p:txBody>
      </p:sp>
      <p:sp>
        <p:nvSpPr>
          <p:cNvPr id="35" name="Shape 33"/>
          <p:cNvSpPr/>
          <p:nvPr/>
        </p:nvSpPr>
        <p:spPr>
          <a:xfrm>
            <a:off x="512064" y="3017520"/>
            <a:ext cx="9509760" cy="274320"/>
          </a:xfrm>
          <a:prstGeom prst="roundRect">
            <a:avLst>
              <a:gd name="adj" fmla="val 30000"/>
            </a:avLst>
          </a:prstGeom>
          <a:solidFill>
            <a:srgbClr val="178A4C"/>
          </a:solidFill>
          <a:ln/>
        </p:spPr>
      </p:sp>
      <p:sp>
        <p:nvSpPr>
          <p:cNvPr id="36" name="Text 34"/>
          <p:cNvSpPr/>
          <p:nvPr/>
        </p:nvSpPr>
        <p:spPr>
          <a:xfrm>
            <a:off x="694944" y="3017520"/>
            <a:ext cx="3017520" cy="274320"/>
          </a:xfrm>
          <a:prstGeom prst="rect">
            <a:avLst/>
          </a:prstGeom>
          <a:noFill/>
          <a:ln/>
        </p:spPr>
        <p:txBody>
          <a:bodyPr wrap="square" lIns="0" tIns="0" rIns="0" bIns="0" rtlCol="0" anchor="ctr"/>
          <a:lstStyle/>
          <a:p>
            <a:pPr indent="0" marL="0">
              <a:buNone/>
            </a:pPr>
            <a:r>
              <a:rPr lang="en-US" sz="950" b="1" spc="160" kern="0" dirty="0">
                <a:solidFill>
                  <a:srgbClr val="FFFFFF"/>
                </a:solidFill>
                <a:latin typeface="Calibri" pitchFamily="34" charset="0"/>
                <a:ea typeface="Calibri" pitchFamily="34" charset="-122"/>
                <a:cs typeface="Calibri" pitchFamily="34" charset="-120"/>
              </a:rPr>
              <a:t>AGGRESSIVE CASE — 6 / 30 / 90 / 200 / 340 per week</a:t>
            </a:r>
            <a:endParaRPr lang="en-US" sz="950" dirty="0"/>
          </a:p>
        </p:txBody>
      </p:sp>
      <p:sp>
        <p:nvSpPr>
          <p:cNvPr id="37" name="Text 35"/>
          <p:cNvSpPr/>
          <p:nvPr/>
        </p:nvSpPr>
        <p:spPr>
          <a:xfrm>
            <a:off x="379476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Y1</a:t>
            </a:r>
            <a:endParaRPr lang="en-US" sz="900" dirty="0"/>
          </a:p>
        </p:txBody>
      </p:sp>
      <p:sp>
        <p:nvSpPr>
          <p:cNvPr id="38" name="Text 36"/>
          <p:cNvSpPr/>
          <p:nvPr/>
        </p:nvSpPr>
        <p:spPr>
          <a:xfrm>
            <a:off x="502920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Y2</a:t>
            </a:r>
            <a:endParaRPr lang="en-US" sz="900" dirty="0"/>
          </a:p>
        </p:txBody>
      </p:sp>
      <p:sp>
        <p:nvSpPr>
          <p:cNvPr id="39" name="Text 37"/>
          <p:cNvSpPr/>
          <p:nvPr/>
        </p:nvSpPr>
        <p:spPr>
          <a:xfrm>
            <a:off x="626364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Y3</a:t>
            </a:r>
            <a:endParaRPr lang="en-US" sz="900" dirty="0"/>
          </a:p>
        </p:txBody>
      </p:sp>
      <p:sp>
        <p:nvSpPr>
          <p:cNvPr id="40" name="Text 38"/>
          <p:cNvSpPr/>
          <p:nvPr/>
        </p:nvSpPr>
        <p:spPr>
          <a:xfrm>
            <a:off x="749808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Y4</a:t>
            </a:r>
            <a:endParaRPr lang="en-US" sz="900" dirty="0"/>
          </a:p>
        </p:txBody>
      </p:sp>
      <p:sp>
        <p:nvSpPr>
          <p:cNvPr id="41" name="Text 39"/>
          <p:cNvSpPr/>
          <p:nvPr/>
        </p:nvSpPr>
        <p:spPr>
          <a:xfrm>
            <a:off x="8732520" y="3017520"/>
            <a:ext cx="11887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Y5</a:t>
            </a:r>
            <a:endParaRPr lang="en-US" sz="900" dirty="0"/>
          </a:p>
        </p:txBody>
      </p:sp>
      <p:sp>
        <p:nvSpPr>
          <p:cNvPr id="42" name="Text 40"/>
          <p:cNvSpPr/>
          <p:nvPr/>
        </p:nvSpPr>
        <p:spPr>
          <a:xfrm>
            <a:off x="640080" y="3310128"/>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Paying households</a:t>
            </a:r>
            <a:endParaRPr lang="en-US" sz="1050" dirty="0"/>
          </a:p>
        </p:txBody>
      </p:sp>
      <p:sp>
        <p:nvSpPr>
          <p:cNvPr id="43" name="Text 41"/>
          <p:cNvSpPr/>
          <p:nvPr/>
        </p:nvSpPr>
        <p:spPr>
          <a:xfrm>
            <a:off x="379476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312</a:t>
            </a:r>
            <a:endParaRPr lang="en-US" sz="1000" dirty="0"/>
          </a:p>
        </p:txBody>
      </p:sp>
      <p:sp>
        <p:nvSpPr>
          <p:cNvPr id="44" name="Text 42"/>
          <p:cNvSpPr/>
          <p:nvPr/>
        </p:nvSpPr>
        <p:spPr>
          <a:xfrm>
            <a:off x="502920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1,778</a:t>
            </a:r>
            <a:endParaRPr lang="en-US" sz="1000" dirty="0"/>
          </a:p>
        </p:txBody>
      </p:sp>
      <p:sp>
        <p:nvSpPr>
          <p:cNvPr id="45" name="Text 43"/>
          <p:cNvSpPr/>
          <p:nvPr/>
        </p:nvSpPr>
        <p:spPr>
          <a:xfrm>
            <a:off x="626364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5,925</a:t>
            </a:r>
            <a:endParaRPr lang="en-US" sz="1000" dirty="0"/>
          </a:p>
        </p:txBody>
      </p:sp>
      <p:sp>
        <p:nvSpPr>
          <p:cNvPr id="46" name="Text 44"/>
          <p:cNvSpPr/>
          <p:nvPr/>
        </p:nvSpPr>
        <p:spPr>
          <a:xfrm>
            <a:off x="749808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14.5k</a:t>
            </a:r>
            <a:endParaRPr lang="en-US" sz="1000" dirty="0"/>
          </a:p>
        </p:txBody>
      </p:sp>
      <p:sp>
        <p:nvSpPr>
          <p:cNvPr id="47" name="Text 45"/>
          <p:cNvSpPr/>
          <p:nvPr/>
        </p:nvSpPr>
        <p:spPr>
          <a:xfrm>
            <a:off x="8732520" y="3310128"/>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27.9k</a:t>
            </a:r>
            <a:endParaRPr lang="en-US" sz="1000" dirty="0"/>
          </a:p>
        </p:txBody>
      </p:sp>
      <p:sp>
        <p:nvSpPr>
          <p:cNvPr id="48" name="Text 46"/>
          <p:cNvSpPr/>
          <p:nvPr/>
        </p:nvSpPr>
        <p:spPr>
          <a:xfrm>
            <a:off x="640080" y="3639312"/>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Revenue</a:t>
            </a:r>
            <a:endParaRPr lang="en-US" sz="1150" dirty="0"/>
          </a:p>
        </p:txBody>
      </p:sp>
      <p:sp>
        <p:nvSpPr>
          <p:cNvPr id="49" name="Text 47"/>
          <p:cNvSpPr/>
          <p:nvPr/>
        </p:nvSpPr>
        <p:spPr>
          <a:xfrm>
            <a:off x="379476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$39k</a:t>
            </a:r>
            <a:endParaRPr lang="en-US" sz="1100" dirty="0"/>
          </a:p>
        </p:txBody>
      </p:sp>
      <p:sp>
        <p:nvSpPr>
          <p:cNvPr id="50" name="Text 48"/>
          <p:cNvSpPr/>
          <p:nvPr/>
        </p:nvSpPr>
        <p:spPr>
          <a:xfrm>
            <a:off x="502920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$257k</a:t>
            </a:r>
            <a:endParaRPr lang="en-US" sz="1100" dirty="0"/>
          </a:p>
        </p:txBody>
      </p:sp>
      <p:sp>
        <p:nvSpPr>
          <p:cNvPr id="51" name="Text 49"/>
          <p:cNvSpPr/>
          <p:nvPr/>
        </p:nvSpPr>
        <p:spPr>
          <a:xfrm>
            <a:off x="626364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$1.02M</a:t>
            </a:r>
            <a:endParaRPr lang="en-US" sz="1100" dirty="0"/>
          </a:p>
        </p:txBody>
      </p:sp>
      <p:sp>
        <p:nvSpPr>
          <p:cNvPr id="52" name="Text 50"/>
          <p:cNvSpPr/>
          <p:nvPr/>
        </p:nvSpPr>
        <p:spPr>
          <a:xfrm>
            <a:off x="749808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$2.68M</a:t>
            </a:r>
            <a:endParaRPr lang="en-US" sz="1100" dirty="0"/>
          </a:p>
        </p:txBody>
      </p:sp>
      <p:sp>
        <p:nvSpPr>
          <p:cNvPr id="53" name="Text 51"/>
          <p:cNvSpPr/>
          <p:nvPr/>
        </p:nvSpPr>
        <p:spPr>
          <a:xfrm>
            <a:off x="8732520" y="3639312"/>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$5.37M</a:t>
            </a:r>
            <a:endParaRPr lang="en-US" sz="1100" dirty="0"/>
          </a:p>
        </p:txBody>
      </p:sp>
      <p:sp>
        <p:nvSpPr>
          <p:cNvPr id="54" name="Text 52"/>
          <p:cNvSpPr/>
          <p:nvPr/>
        </p:nvSpPr>
        <p:spPr>
          <a:xfrm>
            <a:off x="640080" y="3968496"/>
            <a:ext cx="3017520" cy="29260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Operating cost</a:t>
            </a:r>
            <a:endParaRPr lang="en-US" sz="1050" dirty="0"/>
          </a:p>
        </p:txBody>
      </p:sp>
      <p:sp>
        <p:nvSpPr>
          <p:cNvPr id="55" name="Text 53"/>
          <p:cNvSpPr/>
          <p:nvPr/>
        </p:nvSpPr>
        <p:spPr>
          <a:xfrm>
            <a:off x="379476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$21k</a:t>
            </a:r>
            <a:endParaRPr lang="en-US" sz="1000" dirty="0"/>
          </a:p>
        </p:txBody>
      </p:sp>
      <p:sp>
        <p:nvSpPr>
          <p:cNvPr id="56" name="Text 54"/>
          <p:cNvSpPr/>
          <p:nvPr/>
        </p:nvSpPr>
        <p:spPr>
          <a:xfrm>
            <a:off x="502920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$142k</a:t>
            </a:r>
            <a:endParaRPr lang="en-US" sz="1000" dirty="0"/>
          </a:p>
        </p:txBody>
      </p:sp>
      <p:sp>
        <p:nvSpPr>
          <p:cNvPr id="57" name="Text 55"/>
          <p:cNvSpPr/>
          <p:nvPr/>
        </p:nvSpPr>
        <p:spPr>
          <a:xfrm>
            <a:off x="626364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$633k</a:t>
            </a:r>
            <a:endParaRPr lang="en-US" sz="1000" dirty="0"/>
          </a:p>
        </p:txBody>
      </p:sp>
      <p:sp>
        <p:nvSpPr>
          <p:cNvPr id="58" name="Text 56"/>
          <p:cNvSpPr/>
          <p:nvPr/>
        </p:nvSpPr>
        <p:spPr>
          <a:xfrm>
            <a:off x="749808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$1.82M</a:t>
            </a:r>
            <a:endParaRPr lang="en-US" sz="1000" dirty="0"/>
          </a:p>
        </p:txBody>
      </p:sp>
      <p:sp>
        <p:nvSpPr>
          <p:cNvPr id="59" name="Text 57"/>
          <p:cNvSpPr/>
          <p:nvPr/>
        </p:nvSpPr>
        <p:spPr>
          <a:xfrm>
            <a:off x="8732520" y="3968496"/>
            <a:ext cx="1188720" cy="292608"/>
          </a:xfrm>
          <a:prstGeom prst="rect">
            <a:avLst/>
          </a:prstGeom>
          <a:noFill/>
          <a:ln/>
        </p:spPr>
        <p:txBody>
          <a:bodyPr wrap="square" lIns="0" tIns="0" rIns="0" bIns="0" rtlCol="0" anchor="ctr"/>
          <a:lstStyle/>
          <a:p>
            <a:pPr algn="ctr" indent="0" marL="0">
              <a:buNone/>
            </a:pPr>
            <a:r>
              <a:rPr lang="en-US" sz="1000" dirty="0">
                <a:solidFill>
                  <a:srgbClr val="4A4360"/>
                </a:solidFill>
                <a:latin typeface="Calibri" pitchFamily="34" charset="0"/>
                <a:ea typeface="Calibri" pitchFamily="34" charset="-122"/>
                <a:cs typeface="Calibri" pitchFamily="34" charset="-120"/>
              </a:rPr>
              <a:t>$3.75M</a:t>
            </a:r>
            <a:endParaRPr lang="en-US" sz="1000" dirty="0"/>
          </a:p>
        </p:txBody>
      </p:sp>
      <p:sp>
        <p:nvSpPr>
          <p:cNvPr id="60" name="Text 58"/>
          <p:cNvSpPr/>
          <p:nvPr/>
        </p:nvSpPr>
        <p:spPr>
          <a:xfrm>
            <a:off x="640080" y="4297680"/>
            <a:ext cx="3017520" cy="292608"/>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EBITDA</a:t>
            </a:r>
            <a:endParaRPr lang="en-US" sz="1150" dirty="0"/>
          </a:p>
        </p:txBody>
      </p:sp>
      <p:sp>
        <p:nvSpPr>
          <p:cNvPr id="61" name="Text 59"/>
          <p:cNvSpPr/>
          <p:nvPr/>
        </p:nvSpPr>
        <p:spPr>
          <a:xfrm>
            <a:off x="379476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$18k</a:t>
            </a:r>
            <a:endParaRPr lang="en-US" sz="1100" dirty="0"/>
          </a:p>
        </p:txBody>
      </p:sp>
      <p:sp>
        <p:nvSpPr>
          <p:cNvPr id="62" name="Text 60"/>
          <p:cNvSpPr/>
          <p:nvPr/>
        </p:nvSpPr>
        <p:spPr>
          <a:xfrm>
            <a:off x="502920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$115k</a:t>
            </a:r>
            <a:endParaRPr lang="en-US" sz="1100" dirty="0"/>
          </a:p>
        </p:txBody>
      </p:sp>
      <p:sp>
        <p:nvSpPr>
          <p:cNvPr id="63" name="Text 61"/>
          <p:cNvSpPr/>
          <p:nvPr/>
        </p:nvSpPr>
        <p:spPr>
          <a:xfrm>
            <a:off x="626364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$387k</a:t>
            </a:r>
            <a:endParaRPr lang="en-US" sz="1100" dirty="0"/>
          </a:p>
        </p:txBody>
      </p:sp>
      <p:sp>
        <p:nvSpPr>
          <p:cNvPr id="64" name="Text 62"/>
          <p:cNvSpPr/>
          <p:nvPr/>
        </p:nvSpPr>
        <p:spPr>
          <a:xfrm>
            <a:off x="749808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$862k</a:t>
            </a:r>
            <a:endParaRPr lang="en-US" sz="1100" dirty="0"/>
          </a:p>
        </p:txBody>
      </p:sp>
      <p:sp>
        <p:nvSpPr>
          <p:cNvPr id="65" name="Text 63"/>
          <p:cNvSpPr/>
          <p:nvPr/>
        </p:nvSpPr>
        <p:spPr>
          <a:xfrm>
            <a:off x="8732520" y="4297680"/>
            <a:ext cx="1188720" cy="292608"/>
          </a:xfrm>
          <a:prstGeom prst="rect">
            <a:avLst/>
          </a:prstGeom>
          <a:noFill/>
          <a:ln/>
        </p:spPr>
        <p:txBody>
          <a:bodyPr wrap="square" lIns="0" tIns="0" rIns="0" bIns="0" rtlCol="0" anchor="ctr"/>
          <a:lstStyle/>
          <a:p>
            <a:pPr algn="ctr" indent="0" marL="0">
              <a:buNone/>
            </a:pPr>
            <a:r>
              <a:rPr lang="en-US" sz="1100" b="1" dirty="0">
                <a:solidFill>
                  <a:srgbClr val="241E33"/>
                </a:solidFill>
                <a:latin typeface="Calibri" pitchFamily="34" charset="0"/>
                <a:ea typeface="Calibri" pitchFamily="34" charset="-122"/>
                <a:cs typeface="Calibri" pitchFamily="34" charset="-120"/>
              </a:rPr>
              <a:t>$1.62M</a:t>
            </a:r>
            <a:endParaRPr lang="en-US" sz="1100" dirty="0"/>
          </a:p>
        </p:txBody>
      </p:sp>
      <p:sp>
        <p:nvSpPr>
          <p:cNvPr id="66" name="Shape 64"/>
          <p:cNvSpPr/>
          <p:nvPr/>
        </p:nvSpPr>
        <p:spPr>
          <a:xfrm>
            <a:off x="10076688" y="1371600"/>
            <a:ext cx="1243584" cy="3346704"/>
          </a:xfrm>
          <a:prstGeom prst="roundRect">
            <a:avLst>
              <a:gd name="adj" fmla="val 8824"/>
            </a:avLst>
          </a:prstGeom>
          <a:solidFill>
            <a:srgbClr val="E8F4EC"/>
          </a:solidFill>
          <a:ln/>
        </p:spPr>
      </p:sp>
      <p:sp>
        <p:nvSpPr>
          <p:cNvPr id="67" name="Text 65"/>
          <p:cNvSpPr/>
          <p:nvPr/>
        </p:nvSpPr>
        <p:spPr>
          <a:xfrm>
            <a:off x="10076688" y="1481328"/>
            <a:ext cx="1243584" cy="420624"/>
          </a:xfrm>
          <a:prstGeom prst="rect">
            <a:avLst/>
          </a:prstGeom>
          <a:noFill/>
          <a:ln/>
        </p:spPr>
        <p:txBody>
          <a:bodyPr wrap="square" lIns="0" tIns="0" rIns="0" bIns="0" rtlCol="0" anchor="ctr"/>
          <a:lstStyle/>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PEAK CASH</a:t>
            </a:r>
            <a:endParaRPr lang="en-US" sz="800" dirty="0"/>
          </a:p>
          <a:p>
            <a:pPr algn="ctr" indent="0" marL="0">
              <a:lnSpc>
                <a:spcPts val="1000"/>
              </a:lnSpc>
              <a:buNone/>
            </a:pPr>
            <a:r>
              <a:rPr lang="en-US" sz="800" b="1" dirty="0">
                <a:solidFill>
                  <a:srgbClr val="1F4A33"/>
                </a:solidFill>
                <a:latin typeface="Calibri" pitchFamily="34" charset="0"/>
                <a:ea typeface="Calibri" pitchFamily="34" charset="-122"/>
                <a:cs typeface="Calibri" pitchFamily="34" charset="-120"/>
              </a:rPr>
              <a:t>NEED</a:t>
            </a:r>
            <a:endParaRPr lang="en-US" sz="800" dirty="0"/>
          </a:p>
        </p:txBody>
      </p:sp>
      <p:sp>
        <p:nvSpPr>
          <p:cNvPr id="68" name="Text 66"/>
          <p:cNvSpPr/>
          <p:nvPr/>
        </p:nvSpPr>
        <p:spPr>
          <a:xfrm>
            <a:off x="10076688" y="1901952"/>
            <a:ext cx="1243584" cy="457200"/>
          </a:xfrm>
          <a:prstGeom prst="rect">
            <a:avLst/>
          </a:prstGeom>
          <a:noFill/>
          <a:ln/>
        </p:spPr>
        <p:txBody>
          <a:bodyPr wrap="square" lIns="0" tIns="0" rIns="0" bIns="0" rtlCol="0" anchor="ctr"/>
          <a:lstStyle/>
          <a:p>
            <a:pPr algn="ctr" indent="0" marL="0">
              <a:buNone/>
            </a:pPr>
            <a:r>
              <a:rPr lang="en-US" sz="2600" b="1" dirty="0">
                <a:solidFill>
                  <a:srgbClr val="178A4C"/>
                </a:solidFill>
                <a:latin typeface="Cambria" pitchFamily="34" charset="0"/>
                <a:ea typeface="Cambria" pitchFamily="34" charset="-122"/>
                <a:cs typeface="Cambria" pitchFamily="34" charset="-120"/>
              </a:rPr>
              <a:t>$0</a:t>
            </a:r>
            <a:endParaRPr lang="en-US" sz="2600" dirty="0"/>
          </a:p>
        </p:txBody>
      </p:sp>
      <p:sp>
        <p:nvSpPr>
          <p:cNvPr id="69" name="Text 67"/>
          <p:cNvSpPr/>
          <p:nvPr/>
        </p:nvSpPr>
        <p:spPr>
          <a:xfrm>
            <a:off x="10076688" y="2359152"/>
            <a:ext cx="1243584" cy="402336"/>
          </a:xfrm>
          <a:prstGeom prst="rect">
            <a:avLst/>
          </a:prstGeom>
          <a:noFill/>
          <a:ln/>
        </p:spPr>
        <p:txBody>
          <a:bodyPr wrap="square" lIns="0" tIns="0" rIns="0" bIns="0" rtlCol="0" anchor="ctr"/>
          <a:lstStyle/>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both cases,</a:t>
            </a:r>
            <a:endParaRPr lang="en-US" sz="800" dirty="0"/>
          </a:p>
          <a:p>
            <a:pPr algn="ctr" indent="0" marL="0">
              <a:lnSpc>
                <a:spcPts val="1000"/>
              </a:lnSpc>
              <a:buNone/>
            </a:pPr>
            <a:r>
              <a:rPr lang="en-US" sz="800" dirty="0">
                <a:solidFill>
                  <a:srgbClr val="1F4A33"/>
                </a:solidFill>
                <a:latin typeface="Calibri" pitchFamily="34" charset="0"/>
                <a:ea typeface="Calibri" pitchFamily="34" charset="-122"/>
                <a:cs typeface="Calibri" pitchFamily="34" charset="-120"/>
              </a:rPr>
              <a:t>in every month</a:t>
            </a:r>
            <a:endParaRPr lang="en-US" sz="800" dirty="0"/>
          </a:p>
        </p:txBody>
      </p:sp>
      <p:sp>
        <p:nvSpPr>
          <p:cNvPr id="70" name="Text 68"/>
          <p:cNvSpPr/>
          <p:nvPr/>
        </p:nvSpPr>
        <p:spPr>
          <a:xfrm>
            <a:off x="10076688" y="2889504"/>
            <a:ext cx="1243584" cy="219456"/>
          </a:xfrm>
          <a:prstGeom prst="rect">
            <a:avLst/>
          </a:prstGeom>
          <a:noFill/>
          <a:ln/>
        </p:spPr>
        <p:txBody>
          <a:bodyPr wrap="square" lIns="0" tIns="0" rIns="0" bIns="0" rtlCol="0" anchor="ctr"/>
          <a:lstStyle/>
          <a:p>
            <a:pPr algn="ctr" indent="0" marL="0">
              <a:buNone/>
            </a:pPr>
            <a:r>
              <a:rPr lang="en-US" sz="800" b="1" dirty="0">
                <a:solidFill>
                  <a:srgbClr val="1F4A33"/>
                </a:solidFill>
                <a:latin typeface="Calibri" pitchFamily="34" charset="0"/>
                <a:ea typeface="Calibri" pitchFamily="34" charset="-122"/>
                <a:cs typeface="Calibri" pitchFamily="34" charset="-120"/>
              </a:rPr>
              <a:t>BREAK-EVEN</a:t>
            </a:r>
            <a:endParaRPr lang="en-US" sz="800" dirty="0"/>
          </a:p>
        </p:txBody>
      </p:sp>
      <p:sp>
        <p:nvSpPr>
          <p:cNvPr id="71" name="Text 69"/>
          <p:cNvSpPr/>
          <p:nvPr/>
        </p:nvSpPr>
        <p:spPr>
          <a:xfrm>
            <a:off x="10076688" y="3108960"/>
            <a:ext cx="1243584" cy="310896"/>
          </a:xfrm>
          <a:prstGeom prst="rect">
            <a:avLst/>
          </a:prstGeom>
          <a:noFill/>
          <a:ln/>
        </p:spPr>
        <p:txBody>
          <a:bodyPr wrap="square" lIns="0" tIns="0" rIns="0" bIns="0" rtlCol="0" anchor="ctr"/>
          <a:lstStyle/>
          <a:p>
            <a:pPr algn="ctr" indent="0" marL="0">
              <a:buNone/>
            </a:pPr>
            <a:r>
              <a:rPr lang="en-US" sz="1700" b="1" dirty="0">
                <a:solidFill>
                  <a:srgbClr val="178A4C"/>
                </a:solidFill>
                <a:latin typeface="Cambria" pitchFamily="34" charset="0"/>
                <a:ea typeface="Cambria" pitchFamily="34" charset="-122"/>
                <a:cs typeface="Cambria" pitchFamily="34" charset="-120"/>
              </a:rPr>
              <a:t>Week 1</a:t>
            </a:r>
            <a:endParaRPr lang="en-US" sz="1700" dirty="0"/>
          </a:p>
        </p:txBody>
      </p:sp>
      <p:sp>
        <p:nvSpPr>
          <p:cNvPr id="72" name="Text 70"/>
          <p:cNvSpPr/>
          <p:nvPr/>
        </p:nvSpPr>
        <p:spPr>
          <a:xfrm>
            <a:off x="10076688" y="3529584"/>
            <a:ext cx="1243584" cy="274320"/>
          </a:xfrm>
          <a:prstGeom prst="rect">
            <a:avLst/>
          </a:prstGeom>
          <a:noFill/>
          <a:ln/>
        </p:spPr>
        <p:txBody>
          <a:bodyPr wrap="square" lIns="0" tIns="0" rIns="0" bIns="0" rtlCol="0" anchor="ctr"/>
          <a:lstStyle/>
          <a:p>
            <a:pPr algn="ctr" indent="0" marL="0">
              <a:buNone/>
            </a:pPr>
            <a:r>
              <a:rPr lang="en-US" sz="1300" b="1" dirty="0">
                <a:solidFill>
                  <a:srgbClr val="6C4FE0"/>
                </a:solidFill>
                <a:latin typeface="Cambria" pitchFamily="34" charset="0"/>
                <a:ea typeface="Cambria" pitchFamily="34" charset="-122"/>
                <a:cs typeface="Cambria" pitchFamily="34" charset="-120"/>
              </a:rPr>
              <a:t>27% / 30%</a:t>
            </a:r>
            <a:endParaRPr lang="en-US" sz="1300" dirty="0"/>
          </a:p>
        </p:txBody>
      </p:sp>
      <p:sp>
        <p:nvSpPr>
          <p:cNvPr id="73" name="Text 71"/>
          <p:cNvSpPr/>
          <p:nvPr/>
        </p:nvSpPr>
        <p:spPr>
          <a:xfrm>
            <a:off x="10076688" y="3803904"/>
            <a:ext cx="1243584" cy="329184"/>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Y5 EBITDA margin,</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 aggressive</a:t>
            </a:r>
            <a:endParaRPr lang="en-US" sz="750" dirty="0"/>
          </a:p>
        </p:txBody>
      </p:sp>
      <p:sp>
        <p:nvSpPr>
          <p:cNvPr id="74" name="Text 72"/>
          <p:cNvSpPr/>
          <p:nvPr/>
        </p:nvSpPr>
        <p:spPr>
          <a:xfrm>
            <a:off x="10076688" y="4169664"/>
            <a:ext cx="1243584" cy="292608"/>
          </a:xfrm>
          <a:prstGeom prst="rect">
            <a:avLst/>
          </a:prstGeom>
          <a:noFill/>
          <a:ln/>
        </p:spPr>
        <p:txBody>
          <a:bodyPr wrap="square" lIns="0" tIns="0" rIns="0" bIns="0" rtlCol="0" anchor="ctr"/>
          <a:lstStyle/>
          <a:p>
            <a:pPr algn="ctr" indent="0" marL="0">
              <a:buNone/>
            </a:pPr>
            <a:r>
              <a:rPr lang="en-US" sz="1400" b="1" dirty="0">
                <a:solidFill>
                  <a:srgbClr val="8A5B00"/>
                </a:solidFill>
                <a:latin typeface="Cambria" pitchFamily="34" charset="0"/>
                <a:ea typeface="Cambria" pitchFamily="34" charset="-122"/>
                <a:cs typeface="Cambria" pitchFamily="34" charset="-120"/>
              </a:rPr>
              <a:t>$1.55M</a:t>
            </a:r>
            <a:endParaRPr lang="en-US" sz="1400" dirty="0"/>
          </a:p>
        </p:txBody>
      </p:sp>
      <p:sp>
        <p:nvSpPr>
          <p:cNvPr id="75" name="Text 73"/>
          <p:cNvSpPr/>
          <p:nvPr/>
        </p:nvSpPr>
        <p:spPr>
          <a:xfrm>
            <a:off x="10076688" y="4443984"/>
            <a:ext cx="1243584" cy="310896"/>
          </a:xfrm>
          <a:prstGeom prst="rect">
            <a:avLst/>
          </a:prstGeom>
          <a:noFill/>
          <a:ln/>
        </p:spPr>
        <p:txBody>
          <a:bodyPr wrap="square" lIns="0" tIns="0" rIns="0" bIns="0" rtlCol="0" anchor="ctr"/>
          <a:lstStyle/>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cumulative EBITDA,</a:t>
            </a:r>
            <a:endParaRPr lang="en-US" sz="750" dirty="0"/>
          </a:p>
          <a:p>
            <a:pPr algn="ctr" indent="0" marL="0">
              <a:lnSpc>
                <a:spcPts val="900"/>
              </a:lnSpc>
              <a:buNone/>
            </a:pPr>
            <a:r>
              <a:rPr lang="en-US" sz="750" dirty="0">
                <a:solidFill>
                  <a:srgbClr val="7A7291"/>
                </a:solidFill>
                <a:latin typeface="Calibri" pitchFamily="34" charset="0"/>
                <a:ea typeface="Calibri" pitchFamily="34" charset="-122"/>
                <a:cs typeface="Calibri" pitchFamily="34" charset="-120"/>
              </a:rPr>
              <a:t>base, Y1–Y5</a:t>
            </a:r>
            <a:endParaRPr lang="en-US" sz="750" dirty="0"/>
          </a:p>
        </p:txBody>
      </p:sp>
      <p:sp>
        <p:nvSpPr>
          <p:cNvPr id="76" name="Text 74"/>
          <p:cNvSpPr/>
          <p:nvPr/>
        </p:nvSpPr>
        <p:spPr>
          <a:xfrm>
            <a:off x="640080" y="4828032"/>
            <a:ext cx="7315200" cy="292608"/>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Stress tests — none of them produce a loss, and that is the point</a:t>
            </a:r>
            <a:endParaRPr lang="en-US" sz="1450" dirty="0"/>
          </a:p>
        </p:txBody>
      </p:sp>
      <p:sp>
        <p:nvSpPr>
          <p:cNvPr id="77" name="Shape 75"/>
          <p:cNvSpPr/>
          <p:nvPr/>
        </p:nvSpPr>
        <p:spPr>
          <a:xfrm>
            <a:off x="640080" y="5193792"/>
            <a:ext cx="5074920" cy="603504"/>
          </a:xfrm>
          <a:prstGeom prst="roundRect">
            <a:avLst>
              <a:gd name="adj" fmla="val 15152"/>
            </a:avLst>
          </a:prstGeom>
          <a:solidFill>
            <a:srgbClr val="E8F4EC"/>
          </a:solidFill>
          <a:ln/>
        </p:spPr>
      </p:sp>
      <p:sp>
        <p:nvSpPr>
          <p:cNvPr id="78" name="Text 76"/>
          <p:cNvSpPr/>
          <p:nvPr/>
        </p:nvSpPr>
        <p:spPr>
          <a:xfrm>
            <a:off x="82296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We only ever hit 2 a week, not 4</a:t>
            </a:r>
            <a:endParaRPr lang="en-US" sz="1000" dirty="0"/>
          </a:p>
        </p:txBody>
      </p:sp>
      <p:sp>
        <p:nvSpPr>
          <p:cNvPr id="79" name="Text 77"/>
          <p:cNvSpPr/>
          <p:nvPr/>
        </p:nvSpPr>
        <p:spPr>
          <a:xfrm>
            <a:off x="82296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Year 1 revenue halves to $13k — and so do the four cost lines that are fractions of it. EBITDA stays positive at ~$1.5k. Slower, never underwater.</a:t>
            </a:r>
            <a:endParaRPr lang="en-US" sz="850" dirty="0"/>
          </a:p>
        </p:txBody>
      </p:sp>
      <p:sp>
        <p:nvSpPr>
          <p:cNvPr id="80" name="Shape 78"/>
          <p:cNvSpPr/>
          <p:nvPr/>
        </p:nvSpPr>
        <p:spPr>
          <a:xfrm>
            <a:off x="6035040" y="5193792"/>
            <a:ext cx="5074920" cy="603504"/>
          </a:xfrm>
          <a:prstGeom prst="roundRect">
            <a:avLst>
              <a:gd name="adj" fmla="val 15152"/>
            </a:avLst>
          </a:prstGeom>
          <a:solidFill>
            <a:srgbClr val="E8F4EC"/>
          </a:solidFill>
          <a:ln/>
        </p:spPr>
      </p:sp>
      <p:sp>
        <p:nvSpPr>
          <p:cNvPr id="81" name="Text 79"/>
          <p:cNvSpPr/>
          <p:nvPr/>
        </p:nvSpPr>
        <p:spPr>
          <a:xfrm>
            <a:off x="6217920" y="5230368"/>
            <a:ext cx="4709160" cy="219456"/>
          </a:xfrm>
          <a:prstGeom prst="rect">
            <a:avLst/>
          </a:prstGeom>
          <a:noFill/>
          <a:ln/>
        </p:spPr>
        <p:txBody>
          <a:bodyPr wrap="square" lIns="0" tIns="0" rIns="0" bIns="0" rtlCol="0" anchor="ctr"/>
          <a:lstStyle/>
          <a:p>
            <a:pPr indent="0" marL="0">
              <a:buNone/>
            </a:pPr>
            <a:r>
              <a:rPr lang="en-US" sz="1000" b="1" dirty="0">
                <a:solidFill>
                  <a:srgbClr val="1F4A33"/>
                </a:solidFill>
                <a:latin typeface="Calibri" pitchFamily="34" charset="0"/>
                <a:ea typeface="Calibri" pitchFamily="34" charset="-122"/>
                <a:cs typeface="Calibri" pitchFamily="34" charset="-120"/>
              </a:rPr>
              <a:t>Churn 30% → 45%</a:t>
            </a:r>
            <a:endParaRPr lang="en-US" sz="1000" dirty="0"/>
          </a:p>
        </p:txBody>
      </p:sp>
      <p:sp>
        <p:nvSpPr>
          <p:cNvPr id="82" name="Text 80"/>
          <p:cNvSpPr/>
          <p:nvPr/>
        </p:nvSpPr>
        <p:spPr>
          <a:xfrm>
            <a:off x="6217920" y="5440680"/>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1F4A33"/>
                </a:solidFill>
                <a:latin typeface="Calibri" pitchFamily="34" charset="0"/>
                <a:ea typeface="Calibri" pitchFamily="34" charset="-122"/>
                <a:cs typeface="Calibri" pitchFamily="34" charset="-120"/>
              </a:rPr>
              <a:t>LTV falls to $472 and Year 5 revenue drops about 21%. Costs fall with it. Margin holds within two points.</a:t>
            </a:r>
            <a:endParaRPr lang="en-US" sz="850" dirty="0"/>
          </a:p>
        </p:txBody>
      </p:sp>
      <p:sp>
        <p:nvSpPr>
          <p:cNvPr id="83" name="Shape 81"/>
          <p:cNvSpPr/>
          <p:nvPr/>
        </p:nvSpPr>
        <p:spPr>
          <a:xfrm>
            <a:off x="640080" y="5870448"/>
            <a:ext cx="5074920" cy="603504"/>
          </a:xfrm>
          <a:prstGeom prst="roundRect">
            <a:avLst>
              <a:gd name="adj" fmla="val 15152"/>
            </a:avLst>
          </a:prstGeom>
          <a:solidFill>
            <a:srgbClr val="FBF3E0"/>
          </a:solidFill>
          <a:ln/>
        </p:spPr>
      </p:sp>
      <p:sp>
        <p:nvSpPr>
          <p:cNvPr id="84" name="Text 82"/>
          <p:cNvSpPr/>
          <p:nvPr/>
        </p:nvSpPr>
        <p:spPr>
          <a:xfrm>
            <a:off x="82296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Bee Plus $149 → $99</a:t>
            </a:r>
            <a:endParaRPr lang="en-US" sz="1000" dirty="0"/>
          </a:p>
        </p:txBody>
      </p:sp>
      <p:sp>
        <p:nvSpPr>
          <p:cNvPr id="85" name="Text 83"/>
          <p:cNvSpPr/>
          <p:nvPr/>
        </p:nvSpPr>
        <p:spPr>
          <a:xfrm>
            <a:off x="82296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ARPU falls to $190. This is the one that genuinely hurts: Year 5 EBITDA roughly halves. The pricing decision IS the plan.</a:t>
            </a:r>
            <a:endParaRPr lang="en-US" sz="850" dirty="0"/>
          </a:p>
        </p:txBody>
      </p:sp>
      <p:sp>
        <p:nvSpPr>
          <p:cNvPr id="86" name="Shape 84"/>
          <p:cNvSpPr/>
          <p:nvPr/>
        </p:nvSpPr>
        <p:spPr>
          <a:xfrm>
            <a:off x="6035040" y="5870448"/>
            <a:ext cx="5074920" cy="603504"/>
          </a:xfrm>
          <a:prstGeom prst="roundRect">
            <a:avLst>
              <a:gd name="adj" fmla="val 15152"/>
            </a:avLst>
          </a:prstGeom>
          <a:solidFill>
            <a:srgbClr val="FBF3E0"/>
          </a:solidFill>
          <a:ln/>
        </p:spPr>
      </p:sp>
      <p:sp>
        <p:nvSpPr>
          <p:cNvPr id="87" name="Text 85"/>
          <p:cNvSpPr/>
          <p:nvPr/>
        </p:nvSpPr>
        <p:spPr>
          <a:xfrm>
            <a:off x="6217920" y="5907024"/>
            <a:ext cx="4709160" cy="219456"/>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India stalls entirely</a:t>
            </a:r>
            <a:endParaRPr lang="en-US" sz="1000" dirty="0"/>
          </a:p>
        </p:txBody>
      </p:sp>
      <p:sp>
        <p:nvSpPr>
          <p:cNvPr id="88" name="Text 86"/>
          <p:cNvSpPr/>
          <p:nvPr/>
        </p:nvSpPr>
        <p:spPr>
          <a:xfrm>
            <a:off x="6217920" y="6117336"/>
            <a:ext cx="4709160" cy="329184"/>
          </a:xfrm>
          <a:prstGeom prst="rect">
            <a:avLst/>
          </a:prstGeom>
          <a:noFill/>
          <a:ln/>
        </p:spPr>
        <p:txBody>
          <a:bodyPr wrap="square" lIns="0" tIns="0" rIns="0" bIns="0" rtlCol="0" anchor="ctr"/>
          <a:lstStyle/>
          <a:p>
            <a:pPr indent="0" marL="0">
              <a:lnSpc>
                <a:spcPts val="1050"/>
              </a:lnSpc>
              <a:buNone/>
            </a:pPr>
            <a:r>
              <a:rPr lang="en-US" sz="850" dirty="0">
                <a:solidFill>
                  <a:srgbClr val="8A5B00"/>
                </a:solidFill>
                <a:latin typeface="Calibri" pitchFamily="34" charset="0"/>
                <a:ea typeface="Calibri" pitchFamily="34" charset="-122"/>
                <a:cs typeface="Calibri" pitchFamily="34" charset="-120"/>
              </a:rPr>
              <a:t>Year 5 revenue −$830k, about 27% — but blended ARPU RISES to $250 and margin improves. India is volume, not profit.</a:t>
            </a:r>
            <a:endParaRPr lang="en-US" sz="850" dirty="0"/>
          </a:p>
        </p:txBody>
      </p:sp>
      <p:sp>
        <p:nvSpPr>
          <p:cNvPr id="89" name="Shape 87"/>
          <p:cNvSpPr/>
          <p:nvPr/>
        </p:nvSpPr>
        <p:spPr>
          <a:xfrm>
            <a:off x="640080" y="6583680"/>
            <a:ext cx="10607040" cy="274320"/>
          </a:xfrm>
          <a:prstGeom prst="roundRect">
            <a:avLst>
              <a:gd name="adj" fmla="val 26667"/>
            </a:avLst>
          </a:prstGeom>
          <a:solidFill>
            <a:srgbClr val="EFEBF8"/>
          </a:solidFill>
          <a:ln/>
        </p:spPr>
      </p:sp>
      <p:sp>
        <p:nvSpPr>
          <p:cNvPr id="90" name="Text 88"/>
          <p:cNvSpPr/>
          <p:nvPr/>
        </p:nvSpPr>
        <p:spPr>
          <a:xfrm>
            <a:off x="859536" y="6583680"/>
            <a:ext cx="10149840" cy="274320"/>
          </a:xfrm>
          <a:prstGeom prst="rect">
            <a:avLst/>
          </a:prstGeom>
          <a:noFill/>
          <a:ln/>
        </p:spPr>
        <p:txBody>
          <a:bodyPr wrap="square" lIns="0" tIns="0" rIns="0" bIns="0" rtlCol="0" anchor="ctr"/>
          <a:lstStyle/>
          <a:p>
            <a:pPr indent="0" marL="0">
              <a:buNone/>
            </a:pPr>
            <a:r>
              <a:rPr lang="en-US" sz="800" b="1" dirty="0">
                <a:solidFill>
                  <a:srgbClr val="4A4360"/>
                </a:solidFill>
                <a:latin typeface="Calibri" pitchFamily="34" charset="0"/>
                <a:ea typeface="Calibri" pitchFamily="34" charset="-122"/>
                <a:cs typeface="Calibri" pitchFamily="34" charset="-120"/>
              </a:rPr>
              <a:t>Assumptions:  </a:t>
            </a:r>
            <a:pPr indent="0" marL="0">
              <a:buNone/>
            </a:pPr>
            <a:r>
              <a:rPr lang="en-US" sz="800" dirty="0">
                <a:solidFill>
                  <a:srgbClr val="4A4360"/>
                </a:solidFill>
                <a:latin typeface="Calibri" pitchFamily="34" charset="0"/>
                <a:ea typeface="Calibri" pitchFamily="34" charset="-122"/>
                <a:cs typeface="Calibri" pitchFamily="34" charset="-120"/>
              </a:rPr>
              <a:t>ARPU $250 diaspora / $45 India, blended falling $250→$172 as India grows · churn 30% · annual upfront billing · paid media 18% of revenue, content 12%, mentors 50% of cohort, COGS 55% of physical, fees &amp; hosting 3.9% · founders unpaid to Y3 · cohorts from Y3 at $999. Computed by strategy/model.py, which asserts positive EBITDA in every year and in week one.</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ADDITIONAL OPPORTUNITIES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Six doors we have not opened</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None of this is in the five-year P&amp;L, and it should not be — the plan has to work without it. Each is ranked by RETURN ON UNLOCK, which is not the order of headline size.</a:t>
            </a:r>
            <a:endParaRPr lang="en-US" sz="1350" dirty="0"/>
          </a:p>
        </p:txBody>
      </p:sp>
      <p:sp>
        <p:nvSpPr>
          <p:cNvPr id="5" name="Text 3"/>
          <p:cNvSpPr/>
          <p:nvPr/>
        </p:nvSpPr>
        <p:spPr>
          <a:xfrm>
            <a:off x="356616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ANNUAL VALUE</a:t>
            </a:r>
            <a:endParaRPr lang="en-US" sz="750" dirty="0"/>
          </a:p>
        </p:txBody>
      </p:sp>
      <p:sp>
        <p:nvSpPr>
          <p:cNvPr id="6" name="Text 4"/>
          <p:cNvSpPr/>
          <p:nvPr/>
        </p:nvSpPr>
        <p:spPr>
          <a:xfrm>
            <a:off x="4663440" y="1956816"/>
            <a:ext cx="4663440" cy="237744"/>
          </a:xfrm>
          <a:prstGeom prst="rect">
            <a:avLst/>
          </a:prstGeom>
          <a:noFill/>
          <a:ln/>
        </p:spPr>
        <p:txBody>
          <a:bodyPr wrap="square" lIns="0" tIns="0" rIns="0" bIns="0" rtlCol="0" anchor="ctr"/>
          <a:lstStyle/>
          <a:p>
            <a:pPr algn="l" indent="0" marL="0">
              <a:buNone/>
            </a:pPr>
            <a:r>
              <a:rPr lang="en-US" sz="750" b="1" spc="110" kern="0" dirty="0">
                <a:solidFill>
                  <a:srgbClr val="4A31B0"/>
                </a:solidFill>
                <a:latin typeface="Calibri" pitchFamily="34" charset="0"/>
                <a:ea typeface="Calibri" pitchFamily="34" charset="-122"/>
                <a:cs typeface="Calibri" pitchFamily="34" charset="-120"/>
              </a:rPr>
              <a:t>WHAT IT TAKES TO UNLOCK</a:t>
            </a:r>
            <a:endParaRPr lang="en-US" sz="750" dirty="0"/>
          </a:p>
        </p:txBody>
      </p:sp>
      <p:sp>
        <p:nvSpPr>
          <p:cNvPr id="7" name="Text 5"/>
          <p:cNvSpPr/>
          <p:nvPr/>
        </p:nvSpPr>
        <p:spPr>
          <a:xfrm>
            <a:off x="9464040" y="1956816"/>
            <a:ext cx="914400" cy="237744"/>
          </a:xfrm>
          <a:prstGeom prst="rect">
            <a:avLst/>
          </a:prstGeom>
          <a:noFill/>
          <a:ln/>
        </p:spPr>
        <p:txBody>
          <a:bodyPr wrap="square" lIns="0" tIns="0" rIns="0" bIns="0" rtlCol="0" anchor="ctr"/>
          <a:lstStyle/>
          <a:p>
            <a:pPr algn="r" indent="0" marL="0">
              <a:buNone/>
            </a:pPr>
            <a:r>
              <a:rPr lang="en-US" sz="750" b="1" spc="110" kern="0" dirty="0">
                <a:solidFill>
                  <a:srgbClr val="4A31B0"/>
                </a:solidFill>
                <a:latin typeface="Calibri" pitchFamily="34" charset="0"/>
                <a:ea typeface="Calibri" pitchFamily="34" charset="-122"/>
                <a:cs typeface="Calibri" pitchFamily="34" charset="-120"/>
              </a:rPr>
              <a:t>UNLOCK COST</a:t>
            </a:r>
            <a:endParaRPr lang="en-US" sz="750" dirty="0"/>
          </a:p>
        </p:txBody>
      </p:sp>
      <p:sp>
        <p:nvSpPr>
          <p:cNvPr id="8" name="Text 6"/>
          <p:cNvSpPr/>
          <p:nvPr/>
        </p:nvSpPr>
        <p:spPr>
          <a:xfrm>
            <a:off x="10515600" y="1956816"/>
            <a:ext cx="868680" cy="237744"/>
          </a:xfrm>
          <a:prstGeom prst="rect">
            <a:avLst/>
          </a:prstGeom>
          <a:noFill/>
          <a:ln/>
        </p:spPr>
        <p:txBody>
          <a:bodyPr wrap="square" lIns="0" tIns="0" rIns="0" bIns="0" rtlCol="0" anchor="ctr"/>
          <a:lstStyle/>
          <a:p>
            <a:pPr algn="ctr" indent="0" marL="0">
              <a:buNone/>
            </a:pPr>
            <a:r>
              <a:rPr lang="en-US" sz="750" b="1" spc="110" kern="0" dirty="0">
                <a:solidFill>
                  <a:srgbClr val="4A31B0"/>
                </a:solidFill>
                <a:latin typeface="Calibri" pitchFamily="34" charset="0"/>
                <a:ea typeface="Calibri" pitchFamily="34" charset="-122"/>
                <a:cs typeface="Calibri" pitchFamily="34" charset="-120"/>
              </a:rPr>
              <a:t>RETURN</a:t>
            </a:r>
            <a:endParaRPr lang="en-US" sz="750" dirty="0"/>
          </a:p>
        </p:txBody>
      </p:sp>
      <p:sp>
        <p:nvSpPr>
          <p:cNvPr id="9" name="Shape 7"/>
          <p:cNvSpPr/>
          <p:nvPr/>
        </p:nvSpPr>
        <p:spPr>
          <a:xfrm>
            <a:off x="512064" y="2203704"/>
            <a:ext cx="10954512" cy="585216"/>
          </a:xfrm>
          <a:prstGeom prst="roundRect">
            <a:avLst>
              <a:gd name="adj" fmla="val 14063"/>
            </a:avLst>
          </a:prstGeom>
          <a:solidFill>
            <a:srgbClr val="EFEBF8"/>
          </a:solidFill>
          <a:ln/>
        </p:spPr>
      </p:sp>
      <p:sp>
        <p:nvSpPr>
          <p:cNvPr id="10" name="Shape 8"/>
          <p:cNvSpPr/>
          <p:nvPr/>
        </p:nvSpPr>
        <p:spPr>
          <a:xfrm rot="5400000">
            <a:off x="640080" y="2322576"/>
            <a:ext cx="219456" cy="219456"/>
          </a:xfrm>
          <a:prstGeom prst="hexagon">
            <a:avLst/>
          </a:prstGeom>
          <a:solidFill>
            <a:srgbClr val="178A4C"/>
          </a:solidFill>
          <a:ln/>
        </p:spPr>
      </p:sp>
      <p:sp>
        <p:nvSpPr>
          <p:cNvPr id="11" name="Text 9"/>
          <p:cNvSpPr/>
          <p:nvPr/>
        </p:nvSpPr>
        <p:spPr>
          <a:xfrm>
            <a:off x="950976" y="2212848"/>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Bee &amp; tutor networks</a:t>
            </a:r>
            <a:endParaRPr lang="en-US" sz="1150" dirty="0"/>
          </a:p>
        </p:txBody>
      </p:sp>
      <p:sp>
        <p:nvSpPr>
          <p:cNvPr id="12" name="Text 10"/>
          <p:cNvSpPr/>
          <p:nvPr/>
        </p:nvSpPr>
        <p:spPr>
          <a:xfrm>
            <a:off x="2852928" y="2231136"/>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13" name="Text 11"/>
          <p:cNvSpPr/>
          <p:nvPr/>
        </p:nvSpPr>
        <p:spPr>
          <a:xfrm>
            <a:off x="950976" y="2432304"/>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NSF and SASB chapters reach tens of thousands of exactly our families. 5,000 households at a $60 partner price.</a:t>
            </a:r>
            <a:endParaRPr lang="en-US" sz="750" dirty="0"/>
          </a:p>
        </p:txBody>
      </p:sp>
      <p:sp>
        <p:nvSpPr>
          <p:cNvPr id="14" name="Text 12"/>
          <p:cNvSpPr/>
          <p:nvPr/>
        </p:nvSpPr>
        <p:spPr>
          <a:xfrm>
            <a:off x="3566160" y="2249424"/>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$300k</a:t>
            </a:r>
            <a:endParaRPr lang="en-US" sz="1500" dirty="0"/>
          </a:p>
        </p:txBody>
      </p:sp>
      <p:sp>
        <p:nvSpPr>
          <p:cNvPr id="15" name="Text 13"/>
          <p:cNvSpPr/>
          <p:nvPr/>
        </p:nvSpPr>
        <p:spPr>
          <a:xfrm>
            <a:off x="4663440" y="2249424"/>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One relationship, a co-branded practice track, a revenue share. The app already ships NSF’s own 2026 word lists — we are not asking them to trust a stranger.</a:t>
            </a:r>
            <a:endParaRPr lang="en-US" sz="850" dirty="0"/>
          </a:p>
        </p:txBody>
      </p:sp>
      <p:sp>
        <p:nvSpPr>
          <p:cNvPr id="16" name="Text 14"/>
          <p:cNvSpPr/>
          <p:nvPr/>
        </p:nvSpPr>
        <p:spPr>
          <a:xfrm>
            <a:off x="9464040" y="2249424"/>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$5k</a:t>
            </a:r>
            <a:endParaRPr lang="en-US" sz="1100" dirty="0"/>
          </a:p>
        </p:txBody>
      </p:sp>
      <p:sp>
        <p:nvSpPr>
          <p:cNvPr id="17" name="Shape 15"/>
          <p:cNvSpPr/>
          <p:nvPr/>
        </p:nvSpPr>
        <p:spPr>
          <a:xfrm>
            <a:off x="10515600" y="2368296"/>
            <a:ext cx="868680" cy="256032"/>
          </a:xfrm>
          <a:prstGeom prst="roundRect">
            <a:avLst>
              <a:gd name="adj" fmla="val 50000"/>
            </a:avLst>
          </a:prstGeom>
          <a:solidFill>
            <a:srgbClr val="178A4C"/>
          </a:solidFill>
          <a:ln/>
        </p:spPr>
      </p:sp>
      <p:sp>
        <p:nvSpPr>
          <p:cNvPr id="18" name="Text 16"/>
          <p:cNvSpPr/>
          <p:nvPr/>
        </p:nvSpPr>
        <p:spPr>
          <a:xfrm>
            <a:off x="10515600" y="2368296"/>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60×</a:t>
            </a:r>
            <a:endParaRPr lang="en-US" sz="900" dirty="0"/>
          </a:p>
        </p:txBody>
      </p:sp>
      <p:sp>
        <p:nvSpPr>
          <p:cNvPr id="19" name="Shape 17"/>
          <p:cNvSpPr/>
          <p:nvPr/>
        </p:nvSpPr>
        <p:spPr>
          <a:xfrm rot="5400000">
            <a:off x="640080" y="2944368"/>
            <a:ext cx="219456" cy="219456"/>
          </a:xfrm>
          <a:prstGeom prst="hexagon">
            <a:avLst/>
          </a:prstGeom>
          <a:solidFill>
            <a:srgbClr val="178A4C"/>
          </a:solidFill>
          <a:ln/>
        </p:spPr>
      </p:sp>
      <p:sp>
        <p:nvSpPr>
          <p:cNvPr id="20" name="Text 18"/>
          <p:cNvSpPr/>
          <p:nvPr/>
        </p:nvSpPr>
        <p:spPr>
          <a:xfrm>
            <a:off x="950976" y="2834640"/>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Amazon KDP &amp; audiobook</a:t>
            </a:r>
            <a:endParaRPr lang="en-US" sz="1150" dirty="0"/>
          </a:p>
        </p:txBody>
      </p:sp>
      <p:sp>
        <p:nvSpPr>
          <p:cNvPr id="21" name="Text 19"/>
          <p:cNvSpPr/>
          <p:nvPr/>
        </p:nvSpPr>
        <p:spPr>
          <a:xfrm>
            <a:off x="2852928" y="2852928"/>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1</a:t>
            </a:r>
            <a:endParaRPr lang="en-US" sz="750" dirty="0"/>
          </a:p>
        </p:txBody>
      </p:sp>
      <p:sp>
        <p:nvSpPr>
          <p:cNvPr id="22" name="Text 20"/>
          <p:cNvSpPr/>
          <p:nvPr/>
        </p:nvSpPr>
        <p:spPr>
          <a:xfrm>
            <a:off x="950976" y="3054096"/>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23 volumes are already written, typeset and illustrated. 8,000 units a year at ~$4.50 net across the list.</a:t>
            </a:r>
            <a:endParaRPr lang="en-US" sz="750" dirty="0"/>
          </a:p>
        </p:txBody>
      </p:sp>
      <p:sp>
        <p:nvSpPr>
          <p:cNvPr id="23" name="Text 21"/>
          <p:cNvSpPr/>
          <p:nvPr/>
        </p:nvSpPr>
        <p:spPr>
          <a:xfrm>
            <a:off x="3566160" y="2871216"/>
            <a:ext cx="914400" cy="493776"/>
          </a:xfrm>
          <a:prstGeom prst="rect">
            <a:avLst/>
          </a:prstGeom>
          <a:noFill/>
          <a:ln/>
        </p:spPr>
        <p:txBody>
          <a:bodyPr wrap="square" lIns="0" tIns="0" rIns="0" bIns="0" rtlCol="0" anchor="ctr"/>
          <a:lstStyle/>
          <a:p>
            <a:pPr algn="r" indent="0" marL="0">
              <a:buNone/>
            </a:pPr>
            <a:r>
              <a:rPr lang="en-US" sz="1500" b="1" dirty="0">
                <a:solidFill>
                  <a:srgbClr val="178A4C"/>
                </a:solidFill>
                <a:latin typeface="Cambria" pitchFamily="34" charset="0"/>
                <a:ea typeface="Cambria" pitchFamily="34" charset="-122"/>
                <a:cs typeface="Cambria" pitchFamily="34" charset="-120"/>
              </a:rPr>
              <a:t>$45k</a:t>
            </a:r>
            <a:endParaRPr lang="en-US" sz="1500" dirty="0"/>
          </a:p>
        </p:txBody>
      </p:sp>
      <p:sp>
        <p:nvSpPr>
          <p:cNvPr id="24" name="Text 22"/>
          <p:cNvSpPr/>
          <p:nvPr/>
        </p:nvSpPr>
        <p:spPr>
          <a:xfrm>
            <a:off x="4663440" y="2871216"/>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ISBNs, print-ready covers, a KDP and ACX account. The audiobook narration can come off the TTS pipeline already built for the films.</a:t>
            </a:r>
            <a:endParaRPr lang="en-US" sz="850" dirty="0"/>
          </a:p>
        </p:txBody>
      </p:sp>
      <p:sp>
        <p:nvSpPr>
          <p:cNvPr id="25" name="Text 23"/>
          <p:cNvSpPr/>
          <p:nvPr/>
        </p:nvSpPr>
        <p:spPr>
          <a:xfrm>
            <a:off x="9464040" y="2871216"/>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$3k</a:t>
            </a:r>
            <a:endParaRPr lang="en-US" sz="1100" dirty="0"/>
          </a:p>
        </p:txBody>
      </p:sp>
      <p:sp>
        <p:nvSpPr>
          <p:cNvPr id="26" name="Shape 24"/>
          <p:cNvSpPr/>
          <p:nvPr/>
        </p:nvSpPr>
        <p:spPr>
          <a:xfrm>
            <a:off x="10515600" y="2990088"/>
            <a:ext cx="868680" cy="256032"/>
          </a:xfrm>
          <a:prstGeom prst="roundRect">
            <a:avLst>
              <a:gd name="adj" fmla="val 50000"/>
            </a:avLst>
          </a:prstGeom>
          <a:solidFill>
            <a:srgbClr val="178A4C"/>
          </a:solidFill>
          <a:ln/>
        </p:spPr>
      </p:sp>
      <p:sp>
        <p:nvSpPr>
          <p:cNvPr id="27" name="Text 25"/>
          <p:cNvSpPr/>
          <p:nvPr/>
        </p:nvSpPr>
        <p:spPr>
          <a:xfrm>
            <a:off x="10515600" y="2990088"/>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15×</a:t>
            </a:r>
            <a:endParaRPr lang="en-US" sz="900" dirty="0"/>
          </a:p>
        </p:txBody>
      </p:sp>
      <p:sp>
        <p:nvSpPr>
          <p:cNvPr id="28" name="Shape 26"/>
          <p:cNvSpPr/>
          <p:nvPr/>
        </p:nvSpPr>
        <p:spPr>
          <a:xfrm>
            <a:off x="512064" y="3447288"/>
            <a:ext cx="10954512" cy="585216"/>
          </a:xfrm>
          <a:prstGeom prst="roundRect">
            <a:avLst>
              <a:gd name="adj" fmla="val 14063"/>
            </a:avLst>
          </a:prstGeom>
          <a:solidFill>
            <a:srgbClr val="EFEBF8"/>
          </a:solidFill>
          <a:ln/>
        </p:spPr>
      </p:sp>
      <p:sp>
        <p:nvSpPr>
          <p:cNvPr id="29" name="Shape 27"/>
          <p:cNvSpPr/>
          <p:nvPr/>
        </p:nvSpPr>
        <p:spPr>
          <a:xfrm rot="5400000">
            <a:off x="640080" y="3566160"/>
            <a:ext cx="219456" cy="219456"/>
          </a:xfrm>
          <a:prstGeom prst="hexagon">
            <a:avLst/>
          </a:prstGeom>
          <a:solidFill>
            <a:srgbClr val="6C4FE0"/>
          </a:solidFill>
          <a:ln/>
        </p:spPr>
      </p:sp>
      <p:sp>
        <p:nvSpPr>
          <p:cNvPr id="30" name="Text 28"/>
          <p:cNvSpPr/>
          <p:nvPr/>
        </p:nvSpPr>
        <p:spPr>
          <a:xfrm>
            <a:off x="950976" y="3456432"/>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Employer learning benefit</a:t>
            </a:r>
            <a:endParaRPr lang="en-US" sz="1150" dirty="0"/>
          </a:p>
        </p:txBody>
      </p:sp>
      <p:sp>
        <p:nvSpPr>
          <p:cNvPr id="31" name="Text 29"/>
          <p:cNvSpPr/>
          <p:nvPr/>
        </p:nvSpPr>
        <p:spPr>
          <a:xfrm>
            <a:off x="2852928" y="3474720"/>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4</a:t>
            </a:r>
            <a:endParaRPr lang="en-US" sz="750" dirty="0"/>
          </a:p>
        </p:txBody>
      </p:sp>
      <p:sp>
        <p:nvSpPr>
          <p:cNvPr id="32" name="Text 30"/>
          <p:cNvSpPr/>
          <p:nvPr/>
        </p:nvSpPr>
        <p:spPr>
          <a:xfrm>
            <a:off x="950976" y="3675888"/>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Firms with large diaspora workforces already run family learning stipends. 4 employers × 200 families × $250.</a:t>
            </a:r>
            <a:endParaRPr lang="en-US" sz="750" dirty="0"/>
          </a:p>
        </p:txBody>
      </p:sp>
      <p:sp>
        <p:nvSpPr>
          <p:cNvPr id="33" name="Text 31"/>
          <p:cNvSpPr/>
          <p:nvPr/>
        </p:nvSpPr>
        <p:spPr>
          <a:xfrm>
            <a:off x="3566160" y="3493008"/>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$200k</a:t>
            </a:r>
            <a:endParaRPr lang="en-US" sz="1500" dirty="0"/>
          </a:p>
        </p:txBody>
      </p:sp>
      <p:sp>
        <p:nvSpPr>
          <p:cNvPr id="34" name="Text 32"/>
          <p:cNvSpPr/>
          <p:nvPr/>
        </p:nvSpPr>
        <p:spPr>
          <a:xfrm>
            <a:off x="4663440" y="3493008"/>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W-9, invoicing, an HR-facing one-pager and a named reference. SOC 2 becomes necessary above roughly ten employers, not before.</a:t>
            </a:r>
            <a:endParaRPr lang="en-US" sz="850" dirty="0"/>
          </a:p>
        </p:txBody>
      </p:sp>
      <p:sp>
        <p:nvSpPr>
          <p:cNvPr id="35" name="Text 33"/>
          <p:cNvSpPr/>
          <p:nvPr/>
        </p:nvSpPr>
        <p:spPr>
          <a:xfrm>
            <a:off x="9464040" y="3493008"/>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$15k</a:t>
            </a:r>
            <a:endParaRPr lang="en-US" sz="1100" dirty="0"/>
          </a:p>
        </p:txBody>
      </p:sp>
      <p:sp>
        <p:nvSpPr>
          <p:cNvPr id="36" name="Shape 34"/>
          <p:cNvSpPr/>
          <p:nvPr/>
        </p:nvSpPr>
        <p:spPr>
          <a:xfrm>
            <a:off x="10515600" y="3611880"/>
            <a:ext cx="868680" cy="256032"/>
          </a:xfrm>
          <a:prstGeom prst="roundRect">
            <a:avLst>
              <a:gd name="adj" fmla="val 50000"/>
            </a:avLst>
          </a:prstGeom>
          <a:solidFill>
            <a:srgbClr val="6C4FE0"/>
          </a:solidFill>
          <a:ln/>
        </p:spPr>
      </p:sp>
      <p:sp>
        <p:nvSpPr>
          <p:cNvPr id="37" name="Text 35"/>
          <p:cNvSpPr/>
          <p:nvPr/>
        </p:nvSpPr>
        <p:spPr>
          <a:xfrm>
            <a:off x="10515600" y="3611880"/>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13×</a:t>
            </a:r>
            <a:endParaRPr lang="en-US" sz="900" dirty="0"/>
          </a:p>
        </p:txBody>
      </p:sp>
      <p:sp>
        <p:nvSpPr>
          <p:cNvPr id="38" name="Shape 36"/>
          <p:cNvSpPr/>
          <p:nvPr/>
        </p:nvSpPr>
        <p:spPr>
          <a:xfrm rot="5400000">
            <a:off x="640080" y="4187952"/>
            <a:ext cx="219456" cy="219456"/>
          </a:xfrm>
          <a:prstGeom prst="hexagon">
            <a:avLst/>
          </a:prstGeom>
          <a:solidFill>
            <a:srgbClr val="6C4FE0"/>
          </a:solidFill>
          <a:ln/>
        </p:spPr>
      </p:sp>
      <p:sp>
        <p:nvSpPr>
          <p:cNvPr id="39" name="Text 37"/>
          <p:cNvSpPr/>
          <p:nvPr/>
        </p:nvSpPr>
        <p:spPr>
          <a:xfrm>
            <a:off x="950976" y="4078224"/>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Weekend &amp; heritage</a:t>
            </a:r>
            <a:endParaRPr lang="en-US" sz="1150" dirty="0"/>
          </a:p>
        </p:txBody>
      </p:sp>
      <p:sp>
        <p:nvSpPr>
          <p:cNvPr id="40" name="Text 38"/>
          <p:cNvSpPr/>
          <p:nvPr/>
        </p:nvSpPr>
        <p:spPr>
          <a:xfrm>
            <a:off x="2852928" y="4096512"/>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41" name="Text 39"/>
          <p:cNvSpPr/>
          <p:nvPr/>
        </p:nvSpPr>
        <p:spPr>
          <a:xfrm>
            <a:off x="950976" y="4297680"/>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Bhasha’s natural home. ~1,500 such schools in North America; 100 of them at a $500 site licence.</a:t>
            </a:r>
            <a:endParaRPr lang="en-US" sz="750" dirty="0"/>
          </a:p>
        </p:txBody>
      </p:sp>
      <p:sp>
        <p:nvSpPr>
          <p:cNvPr id="42" name="Text 40"/>
          <p:cNvSpPr/>
          <p:nvPr/>
        </p:nvSpPr>
        <p:spPr>
          <a:xfrm>
            <a:off x="3566160" y="4114800"/>
            <a:ext cx="914400" cy="493776"/>
          </a:xfrm>
          <a:prstGeom prst="rect">
            <a:avLst/>
          </a:prstGeom>
          <a:noFill/>
          <a:ln/>
        </p:spPr>
        <p:txBody>
          <a:bodyPr wrap="square" lIns="0" tIns="0" rIns="0" bIns="0" rtlCol="0" anchor="ctr"/>
          <a:lstStyle/>
          <a:p>
            <a:pPr algn="r" indent="0" marL="0">
              <a:buNone/>
            </a:pPr>
            <a:r>
              <a:rPr lang="en-US" sz="1500" b="1" dirty="0">
                <a:solidFill>
                  <a:srgbClr val="6C4FE0"/>
                </a:solidFill>
                <a:latin typeface="Cambria" pitchFamily="34" charset="0"/>
                <a:ea typeface="Cambria" pitchFamily="34" charset="-122"/>
                <a:cs typeface="Cambria" pitchFamily="34" charset="-120"/>
              </a:rPr>
              <a:t>$50k</a:t>
            </a:r>
            <a:endParaRPr lang="en-US" sz="1500" dirty="0"/>
          </a:p>
        </p:txBody>
      </p:sp>
      <p:sp>
        <p:nvSpPr>
          <p:cNvPr id="43" name="Text 41"/>
          <p:cNvSpPr/>
          <p:nvPr/>
        </p:nvSpPr>
        <p:spPr>
          <a:xfrm>
            <a:off x="4663440" y="4114800"/>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A teacher mode, printable packs and a 30-week scope cut to a Saturday-morning rhythm. No procurement, no privacy review — a head teacher decides.</a:t>
            </a:r>
            <a:endParaRPr lang="en-US" sz="850" dirty="0"/>
          </a:p>
        </p:txBody>
      </p:sp>
      <p:sp>
        <p:nvSpPr>
          <p:cNvPr id="44" name="Text 42"/>
          <p:cNvSpPr/>
          <p:nvPr/>
        </p:nvSpPr>
        <p:spPr>
          <a:xfrm>
            <a:off x="9464040" y="4114800"/>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$10k</a:t>
            </a:r>
            <a:endParaRPr lang="en-US" sz="1100" dirty="0"/>
          </a:p>
        </p:txBody>
      </p:sp>
      <p:sp>
        <p:nvSpPr>
          <p:cNvPr id="45" name="Shape 43"/>
          <p:cNvSpPr/>
          <p:nvPr/>
        </p:nvSpPr>
        <p:spPr>
          <a:xfrm>
            <a:off x="10515600" y="4233672"/>
            <a:ext cx="868680" cy="256032"/>
          </a:xfrm>
          <a:prstGeom prst="roundRect">
            <a:avLst>
              <a:gd name="adj" fmla="val 50000"/>
            </a:avLst>
          </a:prstGeom>
          <a:solidFill>
            <a:srgbClr val="6C4FE0"/>
          </a:solidFill>
          <a:ln/>
        </p:spPr>
      </p:sp>
      <p:sp>
        <p:nvSpPr>
          <p:cNvPr id="46" name="Text 44"/>
          <p:cNvSpPr/>
          <p:nvPr/>
        </p:nvSpPr>
        <p:spPr>
          <a:xfrm>
            <a:off x="10515600" y="4233672"/>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47" name="Shape 45"/>
          <p:cNvSpPr/>
          <p:nvPr/>
        </p:nvSpPr>
        <p:spPr>
          <a:xfrm>
            <a:off x="512064" y="4690872"/>
            <a:ext cx="10954512" cy="585216"/>
          </a:xfrm>
          <a:prstGeom prst="roundRect">
            <a:avLst>
              <a:gd name="adj" fmla="val 14063"/>
            </a:avLst>
          </a:prstGeom>
          <a:solidFill>
            <a:srgbClr val="EFEBF8"/>
          </a:solidFill>
          <a:ln/>
        </p:spPr>
      </p:sp>
      <p:sp>
        <p:nvSpPr>
          <p:cNvPr id="48" name="Shape 46"/>
          <p:cNvSpPr/>
          <p:nvPr/>
        </p:nvSpPr>
        <p:spPr>
          <a:xfrm rot="5400000">
            <a:off x="640080" y="4809744"/>
            <a:ext cx="219456" cy="219456"/>
          </a:xfrm>
          <a:prstGeom prst="hexagon">
            <a:avLst/>
          </a:prstGeom>
          <a:solidFill>
            <a:srgbClr val="F0B429"/>
          </a:solidFill>
          <a:ln/>
        </p:spPr>
      </p:sp>
      <p:sp>
        <p:nvSpPr>
          <p:cNvPr id="49" name="Text 47"/>
          <p:cNvSpPr/>
          <p:nvPr/>
        </p:nvSpPr>
        <p:spPr>
          <a:xfrm>
            <a:off x="950976" y="4700016"/>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Shopify — avatar merch</a:t>
            </a:r>
            <a:endParaRPr lang="en-US" sz="1150" dirty="0"/>
          </a:p>
        </p:txBody>
      </p:sp>
      <p:sp>
        <p:nvSpPr>
          <p:cNvPr id="50" name="Text 48"/>
          <p:cNvSpPr/>
          <p:nvPr/>
        </p:nvSpPr>
        <p:spPr>
          <a:xfrm>
            <a:off x="2852928" y="4718304"/>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2</a:t>
            </a:r>
            <a:endParaRPr lang="en-US" sz="750" dirty="0"/>
          </a:p>
        </p:txBody>
      </p:sp>
      <p:sp>
        <p:nvSpPr>
          <p:cNvPr id="51" name="Text 49"/>
          <p:cNvSpPr/>
          <p:nvPr/>
        </p:nvSpPr>
        <p:spPr>
          <a:xfrm>
            <a:off x="950976" y="4919472"/>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217 painted avatars already exist. 2,000 orders a year at a $32 average basket.</a:t>
            </a:r>
            <a:endParaRPr lang="en-US" sz="750" dirty="0"/>
          </a:p>
        </p:txBody>
      </p:sp>
      <p:sp>
        <p:nvSpPr>
          <p:cNvPr id="52" name="Text 50"/>
          <p:cNvSpPr/>
          <p:nvPr/>
        </p:nvSpPr>
        <p:spPr>
          <a:xfrm>
            <a:off x="3566160" y="4736592"/>
            <a:ext cx="914400" cy="493776"/>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$65k</a:t>
            </a:r>
            <a:endParaRPr lang="en-US" sz="1500" dirty="0"/>
          </a:p>
        </p:txBody>
      </p:sp>
      <p:sp>
        <p:nvSpPr>
          <p:cNvPr id="53" name="Text 51"/>
          <p:cNvSpPr/>
          <p:nvPr/>
        </p:nvSpPr>
        <p:spPr>
          <a:xfrm>
            <a:off x="4663440" y="4736592"/>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Store plus print-on-demand for tees and posters is cheap. Plushies are the expensive half: a real minimum order, sizes, returns.</a:t>
            </a:r>
            <a:endParaRPr lang="en-US" sz="850" dirty="0"/>
          </a:p>
        </p:txBody>
      </p:sp>
      <p:sp>
        <p:nvSpPr>
          <p:cNvPr id="54" name="Text 52"/>
          <p:cNvSpPr/>
          <p:nvPr/>
        </p:nvSpPr>
        <p:spPr>
          <a:xfrm>
            <a:off x="9464040" y="4736592"/>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$16k</a:t>
            </a:r>
            <a:endParaRPr lang="en-US" sz="1100" dirty="0"/>
          </a:p>
        </p:txBody>
      </p:sp>
      <p:sp>
        <p:nvSpPr>
          <p:cNvPr id="55" name="Shape 53"/>
          <p:cNvSpPr/>
          <p:nvPr/>
        </p:nvSpPr>
        <p:spPr>
          <a:xfrm>
            <a:off x="10515600" y="4855464"/>
            <a:ext cx="868680" cy="256032"/>
          </a:xfrm>
          <a:prstGeom prst="roundRect">
            <a:avLst>
              <a:gd name="adj" fmla="val 50000"/>
            </a:avLst>
          </a:prstGeom>
          <a:solidFill>
            <a:srgbClr val="F0B429"/>
          </a:solidFill>
          <a:ln/>
        </p:spPr>
      </p:sp>
      <p:sp>
        <p:nvSpPr>
          <p:cNvPr id="56" name="Text 54"/>
          <p:cNvSpPr/>
          <p:nvPr/>
        </p:nvSpPr>
        <p:spPr>
          <a:xfrm>
            <a:off x="10515600" y="4855464"/>
            <a:ext cx="868680" cy="256032"/>
          </a:xfrm>
          <a:prstGeom prst="rect">
            <a:avLst/>
          </a:prstGeom>
          <a:noFill/>
          <a:ln/>
        </p:spPr>
        <p:txBody>
          <a:bodyPr wrap="square" lIns="0" tIns="0" rIns="0" bIns="0" rtlCol="0" anchor="ctr"/>
          <a:lstStyle/>
          <a:p>
            <a:pPr algn="ctr" indent="0" marL="0">
              <a:buNone/>
            </a:pPr>
            <a:r>
              <a:rPr lang="en-US" sz="900" b="1" dirty="0">
                <a:solidFill>
                  <a:srgbClr val="241E33"/>
                </a:solidFill>
                <a:latin typeface="Calibri" pitchFamily="34" charset="0"/>
                <a:ea typeface="Calibri" pitchFamily="34" charset="-122"/>
                <a:cs typeface="Calibri" pitchFamily="34" charset="-120"/>
              </a:rPr>
              <a:t>4×</a:t>
            </a:r>
            <a:endParaRPr lang="en-US" sz="900" dirty="0"/>
          </a:p>
        </p:txBody>
      </p:sp>
      <p:sp>
        <p:nvSpPr>
          <p:cNvPr id="57" name="Shape 55"/>
          <p:cNvSpPr/>
          <p:nvPr/>
        </p:nvSpPr>
        <p:spPr>
          <a:xfrm rot="5400000">
            <a:off x="640080" y="5431536"/>
            <a:ext cx="219456" cy="219456"/>
          </a:xfrm>
          <a:prstGeom prst="hexagon">
            <a:avLst/>
          </a:prstGeom>
          <a:solidFill>
            <a:srgbClr val="C4453C"/>
          </a:solidFill>
          <a:ln/>
        </p:spPr>
      </p:sp>
      <p:sp>
        <p:nvSpPr>
          <p:cNvPr id="58" name="Text 56"/>
          <p:cNvSpPr/>
          <p:nvPr/>
        </p:nvSpPr>
        <p:spPr>
          <a:xfrm>
            <a:off x="950976" y="5321808"/>
            <a:ext cx="1874520" cy="237744"/>
          </a:xfrm>
          <a:prstGeom prst="rect">
            <a:avLst/>
          </a:prstGeom>
          <a:noFill/>
          <a:ln/>
        </p:spPr>
        <p:txBody>
          <a:bodyPr wrap="square" lIns="0" tIns="0" rIns="0" bIns="0" rtlCol="0" anchor="ctr"/>
          <a:lstStyle/>
          <a:p>
            <a:pPr indent="0" marL="0">
              <a:buNone/>
            </a:pPr>
            <a:r>
              <a:rPr lang="en-US" sz="1150" b="1" dirty="0">
                <a:solidFill>
                  <a:srgbClr val="241E33"/>
                </a:solidFill>
                <a:latin typeface="Cambria" pitchFamily="34" charset="0"/>
                <a:ea typeface="Cambria" pitchFamily="34" charset="-122"/>
                <a:cs typeface="Cambria" pitchFamily="34" charset="-120"/>
              </a:rPr>
              <a:t>School districts</a:t>
            </a:r>
            <a:endParaRPr lang="en-US" sz="1150" dirty="0"/>
          </a:p>
        </p:txBody>
      </p:sp>
      <p:sp>
        <p:nvSpPr>
          <p:cNvPr id="59" name="Text 57"/>
          <p:cNvSpPr/>
          <p:nvPr/>
        </p:nvSpPr>
        <p:spPr>
          <a:xfrm>
            <a:off x="2852928" y="5340096"/>
            <a:ext cx="640080" cy="201168"/>
          </a:xfrm>
          <a:prstGeom prst="rect">
            <a:avLst/>
          </a:prstGeom>
          <a:noFill/>
          <a:ln/>
        </p:spPr>
        <p:txBody>
          <a:bodyPr wrap="square" lIns="0" tIns="0" rIns="0" bIns="0" rtlCol="0" anchor="ctr"/>
          <a:lstStyle/>
          <a:p>
            <a:pPr algn="ctr" indent="0" marL="0">
              <a:buNone/>
            </a:pPr>
            <a:r>
              <a:rPr lang="en-US" sz="750" b="1" dirty="0">
                <a:solidFill>
                  <a:srgbClr val="7A7291"/>
                </a:solidFill>
                <a:latin typeface="Calibri" pitchFamily="34" charset="0"/>
                <a:ea typeface="Calibri" pitchFamily="34" charset="-122"/>
                <a:cs typeface="Calibri" pitchFamily="34" charset="-120"/>
              </a:rPr>
              <a:t>Year 3</a:t>
            </a:r>
            <a:endParaRPr lang="en-US" sz="750" dirty="0"/>
          </a:p>
        </p:txBody>
      </p:sp>
      <p:sp>
        <p:nvSpPr>
          <p:cNvPr id="60" name="Text 58"/>
          <p:cNvSpPr/>
          <p:nvPr/>
        </p:nvSpPr>
        <p:spPr>
          <a:xfrm>
            <a:off x="950976" y="5541264"/>
            <a:ext cx="2514600" cy="347472"/>
          </a:xfrm>
          <a:prstGeom prst="rect">
            <a:avLst/>
          </a:prstGeom>
          <a:noFill/>
          <a:ln/>
        </p:spPr>
        <p:txBody>
          <a:bodyPr wrap="square" lIns="0" tIns="0" rIns="0" bIns="0" rtlCol="0" anchor="ctr"/>
          <a:lstStyle/>
          <a:p>
            <a:pPr indent="0" marL="0">
              <a:lnSpc>
                <a:spcPts val="900"/>
              </a:lnSpc>
              <a:buNone/>
            </a:pPr>
            <a:r>
              <a:rPr lang="en-US" sz="750" dirty="0">
                <a:solidFill>
                  <a:srgbClr val="7A7291"/>
                </a:solidFill>
                <a:latin typeface="Calibri" pitchFamily="34" charset="0"/>
                <a:ea typeface="Calibri" pitchFamily="34" charset="-122"/>
                <a:cs typeface="Calibri" pitchFamily="34" charset="-120"/>
              </a:rPr>
              <a:t>Supplemental literacy licensing. 3 districts × ~10,000 students in band × $4 per student per year.</a:t>
            </a:r>
            <a:endParaRPr lang="en-US" sz="750" dirty="0"/>
          </a:p>
        </p:txBody>
      </p:sp>
      <p:sp>
        <p:nvSpPr>
          <p:cNvPr id="61" name="Text 59"/>
          <p:cNvSpPr/>
          <p:nvPr/>
        </p:nvSpPr>
        <p:spPr>
          <a:xfrm>
            <a:off x="3566160" y="5358384"/>
            <a:ext cx="914400" cy="493776"/>
          </a:xfrm>
          <a:prstGeom prst="rect">
            <a:avLst/>
          </a:prstGeom>
          <a:noFill/>
          <a:ln/>
        </p:spPr>
        <p:txBody>
          <a:bodyPr wrap="square" lIns="0" tIns="0" rIns="0" bIns="0" rtlCol="0" anchor="ctr"/>
          <a:lstStyle/>
          <a:p>
            <a:pPr algn="r" indent="0" marL="0">
              <a:buNone/>
            </a:pPr>
            <a:r>
              <a:rPr lang="en-US" sz="1500" b="1" dirty="0">
                <a:solidFill>
                  <a:srgbClr val="C4453C"/>
                </a:solidFill>
                <a:latin typeface="Cambria" pitchFamily="34" charset="0"/>
                <a:ea typeface="Cambria" pitchFamily="34" charset="-122"/>
                <a:cs typeface="Cambria" pitchFamily="34" charset="-120"/>
              </a:rPr>
              <a:t>$120k</a:t>
            </a:r>
            <a:endParaRPr lang="en-US" sz="1500" dirty="0"/>
          </a:p>
        </p:txBody>
      </p:sp>
      <p:sp>
        <p:nvSpPr>
          <p:cNvPr id="62" name="Text 60"/>
          <p:cNvSpPr/>
          <p:nvPr/>
        </p:nvSpPr>
        <p:spPr>
          <a:xfrm>
            <a:off x="4663440" y="5358384"/>
            <a:ext cx="4663440" cy="512064"/>
          </a:xfrm>
          <a:prstGeom prst="rect">
            <a:avLst/>
          </a:prstGeom>
          <a:noFill/>
          <a:ln/>
        </p:spPr>
        <p:txBody>
          <a:bodyPr wrap="square" lIns="0" tIns="0" rIns="0" bIns="0" rtlCol="0" anchor="ctr"/>
          <a:lstStyle/>
          <a:p>
            <a:pPr indent="0" marL="0">
              <a:lnSpc>
                <a:spcPts val="1050"/>
              </a:lnSpc>
              <a:buNone/>
            </a:pPr>
            <a:r>
              <a:rPr lang="en-US" sz="850" dirty="0">
                <a:solidFill>
                  <a:srgbClr val="4A4360"/>
                </a:solidFill>
                <a:latin typeface="Calibri" pitchFamily="34" charset="0"/>
                <a:ea typeface="Calibri" pitchFamily="34" charset="-122"/>
                <a:cs typeface="Calibri" pitchFamily="34" charset="-120"/>
              </a:rPr>
              <a:t>COPPA/FERPA compliance, an SDPC data agreement, Clever or ClassLink rostering, a teacher dashboard, and one pilot with real outcome data.</a:t>
            </a:r>
            <a:endParaRPr lang="en-US" sz="850" dirty="0"/>
          </a:p>
        </p:txBody>
      </p:sp>
      <p:sp>
        <p:nvSpPr>
          <p:cNvPr id="63" name="Text 61"/>
          <p:cNvSpPr/>
          <p:nvPr/>
        </p:nvSpPr>
        <p:spPr>
          <a:xfrm>
            <a:off x="9464040" y="5358384"/>
            <a:ext cx="914400" cy="493776"/>
          </a:xfrm>
          <a:prstGeom prst="rect">
            <a:avLst/>
          </a:prstGeom>
          <a:noFill/>
          <a:ln/>
        </p:spPr>
        <p:txBody>
          <a:bodyPr wrap="square" lIns="0" tIns="0" rIns="0" bIns="0" rtlCol="0" anchor="ctr"/>
          <a:lstStyle/>
          <a:p>
            <a:pPr algn="r" indent="0" marL="0">
              <a:buNone/>
            </a:pPr>
            <a:r>
              <a:rPr lang="en-US" sz="1100" dirty="0">
                <a:solidFill>
                  <a:srgbClr val="4A4360"/>
                </a:solidFill>
                <a:latin typeface="Calibri" pitchFamily="34" charset="0"/>
                <a:ea typeface="Calibri" pitchFamily="34" charset="-122"/>
                <a:cs typeface="Calibri" pitchFamily="34" charset="-120"/>
              </a:rPr>
              <a:t>$35k</a:t>
            </a:r>
            <a:endParaRPr lang="en-US" sz="1100" dirty="0"/>
          </a:p>
        </p:txBody>
      </p:sp>
      <p:sp>
        <p:nvSpPr>
          <p:cNvPr id="64" name="Shape 62"/>
          <p:cNvSpPr/>
          <p:nvPr/>
        </p:nvSpPr>
        <p:spPr>
          <a:xfrm>
            <a:off x="10515600" y="5477256"/>
            <a:ext cx="868680" cy="256032"/>
          </a:xfrm>
          <a:prstGeom prst="roundRect">
            <a:avLst>
              <a:gd name="adj" fmla="val 50000"/>
            </a:avLst>
          </a:prstGeom>
          <a:solidFill>
            <a:srgbClr val="C4453C"/>
          </a:solidFill>
          <a:ln/>
        </p:spPr>
      </p:sp>
      <p:sp>
        <p:nvSpPr>
          <p:cNvPr id="65" name="Text 63"/>
          <p:cNvSpPr/>
          <p:nvPr/>
        </p:nvSpPr>
        <p:spPr>
          <a:xfrm>
            <a:off x="10515600" y="5477256"/>
            <a:ext cx="86868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66" name="Shape 64"/>
          <p:cNvSpPr/>
          <p:nvPr/>
        </p:nvSpPr>
        <p:spPr>
          <a:xfrm>
            <a:off x="512064" y="5934456"/>
            <a:ext cx="10954512" cy="512064"/>
          </a:xfrm>
          <a:prstGeom prst="roundRect">
            <a:avLst>
              <a:gd name="adj" fmla="val 16071"/>
            </a:avLst>
          </a:prstGeom>
          <a:solidFill>
            <a:srgbClr val="241E33"/>
          </a:solidFill>
          <a:ln/>
        </p:spPr>
      </p:sp>
      <p:sp>
        <p:nvSpPr>
          <p:cNvPr id="67" name="Text 65"/>
          <p:cNvSpPr/>
          <p:nvPr/>
        </p:nvSpPr>
        <p:spPr>
          <a:xfrm>
            <a:off x="950976" y="5980176"/>
            <a:ext cx="2514600" cy="420624"/>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All six, fully open</a:t>
            </a:r>
            <a:endParaRPr lang="en-US" sz="1250" dirty="0"/>
          </a:p>
        </p:txBody>
      </p:sp>
      <p:sp>
        <p:nvSpPr>
          <p:cNvPr id="68" name="Text 66"/>
          <p:cNvSpPr/>
          <p:nvPr/>
        </p:nvSpPr>
        <p:spPr>
          <a:xfrm>
            <a:off x="3566160" y="5980176"/>
            <a:ext cx="914400" cy="420624"/>
          </a:xfrm>
          <a:prstGeom prst="rect">
            <a:avLst/>
          </a:prstGeom>
          <a:noFill/>
          <a:ln/>
        </p:spPr>
        <p:txBody>
          <a:bodyPr wrap="square" lIns="0" tIns="0" rIns="0" bIns="0" rtlCol="0" anchor="ctr"/>
          <a:lstStyle/>
          <a:p>
            <a:pPr algn="r" indent="0" marL="0">
              <a:buNone/>
            </a:pPr>
            <a:r>
              <a:rPr lang="en-US" sz="1500" b="1" dirty="0">
                <a:solidFill>
                  <a:srgbClr val="F0B429"/>
                </a:solidFill>
                <a:latin typeface="Cambria" pitchFamily="34" charset="0"/>
                <a:ea typeface="Cambria" pitchFamily="34" charset="-122"/>
                <a:cs typeface="Cambria" pitchFamily="34" charset="-120"/>
              </a:rPr>
              <a:t>$780k</a:t>
            </a:r>
            <a:endParaRPr lang="en-US" sz="1500" dirty="0"/>
          </a:p>
        </p:txBody>
      </p:sp>
      <p:sp>
        <p:nvSpPr>
          <p:cNvPr id="69" name="Text 67"/>
          <p:cNvSpPr/>
          <p:nvPr/>
        </p:nvSpPr>
        <p:spPr>
          <a:xfrm>
            <a:off x="4663440" y="5980176"/>
            <a:ext cx="4663440" cy="420624"/>
          </a:xfrm>
          <a:prstGeom prst="rect">
            <a:avLst/>
          </a:prstGeom>
          <a:noFill/>
          <a:ln/>
        </p:spPr>
        <p:txBody>
          <a:bodyPr wrap="square" lIns="0" tIns="0" rIns="0" bIns="0" rtlCol="0" anchor="ctr"/>
          <a:lstStyle/>
          <a:p>
            <a:pPr indent="0" marL="0">
              <a:buNone/>
            </a:pPr>
            <a:r>
              <a:rPr lang="en-US" sz="850" dirty="0">
                <a:solidFill>
                  <a:srgbClr val="E3DCF2"/>
                </a:solidFill>
                <a:latin typeface="Calibri" pitchFamily="34" charset="0"/>
                <a:ea typeface="Calibri" pitchFamily="34" charset="-122"/>
                <a:cs typeface="Calibri" pitchFamily="34" charset="-120"/>
              </a:rPr>
              <a:t>a year by Year 4 — roughly half of base-case Year 4 revenue, added to a business that already pays for itself without any of it.</a:t>
            </a:r>
            <a:endParaRPr lang="en-US" sz="850" dirty="0"/>
          </a:p>
        </p:txBody>
      </p:sp>
      <p:sp>
        <p:nvSpPr>
          <p:cNvPr id="70" name="Text 68"/>
          <p:cNvSpPr/>
          <p:nvPr/>
        </p:nvSpPr>
        <p:spPr>
          <a:xfrm>
            <a:off x="9464040" y="5980176"/>
            <a:ext cx="914400" cy="420624"/>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$84k</a:t>
            </a:r>
            <a:endParaRPr lang="en-US" sz="1100" dirty="0"/>
          </a:p>
        </p:txBody>
      </p:sp>
      <p:sp>
        <p:nvSpPr>
          <p:cNvPr id="71" name="Text 69"/>
          <p:cNvSpPr/>
          <p:nvPr/>
        </p:nvSpPr>
        <p:spPr>
          <a:xfrm>
            <a:off x="10515600" y="5980176"/>
            <a:ext cx="868680" cy="420624"/>
          </a:xfrm>
          <a:prstGeom prst="rect">
            <a:avLst/>
          </a:prstGeom>
          <a:noFill/>
          <a:ln/>
        </p:spPr>
        <p:txBody>
          <a:bodyPr wrap="square" lIns="0" tIns="0" rIns="0" bIns="0" rtlCol="0" anchor="ctr"/>
          <a:lstStyle/>
          <a:p>
            <a:pPr algn="ctr" indent="0" marL="0">
              <a:buNone/>
            </a:pPr>
            <a:r>
              <a:rPr lang="en-US" sz="1300" b="1" dirty="0">
                <a:solidFill>
                  <a:srgbClr val="F0B429"/>
                </a:solidFill>
                <a:latin typeface="Cambria" pitchFamily="34" charset="0"/>
                <a:ea typeface="Cambria" pitchFamily="34" charset="-122"/>
                <a:cs typeface="Cambria" pitchFamily="34" charset="-120"/>
              </a:rPr>
              <a:t>9×</a:t>
            </a:r>
            <a:endParaRPr lang="en-US" sz="1300" dirty="0"/>
          </a:p>
        </p:txBody>
      </p:sp>
      <p:sp>
        <p:nvSpPr>
          <p:cNvPr id="72" name="Shape 70"/>
          <p:cNvSpPr/>
          <p:nvPr/>
        </p:nvSpPr>
        <p:spPr>
          <a:xfrm>
            <a:off x="640080" y="6419088"/>
            <a:ext cx="10607040" cy="384048"/>
          </a:xfrm>
          <a:prstGeom prst="roundRect">
            <a:avLst>
              <a:gd name="adj" fmla="val 23810"/>
            </a:avLst>
          </a:prstGeom>
          <a:solidFill>
            <a:srgbClr val="E8F4EC"/>
          </a:solidFill>
          <a:ln/>
        </p:spPr>
      </p:sp>
      <p:sp>
        <p:nvSpPr>
          <p:cNvPr id="73" name="Text 71"/>
          <p:cNvSpPr/>
          <p:nvPr/>
        </p:nvSpPr>
        <p:spPr>
          <a:xfrm>
            <a:off x="877824" y="6419088"/>
            <a:ext cx="10149840" cy="384048"/>
          </a:xfrm>
          <a:prstGeom prst="rect">
            <a:avLst/>
          </a:prstGeom>
          <a:noFill/>
          <a:ln/>
        </p:spPr>
        <p:txBody>
          <a:bodyPr wrap="square" lIns="0" tIns="0" rIns="0" bIns="0" rtlCol="0" anchor="ctr"/>
          <a:lstStyle/>
          <a:p>
            <a:pPr indent="0" marL="0">
              <a:lnSpc>
                <a:spcPts val="1100"/>
              </a:lnSpc>
              <a:buNone/>
            </a:pPr>
            <a:r>
              <a:rPr lang="en-US" sz="900" b="1" dirty="0">
                <a:solidFill>
                  <a:srgbClr val="1F4A33"/>
                </a:solidFill>
                <a:latin typeface="Calibri" pitchFamily="34" charset="0"/>
                <a:ea typeface="Calibri" pitchFamily="34" charset="-122"/>
                <a:cs typeface="Calibri" pitchFamily="34" charset="-120"/>
              </a:rPr>
              <a:t>The rule these have to clear:  </a:t>
            </a:r>
            <a:pPr indent="0" marL="0">
              <a:lnSpc>
                <a:spcPts val="1100"/>
              </a:lnSpc>
              <a:buNone/>
            </a:pPr>
            <a:r>
              <a:rPr lang="en-US" sz="900" dirty="0">
                <a:solidFill>
                  <a:srgbClr val="1F4A33"/>
                </a:solidFill>
                <a:latin typeface="Calibri" pitchFamily="34" charset="0"/>
                <a:ea typeface="Calibri" pitchFamily="34" charset="-122"/>
                <a:cs typeface="Calibri" pitchFamily="34" charset="-120"/>
              </a:rPr>
              <a:t>an unlock cost is paid out of the PRIOR year’s profit, never out of a budget. $85k opens all six — which the base case cannot afford until Year 3, so the top two go first and fund the rest. That ordering is why school districts, the most impressive line on this slide, is also the last one we should touch.</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PARTNERS · NEEDS VERIFICATION</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Who we would actually call</a:t>
            </a:r>
            <a:endParaRPr lang="en-US" sz="2900" dirty="0"/>
          </a:p>
        </p:txBody>
      </p:sp>
      <p:sp>
        <p:nvSpPr>
          <p:cNvPr id="4" name="Text 2"/>
          <p:cNvSpPr/>
          <p:nvPr/>
        </p:nvSpPr>
        <p:spPr>
          <a:xfrm>
            <a:off x="640080" y="1408176"/>
            <a:ext cx="10607040" cy="457200"/>
          </a:xfrm>
          <a:prstGeom prst="rect">
            <a:avLst/>
          </a:prstGeom>
          <a:noFill/>
          <a:ln/>
        </p:spPr>
        <p:txBody>
          <a:bodyPr wrap="square" lIns="0" tIns="0" rIns="0" bIns="0" rtlCol="0" anchor="ctr"/>
          <a:lstStyle/>
          <a:p>
            <a:pPr indent="0" marL="0">
              <a:lnSpc>
                <a:spcPts val="1600"/>
              </a:lnSpc>
              <a:buNone/>
            </a:pPr>
            <a:r>
              <a:rPr lang="en-US" sz="1350" dirty="0">
                <a:solidFill>
                  <a:srgbClr val="7A7291"/>
                </a:solidFill>
                <a:latin typeface="Calibri" pitchFamily="34" charset="0"/>
                <a:ea typeface="Calibri" pitchFamily="34" charset="-122"/>
                <a:cs typeface="Calibri" pitchFamily="34" charset="-120"/>
              </a:rPr>
              <a:t>Four networks that already gather our families in one place, so we rent an audience instead of buying one. The app already ships North South Foundation’s own word lists — we arrive built to their syllabus.</a:t>
            </a:r>
            <a:endParaRPr lang="en-US" sz="1350" dirty="0"/>
          </a:p>
        </p:txBody>
      </p:sp>
      <p:sp>
        <p:nvSpPr>
          <p:cNvPr id="5" name="Shape 3"/>
          <p:cNvSpPr/>
          <p:nvPr/>
        </p:nvSpPr>
        <p:spPr>
          <a:xfrm>
            <a:off x="640080" y="1956816"/>
            <a:ext cx="2523744" cy="2212848"/>
          </a:xfrm>
          <a:prstGeom prst="roundRect">
            <a:avLst>
              <a:gd name="adj" fmla="val 4959"/>
            </a:avLst>
          </a:prstGeom>
          <a:solidFill>
            <a:srgbClr val="EFEBF8"/>
          </a:solidFill>
          <a:ln/>
        </p:spPr>
      </p:sp>
      <p:sp>
        <p:nvSpPr>
          <p:cNvPr id="6" name="Shape 4"/>
          <p:cNvSpPr/>
          <p:nvPr/>
        </p:nvSpPr>
        <p:spPr>
          <a:xfrm>
            <a:off x="640080" y="1956816"/>
            <a:ext cx="2523744" cy="256032"/>
          </a:xfrm>
          <a:prstGeom prst="roundRect">
            <a:avLst>
              <a:gd name="adj" fmla="val 42857"/>
            </a:avLst>
          </a:prstGeom>
          <a:solidFill>
            <a:srgbClr val="178A4C"/>
          </a:solidFill>
          <a:ln/>
        </p:spPr>
      </p:sp>
      <p:sp>
        <p:nvSpPr>
          <p:cNvPr id="7" name="Text 5"/>
          <p:cNvSpPr/>
          <p:nvPr/>
        </p:nvSpPr>
        <p:spPr>
          <a:xfrm>
            <a:off x="64008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BEE &amp; DIASPORA</a:t>
            </a:r>
            <a:endParaRPr lang="en-US" sz="800" dirty="0"/>
          </a:p>
        </p:txBody>
      </p:sp>
      <p:sp>
        <p:nvSpPr>
          <p:cNvPr id="8" name="Text 6"/>
          <p:cNvSpPr/>
          <p:nvPr/>
        </p:nvSpPr>
        <p:spPr>
          <a:xfrm>
            <a:off x="78638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The warmest room we could walk into</a:t>
            </a:r>
            <a:endParaRPr lang="en-US" sz="750" dirty="0"/>
          </a:p>
        </p:txBody>
      </p:sp>
      <p:sp>
        <p:nvSpPr>
          <p:cNvPr id="9" name="Text 7"/>
          <p:cNvSpPr/>
          <p:nvPr/>
        </p:nvSpPr>
        <p:spPr>
          <a:xfrm>
            <a:off x="78638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North South Foundation</a:t>
            </a:r>
            <a:endParaRPr lang="en-US" sz="900" dirty="0"/>
          </a:p>
        </p:txBody>
      </p:sp>
      <p:sp>
        <p:nvSpPr>
          <p:cNvPr id="10" name="Text 8"/>
          <p:cNvSpPr/>
          <p:nvPr/>
        </p:nvSpPr>
        <p:spPr>
          <a:xfrm>
            <a:off x="78638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~100 US chapters; regional and national contests for Indian-American children</a:t>
            </a:r>
            <a:endParaRPr lang="en-US" sz="700" dirty="0"/>
          </a:p>
        </p:txBody>
      </p:sp>
      <p:sp>
        <p:nvSpPr>
          <p:cNvPr id="11" name="Text 9"/>
          <p:cNvSpPr/>
          <p:nvPr/>
        </p:nvSpPr>
        <p:spPr>
          <a:xfrm>
            <a:off x="78638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South Asian Spelling Bee</a:t>
            </a:r>
            <a:endParaRPr lang="en-US" sz="900" dirty="0"/>
          </a:p>
        </p:txBody>
      </p:sp>
      <p:sp>
        <p:nvSpPr>
          <p:cNvPr id="12" name="Text 10"/>
          <p:cNvSpPr/>
          <p:nvPr/>
        </p:nvSpPr>
        <p:spPr>
          <a:xfrm>
            <a:off x="78638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National competition, exactly our demographic</a:t>
            </a:r>
            <a:endParaRPr lang="en-US" sz="700" dirty="0"/>
          </a:p>
        </p:txBody>
      </p:sp>
      <p:sp>
        <p:nvSpPr>
          <p:cNvPr id="13" name="Text 11"/>
          <p:cNvSpPr/>
          <p:nvPr/>
        </p:nvSpPr>
        <p:spPr>
          <a:xfrm>
            <a:off x="78638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Scripps National Spelling Bee</a:t>
            </a:r>
            <a:endParaRPr lang="en-US" sz="900" dirty="0"/>
          </a:p>
        </p:txBody>
      </p:sp>
      <p:sp>
        <p:nvSpPr>
          <p:cNvPr id="14" name="Text 12"/>
          <p:cNvSpPr/>
          <p:nvPr/>
        </p:nvSpPr>
        <p:spPr>
          <a:xfrm>
            <a:off x="78638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apex — but ships Word Club, so partner and rival at once</a:t>
            </a:r>
            <a:endParaRPr lang="en-US" sz="700" dirty="0"/>
          </a:p>
        </p:txBody>
      </p:sp>
      <p:sp>
        <p:nvSpPr>
          <p:cNvPr id="15" name="Text 13"/>
          <p:cNvSpPr/>
          <p:nvPr/>
        </p:nvSpPr>
        <p:spPr>
          <a:xfrm>
            <a:off x="78638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SPELLPundit · Hexco</a:t>
            </a:r>
            <a:endParaRPr lang="en-US" sz="900" dirty="0"/>
          </a:p>
        </p:txBody>
      </p:sp>
      <p:sp>
        <p:nvSpPr>
          <p:cNvPr id="16" name="Text 14"/>
          <p:cNvSpPr/>
          <p:nvPr/>
        </p:nvSpPr>
        <p:spPr>
          <a:xfrm>
            <a:off x="78638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Direct competitors. Partner, or the eventual acquirer</a:t>
            </a:r>
            <a:endParaRPr lang="en-US" sz="700" dirty="0"/>
          </a:p>
        </p:txBody>
      </p:sp>
      <p:sp>
        <p:nvSpPr>
          <p:cNvPr id="17" name="Shape 15"/>
          <p:cNvSpPr/>
          <p:nvPr/>
        </p:nvSpPr>
        <p:spPr>
          <a:xfrm>
            <a:off x="3337560" y="1956816"/>
            <a:ext cx="2523744" cy="2212848"/>
          </a:xfrm>
          <a:prstGeom prst="roundRect">
            <a:avLst>
              <a:gd name="adj" fmla="val 4959"/>
            </a:avLst>
          </a:prstGeom>
          <a:solidFill>
            <a:srgbClr val="EFEBF8"/>
          </a:solidFill>
          <a:ln/>
        </p:spPr>
      </p:sp>
      <p:sp>
        <p:nvSpPr>
          <p:cNvPr id="18" name="Shape 16"/>
          <p:cNvSpPr/>
          <p:nvPr/>
        </p:nvSpPr>
        <p:spPr>
          <a:xfrm>
            <a:off x="3337560" y="1956816"/>
            <a:ext cx="2523744" cy="256032"/>
          </a:xfrm>
          <a:prstGeom prst="roundRect">
            <a:avLst>
              <a:gd name="adj" fmla="val 42857"/>
            </a:avLst>
          </a:prstGeom>
          <a:solidFill>
            <a:srgbClr val="6C4FE0"/>
          </a:solidFill>
          <a:ln/>
        </p:spPr>
      </p:sp>
      <p:sp>
        <p:nvSpPr>
          <p:cNvPr id="19" name="Text 17"/>
          <p:cNvSpPr/>
          <p:nvPr/>
        </p:nvSpPr>
        <p:spPr>
          <a:xfrm>
            <a:off x="333756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TUTOR &amp; TEACHER</a:t>
            </a:r>
            <a:endParaRPr lang="en-US" sz="800" dirty="0"/>
          </a:p>
        </p:txBody>
      </p:sp>
      <p:sp>
        <p:nvSpPr>
          <p:cNvPr id="20" name="Text 18"/>
          <p:cNvSpPr/>
          <p:nvPr/>
        </p:nvSpPr>
        <p:spPr>
          <a:xfrm>
            <a:off x="348386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Distribution that already charges by the hour</a:t>
            </a:r>
            <a:endParaRPr lang="en-US" sz="750" dirty="0"/>
          </a:p>
        </p:txBody>
      </p:sp>
      <p:sp>
        <p:nvSpPr>
          <p:cNvPr id="21" name="Text 19"/>
          <p:cNvSpPr/>
          <p:nvPr/>
        </p:nvSpPr>
        <p:spPr>
          <a:xfrm>
            <a:off x="348386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Outschool</a:t>
            </a:r>
            <a:endParaRPr lang="en-US" sz="900" dirty="0"/>
          </a:p>
        </p:txBody>
      </p:sp>
      <p:sp>
        <p:nvSpPr>
          <p:cNvPr id="22" name="Text 20"/>
          <p:cNvSpPr/>
          <p:nvPr/>
        </p:nvSpPr>
        <p:spPr>
          <a:xfrm>
            <a:off x="348386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Live small-group marketplace — the natural shelf for Business cohorts</a:t>
            </a:r>
            <a:endParaRPr lang="en-US" sz="700" dirty="0"/>
          </a:p>
        </p:txBody>
      </p:sp>
      <p:sp>
        <p:nvSpPr>
          <p:cNvPr id="23" name="Text 21"/>
          <p:cNvSpPr/>
          <p:nvPr/>
        </p:nvSpPr>
        <p:spPr>
          <a:xfrm>
            <a:off x="348386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Varsity Tutors · Wyzant</a:t>
            </a:r>
            <a:endParaRPr lang="en-US" sz="900" dirty="0"/>
          </a:p>
        </p:txBody>
      </p:sp>
      <p:sp>
        <p:nvSpPr>
          <p:cNvPr id="24" name="Text 22"/>
          <p:cNvSpPr/>
          <p:nvPr/>
        </p:nvSpPr>
        <p:spPr>
          <a:xfrm>
            <a:off x="348386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Large US networks, both with a schools arm</a:t>
            </a:r>
            <a:endParaRPr lang="en-US" sz="700" dirty="0"/>
          </a:p>
        </p:txBody>
      </p:sp>
      <p:sp>
        <p:nvSpPr>
          <p:cNvPr id="25" name="Text 23"/>
          <p:cNvSpPr/>
          <p:nvPr/>
        </p:nvSpPr>
        <p:spPr>
          <a:xfrm>
            <a:off x="348386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Kumon · Mathnasium · Sylvan</a:t>
            </a:r>
            <a:endParaRPr lang="en-US" sz="900" dirty="0"/>
          </a:p>
        </p:txBody>
      </p:sp>
      <p:sp>
        <p:nvSpPr>
          <p:cNvPr id="26" name="Text 24"/>
          <p:cNvSpPr/>
          <p:nvPr/>
        </p:nvSpPr>
        <p:spPr>
          <a:xfrm>
            <a:off x="348386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Franchise centres, heavy diaspora footfall. Sell as an add-on</a:t>
            </a:r>
            <a:endParaRPr lang="en-US" sz="700" dirty="0"/>
          </a:p>
        </p:txBody>
      </p:sp>
      <p:sp>
        <p:nvSpPr>
          <p:cNvPr id="27" name="Text 25"/>
          <p:cNvSpPr/>
          <p:nvPr/>
        </p:nvSpPr>
        <p:spPr>
          <a:xfrm>
            <a:off x="348386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UK: Explore Learning</a:t>
            </a:r>
            <a:endParaRPr lang="en-US" sz="900" dirty="0"/>
          </a:p>
        </p:txBody>
      </p:sp>
      <p:sp>
        <p:nvSpPr>
          <p:cNvPr id="28" name="Text 26"/>
          <p:cNvSpPr/>
          <p:nvPr/>
        </p:nvSpPr>
        <p:spPr>
          <a:xfrm>
            <a:off x="348386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Third Space Learning sells tutoring INTO schools — a rail, not a rival</a:t>
            </a:r>
            <a:endParaRPr lang="en-US" sz="700" dirty="0"/>
          </a:p>
        </p:txBody>
      </p:sp>
      <p:sp>
        <p:nvSpPr>
          <p:cNvPr id="29" name="Shape 27"/>
          <p:cNvSpPr/>
          <p:nvPr/>
        </p:nvSpPr>
        <p:spPr>
          <a:xfrm>
            <a:off x="6035040" y="1956816"/>
            <a:ext cx="2523744" cy="2212848"/>
          </a:xfrm>
          <a:prstGeom prst="roundRect">
            <a:avLst>
              <a:gd name="adj" fmla="val 4959"/>
            </a:avLst>
          </a:prstGeom>
          <a:solidFill>
            <a:srgbClr val="EFEBF8"/>
          </a:solidFill>
          <a:ln/>
        </p:spPr>
      </p:sp>
      <p:sp>
        <p:nvSpPr>
          <p:cNvPr id="30" name="Shape 28"/>
          <p:cNvSpPr/>
          <p:nvPr/>
        </p:nvSpPr>
        <p:spPr>
          <a:xfrm>
            <a:off x="6035040" y="1956816"/>
            <a:ext cx="2523744" cy="256032"/>
          </a:xfrm>
          <a:prstGeom prst="roundRect">
            <a:avLst>
              <a:gd name="adj" fmla="val 42857"/>
            </a:avLst>
          </a:prstGeom>
          <a:solidFill>
            <a:srgbClr val="F0B429"/>
          </a:solidFill>
          <a:ln/>
        </p:spPr>
      </p:sp>
      <p:sp>
        <p:nvSpPr>
          <p:cNvPr id="31" name="Text 29"/>
          <p:cNvSpPr/>
          <p:nvPr/>
        </p:nvSpPr>
        <p:spPr>
          <a:xfrm>
            <a:off x="603504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241E33"/>
                </a:solidFill>
                <a:latin typeface="Calibri" pitchFamily="34" charset="0"/>
                <a:ea typeface="Calibri" pitchFamily="34" charset="-122"/>
                <a:cs typeface="Calibri" pitchFamily="34" charset="-120"/>
              </a:rPr>
              <a:t>WEEKEND &amp; HERITAGE</a:t>
            </a:r>
            <a:endParaRPr lang="en-US" sz="800" dirty="0"/>
          </a:p>
        </p:txBody>
      </p:sp>
      <p:sp>
        <p:nvSpPr>
          <p:cNvPr id="32" name="Text 30"/>
          <p:cNvSpPr/>
          <p:nvPr/>
        </p:nvSpPr>
        <p:spPr>
          <a:xfrm>
            <a:off x="618134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Where Bhasha belongs, and nobody is serving it</a:t>
            </a:r>
            <a:endParaRPr lang="en-US" sz="750" dirty="0"/>
          </a:p>
        </p:txBody>
      </p:sp>
      <p:sp>
        <p:nvSpPr>
          <p:cNvPr id="33" name="Text 31"/>
          <p:cNvSpPr/>
          <p:nvPr/>
        </p:nvSpPr>
        <p:spPr>
          <a:xfrm>
            <a:off x="618134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Chinmaya Mission · BAPS</a:t>
            </a:r>
            <a:endParaRPr lang="en-US" sz="900" dirty="0"/>
          </a:p>
        </p:txBody>
      </p:sp>
      <p:sp>
        <p:nvSpPr>
          <p:cNvPr id="34" name="Text 32"/>
          <p:cNvSpPr/>
          <p:nvPr/>
        </p:nvSpPr>
        <p:spPr>
          <a:xfrm>
            <a:off x="618134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Bala Vihar and Bal Mandal run weekly classes at scale</a:t>
            </a:r>
            <a:endParaRPr lang="en-US" sz="700" dirty="0"/>
          </a:p>
        </p:txBody>
      </p:sp>
      <p:sp>
        <p:nvSpPr>
          <p:cNvPr id="35" name="Text 33"/>
          <p:cNvSpPr/>
          <p:nvPr/>
        </p:nvSpPr>
        <p:spPr>
          <a:xfrm>
            <a:off x="618134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Language academies</a:t>
            </a:r>
            <a:endParaRPr lang="en-US" sz="900" dirty="0"/>
          </a:p>
        </p:txBody>
      </p:sp>
      <p:sp>
        <p:nvSpPr>
          <p:cNvPr id="36" name="Text 34"/>
          <p:cNvSpPr/>
          <p:nvPr/>
        </p:nvSpPr>
        <p:spPr>
          <a:xfrm>
            <a:off x="618134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Tamil, Telugu, Gujarati, Punjabi and Bengali schools across North America</a:t>
            </a:r>
            <a:endParaRPr lang="en-US" sz="700" dirty="0"/>
          </a:p>
        </p:txBody>
      </p:sp>
      <p:sp>
        <p:nvSpPr>
          <p:cNvPr id="37" name="Text 35"/>
          <p:cNvSpPr/>
          <p:nvPr/>
        </p:nvSpPr>
        <p:spPr>
          <a:xfrm>
            <a:off x="618134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TANA · ATA · community bodies</a:t>
            </a:r>
            <a:endParaRPr lang="en-US" sz="900" dirty="0"/>
          </a:p>
        </p:txBody>
      </p:sp>
      <p:sp>
        <p:nvSpPr>
          <p:cNvPr id="38" name="Text 36"/>
          <p:cNvSpPr/>
          <p:nvPr/>
        </p:nvSpPr>
        <p:spPr>
          <a:xfrm>
            <a:off x="618134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Regional associations with conference stages and mailing lists</a:t>
            </a:r>
            <a:endParaRPr lang="en-US" sz="700" dirty="0"/>
          </a:p>
        </p:txBody>
      </p:sp>
      <p:sp>
        <p:nvSpPr>
          <p:cNvPr id="39" name="Text 37"/>
          <p:cNvSpPr/>
          <p:nvPr/>
        </p:nvSpPr>
        <p:spPr>
          <a:xfrm>
            <a:off x="618134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Temple &amp; gurdwara networks</a:t>
            </a:r>
            <a:endParaRPr lang="en-US" sz="900" dirty="0"/>
          </a:p>
        </p:txBody>
      </p:sp>
      <p:sp>
        <p:nvSpPr>
          <p:cNvPr id="40" name="Text 38"/>
          <p:cNvSpPr/>
          <p:nvPr/>
        </p:nvSpPr>
        <p:spPr>
          <a:xfrm>
            <a:off x="618134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most trusted room, and the hardest to enter on a sales call</a:t>
            </a:r>
            <a:endParaRPr lang="en-US" sz="700" dirty="0"/>
          </a:p>
        </p:txBody>
      </p:sp>
      <p:sp>
        <p:nvSpPr>
          <p:cNvPr id="41" name="Shape 39"/>
          <p:cNvSpPr/>
          <p:nvPr/>
        </p:nvSpPr>
        <p:spPr>
          <a:xfrm>
            <a:off x="8732520" y="1956816"/>
            <a:ext cx="2523744" cy="2212848"/>
          </a:xfrm>
          <a:prstGeom prst="roundRect">
            <a:avLst>
              <a:gd name="adj" fmla="val 4959"/>
            </a:avLst>
          </a:prstGeom>
          <a:solidFill>
            <a:srgbClr val="EFEBF8"/>
          </a:solidFill>
          <a:ln/>
        </p:spPr>
      </p:sp>
      <p:sp>
        <p:nvSpPr>
          <p:cNvPr id="42" name="Shape 40"/>
          <p:cNvSpPr/>
          <p:nvPr/>
        </p:nvSpPr>
        <p:spPr>
          <a:xfrm>
            <a:off x="8732520" y="1956816"/>
            <a:ext cx="2523744" cy="256032"/>
          </a:xfrm>
          <a:prstGeom prst="roundRect">
            <a:avLst>
              <a:gd name="adj" fmla="val 42857"/>
            </a:avLst>
          </a:prstGeom>
          <a:solidFill>
            <a:srgbClr val="C4453C"/>
          </a:solidFill>
          <a:ln/>
        </p:spPr>
      </p:sp>
      <p:sp>
        <p:nvSpPr>
          <p:cNvPr id="43" name="Text 41"/>
          <p:cNvSpPr/>
          <p:nvPr/>
        </p:nvSpPr>
        <p:spPr>
          <a:xfrm>
            <a:off x="8732520" y="1956816"/>
            <a:ext cx="2523744" cy="256032"/>
          </a:xfrm>
          <a:prstGeom prst="rect">
            <a:avLst/>
          </a:prstGeom>
          <a:noFill/>
          <a:ln/>
        </p:spPr>
        <p:txBody>
          <a:bodyPr wrap="square" lIns="0" tIns="0" rIns="0" bIns="0" rtlCol="0" anchor="ctr"/>
          <a:lstStyle/>
          <a:p>
            <a:pPr algn="ctr" indent="0" marL="0">
              <a:buNone/>
            </a:pPr>
            <a:r>
              <a:rPr lang="en-US" sz="800" b="1" spc="120" kern="0" dirty="0">
                <a:solidFill>
                  <a:srgbClr val="FFFFFF"/>
                </a:solidFill>
                <a:latin typeface="Calibri" pitchFamily="34" charset="0"/>
                <a:ea typeface="Calibri" pitchFamily="34" charset="-122"/>
                <a:cs typeface="Calibri" pitchFamily="34" charset="-120"/>
              </a:rPr>
              <a:t>SCHOOL &amp; EMPLOYER RAILS</a:t>
            </a:r>
            <a:endParaRPr lang="en-US" sz="800" dirty="0"/>
          </a:p>
        </p:txBody>
      </p:sp>
      <p:sp>
        <p:nvSpPr>
          <p:cNvPr id="44" name="Text 42"/>
          <p:cNvSpPr/>
          <p:nvPr/>
        </p:nvSpPr>
        <p:spPr>
          <a:xfrm>
            <a:off x="8878824" y="2249424"/>
            <a:ext cx="2231136" cy="219456"/>
          </a:xfrm>
          <a:prstGeom prst="rect">
            <a:avLst/>
          </a:prstGeom>
          <a:noFill/>
          <a:ln/>
        </p:spPr>
        <p:txBody>
          <a:bodyPr wrap="square" lIns="0" tIns="0" rIns="0" bIns="0" rtlCol="0" anchor="ctr"/>
          <a:lstStyle/>
          <a:p>
            <a:pPr indent="0" marL="0">
              <a:buNone/>
            </a:pPr>
            <a:r>
              <a:rPr lang="en-US" sz="750" i="1" dirty="0">
                <a:solidFill>
                  <a:srgbClr val="7A7291"/>
                </a:solidFill>
                <a:latin typeface="Calibri" pitchFamily="34" charset="0"/>
                <a:ea typeface="Calibri" pitchFamily="34" charset="-122"/>
                <a:cs typeface="Calibri" pitchFamily="34" charset="-120"/>
              </a:rPr>
              <a:t>Procurement, not persuasion</a:t>
            </a:r>
            <a:endParaRPr lang="en-US" sz="750" dirty="0"/>
          </a:p>
        </p:txBody>
      </p:sp>
      <p:sp>
        <p:nvSpPr>
          <p:cNvPr id="45" name="Text 43"/>
          <p:cNvSpPr/>
          <p:nvPr/>
        </p:nvSpPr>
        <p:spPr>
          <a:xfrm>
            <a:off x="8878824" y="2505456"/>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Clever · ClassLink</a:t>
            </a:r>
            <a:endParaRPr lang="en-US" sz="900" dirty="0"/>
          </a:p>
        </p:txBody>
      </p:sp>
      <p:sp>
        <p:nvSpPr>
          <p:cNvPr id="46" name="Text 44"/>
          <p:cNvSpPr/>
          <p:nvPr/>
        </p:nvSpPr>
        <p:spPr>
          <a:xfrm>
            <a:off x="8878824" y="2651760"/>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Rostering. Without one of these a district cannot deploy us</a:t>
            </a:r>
            <a:endParaRPr lang="en-US" sz="700" dirty="0"/>
          </a:p>
        </p:txBody>
      </p:sp>
      <p:sp>
        <p:nvSpPr>
          <p:cNvPr id="47" name="Text 45"/>
          <p:cNvSpPr/>
          <p:nvPr/>
        </p:nvSpPr>
        <p:spPr>
          <a:xfrm>
            <a:off x="8878824" y="2907792"/>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SDPC · iKeepSafe</a:t>
            </a:r>
            <a:endParaRPr lang="en-US" sz="900" dirty="0"/>
          </a:p>
        </p:txBody>
      </p:sp>
      <p:sp>
        <p:nvSpPr>
          <p:cNvPr id="48" name="Text 46"/>
          <p:cNvSpPr/>
          <p:nvPr/>
        </p:nvSpPr>
        <p:spPr>
          <a:xfrm>
            <a:off x="8878824" y="3054096"/>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The data agreement and COPPA/FERPA certification that gate every district</a:t>
            </a:r>
            <a:endParaRPr lang="en-US" sz="700" dirty="0"/>
          </a:p>
        </p:txBody>
      </p:sp>
      <p:sp>
        <p:nvSpPr>
          <p:cNvPr id="49" name="Text 47"/>
          <p:cNvSpPr/>
          <p:nvPr/>
        </p:nvSpPr>
        <p:spPr>
          <a:xfrm>
            <a:off x="8878824" y="3310128"/>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First districts to try</a:t>
            </a:r>
            <a:endParaRPr lang="en-US" sz="900" dirty="0"/>
          </a:p>
        </p:txBody>
      </p:sp>
      <p:sp>
        <p:nvSpPr>
          <p:cNvPr id="50" name="Text 48"/>
          <p:cNvSpPr/>
          <p:nvPr/>
        </p:nvSpPr>
        <p:spPr>
          <a:xfrm>
            <a:off x="8878824" y="3456432"/>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Fremont, Cupertino, Plano, Frisco, Naperville, Edison, Bellevue</a:t>
            </a:r>
            <a:endParaRPr lang="en-US" sz="700" dirty="0"/>
          </a:p>
        </p:txBody>
      </p:sp>
      <p:sp>
        <p:nvSpPr>
          <p:cNvPr id="51" name="Text 49"/>
          <p:cNvSpPr/>
          <p:nvPr/>
        </p:nvSpPr>
        <p:spPr>
          <a:xfrm>
            <a:off x="8878824" y="3712464"/>
            <a:ext cx="2231136" cy="164592"/>
          </a:xfrm>
          <a:prstGeom prst="rect">
            <a:avLst/>
          </a:prstGeom>
          <a:noFill/>
          <a:ln/>
        </p:spPr>
        <p:txBody>
          <a:bodyPr wrap="square" lIns="0" tIns="0" rIns="0" bIns="0" rtlCol="0" anchor="ctr"/>
          <a:lstStyle/>
          <a:p>
            <a:pPr indent="0" marL="0">
              <a:buNone/>
            </a:pPr>
            <a:r>
              <a:rPr lang="en-US" sz="900" b="1" dirty="0">
                <a:solidFill>
                  <a:srgbClr val="241E33"/>
                </a:solidFill>
                <a:latin typeface="Cambria" pitchFamily="34" charset="0"/>
                <a:ea typeface="Cambria" pitchFamily="34" charset="-122"/>
                <a:cs typeface="Cambria" pitchFamily="34" charset="-120"/>
              </a:rPr>
              <a:t>Employer benefits teams</a:t>
            </a:r>
            <a:endParaRPr lang="en-US" sz="900" dirty="0"/>
          </a:p>
        </p:txBody>
      </p:sp>
      <p:sp>
        <p:nvSpPr>
          <p:cNvPr id="52" name="Text 50"/>
          <p:cNvSpPr/>
          <p:nvPr/>
        </p:nvSpPr>
        <p:spPr>
          <a:xfrm>
            <a:off x="8878824" y="3858768"/>
            <a:ext cx="2231136" cy="237744"/>
          </a:xfrm>
          <a:prstGeom prst="rect">
            <a:avLst/>
          </a:prstGeom>
          <a:noFill/>
          <a:ln/>
        </p:spPr>
        <p:txBody>
          <a:bodyPr wrap="square" lIns="0" tIns="0" rIns="0" bIns="0" rtlCol="0" anchor="ctr"/>
          <a:lstStyle/>
          <a:p>
            <a:pPr indent="0" marL="0">
              <a:lnSpc>
                <a:spcPts val="850"/>
              </a:lnSpc>
              <a:buNone/>
            </a:pPr>
            <a:r>
              <a:rPr lang="en-US" sz="700" dirty="0">
                <a:solidFill>
                  <a:srgbClr val="4A4360"/>
                </a:solidFill>
                <a:latin typeface="Calibri" pitchFamily="34" charset="0"/>
                <a:ea typeface="Calibri" pitchFamily="34" charset="-122"/>
                <a:cs typeface="Calibri" pitchFamily="34" charset="-120"/>
              </a:rPr>
              <a:t>Microsoft, Google, Deloitte, Infosys, TCS — family learning stipends</a:t>
            </a:r>
            <a:endParaRPr lang="en-US" sz="700" dirty="0"/>
          </a:p>
        </p:txBody>
      </p:sp>
      <p:sp>
        <p:nvSpPr>
          <p:cNvPr id="53" name="Text 51"/>
          <p:cNvSpPr/>
          <p:nvPr/>
        </p:nvSpPr>
        <p:spPr>
          <a:xfrm>
            <a:off x="640080" y="4279392"/>
            <a:ext cx="4572000" cy="274320"/>
          </a:xfrm>
          <a:prstGeom prst="rect">
            <a:avLst/>
          </a:prstGeom>
          <a:noFill/>
          <a:ln/>
        </p:spPr>
        <p:txBody>
          <a:bodyPr wrap="square" lIns="0" tIns="0" rIns="0" bIns="0" rtlCol="0" anchor="ctr"/>
          <a:lstStyle/>
          <a:p>
            <a:pPr indent="0" marL="0">
              <a:buNone/>
            </a:pPr>
            <a:r>
              <a:rPr lang="en-US" sz="1500" b="1" dirty="0">
                <a:solidFill>
                  <a:srgbClr val="241E33"/>
                </a:solidFill>
                <a:latin typeface="Cambria" pitchFamily="34" charset="0"/>
                <a:ea typeface="Cambria" pitchFamily="34" charset="-122"/>
                <a:cs typeface="Cambria" pitchFamily="34" charset="-120"/>
              </a:rPr>
              <a:t>Three flagship programmes to take to them</a:t>
            </a:r>
            <a:endParaRPr lang="en-US" sz="1500" dirty="0"/>
          </a:p>
        </p:txBody>
      </p:sp>
      <p:sp>
        <p:nvSpPr>
          <p:cNvPr id="54" name="Text 52"/>
          <p:cNvSpPr/>
          <p:nvPr/>
        </p:nvSpPr>
        <p:spPr>
          <a:xfrm>
            <a:off x="5394960" y="4315968"/>
            <a:ext cx="5852160" cy="237744"/>
          </a:xfrm>
          <a:prstGeom prst="rect">
            <a:avLst/>
          </a:prstGeom>
          <a:noFill/>
          <a:ln/>
        </p:spPr>
        <p:txBody>
          <a:bodyPr wrap="square" lIns="0" tIns="0" rIns="0" bIns="0" rtlCol="0" anchor="ctr"/>
          <a:lstStyle/>
          <a:p>
            <a:pPr indent="0" marL="0">
              <a:buNone/>
            </a:pPr>
            <a:r>
              <a:rPr lang="en-US" sz="950" i="1" dirty="0">
                <a:solidFill>
                  <a:srgbClr val="7A7291"/>
                </a:solidFill>
                <a:latin typeface="Calibri" pitchFamily="34" charset="0"/>
                <a:ea typeface="Calibri" pitchFamily="34" charset="-122"/>
                <a:cs typeface="Calibri" pitchFamily="34" charset="-120"/>
              </a:rPr>
              <a:t>Each sells a whole thing a network can run, not a licence it has to explain.</a:t>
            </a:r>
            <a:endParaRPr lang="en-US" sz="950" dirty="0"/>
          </a:p>
        </p:txBody>
      </p:sp>
      <p:sp>
        <p:nvSpPr>
          <p:cNvPr id="55" name="Shape 53"/>
          <p:cNvSpPr/>
          <p:nvPr/>
        </p:nvSpPr>
        <p:spPr>
          <a:xfrm>
            <a:off x="640080" y="4608576"/>
            <a:ext cx="3429000" cy="1170432"/>
          </a:xfrm>
          <a:prstGeom prst="roundRect">
            <a:avLst>
              <a:gd name="adj" fmla="val 9375"/>
            </a:avLst>
          </a:prstGeom>
          <a:solidFill>
            <a:srgbClr val="EFEBF8"/>
          </a:solidFill>
          <a:ln/>
        </p:spPr>
      </p:sp>
      <p:sp>
        <p:nvSpPr>
          <p:cNvPr id="56" name="Shape 54"/>
          <p:cNvSpPr/>
          <p:nvPr/>
        </p:nvSpPr>
        <p:spPr>
          <a:xfrm>
            <a:off x="640080" y="4608576"/>
            <a:ext cx="64008" cy="1170432"/>
          </a:xfrm>
          <a:prstGeom prst="rect">
            <a:avLst/>
          </a:prstGeom>
          <a:solidFill>
            <a:srgbClr val="178A4C"/>
          </a:solidFill>
          <a:ln/>
        </p:spPr>
      </p:sp>
      <p:sp>
        <p:nvSpPr>
          <p:cNvPr id="57" name="Text 55"/>
          <p:cNvSpPr/>
          <p:nvPr/>
        </p:nvSpPr>
        <p:spPr>
          <a:xfrm>
            <a:off x="859536" y="4690872"/>
            <a:ext cx="3063240" cy="219456"/>
          </a:xfrm>
          <a:prstGeom prst="rect">
            <a:avLst/>
          </a:prstGeom>
          <a:noFill/>
          <a:ln/>
        </p:spPr>
        <p:txBody>
          <a:bodyPr wrap="square" lIns="0" tIns="0" rIns="0" bIns="0" rtlCol="0" anchor="ctr"/>
          <a:lstStyle/>
          <a:p>
            <a:pPr indent="0" marL="0">
              <a:buNone/>
            </a:pPr>
            <a:r>
              <a:rPr lang="en-US" sz="850" b="1" spc="120" kern="0" dirty="0">
                <a:solidFill>
                  <a:srgbClr val="178A4C"/>
                </a:solidFill>
                <a:latin typeface="Calibri" pitchFamily="34" charset="0"/>
                <a:ea typeface="Calibri" pitchFamily="34" charset="-122"/>
                <a:cs typeface="Calibri" pitchFamily="34" charset="-120"/>
              </a:rPr>
              <a:t>BEE SEASON IN A BOX</a:t>
            </a:r>
            <a:endParaRPr lang="en-US" sz="850" dirty="0"/>
          </a:p>
        </p:txBody>
      </p:sp>
      <p:sp>
        <p:nvSpPr>
          <p:cNvPr id="58" name="Text 56"/>
          <p:cNvSpPr/>
          <p:nvPr/>
        </p:nvSpPr>
        <p:spPr>
          <a:xfrm>
            <a:off x="85953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chapter or district runs its own bee</a:t>
            </a:r>
            <a:endParaRPr lang="en-US" sz="1100" dirty="0"/>
          </a:p>
        </p:txBody>
      </p:sp>
      <p:sp>
        <p:nvSpPr>
          <p:cNvPr id="59" name="Text 57"/>
          <p:cNvSpPr/>
          <p:nvPr/>
        </p:nvSpPr>
        <p:spPr>
          <a:xfrm>
            <a:off x="85953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Graded word lists, pronouncer audio, judge sheets, a live scoreboard. The 42,483 recorded clips mean we can already pronounce every word — the single hardest part of running a bee, solved before we ask.</a:t>
            </a:r>
            <a:endParaRPr lang="en-US" sz="800" dirty="0"/>
          </a:p>
        </p:txBody>
      </p:sp>
      <p:sp>
        <p:nvSpPr>
          <p:cNvPr id="60" name="Shape 58"/>
          <p:cNvSpPr/>
          <p:nvPr/>
        </p:nvSpPr>
        <p:spPr>
          <a:xfrm>
            <a:off x="4251960" y="4608576"/>
            <a:ext cx="3429000" cy="1170432"/>
          </a:xfrm>
          <a:prstGeom prst="roundRect">
            <a:avLst>
              <a:gd name="adj" fmla="val 9375"/>
            </a:avLst>
          </a:prstGeom>
          <a:solidFill>
            <a:srgbClr val="EFEBF8"/>
          </a:solidFill>
          <a:ln/>
        </p:spPr>
      </p:sp>
      <p:sp>
        <p:nvSpPr>
          <p:cNvPr id="61" name="Shape 59"/>
          <p:cNvSpPr/>
          <p:nvPr/>
        </p:nvSpPr>
        <p:spPr>
          <a:xfrm>
            <a:off x="4251960" y="4608576"/>
            <a:ext cx="64008" cy="1170432"/>
          </a:xfrm>
          <a:prstGeom prst="rect">
            <a:avLst/>
          </a:prstGeom>
          <a:solidFill>
            <a:srgbClr val="F0B429"/>
          </a:solidFill>
          <a:ln/>
        </p:spPr>
      </p:sp>
      <p:sp>
        <p:nvSpPr>
          <p:cNvPr id="62" name="Text 60"/>
          <p:cNvSpPr/>
          <p:nvPr/>
        </p:nvSpPr>
        <p:spPr>
          <a:xfrm>
            <a:off x="4471416" y="4690872"/>
            <a:ext cx="3063240" cy="219456"/>
          </a:xfrm>
          <a:prstGeom prst="rect">
            <a:avLst/>
          </a:prstGeom>
          <a:noFill/>
          <a:ln/>
        </p:spPr>
        <p:txBody>
          <a:bodyPr wrap="square" lIns="0" tIns="0" rIns="0" bIns="0" rtlCol="0" anchor="ctr"/>
          <a:lstStyle/>
          <a:p>
            <a:pPr indent="0" marL="0">
              <a:buNone/>
            </a:pPr>
            <a:r>
              <a:rPr lang="en-US" sz="850" b="1" spc="120" kern="0" dirty="0">
                <a:solidFill>
                  <a:srgbClr val="F0B429"/>
                </a:solidFill>
                <a:latin typeface="Calibri" pitchFamily="34" charset="0"/>
                <a:ea typeface="Calibri" pitchFamily="34" charset="-122"/>
                <a:cs typeface="Calibri" pitchFamily="34" charset="-120"/>
              </a:rPr>
              <a:t>BHASHA SATURDAY</a:t>
            </a:r>
            <a:endParaRPr lang="en-US" sz="850" dirty="0"/>
          </a:p>
        </p:txBody>
      </p:sp>
      <p:sp>
        <p:nvSpPr>
          <p:cNvPr id="63" name="Text 61"/>
          <p:cNvSpPr/>
          <p:nvPr/>
        </p:nvSpPr>
        <p:spPr>
          <a:xfrm>
            <a:off x="447141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A 30-week heritage-language track</a:t>
            </a:r>
            <a:endParaRPr lang="en-US" sz="1100" dirty="0"/>
          </a:p>
        </p:txBody>
      </p:sp>
      <p:sp>
        <p:nvSpPr>
          <p:cNvPr id="64" name="Text 62"/>
          <p:cNvSpPr/>
          <p:nvPr/>
        </p:nvSpPr>
        <p:spPr>
          <a:xfrm>
            <a:off x="447141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Cut to the rhythm of a weekend school: teacher mode, printable packs, a term that ends in something parents are invited to. Sold to a head teacher, not a procurement office.</a:t>
            </a:r>
            <a:endParaRPr lang="en-US" sz="800" dirty="0"/>
          </a:p>
        </p:txBody>
      </p:sp>
      <p:sp>
        <p:nvSpPr>
          <p:cNvPr id="65" name="Shape 63"/>
          <p:cNvSpPr/>
          <p:nvPr/>
        </p:nvSpPr>
        <p:spPr>
          <a:xfrm>
            <a:off x="7863840" y="4608576"/>
            <a:ext cx="3429000" cy="1170432"/>
          </a:xfrm>
          <a:prstGeom prst="roundRect">
            <a:avLst>
              <a:gd name="adj" fmla="val 9375"/>
            </a:avLst>
          </a:prstGeom>
          <a:solidFill>
            <a:srgbClr val="EFEBF8"/>
          </a:solidFill>
          <a:ln/>
        </p:spPr>
      </p:sp>
      <p:sp>
        <p:nvSpPr>
          <p:cNvPr id="66" name="Shape 64"/>
          <p:cNvSpPr/>
          <p:nvPr/>
        </p:nvSpPr>
        <p:spPr>
          <a:xfrm>
            <a:off x="7863840" y="4608576"/>
            <a:ext cx="64008" cy="1170432"/>
          </a:xfrm>
          <a:prstGeom prst="rect">
            <a:avLst/>
          </a:prstGeom>
          <a:solidFill>
            <a:srgbClr val="6C4FE0"/>
          </a:solidFill>
          <a:ln/>
        </p:spPr>
      </p:sp>
      <p:sp>
        <p:nvSpPr>
          <p:cNvPr id="67" name="Text 65"/>
          <p:cNvSpPr/>
          <p:nvPr/>
        </p:nvSpPr>
        <p:spPr>
          <a:xfrm>
            <a:off x="8083296" y="4690872"/>
            <a:ext cx="3063240" cy="219456"/>
          </a:xfrm>
          <a:prstGeom prst="rect">
            <a:avLst/>
          </a:prstGeom>
          <a:noFill/>
          <a:ln/>
        </p:spPr>
        <p:txBody>
          <a:bodyPr wrap="square" lIns="0" tIns="0" rIns="0" bIns="0" rtlCol="0" anchor="ctr"/>
          <a:lstStyle/>
          <a:p>
            <a:pPr indent="0" marL="0">
              <a:buNone/>
            </a:pPr>
            <a:r>
              <a:rPr lang="en-US" sz="850" b="1" spc="120" kern="0" dirty="0">
                <a:solidFill>
                  <a:srgbClr val="6C4FE0"/>
                </a:solidFill>
                <a:latin typeface="Calibri" pitchFamily="34" charset="0"/>
                <a:ea typeface="Calibri" pitchFamily="34" charset="-122"/>
                <a:cs typeface="Calibri" pitchFamily="34" charset="-120"/>
              </a:rPr>
              <a:t>FOUNDERS’ EIGHT</a:t>
            </a:r>
            <a:endParaRPr lang="en-US" sz="850" dirty="0"/>
          </a:p>
        </p:txBody>
      </p:sp>
      <p:sp>
        <p:nvSpPr>
          <p:cNvPr id="68" name="Text 66"/>
          <p:cNvSpPr/>
          <p:nvPr/>
        </p:nvSpPr>
        <p:spPr>
          <a:xfrm>
            <a:off x="8083296" y="4892040"/>
            <a:ext cx="3063240" cy="237744"/>
          </a:xfrm>
          <a:prstGeom prst="rect">
            <a:avLst/>
          </a:prstGeom>
          <a:noFill/>
          <a:ln/>
        </p:spPr>
        <p:txBody>
          <a:bodyPr wrap="square" lIns="0" tIns="0" rIns="0" bIns="0" rtlCol="0" anchor="ctr"/>
          <a:lstStyle/>
          <a:p>
            <a:pPr indent="0" marL="0">
              <a:buNone/>
            </a:pPr>
            <a:r>
              <a:rPr lang="en-US" sz="1100" b="1" dirty="0">
                <a:solidFill>
                  <a:srgbClr val="241E33"/>
                </a:solidFill>
                <a:latin typeface="Cambria" pitchFamily="34" charset="0"/>
                <a:ea typeface="Cambria" pitchFamily="34" charset="-122"/>
                <a:cs typeface="Cambria" pitchFamily="34" charset="-120"/>
              </a:rPr>
              <a:t>Bizzing Business, after school</a:t>
            </a:r>
            <a:endParaRPr lang="en-US" sz="1100" dirty="0"/>
          </a:p>
        </p:txBody>
      </p:sp>
      <p:sp>
        <p:nvSpPr>
          <p:cNvPr id="69" name="Text 67"/>
          <p:cNvSpPr/>
          <p:nvPr/>
        </p:nvSpPr>
        <p:spPr>
          <a:xfrm>
            <a:off x="8083296" y="5138928"/>
            <a:ext cx="3063240" cy="566928"/>
          </a:xfrm>
          <a:prstGeom prst="rect">
            <a:avLst/>
          </a:prstGeom>
          <a:noFill/>
          <a:ln/>
        </p:spPr>
        <p:txBody>
          <a:bodyPr wrap="square" lIns="0" tIns="0" rIns="0" bIns="0" rtlCol="0" anchor="ctr"/>
          <a:lstStyle/>
          <a:p>
            <a:pPr indent="0" marL="0">
              <a:lnSpc>
                <a:spcPts val="1000"/>
              </a:lnSpc>
              <a:buNone/>
            </a:pPr>
            <a:r>
              <a:rPr lang="en-US" sz="800" dirty="0">
                <a:solidFill>
                  <a:srgbClr val="4A4360"/>
                </a:solidFill>
                <a:latin typeface="Calibri" pitchFamily="34" charset="0"/>
                <a:ea typeface="Calibri" pitchFamily="34" charset="-122"/>
                <a:cs typeface="Calibri" pitchFamily="34" charset="-120"/>
              </a:rPr>
              <a:t>Eight weeks, a team, a mentor, a demo night. The highest price per family we have, and the one programme a school can put its own name on.</a:t>
            </a:r>
            <a:endParaRPr lang="en-US" sz="800" dirty="0"/>
          </a:p>
        </p:txBody>
      </p:sp>
      <p:sp>
        <p:nvSpPr>
          <p:cNvPr id="70" name="Shape 68"/>
          <p:cNvSpPr/>
          <p:nvPr/>
        </p:nvSpPr>
        <p:spPr>
          <a:xfrm>
            <a:off x="640080" y="5870448"/>
            <a:ext cx="10607040" cy="914400"/>
          </a:xfrm>
          <a:prstGeom prst="roundRect">
            <a:avLst>
              <a:gd name="adj" fmla="val 12000"/>
            </a:avLst>
          </a:prstGeom>
          <a:solidFill>
            <a:srgbClr val="FBF3E0"/>
          </a:solidFill>
          <a:ln/>
        </p:spPr>
      </p:sp>
      <p:sp>
        <p:nvSpPr>
          <p:cNvPr id="71" name="Text 69"/>
          <p:cNvSpPr/>
          <p:nvPr/>
        </p:nvSpPr>
        <p:spPr>
          <a:xfrm>
            <a:off x="896112" y="5925312"/>
            <a:ext cx="7315200" cy="237744"/>
          </a:xfrm>
          <a:prstGeom prst="rect">
            <a:avLst/>
          </a:prstGeom>
          <a:noFill/>
          <a:ln/>
        </p:spPr>
        <p:txBody>
          <a:bodyPr wrap="square" lIns="0" tIns="0" rIns="0" bIns="0" rtlCol="0" anchor="ctr"/>
          <a:lstStyle/>
          <a:p>
            <a:pPr indent="0" marL="0">
              <a:buNone/>
            </a:pPr>
            <a:r>
              <a:rPr lang="en-US" sz="1000" b="1" dirty="0">
                <a:solidFill>
                  <a:srgbClr val="8A5B00"/>
                </a:solidFill>
                <a:latin typeface="Calibri" pitchFamily="34" charset="0"/>
                <a:ea typeface="Calibri" pitchFamily="34" charset="-122"/>
                <a:cs typeface="Calibri" pitchFamily="34" charset="-120"/>
              </a:rPr>
              <a:t>⚠ Every name on this slide needs verifying before anyone is contacted</a:t>
            </a:r>
            <a:endParaRPr lang="en-US" sz="1000" dirty="0"/>
          </a:p>
        </p:txBody>
      </p:sp>
      <p:sp>
        <p:nvSpPr>
          <p:cNvPr id="72" name="Text 70"/>
          <p:cNvSpPr/>
          <p:nvPr/>
        </p:nvSpPr>
        <p:spPr>
          <a:xfrm>
            <a:off x="896112" y="6126480"/>
            <a:ext cx="10094976" cy="621792"/>
          </a:xfrm>
          <a:prstGeom prst="rect">
            <a:avLst/>
          </a:prstGeom>
          <a:noFill/>
          <a:ln/>
        </p:spPr>
        <p:txBody>
          <a:bodyPr wrap="square" lIns="0" tIns="0" rIns="0" bIns="0" rtlCol="0" anchor="ctr"/>
          <a:lstStyle/>
          <a:p>
            <a:pPr indent="0" marL="0">
              <a:lnSpc>
                <a:spcPts val="1100"/>
              </a:lnSpc>
              <a:buNone/>
            </a:pPr>
            <a:r>
              <a:rPr lang="en-US" sz="900" dirty="0">
                <a:solidFill>
                  <a:srgbClr val="8A5B00"/>
                </a:solidFill>
                <a:latin typeface="Calibri" pitchFamily="34" charset="0"/>
                <a:ea typeface="Calibri" pitchFamily="34" charset="-122"/>
                <a:cs typeface="Calibri" pitchFamily="34" charset="-120"/>
              </a:rPr>
              <a:t>These organisations are named from working knowledge, not from research done today — chapter counts, programme names and even whether a body still operates all need checking. Three specific cautions. Scripps ships a competing app, so an approach there is a negotiation, not a partnership. SPELLPundit and Hexco are direct competitors before they are anything else. And in India, at least one major tutoring brand has been in serious financial distress — confirm a partner is solvent before building anything on them. Treat this slide as a research brief with a starting list, not as a contact sheet.</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2026-08-23T02:07:20Z</dcterms:created>
  <dcterms:modified xsi:type="dcterms:W3CDTF">2026-08-23T02:07:20Z</dcterms:modified>
</cp:coreProperties>
</file>