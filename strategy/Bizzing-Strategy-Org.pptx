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Bizzing is the parent brand. Bizzing Bee is the first product, not the company.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vision is deliberately about the child at 25, not the child at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Culture is free and shareable; the language pack inside it is paid. That is the freemium spine.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Bizzing Bee — The best place in the world to prepare for a spelling bee.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Bizzing India — A child who knows where they came from, and finds it genuinely interesting rather than dutiful.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Bizzing Bhasha — The grandparent and the grandchild can hold a conversation.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Bizzing Eleven — The 11+ verbal paper stops being a mystery a family has to buy tutoring to solve.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Bizzing Buzz — A child who cannot read yet still plays with words every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Bizzing English — A child who owns the language, rather than one who passes tests in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Bizzing Maths — A child who is fast and fearless with numbers, and knows why the trick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Bizzing Business — A twelve-year-old who can look at a business and explain why it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prices, splits or targets anywhere — those are the CMO’s to set. This slide fixes what the streams are and the order they switch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41E33"/>
        </a:solidFill>
      </p:bgPr>
    </p:bg>
    <p:spTree>
      <p:nvGrpSpPr>
        <p:cNvPr id="1" name=""/>
        <p:cNvGrpSpPr/>
        <p:nvPr/>
      </p:nvGrpSpPr>
      <p:grpSpPr>
        <a:xfrm>
          <a:off x="0" y="0"/>
          <a:ext cx="0" cy="0"/>
          <a:chOff x="0" y="0"/>
          <a:chExt cx="0" cy="0"/>
        </a:xfrm>
      </p:grpSpPr>
      <p:sp>
        <p:nvSpPr>
          <p:cNvPr id="2" name="Shape 0"/>
          <p:cNvSpPr/>
          <p:nvPr/>
        </p:nvSpPr>
        <p:spPr>
          <a:xfrm rot="5400000">
            <a:off x="8092440" y="566928"/>
            <a:ext cx="914400" cy="914400"/>
          </a:xfrm>
          <a:prstGeom prst="hexagon">
            <a:avLst/>
          </a:prstGeom>
          <a:solidFill>
            <a:srgbClr val="F0B429">
              <a:alpha val="16000"/>
            </a:srgbClr>
          </a:solidFill>
          <a:ln/>
        </p:spPr>
      </p:sp>
      <p:sp>
        <p:nvSpPr>
          <p:cNvPr id="3" name="Shape 1"/>
          <p:cNvSpPr/>
          <p:nvPr/>
        </p:nvSpPr>
        <p:spPr>
          <a:xfrm rot="5400000">
            <a:off x="9235440" y="566928"/>
            <a:ext cx="914400" cy="914400"/>
          </a:xfrm>
          <a:prstGeom prst="hexagon">
            <a:avLst/>
          </a:prstGeom>
          <a:solidFill>
            <a:srgbClr val="F0B429">
              <a:alpha val="16000"/>
            </a:srgbClr>
          </a:solidFill>
          <a:ln/>
        </p:spPr>
      </p:sp>
      <p:sp>
        <p:nvSpPr>
          <p:cNvPr id="4" name="Shape 2"/>
          <p:cNvSpPr/>
          <p:nvPr/>
        </p:nvSpPr>
        <p:spPr>
          <a:xfrm rot="5400000">
            <a:off x="10378440" y="566928"/>
            <a:ext cx="914400" cy="914400"/>
          </a:xfrm>
          <a:prstGeom prst="hexagon">
            <a:avLst/>
          </a:prstGeom>
          <a:solidFill>
            <a:srgbClr val="F0B429">
              <a:alpha val="16000"/>
            </a:srgbClr>
          </a:solidFill>
          <a:ln/>
        </p:spPr>
      </p:sp>
      <p:sp>
        <p:nvSpPr>
          <p:cNvPr id="5" name="Shape 3"/>
          <p:cNvSpPr/>
          <p:nvPr/>
        </p:nvSpPr>
        <p:spPr>
          <a:xfrm rot="5400000">
            <a:off x="8663940" y="1549908"/>
            <a:ext cx="914400" cy="914400"/>
          </a:xfrm>
          <a:prstGeom prst="hexagon">
            <a:avLst/>
          </a:prstGeom>
          <a:solidFill>
            <a:srgbClr val="F0B429">
              <a:alpha val="16000"/>
            </a:srgbClr>
          </a:solidFill>
          <a:ln/>
        </p:spPr>
      </p:sp>
      <p:sp>
        <p:nvSpPr>
          <p:cNvPr id="6" name="Shape 4"/>
          <p:cNvSpPr/>
          <p:nvPr/>
        </p:nvSpPr>
        <p:spPr>
          <a:xfrm rot="5400000">
            <a:off x="9806940" y="1549908"/>
            <a:ext cx="914400" cy="914400"/>
          </a:xfrm>
          <a:prstGeom prst="hexagon">
            <a:avLst/>
          </a:prstGeom>
          <a:solidFill>
            <a:srgbClr val="F0B429">
              <a:alpha val="16000"/>
            </a:srgbClr>
          </a:solidFill>
          <a:ln/>
        </p:spPr>
      </p:sp>
      <p:sp>
        <p:nvSpPr>
          <p:cNvPr id="7" name="Shape 5"/>
          <p:cNvSpPr/>
          <p:nvPr/>
        </p:nvSpPr>
        <p:spPr>
          <a:xfrm rot="5400000">
            <a:off x="10949940" y="1549908"/>
            <a:ext cx="914400" cy="914400"/>
          </a:xfrm>
          <a:prstGeom prst="hexagon">
            <a:avLst/>
          </a:prstGeom>
          <a:solidFill>
            <a:srgbClr val="F0B429">
              <a:alpha val="16000"/>
            </a:srgbClr>
          </a:solidFill>
          <a:ln/>
        </p:spPr>
      </p:sp>
      <p:sp>
        <p:nvSpPr>
          <p:cNvPr id="8" name="Shape 6"/>
          <p:cNvSpPr/>
          <p:nvPr/>
        </p:nvSpPr>
        <p:spPr>
          <a:xfrm rot="5400000">
            <a:off x="8092440" y="2532888"/>
            <a:ext cx="914400" cy="914400"/>
          </a:xfrm>
          <a:prstGeom prst="hexagon">
            <a:avLst/>
          </a:prstGeom>
          <a:solidFill>
            <a:srgbClr val="F0B429">
              <a:alpha val="16000"/>
            </a:srgbClr>
          </a:solidFill>
          <a:ln/>
        </p:spPr>
      </p:sp>
      <p:sp>
        <p:nvSpPr>
          <p:cNvPr id="9" name="Shape 7"/>
          <p:cNvSpPr/>
          <p:nvPr/>
        </p:nvSpPr>
        <p:spPr>
          <a:xfrm rot="5400000">
            <a:off x="9235440" y="2532888"/>
            <a:ext cx="914400" cy="914400"/>
          </a:xfrm>
          <a:prstGeom prst="hexagon">
            <a:avLst/>
          </a:prstGeom>
          <a:solidFill>
            <a:srgbClr val="F0B429">
              <a:alpha val="16000"/>
            </a:srgbClr>
          </a:solidFill>
          <a:ln/>
        </p:spPr>
      </p:sp>
      <p:sp>
        <p:nvSpPr>
          <p:cNvPr id="10" name="Shape 8"/>
          <p:cNvSpPr/>
          <p:nvPr/>
        </p:nvSpPr>
        <p:spPr>
          <a:xfrm rot="5400000">
            <a:off x="10378440" y="2532888"/>
            <a:ext cx="914400" cy="914400"/>
          </a:xfrm>
          <a:prstGeom prst="hexagon">
            <a:avLst/>
          </a:prstGeom>
          <a:solidFill>
            <a:srgbClr val="F0B429">
              <a:alpha val="16000"/>
            </a:srgbClr>
          </a:solidFill>
          <a:ln/>
        </p:spPr>
      </p:sp>
      <p:sp>
        <p:nvSpPr>
          <p:cNvPr id="11" name="Text 9"/>
          <p:cNvSpPr/>
          <p:nvPr/>
        </p:nvSpPr>
        <p:spPr>
          <a:xfrm>
            <a:off x="640080" y="1828800"/>
            <a:ext cx="8229600" cy="1188720"/>
          </a:xfrm>
          <a:prstGeom prst="rect">
            <a:avLst/>
          </a:prstGeom>
          <a:noFill/>
          <a:ln/>
        </p:spPr>
        <p:txBody>
          <a:bodyPr wrap="square" lIns="0" tIns="0" rIns="0" bIns="0" rtlCol="0" anchor="ctr"/>
          <a:lstStyle/>
          <a:p>
            <a:pPr indent="0" marL="0">
              <a:buNone/>
            </a:pPr>
            <a:r>
              <a:rPr lang="en-US" sz="7600" b="1" spc="200" kern="0" dirty="0">
                <a:solidFill>
                  <a:srgbClr val="FFFFFF"/>
                </a:solidFill>
                <a:latin typeface="Cambria" pitchFamily="34" charset="0"/>
                <a:ea typeface="Cambria" pitchFamily="34" charset="-122"/>
                <a:cs typeface="Cambria" pitchFamily="34" charset="-120"/>
              </a:rPr>
              <a:t>BIZZING</a:t>
            </a:r>
            <a:endParaRPr lang="en-US" sz="7600" dirty="0"/>
          </a:p>
        </p:txBody>
      </p:sp>
      <p:sp>
        <p:nvSpPr>
          <p:cNvPr id="12" name="Text 10"/>
          <p:cNvSpPr/>
          <p:nvPr/>
        </p:nvSpPr>
        <p:spPr>
          <a:xfrm>
            <a:off x="640080" y="3063240"/>
            <a:ext cx="7680960" cy="548640"/>
          </a:xfrm>
          <a:prstGeom prst="rect">
            <a:avLst/>
          </a:prstGeom>
          <a:noFill/>
          <a:ln/>
        </p:spPr>
        <p:txBody>
          <a:bodyPr wrap="square" lIns="0" tIns="0" rIns="0" bIns="0" rtlCol="0" anchor="ctr"/>
          <a:lstStyle/>
          <a:p>
            <a:pPr indent="0" marL="0">
              <a:buNone/>
            </a:pPr>
            <a:r>
              <a:rPr lang="en-US" sz="2100" i="1" dirty="0">
                <a:solidFill>
                  <a:srgbClr val="F0B429"/>
                </a:solidFill>
                <a:latin typeface="Cambria" pitchFamily="34" charset="0"/>
                <a:ea typeface="Cambria" pitchFamily="34" charset="-122"/>
                <a:cs typeface="Cambria" pitchFamily="34" charset="-120"/>
              </a:rPr>
              <a:t>Competitive learning for the children of the diaspora.</a:t>
            </a:r>
            <a:endParaRPr lang="en-US" sz="2100" dirty="0"/>
          </a:p>
        </p:txBody>
      </p:sp>
      <p:sp>
        <p:nvSpPr>
          <p:cNvPr id="13" name="Text 11"/>
          <p:cNvSpPr/>
          <p:nvPr/>
        </p:nvSpPr>
        <p:spPr>
          <a:xfrm>
            <a:off x="640080" y="3886200"/>
            <a:ext cx="7680960" cy="365760"/>
          </a:xfrm>
          <a:prstGeom prst="rect">
            <a:avLst/>
          </a:prstGeom>
          <a:noFill/>
          <a:ln/>
        </p:spPr>
        <p:txBody>
          <a:bodyPr wrap="square" lIns="0" tIns="0" rIns="0" bIns="0" rtlCol="0" anchor="ctr"/>
          <a:lstStyle/>
          <a:p>
            <a:pPr indent="0" marL="0">
              <a:buNone/>
            </a:pPr>
            <a:r>
              <a:rPr lang="en-US" sz="1400" dirty="0">
                <a:solidFill>
                  <a:srgbClr val="E3DCF2"/>
                </a:solidFill>
                <a:latin typeface="Calibri" pitchFamily="34" charset="0"/>
                <a:ea typeface="Calibri" pitchFamily="34" charset="-122"/>
                <a:cs typeface="Calibri" pitchFamily="34" charset="-120"/>
              </a:rPr>
              <a:t>Vision · Strategy · Roadmap · Money · Marketing · Content · Team</a:t>
            </a:r>
            <a:endParaRPr lang="en-US" sz="1400" dirty="0"/>
          </a:p>
        </p:txBody>
      </p:sp>
      <p:sp>
        <p:nvSpPr>
          <p:cNvPr id="14" name="Shape 12"/>
          <p:cNvSpPr/>
          <p:nvPr/>
        </p:nvSpPr>
        <p:spPr>
          <a:xfrm>
            <a:off x="640080" y="4709160"/>
            <a:ext cx="2926080" cy="0"/>
          </a:xfrm>
          <a:prstGeom prst="line">
            <a:avLst/>
          </a:prstGeom>
          <a:noFill/>
          <a:ln w="31750">
            <a:solidFill>
              <a:srgbClr val="6C4FE0"/>
            </a:solidFill>
            <a:prstDash val="solid"/>
          </a:ln>
        </p:spPr>
      </p:sp>
      <p:sp>
        <p:nvSpPr>
          <p:cNvPr id="15" name="Text 13"/>
          <p:cNvSpPr/>
          <p:nvPr/>
        </p:nvSpPr>
        <p:spPr>
          <a:xfrm>
            <a:off x="640080" y="4892040"/>
            <a:ext cx="7315200" cy="320040"/>
          </a:xfrm>
          <a:prstGeom prst="rect">
            <a:avLst/>
          </a:prstGeom>
          <a:noFill/>
          <a:ln/>
        </p:spPr>
        <p:txBody>
          <a:bodyPr wrap="square" lIns="0" tIns="0" rIns="0" bIns="0" rtlCol="0" anchor="ctr"/>
          <a:lstStyle/>
          <a:p>
            <a:pPr indent="0" marL="0">
              <a:buNone/>
            </a:pPr>
            <a:r>
              <a:rPr lang="en-US" sz="1250" dirty="0">
                <a:solidFill>
                  <a:srgbClr val="7A7291"/>
                </a:solidFill>
                <a:latin typeface="Calibri" pitchFamily="34" charset="0"/>
                <a:ea typeface="Calibri" pitchFamily="34" charset="-122"/>
                <a:cs typeface="Calibri" pitchFamily="34" charset="-120"/>
              </a:rPr>
              <a:t>Founding team · AI-first operating model</a:t>
            </a:r>
            <a:endParaRPr lang="en-US" sz="12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THE STARTING POINT</a:t>
            </a:r>
            <a:endParaRPr lang="en-US" sz="1150" dirty="0"/>
          </a:p>
        </p:txBody>
      </p:sp>
      <p:sp>
        <p:nvSpPr>
          <p:cNvPr id="3" name="Text 1"/>
          <p:cNvSpPr/>
          <p:nvPr/>
        </p:nvSpPr>
        <p:spPr>
          <a:xfrm>
            <a:off x="640080" y="694944"/>
            <a:ext cx="106070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They moved countries so their child could compete.</a:t>
            </a:r>
            <a:endParaRPr lang="en-US" sz="2900" dirty="0"/>
          </a:p>
        </p:txBody>
      </p:sp>
      <p:sp>
        <p:nvSpPr>
          <p:cNvPr id="4" name="Text 2"/>
          <p:cNvSpPr/>
          <p:nvPr/>
        </p:nvSpPr>
        <p:spPr>
          <a:xfrm>
            <a:off x="640080" y="1463040"/>
            <a:ext cx="10607040" cy="365760"/>
          </a:xfrm>
          <a:prstGeom prst="rect">
            <a:avLst/>
          </a:prstGeom>
          <a:noFill/>
          <a:ln/>
        </p:spPr>
        <p:txBody>
          <a:bodyPr wrap="square" lIns="0" tIns="0" rIns="0" bIns="0" rtlCol="0" anchor="ctr"/>
          <a:lstStyle/>
          <a:p>
            <a:pPr indent="0" marL="0">
              <a:buNone/>
            </a:pPr>
            <a:r>
              <a:rPr lang="en-US" sz="1550" dirty="0">
                <a:solidFill>
                  <a:srgbClr val="7A7291"/>
                </a:solidFill>
                <a:latin typeface="Calibri" pitchFamily="34" charset="0"/>
                <a:ea typeface="Calibri" pitchFamily="34" charset="-122"/>
                <a:cs typeface="Calibri" pitchFamily="34" charset="-120"/>
              </a:rPr>
              <a:t>Everything Bizzing builds answers a worry that parent already has.</a:t>
            </a:r>
            <a:endParaRPr lang="en-US" sz="1550" dirty="0"/>
          </a:p>
        </p:txBody>
      </p:sp>
      <p:sp>
        <p:nvSpPr>
          <p:cNvPr id="5" name="Shape 3"/>
          <p:cNvSpPr/>
          <p:nvPr/>
        </p:nvSpPr>
        <p:spPr>
          <a:xfrm>
            <a:off x="640080" y="2148840"/>
            <a:ext cx="3410712" cy="2743200"/>
          </a:xfrm>
          <a:prstGeom prst="roundRect">
            <a:avLst>
              <a:gd name="adj" fmla="val 4667"/>
            </a:avLst>
          </a:prstGeom>
          <a:solidFill>
            <a:srgbClr val="EFEBF8"/>
          </a:solidFill>
          <a:ln/>
          <a:effectLst>
            <a:outerShdw sx="100000" sy="100000" kx="0" ky="0" algn="bl" rotWithShape="0" blurRad="127000" dist="25400" dir="5400000">
              <a:srgbClr val="241E33">
                <a:alpha val="10000"/>
              </a:srgbClr>
            </a:outerShdw>
          </a:effectLst>
        </p:spPr>
      </p:sp>
      <p:sp>
        <p:nvSpPr>
          <p:cNvPr id="6" name="Shape 4"/>
          <p:cNvSpPr/>
          <p:nvPr/>
        </p:nvSpPr>
        <p:spPr>
          <a:xfrm rot="5400000">
            <a:off x="914400" y="2395728"/>
            <a:ext cx="457200" cy="457200"/>
          </a:xfrm>
          <a:prstGeom prst="hexagon">
            <a:avLst/>
          </a:prstGeom>
          <a:solidFill>
            <a:srgbClr val="6C4FE0"/>
          </a:solidFill>
          <a:ln/>
        </p:spPr>
      </p:sp>
      <p:sp>
        <p:nvSpPr>
          <p:cNvPr id="7" name="Text 5"/>
          <p:cNvSpPr/>
          <p:nvPr/>
        </p:nvSpPr>
        <p:spPr>
          <a:xfrm>
            <a:off x="914400" y="3017520"/>
            <a:ext cx="2880360" cy="566928"/>
          </a:xfrm>
          <a:prstGeom prst="rect">
            <a:avLst/>
          </a:prstGeom>
          <a:noFill/>
          <a:ln/>
        </p:spPr>
        <p:txBody>
          <a:bodyPr wrap="square" lIns="0" tIns="0" rIns="0" bIns="0" rtlCol="0" anchor="ctr"/>
          <a:lstStyle/>
          <a:p>
            <a:pPr indent="0" marL="0">
              <a:buNone/>
            </a:pPr>
            <a:r>
              <a:rPr lang="en-US" sz="1700" b="1" dirty="0">
                <a:solidFill>
                  <a:srgbClr val="241E33"/>
                </a:solidFill>
                <a:latin typeface="Cambria" pitchFamily="34" charset="0"/>
                <a:ea typeface="Cambria" pitchFamily="34" charset="-122"/>
                <a:cs typeface="Cambria" pitchFamily="34" charset="-120"/>
              </a:rPr>
              <a:t>The school is not enough</a:t>
            </a:r>
            <a:endParaRPr lang="en-US" sz="1700" dirty="0"/>
          </a:p>
        </p:txBody>
      </p:sp>
      <p:sp>
        <p:nvSpPr>
          <p:cNvPr id="8" name="Text 6"/>
          <p:cNvSpPr/>
          <p:nvPr/>
        </p:nvSpPr>
        <p:spPr>
          <a:xfrm>
            <a:off x="914400" y="3657600"/>
            <a:ext cx="2880360" cy="1097280"/>
          </a:xfrm>
          <a:prstGeom prst="rect">
            <a:avLst/>
          </a:prstGeom>
          <a:noFill/>
          <a:ln/>
        </p:spPr>
        <p:txBody>
          <a:bodyPr wrap="square" lIns="0" tIns="0" rIns="0" bIns="0" rtlCol="0" anchor="ctr"/>
          <a:lstStyle/>
          <a:p>
            <a:pPr indent="0" marL="0">
              <a:lnSpc>
                <a:spcPts val="1600"/>
              </a:lnSpc>
              <a:buNone/>
            </a:pPr>
            <a:r>
              <a:rPr lang="en-US" sz="1250" dirty="0">
                <a:solidFill>
                  <a:srgbClr val="4A4360"/>
                </a:solidFill>
                <a:latin typeface="Calibri" pitchFamily="34" charset="0"/>
                <a:ea typeface="Calibri" pitchFamily="34" charset="-122"/>
                <a:cs typeface="Calibri" pitchFamily="34" charset="-120"/>
              </a:rPr>
              <a:t>Diaspora parents rarely believe the local curriculum is preparing their child for the contests, tests and admissions that actually decide outcomes.</a:t>
            </a:r>
            <a:endParaRPr lang="en-US" sz="1250" dirty="0"/>
          </a:p>
        </p:txBody>
      </p:sp>
      <p:sp>
        <p:nvSpPr>
          <p:cNvPr id="9" name="Shape 7"/>
          <p:cNvSpPr/>
          <p:nvPr/>
        </p:nvSpPr>
        <p:spPr>
          <a:xfrm>
            <a:off x="4325112" y="2148840"/>
            <a:ext cx="3410712" cy="2743200"/>
          </a:xfrm>
          <a:prstGeom prst="roundRect">
            <a:avLst>
              <a:gd name="adj" fmla="val 4667"/>
            </a:avLst>
          </a:prstGeom>
          <a:solidFill>
            <a:srgbClr val="EFEBF8"/>
          </a:solidFill>
          <a:ln/>
          <a:effectLst>
            <a:outerShdw sx="100000" sy="100000" kx="0" ky="0" algn="bl" rotWithShape="0" blurRad="127000" dist="25400" dir="5400000">
              <a:srgbClr val="241E33">
                <a:alpha val="10000"/>
              </a:srgbClr>
            </a:outerShdw>
          </a:effectLst>
        </p:spPr>
      </p:sp>
      <p:sp>
        <p:nvSpPr>
          <p:cNvPr id="10" name="Shape 8"/>
          <p:cNvSpPr/>
          <p:nvPr/>
        </p:nvSpPr>
        <p:spPr>
          <a:xfrm rot="5400000">
            <a:off x="4599432" y="2395728"/>
            <a:ext cx="457200" cy="457200"/>
          </a:xfrm>
          <a:prstGeom prst="hexagon">
            <a:avLst/>
          </a:prstGeom>
          <a:solidFill>
            <a:srgbClr val="F0B429"/>
          </a:solidFill>
          <a:ln/>
        </p:spPr>
      </p:sp>
      <p:sp>
        <p:nvSpPr>
          <p:cNvPr id="11" name="Text 9"/>
          <p:cNvSpPr/>
          <p:nvPr/>
        </p:nvSpPr>
        <p:spPr>
          <a:xfrm>
            <a:off x="4599432" y="3017520"/>
            <a:ext cx="2880360" cy="566928"/>
          </a:xfrm>
          <a:prstGeom prst="rect">
            <a:avLst/>
          </a:prstGeom>
          <a:noFill/>
          <a:ln/>
        </p:spPr>
        <p:txBody>
          <a:bodyPr wrap="square" lIns="0" tIns="0" rIns="0" bIns="0" rtlCol="0" anchor="ctr"/>
          <a:lstStyle/>
          <a:p>
            <a:pPr indent="0" marL="0">
              <a:buNone/>
            </a:pPr>
            <a:r>
              <a:rPr lang="en-US" sz="1700" b="1" dirty="0">
                <a:solidFill>
                  <a:srgbClr val="241E33"/>
                </a:solidFill>
                <a:latin typeface="Cambria" pitchFamily="34" charset="0"/>
                <a:ea typeface="Cambria" pitchFamily="34" charset="-122"/>
                <a:cs typeface="Cambria" pitchFamily="34" charset="-120"/>
              </a:rPr>
              <a:t>The child is between two worlds</a:t>
            </a:r>
            <a:endParaRPr lang="en-US" sz="1700" dirty="0"/>
          </a:p>
        </p:txBody>
      </p:sp>
      <p:sp>
        <p:nvSpPr>
          <p:cNvPr id="12" name="Text 10"/>
          <p:cNvSpPr/>
          <p:nvPr/>
        </p:nvSpPr>
        <p:spPr>
          <a:xfrm>
            <a:off x="4599432" y="3657600"/>
            <a:ext cx="2880360" cy="1097280"/>
          </a:xfrm>
          <a:prstGeom prst="rect">
            <a:avLst/>
          </a:prstGeom>
          <a:noFill/>
          <a:ln/>
        </p:spPr>
        <p:txBody>
          <a:bodyPr wrap="square" lIns="0" tIns="0" rIns="0" bIns="0" rtlCol="0" anchor="ctr"/>
          <a:lstStyle/>
          <a:p>
            <a:pPr indent="0" marL="0">
              <a:lnSpc>
                <a:spcPts val="1600"/>
              </a:lnSpc>
              <a:buNone/>
            </a:pPr>
            <a:r>
              <a:rPr lang="en-US" sz="1250" dirty="0">
                <a:solidFill>
                  <a:srgbClr val="4A4360"/>
                </a:solidFill>
                <a:latin typeface="Calibri" pitchFamily="34" charset="0"/>
                <a:ea typeface="Calibri" pitchFamily="34" charset="-122"/>
                <a:cs typeface="Calibri" pitchFamily="34" charset="-120"/>
              </a:rPr>
              <a:t>Expected to win at an adopted country’s competitions, and to keep a language and culture that country does not teach.</a:t>
            </a:r>
            <a:endParaRPr lang="en-US" sz="1250" dirty="0"/>
          </a:p>
        </p:txBody>
      </p:sp>
      <p:sp>
        <p:nvSpPr>
          <p:cNvPr id="13" name="Shape 11"/>
          <p:cNvSpPr/>
          <p:nvPr/>
        </p:nvSpPr>
        <p:spPr>
          <a:xfrm>
            <a:off x="8010144" y="2148840"/>
            <a:ext cx="3410712" cy="2743200"/>
          </a:xfrm>
          <a:prstGeom prst="roundRect">
            <a:avLst>
              <a:gd name="adj" fmla="val 4667"/>
            </a:avLst>
          </a:prstGeom>
          <a:solidFill>
            <a:srgbClr val="EFEBF8"/>
          </a:solidFill>
          <a:ln/>
          <a:effectLst>
            <a:outerShdw sx="100000" sy="100000" kx="0" ky="0" algn="bl" rotWithShape="0" blurRad="127000" dist="25400" dir="5400000">
              <a:srgbClr val="241E33">
                <a:alpha val="10000"/>
              </a:srgbClr>
            </a:outerShdw>
          </a:effectLst>
        </p:spPr>
      </p:sp>
      <p:sp>
        <p:nvSpPr>
          <p:cNvPr id="14" name="Shape 12"/>
          <p:cNvSpPr/>
          <p:nvPr/>
        </p:nvSpPr>
        <p:spPr>
          <a:xfrm rot="5400000">
            <a:off x="8284464" y="2395728"/>
            <a:ext cx="457200" cy="457200"/>
          </a:xfrm>
          <a:prstGeom prst="hexagon">
            <a:avLst/>
          </a:prstGeom>
          <a:solidFill>
            <a:srgbClr val="178A4C"/>
          </a:solidFill>
          <a:ln/>
        </p:spPr>
      </p:sp>
      <p:sp>
        <p:nvSpPr>
          <p:cNvPr id="15" name="Text 13"/>
          <p:cNvSpPr/>
          <p:nvPr/>
        </p:nvSpPr>
        <p:spPr>
          <a:xfrm>
            <a:off x="8284464" y="3017520"/>
            <a:ext cx="2880360" cy="566928"/>
          </a:xfrm>
          <a:prstGeom prst="rect">
            <a:avLst/>
          </a:prstGeom>
          <a:noFill/>
          <a:ln/>
        </p:spPr>
        <p:txBody>
          <a:bodyPr wrap="square" lIns="0" tIns="0" rIns="0" bIns="0" rtlCol="0" anchor="ctr"/>
          <a:lstStyle/>
          <a:p>
            <a:pPr indent="0" marL="0">
              <a:buNone/>
            </a:pPr>
            <a:r>
              <a:rPr lang="en-US" sz="1700" b="1" dirty="0">
                <a:solidFill>
                  <a:srgbClr val="241E33"/>
                </a:solidFill>
                <a:latin typeface="Cambria" pitchFamily="34" charset="0"/>
                <a:ea typeface="Cambria" pitchFamily="34" charset="-122"/>
                <a:cs typeface="Cambria" pitchFamily="34" charset="-120"/>
              </a:rPr>
              <a:t>The alternatives are poor</a:t>
            </a:r>
            <a:endParaRPr lang="en-US" sz="1700" dirty="0"/>
          </a:p>
        </p:txBody>
      </p:sp>
      <p:sp>
        <p:nvSpPr>
          <p:cNvPr id="16" name="Text 14"/>
          <p:cNvSpPr/>
          <p:nvPr/>
        </p:nvSpPr>
        <p:spPr>
          <a:xfrm>
            <a:off x="8284464" y="3657600"/>
            <a:ext cx="2880360" cy="1097280"/>
          </a:xfrm>
          <a:prstGeom prst="rect">
            <a:avLst/>
          </a:prstGeom>
          <a:noFill/>
          <a:ln/>
        </p:spPr>
        <p:txBody>
          <a:bodyPr wrap="square" lIns="0" tIns="0" rIns="0" bIns="0" rtlCol="0" anchor="ctr"/>
          <a:lstStyle/>
          <a:p>
            <a:pPr indent="0" marL="0">
              <a:lnSpc>
                <a:spcPts val="1600"/>
              </a:lnSpc>
              <a:buNone/>
            </a:pPr>
            <a:r>
              <a:rPr lang="en-US" sz="1250" dirty="0">
                <a:solidFill>
                  <a:srgbClr val="4A4360"/>
                </a:solidFill>
                <a:latin typeface="Calibri" pitchFamily="34" charset="0"/>
                <a:ea typeface="Calibri" pitchFamily="34" charset="-122"/>
                <a:cs typeface="Calibri" pitchFamily="34" charset="-120"/>
              </a:rPr>
              <a:t>Photocopied worksheets, tutors at $60–100 an hour, or apps built for a general audience that do not understand this family at all.</a:t>
            </a:r>
            <a:endParaRPr lang="en-US" sz="1250" dirty="0"/>
          </a:p>
        </p:txBody>
      </p:sp>
      <p:sp>
        <p:nvSpPr>
          <p:cNvPr id="17" name="Text 15"/>
          <p:cNvSpPr/>
          <p:nvPr/>
        </p:nvSpPr>
        <p:spPr>
          <a:xfrm>
            <a:off x="640080" y="5212080"/>
            <a:ext cx="10607040" cy="365760"/>
          </a:xfrm>
          <a:prstGeom prst="rect">
            <a:avLst/>
          </a:prstGeom>
          <a:noFill/>
          <a:ln/>
        </p:spPr>
        <p:txBody>
          <a:bodyPr wrap="square" lIns="0" tIns="0" rIns="0" bIns="0" rtlCol="0" anchor="ctr"/>
          <a:lstStyle/>
          <a:p>
            <a:pPr indent="0" marL="0">
              <a:buNone/>
            </a:pPr>
            <a:r>
              <a:rPr lang="en-US" sz="1600" i="1" dirty="0">
                <a:solidFill>
                  <a:srgbClr val="6C4FE0"/>
                </a:solidFill>
                <a:latin typeface="Cambria" pitchFamily="34" charset="0"/>
                <a:ea typeface="Cambria" pitchFamily="34" charset="-122"/>
                <a:cs typeface="Cambria" pitchFamily="34" charset="-120"/>
              </a:rPr>
              <a:t>That worry is large, permanent, and currently served badly. It is the whole opportunity.</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241E33"/>
        </a:solidFill>
      </p:bgPr>
    </p:bg>
    <p:spTree>
      <p:nvGrpSpPr>
        <p:cNvPr id="1" name=""/>
        <p:cNvGrpSpPr/>
        <p:nvPr/>
      </p:nvGrpSpPr>
      <p:grpSpPr>
        <a:xfrm>
          <a:off x="0" y="0"/>
          <a:ext cx="0" cy="0"/>
          <a:chOff x="0" y="0"/>
          <a:chExt cx="0" cy="0"/>
        </a:xfrm>
      </p:grpSpPr>
      <p:sp>
        <p:nvSpPr>
          <p:cNvPr id="2" name="Shape 0"/>
          <p:cNvSpPr/>
          <p:nvPr/>
        </p:nvSpPr>
        <p:spPr>
          <a:xfrm rot="5400000">
            <a:off x="182880" y="4343400"/>
            <a:ext cx="777240" cy="777240"/>
          </a:xfrm>
          <a:prstGeom prst="hexagon">
            <a:avLst/>
          </a:prstGeom>
          <a:solidFill>
            <a:srgbClr val="6C4FE0">
              <a:alpha val="20000"/>
            </a:srgbClr>
          </a:solidFill>
          <a:ln/>
        </p:spPr>
      </p:sp>
      <p:sp>
        <p:nvSpPr>
          <p:cNvPr id="3" name="Shape 1"/>
          <p:cNvSpPr/>
          <p:nvPr/>
        </p:nvSpPr>
        <p:spPr>
          <a:xfrm rot="5400000">
            <a:off x="1280160" y="4343400"/>
            <a:ext cx="777240" cy="777240"/>
          </a:xfrm>
          <a:prstGeom prst="hexagon">
            <a:avLst/>
          </a:prstGeom>
          <a:solidFill>
            <a:srgbClr val="6C4FE0">
              <a:alpha val="20000"/>
            </a:srgbClr>
          </a:solidFill>
          <a:ln/>
        </p:spPr>
      </p:sp>
      <p:sp>
        <p:nvSpPr>
          <p:cNvPr id="4" name="Shape 2"/>
          <p:cNvSpPr/>
          <p:nvPr/>
        </p:nvSpPr>
        <p:spPr>
          <a:xfrm rot="5400000">
            <a:off x="2377440" y="4343400"/>
            <a:ext cx="777240" cy="777240"/>
          </a:xfrm>
          <a:prstGeom prst="hexagon">
            <a:avLst/>
          </a:prstGeom>
          <a:solidFill>
            <a:srgbClr val="6C4FE0">
              <a:alpha val="20000"/>
            </a:srgbClr>
          </a:solidFill>
          <a:ln/>
        </p:spPr>
      </p:sp>
      <p:sp>
        <p:nvSpPr>
          <p:cNvPr id="5" name="Shape 3"/>
          <p:cNvSpPr/>
          <p:nvPr/>
        </p:nvSpPr>
        <p:spPr>
          <a:xfrm rot="5400000">
            <a:off x="731520" y="5287061"/>
            <a:ext cx="777240" cy="777240"/>
          </a:xfrm>
          <a:prstGeom prst="hexagon">
            <a:avLst/>
          </a:prstGeom>
          <a:solidFill>
            <a:srgbClr val="6C4FE0">
              <a:alpha val="20000"/>
            </a:srgbClr>
          </a:solidFill>
          <a:ln/>
        </p:spPr>
      </p:sp>
      <p:sp>
        <p:nvSpPr>
          <p:cNvPr id="6" name="Shape 4"/>
          <p:cNvSpPr/>
          <p:nvPr/>
        </p:nvSpPr>
        <p:spPr>
          <a:xfrm rot="5400000">
            <a:off x="1828800" y="5287061"/>
            <a:ext cx="777240" cy="777240"/>
          </a:xfrm>
          <a:prstGeom prst="hexagon">
            <a:avLst/>
          </a:prstGeom>
          <a:solidFill>
            <a:srgbClr val="6C4FE0">
              <a:alpha val="20000"/>
            </a:srgbClr>
          </a:solidFill>
          <a:ln/>
        </p:spPr>
      </p:sp>
      <p:sp>
        <p:nvSpPr>
          <p:cNvPr id="7" name="Shape 5"/>
          <p:cNvSpPr/>
          <p:nvPr/>
        </p:nvSpPr>
        <p:spPr>
          <a:xfrm rot="5400000">
            <a:off x="2926080" y="5287061"/>
            <a:ext cx="777240" cy="777240"/>
          </a:xfrm>
          <a:prstGeom prst="hexagon">
            <a:avLst/>
          </a:prstGeom>
          <a:solidFill>
            <a:srgbClr val="6C4FE0">
              <a:alpha val="20000"/>
            </a:srgbClr>
          </a:solidFill>
          <a:ln/>
        </p:spPr>
      </p:sp>
      <p:sp>
        <p:nvSpPr>
          <p:cNvPr id="8" name="Text 6"/>
          <p:cNvSpPr/>
          <p:nvPr/>
        </p:nvSpPr>
        <p:spPr>
          <a:xfrm>
            <a:off x="640080" y="914400"/>
            <a:ext cx="5486400" cy="320040"/>
          </a:xfrm>
          <a:prstGeom prst="rect">
            <a:avLst/>
          </a:prstGeom>
          <a:noFill/>
          <a:ln/>
        </p:spPr>
        <p:txBody>
          <a:bodyPr wrap="square" lIns="0" tIns="0" rIns="0" bIns="0" rtlCol="0" anchor="ctr"/>
          <a:lstStyle/>
          <a:p>
            <a:pPr indent="0" marL="0">
              <a:buNone/>
            </a:pPr>
            <a:r>
              <a:rPr lang="en-US" sz="1200" b="1" spc="300" kern="0" dirty="0">
                <a:solidFill>
                  <a:srgbClr val="F0B429"/>
                </a:solidFill>
                <a:latin typeface="Calibri" pitchFamily="34" charset="0"/>
                <a:ea typeface="Calibri" pitchFamily="34" charset="-122"/>
                <a:cs typeface="Calibri" pitchFamily="34" charset="-120"/>
              </a:rPr>
              <a:t>VISION</a:t>
            </a:r>
            <a:endParaRPr lang="en-US" sz="1200" dirty="0"/>
          </a:p>
        </p:txBody>
      </p:sp>
      <p:sp>
        <p:nvSpPr>
          <p:cNvPr id="9" name="Text 7"/>
          <p:cNvSpPr/>
          <p:nvPr/>
        </p:nvSpPr>
        <p:spPr>
          <a:xfrm>
            <a:off x="640080" y="1554480"/>
            <a:ext cx="9692640" cy="2194560"/>
          </a:xfrm>
          <a:prstGeom prst="rect">
            <a:avLst/>
          </a:prstGeom>
          <a:noFill/>
          <a:ln/>
        </p:spPr>
        <p:txBody>
          <a:bodyPr wrap="square" lIns="0" tIns="0" rIns="0" bIns="0" rtlCol="0" anchor="ctr"/>
          <a:lstStyle/>
          <a:p>
            <a:pPr indent="0" marL="0">
              <a:lnSpc>
                <a:spcPts val="4600"/>
              </a:lnSpc>
              <a:buNone/>
            </a:pPr>
            <a:r>
              <a:rPr lang="en-US" sz="4000" b="1" dirty="0">
                <a:solidFill>
                  <a:srgbClr val="FFFFFF"/>
                </a:solidFill>
                <a:latin typeface="Cambria" pitchFamily="34" charset="0"/>
                <a:ea typeface="Cambria" pitchFamily="34" charset="-122"/>
                <a:cs typeface="Cambria" pitchFamily="34" charset="-120"/>
              </a:rPr>
              <a:t>Every child of the diaspora walks into any room in the world already equipped to belong in it.</a:t>
            </a:r>
            <a:endParaRPr lang="en-US" sz="4000" dirty="0"/>
          </a:p>
        </p:txBody>
      </p:sp>
      <p:sp>
        <p:nvSpPr>
          <p:cNvPr id="10" name="Text 8"/>
          <p:cNvSpPr/>
          <p:nvPr/>
        </p:nvSpPr>
        <p:spPr>
          <a:xfrm>
            <a:off x="640080" y="3931920"/>
            <a:ext cx="8778240" cy="914400"/>
          </a:xfrm>
          <a:prstGeom prst="rect">
            <a:avLst/>
          </a:prstGeom>
          <a:noFill/>
          <a:ln/>
        </p:spPr>
        <p:txBody>
          <a:bodyPr wrap="square" lIns="0" tIns="0" rIns="0" bIns="0" rtlCol="0" anchor="ctr"/>
          <a:lstStyle/>
          <a:p>
            <a:pPr indent="0" marL="0">
              <a:lnSpc>
                <a:spcPts val="2200"/>
              </a:lnSpc>
              <a:buNone/>
            </a:pPr>
            <a:r>
              <a:rPr lang="en-US" sz="1500" dirty="0">
                <a:solidFill>
                  <a:srgbClr val="E3DCF2"/>
                </a:solidFill>
                <a:latin typeface="Calibri" pitchFamily="34" charset="0"/>
                <a:ea typeface="Calibri" pitchFamily="34" charset="-122"/>
                <a:cs typeface="Calibri" pitchFamily="34" charset="-120"/>
              </a:rPr>
              <a:t>Not "does well at school". Equipped — with the words, the numbers and the nerve to compete anywhere, and the language and history to know where they came from.</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WHAT WE DO ABOUT IT</a:t>
            </a:r>
            <a:endParaRPr lang="en-US" sz="1150" dirty="0"/>
          </a:p>
        </p:txBody>
      </p:sp>
      <p:sp>
        <p:nvSpPr>
          <p:cNvPr id="3" name="Text 1"/>
          <p:cNvSpPr/>
          <p:nvPr/>
        </p:nvSpPr>
        <p:spPr>
          <a:xfrm>
            <a:off x="640080" y="694944"/>
            <a:ext cx="106070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Mission</a:t>
            </a:r>
            <a:endParaRPr lang="en-US" sz="2900" dirty="0"/>
          </a:p>
        </p:txBody>
      </p:sp>
      <p:sp>
        <p:nvSpPr>
          <p:cNvPr id="4" name="Shape 2"/>
          <p:cNvSpPr/>
          <p:nvPr/>
        </p:nvSpPr>
        <p:spPr>
          <a:xfrm>
            <a:off x="640080" y="1417320"/>
            <a:ext cx="10607040" cy="1234440"/>
          </a:xfrm>
          <a:prstGeom prst="roundRect">
            <a:avLst>
              <a:gd name="adj" fmla="val 10370"/>
            </a:avLst>
          </a:prstGeom>
          <a:solidFill>
            <a:srgbClr val="EFEBF8"/>
          </a:solidFill>
          <a:ln/>
          <a:effectLst>
            <a:outerShdw sx="100000" sy="100000" kx="0" ky="0" algn="bl" rotWithShape="0" blurRad="127000" dist="25400" dir="5400000">
              <a:srgbClr val="241E33">
                <a:alpha val="10000"/>
              </a:srgbClr>
            </a:outerShdw>
          </a:effectLst>
        </p:spPr>
      </p:sp>
      <p:sp>
        <p:nvSpPr>
          <p:cNvPr id="5" name="Text 3"/>
          <p:cNvSpPr/>
          <p:nvPr/>
        </p:nvSpPr>
        <p:spPr>
          <a:xfrm>
            <a:off x="1024128" y="1600200"/>
            <a:ext cx="9875520" cy="868680"/>
          </a:xfrm>
          <a:prstGeom prst="rect">
            <a:avLst/>
          </a:prstGeom>
          <a:noFill/>
          <a:ln/>
        </p:spPr>
        <p:txBody>
          <a:bodyPr wrap="square" lIns="0" tIns="0" rIns="0" bIns="0" rtlCol="0" anchor="ctr"/>
          <a:lstStyle/>
          <a:p>
            <a:pPr indent="0" marL="0">
              <a:lnSpc>
                <a:spcPts val="2800"/>
              </a:lnSpc>
              <a:buNone/>
            </a:pPr>
            <a:r>
              <a:rPr lang="en-US" sz="2100" b="1" dirty="0">
                <a:solidFill>
                  <a:srgbClr val="241E33"/>
                </a:solidFill>
                <a:latin typeface="Cambria" pitchFamily="34" charset="0"/>
                <a:ea typeface="Cambria" pitchFamily="34" charset="-122"/>
                <a:cs typeface="Cambria" pitchFamily="34" charset="-120"/>
              </a:rPr>
              <a:t>To give diaspora families world-class competitive learning — starting with words — in products children actually want to open.</a:t>
            </a:r>
            <a:endParaRPr lang="en-US" sz="2100" dirty="0"/>
          </a:p>
        </p:txBody>
      </p:sp>
      <p:sp>
        <p:nvSpPr>
          <p:cNvPr id="6" name="Shape 4"/>
          <p:cNvSpPr/>
          <p:nvPr/>
        </p:nvSpPr>
        <p:spPr>
          <a:xfrm rot="5400000">
            <a:off x="640080" y="3035808"/>
            <a:ext cx="384048" cy="384048"/>
          </a:xfrm>
          <a:prstGeom prst="hexagon">
            <a:avLst/>
          </a:prstGeom>
          <a:solidFill>
            <a:srgbClr val="6C4FE0"/>
          </a:solidFill>
          <a:ln/>
        </p:spPr>
      </p:sp>
      <p:sp>
        <p:nvSpPr>
          <p:cNvPr id="7" name="Text 5"/>
          <p:cNvSpPr/>
          <p:nvPr/>
        </p:nvSpPr>
        <p:spPr>
          <a:xfrm>
            <a:off x="640080" y="303580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8" name="Text 6"/>
          <p:cNvSpPr/>
          <p:nvPr/>
        </p:nvSpPr>
        <p:spPr>
          <a:xfrm>
            <a:off x="640080" y="3584448"/>
            <a:ext cx="3291840" cy="457200"/>
          </a:xfrm>
          <a:prstGeom prst="rect">
            <a:avLst/>
          </a:prstGeom>
          <a:noFill/>
          <a:ln/>
        </p:spPr>
        <p:txBody>
          <a:bodyPr wrap="square" lIns="0" tIns="0" rIns="0" bIns="0" rtlCol="0" anchor="ctr"/>
          <a:lstStyle/>
          <a:p>
            <a:pPr indent="0" marL="0">
              <a:buNone/>
            </a:pPr>
            <a:r>
              <a:rPr lang="en-US" sz="1650" b="1" dirty="0">
                <a:solidFill>
                  <a:srgbClr val="241E33"/>
                </a:solidFill>
                <a:latin typeface="Cambria" pitchFamily="34" charset="0"/>
                <a:ea typeface="Cambria" pitchFamily="34" charset="-122"/>
                <a:cs typeface="Cambria" pitchFamily="34" charset="-120"/>
              </a:rPr>
              <a:t>Competitive, not remedial</a:t>
            </a:r>
            <a:endParaRPr lang="en-US" sz="1650" dirty="0"/>
          </a:p>
        </p:txBody>
      </p:sp>
      <p:sp>
        <p:nvSpPr>
          <p:cNvPr id="9" name="Text 7"/>
          <p:cNvSpPr/>
          <p:nvPr/>
        </p:nvSpPr>
        <p:spPr>
          <a:xfrm>
            <a:off x="640080" y="4078224"/>
            <a:ext cx="3291840" cy="1097280"/>
          </a:xfrm>
          <a:prstGeom prst="rect">
            <a:avLst/>
          </a:prstGeom>
          <a:noFill/>
          <a:ln/>
        </p:spPr>
        <p:txBody>
          <a:bodyPr wrap="square" lIns="0" tIns="0" rIns="0" bIns="0" rtlCol="0" anchor="ctr"/>
          <a:lstStyle/>
          <a:p>
            <a:pPr indent="0" marL="0">
              <a:lnSpc>
                <a:spcPts val="1800"/>
              </a:lnSpc>
              <a:buNone/>
            </a:pPr>
            <a:r>
              <a:rPr lang="en-US" sz="1300" dirty="0">
                <a:solidFill>
                  <a:srgbClr val="4A4360"/>
                </a:solidFill>
                <a:latin typeface="Calibri" pitchFamily="34" charset="0"/>
                <a:ea typeface="Calibri" pitchFamily="34" charset="-122"/>
                <a:cs typeface="Calibri" pitchFamily="34" charset="-120"/>
              </a:rPr>
              <a:t>We prepare children to win things, not to catch up. That is the register the parent is already in.</a:t>
            </a:r>
            <a:endParaRPr lang="en-US" sz="1300" dirty="0"/>
          </a:p>
        </p:txBody>
      </p:sp>
      <p:sp>
        <p:nvSpPr>
          <p:cNvPr id="10" name="Shape 8"/>
          <p:cNvSpPr/>
          <p:nvPr/>
        </p:nvSpPr>
        <p:spPr>
          <a:xfrm rot="5400000">
            <a:off x="4325112" y="3035808"/>
            <a:ext cx="384048" cy="384048"/>
          </a:xfrm>
          <a:prstGeom prst="hexagon">
            <a:avLst/>
          </a:prstGeom>
          <a:solidFill>
            <a:srgbClr val="F0B429"/>
          </a:solidFill>
          <a:ln/>
        </p:spPr>
      </p:sp>
      <p:sp>
        <p:nvSpPr>
          <p:cNvPr id="11" name="Text 9"/>
          <p:cNvSpPr/>
          <p:nvPr/>
        </p:nvSpPr>
        <p:spPr>
          <a:xfrm>
            <a:off x="4325112" y="3035808"/>
            <a:ext cx="384048" cy="384048"/>
          </a:xfrm>
          <a:prstGeom prst="rect">
            <a:avLst/>
          </a:prstGeom>
          <a:noFill/>
          <a:ln/>
        </p:spPr>
        <p:txBody>
          <a:bodyPr wrap="square" lIns="0" tIns="0" rIns="0" bIns="0" rtlCol="0" anchor="ctr"/>
          <a:lstStyle/>
          <a:p>
            <a:pPr algn="ctr" indent="0" marL="0">
              <a:buNone/>
            </a:pPr>
            <a:r>
              <a:rPr lang="en-US" sz="1300" b="1" dirty="0">
                <a:solidFill>
                  <a:srgbClr val="241E33"/>
                </a:solidFill>
                <a:latin typeface="Cambria" pitchFamily="34" charset="0"/>
                <a:ea typeface="Cambria" pitchFamily="34" charset="-122"/>
                <a:cs typeface="Cambria" pitchFamily="34" charset="-120"/>
              </a:rPr>
              <a:t>2</a:t>
            </a:r>
            <a:endParaRPr lang="en-US" sz="1300" dirty="0"/>
          </a:p>
        </p:txBody>
      </p:sp>
      <p:sp>
        <p:nvSpPr>
          <p:cNvPr id="12" name="Text 10"/>
          <p:cNvSpPr/>
          <p:nvPr/>
        </p:nvSpPr>
        <p:spPr>
          <a:xfrm>
            <a:off x="4325112" y="3584448"/>
            <a:ext cx="3291840" cy="457200"/>
          </a:xfrm>
          <a:prstGeom prst="rect">
            <a:avLst/>
          </a:prstGeom>
          <a:noFill/>
          <a:ln/>
        </p:spPr>
        <p:txBody>
          <a:bodyPr wrap="square" lIns="0" tIns="0" rIns="0" bIns="0" rtlCol="0" anchor="ctr"/>
          <a:lstStyle/>
          <a:p>
            <a:pPr indent="0" marL="0">
              <a:buNone/>
            </a:pPr>
            <a:r>
              <a:rPr lang="en-US" sz="1650" b="1" dirty="0">
                <a:solidFill>
                  <a:srgbClr val="241E33"/>
                </a:solidFill>
                <a:latin typeface="Cambria" pitchFamily="34" charset="0"/>
                <a:ea typeface="Cambria" pitchFamily="34" charset="-122"/>
                <a:cs typeface="Cambria" pitchFamily="34" charset="-120"/>
              </a:rPr>
              <a:t>Built for this family</a:t>
            </a:r>
            <a:endParaRPr lang="en-US" sz="1650" dirty="0"/>
          </a:p>
        </p:txBody>
      </p:sp>
      <p:sp>
        <p:nvSpPr>
          <p:cNvPr id="13" name="Text 11"/>
          <p:cNvSpPr/>
          <p:nvPr/>
        </p:nvSpPr>
        <p:spPr>
          <a:xfrm>
            <a:off x="4325112" y="4078224"/>
            <a:ext cx="3291840" cy="1097280"/>
          </a:xfrm>
          <a:prstGeom prst="rect">
            <a:avLst/>
          </a:prstGeom>
          <a:noFill/>
          <a:ln/>
        </p:spPr>
        <p:txBody>
          <a:bodyPr wrap="square" lIns="0" tIns="0" rIns="0" bIns="0" rtlCol="0" anchor="ctr"/>
          <a:lstStyle/>
          <a:p>
            <a:pPr indent="0" marL="0">
              <a:lnSpc>
                <a:spcPts val="1800"/>
              </a:lnSpc>
              <a:buNone/>
            </a:pPr>
            <a:r>
              <a:rPr lang="en-US" sz="1300" dirty="0">
                <a:solidFill>
                  <a:srgbClr val="4A4360"/>
                </a:solidFill>
                <a:latin typeface="Calibri" pitchFamily="34" charset="0"/>
                <a:ea typeface="Calibri" pitchFamily="34" charset="-122"/>
                <a:cs typeface="Calibri" pitchFamily="34" charset="-120"/>
              </a:rPr>
              <a:t>Heritage, language and diaspora context are first-class, not a localisation afterthought.</a:t>
            </a:r>
            <a:endParaRPr lang="en-US" sz="1300" dirty="0"/>
          </a:p>
        </p:txBody>
      </p:sp>
      <p:sp>
        <p:nvSpPr>
          <p:cNvPr id="14" name="Shape 12"/>
          <p:cNvSpPr/>
          <p:nvPr/>
        </p:nvSpPr>
        <p:spPr>
          <a:xfrm rot="5400000">
            <a:off x="8010144" y="3035808"/>
            <a:ext cx="384048" cy="384048"/>
          </a:xfrm>
          <a:prstGeom prst="hexagon">
            <a:avLst/>
          </a:prstGeom>
          <a:solidFill>
            <a:srgbClr val="6C4FE0"/>
          </a:solidFill>
          <a:ln/>
        </p:spPr>
      </p:sp>
      <p:sp>
        <p:nvSpPr>
          <p:cNvPr id="15" name="Text 13"/>
          <p:cNvSpPr/>
          <p:nvPr/>
        </p:nvSpPr>
        <p:spPr>
          <a:xfrm>
            <a:off x="8010144" y="303580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6" name="Text 14"/>
          <p:cNvSpPr/>
          <p:nvPr/>
        </p:nvSpPr>
        <p:spPr>
          <a:xfrm>
            <a:off x="8010144" y="3584448"/>
            <a:ext cx="3291840" cy="457200"/>
          </a:xfrm>
          <a:prstGeom prst="rect">
            <a:avLst/>
          </a:prstGeom>
          <a:noFill/>
          <a:ln/>
        </p:spPr>
        <p:txBody>
          <a:bodyPr wrap="square" lIns="0" tIns="0" rIns="0" bIns="0" rtlCol="0" anchor="ctr"/>
          <a:lstStyle/>
          <a:p>
            <a:pPr indent="0" marL="0">
              <a:buNone/>
            </a:pPr>
            <a:r>
              <a:rPr lang="en-US" sz="1650" b="1" dirty="0">
                <a:solidFill>
                  <a:srgbClr val="241E33"/>
                </a:solidFill>
                <a:latin typeface="Cambria" pitchFamily="34" charset="0"/>
                <a:ea typeface="Cambria" pitchFamily="34" charset="-122"/>
                <a:cs typeface="Cambria" pitchFamily="34" charset="-120"/>
              </a:rPr>
              <a:t>Fun enough to open unprompted</a:t>
            </a:r>
            <a:endParaRPr lang="en-US" sz="1650" dirty="0"/>
          </a:p>
        </p:txBody>
      </p:sp>
      <p:sp>
        <p:nvSpPr>
          <p:cNvPr id="17" name="Text 15"/>
          <p:cNvSpPr/>
          <p:nvPr/>
        </p:nvSpPr>
        <p:spPr>
          <a:xfrm>
            <a:off x="8010144" y="4078224"/>
            <a:ext cx="3291840" cy="1097280"/>
          </a:xfrm>
          <a:prstGeom prst="rect">
            <a:avLst/>
          </a:prstGeom>
          <a:noFill/>
          <a:ln/>
        </p:spPr>
        <p:txBody>
          <a:bodyPr wrap="square" lIns="0" tIns="0" rIns="0" bIns="0" rtlCol="0" anchor="ctr"/>
          <a:lstStyle/>
          <a:p>
            <a:pPr indent="0" marL="0">
              <a:lnSpc>
                <a:spcPts val="1800"/>
              </a:lnSpc>
              <a:buNone/>
            </a:pPr>
            <a:r>
              <a:rPr lang="en-US" sz="1300" dirty="0">
                <a:solidFill>
                  <a:srgbClr val="4A4360"/>
                </a:solidFill>
                <a:latin typeface="Calibri" pitchFamily="34" charset="0"/>
                <a:ea typeface="Calibri" pitchFamily="34" charset="-122"/>
                <a:cs typeface="Calibri" pitchFamily="34" charset="-120"/>
              </a:rPr>
              <a:t>A product a child opens on their own beats a better product they have to be nagged into.</a:t>
            </a:r>
            <a:endParaRPr lang="en-US" sz="1300" dirty="0"/>
          </a:p>
        </p:txBody>
      </p:sp>
      <p:sp>
        <p:nvSpPr>
          <p:cNvPr id="18" name="Text 16"/>
          <p:cNvSpPr/>
          <p:nvPr/>
        </p:nvSpPr>
        <p:spPr>
          <a:xfrm>
            <a:off x="640080" y="5532120"/>
            <a:ext cx="10607040" cy="457200"/>
          </a:xfrm>
          <a:prstGeom prst="rect">
            <a:avLst/>
          </a:prstGeom>
          <a:noFill/>
          <a:ln/>
        </p:spPr>
        <p:txBody>
          <a:bodyPr wrap="square" lIns="0" tIns="0" rIns="0" bIns="0" rtlCol="0" anchor="ctr"/>
          <a:lstStyle/>
          <a:p>
            <a:pPr indent="0" marL="0">
              <a:buNone/>
            </a:pPr>
            <a:r>
              <a:rPr lang="en-US" sz="1350" i="1" dirty="0">
                <a:solidFill>
                  <a:srgbClr val="7A7291"/>
                </a:solidFill>
                <a:latin typeface="Calibri" pitchFamily="34" charset="0"/>
                <a:ea typeface="Calibri" pitchFamily="34" charset="-122"/>
                <a:cs typeface="Calibri" pitchFamily="34" charset="-120"/>
              </a:rPr>
              <a:t>Success is a child who is measurably better at something their parent cares about — and who did the practice willingly.</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THE THREE QUESTIONS</a:t>
            </a:r>
            <a:endParaRPr lang="en-US" sz="1150" dirty="0"/>
          </a:p>
        </p:txBody>
      </p:sp>
      <p:sp>
        <p:nvSpPr>
          <p:cNvPr id="3" name="Text 1"/>
          <p:cNvSpPr/>
          <p:nvPr/>
        </p:nvSpPr>
        <p:spPr>
          <a:xfrm>
            <a:off x="640080" y="694944"/>
            <a:ext cx="106070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Why, what, how</a:t>
            </a:r>
            <a:endParaRPr lang="en-US" sz="2900" dirty="0"/>
          </a:p>
        </p:txBody>
      </p:sp>
      <p:sp>
        <p:nvSpPr>
          <p:cNvPr id="4" name="Shape 2"/>
          <p:cNvSpPr/>
          <p:nvPr/>
        </p:nvSpPr>
        <p:spPr>
          <a:xfrm>
            <a:off x="640080" y="1481328"/>
            <a:ext cx="10607040" cy="1371600"/>
          </a:xfrm>
          <a:prstGeom prst="roundRect">
            <a:avLst>
              <a:gd name="adj" fmla="val 9333"/>
            </a:avLst>
          </a:prstGeom>
          <a:solidFill>
            <a:srgbClr val="EFEBF8"/>
          </a:solidFill>
          <a:ln/>
          <a:effectLst>
            <a:outerShdw sx="100000" sy="100000" kx="0" ky="0" algn="bl" rotWithShape="0" blurRad="127000" dist="25400" dir="5400000">
              <a:srgbClr val="241E33">
                <a:alpha val="10000"/>
              </a:srgbClr>
            </a:outerShdw>
          </a:effectLst>
        </p:spPr>
      </p:sp>
      <p:sp>
        <p:nvSpPr>
          <p:cNvPr id="5" name="Shape 3"/>
          <p:cNvSpPr/>
          <p:nvPr/>
        </p:nvSpPr>
        <p:spPr>
          <a:xfrm rot="5400000">
            <a:off x="960120" y="1865376"/>
            <a:ext cx="603504" cy="603504"/>
          </a:xfrm>
          <a:prstGeom prst="hexagon">
            <a:avLst/>
          </a:prstGeom>
          <a:solidFill>
            <a:srgbClr val="6C4FE0"/>
          </a:solidFill>
          <a:ln/>
        </p:spPr>
      </p:sp>
      <p:sp>
        <p:nvSpPr>
          <p:cNvPr id="6" name="Text 4"/>
          <p:cNvSpPr/>
          <p:nvPr/>
        </p:nvSpPr>
        <p:spPr>
          <a:xfrm>
            <a:off x="960120" y="1865376"/>
            <a:ext cx="603504" cy="603504"/>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WHY</a:t>
            </a:r>
            <a:endParaRPr lang="en-US" sz="950" dirty="0"/>
          </a:p>
        </p:txBody>
      </p:sp>
      <p:sp>
        <p:nvSpPr>
          <p:cNvPr id="7" name="Text 5"/>
          <p:cNvSpPr/>
          <p:nvPr/>
        </p:nvSpPr>
        <p:spPr>
          <a:xfrm>
            <a:off x="1874520" y="1700784"/>
            <a:ext cx="9052560" cy="384048"/>
          </a:xfrm>
          <a:prstGeom prst="rect">
            <a:avLst/>
          </a:prstGeom>
          <a:noFill/>
          <a:ln/>
        </p:spPr>
        <p:txBody>
          <a:bodyPr wrap="square" lIns="0" tIns="0" rIns="0" bIns="0" rtlCol="0" anchor="ctr"/>
          <a:lstStyle/>
          <a:p>
            <a:pPr indent="0" marL="0">
              <a:buNone/>
            </a:pPr>
            <a:r>
              <a:rPr lang="en-US" sz="1850" b="1" dirty="0">
                <a:solidFill>
                  <a:srgbClr val="241E33"/>
                </a:solidFill>
                <a:latin typeface="Cambria" pitchFamily="34" charset="0"/>
                <a:ea typeface="Cambria" pitchFamily="34" charset="-122"/>
                <a:cs typeface="Cambria" pitchFamily="34" charset="-120"/>
              </a:rPr>
              <a:t>Because ability is not the constraint — access is.</a:t>
            </a:r>
            <a:endParaRPr lang="en-US" sz="1850" dirty="0"/>
          </a:p>
        </p:txBody>
      </p:sp>
      <p:sp>
        <p:nvSpPr>
          <p:cNvPr id="8" name="Text 6"/>
          <p:cNvSpPr/>
          <p:nvPr/>
        </p:nvSpPr>
        <p:spPr>
          <a:xfrm>
            <a:off x="1874520" y="2121408"/>
            <a:ext cx="9052560" cy="658368"/>
          </a:xfrm>
          <a:prstGeom prst="rect">
            <a:avLst/>
          </a:prstGeom>
          <a:noFill/>
          <a:ln/>
        </p:spPr>
        <p:txBody>
          <a:bodyPr wrap="square" lIns="0" tIns="0" rIns="0" bIns="0" rtlCol="0" anchor="ctr"/>
          <a:lstStyle/>
          <a:p>
            <a:pPr indent="0" marL="0">
              <a:lnSpc>
                <a:spcPts val="1700"/>
              </a:lnSpc>
              <a:buNone/>
            </a:pPr>
            <a:r>
              <a:rPr lang="en-US" sz="1280" dirty="0">
                <a:solidFill>
                  <a:srgbClr val="4A4360"/>
                </a:solidFill>
                <a:latin typeface="Calibri" pitchFamily="34" charset="0"/>
                <a:ea typeface="Calibri" pitchFamily="34" charset="-122"/>
                <a:cs typeface="Calibri" pitchFamily="34" charset="-120"/>
              </a:rPr>
              <a:t>These children are not short of talent or of parental will. They are short of good, affordable, culturally-fluent practice. Every hour a parent spends worrying is an hour we can convert into something the child enjoys.</a:t>
            </a:r>
            <a:endParaRPr lang="en-US" sz="1280" dirty="0"/>
          </a:p>
        </p:txBody>
      </p:sp>
      <p:sp>
        <p:nvSpPr>
          <p:cNvPr id="9" name="Shape 7"/>
          <p:cNvSpPr/>
          <p:nvPr/>
        </p:nvSpPr>
        <p:spPr>
          <a:xfrm>
            <a:off x="640080" y="3054096"/>
            <a:ext cx="10607040" cy="1371600"/>
          </a:xfrm>
          <a:prstGeom prst="roundRect">
            <a:avLst>
              <a:gd name="adj" fmla="val 9333"/>
            </a:avLst>
          </a:prstGeom>
          <a:solidFill>
            <a:srgbClr val="FFFFFF"/>
          </a:solidFill>
          <a:ln/>
          <a:effectLst>
            <a:outerShdw sx="100000" sy="100000" kx="0" ky="0" algn="bl" rotWithShape="0" blurRad="127000" dist="25400" dir="5400000">
              <a:srgbClr val="241E33">
                <a:alpha val="10000"/>
              </a:srgbClr>
            </a:outerShdw>
          </a:effectLst>
        </p:spPr>
      </p:sp>
      <p:sp>
        <p:nvSpPr>
          <p:cNvPr id="10" name="Shape 8"/>
          <p:cNvSpPr/>
          <p:nvPr/>
        </p:nvSpPr>
        <p:spPr>
          <a:xfrm rot="5400000">
            <a:off x="960120" y="3438144"/>
            <a:ext cx="603504" cy="603504"/>
          </a:xfrm>
          <a:prstGeom prst="hexagon">
            <a:avLst/>
          </a:prstGeom>
          <a:solidFill>
            <a:srgbClr val="F0B429"/>
          </a:solidFill>
          <a:ln/>
        </p:spPr>
      </p:sp>
      <p:sp>
        <p:nvSpPr>
          <p:cNvPr id="11" name="Text 9"/>
          <p:cNvSpPr/>
          <p:nvPr/>
        </p:nvSpPr>
        <p:spPr>
          <a:xfrm>
            <a:off x="960120" y="3438144"/>
            <a:ext cx="603504" cy="603504"/>
          </a:xfrm>
          <a:prstGeom prst="rect">
            <a:avLst/>
          </a:prstGeom>
          <a:noFill/>
          <a:ln/>
        </p:spPr>
        <p:txBody>
          <a:bodyPr wrap="square" lIns="0" tIns="0" rIns="0" bIns="0" rtlCol="0" anchor="ctr"/>
          <a:lstStyle/>
          <a:p>
            <a:pPr algn="ctr" indent="0" marL="0">
              <a:buNone/>
            </a:pPr>
            <a:r>
              <a:rPr lang="en-US" sz="950" b="1" dirty="0">
                <a:solidFill>
                  <a:srgbClr val="241E33"/>
                </a:solidFill>
                <a:latin typeface="Calibri" pitchFamily="34" charset="0"/>
                <a:ea typeface="Calibri" pitchFamily="34" charset="-122"/>
                <a:cs typeface="Calibri" pitchFamily="34" charset="-120"/>
              </a:rPr>
              <a:t>WHAT</a:t>
            </a:r>
            <a:endParaRPr lang="en-US" sz="950" dirty="0"/>
          </a:p>
        </p:txBody>
      </p:sp>
      <p:sp>
        <p:nvSpPr>
          <p:cNvPr id="12" name="Text 10"/>
          <p:cNvSpPr/>
          <p:nvPr/>
        </p:nvSpPr>
        <p:spPr>
          <a:xfrm>
            <a:off x="1874520" y="3273552"/>
            <a:ext cx="9052560" cy="384048"/>
          </a:xfrm>
          <a:prstGeom prst="rect">
            <a:avLst/>
          </a:prstGeom>
          <a:noFill/>
          <a:ln/>
        </p:spPr>
        <p:txBody>
          <a:bodyPr wrap="square" lIns="0" tIns="0" rIns="0" bIns="0" rtlCol="0" anchor="ctr"/>
          <a:lstStyle/>
          <a:p>
            <a:pPr indent="0" marL="0">
              <a:buNone/>
            </a:pPr>
            <a:r>
              <a:rPr lang="en-US" sz="1850" b="1" dirty="0">
                <a:solidFill>
                  <a:srgbClr val="241E33"/>
                </a:solidFill>
                <a:latin typeface="Cambria" pitchFamily="34" charset="0"/>
                <a:ea typeface="Cambria" pitchFamily="34" charset="-122"/>
                <a:cs typeface="Cambria" pitchFamily="34" charset="-120"/>
              </a:rPr>
              <a:t>A house of competitive-learning products for ages 8–15.</a:t>
            </a:r>
            <a:endParaRPr lang="en-US" sz="1850" dirty="0"/>
          </a:p>
        </p:txBody>
      </p:sp>
      <p:sp>
        <p:nvSpPr>
          <p:cNvPr id="13" name="Text 11"/>
          <p:cNvSpPr/>
          <p:nvPr/>
        </p:nvSpPr>
        <p:spPr>
          <a:xfrm>
            <a:off x="1874520" y="3694176"/>
            <a:ext cx="9052560" cy="658368"/>
          </a:xfrm>
          <a:prstGeom prst="rect">
            <a:avLst/>
          </a:prstGeom>
          <a:noFill/>
          <a:ln/>
        </p:spPr>
        <p:txBody>
          <a:bodyPr wrap="square" lIns="0" tIns="0" rIns="0" bIns="0" rtlCol="0" anchor="ctr"/>
          <a:lstStyle/>
          <a:p>
            <a:pPr indent="0" marL="0">
              <a:lnSpc>
                <a:spcPts val="1700"/>
              </a:lnSpc>
              <a:buNone/>
            </a:pPr>
            <a:r>
              <a:rPr lang="en-US" sz="1280" dirty="0">
                <a:solidFill>
                  <a:srgbClr val="4A4360"/>
                </a:solidFill>
                <a:latin typeface="Calibri" pitchFamily="34" charset="0"/>
                <a:ea typeface="Calibri" pitchFamily="34" charset="-122"/>
                <a:cs typeface="Calibri" pitchFamily="34" charset="-120"/>
              </a:rPr>
              <a:t>One engine, many subjects. Spelling first, because it is the contest this community already organises around. Then the adjacent word products, then heritage language, then numeracy.</a:t>
            </a:r>
            <a:endParaRPr lang="en-US" sz="1280" dirty="0"/>
          </a:p>
        </p:txBody>
      </p:sp>
      <p:sp>
        <p:nvSpPr>
          <p:cNvPr id="14" name="Shape 12"/>
          <p:cNvSpPr/>
          <p:nvPr/>
        </p:nvSpPr>
        <p:spPr>
          <a:xfrm>
            <a:off x="640080" y="4626864"/>
            <a:ext cx="10607040" cy="1371600"/>
          </a:xfrm>
          <a:prstGeom prst="roundRect">
            <a:avLst>
              <a:gd name="adj" fmla="val 9333"/>
            </a:avLst>
          </a:prstGeom>
          <a:solidFill>
            <a:srgbClr val="EFEBF8"/>
          </a:solidFill>
          <a:ln/>
          <a:effectLst>
            <a:outerShdw sx="100000" sy="100000" kx="0" ky="0" algn="bl" rotWithShape="0" blurRad="127000" dist="25400" dir="5400000">
              <a:srgbClr val="241E33">
                <a:alpha val="10000"/>
              </a:srgbClr>
            </a:outerShdw>
          </a:effectLst>
        </p:spPr>
      </p:sp>
      <p:sp>
        <p:nvSpPr>
          <p:cNvPr id="15" name="Shape 13"/>
          <p:cNvSpPr/>
          <p:nvPr/>
        </p:nvSpPr>
        <p:spPr>
          <a:xfrm rot="5400000">
            <a:off x="960120" y="5010912"/>
            <a:ext cx="603504" cy="603504"/>
          </a:xfrm>
          <a:prstGeom prst="hexagon">
            <a:avLst/>
          </a:prstGeom>
          <a:solidFill>
            <a:srgbClr val="178A4C"/>
          </a:solidFill>
          <a:ln/>
        </p:spPr>
      </p:sp>
      <p:sp>
        <p:nvSpPr>
          <p:cNvPr id="16" name="Text 14"/>
          <p:cNvSpPr/>
          <p:nvPr/>
        </p:nvSpPr>
        <p:spPr>
          <a:xfrm>
            <a:off x="960120" y="5010912"/>
            <a:ext cx="603504" cy="603504"/>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HOW</a:t>
            </a:r>
            <a:endParaRPr lang="en-US" sz="950" dirty="0"/>
          </a:p>
        </p:txBody>
      </p:sp>
      <p:sp>
        <p:nvSpPr>
          <p:cNvPr id="17" name="Text 15"/>
          <p:cNvSpPr/>
          <p:nvPr/>
        </p:nvSpPr>
        <p:spPr>
          <a:xfrm>
            <a:off x="1874520" y="4846320"/>
            <a:ext cx="9052560" cy="384048"/>
          </a:xfrm>
          <a:prstGeom prst="rect">
            <a:avLst/>
          </a:prstGeom>
          <a:noFill/>
          <a:ln/>
        </p:spPr>
        <p:txBody>
          <a:bodyPr wrap="square" lIns="0" tIns="0" rIns="0" bIns="0" rtlCol="0" anchor="ctr"/>
          <a:lstStyle/>
          <a:p>
            <a:pPr indent="0" marL="0">
              <a:buNone/>
            </a:pPr>
            <a:r>
              <a:rPr lang="en-US" sz="1850" b="1" dirty="0">
                <a:solidFill>
                  <a:srgbClr val="241E33"/>
                </a:solidFill>
                <a:latin typeface="Cambria" pitchFamily="34" charset="0"/>
                <a:ea typeface="Cambria" pitchFamily="34" charset="-122"/>
                <a:cs typeface="Cambria" pitchFamily="34" charset="-120"/>
              </a:rPr>
              <a:t>AI-first, founder-run, content-owned.</a:t>
            </a:r>
            <a:endParaRPr lang="en-US" sz="1850" dirty="0"/>
          </a:p>
        </p:txBody>
      </p:sp>
      <p:sp>
        <p:nvSpPr>
          <p:cNvPr id="18" name="Text 16"/>
          <p:cNvSpPr/>
          <p:nvPr/>
        </p:nvSpPr>
        <p:spPr>
          <a:xfrm>
            <a:off x="1874520" y="5266944"/>
            <a:ext cx="9052560" cy="658368"/>
          </a:xfrm>
          <a:prstGeom prst="rect">
            <a:avLst/>
          </a:prstGeom>
          <a:noFill/>
          <a:ln/>
        </p:spPr>
        <p:txBody>
          <a:bodyPr wrap="square" lIns="0" tIns="0" rIns="0" bIns="0" rtlCol="0" anchor="ctr"/>
          <a:lstStyle/>
          <a:p>
            <a:pPr indent="0" marL="0">
              <a:lnSpc>
                <a:spcPts val="1700"/>
              </a:lnSpc>
              <a:buNone/>
            </a:pPr>
            <a:r>
              <a:rPr lang="en-US" sz="1280" dirty="0">
                <a:solidFill>
                  <a:srgbClr val="4A4360"/>
                </a:solidFill>
                <a:latin typeface="Calibri" pitchFamily="34" charset="0"/>
                <a:ea typeface="Calibri" pitchFamily="34" charset="-122"/>
                <a:cs typeface="Calibri" pitchFamily="34" charset="-120"/>
              </a:rPr>
              <a:t>Two founders and no agency. The product is built with AI coding tools, the marketing is produced with AI tools, and the content bank — which is the actual moat — is generated, verified and owned in-house.</a:t>
            </a:r>
            <a:endParaRPr lang="en-US" sz="128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241E33"/>
        </a:solidFill>
      </p:bgPr>
    </p:bg>
    <p:spTree>
      <p:nvGrpSpPr>
        <p:cNvPr id="1" name=""/>
        <p:cNvGrpSpPr/>
        <p:nvPr/>
      </p:nvGrpSpPr>
      <p:grpSpPr>
        <a:xfrm>
          <a:off x="0" y="0"/>
          <a:ext cx="0" cy="0"/>
          <a:chOff x="0" y="0"/>
          <a:chExt cx="0" cy="0"/>
        </a:xfrm>
      </p:grpSpPr>
      <p:sp>
        <p:nvSpPr>
          <p:cNvPr id="2" name="Text 0"/>
          <p:cNvSpPr/>
          <p:nvPr/>
        </p:nvSpPr>
        <p:spPr>
          <a:xfrm>
            <a:off x="640080" y="502920"/>
            <a:ext cx="5486400" cy="292608"/>
          </a:xfrm>
          <a:prstGeom prst="rect">
            <a:avLst/>
          </a:prstGeom>
          <a:noFill/>
          <a:ln/>
        </p:spPr>
        <p:txBody>
          <a:bodyPr wrap="square" lIns="0" tIns="0" rIns="0" bIns="0" rtlCol="0" anchor="ctr"/>
          <a:lstStyle/>
          <a:p>
            <a:pPr indent="0" marL="0">
              <a:buNone/>
            </a:pPr>
            <a:r>
              <a:rPr lang="en-US" sz="1200" b="1" spc="300" kern="0" dirty="0">
                <a:solidFill>
                  <a:srgbClr val="F0B429"/>
                </a:solidFill>
                <a:latin typeface="Calibri" pitchFamily="34" charset="0"/>
                <a:ea typeface="Calibri" pitchFamily="34" charset="-122"/>
                <a:cs typeface="Calibri" pitchFamily="34" charset="-120"/>
              </a:rPr>
              <a:t>STRATEGY</a:t>
            </a:r>
            <a:endParaRPr lang="en-US" sz="1200" dirty="0"/>
          </a:p>
        </p:txBody>
      </p:sp>
      <p:sp>
        <p:nvSpPr>
          <p:cNvPr id="3" name="Text 1"/>
          <p:cNvSpPr/>
          <p:nvPr/>
        </p:nvSpPr>
        <p:spPr>
          <a:xfrm>
            <a:off x="640080" y="896112"/>
            <a:ext cx="10607040" cy="731520"/>
          </a:xfrm>
          <a:prstGeom prst="rect">
            <a:avLst/>
          </a:prstGeom>
          <a:noFill/>
          <a:ln/>
        </p:spPr>
        <p:txBody>
          <a:bodyPr wrap="square" lIns="0" tIns="0" rIns="0" bIns="0" rtlCol="0" anchor="ctr"/>
          <a:lstStyle/>
          <a:p>
            <a:pPr indent="0" marL="0">
              <a:buNone/>
            </a:pPr>
            <a:r>
              <a:rPr lang="en-US" sz="2900" b="1" dirty="0">
                <a:solidFill>
                  <a:srgbClr val="FFFFFF"/>
                </a:solidFill>
                <a:latin typeface="Cambria" pitchFamily="34" charset="0"/>
                <a:ea typeface="Cambria" pitchFamily="34" charset="-122"/>
                <a:cs typeface="Cambria" pitchFamily="34" charset="-120"/>
              </a:rPr>
              <a:t>Win one contest completely, then reuse the engine.</a:t>
            </a:r>
            <a:endParaRPr lang="en-US" sz="2900" dirty="0"/>
          </a:p>
        </p:txBody>
      </p:sp>
      <p:sp>
        <p:nvSpPr>
          <p:cNvPr id="4" name="Shape 2"/>
          <p:cNvSpPr/>
          <p:nvPr/>
        </p:nvSpPr>
        <p:spPr>
          <a:xfrm>
            <a:off x="640080" y="2011680"/>
            <a:ext cx="2542032" cy="3200400"/>
          </a:xfrm>
          <a:prstGeom prst="roundRect">
            <a:avLst>
              <a:gd name="adj" fmla="val 4676"/>
            </a:avLst>
          </a:prstGeom>
          <a:solidFill>
            <a:srgbClr val="FFFFFF">
              <a:alpha val="8000"/>
            </a:srgbClr>
          </a:solidFill>
          <a:ln w="12700">
            <a:solidFill>
              <a:srgbClr val="6C4FE0"/>
            </a:solidFill>
            <a:prstDash val="solid"/>
          </a:ln>
        </p:spPr>
      </p:sp>
      <p:sp>
        <p:nvSpPr>
          <p:cNvPr id="5" name="Shape 3"/>
          <p:cNvSpPr/>
          <p:nvPr/>
        </p:nvSpPr>
        <p:spPr>
          <a:xfrm rot="5400000">
            <a:off x="896112" y="2267712"/>
            <a:ext cx="384048" cy="384048"/>
          </a:xfrm>
          <a:prstGeom prst="hexagon">
            <a:avLst/>
          </a:prstGeom>
          <a:solidFill>
            <a:srgbClr val="F0B429"/>
          </a:solidFill>
          <a:ln/>
        </p:spPr>
      </p:sp>
      <p:sp>
        <p:nvSpPr>
          <p:cNvPr id="6" name="Text 4"/>
          <p:cNvSpPr/>
          <p:nvPr/>
        </p:nvSpPr>
        <p:spPr>
          <a:xfrm>
            <a:off x="896112" y="2267712"/>
            <a:ext cx="384048" cy="384048"/>
          </a:xfrm>
          <a:prstGeom prst="rect">
            <a:avLst/>
          </a:prstGeom>
          <a:noFill/>
          <a:ln/>
        </p:spPr>
        <p:txBody>
          <a:bodyPr wrap="square" lIns="0" tIns="0" rIns="0" bIns="0" rtlCol="0" anchor="ctr"/>
          <a:lstStyle/>
          <a:p>
            <a:pPr algn="ctr" indent="0" marL="0">
              <a:buNone/>
            </a:pPr>
            <a:r>
              <a:rPr lang="en-US" sz="1300" b="1" dirty="0">
                <a:solidFill>
                  <a:srgbClr val="241E33"/>
                </a:solidFill>
                <a:latin typeface="Cambria" pitchFamily="34" charset="0"/>
                <a:ea typeface="Cambria" pitchFamily="34" charset="-122"/>
                <a:cs typeface="Cambria" pitchFamily="34" charset="-120"/>
              </a:rPr>
              <a:t>1</a:t>
            </a:r>
            <a:endParaRPr lang="en-US" sz="1300" dirty="0"/>
          </a:p>
        </p:txBody>
      </p:sp>
      <p:sp>
        <p:nvSpPr>
          <p:cNvPr id="7" name="Text 5"/>
          <p:cNvSpPr/>
          <p:nvPr/>
        </p:nvSpPr>
        <p:spPr>
          <a:xfrm>
            <a:off x="896112" y="2798064"/>
            <a:ext cx="2103120" cy="256032"/>
          </a:xfrm>
          <a:prstGeom prst="rect">
            <a:avLst/>
          </a:prstGeom>
          <a:noFill/>
          <a:ln/>
        </p:spPr>
        <p:txBody>
          <a:bodyPr wrap="square" lIns="0" tIns="0" rIns="0" bIns="0" rtlCol="0" anchor="ctr"/>
          <a:lstStyle/>
          <a:p>
            <a:pPr indent="0" marL="0">
              <a:buNone/>
            </a:pPr>
            <a:r>
              <a:rPr lang="en-US" sz="950" b="1" spc="160" kern="0" dirty="0">
                <a:solidFill>
                  <a:srgbClr val="F0B429"/>
                </a:solidFill>
                <a:latin typeface="Calibri" pitchFamily="34" charset="0"/>
                <a:ea typeface="Calibri" pitchFamily="34" charset="-122"/>
                <a:cs typeface="Calibri" pitchFamily="34" charset="-120"/>
              </a:rPr>
              <a:t>WEDGE</a:t>
            </a:r>
            <a:endParaRPr lang="en-US" sz="950" dirty="0"/>
          </a:p>
        </p:txBody>
      </p:sp>
      <p:sp>
        <p:nvSpPr>
          <p:cNvPr id="8" name="Text 6"/>
          <p:cNvSpPr/>
          <p:nvPr/>
        </p:nvSpPr>
        <p:spPr>
          <a:xfrm>
            <a:off x="896112" y="3072384"/>
            <a:ext cx="2103120" cy="566928"/>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Spelling bee</a:t>
            </a:r>
            <a:endParaRPr lang="en-US" sz="1700" dirty="0"/>
          </a:p>
        </p:txBody>
      </p:sp>
      <p:sp>
        <p:nvSpPr>
          <p:cNvPr id="9" name="Text 7"/>
          <p:cNvSpPr/>
          <p:nvPr/>
        </p:nvSpPr>
        <p:spPr>
          <a:xfrm>
            <a:off x="896112" y="3712464"/>
            <a:ext cx="2103120" cy="1371600"/>
          </a:xfrm>
          <a:prstGeom prst="rect">
            <a:avLst/>
          </a:prstGeom>
          <a:noFill/>
          <a:ln/>
        </p:spPr>
        <p:txBody>
          <a:bodyPr wrap="square" lIns="0" tIns="0" rIns="0" bIns="0" rtlCol="0" anchor="ctr"/>
          <a:lstStyle/>
          <a:p>
            <a:pPr indent="0" marL="0">
              <a:lnSpc>
                <a:spcPts val="1500"/>
              </a:lnSpc>
              <a:buNone/>
            </a:pPr>
            <a:r>
              <a:rPr lang="en-US" sz="1150" dirty="0">
                <a:solidFill>
                  <a:srgbClr val="E3DCF2"/>
                </a:solidFill>
                <a:latin typeface="Calibri" pitchFamily="34" charset="0"/>
                <a:ea typeface="Calibri" pitchFamily="34" charset="-122"/>
                <a:cs typeface="Calibri" pitchFamily="34" charset="-120"/>
              </a:rPr>
              <a:t>The one competition this community already organises around — and dominates. We do not have to create the demand or explain the category.</a:t>
            </a:r>
            <a:endParaRPr lang="en-US" sz="1150" dirty="0"/>
          </a:p>
        </p:txBody>
      </p:sp>
      <p:sp>
        <p:nvSpPr>
          <p:cNvPr id="10" name="Shape 8"/>
          <p:cNvSpPr/>
          <p:nvPr/>
        </p:nvSpPr>
        <p:spPr>
          <a:xfrm>
            <a:off x="3401568" y="2011680"/>
            <a:ext cx="2542032" cy="3200400"/>
          </a:xfrm>
          <a:prstGeom prst="roundRect">
            <a:avLst>
              <a:gd name="adj" fmla="val 4676"/>
            </a:avLst>
          </a:prstGeom>
          <a:solidFill>
            <a:srgbClr val="FFFFFF">
              <a:alpha val="8000"/>
            </a:srgbClr>
          </a:solidFill>
          <a:ln w="12700">
            <a:solidFill>
              <a:srgbClr val="6C4FE0"/>
            </a:solidFill>
            <a:prstDash val="solid"/>
          </a:ln>
        </p:spPr>
      </p:sp>
      <p:sp>
        <p:nvSpPr>
          <p:cNvPr id="11" name="Shape 9"/>
          <p:cNvSpPr/>
          <p:nvPr/>
        </p:nvSpPr>
        <p:spPr>
          <a:xfrm rot="5400000">
            <a:off x="3657600" y="2267712"/>
            <a:ext cx="384048" cy="384048"/>
          </a:xfrm>
          <a:prstGeom prst="hexagon">
            <a:avLst/>
          </a:prstGeom>
          <a:solidFill>
            <a:srgbClr val="6C4FE0"/>
          </a:solidFill>
          <a:ln/>
        </p:spPr>
      </p:sp>
      <p:sp>
        <p:nvSpPr>
          <p:cNvPr id="12" name="Text 10"/>
          <p:cNvSpPr/>
          <p:nvPr/>
        </p:nvSpPr>
        <p:spPr>
          <a:xfrm>
            <a:off x="3657600" y="226771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3" name="Text 11"/>
          <p:cNvSpPr/>
          <p:nvPr/>
        </p:nvSpPr>
        <p:spPr>
          <a:xfrm>
            <a:off x="3657600" y="2798064"/>
            <a:ext cx="2103120" cy="256032"/>
          </a:xfrm>
          <a:prstGeom prst="rect">
            <a:avLst/>
          </a:prstGeom>
          <a:noFill/>
          <a:ln/>
        </p:spPr>
        <p:txBody>
          <a:bodyPr wrap="square" lIns="0" tIns="0" rIns="0" bIns="0" rtlCol="0" anchor="ctr"/>
          <a:lstStyle/>
          <a:p>
            <a:pPr indent="0" marL="0">
              <a:buNone/>
            </a:pPr>
            <a:r>
              <a:rPr lang="en-US" sz="950" b="1" spc="160" kern="0" dirty="0">
                <a:solidFill>
                  <a:srgbClr val="F0B429"/>
                </a:solidFill>
                <a:latin typeface="Calibri" pitchFamily="34" charset="0"/>
                <a:ea typeface="Calibri" pitchFamily="34" charset="-122"/>
                <a:cs typeface="Calibri" pitchFamily="34" charset="-120"/>
              </a:rPr>
              <a:t>EXPAND BY ENGINE REUSE</a:t>
            </a:r>
            <a:endParaRPr lang="en-US" sz="950" dirty="0"/>
          </a:p>
        </p:txBody>
      </p:sp>
      <p:sp>
        <p:nvSpPr>
          <p:cNvPr id="14" name="Text 12"/>
          <p:cNvSpPr/>
          <p:nvPr/>
        </p:nvSpPr>
        <p:spPr>
          <a:xfrm>
            <a:off x="3657600" y="3072384"/>
            <a:ext cx="2103120" cy="566928"/>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Adjacent word products</a:t>
            </a:r>
            <a:endParaRPr lang="en-US" sz="1700" dirty="0"/>
          </a:p>
        </p:txBody>
      </p:sp>
      <p:sp>
        <p:nvSpPr>
          <p:cNvPr id="15" name="Text 13"/>
          <p:cNvSpPr/>
          <p:nvPr/>
        </p:nvSpPr>
        <p:spPr>
          <a:xfrm>
            <a:off x="3657600" y="3712464"/>
            <a:ext cx="2103120" cy="1371600"/>
          </a:xfrm>
          <a:prstGeom prst="rect">
            <a:avLst/>
          </a:prstGeom>
          <a:noFill/>
          <a:ln/>
        </p:spPr>
        <p:txBody>
          <a:bodyPr wrap="square" lIns="0" tIns="0" rIns="0" bIns="0" rtlCol="0" anchor="ctr"/>
          <a:lstStyle/>
          <a:p>
            <a:pPr indent="0" marL="0">
              <a:lnSpc>
                <a:spcPts val="1500"/>
              </a:lnSpc>
              <a:buNone/>
            </a:pPr>
            <a:r>
              <a:rPr lang="en-US" sz="1150" dirty="0">
                <a:solidFill>
                  <a:srgbClr val="E3DCF2"/>
                </a:solidFill>
                <a:latin typeface="Calibri" pitchFamily="34" charset="0"/>
                <a:ea typeface="Calibri" pitchFamily="34" charset="-122"/>
                <a:cs typeface="Calibri" pitchFamily="34" charset="-120"/>
              </a:rPr>
              <a:t>Verbal reasoning, vocabulary and test prep run on the drill engine that already exists. New revenue, near-zero new infrastructure.</a:t>
            </a:r>
            <a:endParaRPr lang="en-US" sz="1150" dirty="0"/>
          </a:p>
        </p:txBody>
      </p:sp>
      <p:sp>
        <p:nvSpPr>
          <p:cNvPr id="16" name="Shape 14"/>
          <p:cNvSpPr/>
          <p:nvPr/>
        </p:nvSpPr>
        <p:spPr>
          <a:xfrm>
            <a:off x="6163056" y="2011680"/>
            <a:ext cx="2542032" cy="3200400"/>
          </a:xfrm>
          <a:prstGeom prst="roundRect">
            <a:avLst>
              <a:gd name="adj" fmla="val 4676"/>
            </a:avLst>
          </a:prstGeom>
          <a:solidFill>
            <a:srgbClr val="FFFFFF">
              <a:alpha val="8000"/>
            </a:srgbClr>
          </a:solidFill>
          <a:ln w="12700">
            <a:solidFill>
              <a:srgbClr val="6C4FE0"/>
            </a:solidFill>
            <a:prstDash val="solid"/>
          </a:ln>
        </p:spPr>
      </p:sp>
      <p:sp>
        <p:nvSpPr>
          <p:cNvPr id="17" name="Shape 15"/>
          <p:cNvSpPr/>
          <p:nvPr/>
        </p:nvSpPr>
        <p:spPr>
          <a:xfrm rot="5400000">
            <a:off x="6419088" y="2267712"/>
            <a:ext cx="384048" cy="384048"/>
          </a:xfrm>
          <a:prstGeom prst="hexagon">
            <a:avLst/>
          </a:prstGeom>
          <a:solidFill>
            <a:srgbClr val="6C4FE0"/>
          </a:solidFill>
          <a:ln/>
        </p:spPr>
      </p:sp>
      <p:sp>
        <p:nvSpPr>
          <p:cNvPr id="18" name="Text 16"/>
          <p:cNvSpPr/>
          <p:nvPr/>
        </p:nvSpPr>
        <p:spPr>
          <a:xfrm>
            <a:off x="6419088" y="226771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9" name="Text 17"/>
          <p:cNvSpPr/>
          <p:nvPr/>
        </p:nvSpPr>
        <p:spPr>
          <a:xfrm>
            <a:off x="6419088" y="2798064"/>
            <a:ext cx="2103120" cy="256032"/>
          </a:xfrm>
          <a:prstGeom prst="rect">
            <a:avLst/>
          </a:prstGeom>
          <a:noFill/>
          <a:ln/>
        </p:spPr>
        <p:txBody>
          <a:bodyPr wrap="square" lIns="0" tIns="0" rIns="0" bIns="0" rtlCol="0" anchor="ctr"/>
          <a:lstStyle/>
          <a:p>
            <a:pPr indent="0" marL="0">
              <a:buNone/>
            </a:pPr>
            <a:r>
              <a:rPr lang="en-US" sz="950" b="1" spc="160" kern="0" dirty="0">
                <a:solidFill>
                  <a:srgbClr val="F0B429"/>
                </a:solidFill>
                <a:latin typeface="Calibri" pitchFamily="34" charset="0"/>
                <a:ea typeface="Calibri" pitchFamily="34" charset="-122"/>
                <a:cs typeface="Calibri" pitchFamily="34" charset="-120"/>
              </a:rPr>
              <a:t>DEEPEN THE MOAT</a:t>
            </a:r>
            <a:endParaRPr lang="en-US" sz="950" dirty="0"/>
          </a:p>
        </p:txBody>
      </p:sp>
      <p:sp>
        <p:nvSpPr>
          <p:cNvPr id="20" name="Text 18"/>
          <p:cNvSpPr/>
          <p:nvPr/>
        </p:nvSpPr>
        <p:spPr>
          <a:xfrm>
            <a:off x="6419088" y="3072384"/>
            <a:ext cx="2103120" cy="566928"/>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Heritage language</a:t>
            </a:r>
            <a:endParaRPr lang="en-US" sz="1700" dirty="0"/>
          </a:p>
        </p:txBody>
      </p:sp>
      <p:sp>
        <p:nvSpPr>
          <p:cNvPr id="21" name="Text 19"/>
          <p:cNvSpPr/>
          <p:nvPr/>
        </p:nvSpPr>
        <p:spPr>
          <a:xfrm>
            <a:off x="6419088" y="3712464"/>
            <a:ext cx="2103120" cy="1371600"/>
          </a:xfrm>
          <a:prstGeom prst="rect">
            <a:avLst/>
          </a:prstGeom>
          <a:noFill/>
          <a:ln/>
        </p:spPr>
        <p:txBody>
          <a:bodyPr wrap="square" lIns="0" tIns="0" rIns="0" bIns="0" rtlCol="0" anchor="ctr"/>
          <a:lstStyle/>
          <a:p>
            <a:pPr indent="0" marL="0">
              <a:lnSpc>
                <a:spcPts val="1500"/>
              </a:lnSpc>
              <a:buNone/>
            </a:pPr>
            <a:r>
              <a:rPr lang="en-US" sz="1150" dirty="0">
                <a:solidFill>
                  <a:srgbClr val="E3DCF2"/>
                </a:solidFill>
                <a:latin typeface="Calibri" pitchFamily="34" charset="0"/>
                <a:ea typeface="Calibri" pitchFamily="34" charset="-122"/>
                <a:cs typeface="Calibri" pitchFamily="34" charset="-120"/>
              </a:rPr>
              <a:t>The only category where the diaspora is the entire market rather than a slice of it. Hardest to copy, stickiest to own.</a:t>
            </a:r>
            <a:endParaRPr lang="en-US" sz="1150" dirty="0"/>
          </a:p>
        </p:txBody>
      </p:sp>
      <p:sp>
        <p:nvSpPr>
          <p:cNvPr id="22" name="Shape 20"/>
          <p:cNvSpPr/>
          <p:nvPr/>
        </p:nvSpPr>
        <p:spPr>
          <a:xfrm>
            <a:off x="8924544" y="2011680"/>
            <a:ext cx="2542032" cy="3200400"/>
          </a:xfrm>
          <a:prstGeom prst="roundRect">
            <a:avLst>
              <a:gd name="adj" fmla="val 4676"/>
            </a:avLst>
          </a:prstGeom>
          <a:solidFill>
            <a:srgbClr val="FFFFFF">
              <a:alpha val="8000"/>
            </a:srgbClr>
          </a:solidFill>
          <a:ln w="12700">
            <a:solidFill>
              <a:srgbClr val="6C4FE0"/>
            </a:solidFill>
            <a:prstDash val="solid"/>
          </a:ln>
        </p:spPr>
      </p:sp>
      <p:sp>
        <p:nvSpPr>
          <p:cNvPr id="23" name="Shape 21"/>
          <p:cNvSpPr/>
          <p:nvPr/>
        </p:nvSpPr>
        <p:spPr>
          <a:xfrm rot="5400000">
            <a:off x="9180576" y="2267712"/>
            <a:ext cx="384048" cy="384048"/>
          </a:xfrm>
          <a:prstGeom prst="hexagon">
            <a:avLst/>
          </a:prstGeom>
          <a:solidFill>
            <a:srgbClr val="6C4FE0"/>
          </a:solidFill>
          <a:ln/>
        </p:spPr>
      </p:sp>
      <p:sp>
        <p:nvSpPr>
          <p:cNvPr id="24" name="Text 22"/>
          <p:cNvSpPr/>
          <p:nvPr/>
        </p:nvSpPr>
        <p:spPr>
          <a:xfrm>
            <a:off x="9180576" y="226771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4</a:t>
            </a:r>
            <a:endParaRPr lang="en-US" sz="1300" dirty="0"/>
          </a:p>
        </p:txBody>
      </p:sp>
      <p:sp>
        <p:nvSpPr>
          <p:cNvPr id="25" name="Text 23"/>
          <p:cNvSpPr/>
          <p:nvPr/>
        </p:nvSpPr>
        <p:spPr>
          <a:xfrm>
            <a:off x="9180576" y="2798064"/>
            <a:ext cx="2103120" cy="256032"/>
          </a:xfrm>
          <a:prstGeom prst="rect">
            <a:avLst/>
          </a:prstGeom>
          <a:noFill/>
          <a:ln/>
        </p:spPr>
        <p:txBody>
          <a:bodyPr wrap="square" lIns="0" tIns="0" rIns="0" bIns="0" rtlCol="0" anchor="ctr"/>
          <a:lstStyle/>
          <a:p>
            <a:pPr indent="0" marL="0">
              <a:buNone/>
            </a:pPr>
            <a:r>
              <a:rPr lang="en-US" sz="950" b="1" spc="160" kern="0" dirty="0">
                <a:solidFill>
                  <a:srgbClr val="F0B429"/>
                </a:solidFill>
                <a:latin typeface="Calibri" pitchFamily="34" charset="0"/>
                <a:ea typeface="Calibri" pitchFamily="34" charset="-122"/>
                <a:cs typeface="Calibri" pitchFamily="34" charset="-120"/>
              </a:rPr>
              <a:t>BROADEN THE HOUSE</a:t>
            </a:r>
            <a:endParaRPr lang="en-US" sz="950" dirty="0"/>
          </a:p>
        </p:txBody>
      </p:sp>
      <p:sp>
        <p:nvSpPr>
          <p:cNvPr id="26" name="Text 24"/>
          <p:cNvSpPr/>
          <p:nvPr/>
        </p:nvSpPr>
        <p:spPr>
          <a:xfrm>
            <a:off x="9180576" y="3072384"/>
            <a:ext cx="2103120" cy="566928"/>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Numeracy &amp; money</a:t>
            </a:r>
            <a:endParaRPr lang="en-US" sz="1700" dirty="0"/>
          </a:p>
        </p:txBody>
      </p:sp>
      <p:sp>
        <p:nvSpPr>
          <p:cNvPr id="27" name="Text 25"/>
          <p:cNvSpPr/>
          <p:nvPr/>
        </p:nvSpPr>
        <p:spPr>
          <a:xfrm>
            <a:off x="9180576" y="3712464"/>
            <a:ext cx="2103120" cy="1371600"/>
          </a:xfrm>
          <a:prstGeom prst="rect">
            <a:avLst/>
          </a:prstGeom>
          <a:noFill/>
          <a:ln/>
        </p:spPr>
        <p:txBody>
          <a:bodyPr wrap="square" lIns="0" tIns="0" rIns="0" bIns="0" rtlCol="0" anchor="ctr"/>
          <a:lstStyle/>
          <a:p>
            <a:pPr indent="0" marL="0">
              <a:lnSpc>
                <a:spcPts val="1500"/>
              </a:lnSpc>
              <a:buNone/>
            </a:pPr>
            <a:r>
              <a:rPr lang="en-US" sz="1150" dirty="0">
                <a:solidFill>
                  <a:srgbClr val="E3DCF2"/>
                </a:solidFill>
                <a:latin typeface="Calibri" pitchFamily="34" charset="0"/>
                <a:ea typeface="Calibri" pitchFamily="34" charset="-122"/>
                <a:cs typeface="Calibri" pitchFamily="34" charset="-120"/>
              </a:rPr>
              <a:t>Bizzing Finance and mental-maths extend the brand past words once the word franchise is proven.</a:t>
            </a:r>
            <a:endParaRPr lang="en-US" sz="1150" dirty="0"/>
          </a:p>
        </p:txBody>
      </p:sp>
      <p:sp>
        <p:nvSpPr>
          <p:cNvPr id="28" name="Text 26"/>
          <p:cNvSpPr/>
          <p:nvPr/>
        </p:nvSpPr>
        <p:spPr>
          <a:xfrm>
            <a:off x="640080" y="5504688"/>
            <a:ext cx="10607040" cy="731520"/>
          </a:xfrm>
          <a:prstGeom prst="rect">
            <a:avLst/>
          </a:prstGeom>
          <a:noFill/>
          <a:ln/>
        </p:spPr>
        <p:txBody>
          <a:bodyPr wrap="square" lIns="0" tIns="0" rIns="0" bIns="0" rtlCol="0" anchor="ctr"/>
          <a:lstStyle/>
          <a:p>
            <a:pPr indent="0" marL="0">
              <a:lnSpc>
                <a:spcPts val="2100"/>
              </a:lnSpc>
              <a:buNone/>
            </a:pPr>
            <a:r>
              <a:rPr lang="en-US" sz="1500" i="1" dirty="0">
                <a:solidFill>
                  <a:srgbClr val="F0B429"/>
                </a:solidFill>
                <a:latin typeface="Cambria" pitchFamily="34" charset="0"/>
                <a:ea typeface="Cambria" pitchFamily="34" charset="-122"/>
                <a:cs typeface="Cambria" pitchFamily="34" charset="-120"/>
              </a:rPr>
              <a:t>The sequencing rule: order by how much of the existing engine a product reuses — not by which market is biggest.</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THE ASSET</a:t>
            </a:r>
            <a:endParaRPr lang="en-US" sz="1150" dirty="0"/>
          </a:p>
        </p:txBody>
      </p:sp>
      <p:sp>
        <p:nvSpPr>
          <p:cNvPr id="3" name="Text 1"/>
          <p:cNvSpPr/>
          <p:nvPr/>
        </p:nvSpPr>
        <p:spPr>
          <a:xfrm>
            <a:off x="640080" y="694944"/>
            <a:ext cx="106070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What already exists, and transfers</a:t>
            </a:r>
            <a:endParaRPr lang="en-US" sz="2900" dirty="0"/>
          </a:p>
        </p:txBody>
      </p:sp>
      <p:sp>
        <p:nvSpPr>
          <p:cNvPr id="4" name="Text 2"/>
          <p:cNvSpPr/>
          <p:nvPr/>
        </p:nvSpPr>
        <p:spPr>
          <a:xfrm>
            <a:off x="640080" y="1444752"/>
            <a:ext cx="10607040" cy="365760"/>
          </a:xfrm>
          <a:prstGeom prst="rect">
            <a:avLst/>
          </a:prstGeom>
          <a:noFill/>
          <a:ln/>
        </p:spPr>
        <p:txBody>
          <a:bodyPr wrap="square" lIns="0" tIns="0" rIns="0" bIns="0" rtlCol="0" anchor="ctr"/>
          <a:lstStyle/>
          <a:p>
            <a:pPr indent="0" marL="0">
              <a:buNone/>
            </a:pPr>
            <a:r>
              <a:rPr lang="en-US" sz="1500" dirty="0">
                <a:solidFill>
                  <a:srgbClr val="7A7291"/>
                </a:solidFill>
                <a:latin typeface="Calibri" pitchFamily="34" charset="0"/>
                <a:ea typeface="Calibri" pitchFamily="34" charset="-122"/>
                <a:cs typeface="Calibri" pitchFamily="34" charset="-120"/>
              </a:rPr>
              <a:t>Bizzing Bee is not one app. It is a content-drill engine with a spelling skin — and the engine is the company.</a:t>
            </a:r>
            <a:endParaRPr lang="en-US" sz="1500" dirty="0"/>
          </a:p>
        </p:txBody>
      </p:sp>
      <p:sp>
        <p:nvSpPr>
          <p:cNvPr id="5" name="Shape 3"/>
          <p:cNvSpPr/>
          <p:nvPr/>
        </p:nvSpPr>
        <p:spPr>
          <a:xfrm>
            <a:off x="640080" y="2057400"/>
            <a:ext cx="2542032" cy="1600200"/>
          </a:xfrm>
          <a:prstGeom prst="roundRect">
            <a:avLst>
              <a:gd name="adj" fmla="val 8000"/>
            </a:avLst>
          </a:prstGeom>
          <a:solidFill>
            <a:srgbClr val="EFEBF8"/>
          </a:solidFill>
          <a:ln/>
          <a:effectLst>
            <a:outerShdw sx="100000" sy="100000" kx="0" ky="0" algn="bl" rotWithShape="0" blurRad="127000" dist="25400" dir="5400000">
              <a:srgbClr val="241E33">
                <a:alpha val="10000"/>
              </a:srgbClr>
            </a:outerShdw>
          </a:effectLst>
        </p:spPr>
      </p:sp>
      <p:sp>
        <p:nvSpPr>
          <p:cNvPr id="6" name="Text 4"/>
          <p:cNvSpPr/>
          <p:nvPr/>
        </p:nvSpPr>
        <p:spPr>
          <a:xfrm>
            <a:off x="822960" y="2212848"/>
            <a:ext cx="2194560" cy="713232"/>
          </a:xfrm>
          <a:prstGeom prst="rect">
            <a:avLst/>
          </a:prstGeom>
          <a:noFill/>
          <a:ln/>
        </p:spPr>
        <p:txBody>
          <a:bodyPr wrap="square" lIns="0" tIns="0" rIns="0" bIns="0" rtlCol="0" anchor="ctr"/>
          <a:lstStyle/>
          <a:p>
            <a:pPr indent="0" marL="0">
              <a:buNone/>
            </a:pPr>
            <a:r>
              <a:rPr lang="en-US" sz="3400" b="1" dirty="0">
                <a:solidFill>
                  <a:srgbClr val="6C4FE0"/>
                </a:solidFill>
                <a:latin typeface="Cambria" pitchFamily="34" charset="0"/>
                <a:ea typeface="Cambria" pitchFamily="34" charset="-122"/>
                <a:cs typeface="Cambria" pitchFamily="34" charset="-120"/>
              </a:rPr>
              <a:t>128,491</a:t>
            </a:r>
            <a:endParaRPr lang="en-US" sz="3400" dirty="0"/>
          </a:p>
        </p:txBody>
      </p:sp>
      <p:sp>
        <p:nvSpPr>
          <p:cNvPr id="7" name="Text 5"/>
          <p:cNvSpPr/>
          <p:nvPr/>
        </p:nvSpPr>
        <p:spPr>
          <a:xfrm>
            <a:off x="822960" y="2926080"/>
            <a:ext cx="2194560" cy="621792"/>
          </a:xfrm>
          <a:prstGeom prst="rect">
            <a:avLst/>
          </a:prstGeom>
          <a:noFill/>
          <a:ln/>
        </p:spPr>
        <p:txBody>
          <a:bodyPr wrap="square" lIns="0" tIns="0" rIns="0" bIns="0" rtlCol="0" anchor="ctr"/>
          <a:lstStyle/>
          <a:p>
            <a:pPr indent="0" marL="0">
              <a:lnSpc>
                <a:spcPts val="1500"/>
              </a:lnSpc>
              <a:buNone/>
            </a:pPr>
            <a:r>
              <a:rPr lang="en-US" sz="1200" dirty="0">
                <a:solidFill>
                  <a:srgbClr val="4A4360"/>
                </a:solidFill>
                <a:latin typeface="Calibri" pitchFamily="34" charset="0"/>
                <a:ea typeface="Calibri" pitchFamily="34" charset="-122"/>
                <a:cs typeface="Calibri" pitchFamily="34" charset="-120"/>
              </a:rPr>
              <a:t>words, every one</a:t>
            </a:r>
            <a:endParaRPr lang="en-US" sz="1200" dirty="0"/>
          </a:p>
          <a:p>
            <a:pPr indent="0" marL="0">
              <a:lnSpc>
                <a:spcPts val="1500"/>
              </a:lnSpc>
              <a:buNone/>
            </a:pPr>
            <a:r>
              <a:rPr lang="en-US" sz="1200" dirty="0">
                <a:solidFill>
                  <a:srgbClr val="4A4360"/>
                </a:solidFill>
                <a:latin typeface="Calibri" pitchFamily="34" charset="0"/>
                <a:ea typeface="Calibri" pitchFamily="34" charset="-122"/>
                <a:cs typeface="Calibri" pitchFamily="34" charset="-120"/>
              </a:rPr>
              <a:t>spoken aloud</a:t>
            </a:r>
            <a:endParaRPr lang="en-US" sz="1200" dirty="0"/>
          </a:p>
        </p:txBody>
      </p:sp>
      <p:sp>
        <p:nvSpPr>
          <p:cNvPr id="8" name="Shape 6"/>
          <p:cNvSpPr/>
          <p:nvPr/>
        </p:nvSpPr>
        <p:spPr>
          <a:xfrm>
            <a:off x="3401568" y="2057400"/>
            <a:ext cx="2542032" cy="1600200"/>
          </a:xfrm>
          <a:prstGeom prst="roundRect">
            <a:avLst>
              <a:gd name="adj" fmla="val 8000"/>
            </a:avLst>
          </a:prstGeom>
          <a:solidFill>
            <a:srgbClr val="EFEBF8"/>
          </a:solidFill>
          <a:ln/>
          <a:effectLst>
            <a:outerShdw sx="100000" sy="100000" kx="0" ky="0" algn="bl" rotWithShape="0" blurRad="127000" dist="25400" dir="5400000">
              <a:srgbClr val="241E33">
                <a:alpha val="10000"/>
              </a:srgbClr>
            </a:outerShdw>
          </a:effectLst>
        </p:spPr>
      </p:sp>
      <p:sp>
        <p:nvSpPr>
          <p:cNvPr id="9" name="Text 7"/>
          <p:cNvSpPr/>
          <p:nvPr/>
        </p:nvSpPr>
        <p:spPr>
          <a:xfrm>
            <a:off x="3584448" y="2212848"/>
            <a:ext cx="2194560" cy="713232"/>
          </a:xfrm>
          <a:prstGeom prst="rect">
            <a:avLst/>
          </a:prstGeom>
          <a:noFill/>
          <a:ln/>
        </p:spPr>
        <p:txBody>
          <a:bodyPr wrap="square" lIns="0" tIns="0" rIns="0" bIns="0" rtlCol="0" anchor="ctr"/>
          <a:lstStyle/>
          <a:p>
            <a:pPr indent="0" marL="0">
              <a:buNone/>
            </a:pPr>
            <a:r>
              <a:rPr lang="en-US" sz="3400" b="1" dirty="0">
                <a:solidFill>
                  <a:srgbClr val="6C4FE0"/>
                </a:solidFill>
                <a:latin typeface="Cambria" pitchFamily="34" charset="0"/>
                <a:ea typeface="Cambria" pitchFamily="34" charset="-122"/>
                <a:cs typeface="Cambria" pitchFamily="34" charset="-120"/>
              </a:rPr>
              <a:t>31,000+</a:t>
            </a:r>
            <a:endParaRPr lang="en-US" sz="3400" dirty="0"/>
          </a:p>
        </p:txBody>
      </p:sp>
      <p:sp>
        <p:nvSpPr>
          <p:cNvPr id="10" name="Text 8"/>
          <p:cNvSpPr/>
          <p:nvPr/>
        </p:nvSpPr>
        <p:spPr>
          <a:xfrm>
            <a:off x="3584448" y="2926080"/>
            <a:ext cx="2194560" cy="621792"/>
          </a:xfrm>
          <a:prstGeom prst="rect">
            <a:avLst/>
          </a:prstGeom>
          <a:noFill/>
          <a:ln/>
        </p:spPr>
        <p:txBody>
          <a:bodyPr wrap="square" lIns="0" tIns="0" rIns="0" bIns="0" rtlCol="0" anchor="ctr"/>
          <a:lstStyle/>
          <a:p>
            <a:pPr indent="0" marL="0">
              <a:lnSpc>
                <a:spcPts val="1500"/>
              </a:lnSpc>
              <a:buNone/>
            </a:pPr>
            <a:r>
              <a:rPr lang="en-US" sz="1200" dirty="0">
                <a:solidFill>
                  <a:srgbClr val="4A4360"/>
                </a:solidFill>
                <a:latin typeface="Calibri" pitchFamily="34" charset="0"/>
                <a:ea typeface="Calibri" pitchFamily="34" charset="-122"/>
                <a:cs typeface="Calibri" pitchFamily="34" charset="-120"/>
              </a:rPr>
              <a:t>trivia questions across</a:t>
            </a:r>
            <a:endParaRPr lang="en-US" sz="1200" dirty="0"/>
          </a:p>
          <a:p>
            <a:pPr indent="0" marL="0">
              <a:lnSpc>
                <a:spcPts val="1500"/>
              </a:lnSpc>
              <a:buNone/>
            </a:pPr>
            <a:r>
              <a:rPr lang="en-US" sz="1200" dirty="0">
                <a:solidFill>
                  <a:srgbClr val="4A4360"/>
                </a:solidFill>
                <a:latin typeface="Calibri" pitchFamily="34" charset="0"/>
                <a:ea typeface="Calibri" pitchFamily="34" charset="-122"/>
                <a:cs typeface="Calibri" pitchFamily="34" charset="-120"/>
              </a:rPr>
              <a:t>32 themes, 5 levels</a:t>
            </a:r>
            <a:endParaRPr lang="en-US" sz="1200" dirty="0"/>
          </a:p>
        </p:txBody>
      </p:sp>
      <p:sp>
        <p:nvSpPr>
          <p:cNvPr id="11" name="Shape 9"/>
          <p:cNvSpPr/>
          <p:nvPr/>
        </p:nvSpPr>
        <p:spPr>
          <a:xfrm>
            <a:off x="6163056" y="2057400"/>
            <a:ext cx="2542032" cy="1600200"/>
          </a:xfrm>
          <a:prstGeom prst="roundRect">
            <a:avLst>
              <a:gd name="adj" fmla="val 8000"/>
            </a:avLst>
          </a:prstGeom>
          <a:solidFill>
            <a:srgbClr val="EFEBF8"/>
          </a:solidFill>
          <a:ln/>
          <a:effectLst>
            <a:outerShdw sx="100000" sy="100000" kx="0" ky="0" algn="bl" rotWithShape="0" blurRad="127000" dist="25400" dir="5400000">
              <a:srgbClr val="241E33">
                <a:alpha val="10000"/>
              </a:srgbClr>
            </a:outerShdw>
          </a:effectLst>
        </p:spPr>
      </p:sp>
      <p:sp>
        <p:nvSpPr>
          <p:cNvPr id="12" name="Text 10"/>
          <p:cNvSpPr/>
          <p:nvPr/>
        </p:nvSpPr>
        <p:spPr>
          <a:xfrm>
            <a:off x="6345936" y="2212848"/>
            <a:ext cx="2194560" cy="713232"/>
          </a:xfrm>
          <a:prstGeom prst="rect">
            <a:avLst/>
          </a:prstGeom>
          <a:noFill/>
          <a:ln/>
        </p:spPr>
        <p:txBody>
          <a:bodyPr wrap="square" lIns="0" tIns="0" rIns="0" bIns="0" rtlCol="0" anchor="ctr"/>
          <a:lstStyle/>
          <a:p>
            <a:pPr indent="0" marL="0">
              <a:buNone/>
            </a:pPr>
            <a:r>
              <a:rPr lang="en-US" sz="3400" b="1" dirty="0">
                <a:solidFill>
                  <a:srgbClr val="6C4FE0"/>
                </a:solidFill>
                <a:latin typeface="Cambria" pitchFamily="34" charset="0"/>
                <a:ea typeface="Cambria" pitchFamily="34" charset="-122"/>
                <a:cs typeface="Cambria" pitchFamily="34" charset="-120"/>
              </a:rPr>
              <a:t>164</a:t>
            </a:r>
            <a:endParaRPr lang="en-US" sz="3400" dirty="0"/>
          </a:p>
        </p:txBody>
      </p:sp>
      <p:sp>
        <p:nvSpPr>
          <p:cNvPr id="13" name="Text 11"/>
          <p:cNvSpPr/>
          <p:nvPr/>
        </p:nvSpPr>
        <p:spPr>
          <a:xfrm>
            <a:off x="6345936" y="2926080"/>
            <a:ext cx="2194560" cy="621792"/>
          </a:xfrm>
          <a:prstGeom prst="rect">
            <a:avLst/>
          </a:prstGeom>
          <a:noFill/>
          <a:ln/>
        </p:spPr>
        <p:txBody>
          <a:bodyPr wrap="square" lIns="0" tIns="0" rIns="0" bIns="0" rtlCol="0" anchor="ctr"/>
          <a:lstStyle/>
          <a:p>
            <a:pPr indent="0" marL="0">
              <a:lnSpc>
                <a:spcPts val="1500"/>
              </a:lnSpc>
              <a:buNone/>
            </a:pPr>
            <a:r>
              <a:rPr lang="en-US" sz="1200" dirty="0">
                <a:solidFill>
                  <a:srgbClr val="4A4360"/>
                </a:solidFill>
                <a:latin typeface="Calibri" pitchFamily="34" charset="0"/>
                <a:ea typeface="Calibri" pitchFamily="34" charset="-122"/>
                <a:cs typeface="Calibri" pitchFamily="34" charset="-120"/>
              </a:rPr>
              <a:t>concept chapters,</a:t>
            </a:r>
            <a:endParaRPr lang="en-US" sz="1200" dirty="0"/>
          </a:p>
          <a:p>
            <a:pPr indent="0" marL="0">
              <a:lnSpc>
                <a:spcPts val="1500"/>
              </a:lnSpc>
              <a:buNone/>
            </a:pPr>
            <a:r>
              <a:rPr lang="en-US" sz="1200" dirty="0">
                <a:solidFill>
                  <a:srgbClr val="4A4360"/>
                </a:solidFill>
                <a:latin typeface="Calibri" pitchFamily="34" charset="0"/>
                <a:ea typeface="Calibri" pitchFamily="34" charset="-122"/>
                <a:cs typeface="Calibri" pitchFamily="34" charset="-120"/>
              </a:rPr>
              <a:t>free and advanced</a:t>
            </a:r>
            <a:endParaRPr lang="en-US" sz="1200" dirty="0"/>
          </a:p>
        </p:txBody>
      </p:sp>
      <p:sp>
        <p:nvSpPr>
          <p:cNvPr id="14" name="Shape 12"/>
          <p:cNvSpPr/>
          <p:nvPr/>
        </p:nvSpPr>
        <p:spPr>
          <a:xfrm>
            <a:off x="8924544" y="2057400"/>
            <a:ext cx="2542032" cy="1600200"/>
          </a:xfrm>
          <a:prstGeom prst="roundRect">
            <a:avLst>
              <a:gd name="adj" fmla="val 8000"/>
            </a:avLst>
          </a:prstGeom>
          <a:solidFill>
            <a:srgbClr val="EFEBF8"/>
          </a:solidFill>
          <a:ln/>
          <a:effectLst>
            <a:outerShdw sx="100000" sy="100000" kx="0" ky="0" algn="bl" rotWithShape="0" blurRad="127000" dist="25400" dir="5400000">
              <a:srgbClr val="241E33">
                <a:alpha val="10000"/>
              </a:srgbClr>
            </a:outerShdw>
          </a:effectLst>
        </p:spPr>
      </p:sp>
      <p:sp>
        <p:nvSpPr>
          <p:cNvPr id="15" name="Text 13"/>
          <p:cNvSpPr/>
          <p:nvPr/>
        </p:nvSpPr>
        <p:spPr>
          <a:xfrm>
            <a:off x="9107424" y="2212848"/>
            <a:ext cx="2194560" cy="713232"/>
          </a:xfrm>
          <a:prstGeom prst="rect">
            <a:avLst/>
          </a:prstGeom>
          <a:noFill/>
          <a:ln/>
        </p:spPr>
        <p:txBody>
          <a:bodyPr wrap="square" lIns="0" tIns="0" rIns="0" bIns="0" rtlCol="0" anchor="ctr"/>
          <a:lstStyle/>
          <a:p>
            <a:pPr indent="0" marL="0">
              <a:buNone/>
            </a:pPr>
            <a:r>
              <a:rPr lang="en-US" sz="3400" b="1" dirty="0">
                <a:solidFill>
                  <a:srgbClr val="6C4FE0"/>
                </a:solidFill>
                <a:latin typeface="Cambria" pitchFamily="34" charset="0"/>
                <a:ea typeface="Cambria" pitchFamily="34" charset="-122"/>
                <a:cs typeface="Cambria" pitchFamily="34" charset="-120"/>
              </a:rPr>
              <a:t>23</a:t>
            </a:r>
            <a:endParaRPr lang="en-US" sz="3400" dirty="0"/>
          </a:p>
        </p:txBody>
      </p:sp>
      <p:sp>
        <p:nvSpPr>
          <p:cNvPr id="16" name="Text 14"/>
          <p:cNvSpPr/>
          <p:nvPr/>
        </p:nvSpPr>
        <p:spPr>
          <a:xfrm>
            <a:off x="9107424" y="2926080"/>
            <a:ext cx="2194560" cy="621792"/>
          </a:xfrm>
          <a:prstGeom prst="rect">
            <a:avLst/>
          </a:prstGeom>
          <a:noFill/>
          <a:ln/>
        </p:spPr>
        <p:txBody>
          <a:bodyPr wrap="square" lIns="0" tIns="0" rIns="0" bIns="0" rtlCol="0" anchor="ctr"/>
          <a:lstStyle/>
          <a:p>
            <a:pPr indent="0" marL="0">
              <a:lnSpc>
                <a:spcPts val="1500"/>
              </a:lnSpc>
              <a:buNone/>
            </a:pPr>
            <a:r>
              <a:rPr lang="en-US" sz="1200" dirty="0">
                <a:solidFill>
                  <a:srgbClr val="4A4360"/>
                </a:solidFill>
                <a:latin typeface="Calibri" pitchFamily="34" charset="0"/>
                <a:ea typeface="Calibri" pitchFamily="34" charset="-122"/>
                <a:cs typeface="Calibri" pitchFamily="34" charset="-120"/>
              </a:rPr>
              <a:t>illustrated books,</a:t>
            </a:r>
            <a:endParaRPr lang="en-US" sz="1200" dirty="0"/>
          </a:p>
          <a:p>
            <a:pPr indent="0" marL="0">
              <a:lnSpc>
                <a:spcPts val="1500"/>
              </a:lnSpc>
              <a:buNone/>
            </a:pPr>
            <a:r>
              <a:rPr lang="en-US" sz="1200" dirty="0">
                <a:solidFill>
                  <a:srgbClr val="4A4360"/>
                </a:solidFill>
                <a:latin typeface="Calibri" pitchFamily="34" charset="0"/>
                <a:ea typeface="Calibri" pitchFamily="34" charset="-122"/>
                <a:cs typeface="Calibri" pitchFamily="34" charset="-120"/>
              </a:rPr>
              <a:t>1,700 pages</a:t>
            </a:r>
            <a:endParaRPr lang="en-US" sz="1200" dirty="0"/>
          </a:p>
        </p:txBody>
      </p:sp>
      <p:sp>
        <p:nvSpPr>
          <p:cNvPr id="17" name="Shape 15"/>
          <p:cNvSpPr/>
          <p:nvPr/>
        </p:nvSpPr>
        <p:spPr>
          <a:xfrm rot="5400000">
            <a:off x="640080" y="4014216"/>
            <a:ext cx="310896" cy="310896"/>
          </a:xfrm>
          <a:prstGeom prst="hexagon">
            <a:avLst/>
          </a:prstGeom>
          <a:solidFill>
            <a:srgbClr val="178A4C"/>
          </a:solidFill>
          <a:ln/>
        </p:spPr>
      </p:sp>
      <p:sp>
        <p:nvSpPr>
          <p:cNvPr id="18" name="Text 16"/>
          <p:cNvSpPr/>
          <p:nvPr/>
        </p:nvSpPr>
        <p:spPr>
          <a:xfrm>
            <a:off x="1115568" y="3977640"/>
            <a:ext cx="2651760" cy="384048"/>
          </a:xfrm>
          <a:prstGeom prst="rect">
            <a:avLst/>
          </a:prstGeom>
          <a:noFill/>
          <a:ln/>
        </p:spPr>
        <p:txBody>
          <a:bodyPr wrap="square" lIns="0" tIns="0" rIns="0" bIns="0" rtlCol="0" anchor="ctr"/>
          <a:lstStyle/>
          <a:p>
            <a:pPr indent="0" marL="0">
              <a:buNone/>
            </a:pPr>
            <a:r>
              <a:rPr lang="en-US" sz="1400" b="1" dirty="0">
                <a:solidFill>
                  <a:srgbClr val="241E33"/>
                </a:solidFill>
                <a:latin typeface="Cambria" pitchFamily="34" charset="0"/>
                <a:ea typeface="Cambria" pitchFamily="34" charset="-122"/>
                <a:cs typeface="Cambria" pitchFamily="34" charset="-120"/>
              </a:rPr>
              <a:t>Transfers as-is</a:t>
            </a:r>
            <a:endParaRPr lang="en-US" sz="1400" dirty="0"/>
          </a:p>
        </p:txBody>
      </p:sp>
      <p:sp>
        <p:nvSpPr>
          <p:cNvPr id="19" name="Text 17"/>
          <p:cNvSpPr/>
          <p:nvPr/>
        </p:nvSpPr>
        <p:spPr>
          <a:xfrm>
            <a:off x="3749040" y="3977640"/>
            <a:ext cx="7772400" cy="384048"/>
          </a:xfrm>
          <a:prstGeom prst="rect">
            <a:avLst/>
          </a:prstGeom>
          <a:noFill/>
          <a:ln/>
        </p:spPr>
        <p:txBody>
          <a:bodyPr wrap="square" lIns="0" tIns="0" rIns="0" bIns="0" rtlCol="0" anchor="ctr"/>
          <a:lstStyle/>
          <a:p>
            <a:pPr indent="0" marL="0">
              <a:buNone/>
            </a:pPr>
            <a:r>
              <a:rPr lang="en-US" sz="1250" dirty="0">
                <a:solidFill>
                  <a:srgbClr val="4A4360"/>
                </a:solidFill>
                <a:latin typeface="Calibri" pitchFamily="34" charset="0"/>
                <a:ea typeface="Calibri" pitchFamily="34" charset="-122"/>
                <a:cs typeface="Calibri" pitchFamily="34" charset="-120"/>
              </a:rPr>
              <a:t>Audio pipeline · adaptive progression · game layer · avatars &amp; rewards · offline delivery</a:t>
            </a:r>
            <a:endParaRPr lang="en-US" sz="1250" dirty="0"/>
          </a:p>
        </p:txBody>
      </p:sp>
      <p:sp>
        <p:nvSpPr>
          <p:cNvPr id="20" name="Shape 18"/>
          <p:cNvSpPr/>
          <p:nvPr/>
        </p:nvSpPr>
        <p:spPr>
          <a:xfrm rot="5400000">
            <a:off x="640080" y="4672584"/>
            <a:ext cx="310896" cy="310896"/>
          </a:xfrm>
          <a:prstGeom prst="hexagon">
            <a:avLst/>
          </a:prstGeom>
          <a:solidFill>
            <a:srgbClr val="6C4FE0"/>
          </a:solidFill>
          <a:ln/>
        </p:spPr>
      </p:sp>
      <p:sp>
        <p:nvSpPr>
          <p:cNvPr id="21" name="Text 19"/>
          <p:cNvSpPr/>
          <p:nvPr/>
        </p:nvSpPr>
        <p:spPr>
          <a:xfrm>
            <a:off x="1115568" y="4636008"/>
            <a:ext cx="2651760" cy="384048"/>
          </a:xfrm>
          <a:prstGeom prst="rect">
            <a:avLst/>
          </a:prstGeom>
          <a:noFill/>
          <a:ln/>
        </p:spPr>
        <p:txBody>
          <a:bodyPr wrap="square" lIns="0" tIns="0" rIns="0" bIns="0" rtlCol="0" anchor="ctr"/>
          <a:lstStyle/>
          <a:p>
            <a:pPr indent="0" marL="0">
              <a:buNone/>
            </a:pPr>
            <a:r>
              <a:rPr lang="en-US" sz="1400" b="1" dirty="0">
                <a:solidFill>
                  <a:srgbClr val="241E33"/>
                </a:solidFill>
                <a:latin typeface="Cambria" pitchFamily="34" charset="0"/>
                <a:ea typeface="Cambria" pitchFamily="34" charset="-122"/>
                <a:cs typeface="Cambria" pitchFamily="34" charset="-120"/>
              </a:rPr>
              <a:t>Transfers with new content</a:t>
            </a:r>
            <a:endParaRPr lang="en-US" sz="1400" dirty="0"/>
          </a:p>
        </p:txBody>
      </p:sp>
      <p:sp>
        <p:nvSpPr>
          <p:cNvPr id="22" name="Text 20"/>
          <p:cNvSpPr/>
          <p:nvPr/>
        </p:nvSpPr>
        <p:spPr>
          <a:xfrm>
            <a:off x="3749040" y="4636008"/>
            <a:ext cx="7772400" cy="384048"/>
          </a:xfrm>
          <a:prstGeom prst="rect">
            <a:avLst/>
          </a:prstGeom>
          <a:noFill/>
          <a:ln/>
        </p:spPr>
        <p:txBody>
          <a:bodyPr wrap="square" lIns="0" tIns="0" rIns="0" bIns="0" rtlCol="0" anchor="ctr"/>
          <a:lstStyle/>
          <a:p>
            <a:pPr indent="0" marL="0">
              <a:buNone/>
            </a:pPr>
            <a:r>
              <a:rPr lang="en-US" sz="1250" dirty="0">
                <a:solidFill>
                  <a:srgbClr val="4A4360"/>
                </a:solidFill>
                <a:latin typeface="Calibri" pitchFamily="34" charset="0"/>
                <a:ea typeface="Calibri" pitchFamily="34" charset="-122"/>
                <a:cs typeface="Calibri" pitchFamily="34" charset="-120"/>
              </a:rPr>
              <a:t>Verbal reasoning · heritage vocabulary · mental maths · financial literacy</a:t>
            </a:r>
            <a:endParaRPr lang="en-US" sz="1250" dirty="0"/>
          </a:p>
        </p:txBody>
      </p:sp>
      <p:sp>
        <p:nvSpPr>
          <p:cNvPr id="23" name="Shape 21"/>
          <p:cNvSpPr/>
          <p:nvPr/>
        </p:nvSpPr>
        <p:spPr>
          <a:xfrm rot="5400000">
            <a:off x="640080" y="5330952"/>
            <a:ext cx="310896" cy="310896"/>
          </a:xfrm>
          <a:prstGeom prst="hexagon">
            <a:avLst/>
          </a:prstGeom>
          <a:solidFill>
            <a:srgbClr val="C4453C"/>
          </a:solidFill>
          <a:ln/>
        </p:spPr>
      </p:sp>
      <p:sp>
        <p:nvSpPr>
          <p:cNvPr id="24" name="Text 22"/>
          <p:cNvSpPr/>
          <p:nvPr/>
        </p:nvSpPr>
        <p:spPr>
          <a:xfrm>
            <a:off x="1115568" y="5294376"/>
            <a:ext cx="2651760" cy="384048"/>
          </a:xfrm>
          <a:prstGeom prst="rect">
            <a:avLst/>
          </a:prstGeom>
          <a:noFill/>
          <a:ln/>
        </p:spPr>
        <p:txBody>
          <a:bodyPr wrap="square" lIns="0" tIns="0" rIns="0" bIns="0" rtlCol="0" anchor="ctr"/>
          <a:lstStyle/>
          <a:p>
            <a:pPr indent="0" marL="0">
              <a:buNone/>
            </a:pPr>
            <a:r>
              <a:rPr lang="en-US" sz="1400" b="1" dirty="0">
                <a:solidFill>
                  <a:srgbClr val="241E33"/>
                </a:solidFill>
                <a:latin typeface="Cambria" pitchFamily="34" charset="0"/>
                <a:ea typeface="Cambria" pitchFamily="34" charset="-122"/>
                <a:cs typeface="Cambria" pitchFamily="34" charset="-120"/>
              </a:rPr>
              <a:t>Does not transfer</a:t>
            </a:r>
            <a:endParaRPr lang="en-US" sz="1400" dirty="0"/>
          </a:p>
        </p:txBody>
      </p:sp>
      <p:sp>
        <p:nvSpPr>
          <p:cNvPr id="25" name="Text 23"/>
          <p:cNvSpPr/>
          <p:nvPr/>
        </p:nvSpPr>
        <p:spPr>
          <a:xfrm>
            <a:off x="3749040" y="5294376"/>
            <a:ext cx="7772400" cy="384048"/>
          </a:xfrm>
          <a:prstGeom prst="rect">
            <a:avLst/>
          </a:prstGeom>
          <a:noFill/>
          <a:ln/>
        </p:spPr>
        <p:txBody>
          <a:bodyPr wrap="square" lIns="0" tIns="0" rIns="0" bIns="0" rtlCol="0" anchor="ctr"/>
          <a:lstStyle/>
          <a:p>
            <a:pPr indent="0" marL="0">
              <a:buNone/>
            </a:pPr>
            <a:r>
              <a:rPr lang="en-US" sz="1250" dirty="0">
                <a:solidFill>
                  <a:srgbClr val="4A4360"/>
                </a:solidFill>
                <a:latin typeface="Calibri" pitchFamily="34" charset="0"/>
                <a:ea typeface="Calibri" pitchFamily="34" charset="-122"/>
                <a:cs typeface="Calibri" pitchFamily="34" charset="-120"/>
              </a:rPr>
              <a:t>Anything needing a solver, a rating system or a live teacher — chess, coding, music, dance</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BRAND ARCHITECTURE</a:t>
            </a:r>
            <a:endParaRPr lang="en-US" sz="1150" dirty="0"/>
          </a:p>
        </p:txBody>
      </p:sp>
      <p:sp>
        <p:nvSpPr>
          <p:cNvPr id="3" name="Text 1"/>
          <p:cNvSpPr/>
          <p:nvPr/>
        </p:nvSpPr>
        <p:spPr>
          <a:xfrm>
            <a:off x="640080" y="694944"/>
            <a:ext cx="106070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The house</a:t>
            </a:r>
            <a:endParaRPr lang="en-US" sz="2900" dirty="0"/>
          </a:p>
        </p:txBody>
      </p:sp>
      <p:sp>
        <p:nvSpPr>
          <p:cNvPr id="4" name="Text 2"/>
          <p:cNvSpPr/>
          <p:nvPr/>
        </p:nvSpPr>
        <p:spPr>
          <a:xfrm>
            <a:off x="640080" y="1444752"/>
            <a:ext cx="10607040" cy="512064"/>
          </a:xfrm>
          <a:prstGeom prst="rect">
            <a:avLst/>
          </a:prstGeom>
          <a:noFill/>
          <a:ln/>
        </p:spPr>
        <p:txBody>
          <a:bodyPr wrap="square" lIns="0" tIns="0" rIns="0" bIns="0" rtlCol="0" anchor="ctr"/>
          <a:lstStyle/>
          <a:p>
            <a:pPr indent="0" marL="0">
              <a:buNone/>
            </a:pPr>
            <a:r>
              <a:rPr lang="en-US" sz="1450" dirty="0">
                <a:solidFill>
                  <a:srgbClr val="7A7291"/>
                </a:solidFill>
                <a:latin typeface="Calibri" pitchFamily="34" charset="0"/>
                <a:ea typeface="Calibri" pitchFamily="34" charset="-122"/>
                <a:cs typeface="Calibri" pitchFamily="34" charset="-120"/>
              </a:rPr>
              <a:t>Three families, one engine. Geography is a hook rather than a brand — which is why India is the only place-name here, and why it is free.</a:t>
            </a:r>
            <a:endParaRPr lang="en-US" sz="1450" dirty="0"/>
          </a:p>
        </p:txBody>
      </p:sp>
      <p:sp>
        <p:nvSpPr>
          <p:cNvPr id="5" name="Shape 3"/>
          <p:cNvSpPr/>
          <p:nvPr/>
        </p:nvSpPr>
        <p:spPr>
          <a:xfrm>
            <a:off x="4937760" y="1938528"/>
            <a:ext cx="2286000" cy="585216"/>
          </a:xfrm>
          <a:prstGeom prst="roundRect">
            <a:avLst>
              <a:gd name="adj" fmla="val 20313"/>
            </a:avLst>
          </a:prstGeom>
          <a:solidFill>
            <a:srgbClr val="241E33"/>
          </a:solidFill>
          <a:ln/>
        </p:spPr>
      </p:sp>
      <p:sp>
        <p:nvSpPr>
          <p:cNvPr id="6" name="Text 4"/>
          <p:cNvSpPr/>
          <p:nvPr/>
        </p:nvSpPr>
        <p:spPr>
          <a:xfrm>
            <a:off x="4937760" y="1938528"/>
            <a:ext cx="2286000" cy="585216"/>
          </a:xfrm>
          <a:prstGeom prst="rect">
            <a:avLst/>
          </a:prstGeom>
          <a:noFill/>
          <a:ln/>
        </p:spPr>
        <p:txBody>
          <a:bodyPr wrap="square" lIns="0" tIns="0" rIns="0" bIns="0" rtlCol="0" anchor="ctr"/>
          <a:lstStyle/>
          <a:p>
            <a:pPr algn="ctr" indent="0" marL="0">
              <a:buNone/>
            </a:pPr>
            <a:r>
              <a:rPr lang="en-US" sz="2000" b="1" spc="200" kern="0" dirty="0">
                <a:solidFill>
                  <a:srgbClr val="FFFFFF"/>
                </a:solidFill>
                <a:latin typeface="Cambria" pitchFamily="34" charset="0"/>
                <a:ea typeface="Cambria" pitchFamily="34" charset="-122"/>
                <a:cs typeface="Cambria" pitchFamily="34" charset="-120"/>
              </a:rPr>
              <a:t>BIZZING</a:t>
            </a:r>
            <a:endParaRPr lang="en-US" sz="2000" dirty="0"/>
          </a:p>
        </p:txBody>
      </p:sp>
      <p:sp>
        <p:nvSpPr>
          <p:cNvPr id="7" name="Shape 5"/>
          <p:cNvSpPr/>
          <p:nvPr/>
        </p:nvSpPr>
        <p:spPr>
          <a:xfrm>
            <a:off x="6080760" y="2523744"/>
            <a:ext cx="0" cy="274320"/>
          </a:xfrm>
          <a:prstGeom prst="line">
            <a:avLst/>
          </a:prstGeom>
          <a:noFill/>
          <a:ln w="25400">
            <a:solidFill>
              <a:srgbClr val="E3DCF2"/>
            </a:solidFill>
            <a:prstDash val="solid"/>
          </a:ln>
        </p:spPr>
      </p:sp>
      <p:sp>
        <p:nvSpPr>
          <p:cNvPr id="8" name="Shape 6"/>
          <p:cNvSpPr/>
          <p:nvPr/>
        </p:nvSpPr>
        <p:spPr>
          <a:xfrm>
            <a:off x="2286000" y="2798064"/>
            <a:ext cx="7589520" cy="0"/>
          </a:xfrm>
          <a:prstGeom prst="line">
            <a:avLst/>
          </a:prstGeom>
          <a:noFill/>
          <a:ln w="25400">
            <a:solidFill>
              <a:srgbClr val="E3DCF2"/>
            </a:solidFill>
            <a:prstDash val="solid"/>
          </a:ln>
        </p:spPr>
      </p:sp>
      <p:sp>
        <p:nvSpPr>
          <p:cNvPr id="9" name="Shape 7"/>
          <p:cNvSpPr/>
          <p:nvPr/>
        </p:nvSpPr>
        <p:spPr>
          <a:xfrm>
            <a:off x="2299716" y="2798064"/>
            <a:ext cx="0" cy="274320"/>
          </a:xfrm>
          <a:prstGeom prst="line">
            <a:avLst/>
          </a:prstGeom>
          <a:noFill/>
          <a:ln w="25400">
            <a:solidFill>
              <a:srgbClr val="E3DCF2"/>
            </a:solidFill>
            <a:prstDash val="solid"/>
          </a:ln>
        </p:spPr>
      </p:sp>
      <p:sp>
        <p:nvSpPr>
          <p:cNvPr id="10" name="Shape 8"/>
          <p:cNvSpPr/>
          <p:nvPr/>
        </p:nvSpPr>
        <p:spPr>
          <a:xfrm>
            <a:off x="640080" y="3072384"/>
            <a:ext cx="3319272" cy="384048"/>
          </a:xfrm>
          <a:prstGeom prst="roundRect">
            <a:avLst>
              <a:gd name="adj" fmla="val 23810"/>
            </a:avLst>
          </a:prstGeom>
          <a:solidFill>
            <a:srgbClr val="6C4FE0"/>
          </a:solidFill>
          <a:ln/>
        </p:spPr>
      </p:sp>
      <p:sp>
        <p:nvSpPr>
          <p:cNvPr id="11" name="Text 9"/>
          <p:cNvSpPr/>
          <p:nvPr/>
        </p:nvSpPr>
        <p:spPr>
          <a:xfrm>
            <a:off x="640080" y="3072384"/>
            <a:ext cx="3319272" cy="384048"/>
          </a:xfrm>
          <a:prstGeom prst="rect">
            <a:avLst/>
          </a:prstGeom>
          <a:noFill/>
          <a:ln/>
        </p:spPr>
        <p:txBody>
          <a:bodyPr wrap="square" lIns="0" tIns="0" rIns="0" bIns="0" rtlCol="0" anchor="ctr"/>
          <a:lstStyle/>
          <a:p>
            <a:pPr algn="ctr" indent="0" marL="0">
              <a:buNone/>
            </a:pPr>
            <a:r>
              <a:rPr lang="en-US" sz="1000" b="1" spc="160" kern="0" dirty="0">
                <a:solidFill>
                  <a:srgbClr val="FFFFFF"/>
                </a:solidFill>
                <a:latin typeface="Calibri" pitchFamily="34" charset="0"/>
                <a:ea typeface="Calibri" pitchFamily="34" charset="-122"/>
                <a:cs typeface="Calibri" pitchFamily="34" charset="-120"/>
              </a:rPr>
              <a:t>WORDS</a:t>
            </a:r>
            <a:endParaRPr lang="en-US" sz="1000" dirty="0"/>
          </a:p>
        </p:txBody>
      </p:sp>
      <p:sp>
        <p:nvSpPr>
          <p:cNvPr id="12" name="Shape 10"/>
          <p:cNvSpPr/>
          <p:nvPr/>
        </p:nvSpPr>
        <p:spPr>
          <a:xfrm>
            <a:off x="640080" y="3602736"/>
            <a:ext cx="3319272" cy="347472"/>
          </a:xfrm>
          <a:prstGeom prst="roundRect">
            <a:avLst>
              <a:gd name="adj" fmla="val 23684"/>
            </a:avLst>
          </a:prstGeom>
          <a:solidFill>
            <a:srgbClr val="EFEBF8"/>
          </a:solidFill>
          <a:ln/>
        </p:spPr>
      </p:sp>
      <p:sp>
        <p:nvSpPr>
          <p:cNvPr id="13" name="Text 11"/>
          <p:cNvSpPr/>
          <p:nvPr/>
        </p:nvSpPr>
        <p:spPr>
          <a:xfrm>
            <a:off x="822960" y="3602736"/>
            <a:ext cx="1746504" cy="347472"/>
          </a:xfrm>
          <a:prstGeom prst="rect">
            <a:avLst/>
          </a:prstGeom>
          <a:noFill/>
          <a:ln/>
        </p:spPr>
        <p:txBody>
          <a:bodyPr wrap="square" lIns="0" tIns="0" rIns="0" bIns="0" rtlCol="0" anchor="ctr"/>
          <a:lstStyle/>
          <a:p>
            <a:pPr indent="0" marL="0">
              <a:buNone/>
            </a:pPr>
            <a:r>
              <a:rPr lang="en-US" sz="1250" b="1" dirty="0">
                <a:solidFill>
                  <a:srgbClr val="241E33"/>
                </a:solidFill>
                <a:latin typeface="Cambria" pitchFamily="34" charset="0"/>
                <a:ea typeface="Cambria" pitchFamily="34" charset="-122"/>
                <a:cs typeface="Cambria" pitchFamily="34" charset="-120"/>
              </a:rPr>
              <a:t>Bizzing Bee</a:t>
            </a:r>
            <a:endParaRPr lang="en-US" sz="1250" dirty="0"/>
          </a:p>
        </p:txBody>
      </p:sp>
      <p:sp>
        <p:nvSpPr>
          <p:cNvPr id="14" name="Text 12"/>
          <p:cNvSpPr/>
          <p:nvPr/>
        </p:nvSpPr>
        <p:spPr>
          <a:xfrm>
            <a:off x="2660904" y="3602736"/>
            <a:ext cx="1115568" cy="347472"/>
          </a:xfrm>
          <a:prstGeom prst="rect">
            <a:avLst/>
          </a:prstGeom>
          <a:noFill/>
          <a:ln/>
        </p:spPr>
        <p:txBody>
          <a:bodyPr wrap="square" lIns="0" tIns="0" rIns="0" bIns="0" rtlCol="0" anchor="ctr"/>
          <a:lstStyle/>
          <a:p>
            <a:pPr algn="r" indent="0" marL="0">
              <a:buNone/>
            </a:pPr>
            <a:r>
              <a:rPr lang="en-US" sz="900" i="1" dirty="0">
                <a:solidFill>
                  <a:srgbClr val="4A31B0"/>
                </a:solidFill>
                <a:latin typeface="Calibri" pitchFamily="34" charset="0"/>
                <a:ea typeface="Calibri" pitchFamily="34" charset="-122"/>
                <a:cs typeface="Calibri" pitchFamily="34" charset="-120"/>
              </a:rPr>
              <a:t>live</a:t>
            </a:r>
            <a:endParaRPr lang="en-US" sz="900" dirty="0"/>
          </a:p>
        </p:txBody>
      </p:sp>
      <p:sp>
        <p:nvSpPr>
          <p:cNvPr id="15" name="Shape 13"/>
          <p:cNvSpPr/>
          <p:nvPr/>
        </p:nvSpPr>
        <p:spPr>
          <a:xfrm>
            <a:off x="640080" y="4023360"/>
            <a:ext cx="3319272" cy="347472"/>
          </a:xfrm>
          <a:prstGeom prst="roundRect">
            <a:avLst>
              <a:gd name="adj" fmla="val 23684"/>
            </a:avLst>
          </a:prstGeom>
          <a:solidFill>
            <a:srgbClr val="EFEBF8"/>
          </a:solidFill>
          <a:ln/>
        </p:spPr>
      </p:sp>
      <p:sp>
        <p:nvSpPr>
          <p:cNvPr id="16" name="Text 14"/>
          <p:cNvSpPr/>
          <p:nvPr/>
        </p:nvSpPr>
        <p:spPr>
          <a:xfrm>
            <a:off x="822960" y="4023360"/>
            <a:ext cx="1746504" cy="347472"/>
          </a:xfrm>
          <a:prstGeom prst="rect">
            <a:avLst/>
          </a:prstGeom>
          <a:noFill/>
          <a:ln/>
        </p:spPr>
        <p:txBody>
          <a:bodyPr wrap="square" lIns="0" tIns="0" rIns="0" bIns="0" rtlCol="0" anchor="ctr"/>
          <a:lstStyle/>
          <a:p>
            <a:pPr indent="0" marL="0">
              <a:buNone/>
            </a:pPr>
            <a:r>
              <a:rPr lang="en-US" sz="1250" b="1" dirty="0">
                <a:solidFill>
                  <a:srgbClr val="241E33"/>
                </a:solidFill>
                <a:latin typeface="Cambria" pitchFamily="34" charset="0"/>
                <a:ea typeface="Cambria" pitchFamily="34" charset="-122"/>
                <a:cs typeface="Cambria" pitchFamily="34" charset="-120"/>
              </a:rPr>
              <a:t>Bizzing Eleven</a:t>
            </a:r>
            <a:endParaRPr lang="en-US" sz="1250" dirty="0"/>
          </a:p>
        </p:txBody>
      </p:sp>
      <p:sp>
        <p:nvSpPr>
          <p:cNvPr id="17" name="Text 15"/>
          <p:cNvSpPr/>
          <p:nvPr/>
        </p:nvSpPr>
        <p:spPr>
          <a:xfrm>
            <a:off x="2660904" y="4023360"/>
            <a:ext cx="1115568" cy="347472"/>
          </a:xfrm>
          <a:prstGeom prst="rect">
            <a:avLst/>
          </a:prstGeom>
          <a:noFill/>
          <a:ln/>
        </p:spPr>
        <p:txBody>
          <a:bodyPr wrap="square" lIns="0" tIns="0" rIns="0" bIns="0" rtlCol="0" anchor="ctr"/>
          <a:lstStyle/>
          <a:p>
            <a:pPr algn="r" indent="0" marL="0">
              <a:buNone/>
            </a:pPr>
            <a:r>
              <a:rPr lang="en-US" sz="900" i="1" dirty="0">
                <a:solidFill>
                  <a:srgbClr val="4A31B0"/>
                </a:solidFill>
                <a:latin typeface="Calibri" pitchFamily="34" charset="0"/>
                <a:ea typeface="Calibri" pitchFamily="34" charset="-122"/>
                <a:cs typeface="Calibri" pitchFamily="34" charset="-120"/>
              </a:rPr>
              <a:t>next</a:t>
            </a:r>
            <a:endParaRPr lang="en-US" sz="900" dirty="0"/>
          </a:p>
        </p:txBody>
      </p:sp>
      <p:sp>
        <p:nvSpPr>
          <p:cNvPr id="18" name="Shape 16"/>
          <p:cNvSpPr/>
          <p:nvPr/>
        </p:nvSpPr>
        <p:spPr>
          <a:xfrm>
            <a:off x="640080" y="4443984"/>
            <a:ext cx="3319272" cy="347472"/>
          </a:xfrm>
          <a:prstGeom prst="roundRect">
            <a:avLst>
              <a:gd name="adj" fmla="val 23684"/>
            </a:avLst>
          </a:prstGeom>
          <a:solidFill>
            <a:srgbClr val="EFEBF8"/>
          </a:solidFill>
          <a:ln/>
        </p:spPr>
      </p:sp>
      <p:sp>
        <p:nvSpPr>
          <p:cNvPr id="19" name="Text 17"/>
          <p:cNvSpPr/>
          <p:nvPr/>
        </p:nvSpPr>
        <p:spPr>
          <a:xfrm>
            <a:off x="822960" y="4443984"/>
            <a:ext cx="1746504" cy="347472"/>
          </a:xfrm>
          <a:prstGeom prst="rect">
            <a:avLst/>
          </a:prstGeom>
          <a:noFill/>
          <a:ln/>
        </p:spPr>
        <p:txBody>
          <a:bodyPr wrap="square" lIns="0" tIns="0" rIns="0" bIns="0" rtlCol="0" anchor="ctr"/>
          <a:lstStyle/>
          <a:p>
            <a:pPr indent="0" marL="0">
              <a:buNone/>
            </a:pPr>
            <a:r>
              <a:rPr lang="en-US" sz="1250" b="1" dirty="0">
                <a:solidFill>
                  <a:srgbClr val="241E33"/>
                </a:solidFill>
                <a:latin typeface="Cambria" pitchFamily="34" charset="0"/>
                <a:ea typeface="Cambria" pitchFamily="34" charset="-122"/>
                <a:cs typeface="Cambria" pitchFamily="34" charset="-120"/>
              </a:rPr>
              <a:t>Bizzing English</a:t>
            </a:r>
            <a:endParaRPr lang="en-US" sz="1250" dirty="0"/>
          </a:p>
        </p:txBody>
      </p:sp>
      <p:sp>
        <p:nvSpPr>
          <p:cNvPr id="20" name="Text 18"/>
          <p:cNvSpPr/>
          <p:nvPr/>
        </p:nvSpPr>
        <p:spPr>
          <a:xfrm>
            <a:off x="2660904" y="4443984"/>
            <a:ext cx="1115568" cy="347472"/>
          </a:xfrm>
          <a:prstGeom prst="rect">
            <a:avLst/>
          </a:prstGeom>
          <a:noFill/>
          <a:ln/>
        </p:spPr>
        <p:txBody>
          <a:bodyPr wrap="square" lIns="0" tIns="0" rIns="0" bIns="0" rtlCol="0" anchor="ctr"/>
          <a:lstStyle/>
          <a:p>
            <a:pPr algn="r" indent="0" marL="0">
              <a:buNone/>
            </a:pPr>
            <a:r>
              <a:rPr lang="en-US" sz="900" i="1" dirty="0">
                <a:solidFill>
                  <a:srgbClr val="4A31B0"/>
                </a:solidFill>
                <a:latin typeface="Calibri" pitchFamily="34" charset="0"/>
                <a:ea typeface="Calibri" pitchFamily="34" charset="-122"/>
                <a:cs typeface="Calibri" pitchFamily="34" charset="-120"/>
              </a:rPr>
              <a:t>planned</a:t>
            </a:r>
            <a:endParaRPr lang="en-US" sz="900" dirty="0"/>
          </a:p>
        </p:txBody>
      </p:sp>
      <p:sp>
        <p:nvSpPr>
          <p:cNvPr id="21" name="Shape 19"/>
          <p:cNvSpPr/>
          <p:nvPr/>
        </p:nvSpPr>
        <p:spPr>
          <a:xfrm>
            <a:off x="640080" y="4864608"/>
            <a:ext cx="3319272" cy="347472"/>
          </a:xfrm>
          <a:prstGeom prst="roundRect">
            <a:avLst>
              <a:gd name="adj" fmla="val 23684"/>
            </a:avLst>
          </a:prstGeom>
          <a:solidFill>
            <a:srgbClr val="EFEBF8"/>
          </a:solidFill>
          <a:ln/>
        </p:spPr>
      </p:sp>
      <p:sp>
        <p:nvSpPr>
          <p:cNvPr id="22" name="Text 20"/>
          <p:cNvSpPr/>
          <p:nvPr/>
        </p:nvSpPr>
        <p:spPr>
          <a:xfrm>
            <a:off x="822960" y="4864608"/>
            <a:ext cx="1746504" cy="347472"/>
          </a:xfrm>
          <a:prstGeom prst="rect">
            <a:avLst/>
          </a:prstGeom>
          <a:noFill/>
          <a:ln/>
        </p:spPr>
        <p:txBody>
          <a:bodyPr wrap="square" lIns="0" tIns="0" rIns="0" bIns="0" rtlCol="0" anchor="ctr"/>
          <a:lstStyle/>
          <a:p>
            <a:pPr indent="0" marL="0">
              <a:buNone/>
            </a:pPr>
            <a:r>
              <a:rPr lang="en-US" sz="1250" b="1" dirty="0">
                <a:solidFill>
                  <a:srgbClr val="241E33"/>
                </a:solidFill>
                <a:latin typeface="Cambria" pitchFamily="34" charset="0"/>
                <a:ea typeface="Cambria" pitchFamily="34" charset="-122"/>
                <a:cs typeface="Cambria" pitchFamily="34" charset="-120"/>
              </a:rPr>
              <a:t>Bizzing Buzz</a:t>
            </a:r>
            <a:endParaRPr lang="en-US" sz="1250" dirty="0"/>
          </a:p>
        </p:txBody>
      </p:sp>
      <p:sp>
        <p:nvSpPr>
          <p:cNvPr id="23" name="Text 21"/>
          <p:cNvSpPr/>
          <p:nvPr/>
        </p:nvSpPr>
        <p:spPr>
          <a:xfrm>
            <a:off x="2660904" y="4864608"/>
            <a:ext cx="1115568" cy="347472"/>
          </a:xfrm>
          <a:prstGeom prst="rect">
            <a:avLst/>
          </a:prstGeom>
          <a:noFill/>
          <a:ln/>
        </p:spPr>
        <p:txBody>
          <a:bodyPr wrap="square" lIns="0" tIns="0" rIns="0" bIns="0" rtlCol="0" anchor="ctr"/>
          <a:lstStyle/>
          <a:p>
            <a:pPr algn="r" indent="0" marL="0">
              <a:buNone/>
            </a:pPr>
            <a:r>
              <a:rPr lang="en-US" sz="900" i="1" dirty="0">
                <a:solidFill>
                  <a:srgbClr val="4A31B0"/>
                </a:solidFill>
                <a:latin typeface="Calibri" pitchFamily="34" charset="0"/>
                <a:ea typeface="Calibri" pitchFamily="34" charset="-122"/>
                <a:cs typeface="Calibri" pitchFamily="34" charset="-120"/>
              </a:rPr>
              <a:t>ages 4–6</a:t>
            </a:r>
            <a:endParaRPr lang="en-US" sz="900" dirty="0"/>
          </a:p>
        </p:txBody>
      </p:sp>
      <p:sp>
        <p:nvSpPr>
          <p:cNvPr id="24" name="Shape 22"/>
          <p:cNvSpPr/>
          <p:nvPr/>
        </p:nvSpPr>
        <p:spPr>
          <a:xfrm>
            <a:off x="640080" y="5285232"/>
            <a:ext cx="3319272" cy="347472"/>
          </a:xfrm>
          <a:prstGeom prst="roundRect">
            <a:avLst>
              <a:gd name="adj" fmla="val 23684"/>
            </a:avLst>
          </a:prstGeom>
          <a:solidFill>
            <a:srgbClr val="EFEBF8"/>
          </a:solidFill>
          <a:ln/>
        </p:spPr>
      </p:sp>
      <p:sp>
        <p:nvSpPr>
          <p:cNvPr id="25" name="Text 23"/>
          <p:cNvSpPr/>
          <p:nvPr/>
        </p:nvSpPr>
        <p:spPr>
          <a:xfrm>
            <a:off x="822960" y="5285232"/>
            <a:ext cx="1746504" cy="347472"/>
          </a:xfrm>
          <a:prstGeom prst="rect">
            <a:avLst/>
          </a:prstGeom>
          <a:noFill/>
          <a:ln/>
        </p:spPr>
        <p:txBody>
          <a:bodyPr wrap="square" lIns="0" tIns="0" rIns="0" bIns="0" rtlCol="0" anchor="ctr"/>
          <a:lstStyle/>
          <a:p>
            <a:pPr indent="0" marL="0">
              <a:buNone/>
            </a:pPr>
            <a:r>
              <a:rPr lang="en-US" sz="1250" b="1" dirty="0">
                <a:solidFill>
                  <a:srgbClr val="241E33"/>
                </a:solidFill>
                <a:latin typeface="Cambria" pitchFamily="34" charset="0"/>
                <a:ea typeface="Cambria" pitchFamily="34" charset="-122"/>
                <a:cs typeface="Cambria" pitchFamily="34" charset="-120"/>
              </a:rPr>
              <a:t>Bizzing Prep</a:t>
            </a:r>
            <a:endParaRPr lang="en-US" sz="1250" dirty="0"/>
          </a:p>
        </p:txBody>
      </p:sp>
      <p:sp>
        <p:nvSpPr>
          <p:cNvPr id="26" name="Text 24"/>
          <p:cNvSpPr/>
          <p:nvPr/>
        </p:nvSpPr>
        <p:spPr>
          <a:xfrm>
            <a:off x="2660904" y="5285232"/>
            <a:ext cx="1115568" cy="347472"/>
          </a:xfrm>
          <a:prstGeom prst="rect">
            <a:avLst/>
          </a:prstGeom>
          <a:noFill/>
          <a:ln/>
        </p:spPr>
        <p:txBody>
          <a:bodyPr wrap="square" lIns="0" tIns="0" rIns="0" bIns="0" rtlCol="0" anchor="ctr"/>
          <a:lstStyle/>
          <a:p>
            <a:pPr algn="r" indent="0" marL="0">
              <a:buNone/>
            </a:pPr>
            <a:r>
              <a:rPr lang="en-US" sz="900" i="1" dirty="0">
                <a:solidFill>
                  <a:srgbClr val="4A31B0"/>
                </a:solidFill>
                <a:latin typeface="Calibri" pitchFamily="34" charset="0"/>
                <a:ea typeface="Calibri" pitchFamily="34" charset="-122"/>
                <a:cs typeface="Calibri" pitchFamily="34" charset="-120"/>
              </a:rPr>
              <a:t>gap</a:t>
            </a:r>
            <a:endParaRPr lang="en-US" sz="900" dirty="0"/>
          </a:p>
        </p:txBody>
      </p:sp>
      <p:sp>
        <p:nvSpPr>
          <p:cNvPr id="27" name="Shape 25"/>
          <p:cNvSpPr/>
          <p:nvPr/>
        </p:nvSpPr>
        <p:spPr>
          <a:xfrm>
            <a:off x="640080" y="5705856"/>
            <a:ext cx="3319272" cy="347472"/>
          </a:xfrm>
          <a:prstGeom prst="roundRect">
            <a:avLst>
              <a:gd name="adj" fmla="val 23684"/>
            </a:avLst>
          </a:prstGeom>
          <a:solidFill>
            <a:srgbClr val="EFEBF8"/>
          </a:solidFill>
          <a:ln/>
        </p:spPr>
      </p:sp>
      <p:sp>
        <p:nvSpPr>
          <p:cNvPr id="28" name="Text 26"/>
          <p:cNvSpPr/>
          <p:nvPr/>
        </p:nvSpPr>
        <p:spPr>
          <a:xfrm>
            <a:off x="822960" y="5705856"/>
            <a:ext cx="1746504" cy="347472"/>
          </a:xfrm>
          <a:prstGeom prst="rect">
            <a:avLst/>
          </a:prstGeom>
          <a:noFill/>
          <a:ln/>
        </p:spPr>
        <p:txBody>
          <a:bodyPr wrap="square" lIns="0" tIns="0" rIns="0" bIns="0" rtlCol="0" anchor="ctr"/>
          <a:lstStyle/>
          <a:p>
            <a:pPr indent="0" marL="0">
              <a:buNone/>
            </a:pPr>
            <a:r>
              <a:rPr lang="en-US" sz="1250" b="1" dirty="0">
                <a:solidFill>
                  <a:srgbClr val="241E33"/>
                </a:solidFill>
                <a:latin typeface="Cambria" pitchFamily="34" charset="0"/>
                <a:ea typeface="Cambria" pitchFamily="34" charset="-122"/>
                <a:cs typeface="Cambria" pitchFamily="34" charset="-120"/>
              </a:rPr>
              <a:t>Bizzing Speak</a:t>
            </a:r>
            <a:endParaRPr lang="en-US" sz="1250" dirty="0"/>
          </a:p>
        </p:txBody>
      </p:sp>
      <p:sp>
        <p:nvSpPr>
          <p:cNvPr id="29" name="Text 27"/>
          <p:cNvSpPr/>
          <p:nvPr/>
        </p:nvSpPr>
        <p:spPr>
          <a:xfrm>
            <a:off x="2660904" y="5705856"/>
            <a:ext cx="1115568" cy="347472"/>
          </a:xfrm>
          <a:prstGeom prst="rect">
            <a:avLst/>
          </a:prstGeom>
          <a:noFill/>
          <a:ln/>
        </p:spPr>
        <p:txBody>
          <a:bodyPr wrap="square" lIns="0" tIns="0" rIns="0" bIns="0" rtlCol="0" anchor="ctr"/>
          <a:lstStyle/>
          <a:p>
            <a:pPr algn="r" indent="0" marL="0">
              <a:buNone/>
            </a:pPr>
            <a:r>
              <a:rPr lang="en-US" sz="900" i="1" dirty="0">
                <a:solidFill>
                  <a:srgbClr val="4A31B0"/>
                </a:solidFill>
                <a:latin typeface="Calibri" pitchFamily="34" charset="0"/>
                <a:ea typeface="Calibri" pitchFamily="34" charset="-122"/>
                <a:cs typeface="Calibri" pitchFamily="34" charset="-120"/>
              </a:rPr>
              <a:t>gap</a:t>
            </a:r>
            <a:endParaRPr lang="en-US" sz="900" dirty="0"/>
          </a:p>
        </p:txBody>
      </p:sp>
      <p:sp>
        <p:nvSpPr>
          <p:cNvPr id="30" name="Shape 28"/>
          <p:cNvSpPr/>
          <p:nvPr/>
        </p:nvSpPr>
        <p:spPr>
          <a:xfrm>
            <a:off x="6076188" y="2798064"/>
            <a:ext cx="0" cy="274320"/>
          </a:xfrm>
          <a:prstGeom prst="line">
            <a:avLst/>
          </a:prstGeom>
          <a:noFill/>
          <a:ln w="25400">
            <a:solidFill>
              <a:srgbClr val="E3DCF2"/>
            </a:solidFill>
            <a:prstDash val="solid"/>
          </a:ln>
        </p:spPr>
      </p:sp>
      <p:sp>
        <p:nvSpPr>
          <p:cNvPr id="31" name="Shape 29"/>
          <p:cNvSpPr/>
          <p:nvPr/>
        </p:nvSpPr>
        <p:spPr>
          <a:xfrm>
            <a:off x="4416552" y="3072384"/>
            <a:ext cx="3319272" cy="384048"/>
          </a:xfrm>
          <a:prstGeom prst="roundRect">
            <a:avLst>
              <a:gd name="adj" fmla="val 23810"/>
            </a:avLst>
          </a:prstGeom>
          <a:solidFill>
            <a:srgbClr val="F0B429"/>
          </a:solidFill>
          <a:ln/>
        </p:spPr>
      </p:sp>
      <p:sp>
        <p:nvSpPr>
          <p:cNvPr id="32" name="Text 30"/>
          <p:cNvSpPr/>
          <p:nvPr/>
        </p:nvSpPr>
        <p:spPr>
          <a:xfrm>
            <a:off x="4416552" y="3072384"/>
            <a:ext cx="3319272" cy="384048"/>
          </a:xfrm>
          <a:prstGeom prst="rect">
            <a:avLst/>
          </a:prstGeom>
          <a:noFill/>
          <a:ln/>
        </p:spPr>
        <p:txBody>
          <a:bodyPr wrap="square" lIns="0" tIns="0" rIns="0" bIns="0" rtlCol="0" anchor="ctr"/>
          <a:lstStyle/>
          <a:p>
            <a:pPr algn="ctr" indent="0" marL="0">
              <a:buNone/>
            </a:pPr>
            <a:r>
              <a:rPr lang="en-US" sz="1000" b="1" spc="160" kern="0" dirty="0">
                <a:solidFill>
                  <a:srgbClr val="241E33"/>
                </a:solidFill>
                <a:latin typeface="Calibri" pitchFamily="34" charset="0"/>
                <a:ea typeface="Calibri" pitchFamily="34" charset="-122"/>
                <a:cs typeface="Calibri" pitchFamily="34" charset="-120"/>
              </a:rPr>
              <a:t>CULTURE</a:t>
            </a:r>
            <a:endParaRPr lang="en-US" sz="1000" dirty="0"/>
          </a:p>
        </p:txBody>
      </p:sp>
      <p:sp>
        <p:nvSpPr>
          <p:cNvPr id="33" name="Shape 31"/>
          <p:cNvSpPr/>
          <p:nvPr/>
        </p:nvSpPr>
        <p:spPr>
          <a:xfrm>
            <a:off x="4416552" y="3602736"/>
            <a:ext cx="3319272" cy="347472"/>
          </a:xfrm>
          <a:prstGeom prst="roundRect">
            <a:avLst>
              <a:gd name="adj" fmla="val 23684"/>
            </a:avLst>
          </a:prstGeom>
          <a:solidFill>
            <a:srgbClr val="EFEBF8"/>
          </a:solidFill>
          <a:ln/>
        </p:spPr>
      </p:sp>
      <p:sp>
        <p:nvSpPr>
          <p:cNvPr id="34" name="Text 32"/>
          <p:cNvSpPr/>
          <p:nvPr/>
        </p:nvSpPr>
        <p:spPr>
          <a:xfrm>
            <a:off x="4599432" y="3602736"/>
            <a:ext cx="1746504" cy="347472"/>
          </a:xfrm>
          <a:prstGeom prst="rect">
            <a:avLst/>
          </a:prstGeom>
          <a:noFill/>
          <a:ln/>
        </p:spPr>
        <p:txBody>
          <a:bodyPr wrap="square" lIns="0" tIns="0" rIns="0" bIns="0" rtlCol="0" anchor="ctr"/>
          <a:lstStyle/>
          <a:p>
            <a:pPr indent="0" marL="0">
              <a:buNone/>
            </a:pPr>
            <a:r>
              <a:rPr lang="en-US" sz="1250" b="1" dirty="0">
                <a:solidFill>
                  <a:srgbClr val="241E33"/>
                </a:solidFill>
                <a:latin typeface="Cambria" pitchFamily="34" charset="0"/>
                <a:ea typeface="Cambria" pitchFamily="34" charset="-122"/>
                <a:cs typeface="Cambria" pitchFamily="34" charset="-120"/>
              </a:rPr>
              <a:t>Bizzing India</a:t>
            </a:r>
            <a:endParaRPr lang="en-US" sz="1250" dirty="0"/>
          </a:p>
        </p:txBody>
      </p:sp>
      <p:sp>
        <p:nvSpPr>
          <p:cNvPr id="35" name="Text 33"/>
          <p:cNvSpPr/>
          <p:nvPr/>
        </p:nvSpPr>
        <p:spPr>
          <a:xfrm>
            <a:off x="6437376" y="3602736"/>
            <a:ext cx="1115568" cy="347472"/>
          </a:xfrm>
          <a:prstGeom prst="rect">
            <a:avLst/>
          </a:prstGeom>
          <a:noFill/>
          <a:ln/>
        </p:spPr>
        <p:txBody>
          <a:bodyPr wrap="square" lIns="0" tIns="0" rIns="0" bIns="0" rtlCol="0" anchor="ctr"/>
          <a:lstStyle/>
          <a:p>
            <a:pPr algn="r" indent="0" marL="0">
              <a:buNone/>
            </a:pPr>
            <a:r>
              <a:rPr lang="en-US" sz="900" i="1" dirty="0">
                <a:solidFill>
                  <a:srgbClr val="4A31B0"/>
                </a:solidFill>
                <a:latin typeface="Calibri" pitchFamily="34" charset="0"/>
                <a:ea typeface="Calibri" pitchFamily="34" charset="-122"/>
                <a:cs typeface="Calibri" pitchFamily="34" charset="-120"/>
              </a:rPr>
              <a:t>free hook</a:t>
            </a:r>
            <a:endParaRPr lang="en-US" sz="900" dirty="0"/>
          </a:p>
        </p:txBody>
      </p:sp>
      <p:sp>
        <p:nvSpPr>
          <p:cNvPr id="36" name="Shape 34"/>
          <p:cNvSpPr/>
          <p:nvPr/>
        </p:nvSpPr>
        <p:spPr>
          <a:xfrm>
            <a:off x="4690872" y="4023360"/>
            <a:ext cx="3044952" cy="347472"/>
          </a:xfrm>
          <a:prstGeom prst="roundRect">
            <a:avLst>
              <a:gd name="adj" fmla="val 23684"/>
            </a:avLst>
          </a:prstGeom>
          <a:solidFill>
            <a:srgbClr val="EFEBF8"/>
          </a:solidFill>
          <a:ln/>
        </p:spPr>
      </p:sp>
      <p:sp>
        <p:nvSpPr>
          <p:cNvPr id="37" name="Text 35"/>
          <p:cNvSpPr/>
          <p:nvPr/>
        </p:nvSpPr>
        <p:spPr>
          <a:xfrm>
            <a:off x="4873752" y="4023360"/>
            <a:ext cx="1472184" cy="347472"/>
          </a:xfrm>
          <a:prstGeom prst="rect">
            <a:avLst/>
          </a:prstGeom>
          <a:noFill/>
          <a:ln/>
        </p:spPr>
        <p:txBody>
          <a:bodyPr wrap="square" lIns="0" tIns="0" rIns="0" bIns="0" rtlCol="0" anchor="ctr"/>
          <a:lstStyle/>
          <a:p>
            <a:pPr indent="0" marL="0">
              <a:buNone/>
            </a:pPr>
            <a:r>
              <a:rPr lang="en-US" sz="1250" b="1" dirty="0">
                <a:solidFill>
                  <a:srgbClr val="241E33"/>
                </a:solidFill>
                <a:latin typeface="Cambria" pitchFamily="34" charset="0"/>
                <a:ea typeface="Cambria" pitchFamily="34" charset="-122"/>
                <a:cs typeface="Cambria" pitchFamily="34" charset="-120"/>
              </a:rPr>
              <a:t>↳ Bizzing Bhasha</a:t>
            </a:r>
            <a:endParaRPr lang="en-US" sz="1250" dirty="0"/>
          </a:p>
        </p:txBody>
      </p:sp>
      <p:sp>
        <p:nvSpPr>
          <p:cNvPr id="38" name="Text 36"/>
          <p:cNvSpPr/>
          <p:nvPr/>
        </p:nvSpPr>
        <p:spPr>
          <a:xfrm>
            <a:off x="6437376" y="4023360"/>
            <a:ext cx="1115568" cy="347472"/>
          </a:xfrm>
          <a:prstGeom prst="rect">
            <a:avLst/>
          </a:prstGeom>
          <a:noFill/>
          <a:ln/>
        </p:spPr>
        <p:txBody>
          <a:bodyPr wrap="square" lIns="0" tIns="0" rIns="0" bIns="0" rtlCol="0" anchor="ctr"/>
          <a:lstStyle/>
          <a:p>
            <a:pPr algn="r" indent="0" marL="0">
              <a:buNone/>
            </a:pPr>
            <a:r>
              <a:rPr lang="en-US" sz="900" i="1" dirty="0">
                <a:solidFill>
                  <a:srgbClr val="4A31B0"/>
                </a:solidFill>
                <a:latin typeface="Calibri" pitchFamily="34" charset="0"/>
                <a:ea typeface="Calibri" pitchFamily="34" charset="-122"/>
                <a:cs typeface="Calibri" pitchFamily="34" charset="-120"/>
              </a:rPr>
              <a:t>paid pack</a:t>
            </a:r>
            <a:endParaRPr lang="en-US" sz="900" dirty="0"/>
          </a:p>
        </p:txBody>
      </p:sp>
      <p:sp>
        <p:nvSpPr>
          <p:cNvPr id="39" name="Shape 37"/>
          <p:cNvSpPr/>
          <p:nvPr/>
        </p:nvSpPr>
        <p:spPr>
          <a:xfrm>
            <a:off x="9852660" y="2798064"/>
            <a:ext cx="0" cy="274320"/>
          </a:xfrm>
          <a:prstGeom prst="line">
            <a:avLst/>
          </a:prstGeom>
          <a:noFill/>
          <a:ln w="25400">
            <a:solidFill>
              <a:srgbClr val="E3DCF2"/>
            </a:solidFill>
            <a:prstDash val="solid"/>
          </a:ln>
        </p:spPr>
      </p:sp>
      <p:sp>
        <p:nvSpPr>
          <p:cNvPr id="40" name="Shape 38"/>
          <p:cNvSpPr/>
          <p:nvPr/>
        </p:nvSpPr>
        <p:spPr>
          <a:xfrm>
            <a:off x="8193024" y="3072384"/>
            <a:ext cx="3319272" cy="384048"/>
          </a:xfrm>
          <a:prstGeom prst="roundRect">
            <a:avLst>
              <a:gd name="adj" fmla="val 23810"/>
            </a:avLst>
          </a:prstGeom>
          <a:solidFill>
            <a:srgbClr val="178A4C"/>
          </a:solidFill>
          <a:ln/>
        </p:spPr>
      </p:sp>
      <p:sp>
        <p:nvSpPr>
          <p:cNvPr id="41" name="Text 39"/>
          <p:cNvSpPr/>
          <p:nvPr/>
        </p:nvSpPr>
        <p:spPr>
          <a:xfrm>
            <a:off x="8193024" y="3072384"/>
            <a:ext cx="3319272" cy="384048"/>
          </a:xfrm>
          <a:prstGeom prst="rect">
            <a:avLst/>
          </a:prstGeom>
          <a:noFill/>
          <a:ln/>
        </p:spPr>
        <p:txBody>
          <a:bodyPr wrap="square" lIns="0" tIns="0" rIns="0" bIns="0" rtlCol="0" anchor="ctr"/>
          <a:lstStyle/>
          <a:p>
            <a:pPr algn="ctr" indent="0" marL="0">
              <a:buNone/>
            </a:pPr>
            <a:r>
              <a:rPr lang="en-US" sz="1000" b="1" spc="160" kern="0" dirty="0">
                <a:solidFill>
                  <a:srgbClr val="FFFFFF"/>
                </a:solidFill>
                <a:latin typeface="Calibri" pitchFamily="34" charset="0"/>
                <a:ea typeface="Calibri" pitchFamily="34" charset="-122"/>
                <a:cs typeface="Calibri" pitchFamily="34" charset="-120"/>
              </a:rPr>
              <a:t>NUMBERS &amp; THE WORLD</a:t>
            </a:r>
            <a:endParaRPr lang="en-US" sz="1000" dirty="0"/>
          </a:p>
        </p:txBody>
      </p:sp>
      <p:sp>
        <p:nvSpPr>
          <p:cNvPr id="42" name="Shape 40"/>
          <p:cNvSpPr/>
          <p:nvPr/>
        </p:nvSpPr>
        <p:spPr>
          <a:xfrm>
            <a:off x="8193024" y="3602736"/>
            <a:ext cx="3319272" cy="347472"/>
          </a:xfrm>
          <a:prstGeom prst="roundRect">
            <a:avLst>
              <a:gd name="adj" fmla="val 23684"/>
            </a:avLst>
          </a:prstGeom>
          <a:solidFill>
            <a:srgbClr val="EFEBF8"/>
          </a:solidFill>
          <a:ln/>
        </p:spPr>
      </p:sp>
      <p:sp>
        <p:nvSpPr>
          <p:cNvPr id="43" name="Text 41"/>
          <p:cNvSpPr/>
          <p:nvPr/>
        </p:nvSpPr>
        <p:spPr>
          <a:xfrm>
            <a:off x="8375904" y="3602736"/>
            <a:ext cx="1746504" cy="347472"/>
          </a:xfrm>
          <a:prstGeom prst="rect">
            <a:avLst/>
          </a:prstGeom>
          <a:noFill/>
          <a:ln/>
        </p:spPr>
        <p:txBody>
          <a:bodyPr wrap="square" lIns="0" tIns="0" rIns="0" bIns="0" rtlCol="0" anchor="ctr"/>
          <a:lstStyle/>
          <a:p>
            <a:pPr indent="0" marL="0">
              <a:buNone/>
            </a:pPr>
            <a:r>
              <a:rPr lang="en-US" sz="1250" b="1" dirty="0">
                <a:solidFill>
                  <a:srgbClr val="241E33"/>
                </a:solidFill>
                <a:latin typeface="Cambria" pitchFamily="34" charset="0"/>
                <a:ea typeface="Cambria" pitchFamily="34" charset="-122"/>
                <a:cs typeface="Cambria" pitchFamily="34" charset="-120"/>
              </a:rPr>
              <a:t>Bizzing Maths</a:t>
            </a:r>
            <a:endParaRPr lang="en-US" sz="1250" dirty="0"/>
          </a:p>
        </p:txBody>
      </p:sp>
      <p:sp>
        <p:nvSpPr>
          <p:cNvPr id="44" name="Text 42"/>
          <p:cNvSpPr/>
          <p:nvPr/>
        </p:nvSpPr>
        <p:spPr>
          <a:xfrm>
            <a:off x="10213848" y="3602736"/>
            <a:ext cx="1115568" cy="347472"/>
          </a:xfrm>
          <a:prstGeom prst="rect">
            <a:avLst/>
          </a:prstGeom>
          <a:noFill/>
          <a:ln/>
        </p:spPr>
        <p:txBody>
          <a:bodyPr wrap="square" lIns="0" tIns="0" rIns="0" bIns="0" rtlCol="0" anchor="ctr"/>
          <a:lstStyle/>
          <a:p>
            <a:pPr algn="r" indent="0" marL="0">
              <a:buNone/>
            </a:pPr>
            <a:r>
              <a:rPr lang="en-US" sz="900" i="1" dirty="0">
                <a:solidFill>
                  <a:srgbClr val="4A31B0"/>
                </a:solidFill>
                <a:latin typeface="Calibri" pitchFamily="34" charset="0"/>
                <a:ea typeface="Calibri" pitchFamily="34" charset="-122"/>
                <a:cs typeface="Calibri" pitchFamily="34" charset="-120"/>
              </a:rPr>
              <a:t>planned</a:t>
            </a:r>
            <a:endParaRPr lang="en-US" sz="900" dirty="0"/>
          </a:p>
        </p:txBody>
      </p:sp>
      <p:sp>
        <p:nvSpPr>
          <p:cNvPr id="45" name="Shape 43"/>
          <p:cNvSpPr/>
          <p:nvPr/>
        </p:nvSpPr>
        <p:spPr>
          <a:xfrm>
            <a:off x="8193024" y="4023360"/>
            <a:ext cx="3319272" cy="347472"/>
          </a:xfrm>
          <a:prstGeom prst="roundRect">
            <a:avLst>
              <a:gd name="adj" fmla="val 23684"/>
            </a:avLst>
          </a:prstGeom>
          <a:solidFill>
            <a:srgbClr val="EFEBF8"/>
          </a:solidFill>
          <a:ln/>
        </p:spPr>
      </p:sp>
      <p:sp>
        <p:nvSpPr>
          <p:cNvPr id="46" name="Text 44"/>
          <p:cNvSpPr/>
          <p:nvPr/>
        </p:nvSpPr>
        <p:spPr>
          <a:xfrm>
            <a:off x="8375904" y="4023360"/>
            <a:ext cx="1746504" cy="347472"/>
          </a:xfrm>
          <a:prstGeom prst="rect">
            <a:avLst/>
          </a:prstGeom>
          <a:noFill/>
          <a:ln/>
        </p:spPr>
        <p:txBody>
          <a:bodyPr wrap="square" lIns="0" tIns="0" rIns="0" bIns="0" rtlCol="0" anchor="ctr"/>
          <a:lstStyle/>
          <a:p>
            <a:pPr indent="0" marL="0">
              <a:buNone/>
            </a:pPr>
            <a:r>
              <a:rPr lang="en-US" sz="1250" b="1" dirty="0">
                <a:solidFill>
                  <a:srgbClr val="241E33"/>
                </a:solidFill>
                <a:latin typeface="Cambria" pitchFamily="34" charset="0"/>
                <a:ea typeface="Cambria" pitchFamily="34" charset="-122"/>
                <a:cs typeface="Cambria" pitchFamily="34" charset="-120"/>
              </a:rPr>
              <a:t>Bizzing Finance</a:t>
            </a:r>
            <a:endParaRPr lang="en-US" sz="1250" dirty="0"/>
          </a:p>
        </p:txBody>
      </p:sp>
      <p:sp>
        <p:nvSpPr>
          <p:cNvPr id="47" name="Text 45"/>
          <p:cNvSpPr/>
          <p:nvPr/>
        </p:nvSpPr>
        <p:spPr>
          <a:xfrm>
            <a:off x="10213848" y="4023360"/>
            <a:ext cx="1115568" cy="347472"/>
          </a:xfrm>
          <a:prstGeom prst="rect">
            <a:avLst/>
          </a:prstGeom>
          <a:noFill/>
          <a:ln/>
        </p:spPr>
        <p:txBody>
          <a:bodyPr wrap="square" lIns="0" tIns="0" rIns="0" bIns="0" rtlCol="0" anchor="ctr"/>
          <a:lstStyle/>
          <a:p>
            <a:pPr algn="r" indent="0" marL="0">
              <a:buNone/>
            </a:pPr>
            <a:r>
              <a:rPr lang="en-US" sz="900" i="1" dirty="0">
                <a:solidFill>
                  <a:srgbClr val="4A31B0"/>
                </a:solidFill>
                <a:latin typeface="Calibri" pitchFamily="34" charset="0"/>
                <a:ea typeface="Calibri" pitchFamily="34" charset="-122"/>
                <a:cs typeface="Calibri" pitchFamily="34" charset="-120"/>
              </a:rPr>
              <a:t>in flight</a:t>
            </a:r>
            <a:endParaRPr lang="en-US" sz="900" dirty="0"/>
          </a:p>
        </p:txBody>
      </p:sp>
      <p:sp>
        <p:nvSpPr>
          <p:cNvPr id="48" name="Shape 46"/>
          <p:cNvSpPr/>
          <p:nvPr/>
        </p:nvSpPr>
        <p:spPr>
          <a:xfrm>
            <a:off x="8193024" y="4443984"/>
            <a:ext cx="3319272" cy="347472"/>
          </a:xfrm>
          <a:prstGeom prst="roundRect">
            <a:avLst>
              <a:gd name="adj" fmla="val 23684"/>
            </a:avLst>
          </a:prstGeom>
          <a:solidFill>
            <a:srgbClr val="EFEBF8"/>
          </a:solidFill>
          <a:ln/>
        </p:spPr>
      </p:sp>
      <p:sp>
        <p:nvSpPr>
          <p:cNvPr id="49" name="Text 47"/>
          <p:cNvSpPr/>
          <p:nvPr/>
        </p:nvSpPr>
        <p:spPr>
          <a:xfrm>
            <a:off x="8375904" y="4443984"/>
            <a:ext cx="1746504" cy="347472"/>
          </a:xfrm>
          <a:prstGeom prst="rect">
            <a:avLst/>
          </a:prstGeom>
          <a:noFill/>
          <a:ln/>
        </p:spPr>
        <p:txBody>
          <a:bodyPr wrap="square" lIns="0" tIns="0" rIns="0" bIns="0" rtlCol="0" anchor="ctr"/>
          <a:lstStyle/>
          <a:p>
            <a:pPr indent="0" marL="0">
              <a:buNone/>
            </a:pPr>
            <a:r>
              <a:rPr lang="en-US" sz="1250" b="1" dirty="0">
                <a:solidFill>
                  <a:srgbClr val="241E33"/>
                </a:solidFill>
                <a:latin typeface="Cambria" pitchFamily="34" charset="0"/>
                <a:ea typeface="Cambria" pitchFamily="34" charset="-122"/>
                <a:cs typeface="Cambria" pitchFamily="34" charset="-120"/>
              </a:rPr>
              <a:t>Bizzing Business</a:t>
            </a:r>
            <a:endParaRPr lang="en-US" sz="1250" dirty="0"/>
          </a:p>
        </p:txBody>
      </p:sp>
      <p:sp>
        <p:nvSpPr>
          <p:cNvPr id="50" name="Text 48"/>
          <p:cNvSpPr/>
          <p:nvPr/>
        </p:nvSpPr>
        <p:spPr>
          <a:xfrm>
            <a:off x="10213848" y="4443984"/>
            <a:ext cx="1115568" cy="347472"/>
          </a:xfrm>
          <a:prstGeom prst="rect">
            <a:avLst/>
          </a:prstGeom>
          <a:noFill/>
          <a:ln/>
        </p:spPr>
        <p:txBody>
          <a:bodyPr wrap="square" lIns="0" tIns="0" rIns="0" bIns="0" rtlCol="0" anchor="ctr"/>
          <a:lstStyle/>
          <a:p>
            <a:pPr algn="r" indent="0" marL="0">
              <a:buNone/>
            </a:pPr>
            <a:r>
              <a:rPr lang="en-US" sz="900" i="1" dirty="0">
                <a:solidFill>
                  <a:srgbClr val="4A31B0"/>
                </a:solidFill>
                <a:latin typeface="Calibri" pitchFamily="34" charset="0"/>
                <a:ea typeface="Calibri" pitchFamily="34" charset="-122"/>
                <a:cs typeface="Calibri" pitchFamily="34" charset="-120"/>
              </a:rPr>
              <a:t>exploratory</a:t>
            </a:r>
            <a:endParaRPr lang="en-US" sz="900" dirty="0"/>
          </a:p>
        </p:txBody>
      </p:sp>
      <p:sp>
        <p:nvSpPr>
          <p:cNvPr id="51" name="Shape 49"/>
          <p:cNvSpPr/>
          <p:nvPr/>
        </p:nvSpPr>
        <p:spPr>
          <a:xfrm>
            <a:off x="8193024" y="4864608"/>
            <a:ext cx="3319272" cy="347472"/>
          </a:xfrm>
          <a:prstGeom prst="roundRect">
            <a:avLst>
              <a:gd name="adj" fmla="val 23684"/>
            </a:avLst>
          </a:prstGeom>
          <a:solidFill>
            <a:srgbClr val="EFEBF8"/>
          </a:solidFill>
          <a:ln/>
        </p:spPr>
      </p:sp>
      <p:sp>
        <p:nvSpPr>
          <p:cNvPr id="52" name="Text 50"/>
          <p:cNvSpPr/>
          <p:nvPr/>
        </p:nvSpPr>
        <p:spPr>
          <a:xfrm>
            <a:off x="8375904" y="4864608"/>
            <a:ext cx="1746504" cy="347472"/>
          </a:xfrm>
          <a:prstGeom prst="rect">
            <a:avLst/>
          </a:prstGeom>
          <a:noFill/>
          <a:ln/>
        </p:spPr>
        <p:txBody>
          <a:bodyPr wrap="square" lIns="0" tIns="0" rIns="0" bIns="0" rtlCol="0" anchor="ctr"/>
          <a:lstStyle/>
          <a:p>
            <a:pPr indent="0" marL="0">
              <a:buNone/>
            </a:pPr>
            <a:r>
              <a:rPr lang="en-US" sz="1250" b="1" dirty="0">
                <a:solidFill>
                  <a:srgbClr val="241E33"/>
                </a:solidFill>
                <a:latin typeface="Cambria" pitchFamily="34" charset="0"/>
                <a:ea typeface="Cambria" pitchFamily="34" charset="-122"/>
                <a:cs typeface="Cambria" pitchFamily="34" charset="-120"/>
              </a:rPr>
              <a:t>Bizzing Quiz</a:t>
            </a:r>
            <a:endParaRPr lang="en-US" sz="1250" dirty="0"/>
          </a:p>
        </p:txBody>
      </p:sp>
      <p:sp>
        <p:nvSpPr>
          <p:cNvPr id="53" name="Text 51"/>
          <p:cNvSpPr/>
          <p:nvPr/>
        </p:nvSpPr>
        <p:spPr>
          <a:xfrm>
            <a:off x="10213848" y="4864608"/>
            <a:ext cx="1115568" cy="347472"/>
          </a:xfrm>
          <a:prstGeom prst="rect">
            <a:avLst/>
          </a:prstGeom>
          <a:noFill/>
          <a:ln/>
        </p:spPr>
        <p:txBody>
          <a:bodyPr wrap="square" lIns="0" tIns="0" rIns="0" bIns="0" rtlCol="0" anchor="ctr"/>
          <a:lstStyle/>
          <a:p>
            <a:pPr algn="r" indent="0" marL="0">
              <a:buNone/>
            </a:pPr>
            <a:r>
              <a:rPr lang="en-US" sz="900" i="1" dirty="0">
                <a:solidFill>
                  <a:srgbClr val="4A31B0"/>
                </a:solidFill>
                <a:latin typeface="Calibri" pitchFamily="34" charset="0"/>
                <a:ea typeface="Calibri" pitchFamily="34" charset="-122"/>
                <a:cs typeface="Calibri" pitchFamily="34" charset="-120"/>
              </a:rPr>
              <a:t>gap</a:t>
            </a:r>
            <a:endParaRPr lang="en-US" sz="900" dirty="0"/>
          </a:p>
        </p:txBody>
      </p:sp>
      <p:sp>
        <p:nvSpPr>
          <p:cNvPr id="54" name="Text 52"/>
          <p:cNvSpPr/>
          <p:nvPr/>
        </p:nvSpPr>
        <p:spPr>
          <a:xfrm>
            <a:off x="640080" y="6144768"/>
            <a:ext cx="10607040" cy="502920"/>
          </a:xfrm>
          <a:prstGeom prst="rect">
            <a:avLst/>
          </a:prstGeom>
          <a:noFill/>
          <a:ln/>
        </p:spPr>
        <p:txBody>
          <a:bodyPr wrap="square" lIns="0" tIns="0" rIns="0" bIns="0" rtlCol="0" anchor="ctr"/>
          <a:lstStyle/>
          <a:p>
            <a:pPr indent="0" marL="0">
              <a:lnSpc>
                <a:spcPts val="1500"/>
              </a:lnSpc>
              <a:buNone/>
            </a:pPr>
            <a:r>
              <a:rPr lang="en-US" sz="1150" i="1" dirty="0">
                <a:solidFill>
                  <a:srgbClr val="7A7291"/>
                </a:solidFill>
                <a:latin typeface="Calibri" pitchFamily="34" charset="0"/>
                <a:ea typeface="Calibri" pitchFamily="34" charset="-122"/>
                <a:cs typeface="Calibri" pitchFamily="34" charset="-120"/>
              </a:rPr>
              <a:t>Twelve products named. Three already have real content behind them — Bee, India and Quiz — and the rest are still a sentence. The naming rule: sub-brands are SUBJECTS, so there is no Bizzing UK, only a UK edition of Bizzing Eleven.</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PRODUCT 1 OF 8</a:t>
            </a:r>
            <a:endParaRPr lang="en-US" sz="1150" dirty="0"/>
          </a:p>
        </p:txBody>
      </p:sp>
      <p:sp>
        <p:nvSpPr>
          <p:cNvPr id="3" name="Text 1"/>
          <p:cNvSpPr/>
          <p:nvPr/>
        </p:nvSpPr>
        <p:spPr>
          <a:xfrm>
            <a:off x="640080" y="694944"/>
            <a:ext cx="78638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Bizzing Bee</a:t>
            </a:r>
            <a:endParaRPr lang="en-US" sz="2900" dirty="0"/>
          </a:p>
        </p:txBody>
      </p:sp>
      <p:sp>
        <p:nvSpPr>
          <p:cNvPr id="4" name="Shape 2"/>
          <p:cNvSpPr/>
          <p:nvPr/>
        </p:nvSpPr>
        <p:spPr>
          <a:xfrm>
            <a:off x="8732520" y="749808"/>
            <a:ext cx="2514600" cy="384048"/>
          </a:xfrm>
          <a:prstGeom prst="roundRect">
            <a:avLst>
              <a:gd name="adj" fmla="val 50000"/>
            </a:avLst>
          </a:prstGeom>
          <a:solidFill>
            <a:srgbClr val="178A4C"/>
          </a:solidFill>
          <a:ln/>
        </p:spPr>
      </p:sp>
      <p:sp>
        <p:nvSpPr>
          <p:cNvPr id="5" name="Text 3"/>
          <p:cNvSpPr/>
          <p:nvPr/>
        </p:nvSpPr>
        <p:spPr>
          <a:xfrm>
            <a:off x="8732520" y="749808"/>
            <a:ext cx="2514600" cy="384048"/>
          </a:xfrm>
          <a:prstGeom prst="rect">
            <a:avLst/>
          </a:prstGeom>
          <a:noFill/>
          <a:ln/>
        </p:spPr>
        <p:txBody>
          <a:bodyPr wrap="square" lIns="0" tIns="0" rIns="0" bIns="0" rtlCol="0" anchor="ctr"/>
          <a:lstStyle/>
          <a:p>
            <a:pPr algn="ctr" indent="0" marL="0">
              <a:buNone/>
            </a:pPr>
            <a:r>
              <a:rPr lang="en-US" sz="1000" b="1" spc="120" kern="0" dirty="0">
                <a:solidFill>
                  <a:srgbClr val="FFFFFF"/>
                </a:solidFill>
                <a:latin typeface="Calibri" pitchFamily="34" charset="0"/>
                <a:ea typeface="Calibri" pitchFamily="34" charset="-122"/>
                <a:cs typeface="Calibri" pitchFamily="34" charset="-120"/>
              </a:rPr>
              <a:t>LIVE</a:t>
            </a:r>
            <a:endParaRPr lang="en-US" sz="1000" dirty="0"/>
          </a:p>
        </p:txBody>
      </p:sp>
      <p:sp>
        <p:nvSpPr>
          <p:cNvPr id="6" name="Text 4"/>
          <p:cNvSpPr/>
          <p:nvPr/>
        </p:nvSpPr>
        <p:spPr>
          <a:xfrm>
            <a:off x="640080" y="1444752"/>
            <a:ext cx="8778240" cy="585216"/>
          </a:xfrm>
          <a:prstGeom prst="rect">
            <a:avLst/>
          </a:prstGeom>
          <a:noFill/>
          <a:ln/>
        </p:spPr>
        <p:txBody>
          <a:bodyPr wrap="square" lIns="0" tIns="0" rIns="0" bIns="0" rtlCol="0" anchor="ctr"/>
          <a:lstStyle/>
          <a:p>
            <a:pPr indent="0" marL="0">
              <a:lnSpc>
                <a:spcPts val="2100"/>
              </a:lnSpc>
              <a:buNone/>
            </a:pPr>
            <a:r>
              <a:rPr lang="en-US" sz="1600" i="1" dirty="0">
                <a:solidFill>
                  <a:srgbClr val="6C4FE0"/>
                </a:solidFill>
                <a:latin typeface="Cambria" pitchFamily="34" charset="0"/>
                <a:ea typeface="Cambria" pitchFamily="34" charset="-122"/>
                <a:cs typeface="Cambria" pitchFamily="34" charset="-120"/>
              </a:rPr>
              <a:t>The best place in the world to prepare for a spelling bee.</a:t>
            </a:r>
            <a:endParaRPr lang="en-US" sz="1600" dirty="0"/>
          </a:p>
        </p:txBody>
      </p:sp>
      <p:sp>
        <p:nvSpPr>
          <p:cNvPr id="7" name="Shape 5"/>
          <p:cNvSpPr/>
          <p:nvPr/>
        </p:nvSpPr>
        <p:spPr>
          <a:xfrm rot="5400000">
            <a:off x="640080" y="2103120"/>
            <a:ext cx="457200" cy="457200"/>
          </a:xfrm>
          <a:prstGeom prst="hexagon">
            <a:avLst/>
          </a:prstGeom>
          <a:solidFill>
            <a:srgbClr val="6C4FE0"/>
          </a:solidFill>
          <a:ln/>
        </p:spPr>
      </p:sp>
      <p:sp>
        <p:nvSpPr>
          <p:cNvPr id="8" name="Text 6"/>
          <p:cNvSpPr/>
          <p:nvPr/>
        </p:nvSpPr>
        <p:spPr>
          <a:xfrm>
            <a:off x="640080" y="2103120"/>
            <a:ext cx="457200" cy="45720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WHY</a:t>
            </a:r>
            <a:endParaRPr lang="en-US" sz="850" dirty="0"/>
          </a:p>
        </p:txBody>
      </p:sp>
      <p:sp>
        <p:nvSpPr>
          <p:cNvPr id="9" name="Text 7"/>
          <p:cNvSpPr/>
          <p:nvPr/>
        </p:nvSpPr>
        <p:spPr>
          <a:xfrm>
            <a:off x="1261872" y="2084832"/>
            <a:ext cx="4114800" cy="1280160"/>
          </a:xfrm>
          <a:prstGeom prst="rect">
            <a:avLst/>
          </a:prstGeom>
          <a:noFill/>
          <a:ln/>
        </p:spPr>
        <p:txBody>
          <a:bodyPr wrap="square" lIns="0" tIns="0" rIns="0" bIns="0" rtlCol="0" anchor="ctr"/>
          <a:lstStyle/>
          <a:p>
            <a:pPr indent="0" marL="0">
              <a:lnSpc>
                <a:spcPts val="1550"/>
              </a:lnSpc>
              <a:buNone/>
            </a:pPr>
            <a:r>
              <a:rPr lang="en-US" sz="1150" dirty="0">
                <a:solidFill>
                  <a:srgbClr val="4A4360"/>
                </a:solidFill>
                <a:latin typeface="Calibri" pitchFamily="34" charset="0"/>
                <a:ea typeface="Calibri" pitchFamily="34" charset="-122"/>
                <a:cs typeface="Calibri" pitchFamily="34" charset="-120"/>
              </a:rPr>
              <a:t>The one competition this community already organises around, and dominates. The demand exists; we neither create it nor explain it.</a:t>
            </a:r>
            <a:endParaRPr lang="en-US" sz="1150" dirty="0"/>
          </a:p>
        </p:txBody>
      </p:sp>
      <p:sp>
        <p:nvSpPr>
          <p:cNvPr id="10" name="Shape 8"/>
          <p:cNvSpPr/>
          <p:nvPr/>
        </p:nvSpPr>
        <p:spPr>
          <a:xfrm rot="5400000">
            <a:off x="640080" y="3493008"/>
            <a:ext cx="457200" cy="457200"/>
          </a:xfrm>
          <a:prstGeom prst="hexagon">
            <a:avLst/>
          </a:prstGeom>
          <a:solidFill>
            <a:srgbClr val="F0B429"/>
          </a:solidFill>
          <a:ln/>
        </p:spPr>
      </p:sp>
      <p:sp>
        <p:nvSpPr>
          <p:cNvPr id="11" name="Text 9"/>
          <p:cNvSpPr/>
          <p:nvPr/>
        </p:nvSpPr>
        <p:spPr>
          <a:xfrm>
            <a:off x="640080" y="3493008"/>
            <a:ext cx="457200" cy="457200"/>
          </a:xfrm>
          <a:prstGeom prst="rect">
            <a:avLst/>
          </a:prstGeom>
          <a:noFill/>
          <a:ln/>
        </p:spPr>
        <p:txBody>
          <a:bodyPr wrap="square" lIns="0" tIns="0" rIns="0" bIns="0" rtlCol="0" anchor="ctr"/>
          <a:lstStyle/>
          <a:p>
            <a:pPr algn="ctr" indent="0" marL="0">
              <a:buNone/>
            </a:pPr>
            <a:r>
              <a:rPr lang="en-US" sz="850" b="1" dirty="0">
                <a:solidFill>
                  <a:srgbClr val="241E33"/>
                </a:solidFill>
                <a:latin typeface="Calibri" pitchFamily="34" charset="0"/>
                <a:ea typeface="Calibri" pitchFamily="34" charset="-122"/>
                <a:cs typeface="Calibri" pitchFamily="34" charset="-120"/>
              </a:rPr>
              <a:t>WHAT</a:t>
            </a:r>
            <a:endParaRPr lang="en-US" sz="850" dirty="0"/>
          </a:p>
        </p:txBody>
      </p:sp>
      <p:sp>
        <p:nvSpPr>
          <p:cNvPr id="12" name="Text 10"/>
          <p:cNvSpPr/>
          <p:nvPr/>
        </p:nvSpPr>
        <p:spPr>
          <a:xfrm>
            <a:off x="1261872" y="3474720"/>
            <a:ext cx="4114800" cy="1280160"/>
          </a:xfrm>
          <a:prstGeom prst="rect">
            <a:avLst/>
          </a:prstGeom>
          <a:noFill/>
          <a:ln/>
        </p:spPr>
        <p:txBody>
          <a:bodyPr wrap="square" lIns="0" tIns="0" rIns="0" bIns="0" rtlCol="0" anchor="ctr"/>
          <a:lstStyle/>
          <a:p>
            <a:pPr indent="0" marL="0">
              <a:lnSpc>
                <a:spcPts val="1550"/>
              </a:lnSpc>
              <a:buNone/>
            </a:pPr>
            <a:r>
              <a:rPr lang="en-US" sz="1150" dirty="0">
                <a:solidFill>
                  <a:srgbClr val="4A4360"/>
                </a:solidFill>
                <a:latin typeface="Calibri" pitchFamily="34" charset="0"/>
                <a:ea typeface="Calibri" pitchFamily="34" charset="-122"/>
                <a:cs typeface="Calibri" pitchFamily="34" charset="-120"/>
              </a:rPr>
              <a:t>128,491 words with every one spoken aloud, a mapped journey, 164 concept chapters, an arcade, and a mock bee against ten simulated rivals.</a:t>
            </a:r>
            <a:endParaRPr lang="en-US" sz="1150" dirty="0"/>
          </a:p>
        </p:txBody>
      </p:sp>
      <p:sp>
        <p:nvSpPr>
          <p:cNvPr id="13" name="Shape 11"/>
          <p:cNvSpPr/>
          <p:nvPr/>
        </p:nvSpPr>
        <p:spPr>
          <a:xfrm rot="5400000">
            <a:off x="640080" y="4882896"/>
            <a:ext cx="457200" cy="457200"/>
          </a:xfrm>
          <a:prstGeom prst="hexagon">
            <a:avLst/>
          </a:prstGeom>
          <a:solidFill>
            <a:srgbClr val="6C4FE0"/>
          </a:solidFill>
          <a:ln/>
        </p:spPr>
      </p:sp>
      <p:sp>
        <p:nvSpPr>
          <p:cNvPr id="14" name="Text 12"/>
          <p:cNvSpPr/>
          <p:nvPr/>
        </p:nvSpPr>
        <p:spPr>
          <a:xfrm>
            <a:off x="640080" y="4882896"/>
            <a:ext cx="457200" cy="45720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HOW</a:t>
            </a:r>
            <a:endParaRPr lang="en-US" sz="850" dirty="0"/>
          </a:p>
        </p:txBody>
      </p:sp>
      <p:sp>
        <p:nvSpPr>
          <p:cNvPr id="15" name="Text 13"/>
          <p:cNvSpPr/>
          <p:nvPr/>
        </p:nvSpPr>
        <p:spPr>
          <a:xfrm>
            <a:off x="1261872" y="4864608"/>
            <a:ext cx="4114800" cy="1280160"/>
          </a:xfrm>
          <a:prstGeom prst="rect">
            <a:avLst/>
          </a:prstGeom>
          <a:noFill/>
          <a:ln/>
        </p:spPr>
        <p:txBody>
          <a:bodyPr wrap="square" lIns="0" tIns="0" rIns="0" bIns="0" rtlCol="0" anchor="ctr"/>
          <a:lstStyle/>
          <a:p>
            <a:pPr indent="0" marL="0">
              <a:lnSpc>
                <a:spcPts val="1550"/>
              </a:lnSpc>
              <a:buNone/>
            </a:pPr>
            <a:r>
              <a:rPr lang="en-US" sz="1150" dirty="0">
                <a:solidFill>
                  <a:srgbClr val="4A4360"/>
                </a:solidFill>
                <a:latin typeface="Calibri" pitchFamily="34" charset="0"/>
                <a:ea typeface="Calibri" pitchFamily="34" charset="-122"/>
                <a:cs typeface="Calibri" pitchFamily="34" charset="-120"/>
              </a:rPr>
              <a:t>Offline-first, no build step, no accounts required to start. Difficulty ramps on how tricky a spelling is, not on how rare the word is.</a:t>
            </a:r>
            <a:endParaRPr lang="en-US" sz="1150" dirty="0"/>
          </a:p>
        </p:txBody>
      </p:sp>
      <p:sp>
        <p:nvSpPr>
          <p:cNvPr id="16" name="Shape 14"/>
          <p:cNvSpPr/>
          <p:nvPr/>
        </p:nvSpPr>
        <p:spPr>
          <a:xfrm>
            <a:off x="5577840" y="2048256"/>
            <a:ext cx="5669280" cy="2103120"/>
          </a:xfrm>
          <a:prstGeom prst="roundRect">
            <a:avLst>
              <a:gd name="adj" fmla="val 6087"/>
            </a:avLst>
          </a:prstGeom>
          <a:solidFill>
            <a:srgbClr val="E8F4EC"/>
          </a:solidFill>
          <a:ln/>
          <a:effectLst>
            <a:outerShdw sx="100000" sy="100000" kx="0" ky="0" algn="bl" rotWithShape="0" blurRad="127000" dist="25400" dir="5400000">
              <a:srgbClr val="241E33">
                <a:alpha val="10000"/>
              </a:srgbClr>
            </a:outerShdw>
          </a:effectLst>
        </p:spPr>
      </p:sp>
      <p:sp>
        <p:nvSpPr>
          <p:cNvPr id="17" name="Text 15"/>
          <p:cNvSpPr/>
          <p:nvPr/>
        </p:nvSpPr>
        <p:spPr>
          <a:xfrm>
            <a:off x="5870448" y="2194560"/>
            <a:ext cx="5120640" cy="256032"/>
          </a:xfrm>
          <a:prstGeom prst="rect">
            <a:avLst/>
          </a:prstGeom>
          <a:noFill/>
          <a:ln/>
        </p:spPr>
        <p:txBody>
          <a:bodyPr wrap="square" lIns="0" tIns="0" rIns="0" bIns="0" rtlCol="0" anchor="ctr"/>
          <a:lstStyle/>
          <a:p>
            <a:pPr indent="0" marL="0">
              <a:buNone/>
            </a:pPr>
            <a:r>
              <a:rPr lang="en-US" sz="900" b="1" spc="180" kern="0" dirty="0">
                <a:solidFill>
                  <a:srgbClr val="178A4C"/>
                </a:solidFill>
                <a:latin typeface="Calibri" pitchFamily="34" charset="0"/>
                <a:ea typeface="Calibri" pitchFamily="34" charset="-122"/>
                <a:cs typeface="Calibri" pitchFamily="34" charset="-120"/>
              </a:rPr>
              <a:t>WHAT MAKES IT DIFFERENT</a:t>
            </a:r>
            <a:endParaRPr lang="en-US" sz="900" dirty="0"/>
          </a:p>
        </p:txBody>
      </p:sp>
      <p:sp>
        <p:nvSpPr>
          <p:cNvPr id="18" name="Text 16"/>
          <p:cNvSpPr/>
          <p:nvPr/>
        </p:nvSpPr>
        <p:spPr>
          <a:xfrm>
            <a:off x="5907024" y="2487168"/>
            <a:ext cx="5074920" cy="1554480"/>
          </a:xfrm>
          <a:prstGeom prst="rect">
            <a:avLst/>
          </a:prstGeom>
          <a:noFill/>
          <a:ln/>
        </p:spPr>
        <p:txBody>
          <a:bodyPr wrap="square" lIns="0" tIns="0" rIns="0" bIns="0" rtlCol="0" anchor="ctr"/>
          <a:lstStyle/>
          <a:p>
            <a:pPr marL="342900" indent="-342900">
              <a:lnSpc>
                <a:spcPts val="1400"/>
              </a:lnSpc>
              <a:spcAft>
                <a:spcPts val="600"/>
              </a:spcAft>
              <a:buSzPct val="100000"/>
              <a:buChar char="•"/>
            </a:pPr>
            <a:r>
              <a:rPr lang="en-US" sz="1050" dirty="0">
                <a:solidFill>
                  <a:srgbClr val="1F4A33"/>
                </a:solidFill>
                <a:latin typeface="Calibri" pitchFamily="34" charset="0"/>
                <a:ea typeface="Calibri" pitchFamily="34" charset="-122"/>
                <a:cs typeface="Calibri" pitchFamily="34" charset="-120"/>
              </a:rPr>
              <a:t>Difficulty is measured by TRICKINESS, not rarity — a silent letter beats a long word. Nothing else on the market does this.</a:t>
            </a:r>
            <a:endParaRPr lang="en-US" sz="1050" dirty="0"/>
          </a:p>
          <a:p>
            <a:pPr marL="342900" indent="-342900">
              <a:lnSpc>
                <a:spcPts val="1400"/>
              </a:lnSpc>
              <a:spcAft>
                <a:spcPts val="600"/>
              </a:spcAft>
              <a:buSzPct val="100000"/>
              <a:buChar char="•"/>
            </a:pPr>
            <a:r>
              <a:rPr lang="en-US" sz="1050" dirty="0">
                <a:solidFill>
                  <a:srgbClr val="1F4A33"/>
                </a:solidFill>
                <a:latin typeface="Calibri" pitchFamily="34" charset="0"/>
                <a:ea typeface="Calibri" pitchFamily="34" charset="-122"/>
                <a:cs typeface="Calibri" pitchFamily="34" charset="-120"/>
              </a:rPr>
              <a:t>Every one of 128k words is spoken. Competitors voice a curated few hundred.</a:t>
            </a:r>
            <a:endParaRPr lang="en-US" sz="1050" dirty="0"/>
          </a:p>
          <a:p>
            <a:pPr marL="342900" indent="-342900">
              <a:lnSpc>
                <a:spcPts val="1400"/>
              </a:lnSpc>
              <a:spcAft>
                <a:spcPts val="600"/>
              </a:spcAft>
              <a:buSzPct val="100000"/>
              <a:buChar char="•"/>
            </a:pPr>
            <a:r>
              <a:rPr lang="en-US" sz="1050" dirty="0">
                <a:solidFill>
                  <a:srgbClr val="1F4A33"/>
                </a:solidFill>
                <a:latin typeface="Calibri" pitchFamily="34" charset="0"/>
                <a:ea typeface="Calibri" pitchFamily="34" charset="-122"/>
                <a:cs typeface="Calibri" pitchFamily="34" charset="-120"/>
              </a:rPr>
              <a:t>A mock bee with ten rivals who each have their own nerve, speciality and vocabulary skill.</a:t>
            </a:r>
            <a:endParaRPr lang="en-US" sz="1050" dirty="0"/>
          </a:p>
        </p:txBody>
      </p:sp>
      <p:sp>
        <p:nvSpPr>
          <p:cNvPr id="19" name="Shape 17"/>
          <p:cNvSpPr/>
          <p:nvPr/>
        </p:nvSpPr>
        <p:spPr>
          <a:xfrm>
            <a:off x="5577840" y="4315968"/>
            <a:ext cx="5669280" cy="2103120"/>
          </a:xfrm>
          <a:prstGeom prst="roundRect">
            <a:avLst>
              <a:gd name="adj" fmla="val 6087"/>
            </a:avLst>
          </a:prstGeom>
          <a:solidFill>
            <a:srgbClr val="FBF3E0"/>
          </a:solidFill>
          <a:ln/>
          <a:effectLst>
            <a:outerShdw sx="100000" sy="100000" kx="0" ky="0" algn="bl" rotWithShape="0" blurRad="127000" dist="25400" dir="5400000">
              <a:srgbClr val="241E33">
                <a:alpha val="10000"/>
              </a:srgbClr>
            </a:outerShdw>
          </a:effectLst>
        </p:spPr>
      </p:sp>
      <p:sp>
        <p:nvSpPr>
          <p:cNvPr id="20" name="Text 18"/>
          <p:cNvSpPr/>
          <p:nvPr/>
        </p:nvSpPr>
        <p:spPr>
          <a:xfrm>
            <a:off x="5870448" y="4462272"/>
            <a:ext cx="5120640" cy="256032"/>
          </a:xfrm>
          <a:prstGeom prst="rect">
            <a:avLst/>
          </a:prstGeom>
          <a:noFill/>
          <a:ln/>
        </p:spPr>
        <p:txBody>
          <a:bodyPr wrap="square" lIns="0" tIns="0" rIns="0" bIns="0" rtlCol="0" anchor="ctr"/>
          <a:lstStyle/>
          <a:p>
            <a:pPr indent="0" marL="0">
              <a:buNone/>
            </a:pPr>
            <a:r>
              <a:rPr lang="en-US" sz="900" b="1" spc="180" kern="0" dirty="0">
                <a:solidFill>
                  <a:srgbClr val="8A5B00"/>
                </a:solidFill>
                <a:latin typeface="Calibri" pitchFamily="34" charset="0"/>
                <a:ea typeface="Calibri" pitchFamily="34" charset="-122"/>
                <a:cs typeface="Calibri" pitchFamily="34" charset="-120"/>
              </a:rPr>
              <a:t>WHAT STILL HAS TO BE BUILT</a:t>
            </a:r>
            <a:endParaRPr lang="en-US" sz="900" dirty="0"/>
          </a:p>
        </p:txBody>
      </p:sp>
      <p:sp>
        <p:nvSpPr>
          <p:cNvPr id="21" name="Text 19"/>
          <p:cNvSpPr/>
          <p:nvPr/>
        </p:nvSpPr>
        <p:spPr>
          <a:xfrm>
            <a:off x="5907024" y="4754880"/>
            <a:ext cx="5074920" cy="1554480"/>
          </a:xfrm>
          <a:prstGeom prst="rect">
            <a:avLst/>
          </a:prstGeom>
          <a:noFill/>
          <a:ln/>
        </p:spPr>
        <p:txBody>
          <a:bodyPr wrap="square" lIns="0" tIns="0" rIns="0" bIns="0" rtlCol="0" anchor="ctr"/>
          <a:lstStyle/>
          <a:p>
            <a:pPr marL="342900" indent="-342900">
              <a:lnSpc>
                <a:spcPts val="1400"/>
              </a:lnSpc>
              <a:spcAft>
                <a:spcPts val="600"/>
              </a:spcAft>
              <a:buSzPct val="100000"/>
              <a:buChar char="•"/>
            </a:pPr>
            <a:r>
              <a:rPr lang="en-US" sz="1050" dirty="0">
                <a:solidFill>
                  <a:srgbClr val="8A5B00"/>
                </a:solidFill>
                <a:latin typeface="Calibri" pitchFamily="34" charset="0"/>
                <a:ea typeface="Calibri" pitchFamily="34" charset="-122"/>
                <a:cs typeface="Calibri" pitchFamily="34" charset="-120"/>
              </a:rPr>
              <a:t>A gentler on-ramp so a six-year-old is not defeated on screen one</a:t>
            </a:r>
            <a:endParaRPr lang="en-US" sz="1050" dirty="0"/>
          </a:p>
          <a:p>
            <a:pPr marL="342900" indent="-342900">
              <a:lnSpc>
                <a:spcPts val="1400"/>
              </a:lnSpc>
              <a:spcAft>
                <a:spcPts val="600"/>
              </a:spcAft>
              <a:buSzPct val="100000"/>
              <a:buChar char="•"/>
            </a:pPr>
            <a:r>
              <a:rPr lang="en-US" sz="1050" dirty="0">
                <a:solidFill>
                  <a:srgbClr val="8A5B00"/>
                </a:solidFill>
                <a:latin typeface="Calibri" pitchFamily="34" charset="0"/>
                <a:ea typeface="Calibri" pitchFamily="34" charset="-122"/>
                <a:cs typeface="Calibri" pitchFamily="34" charset="-120"/>
              </a:rPr>
              <a:t>Parent-facing progress reporting — today the parent cannot see what is happening</a:t>
            </a:r>
            <a:endParaRPr lang="en-US" sz="1050" dirty="0"/>
          </a:p>
          <a:p>
            <a:pPr marL="342900" indent="-342900">
              <a:lnSpc>
                <a:spcPts val="1400"/>
              </a:lnSpc>
              <a:spcAft>
                <a:spcPts val="600"/>
              </a:spcAft>
              <a:buSzPct val="100000"/>
              <a:buChar char="•"/>
            </a:pPr>
            <a:r>
              <a:rPr lang="en-US" sz="1050" dirty="0">
                <a:solidFill>
                  <a:srgbClr val="8A5B00"/>
                </a:solidFill>
                <a:latin typeface="Calibri" pitchFamily="34" charset="0"/>
                <a:ea typeface="Calibri" pitchFamily="34" charset="-122"/>
                <a:cs typeface="Calibri" pitchFamily="34" charset="-120"/>
              </a:rPr>
              <a:t>Live and community bee events to convert the strongest users into advocates</a:t>
            </a:r>
            <a:endParaRPr lang="en-US" sz="1050" dirty="0"/>
          </a:p>
        </p:txBody>
      </p:sp>
      <p:sp>
        <p:nvSpPr>
          <p:cNvPr id="22" name="Text 20"/>
          <p:cNvSpPr/>
          <p:nvPr/>
        </p:nvSpPr>
        <p:spPr>
          <a:xfrm>
            <a:off x="640080" y="6272784"/>
            <a:ext cx="4846320" cy="310896"/>
          </a:xfrm>
          <a:prstGeom prst="rect">
            <a:avLst/>
          </a:prstGeom>
          <a:noFill/>
          <a:ln/>
        </p:spPr>
        <p:txBody>
          <a:bodyPr wrap="square" lIns="0" tIns="0" rIns="0" bIns="0" rtlCol="0" anchor="ctr"/>
          <a:lstStyle/>
          <a:p>
            <a:pPr indent="0" marL="0">
              <a:buNone/>
            </a:pPr>
            <a:r>
              <a:rPr lang="en-US" sz="1050" b="1" dirty="0">
                <a:solidFill>
                  <a:srgbClr val="7A7291"/>
                </a:solidFill>
                <a:latin typeface="Calibri" pitchFamily="34" charset="0"/>
                <a:ea typeface="Calibri" pitchFamily="34" charset="-122"/>
                <a:cs typeface="Calibri" pitchFamily="34" charset="-120"/>
              </a:rPr>
              <a:t>Ages 8–14</a:t>
            </a:r>
            <a:pPr indent="0" marL="0">
              <a:buNone/>
            </a:pPr>
            <a:r>
              <a:rPr lang="en-US" sz="1050" dirty="0">
                <a:solidFill>
                  <a:srgbClr val="7A7291"/>
                </a:solidFill>
                <a:latin typeface="Calibri" pitchFamily="34" charset="0"/>
                <a:ea typeface="Calibri" pitchFamily="34" charset="-122"/>
                <a:cs typeface="Calibri" pitchFamily="34" charset="-120"/>
              </a:rPr>
              <a:t>   ·   engine reuse: </a:t>
            </a:r>
            <a:pPr indent="0" marL="0">
              <a:buNone/>
            </a:pPr>
            <a:r>
              <a:rPr lang="en-US" sz="1050" b="1" dirty="0">
                <a:solidFill>
                  <a:srgbClr val="7A7291"/>
                </a:solidFill>
                <a:latin typeface="Calibri" pitchFamily="34" charset="0"/>
                <a:ea typeface="Calibri" pitchFamily="34" charset="-122"/>
                <a:cs typeface="Calibri" pitchFamily="34" charset="-120"/>
              </a:rPr>
              <a:t>The engine itself</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PRODUCT 2 OF 8</a:t>
            </a:r>
            <a:endParaRPr lang="en-US" sz="1150" dirty="0"/>
          </a:p>
        </p:txBody>
      </p:sp>
      <p:sp>
        <p:nvSpPr>
          <p:cNvPr id="3" name="Text 1"/>
          <p:cNvSpPr/>
          <p:nvPr/>
        </p:nvSpPr>
        <p:spPr>
          <a:xfrm>
            <a:off x="640080" y="694944"/>
            <a:ext cx="78638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Bizzing India</a:t>
            </a:r>
            <a:endParaRPr lang="en-US" sz="2900" dirty="0"/>
          </a:p>
        </p:txBody>
      </p:sp>
      <p:sp>
        <p:nvSpPr>
          <p:cNvPr id="4" name="Shape 2"/>
          <p:cNvSpPr/>
          <p:nvPr/>
        </p:nvSpPr>
        <p:spPr>
          <a:xfrm>
            <a:off x="8732520" y="749808"/>
            <a:ext cx="2514600" cy="384048"/>
          </a:xfrm>
          <a:prstGeom prst="roundRect">
            <a:avLst>
              <a:gd name="adj" fmla="val 50000"/>
            </a:avLst>
          </a:prstGeom>
          <a:solidFill>
            <a:srgbClr val="F0B429"/>
          </a:solidFill>
          <a:ln/>
        </p:spPr>
      </p:sp>
      <p:sp>
        <p:nvSpPr>
          <p:cNvPr id="5" name="Text 3"/>
          <p:cNvSpPr/>
          <p:nvPr/>
        </p:nvSpPr>
        <p:spPr>
          <a:xfrm>
            <a:off x="8732520" y="749808"/>
            <a:ext cx="2514600" cy="384048"/>
          </a:xfrm>
          <a:prstGeom prst="rect">
            <a:avLst/>
          </a:prstGeom>
          <a:noFill/>
          <a:ln/>
        </p:spPr>
        <p:txBody>
          <a:bodyPr wrap="square" lIns="0" tIns="0" rIns="0" bIns="0" rtlCol="0" anchor="ctr"/>
          <a:lstStyle/>
          <a:p>
            <a:pPr algn="ctr" indent="0" marL="0">
              <a:buNone/>
            </a:pPr>
            <a:r>
              <a:rPr lang="en-US" sz="1000" b="1" spc="120" kern="0" dirty="0">
                <a:solidFill>
                  <a:srgbClr val="241E33"/>
                </a:solidFill>
                <a:latin typeface="Calibri" pitchFamily="34" charset="0"/>
                <a:ea typeface="Calibri" pitchFamily="34" charset="-122"/>
                <a:cs typeface="Calibri" pitchFamily="34" charset="-120"/>
              </a:rPr>
              <a:t>SEEDED · FREE</a:t>
            </a:r>
            <a:endParaRPr lang="en-US" sz="1000" dirty="0"/>
          </a:p>
        </p:txBody>
      </p:sp>
      <p:sp>
        <p:nvSpPr>
          <p:cNvPr id="6" name="Text 4"/>
          <p:cNvSpPr/>
          <p:nvPr/>
        </p:nvSpPr>
        <p:spPr>
          <a:xfrm>
            <a:off x="640080" y="1444752"/>
            <a:ext cx="8778240" cy="585216"/>
          </a:xfrm>
          <a:prstGeom prst="rect">
            <a:avLst/>
          </a:prstGeom>
          <a:noFill/>
          <a:ln/>
        </p:spPr>
        <p:txBody>
          <a:bodyPr wrap="square" lIns="0" tIns="0" rIns="0" bIns="0" rtlCol="0" anchor="ctr"/>
          <a:lstStyle/>
          <a:p>
            <a:pPr indent="0" marL="0">
              <a:lnSpc>
                <a:spcPts val="2100"/>
              </a:lnSpc>
              <a:buNone/>
            </a:pPr>
            <a:r>
              <a:rPr lang="en-US" sz="1600" i="1" dirty="0">
                <a:solidFill>
                  <a:srgbClr val="6C4FE0"/>
                </a:solidFill>
                <a:latin typeface="Cambria" pitchFamily="34" charset="0"/>
                <a:ea typeface="Cambria" pitchFamily="34" charset="-122"/>
                <a:cs typeface="Cambria" pitchFamily="34" charset="-120"/>
              </a:rPr>
              <a:t>A child who knows where they came from, and finds it genuinely interesting rather than dutiful.</a:t>
            </a:r>
            <a:endParaRPr lang="en-US" sz="1600" dirty="0"/>
          </a:p>
        </p:txBody>
      </p:sp>
      <p:sp>
        <p:nvSpPr>
          <p:cNvPr id="7" name="Shape 5"/>
          <p:cNvSpPr/>
          <p:nvPr/>
        </p:nvSpPr>
        <p:spPr>
          <a:xfrm rot="5400000">
            <a:off x="640080" y="2103120"/>
            <a:ext cx="457200" cy="457200"/>
          </a:xfrm>
          <a:prstGeom prst="hexagon">
            <a:avLst/>
          </a:prstGeom>
          <a:solidFill>
            <a:srgbClr val="6C4FE0"/>
          </a:solidFill>
          <a:ln/>
        </p:spPr>
      </p:sp>
      <p:sp>
        <p:nvSpPr>
          <p:cNvPr id="8" name="Text 6"/>
          <p:cNvSpPr/>
          <p:nvPr/>
        </p:nvSpPr>
        <p:spPr>
          <a:xfrm>
            <a:off x="640080" y="2103120"/>
            <a:ext cx="457200" cy="45720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WHY</a:t>
            </a:r>
            <a:endParaRPr lang="en-US" sz="850" dirty="0"/>
          </a:p>
        </p:txBody>
      </p:sp>
      <p:sp>
        <p:nvSpPr>
          <p:cNvPr id="9" name="Text 7"/>
          <p:cNvSpPr/>
          <p:nvPr/>
        </p:nvSpPr>
        <p:spPr>
          <a:xfrm>
            <a:off x="1261872" y="2084832"/>
            <a:ext cx="4114800" cy="1280160"/>
          </a:xfrm>
          <a:prstGeom prst="rect">
            <a:avLst/>
          </a:prstGeom>
          <a:noFill/>
          <a:ln/>
        </p:spPr>
        <p:txBody>
          <a:bodyPr wrap="square" lIns="0" tIns="0" rIns="0" bIns="0" rtlCol="0" anchor="ctr"/>
          <a:lstStyle/>
          <a:p>
            <a:pPr indent="0" marL="0">
              <a:lnSpc>
                <a:spcPts val="1550"/>
              </a:lnSpc>
              <a:buNone/>
            </a:pPr>
            <a:r>
              <a:rPr lang="en-US" sz="1150" dirty="0">
                <a:solidFill>
                  <a:srgbClr val="4A4360"/>
                </a:solidFill>
                <a:latin typeface="Calibri" pitchFamily="34" charset="0"/>
                <a:ea typeface="Calibri" pitchFamily="34" charset="-122"/>
                <a:cs typeface="Calibri" pitchFamily="34" charset="-120"/>
              </a:rPr>
              <a:t>Heritage is the one hook no product built for a general audience can copy. It is also the warmest reason a family arrives, and it costs them nothing to try.</a:t>
            </a:r>
            <a:endParaRPr lang="en-US" sz="1150" dirty="0"/>
          </a:p>
        </p:txBody>
      </p:sp>
      <p:sp>
        <p:nvSpPr>
          <p:cNvPr id="10" name="Shape 8"/>
          <p:cNvSpPr/>
          <p:nvPr/>
        </p:nvSpPr>
        <p:spPr>
          <a:xfrm rot="5400000">
            <a:off x="640080" y="3493008"/>
            <a:ext cx="457200" cy="457200"/>
          </a:xfrm>
          <a:prstGeom prst="hexagon">
            <a:avLst/>
          </a:prstGeom>
          <a:solidFill>
            <a:srgbClr val="F0B429"/>
          </a:solidFill>
          <a:ln/>
        </p:spPr>
      </p:sp>
      <p:sp>
        <p:nvSpPr>
          <p:cNvPr id="11" name="Text 9"/>
          <p:cNvSpPr/>
          <p:nvPr/>
        </p:nvSpPr>
        <p:spPr>
          <a:xfrm>
            <a:off x="640080" y="3493008"/>
            <a:ext cx="457200" cy="457200"/>
          </a:xfrm>
          <a:prstGeom prst="rect">
            <a:avLst/>
          </a:prstGeom>
          <a:noFill/>
          <a:ln/>
        </p:spPr>
        <p:txBody>
          <a:bodyPr wrap="square" lIns="0" tIns="0" rIns="0" bIns="0" rtlCol="0" anchor="ctr"/>
          <a:lstStyle/>
          <a:p>
            <a:pPr algn="ctr" indent="0" marL="0">
              <a:buNone/>
            </a:pPr>
            <a:r>
              <a:rPr lang="en-US" sz="850" b="1" dirty="0">
                <a:solidFill>
                  <a:srgbClr val="241E33"/>
                </a:solidFill>
                <a:latin typeface="Calibri" pitchFamily="34" charset="0"/>
                <a:ea typeface="Calibri" pitchFamily="34" charset="-122"/>
                <a:cs typeface="Calibri" pitchFamily="34" charset="-120"/>
              </a:rPr>
              <a:t>WHAT</a:t>
            </a:r>
            <a:endParaRPr lang="en-US" sz="850" dirty="0"/>
          </a:p>
        </p:txBody>
      </p:sp>
      <p:sp>
        <p:nvSpPr>
          <p:cNvPr id="12" name="Text 10"/>
          <p:cNvSpPr/>
          <p:nvPr/>
        </p:nvSpPr>
        <p:spPr>
          <a:xfrm>
            <a:off x="1261872" y="3474720"/>
            <a:ext cx="4114800" cy="1280160"/>
          </a:xfrm>
          <a:prstGeom prst="rect">
            <a:avLst/>
          </a:prstGeom>
          <a:noFill/>
          <a:ln/>
        </p:spPr>
        <p:txBody>
          <a:bodyPr wrap="square" lIns="0" tIns="0" rIns="0" bIns="0" rtlCol="0" anchor="ctr"/>
          <a:lstStyle/>
          <a:p>
            <a:pPr indent="0" marL="0">
              <a:lnSpc>
                <a:spcPts val="1550"/>
              </a:lnSpc>
              <a:buNone/>
            </a:pPr>
            <a:r>
              <a:rPr lang="en-US" sz="1150" dirty="0">
                <a:solidFill>
                  <a:srgbClr val="4A4360"/>
                </a:solidFill>
                <a:latin typeface="Calibri" pitchFamily="34" charset="0"/>
                <a:ea typeface="Calibri" pitchFamily="34" charset="-122"/>
                <a:cs typeface="Calibri" pitchFamily="34" charset="-120"/>
              </a:rPr>
              <a:t>Culture, festivals, mythology, geography, and the words English took from India. Free, shareable, and the doorway to the paid Bhasha packs.</a:t>
            </a:r>
            <a:endParaRPr lang="en-US" sz="1150" dirty="0"/>
          </a:p>
        </p:txBody>
      </p:sp>
      <p:sp>
        <p:nvSpPr>
          <p:cNvPr id="13" name="Shape 11"/>
          <p:cNvSpPr/>
          <p:nvPr/>
        </p:nvSpPr>
        <p:spPr>
          <a:xfrm rot="5400000">
            <a:off x="640080" y="4882896"/>
            <a:ext cx="457200" cy="457200"/>
          </a:xfrm>
          <a:prstGeom prst="hexagon">
            <a:avLst/>
          </a:prstGeom>
          <a:solidFill>
            <a:srgbClr val="6C4FE0"/>
          </a:solidFill>
          <a:ln/>
        </p:spPr>
      </p:sp>
      <p:sp>
        <p:nvSpPr>
          <p:cNvPr id="14" name="Text 12"/>
          <p:cNvSpPr/>
          <p:nvPr/>
        </p:nvSpPr>
        <p:spPr>
          <a:xfrm>
            <a:off x="640080" y="4882896"/>
            <a:ext cx="457200" cy="45720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HOW</a:t>
            </a:r>
            <a:endParaRPr lang="en-US" sz="850" dirty="0"/>
          </a:p>
        </p:txBody>
      </p:sp>
      <p:sp>
        <p:nvSpPr>
          <p:cNvPr id="15" name="Text 13"/>
          <p:cNvSpPr/>
          <p:nvPr/>
        </p:nvSpPr>
        <p:spPr>
          <a:xfrm>
            <a:off x="1261872" y="4864608"/>
            <a:ext cx="4114800" cy="1280160"/>
          </a:xfrm>
          <a:prstGeom prst="rect">
            <a:avLst/>
          </a:prstGeom>
          <a:noFill/>
          <a:ln/>
        </p:spPr>
        <p:txBody>
          <a:bodyPr wrap="square" lIns="0" tIns="0" rIns="0" bIns="0" rtlCol="0" anchor="ctr"/>
          <a:lstStyle/>
          <a:p>
            <a:pPr indent="0" marL="0">
              <a:lnSpc>
                <a:spcPts val="1550"/>
              </a:lnSpc>
              <a:buNone/>
            </a:pPr>
            <a:r>
              <a:rPr lang="en-US" sz="1150" dirty="0">
                <a:solidFill>
                  <a:srgbClr val="4A4360"/>
                </a:solidFill>
                <a:latin typeface="Calibri" pitchFamily="34" charset="0"/>
                <a:ea typeface="Calibri" pitchFamily="34" charset="-122"/>
                <a:cs typeface="Calibri" pitchFamily="34" charset="-120"/>
              </a:rPr>
              <a:t>Reuses the concept-chapter and trivia engines outright. It is a content programme, not a new build.</a:t>
            </a:r>
            <a:endParaRPr lang="en-US" sz="1150" dirty="0"/>
          </a:p>
        </p:txBody>
      </p:sp>
      <p:sp>
        <p:nvSpPr>
          <p:cNvPr id="16" name="Shape 14"/>
          <p:cNvSpPr/>
          <p:nvPr/>
        </p:nvSpPr>
        <p:spPr>
          <a:xfrm>
            <a:off x="5577840" y="2048256"/>
            <a:ext cx="5669280" cy="2103120"/>
          </a:xfrm>
          <a:prstGeom prst="roundRect">
            <a:avLst>
              <a:gd name="adj" fmla="val 6087"/>
            </a:avLst>
          </a:prstGeom>
          <a:solidFill>
            <a:srgbClr val="E8F4EC"/>
          </a:solidFill>
          <a:ln/>
          <a:effectLst>
            <a:outerShdw sx="100000" sy="100000" kx="0" ky="0" algn="bl" rotWithShape="0" blurRad="127000" dist="25400" dir="5400000">
              <a:srgbClr val="241E33">
                <a:alpha val="10000"/>
              </a:srgbClr>
            </a:outerShdw>
          </a:effectLst>
        </p:spPr>
      </p:sp>
      <p:sp>
        <p:nvSpPr>
          <p:cNvPr id="17" name="Text 15"/>
          <p:cNvSpPr/>
          <p:nvPr/>
        </p:nvSpPr>
        <p:spPr>
          <a:xfrm>
            <a:off x="5870448" y="2194560"/>
            <a:ext cx="5120640" cy="256032"/>
          </a:xfrm>
          <a:prstGeom prst="rect">
            <a:avLst/>
          </a:prstGeom>
          <a:noFill/>
          <a:ln/>
        </p:spPr>
        <p:txBody>
          <a:bodyPr wrap="square" lIns="0" tIns="0" rIns="0" bIns="0" rtlCol="0" anchor="ctr"/>
          <a:lstStyle/>
          <a:p>
            <a:pPr indent="0" marL="0">
              <a:buNone/>
            </a:pPr>
            <a:r>
              <a:rPr lang="en-US" sz="900" b="1" spc="180" kern="0" dirty="0">
                <a:solidFill>
                  <a:srgbClr val="178A4C"/>
                </a:solidFill>
                <a:latin typeface="Calibri" pitchFamily="34" charset="0"/>
                <a:ea typeface="Calibri" pitchFamily="34" charset="-122"/>
                <a:cs typeface="Calibri" pitchFamily="34" charset="-120"/>
              </a:rPr>
              <a:t>WHAT MAKES IT DIFFERENT</a:t>
            </a:r>
            <a:endParaRPr lang="en-US" sz="900" dirty="0"/>
          </a:p>
        </p:txBody>
      </p:sp>
      <p:sp>
        <p:nvSpPr>
          <p:cNvPr id="18" name="Text 16"/>
          <p:cNvSpPr/>
          <p:nvPr/>
        </p:nvSpPr>
        <p:spPr>
          <a:xfrm>
            <a:off x="5907024" y="2487168"/>
            <a:ext cx="5074920" cy="1554480"/>
          </a:xfrm>
          <a:prstGeom prst="rect">
            <a:avLst/>
          </a:prstGeom>
          <a:noFill/>
          <a:ln/>
        </p:spPr>
        <p:txBody>
          <a:bodyPr wrap="square" lIns="0" tIns="0" rIns="0" bIns="0" rtlCol="0" anchor="ctr"/>
          <a:lstStyle/>
          <a:p>
            <a:pPr marL="342900" indent="-342900">
              <a:lnSpc>
                <a:spcPts val="1400"/>
              </a:lnSpc>
              <a:spcAft>
                <a:spcPts val="600"/>
              </a:spcAft>
              <a:buSzPct val="100000"/>
              <a:buChar char="•"/>
            </a:pPr>
            <a:r>
              <a:rPr lang="en-US" sz="1050" dirty="0">
                <a:solidFill>
                  <a:srgbClr val="1F4A33"/>
                </a:solidFill>
                <a:latin typeface="Calibri" pitchFamily="34" charset="0"/>
                <a:ea typeface="Calibri" pitchFamily="34" charset="-122"/>
                <a:cs typeface="Calibri" pitchFamily="34" charset="-120"/>
              </a:rPr>
              <a:t>A real seed already ships: southasia-data.js carries eleven authored chapters on South Asian words in English, live as Expedition IV of the Word Atlas and as Volume 14 of the book series.</a:t>
            </a:r>
            <a:endParaRPr lang="en-US" sz="1050" dirty="0"/>
          </a:p>
          <a:p>
            <a:pPr marL="342900" indent="-342900">
              <a:lnSpc>
                <a:spcPts val="1400"/>
              </a:lnSpc>
              <a:spcAft>
                <a:spcPts val="600"/>
              </a:spcAft>
              <a:buSzPct val="100000"/>
              <a:buChar char="•"/>
            </a:pPr>
            <a:r>
              <a:rPr lang="en-US" sz="1050" dirty="0">
                <a:solidFill>
                  <a:srgbClr val="1F4A33"/>
                </a:solidFill>
                <a:latin typeface="Calibri" pitchFamily="34" charset="0"/>
                <a:ea typeface="Calibri" pitchFamily="34" charset="-122"/>
                <a:cs typeface="Calibri" pitchFamily="34" charset="-120"/>
              </a:rPr>
              <a:t>It teaches Sanskrit, Hindi and Tamil loanwords as a bee STRATEGY — say it, spell it, trust the vowels — not as a curiosity.</a:t>
            </a:r>
            <a:endParaRPr lang="en-US" sz="1050" dirty="0"/>
          </a:p>
        </p:txBody>
      </p:sp>
      <p:sp>
        <p:nvSpPr>
          <p:cNvPr id="19" name="Shape 17"/>
          <p:cNvSpPr/>
          <p:nvPr/>
        </p:nvSpPr>
        <p:spPr>
          <a:xfrm>
            <a:off x="5577840" y="4315968"/>
            <a:ext cx="5669280" cy="2103120"/>
          </a:xfrm>
          <a:prstGeom prst="roundRect">
            <a:avLst>
              <a:gd name="adj" fmla="val 6087"/>
            </a:avLst>
          </a:prstGeom>
          <a:solidFill>
            <a:srgbClr val="FBF3E0"/>
          </a:solidFill>
          <a:ln/>
          <a:effectLst>
            <a:outerShdw sx="100000" sy="100000" kx="0" ky="0" algn="bl" rotWithShape="0" blurRad="127000" dist="25400" dir="5400000">
              <a:srgbClr val="241E33">
                <a:alpha val="10000"/>
              </a:srgbClr>
            </a:outerShdw>
          </a:effectLst>
        </p:spPr>
      </p:sp>
      <p:sp>
        <p:nvSpPr>
          <p:cNvPr id="20" name="Text 18"/>
          <p:cNvSpPr/>
          <p:nvPr/>
        </p:nvSpPr>
        <p:spPr>
          <a:xfrm>
            <a:off x="5870448" y="4462272"/>
            <a:ext cx="5120640" cy="256032"/>
          </a:xfrm>
          <a:prstGeom prst="rect">
            <a:avLst/>
          </a:prstGeom>
          <a:noFill/>
          <a:ln/>
        </p:spPr>
        <p:txBody>
          <a:bodyPr wrap="square" lIns="0" tIns="0" rIns="0" bIns="0" rtlCol="0" anchor="ctr"/>
          <a:lstStyle/>
          <a:p>
            <a:pPr indent="0" marL="0">
              <a:buNone/>
            </a:pPr>
            <a:r>
              <a:rPr lang="en-US" sz="900" b="1" spc="180" kern="0" dirty="0">
                <a:solidFill>
                  <a:srgbClr val="8A5B00"/>
                </a:solidFill>
                <a:latin typeface="Calibri" pitchFamily="34" charset="0"/>
                <a:ea typeface="Calibri" pitchFamily="34" charset="-122"/>
                <a:cs typeface="Calibri" pitchFamily="34" charset="-120"/>
              </a:rPr>
              <a:t>WHAT STILL HAS TO BE BUILT</a:t>
            </a:r>
            <a:endParaRPr lang="en-US" sz="900" dirty="0"/>
          </a:p>
        </p:txBody>
      </p:sp>
      <p:sp>
        <p:nvSpPr>
          <p:cNvPr id="21" name="Text 19"/>
          <p:cNvSpPr/>
          <p:nvPr/>
        </p:nvSpPr>
        <p:spPr>
          <a:xfrm>
            <a:off x="5907024" y="4754880"/>
            <a:ext cx="5074920" cy="1554480"/>
          </a:xfrm>
          <a:prstGeom prst="rect">
            <a:avLst/>
          </a:prstGeom>
          <a:noFill/>
          <a:ln/>
        </p:spPr>
        <p:txBody>
          <a:bodyPr wrap="square" lIns="0" tIns="0" rIns="0" bIns="0" rtlCol="0" anchor="ctr"/>
          <a:lstStyle/>
          <a:p>
            <a:pPr marL="342900" indent="-342900">
              <a:lnSpc>
                <a:spcPts val="1400"/>
              </a:lnSpc>
              <a:spcAft>
                <a:spcPts val="600"/>
              </a:spcAft>
              <a:buSzPct val="100000"/>
              <a:buChar char="•"/>
            </a:pPr>
            <a:r>
              <a:rPr lang="en-US" sz="1050" dirty="0">
                <a:solidFill>
                  <a:srgbClr val="8A5B00"/>
                </a:solidFill>
                <a:latin typeface="Calibri" pitchFamily="34" charset="0"/>
                <a:ea typeface="Calibri" pitchFamily="34" charset="-122"/>
                <a:cs typeface="Calibri" pitchFamily="34" charset="-120"/>
              </a:rPr>
              <a:t>Festival, mythology and India-GK packs on top of the language chapters</a:t>
            </a:r>
            <a:endParaRPr lang="en-US" sz="1050" dirty="0"/>
          </a:p>
          <a:p>
            <a:pPr marL="342900" indent="-342900">
              <a:lnSpc>
                <a:spcPts val="1400"/>
              </a:lnSpc>
              <a:spcAft>
                <a:spcPts val="600"/>
              </a:spcAft>
              <a:buSzPct val="100000"/>
              <a:buChar char="•"/>
            </a:pPr>
            <a:r>
              <a:rPr lang="en-US" sz="1050" dirty="0">
                <a:solidFill>
                  <a:srgbClr val="8A5B00"/>
                </a:solidFill>
                <a:latin typeface="Calibri" pitchFamily="34" charset="0"/>
                <a:ea typeface="Calibri" pitchFamily="34" charset="-122"/>
                <a:cs typeface="Calibri" pitchFamily="34" charset="-120"/>
              </a:rPr>
              <a:t>A clear free/paid line, with Bhasha as the paid pack inside the free hook</a:t>
            </a:r>
            <a:endParaRPr lang="en-US" sz="1050" dirty="0"/>
          </a:p>
          <a:p>
            <a:pPr marL="342900" indent="-342900">
              <a:lnSpc>
                <a:spcPts val="1400"/>
              </a:lnSpc>
              <a:spcAft>
                <a:spcPts val="600"/>
              </a:spcAft>
              <a:buSzPct val="100000"/>
              <a:buChar char="•"/>
            </a:pPr>
            <a:r>
              <a:rPr lang="en-US" sz="1050" dirty="0">
                <a:solidFill>
                  <a:srgbClr val="8A5B00"/>
                </a:solidFill>
                <a:latin typeface="Calibri" pitchFamily="34" charset="0"/>
                <a:ea typeface="Calibri" pitchFamily="34" charset="-122"/>
                <a:cs typeface="Calibri" pitchFamily="34" charset="-120"/>
              </a:rPr>
              <a:t>The funnel itself: what a family does next after finishing a free chapter</a:t>
            </a:r>
            <a:endParaRPr lang="en-US" sz="1050" dirty="0"/>
          </a:p>
        </p:txBody>
      </p:sp>
      <p:sp>
        <p:nvSpPr>
          <p:cNvPr id="22" name="Text 20"/>
          <p:cNvSpPr/>
          <p:nvPr/>
        </p:nvSpPr>
        <p:spPr>
          <a:xfrm>
            <a:off x="640080" y="6272784"/>
            <a:ext cx="4846320" cy="310896"/>
          </a:xfrm>
          <a:prstGeom prst="rect">
            <a:avLst/>
          </a:prstGeom>
          <a:noFill/>
          <a:ln/>
        </p:spPr>
        <p:txBody>
          <a:bodyPr wrap="square" lIns="0" tIns="0" rIns="0" bIns="0" rtlCol="0" anchor="ctr"/>
          <a:lstStyle/>
          <a:p>
            <a:pPr indent="0" marL="0">
              <a:buNone/>
            </a:pPr>
            <a:r>
              <a:rPr lang="en-US" sz="1050" b="1" dirty="0">
                <a:solidFill>
                  <a:srgbClr val="7A7291"/>
                </a:solidFill>
                <a:latin typeface="Calibri" pitchFamily="34" charset="0"/>
                <a:ea typeface="Calibri" pitchFamily="34" charset="-122"/>
                <a:cs typeface="Calibri" pitchFamily="34" charset="-120"/>
              </a:rPr>
              <a:t>Ages 6–16</a:t>
            </a:r>
            <a:pPr indent="0" marL="0">
              <a:buNone/>
            </a:pPr>
            <a:r>
              <a:rPr lang="en-US" sz="1050" dirty="0">
                <a:solidFill>
                  <a:srgbClr val="7A7291"/>
                </a:solidFill>
                <a:latin typeface="Calibri" pitchFamily="34" charset="0"/>
                <a:ea typeface="Calibri" pitchFamily="34" charset="-122"/>
                <a:cs typeface="Calibri" pitchFamily="34" charset="-120"/>
              </a:rPr>
              <a:t>   ·   engine reuse: </a:t>
            </a:r>
            <a:pPr indent="0" marL="0">
              <a:buNone/>
            </a:pPr>
            <a:r>
              <a:rPr lang="en-US" sz="1050" b="1" dirty="0">
                <a:solidFill>
                  <a:srgbClr val="7A7291"/>
                </a:solidFill>
                <a:latin typeface="Calibri" pitchFamily="34" charset="0"/>
                <a:ea typeface="Calibri" pitchFamily="34" charset="-122"/>
                <a:cs typeface="Calibri" pitchFamily="34" charset="-120"/>
              </a:rPr>
              <a:t>Concept + trivia engines</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PRODUCT 3 OF 8</a:t>
            </a:r>
            <a:endParaRPr lang="en-US" sz="1150" dirty="0"/>
          </a:p>
        </p:txBody>
      </p:sp>
      <p:sp>
        <p:nvSpPr>
          <p:cNvPr id="3" name="Text 1"/>
          <p:cNvSpPr/>
          <p:nvPr/>
        </p:nvSpPr>
        <p:spPr>
          <a:xfrm>
            <a:off x="640080" y="694944"/>
            <a:ext cx="78638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Bizzing Bhasha</a:t>
            </a:r>
            <a:endParaRPr lang="en-US" sz="2900" dirty="0"/>
          </a:p>
        </p:txBody>
      </p:sp>
      <p:sp>
        <p:nvSpPr>
          <p:cNvPr id="4" name="Shape 2"/>
          <p:cNvSpPr/>
          <p:nvPr/>
        </p:nvSpPr>
        <p:spPr>
          <a:xfrm>
            <a:off x="8732520" y="749808"/>
            <a:ext cx="2514600" cy="384048"/>
          </a:xfrm>
          <a:prstGeom prst="roundRect">
            <a:avLst>
              <a:gd name="adj" fmla="val 50000"/>
            </a:avLst>
          </a:prstGeom>
          <a:solidFill>
            <a:srgbClr val="6C4FE0"/>
          </a:solidFill>
          <a:ln/>
        </p:spPr>
      </p:sp>
      <p:sp>
        <p:nvSpPr>
          <p:cNvPr id="5" name="Text 3"/>
          <p:cNvSpPr/>
          <p:nvPr/>
        </p:nvSpPr>
        <p:spPr>
          <a:xfrm>
            <a:off x="8732520" y="749808"/>
            <a:ext cx="2514600" cy="384048"/>
          </a:xfrm>
          <a:prstGeom prst="rect">
            <a:avLst/>
          </a:prstGeom>
          <a:noFill/>
          <a:ln/>
        </p:spPr>
        <p:txBody>
          <a:bodyPr wrap="square" lIns="0" tIns="0" rIns="0" bIns="0" rtlCol="0" anchor="ctr"/>
          <a:lstStyle/>
          <a:p>
            <a:pPr algn="ctr" indent="0" marL="0">
              <a:buNone/>
            </a:pPr>
            <a:r>
              <a:rPr lang="en-US" sz="1000" b="1" spc="120" kern="0" dirty="0">
                <a:solidFill>
                  <a:srgbClr val="FFFFFF"/>
                </a:solidFill>
                <a:latin typeface="Calibri" pitchFamily="34" charset="0"/>
                <a:ea typeface="Calibri" pitchFamily="34" charset="-122"/>
                <a:cs typeface="Calibri" pitchFamily="34" charset="-120"/>
              </a:rPr>
              <a:t>PLANNED · PAID</a:t>
            </a:r>
            <a:endParaRPr lang="en-US" sz="1000" dirty="0"/>
          </a:p>
        </p:txBody>
      </p:sp>
      <p:sp>
        <p:nvSpPr>
          <p:cNvPr id="6" name="Text 4"/>
          <p:cNvSpPr/>
          <p:nvPr/>
        </p:nvSpPr>
        <p:spPr>
          <a:xfrm>
            <a:off x="640080" y="1444752"/>
            <a:ext cx="8778240" cy="585216"/>
          </a:xfrm>
          <a:prstGeom prst="rect">
            <a:avLst/>
          </a:prstGeom>
          <a:noFill/>
          <a:ln/>
        </p:spPr>
        <p:txBody>
          <a:bodyPr wrap="square" lIns="0" tIns="0" rIns="0" bIns="0" rtlCol="0" anchor="ctr"/>
          <a:lstStyle/>
          <a:p>
            <a:pPr indent="0" marL="0">
              <a:lnSpc>
                <a:spcPts val="2100"/>
              </a:lnSpc>
              <a:buNone/>
            </a:pPr>
            <a:r>
              <a:rPr lang="en-US" sz="1600" i="1" dirty="0">
                <a:solidFill>
                  <a:srgbClr val="6C4FE0"/>
                </a:solidFill>
                <a:latin typeface="Cambria" pitchFamily="34" charset="0"/>
                <a:ea typeface="Cambria" pitchFamily="34" charset="-122"/>
                <a:cs typeface="Cambria" pitchFamily="34" charset="-120"/>
              </a:rPr>
              <a:t>The grandparent and the grandchild can hold a conversation.</a:t>
            </a:r>
            <a:endParaRPr lang="en-US" sz="1600" dirty="0"/>
          </a:p>
        </p:txBody>
      </p:sp>
      <p:sp>
        <p:nvSpPr>
          <p:cNvPr id="7" name="Shape 5"/>
          <p:cNvSpPr/>
          <p:nvPr/>
        </p:nvSpPr>
        <p:spPr>
          <a:xfrm rot="5400000">
            <a:off x="640080" y="2103120"/>
            <a:ext cx="457200" cy="457200"/>
          </a:xfrm>
          <a:prstGeom prst="hexagon">
            <a:avLst/>
          </a:prstGeom>
          <a:solidFill>
            <a:srgbClr val="6C4FE0"/>
          </a:solidFill>
          <a:ln/>
        </p:spPr>
      </p:sp>
      <p:sp>
        <p:nvSpPr>
          <p:cNvPr id="8" name="Text 6"/>
          <p:cNvSpPr/>
          <p:nvPr/>
        </p:nvSpPr>
        <p:spPr>
          <a:xfrm>
            <a:off x="640080" y="2103120"/>
            <a:ext cx="457200" cy="45720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WHY</a:t>
            </a:r>
            <a:endParaRPr lang="en-US" sz="850" dirty="0"/>
          </a:p>
        </p:txBody>
      </p:sp>
      <p:sp>
        <p:nvSpPr>
          <p:cNvPr id="9" name="Text 7"/>
          <p:cNvSpPr/>
          <p:nvPr/>
        </p:nvSpPr>
        <p:spPr>
          <a:xfrm>
            <a:off x="1261872" y="2084832"/>
            <a:ext cx="4114800" cy="1280160"/>
          </a:xfrm>
          <a:prstGeom prst="rect">
            <a:avLst/>
          </a:prstGeom>
          <a:noFill/>
          <a:ln/>
        </p:spPr>
        <p:txBody>
          <a:bodyPr wrap="square" lIns="0" tIns="0" rIns="0" bIns="0" rtlCol="0" anchor="ctr"/>
          <a:lstStyle/>
          <a:p>
            <a:pPr indent="0" marL="0">
              <a:lnSpc>
                <a:spcPts val="1550"/>
              </a:lnSpc>
              <a:buNone/>
            </a:pPr>
            <a:r>
              <a:rPr lang="en-US" sz="1150" dirty="0">
                <a:solidFill>
                  <a:srgbClr val="4A4360"/>
                </a:solidFill>
                <a:latin typeface="Calibri" pitchFamily="34" charset="0"/>
                <a:ea typeface="Calibri" pitchFamily="34" charset="-122"/>
                <a:cs typeface="Calibri" pitchFamily="34" charset="-120"/>
              </a:rPr>
              <a:t>The deepest emotional driver in this market, and the only category where the diaspora is the entire market rather than a slice of it. Parents fear a child losing the family, not a school place.</a:t>
            </a:r>
            <a:endParaRPr lang="en-US" sz="1150" dirty="0"/>
          </a:p>
        </p:txBody>
      </p:sp>
      <p:sp>
        <p:nvSpPr>
          <p:cNvPr id="10" name="Shape 8"/>
          <p:cNvSpPr/>
          <p:nvPr/>
        </p:nvSpPr>
        <p:spPr>
          <a:xfrm rot="5400000">
            <a:off x="640080" y="3493008"/>
            <a:ext cx="457200" cy="457200"/>
          </a:xfrm>
          <a:prstGeom prst="hexagon">
            <a:avLst/>
          </a:prstGeom>
          <a:solidFill>
            <a:srgbClr val="F0B429"/>
          </a:solidFill>
          <a:ln/>
        </p:spPr>
      </p:sp>
      <p:sp>
        <p:nvSpPr>
          <p:cNvPr id="11" name="Text 9"/>
          <p:cNvSpPr/>
          <p:nvPr/>
        </p:nvSpPr>
        <p:spPr>
          <a:xfrm>
            <a:off x="640080" y="3493008"/>
            <a:ext cx="457200" cy="457200"/>
          </a:xfrm>
          <a:prstGeom prst="rect">
            <a:avLst/>
          </a:prstGeom>
          <a:noFill/>
          <a:ln/>
        </p:spPr>
        <p:txBody>
          <a:bodyPr wrap="square" lIns="0" tIns="0" rIns="0" bIns="0" rtlCol="0" anchor="ctr"/>
          <a:lstStyle/>
          <a:p>
            <a:pPr algn="ctr" indent="0" marL="0">
              <a:buNone/>
            </a:pPr>
            <a:r>
              <a:rPr lang="en-US" sz="850" b="1" dirty="0">
                <a:solidFill>
                  <a:srgbClr val="241E33"/>
                </a:solidFill>
                <a:latin typeface="Calibri" pitchFamily="34" charset="0"/>
                <a:ea typeface="Calibri" pitchFamily="34" charset="-122"/>
                <a:cs typeface="Calibri" pitchFamily="34" charset="-120"/>
              </a:rPr>
              <a:t>WHAT</a:t>
            </a:r>
            <a:endParaRPr lang="en-US" sz="850" dirty="0"/>
          </a:p>
        </p:txBody>
      </p:sp>
      <p:sp>
        <p:nvSpPr>
          <p:cNvPr id="12" name="Text 10"/>
          <p:cNvSpPr/>
          <p:nvPr/>
        </p:nvSpPr>
        <p:spPr>
          <a:xfrm>
            <a:off x="1261872" y="3474720"/>
            <a:ext cx="4114800" cy="1280160"/>
          </a:xfrm>
          <a:prstGeom prst="rect">
            <a:avLst/>
          </a:prstGeom>
          <a:noFill/>
          <a:ln/>
        </p:spPr>
        <p:txBody>
          <a:bodyPr wrap="square" lIns="0" tIns="0" rIns="0" bIns="0" rtlCol="0" anchor="ctr"/>
          <a:lstStyle/>
          <a:p>
            <a:pPr indent="0" marL="0">
              <a:lnSpc>
                <a:spcPts val="1550"/>
              </a:lnSpc>
              <a:buNone/>
            </a:pPr>
            <a:r>
              <a:rPr lang="en-US" sz="1150" dirty="0">
                <a:solidFill>
                  <a:srgbClr val="4A4360"/>
                </a:solidFill>
                <a:latin typeface="Calibri" pitchFamily="34" charset="0"/>
                <a:ea typeface="Calibri" pitchFamily="34" charset="-122"/>
                <a:cs typeface="Calibri" pitchFamily="34" charset="-120"/>
              </a:rPr>
              <a:t>Hindi first, then Tamil and Telugu. Script, vocabulary, listening and reading — sold as packs inside the free Bizzing India hook.</a:t>
            </a:r>
            <a:endParaRPr lang="en-US" sz="1150" dirty="0"/>
          </a:p>
        </p:txBody>
      </p:sp>
      <p:sp>
        <p:nvSpPr>
          <p:cNvPr id="13" name="Shape 11"/>
          <p:cNvSpPr/>
          <p:nvPr/>
        </p:nvSpPr>
        <p:spPr>
          <a:xfrm rot="5400000">
            <a:off x="640080" y="4882896"/>
            <a:ext cx="457200" cy="457200"/>
          </a:xfrm>
          <a:prstGeom prst="hexagon">
            <a:avLst/>
          </a:prstGeom>
          <a:solidFill>
            <a:srgbClr val="6C4FE0"/>
          </a:solidFill>
          <a:ln/>
        </p:spPr>
      </p:sp>
      <p:sp>
        <p:nvSpPr>
          <p:cNvPr id="14" name="Text 12"/>
          <p:cNvSpPr/>
          <p:nvPr/>
        </p:nvSpPr>
        <p:spPr>
          <a:xfrm>
            <a:off x="640080" y="4882896"/>
            <a:ext cx="457200" cy="45720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HOW</a:t>
            </a:r>
            <a:endParaRPr lang="en-US" sz="850" dirty="0"/>
          </a:p>
        </p:txBody>
      </p:sp>
      <p:sp>
        <p:nvSpPr>
          <p:cNvPr id="15" name="Text 13"/>
          <p:cNvSpPr/>
          <p:nvPr/>
        </p:nvSpPr>
        <p:spPr>
          <a:xfrm>
            <a:off x="1261872" y="4864608"/>
            <a:ext cx="4114800" cy="1280160"/>
          </a:xfrm>
          <a:prstGeom prst="rect">
            <a:avLst/>
          </a:prstGeom>
          <a:noFill/>
          <a:ln/>
        </p:spPr>
        <p:txBody>
          <a:bodyPr wrap="square" lIns="0" tIns="0" rIns="0" bIns="0" rtlCol="0" anchor="ctr"/>
          <a:lstStyle/>
          <a:p>
            <a:pPr indent="0" marL="0">
              <a:lnSpc>
                <a:spcPts val="1550"/>
              </a:lnSpc>
              <a:buNone/>
            </a:pPr>
            <a:r>
              <a:rPr lang="en-US" sz="1150" dirty="0">
                <a:solidFill>
                  <a:srgbClr val="4A4360"/>
                </a:solidFill>
                <a:latin typeface="Calibri" pitchFamily="34" charset="0"/>
                <a:ea typeface="Calibri" pitchFamily="34" charset="-122"/>
                <a:cs typeface="Calibri" pitchFamily="34" charset="-120"/>
              </a:rPr>
              <a:t>The Google TTS pipeline that voiced 128k English words does the expensive part again in another language.</a:t>
            </a:r>
            <a:endParaRPr lang="en-US" sz="1150" dirty="0"/>
          </a:p>
        </p:txBody>
      </p:sp>
      <p:sp>
        <p:nvSpPr>
          <p:cNvPr id="16" name="Shape 14"/>
          <p:cNvSpPr/>
          <p:nvPr/>
        </p:nvSpPr>
        <p:spPr>
          <a:xfrm>
            <a:off x="5577840" y="2048256"/>
            <a:ext cx="5669280" cy="2103120"/>
          </a:xfrm>
          <a:prstGeom prst="roundRect">
            <a:avLst>
              <a:gd name="adj" fmla="val 6087"/>
            </a:avLst>
          </a:prstGeom>
          <a:solidFill>
            <a:srgbClr val="E8F4EC"/>
          </a:solidFill>
          <a:ln/>
          <a:effectLst>
            <a:outerShdw sx="100000" sy="100000" kx="0" ky="0" algn="bl" rotWithShape="0" blurRad="127000" dist="25400" dir="5400000">
              <a:srgbClr val="241E33">
                <a:alpha val="10000"/>
              </a:srgbClr>
            </a:outerShdw>
          </a:effectLst>
        </p:spPr>
      </p:sp>
      <p:sp>
        <p:nvSpPr>
          <p:cNvPr id="17" name="Text 15"/>
          <p:cNvSpPr/>
          <p:nvPr/>
        </p:nvSpPr>
        <p:spPr>
          <a:xfrm>
            <a:off x="5870448" y="2194560"/>
            <a:ext cx="5120640" cy="256032"/>
          </a:xfrm>
          <a:prstGeom prst="rect">
            <a:avLst/>
          </a:prstGeom>
          <a:noFill/>
          <a:ln/>
        </p:spPr>
        <p:txBody>
          <a:bodyPr wrap="square" lIns="0" tIns="0" rIns="0" bIns="0" rtlCol="0" anchor="ctr"/>
          <a:lstStyle/>
          <a:p>
            <a:pPr indent="0" marL="0">
              <a:buNone/>
            </a:pPr>
            <a:r>
              <a:rPr lang="en-US" sz="900" b="1" spc="180" kern="0" dirty="0">
                <a:solidFill>
                  <a:srgbClr val="178A4C"/>
                </a:solidFill>
                <a:latin typeface="Calibri" pitchFamily="34" charset="0"/>
                <a:ea typeface="Calibri" pitchFamily="34" charset="-122"/>
                <a:cs typeface="Calibri" pitchFamily="34" charset="-120"/>
              </a:rPr>
              <a:t>WHAT ITS EDGE WOULD BE</a:t>
            </a:r>
            <a:endParaRPr lang="en-US" sz="900" dirty="0"/>
          </a:p>
        </p:txBody>
      </p:sp>
      <p:sp>
        <p:nvSpPr>
          <p:cNvPr id="18" name="Text 16"/>
          <p:cNvSpPr/>
          <p:nvPr/>
        </p:nvSpPr>
        <p:spPr>
          <a:xfrm>
            <a:off x="5907024" y="2487168"/>
            <a:ext cx="5074920" cy="1554480"/>
          </a:xfrm>
          <a:prstGeom prst="rect">
            <a:avLst/>
          </a:prstGeom>
          <a:noFill/>
          <a:ln/>
        </p:spPr>
        <p:txBody>
          <a:bodyPr wrap="square" lIns="0" tIns="0" rIns="0" bIns="0" rtlCol="0" anchor="ctr"/>
          <a:lstStyle/>
          <a:p>
            <a:pPr marL="342900" indent="-342900">
              <a:lnSpc>
                <a:spcPts val="1400"/>
              </a:lnSpc>
              <a:spcAft>
                <a:spcPts val="600"/>
              </a:spcAft>
              <a:buSzPct val="100000"/>
              <a:buChar char="•"/>
            </a:pPr>
            <a:r>
              <a:rPr lang="en-US" sz="1050" dirty="0">
                <a:solidFill>
                  <a:srgbClr val="1F4A33"/>
                </a:solidFill>
                <a:latin typeface="Calibri" pitchFamily="34" charset="0"/>
                <a:ea typeface="Calibri" pitchFamily="34" charset="-122"/>
                <a:cs typeface="Calibri" pitchFamily="34" charset="-120"/>
              </a:rPr>
              <a:t>Nobody serious is aiming at diaspora heritage language with a real product — the field is Saturday schools and PDF worksheets.</a:t>
            </a:r>
            <a:endParaRPr lang="en-US" sz="1050" dirty="0"/>
          </a:p>
          <a:p>
            <a:pPr marL="342900" indent="-342900">
              <a:lnSpc>
                <a:spcPts val="1400"/>
              </a:lnSpc>
              <a:spcAft>
                <a:spcPts val="600"/>
              </a:spcAft>
              <a:buSzPct val="100000"/>
              <a:buChar char="•"/>
            </a:pPr>
            <a:r>
              <a:rPr lang="en-US" sz="1050" dirty="0">
                <a:solidFill>
                  <a:srgbClr val="1F4A33"/>
                </a:solidFill>
                <a:latin typeface="Calibri" pitchFamily="34" charset="0"/>
                <a:ea typeface="Calibri" pitchFamily="34" charset="-122"/>
                <a:cs typeface="Calibri" pitchFamily="34" charset="-120"/>
              </a:rPr>
              <a:t>One brand across many Indian languages, rather than a separate app per language.</a:t>
            </a:r>
            <a:endParaRPr lang="en-US" sz="1050" dirty="0"/>
          </a:p>
        </p:txBody>
      </p:sp>
      <p:sp>
        <p:nvSpPr>
          <p:cNvPr id="19" name="Shape 17"/>
          <p:cNvSpPr/>
          <p:nvPr/>
        </p:nvSpPr>
        <p:spPr>
          <a:xfrm>
            <a:off x="5577840" y="4315968"/>
            <a:ext cx="5669280" cy="2103120"/>
          </a:xfrm>
          <a:prstGeom prst="roundRect">
            <a:avLst>
              <a:gd name="adj" fmla="val 6087"/>
            </a:avLst>
          </a:prstGeom>
          <a:solidFill>
            <a:srgbClr val="FBF3E0"/>
          </a:solidFill>
          <a:ln/>
          <a:effectLst>
            <a:outerShdw sx="100000" sy="100000" kx="0" ky="0" algn="bl" rotWithShape="0" blurRad="127000" dist="25400" dir="5400000">
              <a:srgbClr val="241E33">
                <a:alpha val="10000"/>
              </a:srgbClr>
            </a:outerShdw>
          </a:effectLst>
        </p:spPr>
      </p:sp>
      <p:sp>
        <p:nvSpPr>
          <p:cNvPr id="20" name="Text 18"/>
          <p:cNvSpPr/>
          <p:nvPr/>
        </p:nvSpPr>
        <p:spPr>
          <a:xfrm>
            <a:off x="5870448" y="4462272"/>
            <a:ext cx="5120640" cy="256032"/>
          </a:xfrm>
          <a:prstGeom prst="rect">
            <a:avLst/>
          </a:prstGeom>
          <a:noFill/>
          <a:ln/>
        </p:spPr>
        <p:txBody>
          <a:bodyPr wrap="square" lIns="0" tIns="0" rIns="0" bIns="0" rtlCol="0" anchor="ctr"/>
          <a:lstStyle/>
          <a:p>
            <a:pPr indent="0" marL="0">
              <a:buNone/>
            </a:pPr>
            <a:r>
              <a:rPr lang="en-US" sz="900" b="1" spc="180" kern="0" dirty="0">
                <a:solidFill>
                  <a:srgbClr val="8A5B00"/>
                </a:solidFill>
                <a:latin typeface="Calibri" pitchFamily="34" charset="0"/>
                <a:ea typeface="Calibri" pitchFamily="34" charset="-122"/>
                <a:cs typeface="Calibri" pitchFamily="34" charset="-120"/>
              </a:rPr>
              <a:t>WHAT STILL HAS TO BE BUILT</a:t>
            </a:r>
            <a:endParaRPr lang="en-US" sz="900" dirty="0"/>
          </a:p>
        </p:txBody>
      </p:sp>
      <p:sp>
        <p:nvSpPr>
          <p:cNvPr id="21" name="Text 19"/>
          <p:cNvSpPr/>
          <p:nvPr/>
        </p:nvSpPr>
        <p:spPr>
          <a:xfrm>
            <a:off x="5907024" y="4754880"/>
            <a:ext cx="5074920" cy="1554480"/>
          </a:xfrm>
          <a:prstGeom prst="rect">
            <a:avLst/>
          </a:prstGeom>
          <a:noFill/>
          <a:ln/>
        </p:spPr>
        <p:txBody>
          <a:bodyPr wrap="square" lIns="0" tIns="0" rIns="0" bIns="0" rtlCol="0" anchor="ctr"/>
          <a:lstStyle/>
          <a:p>
            <a:pPr marL="342900" indent="-342900">
              <a:lnSpc>
                <a:spcPts val="1400"/>
              </a:lnSpc>
              <a:spcAft>
                <a:spcPts val="600"/>
              </a:spcAft>
              <a:buSzPct val="100000"/>
              <a:buChar char="•"/>
            </a:pPr>
            <a:r>
              <a:rPr lang="en-US" sz="1050" dirty="0">
                <a:solidFill>
                  <a:srgbClr val="8A5B00"/>
                </a:solidFill>
                <a:latin typeface="Calibri" pitchFamily="34" charset="0"/>
                <a:ea typeface="Calibri" pitchFamily="34" charset="-122"/>
                <a:cs typeface="Calibri" pitchFamily="34" charset="-120"/>
              </a:rPr>
              <a:t>A per-language content build — this is the real cost, and it repeats per language</a:t>
            </a:r>
            <a:endParaRPr lang="en-US" sz="1050" dirty="0"/>
          </a:p>
          <a:p>
            <a:pPr marL="342900" indent="-342900">
              <a:lnSpc>
                <a:spcPts val="1400"/>
              </a:lnSpc>
              <a:spcAft>
                <a:spcPts val="600"/>
              </a:spcAft>
              <a:buSzPct val="100000"/>
              <a:buChar char="•"/>
            </a:pPr>
            <a:r>
              <a:rPr lang="en-US" sz="1050" dirty="0">
                <a:solidFill>
                  <a:srgbClr val="8A5B00"/>
                </a:solidFill>
                <a:latin typeface="Calibri" pitchFamily="34" charset="0"/>
                <a:ea typeface="Calibri" pitchFamily="34" charset="-122"/>
                <a:cs typeface="Calibri" pitchFamily="34" charset="-120"/>
              </a:rPr>
              <a:t>Non-Latin script rendering and input, which the app has never done</a:t>
            </a:r>
            <a:endParaRPr lang="en-US" sz="1050" dirty="0"/>
          </a:p>
          <a:p>
            <a:pPr marL="342900" indent="-342900">
              <a:lnSpc>
                <a:spcPts val="1400"/>
              </a:lnSpc>
              <a:spcAft>
                <a:spcPts val="600"/>
              </a:spcAft>
              <a:buSzPct val="100000"/>
              <a:buChar char="•"/>
            </a:pPr>
            <a:r>
              <a:rPr lang="en-US" sz="1050" dirty="0">
                <a:solidFill>
                  <a:srgbClr val="8A5B00"/>
                </a:solidFill>
                <a:latin typeface="Calibri" pitchFamily="34" charset="0"/>
                <a:ea typeface="Calibri" pitchFamily="34" charset="-122"/>
                <a:cs typeface="Calibri" pitchFamily="34" charset="-120"/>
              </a:rPr>
              <a:t>A decision on which language ships second, on family demand rather than speaker counts</a:t>
            </a:r>
            <a:endParaRPr lang="en-US" sz="1050" dirty="0"/>
          </a:p>
        </p:txBody>
      </p:sp>
      <p:sp>
        <p:nvSpPr>
          <p:cNvPr id="22" name="Text 20"/>
          <p:cNvSpPr/>
          <p:nvPr/>
        </p:nvSpPr>
        <p:spPr>
          <a:xfrm>
            <a:off x="640080" y="6272784"/>
            <a:ext cx="4846320" cy="310896"/>
          </a:xfrm>
          <a:prstGeom prst="rect">
            <a:avLst/>
          </a:prstGeom>
          <a:noFill/>
          <a:ln/>
        </p:spPr>
        <p:txBody>
          <a:bodyPr wrap="square" lIns="0" tIns="0" rIns="0" bIns="0" rtlCol="0" anchor="ctr"/>
          <a:lstStyle/>
          <a:p>
            <a:pPr indent="0" marL="0">
              <a:buNone/>
            </a:pPr>
            <a:r>
              <a:rPr lang="en-US" sz="1050" b="1" dirty="0">
                <a:solidFill>
                  <a:srgbClr val="7A7291"/>
                </a:solidFill>
                <a:latin typeface="Calibri" pitchFamily="34" charset="0"/>
                <a:ea typeface="Calibri" pitchFamily="34" charset="-122"/>
                <a:cs typeface="Calibri" pitchFamily="34" charset="-120"/>
              </a:rPr>
              <a:t>Ages 5–16</a:t>
            </a:r>
            <a:pPr indent="0" marL="0">
              <a:buNone/>
            </a:pPr>
            <a:r>
              <a:rPr lang="en-US" sz="1050" dirty="0">
                <a:solidFill>
                  <a:srgbClr val="7A7291"/>
                </a:solidFill>
                <a:latin typeface="Calibri" pitchFamily="34" charset="0"/>
                <a:ea typeface="Calibri" pitchFamily="34" charset="-122"/>
                <a:cs typeface="Calibri" pitchFamily="34" charset="-120"/>
              </a:rPr>
              <a:t>   ·   engine reuse: </a:t>
            </a:r>
            <a:pPr indent="0" marL="0">
              <a:buNone/>
            </a:pPr>
            <a:r>
              <a:rPr lang="en-US" sz="1050" b="1" dirty="0">
                <a:solidFill>
                  <a:srgbClr val="7A7291"/>
                </a:solidFill>
                <a:latin typeface="Calibri" pitchFamily="34" charset="0"/>
                <a:ea typeface="Calibri" pitchFamily="34" charset="-122"/>
                <a:cs typeface="Calibri" pitchFamily="34" charset="-120"/>
              </a:rPr>
              <a:t>Audio pipeline, drills</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PRODUCT 4 OF 8</a:t>
            </a:r>
            <a:endParaRPr lang="en-US" sz="1150" dirty="0"/>
          </a:p>
        </p:txBody>
      </p:sp>
      <p:sp>
        <p:nvSpPr>
          <p:cNvPr id="3" name="Text 1"/>
          <p:cNvSpPr/>
          <p:nvPr/>
        </p:nvSpPr>
        <p:spPr>
          <a:xfrm>
            <a:off x="640080" y="694944"/>
            <a:ext cx="78638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Bizzing Eleven</a:t>
            </a:r>
            <a:endParaRPr lang="en-US" sz="2900" dirty="0"/>
          </a:p>
        </p:txBody>
      </p:sp>
      <p:sp>
        <p:nvSpPr>
          <p:cNvPr id="4" name="Shape 2"/>
          <p:cNvSpPr/>
          <p:nvPr/>
        </p:nvSpPr>
        <p:spPr>
          <a:xfrm>
            <a:off x="8732520" y="749808"/>
            <a:ext cx="2514600" cy="384048"/>
          </a:xfrm>
          <a:prstGeom prst="roundRect">
            <a:avLst>
              <a:gd name="adj" fmla="val 50000"/>
            </a:avLst>
          </a:prstGeom>
          <a:solidFill>
            <a:srgbClr val="6C4FE0"/>
          </a:solidFill>
          <a:ln/>
        </p:spPr>
      </p:sp>
      <p:sp>
        <p:nvSpPr>
          <p:cNvPr id="5" name="Text 3"/>
          <p:cNvSpPr/>
          <p:nvPr/>
        </p:nvSpPr>
        <p:spPr>
          <a:xfrm>
            <a:off x="8732520" y="749808"/>
            <a:ext cx="2514600" cy="384048"/>
          </a:xfrm>
          <a:prstGeom prst="rect">
            <a:avLst/>
          </a:prstGeom>
          <a:noFill/>
          <a:ln/>
        </p:spPr>
        <p:txBody>
          <a:bodyPr wrap="square" lIns="0" tIns="0" rIns="0" bIns="0" rtlCol="0" anchor="ctr"/>
          <a:lstStyle/>
          <a:p>
            <a:pPr algn="ctr" indent="0" marL="0">
              <a:buNone/>
            </a:pPr>
            <a:r>
              <a:rPr lang="en-US" sz="1000" b="1" spc="120" kern="0" dirty="0">
                <a:solidFill>
                  <a:srgbClr val="FFFFFF"/>
                </a:solidFill>
                <a:latin typeface="Calibri" pitchFamily="34" charset="0"/>
                <a:ea typeface="Calibri" pitchFamily="34" charset="-122"/>
                <a:cs typeface="Calibri" pitchFamily="34" charset="-120"/>
              </a:rPr>
              <a:t>NEXT</a:t>
            </a:r>
            <a:endParaRPr lang="en-US" sz="1000" dirty="0"/>
          </a:p>
        </p:txBody>
      </p:sp>
      <p:sp>
        <p:nvSpPr>
          <p:cNvPr id="6" name="Text 4"/>
          <p:cNvSpPr/>
          <p:nvPr/>
        </p:nvSpPr>
        <p:spPr>
          <a:xfrm>
            <a:off x="640080" y="1444752"/>
            <a:ext cx="8778240" cy="585216"/>
          </a:xfrm>
          <a:prstGeom prst="rect">
            <a:avLst/>
          </a:prstGeom>
          <a:noFill/>
          <a:ln/>
        </p:spPr>
        <p:txBody>
          <a:bodyPr wrap="square" lIns="0" tIns="0" rIns="0" bIns="0" rtlCol="0" anchor="ctr"/>
          <a:lstStyle/>
          <a:p>
            <a:pPr indent="0" marL="0">
              <a:lnSpc>
                <a:spcPts val="2100"/>
              </a:lnSpc>
              <a:buNone/>
            </a:pPr>
            <a:r>
              <a:rPr lang="en-US" sz="1600" i="1" dirty="0">
                <a:solidFill>
                  <a:srgbClr val="6C4FE0"/>
                </a:solidFill>
                <a:latin typeface="Cambria" pitchFamily="34" charset="0"/>
                <a:ea typeface="Cambria" pitchFamily="34" charset="-122"/>
                <a:cs typeface="Cambria" pitchFamily="34" charset="-120"/>
              </a:rPr>
              <a:t>The 11+ verbal paper stops being a mystery a family has to buy tutoring to solve.</a:t>
            </a:r>
            <a:endParaRPr lang="en-US" sz="1600" dirty="0"/>
          </a:p>
        </p:txBody>
      </p:sp>
      <p:sp>
        <p:nvSpPr>
          <p:cNvPr id="7" name="Shape 5"/>
          <p:cNvSpPr/>
          <p:nvPr/>
        </p:nvSpPr>
        <p:spPr>
          <a:xfrm rot="5400000">
            <a:off x="640080" y="2103120"/>
            <a:ext cx="457200" cy="457200"/>
          </a:xfrm>
          <a:prstGeom prst="hexagon">
            <a:avLst/>
          </a:prstGeom>
          <a:solidFill>
            <a:srgbClr val="6C4FE0"/>
          </a:solidFill>
          <a:ln/>
        </p:spPr>
      </p:sp>
      <p:sp>
        <p:nvSpPr>
          <p:cNvPr id="8" name="Text 6"/>
          <p:cNvSpPr/>
          <p:nvPr/>
        </p:nvSpPr>
        <p:spPr>
          <a:xfrm>
            <a:off x="640080" y="2103120"/>
            <a:ext cx="457200" cy="45720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WHY</a:t>
            </a:r>
            <a:endParaRPr lang="en-US" sz="850" dirty="0"/>
          </a:p>
        </p:txBody>
      </p:sp>
      <p:sp>
        <p:nvSpPr>
          <p:cNvPr id="9" name="Text 7"/>
          <p:cNvSpPr/>
          <p:nvPr/>
        </p:nvSpPr>
        <p:spPr>
          <a:xfrm>
            <a:off x="1261872" y="2084832"/>
            <a:ext cx="4114800" cy="1280160"/>
          </a:xfrm>
          <a:prstGeom prst="rect">
            <a:avLst/>
          </a:prstGeom>
          <a:noFill/>
          <a:ln/>
        </p:spPr>
        <p:txBody>
          <a:bodyPr wrap="square" lIns="0" tIns="0" rIns="0" bIns="0" rtlCol="0" anchor="ctr"/>
          <a:lstStyle/>
          <a:p>
            <a:pPr indent="0" marL="0">
              <a:lnSpc>
                <a:spcPts val="1550"/>
              </a:lnSpc>
              <a:buNone/>
            </a:pPr>
            <a:r>
              <a:rPr lang="en-US" sz="1150" dirty="0">
                <a:solidFill>
                  <a:srgbClr val="4A4360"/>
                </a:solidFill>
                <a:latin typeface="Calibri" pitchFamily="34" charset="0"/>
                <a:ea typeface="Calibri" pitchFamily="34" charset="-122"/>
                <a:cs typeface="Calibri" pitchFamily="34" charset="-120"/>
              </a:rPr>
              <a:t>British Indian families spend heavily and start at eight. The incumbents are photocopied workbooks and past papers with no feedback loop.</a:t>
            </a:r>
            <a:endParaRPr lang="en-US" sz="1150" dirty="0"/>
          </a:p>
        </p:txBody>
      </p:sp>
      <p:sp>
        <p:nvSpPr>
          <p:cNvPr id="10" name="Shape 8"/>
          <p:cNvSpPr/>
          <p:nvPr/>
        </p:nvSpPr>
        <p:spPr>
          <a:xfrm rot="5400000">
            <a:off x="640080" y="3493008"/>
            <a:ext cx="457200" cy="457200"/>
          </a:xfrm>
          <a:prstGeom prst="hexagon">
            <a:avLst/>
          </a:prstGeom>
          <a:solidFill>
            <a:srgbClr val="F0B429"/>
          </a:solidFill>
          <a:ln/>
        </p:spPr>
      </p:sp>
      <p:sp>
        <p:nvSpPr>
          <p:cNvPr id="11" name="Text 9"/>
          <p:cNvSpPr/>
          <p:nvPr/>
        </p:nvSpPr>
        <p:spPr>
          <a:xfrm>
            <a:off x="640080" y="3493008"/>
            <a:ext cx="457200" cy="457200"/>
          </a:xfrm>
          <a:prstGeom prst="rect">
            <a:avLst/>
          </a:prstGeom>
          <a:noFill/>
          <a:ln/>
        </p:spPr>
        <p:txBody>
          <a:bodyPr wrap="square" lIns="0" tIns="0" rIns="0" bIns="0" rtlCol="0" anchor="ctr"/>
          <a:lstStyle/>
          <a:p>
            <a:pPr algn="ctr" indent="0" marL="0">
              <a:buNone/>
            </a:pPr>
            <a:r>
              <a:rPr lang="en-US" sz="850" b="1" dirty="0">
                <a:solidFill>
                  <a:srgbClr val="241E33"/>
                </a:solidFill>
                <a:latin typeface="Calibri" pitchFamily="34" charset="0"/>
                <a:ea typeface="Calibri" pitchFamily="34" charset="-122"/>
                <a:cs typeface="Calibri" pitchFamily="34" charset="-120"/>
              </a:rPr>
              <a:t>WHAT</a:t>
            </a:r>
            <a:endParaRPr lang="en-US" sz="850" dirty="0"/>
          </a:p>
        </p:txBody>
      </p:sp>
      <p:sp>
        <p:nvSpPr>
          <p:cNvPr id="12" name="Text 10"/>
          <p:cNvSpPr/>
          <p:nvPr/>
        </p:nvSpPr>
        <p:spPr>
          <a:xfrm>
            <a:off x="1261872" y="3474720"/>
            <a:ext cx="4114800" cy="1280160"/>
          </a:xfrm>
          <a:prstGeom prst="rect">
            <a:avLst/>
          </a:prstGeom>
          <a:noFill/>
          <a:ln/>
        </p:spPr>
        <p:txBody>
          <a:bodyPr wrap="square" lIns="0" tIns="0" rIns="0" bIns="0" rtlCol="0" anchor="ctr"/>
          <a:lstStyle/>
          <a:p>
            <a:pPr indent="0" marL="0">
              <a:lnSpc>
                <a:spcPts val="1550"/>
              </a:lnSpc>
              <a:buNone/>
            </a:pPr>
            <a:r>
              <a:rPr lang="en-US" sz="1150" dirty="0">
                <a:solidFill>
                  <a:srgbClr val="4A4360"/>
                </a:solidFill>
                <a:latin typeface="Calibri" pitchFamily="34" charset="0"/>
                <a:ea typeface="Calibri" pitchFamily="34" charset="-122"/>
                <a:cs typeface="Calibri" pitchFamily="34" charset="-120"/>
              </a:rPr>
              <a:t>Synonyms, antonyms, homophones, odd-one-out, word codes, letter manipulation and comprehension vocabulary — the verbal paper, drilled.</a:t>
            </a:r>
            <a:endParaRPr lang="en-US" sz="1150" dirty="0"/>
          </a:p>
        </p:txBody>
      </p:sp>
      <p:sp>
        <p:nvSpPr>
          <p:cNvPr id="13" name="Shape 11"/>
          <p:cNvSpPr/>
          <p:nvPr/>
        </p:nvSpPr>
        <p:spPr>
          <a:xfrm rot="5400000">
            <a:off x="640080" y="4882896"/>
            <a:ext cx="457200" cy="457200"/>
          </a:xfrm>
          <a:prstGeom prst="hexagon">
            <a:avLst/>
          </a:prstGeom>
          <a:solidFill>
            <a:srgbClr val="6C4FE0"/>
          </a:solidFill>
          <a:ln/>
        </p:spPr>
      </p:sp>
      <p:sp>
        <p:nvSpPr>
          <p:cNvPr id="14" name="Text 12"/>
          <p:cNvSpPr/>
          <p:nvPr/>
        </p:nvSpPr>
        <p:spPr>
          <a:xfrm>
            <a:off x="640080" y="4882896"/>
            <a:ext cx="457200" cy="45720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HOW</a:t>
            </a:r>
            <a:endParaRPr lang="en-US" sz="850" dirty="0"/>
          </a:p>
        </p:txBody>
      </p:sp>
      <p:sp>
        <p:nvSpPr>
          <p:cNvPr id="15" name="Text 13"/>
          <p:cNvSpPr/>
          <p:nvPr/>
        </p:nvSpPr>
        <p:spPr>
          <a:xfrm>
            <a:off x="1261872" y="4864608"/>
            <a:ext cx="4114800" cy="1280160"/>
          </a:xfrm>
          <a:prstGeom prst="rect">
            <a:avLst/>
          </a:prstGeom>
          <a:noFill/>
          <a:ln/>
        </p:spPr>
        <p:txBody>
          <a:bodyPr wrap="square" lIns="0" tIns="0" rIns="0" bIns="0" rtlCol="0" anchor="ctr"/>
          <a:lstStyle/>
          <a:p>
            <a:pPr indent="0" marL="0">
              <a:lnSpc>
                <a:spcPts val="1550"/>
              </a:lnSpc>
              <a:buNone/>
            </a:pPr>
            <a:r>
              <a:rPr lang="en-US" sz="1150" dirty="0">
                <a:solidFill>
                  <a:srgbClr val="4A4360"/>
                </a:solidFill>
                <a:latin typeface="Calibri" pitchFamily="34" charset="0"/>
                <a:ea typeface="Calibri" pitchFamily="34" charset="-122"/>
                <a:cs typeface="Calibri" pitchFamily="34" charset="-120"/>
              </a:rPr>
              <a:t>Closer to a re-skin than a new product. The homophone groups, diacritics, alternate pronunciations and the 128k library already exist.</a:t>
            </a:r>
            <a:endParaRPr lang="en-US" sz="1150" dirty="0"/>
          </a:p>
        </p:txBody>
      </p:sp>
      <p:sp>
        <p:nvSpPr>
          <p:cNvPr id="16" name="Shape 14"/>
          <p:cNvSpPr/>
          <p:nvPr/>
        </p:nvSpPr>
        <p:spPr>
          <a:xfrm>
            <a:off x="5577840" y="2048256"/>
            <a:ext cx="5669280" cy="2103120"/>
          </a:xfrm>
          <a:prstGeom prst="roundRect">
            <a:avLst>
              <a:gd name="adj" fmla="val 6087"/>
            </a:avLst>
          </a:prstGeom>
          <a:solidFill>
            <a:srgbClr val="E8F4EC"/>
          </a:solidFill>
          <a:ln/>
          <a:effectLst>
            <a:outerShdw sx="100000" sy="100000" kx="0" ky="0" algn="bl" rotWithShape="0" blurRad="127000" dist="25400" dir="5400000">
              <a:srgbClr val="241E33">
                <a:alpha val="10000"/>
              </a:srgbClr>
            </a:outerShdw>
          </a:effectLst>
        </p:spPr>
      </p:sp>
      <p:sp>
        <p:nvSpPr>
          <p:cNvPr id="17" name="Text 15"/>
          <p:cNvSpPr/>
          <p:nvPr/>
        </p:nvSpPr>
        <p:spPr>
          <a:xfrm>
            <a:off x="5870448" y="2194560"/>
            <a:ext cx="5120640" cy="256032"/>
          </a:xfrm>
          <a:prstGeom prst="rect">
            <a:avLst/>
          </a:prstGeom>
          <a:noFill/>
          <a:ln/>
        </p:spPr>
        <p:txBody>
          <a:bodyPr wrap="square" lIns="0" tIns="0" rIns="0" bIns="0" rtlCol="0" anchor="ctr"/>
          <a:lstStyle/>
          <a:p>
            <a:pPr indent="0" marL="0">
              <a:buNone/>
            </a:pPr>
            <a:r>
              <a:rPr lang="en-US" sz="900" b="1" spc="180" kern="0" dirty="0">
                <a:solidFill>
                  <a:srgbClr val="178A4C"/>
                </a:solidFill>
                <a:latin typeface="Calibri" pitchFamily="34" charset="0"/>
                <a:ea typeface="Calibri" pitchFamily="34" charset="-122"/>
                <a:cs typeface="Calibri" pitchFamily="34" charset="-120"/>
              </a:rPr>
              <a:t>WHAT ITS EDGE WOULD BE</a:t>
            </a:r>
            <a:endParaRPr lang="en-US" sz="900" dirty="0"/>
          </a:p>
        </p:txBody>
      </p:sp>
      <p:sp>
        <p:nvSpPr>
          <p:cNvPr id="18" name="Text 16"/>
          <p:cNvSpPr/>
          <p:nvPr/>
        </p:nvSpPr>
        <p:spPr>
          <a:xfrm>
            <a:off x="5907024" y="2487168"/>
            <a:ext cx="5074920" cy="1554480"/>
          </a:xfrm>
          <a:prstGeom prst="rect">
            <a:avLst/>
          </a:prstGeom>
          <a:noFill/>
          <a:ln/>
        </p:spPr>
        <p:txBody>
          <a:bodyPr wrap="square" lIns="0" tIns="0" rIns="0" bIns="0" rtlCol="0" anchor="ctr"/>
          <a:lstStyle/>
          <a:p>
            <a:pPr marL="342900" indent="-342900">
              <a:lnSpc>
                <a:spcPts val="1400"/>
              </a:lnSpc>
              <a:spcAft>
                <a:spcPts val="600"/>
              </a:spcAft>
              <a:buSzPct val="100000"/>
              <a:buChar char="•"/>
            </a:pPr>
            <a:r>
              <a:rPr lang="en-US" sz="1050" dirty="0">
                <a:solidFill>
                  <a:srgbClr val="1F4A33"/>
                </a:solidFill>
                <a:latin typeface="Calibri" pitchFamily="34" charset="0"/>
                <a:ea typeface="Calibri" pitchFamily="34" charset="-122"/>
                <a:cs typeface="Calibri" pitchFamily="34" charset="-120"/>
              </a:rPr>
              <a:t>It would be the only 11+ verbal product where every word is spoken and difficulty adapts to the child rather than to the page number.</a:t>
            </a:r>
            <a:endParaRPr lang="en-US" sz="1050" dirty="0"/>
          </a:p>
        </p:txBody>
      </p:sp>
      <p:sp>
        <p:nvSpPr>
          <p:cNvPr id="19" name="Shape 17"/>
          <p:cNvSpPr/>
          <p:nvPr/>
        </p:nvSpPr>
        <p:spPr>
          <a:xfrm>
            <a:off x="5577840" y="4315968"/>
            <a:ext cx="5669280" cy="2103120"/>
          </a:xfrm>
          <a:prstGeom prst="roundRect">
            <a:avLst>
              <a:gd name="adj" fmla="val 6087"/>
            </a:avLst>
          </a:prstGeom>
          <a:solidFill>
            <a:srgbClr val="FBF3E0"/>
          </a:solidFill>
          <a:ln/>
          <a:effectLst>
            <a:outerShdw sx="100000" sy="100000" kx="0" ky="0" algn="bl" rotWithShape="0" blurRad="127000" dist="25400" dir="5400000">
              <a:srgbClr val="241E33">
                <a:alpha val="10000"/>
              </a:srgbClr>
            </a:outerShdw>
          </a:effectLst>
        </p:spPr>
      </p:sp>
      <p:sp>
        <p:nvSpPr>
          <p:cNvPr id="20" name="Text 18"/>
          <p:cNvSpPr/>
          <p:nvPr/>
        </p:nvSpPr>
        <p:spPr>
          <a:xfrm>
            <a:off x="5870448" y="4462272"/>
            <a:ext cx="5120640" cy="256032"/>
          </a:xfrm>
          <a:prstGeom prst="rect">
            <a:avLst/>
          </a:prstGeom>
          <a:noFill/>
          <a:ln/>
        </p:spPr>
        <p:txBody>
          <a:bodyPr wrap="square" lIns="0" tIns="0" rIns="0" bIns="0" rtlCol="0" anchor="ctr"/>
          <a:lstStyle/>
          <a:p>
            <a:pPr indent="0" marL="0">
              <a:buNone/>
            </a:pPr>
            <a:r>
              <a:rPr lang="en-US" sz="900" b="1" spc="180" kern="0" dirty="0">
                <a:solidFill>
                  <a:srgbClr val="8A5B00"/>
                </a:solidFill>
                <a:latin typeface="Calibri" pitchFamily="34" charset="0"/>
                <a:ea typeface="Calibri" pitchFamily="34" charset="-122"/>
                <a:cs typeface="Calibri" pitchFamily="34" charset="-120"/>
              </a:rPr>
              <a:t>WHAT STILL HAS TO BE BUILT</a:t>
            </a:r>
            <a:endParaRPr lang="en-US" sz="900" dirty="0"/>
          </a:p>
        </p:txBody>
      </p:sp>
      <p:sp>
        <p:nvSpPr>
          <p:cNvPr id="21" name="Text 19"/>
          <p:cNvSpPr/>
          <p:nvPr/>
        </p:nvSpPr>
        <p:spPr>
          <a:xfrm>
            <a:off x="5907024" y="4754880"/>
            <a:ext cx="5074920" cy="1554480"/>
          </a:xfrm>
          <a:prstGeom prst="rect">
            <a:avLst/>
          </a:prstGeom>
          <a:noFill/>
          <a:ln/>
        </p:spPr>
        <p:txBody>
          <a:bodyPr wrap="square" lIns="0" tIns="0" rIns="0" bIns="0" rtlCol="0" anchor="ctr"/>
          <a:lstStyle/>
          <a:p>
            <a:pPr marL="342900" indent="-342900">
              <a:lnSpc>
                <a:spcPts val="1400"/>
              </a:lnSpc>
              <a:spcAft>
                <a:spcPts val="600"/>
              </a:spcAft>
              <a:buSzPct val="100000"/>
              <a:buChar char="•"/>
            </a:pPr>
            <a:r>
              <a:rPr lang="en-US" sz="1050" dirty="0">
                <a:solidFill>
                  <a:srgbClr val="8A5B00"/>
                </a:solidFill>
                <a:latin typeface="Calibri" pitchFamily="34" charset="0"/>
                <a:ea typeface="Calibri" pitchFamily="34" charset="-122"/>
                <a:cs typeface="Calibri" pitchFamily="34" charset="-120"/>
              </a:rPr>
              <a:t>The 11+ specific item types — codes, sequences, letter shifts</a:t>
            </a:r>
            <a:endParaRPr lang="en-US" sz="1050" dirty="0"/>
          </a:p>
          <a:p>
            <a:pPr marL="342900" indent="-342900">
              <a:lnSpc>
                <a:spcPts val="1400"/>
              </a:lnSpc>
              <a:spcAft>
                <a:spcPts val="600"/>
              </a:spcAft>
              <a:buSzPct val="100000"/>
              <a:buChar char="•"/>
            </a:pPr>
            <a:r>
              <a:rPr lang="en-US" sz="1050" dirty="0">
                <a:solidFill>
                  <a:srgbClr val="8A5B00"/>
                </a:solidFill>
                <a:latin typeface="Calibri" pitchFamily="34" charset="0"/>
                <a:ea typeface="Calibri" pitchFamily="34" charset="-122"/>
                <a:cs typeface="Calibri" pitchFamily="34" charset="-120"/>
              </a:rPr>
              <a:t>A timed mock-paper mode, because the exam is as much about clock as vocabulary</a:t>
            </a:r>
            <a:endParaRPr lang="en-US" sz="1050" dirty="0"/>
          </a:p>
          <a:p>
            <a:pPr marL="342900" indent="-342900">
              <a:lnSpc>
                <a:spcPts val="1400"/>
              </a:lnSpc>
              <a:spcAft>
                <a:spcPts val="600"/>
              </a:spcAft>
              <a:buSzPct val="100000"/>
              <a:buChar char="•"/>
            </a:pPr>
            <a:r>
              <a:rPr lang="en-US" sz="1050" dirty="0">
                <a:solidFill>
                  <a:srgbClr val="8A5B00"/>
                </a:solidFill>
                <a:latin typeface="Calibri" pitchFamily="34" charset="0"/>
                <a:ea typeface="Calibri" pitchFamily="34" charset="-122"/>
                <a:cs typeface="Calibri" pitchFamily="34" charset="-120"/>
              </a:rPr>
              <a:t>Mapping to what UK grammar schools actually set</a:t>
            </a:r>
            <a:endParaRPr lang="en-US" sz="1050" dirty="0"/>
          </a:p>
        </p:txBody>
      </p:sp>
      <p:sp>
        <p:nvSpPr>
          <p:cNvPr id="22" name="Text 20"/>
          <p:cNvSpPr/>
          <p:nvPr/>
        </p:nvSpPr>
        <p:spPr>
          <a:xfrm>
            <a:off x="640080" y="6272784"/>
            <a:ext cx="4846320" cy="310896"/>
          </a:xfrm>
          <a:prstGeom prst="rect">
            <a:avLst/>
          </a:prstGeom>
          <a:noFill/>
          <a:ln/>
        </p:spPr>
        <p:txBody>
          <a:bodyPr wrap="square" lIns="0" tIns="0" rIns="0" bIns="0" rtlCol="0" anchor="ctr"/>
          <a:lstStyle/>
          <a:p>
            <a:pPr indent="0" marL="0">
              <a:buNone/>
            </a:pPr>
            <a:r>
              <a:rPr lang="en-US" sz="1050" b="1" dirty="0">
                <a:solidFill>
                  <a:srgbClr val="7A7291"/>
                </a:solidFill>
                <a:latin typeface="Calibri" pitchFamily="34" charset="0"/>
                <a:ea typeface="Calibri" pitchFamily="34" charset="-122"/>
                <a:cs typeface="Calibri" pitchFamily="34" charset="-120"/>
              </a:rPr>
              <a:t>Ages 8–11</a:t>
            </a:r>
            <a:pPr indent="0" marL="0">
              <a:buNone/>
            </a:pPr>
            <a:r>
              <a:rPr lang="en-US" sz="1050" dirty="0">
                <a:solidFill>
                  <a:srgbClr val="7A7291"/>
                </a:solidFill>
                <a:latin typeface="Calibri" pitchFamily="34" charset="0"/>
                <a:ea typeface="Calibri" pitchFamily="34" charset="-122"/>
                <a:cs typeface="Calibri" pitchFamily="34" charset="-120"/>
              </a:rPr>
              <a:t>   ·   engine reuse: </a:t>
            </a:r>
            <a:pPr indent="0" marL="0">
              <a:buNone/>
            </a:pPr>
            <a:r>
              <a:rPr lang="en-US" sz="1050" b="1" dirty="0">
                <a:solidFill>
                  <a:srgbClr val="7A7291"/>
                </a:solidFill>
                <a:latin typeface="Calibri" pitchFamily="34" charset="0"/>
                <a:ea typeface="Calibri" pitchFamily="34" charset="-122"/>
                <a:cs typeface="Calibri" pitchFamily="34" charset="-120"/>
              </a:rPr>
              <a:t>Near-total</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PRODUCT 5 OF 8</a:t>
            </a:r>
            <a:endParaRPr lang="en-US" sz="1150" dirty="0"/>
          </a:p>
        </p:txBody>
      </p:sp>
      <p:sp>
        <p:nvSpPr>
          <p:cNvPr id="3" name="Text 1"/>
          <p:cNvSpPr/>
          <p:nvPr/>
        </p:nvSpPr>
        <p:spPr>
          <a:xfrm>
            <a:off x="640080" y="694944"/>
            <a:ext cx="78638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Bizzing Buzz</a:t>
            </a:r>
            <a:endParaRPr lang="en-US" sz="2900" dirty="0"/>
          </a:p>
        </p:txBody>
      </p:sp>
      <p:sp>
        <p:nvSpPr>
          <p:cNvPr id="4" name="Shape 2"/>
          <p:cNvSpPr/>
          <p:nvPr/>
        </p:nvSpPr>
        <p:spPr>
          <a:xfrm>
            <a:off x="8732520" y="749808"/>
            <a:ext cx="2514600" cy="384048"/>
          </a:xfrm>
          <a:prstGeom prst="roundRect">
            <a:avLst>
              <a:gd name="adj" fmla="val 50000"/>
            </a:avLst>
          </a:prstGeom>
          <a:solidFill>
            <a:srgbClr val="C4453C"/>
          </a:solidFill>
          <a:ln/>
        </p:spPr>
      </p:sp>
      <p:sp>
        <p:nvSpPr>
          <p:cNvPr id="5" name="Text 3"/>
          <p:cNvSpPr/>
          <p:nvPr/>
        </p:nvSpPr>
        <p:spPr>
          <a:xfrm>
            <a:off x="8732520" y="749808"/>
            <a:ext cx="2514600" cy="384048"/>
          </a:xfrm>
          <a:prstGeom prst="rect">
            <a:avLst/>
          </a:prstGeom>
          <a:noFill/>
          <a:ln/>
        </p:spPr>
        <p:txBody>
          <a:bodyPr wrap="square" lIns="0" tIns="0" rIns="0" bIns="0" rtlCol="0" anchor="ctr"/>
          <a:lstStyle/>
          <a:p>
            <a:pPr algn="ctr" indent="0" marL="0">
              <a:buNone/>
            </a:pPr>
            <a:r>
              <a:rPr lang="en-US" sz="1000" b="1" spc="120" kern="0" dirty="0">
                <a:solidFill>
                  <a:srgbClr val="FFFFFF"/>
                </a:solidFill>
                <a:latin typeface="Calibri" pitchFamily="34" charset="0"/>
                <a:ea typeface="Calibri" pitchFamily="34" charset="-122"/>
                <a:cs typeface="Calibri" pitchFamily="34" charset="-120"/>
              </a:rPr>
              <a:t>WHITE SPACE</a:t>
            </a:r>
            <a:endParaRPr lang="en-US" sz="1000" dirty="0"/>
          </a:p>
        </p:txBody>
      </p:sp>
      <p:sp>
        <p:nvSpPr>
          <p:cNvPr id="6" name="Text 4"/>
          <p:cNvSpPr/>
          <p:nvPr/>
        </p:nvSpPr>
        <p:spPr>
          <a:xfrm>
            <a:off x="640080" y="1444752"/>
            <a:ext cx="8778240" cy="585216"/>
          </a:xfrm>
          <a:prstGeom prst="rect">
            <a:avLst/>
          </a:prstGeom>
          <a:noFill/>
          <a:ln/>
        </p:spPr>
        <p:txBody>
          <a:bodyPr wrap="square" lIns="0" tIns="0" rIns="0" bIns="0" rtlCol="0" anchor="ctr"/>
          <a:lstStyle/>
          <a:p>
            <a:pPr indent="0" marL="0">
              <a:lnSpc>
                <a:spcPts val="2100"/>
              </a:lnSpc>
              <a:buNone/>
            </a:pPr>
            <a:r>
              <a:rPr lang="en-US" sz="1600" i="1" dirty="0">
                <a:solidFill>
                  <a:srgbClr val="6C4FE0"/>
                </a:solidFill>
                <a:latin typeface="Cambria" pitchFamily="34" charset="0"/>
                <a:ea typeface="Cambria" pitchFamily="34" charset="-122"/>
                <a:cs typeface="Cambria" pitchFamily="34" charset="-120"/>
              </a:rPr>
              <a:t>A child who cannot read yet still plays with words every day.</a:t>
            </a:r>
            <a:endParaRPr lang="en-US" sz="1600" dirty="0"/>
          </a:p>
        </p:txBody>
      </p:sp>
      <p:sp>
        <p:nvSpPr>
          <p:cNvPr id="7" name="Shape 5"/>
          <p:cNvSpPr/>
          <p:nvPr/>
        </p:nvSpPr>
        <p:spPr>
          <a:xfrm rot="5400000">
            <a:off x="640080" y="2103120"/>
            <a:ext cx="457200" cy="457200"/>
          </a:xfrm>
          <a:prstGeom prst="hexagon">
            <a:avLst/>
          </a:prstGeom>
          <a:solidFill>
            <a:srgbClr val="6C4FE0"/>
          </a:solidFill>
          <a:ln/>
        </p:spPr>
      </p:sp>
      <p:sp>
        <p:nvSpPr>
          <p:cNvPr id="8" name="Text 6"/>
          <p:cNvSpPr/>
          <p:nvPr/>
        </p:nvSpPr>
        <p:spPr>
          <a:xfrm>
            <a:off x="640080" y="2103120"/>
            <a:ext cx="457200" cy="45720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WHY</a:t>
            </a:r>
            <a:endParaRPr lang="en-US" sz="850" dirty="0"/>
          </a:p>
        </p:txBody>
      </p:sp>
      <p:sp>
        <p:nvSpPr>
          <p:cNvPr id="9" name="Text 7"/>
          <p:cNvSpPr/>
          <p:nvPr/>
        </p:nvSpPr>
        <p:spPr>
          <a:xfrm>
            <a:off x="1261872" y="2084832"/>
            <a:ext cx="4114800" cy="1280160"/>
          </a:xfrm>
          <a:prstGeom prst="rect">
            <a:avLst/>
          </a:prstGeom>
          <a:noFill/>
          <a:ln/>
        </p:spPr>
        <p:txBody>
          <a:bodyPr wrap="square" lIns="0" tIns="0" rIns="0" bIns="0" rtlCol="0" anchor="ctr"/>
          <a:lstStyle/>
          <a:p>
            <a:pPr indent="0" marL="0">
              <a:lnSpc>
                <a:spcPts val="1550"/>
              </a:lnSpc>
              <a:buNone/>
            </a:pPr>
            <a:r>
              <a:rPr lang="en-US" sz="1150" dirty="0">
                <a:solidFill>
                  <a:srgbClr val="4A4360"/>
                </a:solidFill>
                <a:latin typeface="Calibri" pitchFamily="34" charset="0"/>
                <a:ea typeface="Calibri" pitchFamily="34" charset="-122"/>
                <a:cs typeface="Calibri" pitchFamily="34" charset="-120"/>
              </a:rPr>
              <a:t>The family arrives when the first child is four and Bizzing has nothing for them. The younger sibling is lost before they ever get to the Bee — this is the on-ramp gap on the age roadmap.</a:t>
            </a:r>
            <a:endParaRPr lang="en-US" sz="1150" dirty="0"/>
          </a:p>
        </p:txBody>
      </p:sp>
      <p:sp>
        <p:nvSpPr>
          <p:cNvPr id="10" name="Shape 8"/>
          <p:cNvSpPr/>
          <p:nvPr/>
        </p:nvSpPr>
        <p:spPr>
          <a:xfrm rot="5400000">
            <a:off x="640080" y="3493008"/>
            <a:ext cx="457200" cy="457200"/>
          </a:xfrm>
          <a:prstGeom prst="hexagon">
            <a:avLst/>
          </a:prstGeom>
          <a:solidFill>
            <a:srgbClr val="F0B429"/>
          </a:solidFill>
          <a:ln/>
        </p:spPr>
      </p:sp>
      <p:sp>
        <p:nvSpPr>
          <p:cNvPr id="11" name="Text 9"/>
          <p:cNvSpPr/>
          <p:nvPr/>
        </p:nvSpPr>
        <p:spPr>
          <a:xfrm>
            <a:off x="640080" y="3493008"/>
            <a:ext cx="457200" cy="457200"/>
          </a:xfrm>
          <a:prstGeom prst="rect">
            <a:avLst/>
          </a:prstGeom>
          <a:noFill/>
          <a:ln/>
        </p:spPr>
        <p:txBody>
          <a:bodyPr wrap="square" lIns="0" tIns="0" rIns="0" bIns="0" rtlCol="0" anchor="ctr"/>
          <a:lstStyle/>
          <a:p>
            <a:pPr algn="ctr" indent="0" marL="0">
              <a:buNone/>
            </a:pPr>
            <a:r>
              <a:rPr lang="en-US" sz="850" b="1" dirty="0">
                <a:solidFill>
                  <a:srgbClr val="241E33"/>
                </a:solidFill>
                <a:latin typeface="Calibri" pitchFamily="34" charset="0"/>
                <a:ea typeface="Calibri" pitchFamily="34" charset="-122"/>
                <a:cs typeface="Calibri" pitchFamily="34" charset="-120"/>
              </a:rPr>
              <a:t>WHAT</a:t>
            </a:r>
            <a:endParaRPr lang="en-US" sz="850" dirty="0"/>
          </a:p>
        </p:txBody>
      </p:sp>
      <p:sp>
        <p:nvSpPr>
          <p:cNvPr id="12" name="Text 10"/>
          <p:cNvSpPr/>
          <p:nvPr/>
        </p:nvSpPr>
        <p:spPr>
          <a:xfrm>
            <a:off x="1261872" y="3474720"/>
            <a:ext cx="4114800" cy="1280160"/>
          </a:xfrm>
          <a:prstGeom prst="rect">
            <a:avLst/>
          </a:prstGeom>
          <a:noFill/>
          <a:ln/>
        </p:spPr>
        <p:txBody>
          <a:bodyPr wrap="square" lIns="0" tIns="0" rIns="0" bIns="0" rtlCol="0" anchor="ctr"/>
          <a:lstStyle/>
          <a:p>
            <a:pPr indent="0" marL="0">
              <a:lnSpc>
                <a:spcPts val="1550"/>
              </a:lnSpc>
              <a:buNone/>
            </a:pPr>
            <a:r>
              <a:rPr lang="en-US" sz="1150" dirty="0">
                <a:solidFill>
                  <a:srgbClr val="4A4360"/>
                </a:solidFill>
                <a:latin typeface="Calibri" pitchFamily="34" charset="0"/>
                <a:ea typeface="Calibri" pitchFamily="34" charset="-122"/>
                <a:cs typeface="Calibri" pitchFamily="34" charset="-120"/>
              </a:rPr>
              <a:t>Letter sounds, phonics, rhyme, first words, picture-to-word matching, and Indian nursery stories read aloud.</a:t>
            </a:r>
            <a:endParaRPr lang="en-US" sz="1150" dirty="0"/>
          </a:p>
        </p:txBody>
      </p:sp>
      <p:sp>
        <p:nvSpPr>
          <p:cNvPr id="13" name="Shape 11"/>
          <p:cNvSpPr/>
          <p:nvPr/>
        </p:nvSpPr>
        <p:spPr>
          <a:xfrm rot="5400000">
            <a:off x="640080" y="4882896"/>
            <a:ext cx="457200" cy="457200"/>
          </a:xfrm>
          <a:prstGeom prst="hexagon">
            <a:avLst/>
          </a:prstGeom>
          <a:solidFill>
            <a:srgbClr val="6C4FE0"/>
          </a:solidFill>
          <a:ln/>
        </p:spPr>
      </p:sp>
      <p:sp>
        <p:nvSpPr>
          <p:cNvPr id="14" name="Text 12"/>
          <p:cNvSpPr/>
          <p:nvPr/>
        </p:nvSpPr>
        <p:spPr>
          <a:xfrm>
            <a:off x="640080" y="4882896"/>
            <a:ext cx="457200" cy="45720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HOW</a:t>
            </a:r>
            <a:endParaRPr lang="en-US" sz="850" dirty="0"/>
          </a:p>
        </p:txBody>
      </p:sp>
      <p:sp>
        <p:nvSpPr>
          <p:cNvPr id="15" name="Text 13"/>
          <p:cNvSpPr/>
          <p:nvPr/>
        </p:nvSpPr>
        <p:spPr>
          <a:xfrm>
            <a:off x="1261872" y="4864608"/>
            <a:ext cx="4114800" cy="1280160"/>
          </a:xfrm>
          <a:prstGeom prst="rect">
            <a:avLst/>
          </a:prstGeom>
          <a:noFill/>
          <a:ln/>
        </p:spPr>
        <p:txBody>
          <a:bodyPr wrap="square" lIns="0" tIns="0" rIns="0" bIns="0" rtlCol="0" anchor="ctr"/>
          <a:lstStyle/>
          <a:p>
            <a:pPr indent="0" marL="0">
              <a:lnSpc>
                <a:spcPts val="1550"/>
              </a:lnSpc>
              <a:buNone/>
            </a:pPr>
            <a:r>
              <a:rPr lang="en-US" sz="1150" dirty="0">
                <a:solidFill>
                  <a:srgbClr val="4A4360"/>
                </a:solidFill>
                <a:latin typeface="Calibri" pitchFamily="34" charset="0"/>
                <a:ea typeface="Calibri" pitchFamily="34" charset="-122"/>
                <a:cs typeface="Calibri" pitchFamily="34" charset="-120"/>
              </a:rPr>
              <a:t>Audio-first and picture-first, because the child cannot read the interface. The voice library and avatar art transfer; the reading-free UI does not exist and must be built.</a:t>
            </a:r>
            <a:endParaRPr lang="en-US" sz="1150" dirty="0"/>
          </a:p>
        </p:txBody>
      </p:sp>
      <p:sp>
        <p:nvSpPr>
          <p:cNvPr id="16" name="Shape 14"/>
          <p:cNvSpPr/>
          <p:nvPr/>
        </p:nvSpPr>
        <p:spPr>
          <a:xfrm>
            <a:off x="5577840" y="2048256"/>
            <a:ext cx="5669280" cy="2103120"/>
          </a:xfrm>
          <a:prstGeom prst="roundRect">
            <a:avLst>
              <a:gd name="adj" fmla="val 6087"/>
            </a:avLst>
          </a:prstGeom>
          <a:solidFill>
            <a:srgbClr val="E8F4EC"/>
          </a:solidFill>
          <a:ln/>
          <a:effectLst>
            <a:outerShdw sx="100000" sy="100000" kx="0" ky="0" algn="bl" rotWithShape="0" blurRad="127000" dist="25400" dir="5400000">
              <a:srgbClr val="241E33">
                <a:alpha val="10000"/>
              </a:srgbClr>
            </a:outerShdw>
          </a:effectLst>
        </p:spPr>
      </p:sp>
      <p:sp>
        <p:nvSpPr>
          <p:cNvPr id="17" name="Text 15"/>
          <p:cNvSpPr/>
          <p:nvPr/>
        </p:nvSpPr>
        <p:spPr>
          <a:xfrm>
            <a:off x="5870448" y="2194560"/>
            <a:ext cx="5120640" cy="256032"/>
          </a:xfrm>
          <a:prstGeom prst="rect">
            <a:avLst/>
          </a:prstGeom>
          <a:noFill/>
          <a:ln/>
        </p:spPr>
        <p:txBody>
          <a:bodyPr wrap="square" lIns="0" tIns="0" rIns="0" bIns="0" rtlCol="0" anchor="ctr"/>
          <a:lstStyle/>
          <a:p>
            <a:pPr indent="0" marL="0">
              <a:buNone/>
            </a:pPr>
            <a:r>
              <a:rPr lang="en-US" sz="900" b="1" spc="180" kern="0" dirty="0">
                <a:solidFill>
                  <a:srgbClr val="178A4C"/>
                </a:solidFill>
                <a:latin typeface="Calibri" pitchFamily="34" charset="0"/>
                <a:ea typeface="Calibri" pitchFamily="34" charset="-122"/>
                <a:cs typeface="Calibri" pitchFamily="34" charset="-120"/>
              </a:rPr>
              <a:t>WHAT ITS EDGE WOULD BE</a:t>
            </a:r>
            <a:endParaRPr lang="en-US" sz="900" dirty="0"/>
          </a:p>
        </p:txBody>
      </p:sp>
      <p:sp>
        <p:nvSpPr>
          <p:cNvPr id="18" name="Text 16"/>
          <p:cNvSpPr/>
          <p:nvPr/>
        </p:nvSpPr>
        <p:spPr>
          <a:xfrm>
            <a:off x="5907024" y="2487168"/>
            <a:ext cx="5074920" cy="1554480"/>
          </a:xfrm>
          <a:prstGeom prst="rect">
            <a:avLst/>
          </a:prstGeom>
          <a:noFill/>
          <a:ln/>
        </p:spPr>
        <p:txBody>
          <a:bodyPr wrap="square" lIns="0" tIns="0" rIns="0" bIns="0" rtlCol="0" anchor="ctr"/>
          <a:lstStyle/>
          <a:p>
            <a:pPr marL="342900" indent="-342900">
              <a:lnSpc>
                <a:spcPts val="1400"/>
              </a:lnSpc>
              <a:spcAft>
                <a:spcPts val="600"/>
              </a:spcAft>
              <a:buSzPct val="100000"/>
              <a:buChar char="•"/>
            </a:pPr>
            <a:r>
              <a:rPr lang="en-US" sz="1050" dirty="0">
                <a:solidFill>
                  <a:srgbClr val="1F4A33"/>
                </a:solidFill>
                <a:latin typeface="Calibri" pitchFamily="34" charset="0"/>
                <a:ea typeface="Calibri" pitchFamily="34" charset="-122"/>
                <a:cs typeface="Calibri" pitchFamily="34" charset="-120"/>
              </a:rPr>
              <a:t>The buzz before the bee. A child graduates Buzz → Bee, which is the single strongest retention story in the house.</a:t>
            </a:r>
            <a:endParaRPr lang="en-US" sz="1050" dirty="0"/>
          </a:p>
          <a:p>
            <a:pPr marL="342900" indent="-342900">
              <a:lnSpc>
                <a:spcPts val="1400"/>
              </a:lnSpc>
              <a:spcAft>
                <a:spcPts val="600"/>
              </a:spcAft>
              <a:buSzPct val="100000"/>
              <a:buChar char="•"/>
            </a:pPr>
            <a:r>
              <a:rPr lang="en-US" sz="1050" dirty="0">
                <a:solidFill>
                  <a:srgbClr val="1F4A33"/>
                </a:solidFill>
                <a:latin typeface="Calibri" pitchFamily="34" charset="0"/>
                <a:ea typeface="Calibri" pitchFamily="34" charset="-122"/>
                <a:cs typeface="Calibri" pitchFamily="34" charset="-120"/>
              </a:rPr>
              <a:t>Would be the only phonics product that is diaspora-aware from the first screen.</a:t>
            </a:r>
            <a:endParaRPr lang="en-US" sz="1050" dirty="0"/>
          </a:p>
        </p:txBody>
      </p:sp>
      <p:sp>
        <p:nvSpPr>
          <p:cNvPr id="19" name="Shape 17"/>
          <p:cNvSpPr/>
          <p:nvPr/>
        </p:nvSpPr>
        <p:spPr>
          <a:xfrm>
            <a:off x="5577840" y="4315968"/>
            <a:ext cx="5669280" cy="2103120"/>
          </a:xfrm>
          <a:prstGeom prst="roundRect">
            <a:avLst>
              <a:gd name="adj" fmla="val 6087"/>
            </a:avLst>
          </a:prstGeom>
          <a:solidFill>
            <a:srgbClr val="FBF3E0"/>
          </a:solidFill>
          <a:ln/>
          <a:effectLst>
            <a:outerShdw sx="100000" sy="100000" kx="0" ky="0" algn="bl" rotWithShape="0" blurRad="127000" dist="25400" dir="5400000">
              <a:srgbClr val="241E33">
                <a:alpha val="10000"/>
              </a:srgbClr>
            </a:outerShdw>
          </a:effectLst>
        </p:spPr>
      </p:sp>
      <p:sp>
        <p:nvSpPr>
          <p:cNvPr id="20" name="Text 18"/>
          <p:cNvSpPr/>
          <p:nvPr/>
        </p:nvSpPr>
        <p:spPr>
          <a:xfrm>
            <a:off x="5870448" y="4462272"/>
            <a:ext cx="5120640" cy="256032"/>
          </a:xfrm>
          <a:prstGeom prst="rect">
            <a:avLst/>
          </a:prstGeom>
          <a:noFill/>
          <a:ln/>
        </p:spPr>
        <p:txBody>
          <a:bodyPr wrap="square" lIns="0" tIns="0" rIns="0" bIns="0" rtlCol="0" anchor="ctr"/>
          <a:lstStyle/>
          <a:p>
            <a:pPr indent="0" marL="0">
              <a:buNone/>
            </a:pPr>
            <a:r>
              <a:rPr lang="en-US" sz="900" b="1" spc="180" kern="0" dirty="0">
                <a:solidFill>
                  <a:srgbClr val="8A5B00"/>
                </a:solidFill>
                <a:latin typeface="Calibri" pitchFamily="34" charset="0"/>
                <a:ea typeface="Calibri" pitchFamily="34" charset="-122"/>
                <a:cs typeface="Calibri" pitchFamily="34" charset="-120"/>
              </a:rPr>
              <a:t>WHAT STILL HAS TO BE BUILT</a:t>
            </a:r>
            <a:endParaRPr lang="en-US" sz="900" dirty="0"/>
          </a:p>
        </p:txBody>
      </p:sp>
      <p:sp>
        <p:nvSpPr>
          <p:cNvPr id="21" name="Text 19"/>
          <p:cNvSpPr/>
          <p:nvPr/>
        </p:nvSpPr>
        <p:spPr>
          <a:xfrm>
            <a:off x="5907024" y="4754880"/>
            <a:ext cx="5074920" cy="1554480"/>
          </a:xfrm>
          <a:prstGeom prst="rect">
            <a:avLst/>
          </a:prstGeom>
          <a:noFill/>
          <a:ln/>
        </p:spPr>
        <p:txBody>
          <a:bodyPr wrap="square" lIns="0" tIns="0" rIns="0" bIns="0" rtlCol="0" anchor="ctr"/>
          <a:lstStyle/>
          <a:p>
            <a:pPr marL="342900" indent="-342900">
              <a:lnSpc>
                <a:spcPts val="1400"/>
              </a:lnSpc>
              <a:spcAft>
                <a:spcPts val="600"/>
              </a:spcAft>
              <a:buSzPct val="100000"/>
              <a:buChar char="•"/>
            </a:pPr>
            <a:r>
              <a:rPr lang="en-US" sz="1050" dirty="0">
                <a:solidFill>
                  <a:srgbClr val="8A5B00"/>
                </a:solidFill>
                <a:latin typeface="Calibri" pitchFamily="34" charset="0"/>
                <a:ea typeface="Calibri" pitchFamily="34" charset="-122"/>
                <a:cs typeface="Calibri" pitchFamily="34" charset="-120"/>
              </a:rPr>
              <a:t>A UI a pre-reader can operate — icons, audio prompts, very large targets</a:t>
            </a:r>
            <a:endParaRPr lang="en-US" sz="1050" dirty="0"/>
          </a:p>
          <a:p>
            <a:pPr marL="342900" indent="-342900">
              <a:lnSpc>
                <a:spcPts val="1400"/>
              </a:lnSpc>
              <a:spcAft>
                <a:spcPts val="600"/>
              </a:spcAft>
              <a:buSzPct val="100000"/>
              <a:buChar char="•"/>
            </a:pPr>
            <a:r>
              <a:rPr lang="en-US" sz="1050" dirty="0">
                <a:solidFill>
                  <a:srgbClr val="8A5B00"/>
                </a:solidFill>
                <a:latin typeface="Calibri" pitchFamily="34" charset="0"/>
                <a:ea typeface="Calibri" pitchFamily="34" charset="-122"/>
                <a:cs typeface="Calibri" pitchFamily="34" charset="-120"/>
              </a:rPr>
              <a:t>A phonics curriculum, which the app has never had</a:t>
            </a:r>
            <a:endParaRPr lang="en-US" sz="1050" dirty="0"/>
          </a:p>
          <a:p>
            <a:pPr marL="342900" indent="-342900">
              <a:lnSpc>
                <a:spcPts val="1400"/>
              </a:lnSpc>
              <a:spcAft>
                <a:spcPts val="600"/>
              </a:spcAft>
              <a:buSzPct val="100000"/>
              <a:buChar char="•"/>
            </a:pPr>
            <a:r>
              <a:rPr lang="en-US" sz="1050" dirty="0">
                <a:solidFill>
                  <a:srgbClr val="8A5B00"/>
                </a:solidFill>
                <a:latin typeface="Calibri" pitchFamily="34" charset="0"/>
                <a:ea typeface="Calibri" pitchFamily="34" charset="-122"/>
                <a:cs typeface="Calibri" pitchFamily="34" charset="-120"/>
              </a:rPr>
              <a:t>A parent-alongside mode, since a four-year-old does not practise alone</a:t>
            </a:r>
            <a:endParaRPr lang="en-US" sz="1050" dirty="0"/>
          </a:p>
        </p:txBody>
      </p:sp>
      <p:sp>
        <p:nvSpPr>
          <p:cNvPr id="22" name="Text 20"/>
          <p:cNvSpPr/>
          <p:nvPr/>
        </p:nvSpPr>
        <p:spPr>
          <a:xfrm>
            <a:off x="640080" y="6272784"/>
            <a:ext cx="4846320" cy="310896"/>
          </a:xfrm>
          <a:prstGeom prst="rect">
            <a:avLst/>
          </a:prstGeom>
          <a:noFill/>
          <a:ln/>
        </p:spPr>
        <p:txBody>
          <a:bodyPr wrap="square" lIns="0" tIns="0" rIns="0" bIns="0" rtlCol="0" anchor="ctr"/>
          <a:lstStyle/>
          <a:p>
            <a:pPr indent="0" marL="0">
              <a:buNone/>
            </a:pPr>
            <a:r>
              <a:rPr lang="en-US" sz="1050" b="1" dirty="0">
                <a:solidFill>
                  <a:srgbClr val="7A7291"/>
                </a:solidFill>
                <a:latin typeface="Calibri" pitchFamily="34" charset="0"/>
                <a:ea typeface="Calibri" pitchFamily="34" charset="-122"/>
                <a:cs typeface="Calibri" pitchFamily="34" charset="-120"/>
              </a:rPr>
              <a:t>Ages 4–6</a:t>
            </a:r>
            <a:pPr indent="0" marL="0">
              <a:buNone/>
            </a:pPr>
            <a:r>
              <a:rPr lang="en-US" sz="1050" dirty="0">
                <a:solidFill>
                  <a:srgbClr val="7A7291"/>
                </a:solidFill>
                <a:latin typeface="Calibri" pitchFamily="34" charset="0"/>
                <a:ea typeface="Calibri" pitchFamily="34" charset="-122"/>
                <a:cs typeface="Calibri" pitchFamily="34" charset="-120"/>
              </a:rPr>
              <a:t>   ·   engine reuse: </a:t>
            </a:r>
            <a:pPr indent="0" marL="0">
              <a:buNone/>
            </a:pPr>
            <a:r>
              <a:rPr lang="en-US" sz="1050" b="1" dirty="0">
                <a:solidFill>
                  <a:srgbClr val="7A7291"/>
                </a:solidFill>
                <a:latin typeface="Calibri" pitchFamily="34" charset="0"/>
                <a:ea typeface="Calibri" pitchFamily="34" charset="-122"/>
                <a:cs typeface="Calibri" pitchFamily="34" charset="-120"/>
              </a:rPr>
              <a:t>Audio + art, not the UI</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PRODUCT 6 OF 8</a:t>
            </a:r>
            <a:endParaRPr lang="en-US" sz="1150" dirty="0"/>
          </a:p>
        </p:txBody>
      </p:sp>
      <p:sp>
        <p:nvSpPr>
          <p:cNvPr id="3" name="Text 1"/>
          <p:cNvSpPr/>
          <p:nvPr/>
        </p:nvSpPr>
        <p:spPr>
          <a:xfrm>
            <a:off x="640080" y="694944"/>
            <a:ext cx="78638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Bizzing English</a:t>
            </a:r>
            <a:endParaRPr lang="en-US" sz="2900" dirty="0"/>
          </a:p>
        </p:txBody>
      </p:sp>
      <p:sp>
        <p:nvSpPr>
          <p:cNvPr id="4" name="Shape 2"/>
          <p:cNvSpPr/>
          <p:nvPr/>
        </p:nvSpPr>
        <p:spPr>
          <a:xfrm>
            <a:off x="8732520" y="749808"/>
            <a:ext cx="2514600" cy="384048"/>
          </a:xfrm>
          <a:prstGeom prst="roundRect">
            <a:avLst>
              <a:gd name="adj" fmla="val 50000"/>
            </a:avLst>
          </a:prstGeom>
          <a:solidFill>
            <a:srgbClr val="6C4FE0"/>
          </a:solidFill>
          <a:ln/>
        </p:spPr>
      </p:sp>
      <p:sp>
        <p:nvSpPr>
          <p:cNvPr id="5" name="Text 3"/>
          <p:cNvSpPr/>
          <p:nvPr/>
        </p:nvSpPr>
        <p:spPr>
          <a:xfrm>
            <a:off x="8732520" y="749808"/>
            <a:ext cx="2514600" cy="384048"/>
          </a:xfrm>
          <a:prstGeom prst="rect">
            <a:avLst/>
          </a:prstGeom>
          <a:noFill/>
          <a:ln/>
        </p:spPr>
        <p:txBody>
          <a:bodyPr wrap="square" lIns="0" tIns="0" rIns="0" bIns="0" rtlCol="0" anchor="ctr"/>
          <a:lstStyle/>
          <a:p>
            <a:pPr algn="ctr" indent="0" marL="0">
              <a:buNone/>
            </a:pPr>
            <a:r>
              <a:rPr lang="en-US" sz="1000" b="1" spc="120" kern="0" dirty="0">
                <a:solidFill>
                  <a:srgbClr val="FFFFFF"/>
                </a:solidFill>
                <a:latin typeface="Calibri" pitchFamily="34" charset="0"/>
                <a:ea typeface="Calibri" pitchFamily="34" charset="-122"/>
                <a:cs typeface="Calibri" pitchFamily="34" charset="-120"/>
              </a:rPr>
              <a:t>PLANNED</a:t>
            </a:r>
            <a:endParaRPr lang="en-US" sz="1000" dirty="0"/>
          </a:p>
        </p:txBody>
      </p:sp>
      <p:sp>
        <p:nvSpPr>
          <p:cNvPr id="6" name="Text 4"/>
          <p:cNvSpPr/>
          <p:nvPr/>
        </p:nvSpPr>
        <p:spPr>
          <a:xfrm>
            <a:off x="640080" y="1444752"/>
            <a:ext cx="8778240" cy="585216"/>
          </a:xfrm>
          <a:prstGeom prst="rect">
            <a:avLst/>
          </a:prstGeom>
          <a:noFill/>
          <a:ln/>
        </p:spPr>
        <p:txBody>
          <a:bodyPr wrap="square" lIns="0" tIns="0" rIns="0" bIns="0" rtlCol="0" anchor="ctr"/>
          <a:lstStyle/>
          <a:p>
            <a:pPr indent="0" marL="0">
              <a:lnSpc>
                <a:spcPts val="2100"/>
              </a:lnSpc>
              <a:buNone/>
            </a:pPr>
            <a:r>
              <a:rPr lang="en-US" sz="1600" i="1" dirty="0">
                <a:solidFill>
                  <a:srgbClr val="6C4FE0"/>
                </a:solidFill>
                <a:latin typeface="Cambria" pitchFamily="34" charset="0"/>
                <a:ea typeface="Cambria" pitchFamily="34" charset="-122"/>
                <a:cs typeface="Cambria" pitchFamily="34" charset="-120"/>
              </a:rPr>
              <a:t>A child who owns the language, rather than one who passes tests in it.</a:t>
            </a:r>
            <a:endParaRPr lang="en-US" sz="1600" dirty="0"/>
          </a:p>
        </p:txBody>
      </p:sp>
      <p:sp>
        <p:nvSpPr>
          <p:cNvPr id="7" name="Shape 5"/>
          <p:cNvSpPr/>
          <p:nvPr/>
        </p:nvSpPr>
        <p:spPr>
          <a:xfrm rot="5400000">
            <a:off x="640080" y="2103120"/>
            <a:ext cx="457200" cy="457200"/>
          </a:xfrm>
          <a:prstGeom prst="hexagon">
            <a:avLst/>
          </a:prstGeom>
          <a:solidFill>
            <a:srgbClr val="6C4FE0"/>
          </a:solidFill>
          <a:ln/>
        </p:spPr>
      </p:sp>
      <p:sp>
        <p:nvSpPr>
          <p:cNvPr id="8" name="Text 6"/>
          <p:cNvSpPr/>
          <p:nvPr/>
        </p:nvSpPr>
        <p:spPr>
          <a:xfrm>
            <a:off x="640080" y="2103120"/>
            <a:ext cx="457200" cy="45720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WHY</a:t>
            </a:r>
            <a:endParaRPr lang="en-US" sz="850" dirty="0"/>
          </a:p>
        </p:txBody>
      </p:sp>
      <p:sp>
        <p:nvSpPr>
          <p:cNvPr id="9" name="Text 7"/>
          <p:cNvSpPr/>
          <p:nvPr/>
        </p:nvSpPr>
        <p:spPr>
          <a:xfrm>
            <a:off x="1261872" y="2084832"/>
            <a:ext cx="4114800" cy="1280160"/>
          </a:xfrm>
          <a:prstGeom prst="rect">
            <a:avLst/>
          </a:prstGeom>
          <a:noFill/>
          <a:ln/>
        </p:spPr>
        <p:txBody>
          <a:bodyPr wrap="square" lIns="0" tIns="0" rIns="0" bIns="0" rtlCol="0" anchor="ctr"/>
          <a:lstStyle/>
          <a:p>
            <a:pPr indent="0" marL="0">
              <a:lnSpc>
                <a:spcPts val="1550"/>
              </a:lnSpc>
              <a:buNone/>
            </a:pPr>
            <a:r>
              <a:rPr lang="en-US" sz="1150" dirty="0">
                <a:solidFill>
                  <a:srgbClr val="4A4360"/>
                </a:solidFill>
                <a:latin typeface="Calibri" pitchFamily="34" charset="0"/>
                <a:ea typeface="Calibri" pitchFamily="34" charset="-122"/>
                <a:cs typeface="Calibri" pitchFamily="34" charset="-120"/>
              </a:rPr>
              <a:t>Spelling is a wedge into English, not the whole of it. Grammar, reading and writing are what school actually grades — and the second thing every parent asks about.</a:t>
            </a:r>
            <a:endParaRPr lang="en-US" sz="1150" dirty="0"/>
          </a:p>
        </p:txBody>
      </p:sp>
      <p:sp>
        <p:nvSpPr>
          <p:cNvPr id="10" name="Shape 8"/>
          <p:cNvSpPr/>
          <p:nvPr/>
        </p:nvSpPr>
        <p:spPr>
          <a:xfrm rot="5400000">
            <a:off x="640080" y="3493008"/>
            <a:ext cx="457200" cy="457200"/>
          </a:xfrm>
          <a:prstGeom prst="hexagon">
            <a:avLst/>
          </a:prstGeom>
          <a:solidFill>
            <a:srgbClr val="F0B429"/>
          </a:solidFill>
          <a:ln/>
        </p:spPr>
      </p:sp>
      <p:sp>
        <p:nvSpPr>
          <p:cNvPr id="11" name="Text 9"/>
          <p:cNvSpPr/>
          <p:nvPr/>
        </p:nvSpPr>
        <p:spPr>
          <a:xfrm>
            <a:off x="640080" y="3493008"/>
            <a:ext cx="457200" cy="457200"/>
          </a:xfrm>
          <a:prstGeom prst="rect">
            <a:avLst/>
          </a:prstGeom>
          <a:noFill/>
          <a:ln/>
        </p:spPr>
        <p:txBody>
          <a:bodyPr wrap="square" lIns="0" tIns="0" rIns="0" bIns="0" rtlCol="0" anchor="ctr"/>
          <a:lstStyle/>
          <a:p>
            <a:pPr algn="ctr" indent="0" marL="0">
              <a:buNone/>
            </a:pPr>
            <a:r>
              <a:rPr lang="en-US" sz="850" b="1" dirty="0">
                <a:solidFill>
                  <a:srgbClr val="241E33"/>
                </a:solidFill>
                <a:latin typeface="Calibri" pitchFamily="34" charset="0"/>
                <a:ea typeface="Calibri" pitchFamily="34" charset="-122"/>
                <a:cs typeface="Calibri" pitchFamily="34" charset="-120"/>
              </a:rPr>
              <a:t>WHAT</a:t>
            </a:r>
            <a:endParaRPr lang="en-US" sz="850" dirty="0"/>
          </a:p>
        </p:txBody>
      </p:sp>
      <p:sp>
        <p:nvSpPr>
          <p:cNvPr id="12" name="Text 10"/>
          <p:cNvSpPr/>
          <p:nvPr/>
        </p:nvSpPr>
        <p:spPr>
          <a:xfrm>
            <a:off x="1261872" y="3474720"/>
            <a:ext cx="4114800" cy="1280160"/>
          </a:xfrm>
          <a:prstGeom prst="rect">
            <a:avLst/>
          </a:prstGeom>
          <a:noFill/>
          <a:ln/>
        </p:spPr>
        <p:txBody>
          <a:bodyPr wrap="square" lIns="0" tIns="0" rIns="0" bIns="0" rtlCol="0" anchor="ctr"/>
          <a:lstStyle/>
          <a:p>
            <a:pPr indent="0" marL="0">
              <a:lnSpc>
                <a:spcPts val="1550"/>
              </a:lnSpc>
              <a:buNone/>
            </a:pPr>
            <a:r>
              <a:rPr lang="en-US" sz="1150" dirty="0">
                <a:solidFill>
                  <a:srgbClr val="4A4360"/>
                </a:solidFill>
                <a:latin typeface="Calibri" pitchFamily="34" charset="0"/>
                <a:ea typeface="Calibri" pitchFamily="34" charset="-122"/>
                <a:cs typeface="Calibri" pitchFamily="34" charset="-120"/>
              </a:rPr>
              <a:t>Grammar, punctuation, comprehension, writing structure, idiom and register, on one continuous ladder from first sentence to essay.</a:t>
            </a:r>
            <a:endParaRPr lang="en-US" sz="1150" dirty="0"/>
          </a:p>
        </p:txBody>
      </p:sp>
      <p:sp>
        <p:nvSpPr>
          <p:cNvPr id="13" name="Shape 11"/>
          <p:cNvSpPr/>
          <p:nvPr/>
        </p:nvSpPr>
        <p:spPr>
          <a:xfrm rot="5400000">
            <a:off x="640080" y="4882896"/>
            <a:ext cx="457200" cy="457200"/>
          </a:xfrm>
          <a:prstGeom prst="hexagon">
            <a:avLst/>
          </a:prstGeom>
          <a:solidFill>
            <a:srgbClr val="6C4FE0"/>
          </a:solidFill>
          <a:ln/>
        </p:spPr>
      </p:sp>
      <p:sp>
        <p:nvSpPr>
          <p:cNvPr id="14" name="Text 12"/>
          <p:cNvSpPr/>
          <p:nvPr/>
        </p:nvSpPr>
        <p:spPr>
          <a:xfrm>
            <a:off x="640080" y="4882896"/>
            <a:ext cx="457200" cy="45720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HOW</a:t>
            </a:r>
            <a:endParaRPr lang="en-US" sz="850" dirty="0"/>
          </a:p>
        </p:txBody>
      </p:sp>
      <p:sp>
        <p:nvSpPr>
          <p:cNvPr id="15" name="Text 13"/>
          <p:cNvSpPr/>
          <p:nvPr/>
        </p:nvSpPr>
        <p:spPr>
          <a:xfrm>
            <a:off x="1261872" y="4864608"/>
            <a:ext cx="4114800" cy="1280160"/>
          </a:xfrm>
          <a:prstGeom prst="rect">
            <a:avLst/>
          </a:prstGeom>
          <a:noFill/>
          <a:ln/>
        </p:spPr>
        <p:txBody>
          <a:bodyPr wrap="square" lIns="0" tIns="0" rIns="0" bIns="0" rtlCol="0" anchor="ctr"/>
          <a:lstStyle/>
          <a:p>
            <a:pPr indent="0" marL="0">
              <a:lnSpc>
                <a:spcPts val="1550"/>
              </a:lnSpc>
              <a:buNone/>
            </a:pPr>
            <a:r>
              <a:rPr lang="en-US" sz="1150" dirty="0">
                <a:solidFill>
                  <a:srgbClr val="4A4360"/>
                </a:solidFill>
                <a:latin typeface="Calibri" pitchFamily="34" charset="0"/>
                <a:ea typeface="Calibri" pitchFamily="34" charset="-122"/>
                <a:cs typeface="Calibri" pitchFamily="34" charset="-120"/>
              </a:rPr>
              <a:t>The concept-chapter engine already teaches exactly this way, and the 43 advanced chapters are the template. Writing is the exception: it needs assessment, not drills.</a:t>
            </a:r>
            <a:endParaRPr lang="en-US" sz="1150" dirty="0"/>
          </a:p>
        </p:txBody>
      </p:sp>
      <p:sp>
        <p:nvSpPr>
          <p:cNvPr id="16" name="Shape 14"/>
          <p:cNvSpPr/>
          <p:nvPr/>
        </p:nvSpPr>
        <p:spPr>
          <a:xfrm>
            <a:off x="5577840" y="2048256"/>
            <a:ext cx="5669280" cy="2103120"/>
          </a:xfrm>
          <a:prstGeom prst="roundRect">
            <a:avLst>
              <a:gd name="adj" fmla="val 6087"/>
            </a:avLst>
          </a:prstGeom>
          <a:solidFill>
            <a:srgbClr val="E8F4EC"/>
          </a:solidFill>
          <a:ln/>
          <a:effectLst>
            <a:outerShdw sx="100000" sy="100000" kx="0" ky="0" algn="bl" rotWithShape="0" blurRad="127000" dist="25400" dir="5400000">
              <a:srgbClr val="241E33">
                <a:alpha val="10000"/>
              </a:srgbClr>
            </a:outerShdw>
          </a:effectLst>
        </p:spPr>
      </p:sp>
      <p:sp>
        <p:nvSpPr>
          <p:cNvPr id="17" name="Text 15"/>
          <p:cNvSpPr/>
          <p:nvPr/>
        </p:nvSpPr>
        <p:spPr>
          <a:xfrm>
            <a:off x="5870448" y="2194560"/>
            <a:ext cx="5120640" cy="256032"/>
          </a:xfrm>
          <a:prstGeom prst="rect">
            <a:avLst/>
          </a:prstGeom>
          <a:noFill/>
          <a:ln/>
        </p:spPr>
        <p:txBody>
          <a:bodyPr wrap="square" lIns="0" tIns="0" rIns="0" bIns="0" rtlCol="0" anchor="ctr"/>
          <a:lstStyle/>
          <a:p>
            <a:pPr indent="0" marL="0">
              <a:buNone/>
            </a:pPr>
            <a:r>
              <a:rPr lang="en-US" sz="900" b="1" spc="180" kern="0" dirty="0">
                <a:solidFill>
                  <a:srgbClr val="178A4C"/>
                </a:solidFill>
                <a:latin typeface="Calibri" pitchFamily="34" charset="0"/>
                <a:ea typeface="Calibri" pitchFamily="34" charset="-122"/>
                <a:cs typeface="Calibri" pitchFamily="34" charset="-120"/>
              </a:rPr>
              <a:t>WHAT ITS EDGE WOULD BE</a:t>
            </a:r>
            <a:endParaRPr lang="en-US" sz="900" dirty="0"/>
          </a:p>
        </p:txBody>
      </p:sp>
      <p:sp>
        <p:nvSpPr>
          <p:cNvPr id="18" name="Text 16"/>
          <p:cNvSpPr/>
          <p:nvPr/>
        </p:nvSpPr>
        <p:spPr>
          <a:xfrm>
            <a:off x="5907024" y="2487168"/>
            <a:ext cx="5074920" cy="1554480"/>
          </a:xfrm>
          <a:prstGeom prst="rect">
            <a:avLst/>
          </a:prstGeom>
          <a:noFill/>
          <a:ln/>
        </p:spPr>
        <p:txBody>
          <a:bodyPr wrap="square" lIns="0" tIns="0" rIns="0" bIns="0" rtlCol="0" anchor="ctr"/>
          <a:lstStyle/>
          <a:p>
            <a:pPr marL="342900" indent="-342900">
              <a:lnSpc>
                <a:spcPts val="1400"/>
              </a:lnSpc>
              <a:spcAft>
                <a:spcPts val="600"/>
              </a:spcAft>
              <a:buSzPct val="100000"/>
              <a:buChar char="•"/>
            </a:pPr>
            <a:r>
              <a:rPr lang="en-US" sz="1050" dirty="0">
                <a:solidFill>
                  <a:srgbClr val="1F4A33"/>
                </a:solidFill>
                <a:latin typeface="Calibri" pitchFamily="34" charset="0"/>
                <a:ea typeface="Calibri" pitchFamily="34" charset="-122"/>
                <a:cs typeface="Calibri" pitchFamily="34" charset="-120"/>
              </a:rPr>
              <a:t>One continuous ladder instead of a workbook per school year — the child never restarts, and a sibling can join at their own rung.</a:t>
            </a:r>
            <a:endParaRPr lang="en-US" sz="1050" dirty="0"/>
          </a:p>
        </p:txBody>
      </p:sp>
      <p:sp>
        <p:nvSpPr>
          <p:cNvPr id="19" name="Shape 17"/>
          <p:cNvSpPr/>
          <p:nvPr/>
        </p:nvSpPr>
        <p:spPr>
          <a:xfrm>
            <a:off x="5577840" y="4315968"/>
            <a:ext cx="5669280" cy="2103120"/>
          </a:xfrm>
          <a:prstGeom prst="roundRect">
            <a:avLst>
              <a:gd name="adj" fmla="val 6087"/>
            </a:avLst>
          </a:prstGeom>
          <a:solidFill>
            <a:srgbClr val="FBF3E0"/>
          </a:solidFill>
          <a:ln/>
          <a:effectLst>
            <a:outerShdw sx="100000" sy="100000" kx="0" ky="0" algn="bl" rotWithShape="0" blurRad="127000" dist="25400" dir="5400000">
              <a:srgbClr val="241E33">
                <a:alpha val="10000"/>
              </a:srgbClr>
            </a:outerShdw>
          </a:effectLst>
        </p:spPr>
      </p:sp>
      <p:sp>
        <p:nvSpPr>
          <p:cNvPr id="20" name="Text 18"/>
          <p:cNvSpPr/>
          <p:nvPr/>
        </p:nvSpPr>
        <p:spPr>
          <a:xfrm>
            <a:off x="5870448" y="4462272"/>
            <a:ext cx="5120640" cy="256032"/>
          </a:xfrm>
          <a:prstGeom prst="rect">
            <a:avLst/>
          </a:prstGeom>
          <a:noFill/>
          <a:ln/>
        </p:spPr>
        <p:txBody>
          <a:bodyPr wrap="square" lIns="0" tIns="0" rIns="0" bIns="0" rtlCol="0" anchor="ctr"/>
          <a:lstStyle/>
          <a:p>
            <a:pPr indent="0" marL="0">
              <a:buNone/>
            </a:pPr>
            <a:r>
              <a:rPr lang="en-US" sz="900" b="1" spc="180" kern="0" dirty="0">
                <a:solidFill>
                  <a:srgbClr val="8A5B00"/>
                </a:solidFill>
                <a:latin typeface="Calibri" pitchFamily="34" charset="0"/>
                <a:ea typeface="Calibri" pitchFamily="34" charset="-122"/>
                <a:cs typeface="Calibri" pitchFamily="34" charset="-120"/>
              </a:rPr>
              <a:t>WHAT STILL HAS TO BE BUILT</a:t>
            </a:r>
            <a:endParaRPr lang="en-US" sz="900" dirty="0"/>
          </a:p>
        </p:txBody>
      </p:sp>
      <p:sp>
        <p:nvSpPr>
          <p:cNvPr id="21" name="Text 19"/>
          <p:cNvSpPr/>
          <p:nvPr/>
        </p:nvSpPr>
        <p:spPr>
          <a:xfrm>
            <a:off x="5907024" y="4754880"/>
            <a:ext cx="5074920" cy="1554480"/>
          </a:xfrm>
          <a:prstGeom prst="rect">
            <a:avLst/>
          </a:prstGeom>
          <a:noFill/>
          <a:ln/>
        </p:spPr>
        <p:txBody>
          <a:bodyPr wrap="square" lIns="0" tIns="0" rIns="0" bIns="0" rtlCol="0" anchor="ctr"/>
          <a:lstStyle/>
          <a:p>
            <a:pPr marL="342900" indent="-342900">
              <a:lnSpc>
                <a:spcPts val="1400"/>
              </a:lnSpc>
              <a:spcAft>
                <a:spcPts val="600"/>
              </a:spcAft>
              <a:buSzPct val="100000"/>
              <a:buChar char="•"/>
            </a:pPr>
            <a:r>
              <a:rPr lang="en-US" sz="1050" dirty="0">
                <a:solidFill>
                  <a:srgbClr val="8A5B00"/>
                </a:solidFill>
                <a:latin typeface="Calibri" pitchFamily="34" charset="0"/>
                <a:ea typeface="Calibri" pitchFamily="34" charset="-122"/>
                <a:cs typeface="Calibri" pitchFamily="34" charset="-120"/>
              </a:rPr>
              <a:t>A grammar and punctuation curriculum</a:t>
            </a:r>
            <a:endParaRPr lang="en-US" sz="1050" dirty="0"/>
          </a:p>
          <a:p>
            <a:pPr marL="342900" indent="-342900">
              <a:lnSpc>
                <a:spcPts val="1400"/>
              </a:lnSpc>
              <a:spcAft>
                <a:spcPts val="600"/>
              </a:spcAft>
              <a:buSzPct val="100000"/>
              <a:buChar char="•"/>
            </a:pPr>
            <a:r>
              <a:rPr lang="en-US" sz="1050" dirty="0">
                <a:solidFill>
                  <a:srgbClr val="8A5B00"/>
                </a:solidFill>
                <a:latin typeface="Calibri" pitchFamily="34" charset="0"/>
                <a:ea typeface="Calibri" pitchFamily="34" charset="-122"/>
                <a:cs typeface="Calibri" pitchFamily="34" charset="-120"/>
              </a:rPr>
              <a:t>A comprehension passage bank with questions</a:t>
            </a:r>
            <a:endParaRPr lang="en-US" sz="1050" dirty="0"/>
          </a:p>
          <a:p>
            <a:pPr marL="342900" indent="-342900">
              <a:lnSpc>
                <a:spcPts val="1400"/>
              </a:lnSpc>
              <a:spcAft>
                <a:spcPts val="600"/>
              </a:spcAft>
              <a:buSzPct val="100000"/>
              <a:buChar char="•"/>
            </a:pPr>
            <a:r>
              <a:rPr lang="en-US" sz="1050" dirty="0">
                <a:solidFill>
                  <a:srgbClr val="8A5B00"/>
                </a:solidFill>
                <a:latin typeface="Calibri" pitchFamily="34" charset="0"/>
                <a:ea typeface="Calibri" pitchFamily="34" charset="-122"/>
                <a:cs typeface="Calibri" pitchFamily="34" charset="-120"/>
              </a:rPr>
              <a:t>A writing-feedback loop — the hardest single thing in the whole house, and the one to prototype before committing</a:t>
            </a:r>
            <a:endParaRPr lang="en-US" sz="1050" dirty="0"/>
          </a:p>
        </p:txBody>
      </p:sp>
      <p:sp>
        <p:nvSpPr>
          <p:cNvPr id="22" name="Text 20"/>
          <p:cNvSpPr/>
          <p:nvPr/>
        </p:nvSpPr>
        <p:spPr>
          <a:xfrm>
            <a:off x="640080" y="6272784"/>
            <a:ext cx="4846320" cy="310896"/>
          </a:xfrm>
          <a:prstGeom prst="rect">
            <a:avLst/>
          </a:prstGeom>
          <a:noFill/>
          <a:ln/>
        </p:spPr>
        <p:txBody>
          <a:bodyPr wrap="square" lIns="0" tIns="0" rIns="0" bIns="0" rtlCol="0" anchor="ctr"/>
          <a:lstStyle/>
          <a:p>
            <a:pPr indent="0" marL="0">
              <a:buNone/>
            </a:pPr>
            <a:r>
              <a:rPr lang="en-US" sz="1050" b="1" dirty="0">
                <a:solidFill>
                  <a:srgbClr val="7A7291"/>
                </a:solidFill>
                <a:latin typeface="Calibri" pitchFamily="34" charset="0"/>
                <a:ea typeface="Calibri" pitchFamily="34" charset="-122"/>
                <a:cs typeface="Calibri" pitchFamily="34" charset="-120"/>
              </a:rPr>
              <a:t>Ages 6–16</a:t>
            </a:r>
            <a:pPr indent="0" marL="0">
              <a:buNone/>
            </a:pPr>
            <a:r>
              <a:rPr lang="en-US" sz="1050" dirty="0">
                <a:solidFill>
                  <a:srgbClr val="7A7291"/>
                </a:solidFill>
                <a:latin typeface="Calibri" pitchFamily="34" charset="0"/>
                <a:ea typeface="Calibri" pitchFamily="34" charset="-122"/>
                <a:cs typeface="Calibri" pitchFamily="34" charset="-120"/>
              </a:rPr>
              <a:t>   ·   engine reuse: </a:t>
            </a:r>
            <a:pPr indent="0" marL="0">
              <a:buNone/>
            </a:pPr>
            <a:r>
              <a:rPr lang="en-US" sz="1050" b="1" dirty="0">
                <a:solidFill>
                  <a:srgbClr val="7A7291"/>
                </a:solidFill>
                <a:latin typeface="Calibri" pitchFamily="34" charset="0"/>
                <a:ea typeface="Calibri" pitchFamily="34" charset="-122"/>
                <a:cs typeface="Calibri" pitchFamily="34" charset="-120"/>
              </a:rPr>
              <a:t>Concept engine; writing is new</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PRODUCT 7 OF 8</a:t>
            </a:r>
            <a:endParaRPr lang="en-US" sz="1150" dirty="0"/>
          </a:p>
        </p:txBody>
      </p:sp>
      <p:sp>
        <p:nvSpPr>
          <p:cNvPr id="3" name="Text 1"/>
          <p:cNvSpPr/>
          <p:nvPr/>
        </p:nvSpPr>
        <p:spPr>
          <a:xfrm>
            <a:off x="640080" y="694944"/>
            <a:ext cx="78638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Bizzing Maths</a:t>
            </a:r>
            <a:endParaRPr lang="en-US" sz="2900" dirty="0"/>
          </a:p>
        </p:txBody>
      </p:sp>
      <p:sp>
        <p:nvSpPr>
          <p:cNvPr id="4" name="Shape 2"/>
          <p:cNvSpPr/>
          <p:nvPr/>
        </p:nvSpPr>
        <p:spPr>
          <a:xfrm>
            <a:off x="8732520" y="749808"/>
            <a:ext cx="2514600" cy="384048"/>
          </a:xfrm>
          <a:prstGeom prst="roundRect">
            <a:avLst>
              <a:gd name="adj" fmla="val 50000"/>
            </a:avLst>
          </a:prstGeom>
          <a:solidFill>
            <a:srgbClr val="6C4FE0"/>
          </a:solidFill>
          <a:ln/>
        </p:spPr>
      </p:sp>
      <p:sp>
        <p:nvSpPr>
          <p:cNvPr id="5" name="Text 3"/>
          <p:cNvSpPr/>
          <p:nvPr/>
        </p:nvSpPr>
        <p:spPr>
          <a:xfrm>
            <a:off x="8732520" y="749808"/>
            <a:ext cx="2514600" cy="384048"/>
          </a:xfrm>
          <a:prstGeom prst="rect">
            <a:avLst/>
          </a:prstGeom>
          <a:noFill/>
          <a:ln/>
        </p:spPr>
        <p:txBody>
          <a:bodyPr wrap="square" lIns="0" tIns="0" rIns="0" bIns="0" rtlCol="0" anchor="ctr"/>
          <a:lstStyle/>
          <a:p>
            <a:pPr algn="ctr" indent="0" marL="0">
              <a:buNone/>
            </a:pPr>
            <a:r>
              <a:rPr lang="en-US" sz="1000" b="1" spc="120" kern="0" dirty="0">
                <a:solidFill>
                  <a:srgbClr val="FFFFFF"/>
                </a:solidFill>
                <a:latin typeface="Calibri" pitchFamily="34" charset="0"/>
                <a:ea typeface="Calibri" pitchFamily="34" charset="-122"/>
                <a:cs typeface="Calibri" pitchFamily="34" charset="-120"/>
              </a:rPr>
              <a:t>PLANNED</a:t>
            </a:r>
            <a:endParaRPr lang="en-US" sz="1000" dirty="0"/>
          </a:p>
        </p:txBody>
      </p:sp>
      <p:sp>
        <p:nvSpPr>
          <p:cNvPr id="6" name="Text 4"/>
          <p:cNvSpPr/>
          <p:nvPr/>
        </p:nvSpPr>
        <p:spPr>
          <a:xfrm>
            <a:off x="640080" y="1444752"/>
            <a:ext cx="8778240" cy="585216"/>
          </a:xfrm>
          <a:prstGeom prst="rect">
            <a:avLst/>
          </a:prstGeom>
          <a:noFill/>
          <a:ln/>
        </p:spPr>
        <p:txBody>
          <a:bodyPr wrap="square" lIns="0" tIns="0" rIns="0" bIns="0" rtlCol="0" anchor="ctr"/>
          <a:lstStyle/>
          <a:p>
            <a:pPr indent="0" marL="0">
              <a:lnSpc>
                <a:spcPts val="2100"/>
              </a:lnSpc>
              <a:buNone/>
            </a:pPr>
            <a:r>
              <a:rPr lang="en-US" sz="1600" i="1" dirty="0">
                <a:solidFill>
                  <a:srgbClr val="6C4FE0"/>
                </a:solidFill>
                <a:latin typeface="Cambria" pitchFamily="34" charset="0"/>
                <a:ea typeface="Cambria" pitchFamily="34" charset="-122"/>
                <a:cs typeface="Cambria" pitchFamily="34" charset="-120"/>
              </a:rPr>
              <a:t>A child who is fast and fearless with numbers, and knows why the trick works.</a:t>
            </a:r>
            <a:endParaRPr lang="en-US" sz="1600" dirty="0"/>
          </a:p>
        </p:txBody>
      </p:sp>
      <p:sp>
        <p:nvSpPr>
          <p:cNvPr id="7" name="Shape 5"/>
          <p:cNvSpPr/>
          <p:nvPr/>
        </p:nvSpPr>
        <p:spPr>
          <a:xfrm rot="5400000">
            <a:off x="640080" y="2103120"/>
            <a:ext cx="457200" cy="457200"/>
          </a:xfrm>
          <a:prstGeom prst="hexagon">
            <a:avLst/>
          </a:prstGeom>
          <a:solidFill>
            <a:srgbClr val="6C4FE0"/>
          </a:solidFill>
          <a:ln/>
        </p:spPr>
      </p:sp>
      <p:sp>
        <p:nvSpPr>
          <p:cNvPr id="8" name="Text 6"/>
          <p:cNvSpPr/>
          <p:nvPr/>
        </p:nvSpPr>
        <p:spPr>
          <a:xfrm>
            <a:off x="640080" y="2103120"/>
            <a:ext cx="457200" cy="45720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WHY</a:t>
            </a:r>
            <a:endParaRPr lang="en-US" sz="850" dirty="0"/>
          </a:p>
        </p:txBody>
      </p:sp>
      <p:sp>
        <p:nvSpPr>
          <p:cNvPr id="9" name="Text 7"/>
          <p:cNvSpPr/>
          <p:nvPr/>
        </p:nvSpPr>
        <p:spPr>
          <a:xfrm>
            <a:off x="1261872" y="2084832"/>
            <a:ext cx="4114800" cy="1280160"/>
          </a:xfrm>
          <a:prstGeom prst="rect">
            <a:avLst/>
          </a:prstGeom>
          <a:noFill/>
          <a:ln/>
        </p:spPr>
        <p:txBody>
          <a:bodyPr wrap="square" lIns="0" tIns="0" rIns="0" bIns="0" rtlCol="0" anchor="ctr"/>
          <a:lstStyle/>
          <a:p>
            <a:pPr indent="0" marL="0">
              <a:lnSpc>
                <a:spcPts val="1550"/>
              </a:lnSpc>
              <a:buNone/>
            </a:pPr>
            <a:r>
              <a:rPr lang="en-US" sz="1150" dirty="0">
                <a:solidFill>
                  <a:srgbClr val="4A4360"/>
                </a:solidFill>
                <a:latin typeface="Calibri" pitchFamily="34" charset="0"/>
                <a:ea typeface="Calibri" pitchFamily="34" charset="-122"/>
                <a:cs typeface="Calibri" pitchFamily="34" charset="-120"/>
              </a:rPr>
              <a:t>Already named in the trademark filing. Mental maths and competition maths are the largest adjacent category to spelling in this community, and abacus and Vedic programmes already have the parents’ attention.</a:t>
            </a:r>
            <a:endParaRPr lang="en-US" sz="1150" dirty="0"/>
          </a:p>
        </p:txBody>
      </p:sp>
      <p:sp>
        <p:nvSpPr>
          <p:cNvPr id="10" name="Shape 8"/>
          <p:cNvSpPr/>
          <p:nvPr/>
        </p:nvSpPr>
        <p:spPr>
          <a:xfrm rot="5400000">
            <a:off x="640080" y="3493008"/>
            <a:ext cx="457200" cy="457200"/>
          </a:xfrm>
          <a:prstGeom prst="hexagon">
            <a:avLst/>
          </a:prstGeom>
          <a:solidFill>
            <a:srgbClr val="F0B429"/>
          </a:solidFill>
          <a:ln/>
        </p:spPr>
      </p:sp>
      <p:sp>
        <p:nvSpPr>
          <p:cNvPr id="11" name="Text 9"/>
          <p:cNvSpPr/>
          <p:nvPr/>
        </p:nvSpPr>
        <p:spPr>
          <a:xfrm>
            <a:off x="640080" y="3493008"/>
            <a:ext cx="457200" cy="457200"/>
          </a:xfrm>
          <a:prstGeom prst="rect">
            <a:avLst/>
          </a:prstGeom>
          <a:noFill/>
          <a:ln/>
        </p:spPr>
        <p:txBody>
          <a:bodyPr wrap="square" lIns="0" tIns="0" rIns="0" bIns="0" rtlCol="0" anchor="ctr"/>
          <a:lstStyle/>
          <a:p>
            <a:pPr algn="ctr" indent="0" marL="0">
              <a:buNone/>
            </a:pPr>
            <a:r>
              <a:rPr lang="en-US" sz="850" b="1" dirty="0">
                <a:solidFill>
                  <a:srgbClr val="241E33"/>
                </a:solidFill>
                <a:latin typeface="Calibri" pitchFamily="34" charset="0"/>
                <a:ea typeface="Calibri" pitchFamily="34" charset="-122"/>
                <a:cs typeface="Calibri" pitchFamily="34" charset="-120"/>
              </a:rPr>
              <a:t>WHAT</a:t>
            </a:r>
            <a:endParaRPr lang="en-US" sz="850" dirty="0"/>
          </a:p>
        </p:txBody>
      </p:sp>
      <p:sp>
        <p:nvSpPr>
          <p:cNvPr id="12" name="Text 10"/>
          <p:cNvSpPr/>
          <p:nvPr/>
        </p:nvSpPr>
        <p:spPr>
          <a:xfrm>
            <a:off x="1261872" y="3474720"/>
            <a:ext cx="4114800" cy="1280160"/>
          </a:xfrm>
          <a:prstGeom prst="rect">
            <a:avLst/>
          </a:prstGeom>
          <a:noFill/>
          <a:ln/>
        </p:spPr>
        <p:txBody>
          <a:bodyPr wrap="square" lIns="0" tIns="0" rIns="0" bIns="0" rtlCol="0" anchor="ctr"/>
          <a:lstStyle/>
          <a:p>
            <a:pPr indent="0" marL="0">
              <a:lnSpc>
                <a:spcPts val="1550"/>
              </a:lnSpc>
              <a:buNone/>
            </a:pPr>
            <a:r>
              <a:rPr lang="en-US" sz="1150" dirty="0">
                <a:solidFill>
                  <a:srgbClr val="4A4360"/>
                </a:solidFill>
                <a:latin typeface="Calibri" pitchFamily="34" charset="0"/>
                <a:ea typeface="Calibri" pitchFamily="34" charset="-122"/>
                <a:cs typeface="Calibri" pitchFamily="34" charset="-120"/>
              </a:rPr>
              <a:t>Fact fluency, mental-maths and Vedic techniques, then a decision about competition problems.</a:t>
            </a:r>
            <a:endParaRPr lang="en-US" sz="1150" dirty="0"/>
          </a:p>
        </p:txBody>
      </p:sp>
      <p:sp>
        <p:nvSpPr>
          <p:cNvPr id="13" name="Shape 11"/>
          <p:cNvSpPr/>
          <p:nvPr/>
        </p:nvSpPr>
        <p:spPr>
          <a:xfrm rot="5400000">
            <a:off x="640080" y="4882896"/>
            <a:ext cx="457200" cy="457200"/>
          </a:xfrm>
          <a:prstGeom prst="hexagon">
            <a:avLst/>
          </a:prstGeom>
          <a:solidFill>
            <a:srgbClr val="6C4FE0"/>
          </a:solidFill>
          <a:ln/>
        </p:spPr>
      </p:sp>
      <p:sp>
        <p:nvSpPr>
          <p:cNvPr id="14" name="Text 12"/>
          <p:cNvSpPr/>
          <p:nvPr/>
        </p:nvSpPr>
        <p:spPr>
          <a:xfrm>
            <a:off x="640080" y="4882896"/>
            <a:ext cx="457200" cy="45720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HOW</a:t>
            </a:r>
            <a:endParaRPr lang="en-US" sz="850" dirty="0"/>
          </a:p>
        </p:txBody>
      </p:sp>
      <p:sp>
        <p:nvSpPr>
          <p:cNvPr id="15" name="Text 13"/>
          <p:cNvSpPr/>
          <p:nvPr/>
        </p:nvSpPr>
        <p:spPr>
          <a:xfrm>
            <a:off x="1261872" y="4864608"/>
            <a:ext cx="4114800" cy="1280160"/>
          </a:xfrm>
          <a:prstGeom prst="rect">
            <a:avLst/>
          </a:prstGeom>
          <a:noFill/>
          <a:ln/>
        </p:spPr>
        <p:txBody>
          <a:bodyPr wrap="square" lIns="0" tIns="0" rIns="0" bIns="0" rtlCol="0" anchor="ctr"/>
          <a:lstStyle/>
          <a:p>
            <a:pPr indent="0" marL="0">
              <a:lnSpc>
                <a:spcPts val="1550"/>
              </a:lnSpc>
              <a:buNone/>
            </a:pPr>
            <a:r>
              <a:rPr lang="en-US" sz="1150" dirty="0">
                <a:solidFill>
                  <a:srgbClr val="4A4360"/>
                </a:solidFill>
                <a:latin typeface="Calibri" pitchFamily="34" charset="0"/>
                <a:ea typeface="Calibri" pitchFamily="34" charset="-122"/>
                <a:cs typeface="Calibri" pitchFamily="34" charset="-120"/>
              </a:rPr>
              <a:t>Fact drills reuse the engine almost exactly. Competition problems do NOT — they need worked solutions and a solver, which is a different product.</a:t>
            </a:r>
            <a:endParaRPr lang="en-US" sz="1150" dirty="0"/>
          </a:p>
        </p:txBody>
      </p:sp>
      <p:sp>
        <p:nvSpPr>
          <p:cNvPr id="16" name="Shape 14"/>
          <p:cNvSpPr/>
          <p:nvPr/>
        </p:nvSpPr>
        <p:spPr>
          <a:xfrm>
            <a:off x="5577840" y="2048256"/>
            <a:ext cx="5669280" cy="2103120"/>
          </a:xfrm>
          <a:prstGeom prst="roundRect">
            <a:avLst>
              <a:gd name="adj" fmla="val 6087"/>
            </a:avLst>
          </a:prstGeom>
          <a:solidFill>
            <a:srgbClr val="E8F4EC"/>
          </a:solidFill>
          <a:ln/>
          <a:effectLst>
            <a:outerShdw sx="100000" sy="100000" kx="0" ky="0" algn="bl" rotWithShape="0" blurRad="127000" dist="25400" dir="5400000">
              <a:srgbClr val="241E33">
                <a:alpha val="10000"/>
              </a:srgbClr>
            </a:outerShdw>
          </a:effectLst>
        </p:spPr>
      </p:sp>
      <p:sp>
        <p:nvSpPr>
          <p:cNvPr id="17" name="Text 15"/>
          <p:cNvSpPr/>
          <p:nvPr/>
        </p:nvSpPr>
        <p:spPr>
          <a:xfrm>
            <a:off x="5870448" y="2194560"/>
            <a:ext cx="5120640" cy="256032"/>
          </a:xfrm>
          <a:prstGeom prst="rect">
            <a:avLst/>
          </a:prstGeom>
          <a:noFill/>
          <a:ln/>
        </p:spPr>
        <p:txBody>
          <a:bodyPr wrap="square" lIns="0" tIns="0" rIns="0" bIns="0" rtlCol="0" anchor="ctr"/>
          <a:lstStyle/>
          <a:p>
            <a:pPr indent="0" marL="0">
              <a:buNone/>
            </a:pPr>
            <a:r>
              <a:rPr lang="en-US" sz="900" b="1" spc="180" kern="0" dirty="0">
                <a:solidFill>
                  <a:srgbClr val="178A4C"/>
                </a:solidFill>
                <a:latin typeface="Calibri" pitchFamily="34" charset="0"/>
                <a:ea typeface="Calibri" pitchFamily="34" charset="-122"/>
                <a:cs typeface="Calibri" pitchFamily="34" charset="-120"/>
              </a:rPr>
              <a:t>WHAT ITS EDGE WOULD BE</a:t>
            </a:r>
            <a:endParaRPr lang="en-US" sz="900" dirty="0"/>
          </a:p>
        </p:txBody>
      </p:sp>
      <p:sp>
        <p:nvSpPr>
          <p:cNvPr id="18" name="Text 16"/>
          <p:cNvSpPr/>
          <p:nvPr/>
        </p:nvSpPr>
        <p:spPr>
          <a:xfrm>
            <a:off x="5907024" y="2487168"/>
            <a:ext cx="5074920" cy="1554480"/>
          </a:xfrm>
          <a:prstGeom prst="rect">
            <a:avLst/>
          </a:prstGeom>
          <a:noFill/>
          <a:ln/>
        </p:spPr>
        <p:txBody>
          <a:bodyPr wrap="square" lIns="0" tIns="0" rIns="0" bIns="0" rtlCol="0" anchor="ctr"/>
          <a:lstStyle/>
          <a:p>
            <a:pPr marL="342900" indent="-342900">
              <a:lnSpc>
                <a:spcPts val="1400"/>
              </a:lnSpc>
              <a:spcAft>
                <a:spcPts val="600"/>
              </a:spcAft>
              <a:buSzPct val="100000"/>
              <a:buChar char="•"/>
            </a:pPr>
            <a:r>
              <a:rPr lang="en-US" sz="1050" dirty="0">
                <a:solidFill>
                  <a:srgbClr val="1F4A33"/>
                </a:solidFill>
                <a:latin typeface="Calibri" pitchFamily="34" charset="0"/>
                <a:ea typeface="Calibri" pitchFamily="34" charset="-122"/>
                <a:cs typeface="Calibri" pitchFamily="34" charset="-120"/>
              </a:rPr>
              <a:t>Would be the only mental-maths product that also teaches the reasoning, using the same concept-chapter model as the Bee.</a:t>
            </a:r>
            <a:endParaRPr lang="en-US" sz="1050" dirty="0"/>
          </a:p>
        </p:txBody>
      </p:sp>
      <p:sp>
        <p:nvSpPr>
          <p:cNvPr id="19" name="Shape 17"/>
          <p:cNvSpPr/>
          <p:nvPr/>
        </p:nvSpPr>
        <p:spPr>
          <a:xfrm>
            <a:off x="5577840" y="4315968"/>
            <a:ext cx="5669280" cy="2103120"/>
          </a:xfrm>
          <a:prstGeom prst="roundRect">
            <a:avLst>
              <a:gd name="adj" fmla="val 6087"/>
            </a:avLst>
          </a:prstGeom>
          <a:solidFill>
            <a:srgbClr val="FBF3E0"/>
          </a:solidFill>
          <a:ln/>
          <a:effectLst>
            <a:outerShdw sx="100000" sy="100000" kx="0" ky="0" algn="bl" rotWithShape="0" blurRad="127000" dist="25400" dir="5400000">
              <a:srgbClr val="241E33">
                <a:alpha val="10000"/>
              </a:srgbClr>
            </a:outerShdw>
          </a:effectLst>
        </p:spPr>
      </p:sp>
      <p:sp>
        <p:nvSpPr>
          <p:cNvPr id="20" name="Text 18"/>
          <p:cNvSpPr/>
          <p:nvPr/>
        </p:nvSpPr>
        <p:spPr>
          <a:xfrm>
            <a:off x="5870448" y="4462272"/>
            <a:ext cx="5120640" cy="256032"/>
          </a:xfrm>
          <a:prstGeom prst="rect">
            <a:avLst/>
          </a:prstGeom>
          <a:noFill/>
          <a:ln/>
        </p:spPr>
        <p:txBody>
          <a:bodyPr wrap="square" lIns="0" tIns="0" rIns="0" bIns="0" rtlCol="0" anchor="ctr"/>
          <a:lstStyle/>
          <a:p>
            <a:pPr indent="0" marL="0">
              <a:buNone/>
            </a:pPr>
            <a:r>
              <a:rPr lang="en-US" sz="900" b="1" spc="180" kern="0" dirty="0">
                <a:solidFill>
                  <a:srgbClr val="8A5B00"/>
                </a:solidFill>
                <a:latin typeface="Calibri" pitchFamily="34" charset="0"/>
                <a:ea typeface="Calibri" pitchFamily="34" charset="-122"/>
                <a:cs typeface="Calibri" pitchFamily="34" charset="-120"/>
              </a:rPr>
              <a:t>WHAT STILL HAS TO BE BUILT</a:t>
            </a:r>
            <a:endParaRPr lang="en-US" sz="900" dirty="0"/>
          </a:p>
        </p:txBody>
      </p:sp>
      <p:sp>
        <p:nvSpPr>
          <p:cNvPr id="21" name="Text 19"/>
          <p:cNvSpPr/>
          <p:nvPr/>
        </p:nvSpPr>
        <p:spPr>
          <a:xfrm>
            <a:off x="5907024" y="4754880"/>
            <a:ext cx="5074920" cy="1554480"/>
          </a:xfrm>
          <a:prstGeom prst="rect">
            <a:avLst/>
          </a:prstGeom>
          <a:noFill/>
          <a:ln/>
        </p:spPr>
        <p:txBody>
          <a:bodyPr wrap="square" lIns="0" tIns="0" rIns="0" bIns="0" rtlCol="0" anchor="ctr"/>
          <a:lstStyle/>
          <a:p>
            <a:pPr marL="342900" indent="-342900">
              <a:lnSpc>
                <a:spcPts val="1400"/>
              </a:lnSpc>
              <a:spcAft>
                <a:spcPts val="600"/>
              </a:spcAft>
              <a:buSzPct val="100000"/>
              <a:buChar char="•"/>
            </a:pPr>
            <a:r>
              <a:rPr lang="en-US" sz="1050" dirty="0">
                <a:solidFill>
                  <a:srgbClr val="8A5B00"/>
                </a:solidFill>
                <a:latin typeface="Calibri" pitchFamily="34" charset="0"/>
                <a:ea typeface="Calibri" pitchFamily="34" charset="-122"/>
                <a:cs typeface="Calibri" pitchFamily="34" charset="-120"/>
              </a:rPr>
              <a:t>A fact-fluency bank and a Vedic technique chapter set</a:t>
            </a:r>
            <a:endParaRPr lang="en-US" sz="1050" dirty="0"/>
          </a:p>
          <a:p>
            <a:pPr marL="342900" indent="-342900">
              <a:lnSpc>
                <a:spcPts val="1400"/>
              </a:lnSpc>
              <a:spcAft>
                <a:spcPts val="600"/>
              </a:spcAft>
              <a:buSzPct val="100000"/>
              <a:buChar char="•"/>
            </a:pPr>
            <a:r>
              <a:rPr lang="en-US" sz="1050" dirty="0">
                <a:solidFill>
                  <a:srgbClr val="8A5B00"/>
                </a:solidFill>
                <a:latin typeface="Calibri" pitchFamily="34" charset="0"/>
                <a:ea typeface="Calibri" pitchFamily="34" charset="-122"/>
                <a:cs typeface="Calibri" pitchFamily="34" charset="-120"/>
              </a:rPr>
              <a:t>An honest decision on competition maths — it is the demand, and it is the part that does not reuse anything</a:t>
            </a:r>
            <a:endParaRPr lang="en-US" sz="1050" dirty="0"/>
          </a:p>
          <a:p>
            <a:pPr marL="342900" indent="-342900">
              <a:lnSpc>
                <a:spcPts val="1400"/>
              </a:lnSpc>
              <a:spcAft>
                <a:spcPts val="600"/>
              </a:spcAft>
              <a:buSzPct val="100000"/>
              <a:buChar char="•"/>
            </a:pPr>
            <a:r>
              <a:rPr lang="en-US" sz="1050" dirty="0">
                <a:solidFill>
                  <a:srgbClr val="8A5B00"/>
                </a:solidFill>
                <a:latin typeface="Calibri" pitchFamily="34" charset="0"/>
                <a:ea typeface="Calibri" pitchFamily="34" charset="-122"/>
                <a:cs typeface="Calibri" pitchFamily="34" charset="-120"/>
              </a:rPr>
              <a:t>Numeric input and working-out capture, which the word engine has never needed</a:t>
            </a:r>
            <a:endParaRPr lang="en-US" sz="1050" dirty="0"/>
          </a:p>
        </p:txBody>
      </p:sp>
      <p:sp>
        <p:nvSpPr>
          <p:cNvPr id="22" name="Text 20"/>
          <p:cNvSpPr/>
          <p:nvPr/>
        </p:nvSpPr>
        <p:spPr>
          <a:xfrm>
            <a:off x="640080" y="6272784"/>
            <a:ext cx="4846320" cy="310896"/>
          </a:xfrm>
          <a:prstGeom prst="rect">
            <a:avLst/>
          </a:prstGeom>
          <a:noFill/>
          <a:ln/>
        </p:spPr>
        <p:txBody>
          <a:bodyPr wrap="square" lIns="0" tIns="0" rIns="0" bIns="0" rtlCol="0" anchor="ctr"/>
          <a:lstStyle/>
          <a:p>
            <a:pPr indent="0" marL="0">
              <a:buNone/>
            </a:pPr>
            <a:r>
              <a:rPr lang="en-US" sz="1050" b="1" dirty="0">
                <a:solidFill>
                  <a:srgbClr val="7A7291"/>
                </a:solidFill>
                <a:latin typeface="Calibri" pitchFamily="34" charset="0"/>
                <a:ea typeface="Calibri" pitchFamily="34" charset="-122"/>
                <a:cs typeface="Calibri" pitchFamily="34" charset="-120"/>
              </a:rPr>
              <a:t>Ages 6–14</a:t>
            </a:r>
            <a:pPr indent="0" marL="0">
              <a:buNone/>
            </a:pPr>
            <a:r>
              <a:rPr lang="en-US" sz="1050" dirty="0">
                <a:solidFill>
                  <a:srgbClr val="7A7291"/>
                </a:solidFill>
                <a:latin typeface="Calibri" pitchFamily="34" charset="0"/>
                <a:ea typeface="Calibri" pitchFamily="34" charset="-122"/>
                <a:cs typeface="Calibri" pitchFamily="34" charset="-120"/>
              </a:rPr>
              <a:t>   ·   engine reuse: </a:t>
            </a:r>
            <a:pPr indent="0" marL="0">
              <a:buNone/>
            </a:pPr>
            <a:r>
              <a:rPr lang="en-US" sz="1050" b="1" dirty="0">
                <a:solidFill>
                  <a:srgbClr val="7A7291"/>
                </a:solidFill>
                <a:latin typeface="Calibri" pitchFamily="34" charset="0"/>
                <a:ea typeface="Calibri" pitchFamily="34" charset="-122"/>
                <a:cs typeface="Calibri" pitchFamily="34" charset="-120"/>
              </a:rPr>
              <a:t>Drills yes, problems no</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PRODUCT 8 OF 8</a:t>
            </a:r>
            <a:endParaRPr lang="en-US" sz="1150" dirty="0"/>
          </a:p>
        </p:txBody>
      </p:sp>
      <p:sp>
        <p:nvSpPr>
          <p:cNvPr id="3" name="Text 1"/>
          <p:cNvSpPr/>
          <p:nvPr/>
        </p:nvSpPr>
        <p:spPr>
          <a:xfrm>
            <a:off x="640080" y="694944"/>
            <a:ext cx="78638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Bizzing Business</a:t>
            </a:r>
            <a:endParaRPr lang="en-US" sz="2900" dirty="0"/>
          </a:p>
        </p:txBody>
      </p:sp>
      <p:sp>
        <p:nvSpPr>
          <p:cNvPr id="4" name="Shape 2"/>
          <p:cNvSpPr/>
          <p:nvPr/>
        </p:nvSpPr>
        <p:spPr>
          <a:xfrm>
            <a:off x="8732520" y="749808"/>
            <a:ext cx="2514600" cy="384048"/>
          </a:xfrm>
          <a:prstGeom prst="roundRect">
            <a:avLst>
              <a:gd name="adj" fmla="val 50000"/>
            </a:avLst>
          </a:prstGeom>
          <a:solidFill>
            <a:srgbClr val="F0B429"/>
          </a:solidFill>
          <a:ln/>
        </p:spPr>
      </p:sp>
      <p:sp>
        <p:nvSpPr>
          <p:cNvPr id="5" name="Text 3"/>
          <p:cNvSpPr/>
          <p:nvPr/>
        </p:nvSpPr>
        <p:spPr>
          <a:xfrm>
            <a:off x="8732520" y="749808"/>
            <a:ext cx="2514600" cy="384048"/>
          </a:xfrm>
          <a:prstGeom prst="rect">
            <a:avLst/>
          </a:prstGeom>
          <a:noFill/>
          <a:ln/>
        </p:spPr>
        <p:txBody>
          <a:bodyPr wrap="square" lIns="0" tIns="0" rIns="0" bIns="0" rtlCol="0" anchor="ctr"/>
          <a:lstStyle/>
          <a:p>
            <a:pPr algn="ctr" indent="0" marL="0">
              <a:buNone/>
            </a:pPr>
            <a:r>
              <a:rPr lang="en-US" sz="1000" b="1" spc="120" kern="0" dirty="0">
                <a:solidFill>
                  <a:srgbClr val="241E33"/>
                </a:solidFill>
                <a:latin typeface="Calibri" pitchFamily="34" charset="0"/>
                <a:ea typeface="Calibri" pitchFamily="34" charset="-122"/>
                <a:cs typeface="Calibri" pitchFamily="34" charset="-120"/>
              </a:rPr>
              <a:t>EXPLORATORY</a:t>
            </a:r>
            <a:endParaRPr lang="en-US" sz="1000" dirty="0"/>
          </a:p>
        </p:txBody>
      </p:sp>
      <p:sp>
        <p:nvSpPr>
          <p:cNvPr id="6" name="Text 4"/>
          <p:cNvSpPr/>
          <p:nvPr/>
        </p:nvSpPr>
        <p:spPr>
          <a:xfrm>
            <a:off x="640080" y="1444752"/>
            <a:ext cx="8778240" cy="585216"/>
          </a:xfrm>
          <a:prstGeom prst="rect">
            <a:avLst/>
          </a:prstGeom>
          <a:noFill/>
          <a:ln/>
        </p:spPr>
        <p:txBody>
          <a:bodyPr wrap="square" lIns="0" tIns="0" rIns="0" bIns="0" rtlCol="0" anchor="ctr"/>
          <a:lstStyle/>
          <a:p>
            <a:pPr indent="0" marL="0">
              <a:lnSpc>
                <a:spcPts val="2100"/>
              </a:lnSpc>
              <a:buNone/>
            </a:pPr>
            <a:r>
              <a:rPr lang="en-US" sz="1600" i="1" dirty="0">
                <a:solidFill>
                  <a:srgbClr val="6C4FE0"/>
                </a:solidFill>
                <a:latin typeface="Cambria" pitchFamily="34" charset="0"/>
                <a:ea typeface="Cambria" pitchFamily="34" charset="-122"/>
                <a:cs typeface="Cambria" pitchFamily="34" charset="-120"/>
              </a:rPr>
              <a:t>A twelve-year-old who can look at a business and explain why it works.</a:t>
            </a:r>
            <a:endParaRPr lang="en-US" sz="1600" dirty="0"/>
          </a:p>
        </p:txBody>
      </p:sp>
      <p:sp>
        <p:nvSpPr>
          <p:cNvPr id="7" name="Shape 5"/>
          <p:cNvSpPr/>
          <p:nvPr/>
        </p:nvSpPr>
        <p:spPr>
          <a:xfrm rot="5400000">
            <a:off x="640080" y="2103120"/>
            <a:ext cx="457200" cy="457200"/>
          </a:xfrm>
          <a:prstGeom prst="hexagon">
            <a:avLst/>
          </a:prstGeom>
          <a:solidFill>
            <a:srgbClr val="6C4FE0"/>
          </a:solidFill>
          <a:ln/>
        </p:spPr>
      </p:sp>
      <p:sp>
        <p:nvSpPr>
          <p:cNvPr id="8" name="Text 6"/>
          <p:cNvSpPr/>
          <p:nvPr/>
        </p:nvSpPr>
        <p:spPr>
          <a:xfrm>
            <a:off x="640080" y="2103120"/>
            <a:ext cx="457200" cy="45720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WHY</a:t>
            </a:r>
            <a:endParaRPr lang="en-US" sz="850" dirty="0"/>
          </a:p>
        </p:txBody>
      </p:sp>
      <p:sp>
        <p:nvSpPr>
          <p:cNvPr id="9" name="Text 7"/>
          <p:cNvSpPr/>
          <p:nvPr/>
        </p:nvSpPr>
        <p:spPr>
          <a:xfrm>
            <a:off x="1261872" y="2084832"/>
            <a:ext cx="4114800" cy="1280160"/>
          </a:xfrm>
          <a:prstGeom prst="rect">
            <a:avLst/>
          </a:prstGeom>
          <a:noFill/>
          <a:ln/>
        </p:spPr>
        <p:txBody>
          <a:bodyPr wrap="square" lIns="0" tIns="0" rIns="0" bIns="0" rtlCol="0" anchor="ctr"/>
          <a:lstStyle/>
          <a:p>
            <a:pPr indent="0" marL="0">
              <a:lnSpc>
                <a:spcPts val="1550"/>
              </a:lnSpc>
              <a:buNone/>
            </a:pPr>
            <a:r>
              <a:rPr lang="en-US" sz="1150" dirty="0">
                <a:solidFill>
                  <a:srgbClr val="4A4360"/>
                </a:solidFill>
                <a:latin typeface="Calibri" pitchFamily="34" charset="0"/>
                <a:ea typeface="Calibri" pitchFamily="34" charset="-122"/>
                <a:cs typeface="Calibri" pitchFamily="34" charset="-120"/>
              </a:rPr>
              <a:t>It is what these families talk about at the dinner table, and almost nothing exists for children. It also lands squarely in the twelve-to-sixteen gap where the bee ends and families leave.</a:t>
            </a:r>
            <a:endParaRPr lang="en-US" sz="1150" dirty="0"/>
          </a:p>
        </p:txBody>
      </p:sp>
      <p:sp>
        <p:nvSpPr>
          <p:cNvPr id="10" name="Shape 8"/>
          <p:cNvSpPr/>
          <p:nvPr/>
        </p:nvSpPr>
        <p:spPr>
          <a:xfrm rot="5400000">
            <a:off x="640080" y="3493008"/>
            <a:ext cx="457200" cy="457200"/>
          </a:xfrm>
          <a:prstGeom prst="hexagon">
            <a:avLst/>
          </a:prstGeom>
          <a:solidFill>
            <a:srgbClr val="F0B429"/>
          </a:solidFill>
          <a:ln/>
        </p:spPr>
      </p:sp>
      <p:sp>
        <p:nvSpPr>
          <p:cNvPr id="11" name="Text 9"/>
          <p:cNvSpPr/>
          <p:nvPr/>
        </p:nvSpPr>
        <p:spPr>
          <a:xfrm>
            <a:off x="640080" y="3493008"/>
            <a:ext cx="457200" cy="457200"/>
          </a:xfrm>
          <a:prstGeom prst="rect">
            <a:avLst/>
          </a:prstGeom>
          <a:noFill/>
          <a:ln/>
        </p:spPr>
        <p:txBody>
          <a:bodyPr wrap="square" lIns="0" tIns="0" rIns="0" bIns="0" rtlCol="0" anchor="ctr"/>
          <a:lstStyle/>
          <a:p>
            <a:pPr algn="ctr" indent="0" marL="0">
              <a:buNone/>
            </a:pPr>
            <a:r>
              <a:rPr lang="en-US" sz="850" b="1" dirty="0">
                <a:solidFill>
                  <a:srgbClr val="241E33"/>
                </a:solidFill>
                <a:latin typeface="Calibri" pitchFamily="34" charset="0"/>
                <a:ea typeface="Calibri" pitchFamily="34" charset="-122"/>
                <a:cs typeface="Calibri" pitchFamily="34" charset="-120"/>
              </a:rPr>
              <a:t>WHAT</a:t>
            </a:r>
            <a:endParaRPr lang="en-US" sz="850" dirty="0"/>
          </a:p>
        </p:txBody>
      </p:sp>
      <p:sp>
        <p:nvSpPr>
          <p:cNvPr id="12" name="Text 10"/>
          <p:cNvSpPr/>
          <p:nvPr/>
        </p:nvSpPr>
        <p:spPr>
          <a:xfrm>
            <a:off x="1261872" y="3474720"/>
            <a:ext cx="4114800" cy="1280160"/>
          </a:xfrm>
          <a:prstGeom prst="rect">
            <a:avLst/>
          </a:prstGeom>
          <a:noFill/>
          <a:ln/>
        </p:spPr>
        <p:txBody>
          <a:bodyPr wrap="square" lIns="0" tIns="0" rIns="0" bIns="0" rtlCol="0" anchor="ctr"/>
          <a:lstStyle/>
          <a:p>
            <a:pPr indent="0" marL="0">
              <a:lnSpc>
                <a:spcPts val="1550"/>
              </a:lnSpc>
              <a:buNone/>
            </a:pPr>
            <a:r>
              <a:rPr lang="en-US" sz="1150" dirty="0">
                <a:solidFill>
                  <a:srgbClr val="4A4360"/>
                </a:solidFill>
                <a:latin typeface="Calibri" pitchFamily="34" charset="0"/>
                <a:ea typeface="Calibri" pitchFamily="34" charset="-122"/>
                <a:cs typeface="Calibri" pitchFamily="34" charset="-120"/>
              </a:rPr>
              <a:t>How a business makes money, pricing, customers, competition, brand and ethics — taught through real cases and capstone projects the child builds and pitches.</a:t>
            </a:r>
            <a:endParaRPr lang="en-US" sz="1150" dirty="0"/>
          </a:p>
        </p:txBody>
      </p:sp>
      <p:sp>
        <p:nvSpPr>
          <p:cNvPr id="13" name="Shape 11"/>
          <p:cNvSpPr/>
          <p:nvPr/>
        </p:nvSpPr>
        <p:spPr>
          <a:xfrm rot="5400000">
            <a:off x="640080" y="4882896"/>
            <a:ext cx="457200" cy="457200"/>
          </a:xfrm>
          <a:prstGeom prst="hexagon">
            <a:avLst/>
          </a:prstGeom>
          <a:solidFill>
            <a:srgbClr val="6C4FE0"/>
          </a:solidFill>
          <a:ln/>
        </p:spPr>
      </p:sp>
      <p:sp>
        <p:nvSpPr>
          <p:cNvPr id="14" name="Text 12"/>
          <p:cNvSpPr/>
          <p:nvPr/>
        </p:nvSpPr>
        <p:spPr>
          <a:xfrm>
            <a:off x="640080" y="4882896"/>
            <a:ext cx="457200" cy="45720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HOW</a:t>
            </a:r>
            <a:endParaRPr lang="en-US" sz="850" dirty="0"/>
          </a:p>
        </p:txBody>
      </p:sp>
      <p:sp>
        <p:nvSpPr>
          <p:cNvPr id="15" name="Text 13"/>
          <p:cNvSpPr/>
          <p:nvPr/>
        </p:nvSpPr>
        <p:spPr>
          <a:xfrm>
            <a:off x="1261872" y="4864608"/>
            <a:ext cx="4114800" cy="1280160"/>
          </a:xfrm>
          <a:prstGeom prst="rect">
            <a:avLst/>
          </a:prstGeom>
          <a:noFill/>
          <a:ln/>
        </p:spPr>
        <p:txBody>
          <a:bodyPr wrap="square" lIns="0" tIns="0" rIns="0" bIns="0" rtlCol="0" anchor="ctr"/>
          <a:lstStyle/>
          <a:p>
            <a:pPr indent="0" marL="0">
              <a:lnSpc>
                <a:spcPts val="1550"/>
              </a:lnSpc>
              <a:buNone/>
            </a:pPr>
            <a:r>
              <a:rPr lang="en-US" sz="1150" dirty="0">
                <a:solidFill>
                  <a:srgbClr val="4A4360"/>
                </a:solidFill>
                <a:latin typeface="Calibri" pitchFamily="34" charset="0"/>
                <a:ea typeface="Calibri" pitchFamily="34" charset="-122"/>
                <a:cs typeface="Calibri" pitchFamily="34" charset="-120"/>
              </a:rPr>
              <a:t>Case-based and project-based rather than drilled. This is the honest caveat: it is a different product shape from everything else in the house.</a:t>
            </a:r>
            <a:endParaRPr lang="en-US" sz="1150" dirty="0"/>
          </a:p>
        </p:txBody>
      </p:sp>
      <p:sp>
        <p:nvSpPr>
          <p:cNvPr id="16" name="Shape 14"/>
          <p:cNvSpPr/>
          <p:nvPr/>
        </p:nvSpPr>
        <p:spPr>
          <a:xfrm>
            <a:off x="5577840" y="2048256"/>
            <a:ext cx="5669280" cy="2103120"/>
          </a:xfrm>
          <a:prstGeom prst="roundRect">
            <a:avLst>
              <a:gd name="adj" fmla="val 6087"/>
            </a:avLst>
          </a:prstGeom>
          <a:solidFill>
            <a:srgbClr val="E8F4EC"/>
          </a:solidFill>
          <a:ln/>
          <a:effectLst>
            <a:outerShdw sx="100000" sy="100000" kx="0" ky="0" algn="bl" rotWithShape="0" blurRad="127000" dist="25400" dir="5400000">
              <a:srgbClr val="241E33">
                <a:alpha val="10000"/>
              </a:srgbClr>
            </a:outerShdw>
          </a:effectLst>
        </p:spPr>
      </p:sp>
      <p:sp>
        <p:nvSpPr>
          <p:cNvPr id="17" name="Text 15"/>
          <p:cNvSpPr/>
          <p:nvPr/>
        </p:nvSpPr>
        <p:spPr>
          <a:xfrm>
            <a:off x="5870448" y="2194560"/>
            <a:ext cx="5120640" cy="256032"/>
          </a:xfrm>
          <a:prstGeom prst="rect">
            <a:avLst/>
          </a:prstGeom>
          <a:noFill/>
          <a:ln/>
        </p:spPr>
        <p:txBody>
          <a:bodyPr wrap="square" lIns="0" tIns="0" rIns="0" bIns="0" rtlCol="0" anchor="ctr"/>
          <a:lstStyle/>
          <a:p>
            <a:pPr indent="0" marL="0">
              <a:buNone/>
            </a:pPr>
            <a:r>
              <a:rPr lang="en-US" sz="900" b="1" spc="180" kern="0" dirty="0">
                <a:solidFill>
                  <a:srgbClr val="178A4C"/>
                </a:solidFill>
                <a:latin typeface="Calibri" pitchFamily="34" charset="0"/>
                <a:ea typeface="Calibri" pitchFamily="34" charset="-122"/>
                <a:cs typeface="Calibri" pitchFamily="34" charset="-120"/>
              </a:rPr>
              <a:t>WHAT ITS EDGE WOULD BE</a:t>
            </a:r>
            <a:endParaRPr lang="en-US" sz="900" dirty="0"/>
          </a:p>
        </p:txBody>
      </p:sp>
      <p:sp>
        <p:nvSpPr>
          <p:cNvPr id="18" name="Text 16"/>
          <p:cNvSpPr/>
          <p:nvPr/>
        </p:nvSpPr>
        <p:spPr>
          <a:xfrm>
            <a:off x="5907024" y="2487168"/>
            <a:ext cx="5074920" cy="1554480"/>
          </a:xfrm>
          <a:prstGeom prst="rect">
            <a:avLst/>
          </a:prstGeom>
          <a:noFill/>
          <a:ln/>
        </p:spPr>
        <p:txBody>
          <a:bodyPr wrap="square" lIns="0" tIns="0" rIns="0" bIns="0" rtlCol="0" anchor="ctr"/>
          <a:lstStyle/>
          <a:p>
            <a:pPr marL="342900" indent="-342900">
              <a:lnSpc>
                <a:spcPts val="1400"/>
              </a:lnSpc>
              <a:spcAft>
                <a:spcPts val="600"/>
              </a:spcAft>
              <a:buSzPct val="100000"/>
              <a:buChar char="•"/>
            </a:pPr>
            <a:r>
              <a:rPr lang="en-US" sz="1050" dirty="0">
                <a:solidFill>
                  <a:srgbClr val="1F4A33"/>
                </a:solidFill>
                <a:latin typeface="Calibri" pitchFamily="34" charset="0"/>
                <a:ea typeface="Calibri" pitchFamily="34" charset="-122"/>
                <a:cs typeface="Calibri" pitchFamily="34" charset="-120"/>
              </a:rPr>
              <a:t>Capstone projects. The child makes and pitches something real, which no product at this age does well — and it is exactly what the CKO already does with slime and clay.</a:t>
            </a:r>
            <a:endParaRPr lang="en-US" sz="1050" dirty="0"/>
          </a:p>
        </p:txBody>
      </p:sp>
      <p:sp>
        <p:nvSpPr>
          <p:cNvPr id="19" name="Shape 17"/>
          <p:cNvSpPr/>
          <p:nvPr/>
        </p:nvSpPr>
        <p:spPr>
          <a:xfrm>
            <a:off x="5577840" y="4315968"/>
            <a:ext cx="5669280" cy="2103120"/>
          </a:xfrm>
          <a:prstGeom prst="roundRect">
            <a:avLst>
              <a:gd name="adj" fmla="val 6087"/>
            </a:avLst>
          </a:prstGeom>
          <a:solidFill>
            <a:srgbClr val="FBF3E0"/>
          </a:solidFill>
          <a:ln/>
          <a:effectLst>
            <a:outerShdw sx="100000" sy="100000" kx="0" ky="0" algn="bl" rotWithShape="0" blurRad="127000" dist="25400" dir="5400000">
              <a:srgbClr val="241E33">
                <a:alpha val="10000"/>
              </a:srgbClr>
            </a:outerShdw>
          </a:effectLst>
        </p:spPr>
      </p:sp>
      <p:sp>
        <p:nvSpPr>
          <p:cNvPr id="20" name="Text 18"/>
          <p:cNvSpPr/>
          <p:nvPr/>
        </p:nvSpPr>
        <p:spPr>
          <a:xfrm>
            <a:off x="5870448" y="4462272"/>
            <a:ext cx="5120640" cy="256032"/>
          </a:xfrm>
          <a:prstGeom prst="rect">
            <a:avLst/>
          </a:prstGeom>
          <a:noFill/>
          <a:ln/>
        </p:spPr>
        <p:txBody>
          <a:bodyPr wrap="square" lIns="0" tIns="0" rIns="0" bIns="0" rtlCol="0" anchor="ctr"/>
          <a:lstStyle/>
          <a:p>
            <a:pPr indent="0" marL="0">
              <a:buNone/>
            </a:pPr>
            <a:r>
              <a:rPr lang="en-US" sz="900" b="1" spc="180" kern="0" dirty="0">
                <a:solidFill>
                  <a:srgbClr val="8A5B00"/>
                </a:solidFill>
                <a:latin typeface="Calibri" pitchFamily="34" charset="0"/>
                <a:ea typeface="Calibri" pitchFamily="34" charset="-122"/>
                <a:cs typeface="Calibri" pitchFamily="34" charset="-120"/>
              </a:rPr>
              <a:t>WHAT STILL HAS TO BE BUILT</a:t>
            </a:r>
            <a:endParaRPr lang="en-US" sz="900" dirty="0"/>
          </a:p>
        </p:txBody>
      </p:sp>
      <p:sp>
        <p:nvSpPr>
          <p:cNvPr id="21" name="Text 19"/>
          <p:cNvSpPr/>
          <p:nvPr/>
        </p:nvSpPr>
        <p:spPr>
          <a:xfrm>
            <a:off x="5907024" y="4754880"/>
            <a:ext cx="5074920" cy="1554480"/>
          </a:xfrm>
          <a:prstGeom prst="rect">
            <a:avLst/>
          </a:prstGeom>
          <a:noFill/>
          <a:ln/>
        </p:spPr>
        <p:txBody>
          <a:bodyPr wrap="square" lIns="0" tIns="0" rIns="0" bIns="0" rtlCol="0" anchor="ctr"/>
          <a:lstStyle/>
          <a:p>
            <a:pPr marL="342900" indent="-342900">
              <a:lnSpc>
                <a:spcPts val="1400"/>
              </a:lnSpc>
              <a:spcAft>
                <a:spcPts val="600"/>
              </a:spcAft>
              <a:buSzPct val="100000"/>
              <a:buChar char="•"/>
            </a:pPr>
            <a:r>
              <a:rPr lang="en-US" sz="1050" dirty="0">
                <a:solidFill>
                  <a:srgbClr val="8A5B00"/>
                </a:solidFill>
                <a:latin typeface="Calibri" pitchFamily="34" charset="0"/>
                <a:ea typeface="Calibri" pitchFamily="34" charset="-122"/>
                <a:cs typeface="Calibri" pitchFamily="34" charset="-120"/>
              </a:rPr>
              <a:t>A case library written for eleven-year-olds</a:t>
            </a:r>
            <a:endParaRPr lang="en-US" sz="1050" dirty="0"/>
          </a:p>
          <a:p>
            <a:pPr marL="342900" indent="-342900">
              <a:lnSpc>
                <a:spcPts val="1400"/>
              </a:lnSpc>
              <a:spcAft>
                <a:spcPts val="600"/>
              </a:spcAft>
              <a:buSzPct val="100000"/>
              <a:buChar char="•"/>
            </a:pPr>
            <a:r>
              <a:rPr lang="en-US" sz="1050" dirty="0">
                <a:solidFill>
                  <a:srgbClr val="8A5B00"/>
                </a:solidFill>
                <a:latin typeface="Calibri" pitchFamily="34" charset="0"/>
                <a:ea typeface="Calibri" pitchFamily="34" charset="-122"/>
                <a:cs typeface="Calibri" pitchFamily="34" charset="-120"/>
              </a:rPr>
              <a:t>Project submission, a rubric, and someone or something to review the work</a:t>
            </a:r>
            <a:endParaRPr lang="en-US" sz="1050" dirty="0"/>
          </a:p>
          <a:p>
            <a:pPr marL="342900" indent="-342900">
              <a:lnSpc>
                <a:spcPts val="1400"/>
              </a:lnSpc>
              <a:spcAft>
                <a:spcPts val="600"/>
              </a:spcAft>
              <a:buSzPct val="100000"/>
              <a:buChar char="•"/>
            </a:pPr>
            <a:r>
              <a:rPr lang="en-US" sz="1050" dirty="0">
                <a:solidFill>
                  <a:srgbClr val="8A5B00"/>
                </a:solidFill>
                <a:latin typeface="Calibri" pitchFamily="34" charset="0"/>
                <a:ea typeface="Calibri" pitchFamily="34" charset="-122"/>
                <a:cs typeface="Calibri" pitchFamily="34" charset="-120"/>
              </a:rPr>
              <a:t>A decision on whether review is automated, parent-led, or a paid live service</a:t>
            </a:r>
            <a:endParaRPr lang="en-US" sz="1050" dirty="0"/>
          </a:p>
        </p:txBody>
      </p:sp>
      <p:sp>
        <p:nvSpPr>
          <p:cNvPr id="22" name="Text 20"/>
          <p:cNvSpPr/>
          <p:nvPr/>
        </p:nvSpPr>
        <p:spPr>
          <a:xfrm>
            <a:off x="640080" y="6272784"/>
            <a:ext cx="4846320" cy="310896"/>
          </a:xfrm>
          <a:prstGeom prst="rect">
            <a:avLst/>
          </a:prstGeom>
          <a:noFill/>
          <a:ln/>
        </p:spPr>
        <p:txBody>
          <a:bodyPr wrap="square" lIns="0" tIns="0" rIns="0" bIns="0" rtlCol="0" anchor="ctr"/>
          <a:lstStyle/>
          <a:p>
            <a:pPr indent="0" marL="0">
              <a:buNone/>
            </a:pPr>
            <a:r>
              <a:rPr lang="en-US" sz="1050" b="1" dirty="0">
                <a:solidFill>
                  <a:srgbClr val="7A7291"/>
                </a:solidFill>
                <a:latin typeface="Calibri" pitchFamily="34" charset="0"/>
                <a:ea typeface="Calibri" pitchFamily="34" charset="-122"/>
                <a:cs typeface="Calibri" pitchFamily="34" charset="-120"/>
              </a:rPr>
              <a:t>Ages 11–16</a:t>
            </a:r>
            <a:pPr indent="0" marL="0">
              <a:buNone/>
            </a:pPr>
            <a:r>
              <a:rPr lang="en-US" sz="1050" dirty="0">
                <a:solidFill>
                  <a:srgbClr val="7A7291"/>
                </a:solidFill>
                <a:latin typeface="Calibri" pitchFamily="34" charset="0"/>
                <a:ea typeface="Calibri" pitchFamily="34" charset="-122"/>
                <a:cs typeface="Calibri" pitchFamily="34" charset="-120"/>
              </a:rPr>
              <a:t>   ·   engine reuse: </a:t>
            </a:r>
            <a:pPr indent="0" marL="0">
              <a:buNone/>
            </a:pPr>
            <a:r>
              <a:rPr lang="en-US" sz="1050" b="1" dirty="0">
                <a:solidFill>
                  <a:srgbClr val="7A7291"/>
                </a:solidFill>
                <a:latin typeface="Calibri" pitchFamily="34" charset="0"/>
                <a:ea typeface="Calibri" pitchFamily="34" charset="-122"/>
                <a:cs typeface="Calibri" pitchFamily="34" charset="-120"/>
              </a:rPr>
              <a:t>Least of anything here</a:t>
            </a:r>
            <a:endParaRPr 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241E33"/>
        </a:solidFill>
      </p:bgPr>
    </p:bg>
    <p:spTree>
      <p:nvGrpSpPr>
        <p:cNvPr id="1" name=""/>
        <p:cNvGrpSpPr/>
        <p:nvPr/>
      </p:nvGrpSpPr>
      <p:grpSpPr>
        <a:xfrm>
          <a:off x="0" y="0"/>
          <a:ext cx="0" cy="0"/>
          <a:chOff x="0" y="0"/>
          <a:chExt cx="0" cy="0"/>
        </a:xfrm>
      </p:grpSpPr>
      <p:sp>
        <p:nvSpPr>
          <p:cNvPr id="2" name="Text 0"/>
          <p:cNvSpPr/>
          <p:nvPr/>
        </p:nvSpPr>
        <p:spPr>
          <a:xfrm>
            <a:off x="640080" y="548640"/>
            <a:ext cx="7315200" cy="292608"/>
          </a:xfrm>
          <a:prstGeom prst="rect">
            <a:avLst/>
          </a:prstGeom>
          <a:noFill/>
          <a:ln/>
        </p:spPr>
        <p:txBody>
          <a:bodyPr wrap="square" lIns="0" tIns="0" rIns="0" bIns="0" rtlCol="0" anchor="ctr"/>
          <a:lstStyle/>
          <a:p>
            <a:pPr indent="0" marL="0">
              <a:buNone/>
            </a:pPr>
            <a:r>
              <a:rPr lang="en-US" sz="1200" b="1" spc="300" kern="0" dirty="0">
                <a:solidFill>
                  <a:srgbClr val="F0B429"/>
                </a:solidFill>
                <a:latin typeface="Calibri" pitchFamily="34" charset="0"/>
                <a:ea typeface="Calibri" pitchFamily="34" charset="-122"/>
                <a:cs typeface="Calibri" pitchFamily="34" charset="-120"/>
              </a:rPr>
              <a:t>THE GAPS</a:t>
            </a:r>
            <a:endParaRPr lang="en-US" sz="1200" dirty="0"/>
          </a:p>
        </p:txBody>
      </p:sp>
      <p:sp>
        <p:nvSpPr>
          <p:cNvPr id="3" name="Text 1"/>
          <p:cNvSpPr/>
          <p:nvPr/>
        </p:nvSpPr>
        <p:spPr>
          <a:xfrm>
            <a:off x="640080" y="914400"/>
            <a:ext cx="10607040" cy="685800"/>
          </a:xfrm>
          <a:prstGeom prst="rect">
            <a:avLst/>
          </a:prstGeom>
          <a:noFill/>
          <a:ln/>
        </p:spPr>
        <p:txBody>
          <a:bodyPr wrap="square" lIns="0" tIns="0" rIns="0" bIns="0" rtlCol="0" anchor="ctr"/>
          <a:lstStyle/>
          <a:p>
            <a:pPr indent="0" marL="0">
              <a:buNone/>
            </a:pPr>
            <a:r>
              <a:rPr lang="en-US" sz="2700" b="1" dirty="0">
                <a:solidFill>
                  <a:srgbClr val="FFFFFF"/>
                </a:solidFill>
                <a:latin typeface="Cambria" pitchFamily="34" charset="0"/>
                <a:ea typeface="Cambria" pitchFamily="34" charset="-122"/>
                <a:cs typeface="Cambria" pitchFamily="34" charset="-120"/>
              </a:rPr>
              <a:t>Three products missing, and four we should not build.</a:t>
            </a:r>
            <a:endParaRPr lang="en-US" sz="2700" dirty="0"/>
          </a:p>
        </p:txBody>
      </p:sp>
      <p:sp>
        <p:nvSpPr>
          <p:cNvPr id="4" name="Shape 2"/>
          <p:cNvSpPr/>
          <p:nvPr/>
        </p:nvSpPr>
        <p:spPr>
          <a:xfrm>
            <a:off x="640080" y="1828800"/>
            <a:ext cx="3410712" cy="2880360"/>
          </a:xfrm>
          <a:prstGeom prst="roundRect">
            <a:avLst>
              <a:gd name="adj" fmla="val 4444"/>
            </a:avLst>
          </a:prstGeom>
          <a:solidFill>
            <a:srgbClr val="FFFFFF">
              <a:alpha val="8000"/>
            </a:srgbClr>
          </a:solidFill>
          <a:ln w="12700">
            <a:solidFill>
              <a:srgbClr val="6C4FE0"/>
            </a:solidFill>
            <a:prstDash val="solid"/>
          </a:ln>
        </p:spPr>
      </p:sp>
      <p:sp>
        <p:nvSpPr>
          <p:cNvPr id="5" name="Shape 3"/>
          <p:cNvSpPr/>
          <p:nvPr/>
        </p:nvSpPr>
        <p:spPr>
          <a:xfrm rot="5400000">
            <a:off x="896112" y="2066544"/>
            <a:ext cx="384048" cy="384048"/>
          </a:xfrm>
          <a:prstGeom prst="hexagon">
            <a:avLst/>
          </a:prstGeom>
          <a:solidFill>
            <a:srgbClr val="F0B429"/>
          </a:solidFill>
          <a:ln/>
        </p:spPr>
      </p:sp>
      <p:sp>
        <p:nvSpPr>
          <p:cNvPr id="6" name="Text 4"/>
          <p:cNvSpPr/>
          <p:nvPr/>
        </p:nvSpPr>
        <p:spPr>
          <a:xfrm>
            <a:off x="896112" y="2066544"/>
            <a:ext cx="384048" cy="384048"/>
          </a:xfrm>
          <a:prstGeom prst="rect">
            <a:avLst/>
          </a:prstGeom>
          <a:noFill/>
          <a:ln/>
        </p:spPr>
        <p:txBody>
          <a:bodyPr wrap="square" lIns="0" tIns="0" rIns="0" bIns="0" rtlCol="0" anchor="ctr"/>
          <a:lstStyle/>
          <a:p>
            <a:pPr algn="ctr" indent="0" marL="0">
              <a:buNone/>
            </a:pPr>
            <a:r>
              <a:rPr lang="en-US" sz="1300" b="1" dirty="0">
                <a:solidFill>
                  <a:srgbClr val="241E33"/>
                </a:solidFill>
                <a:latin typeface="Cambria" pitchFamily="34" charset="0"/>
                <a:ea typeface="Cambria" pitchFamily="34" charset="-122"/>
                <a:cs typeface="Cambria" pitchFamily="34" charset="-120"/>
              </a:rPr>
              <a:t>1</a:t>
            </a:r>
            <a:endParaRPr lang="en-US" sz="1300" dirty="0"/>
          </a:p>
        </p:txBody>
      </p:sp>
      <p:sp>
        <p:nvSpPr>
          <p:cNvPr id="7" name="Text 5"/>
          <p:cNvSpPr/>
          <p:nvPr/>
        </p:nvSpPr>
        <p:spPr>
          <a:xfrm>
            <a:off x="896112" y="2596896"/>
            <a:ext cx="2880360" cy="365760"/>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Bizzing Speak</a:t>
            </a:r>
            <a:endParaRPr lang="en-US" sz="1700" dirty="0"/>
          </a:p>
        </p:txBody>
      </p:sp>
      <p:sp>
        <p:nvSpPr>
          <p:cNvPr id="8" name="Text 6"/>
          <p:cNvSpPr/>
          <p:nvPr/>
        </p:nvSpPr>
        <p:spPr>
          <a:xfrm>
            <a:off x="896112" y="2944368"/>
            <a:ext cx="2880360" cy="292608"/>
          </a:xfrm>
          <a:prstGeom prst="rect">
            <a:avLst/>
          </a:prstGeom>
          <a:noFill/>
          <a:ln/>
        </p:spPr>
        <p:txBody>
          <a:bodyPr wrap="square" lIns="0" tIns="0" rIns="0" bIns="0" rtlCol="0" anchor="ctr"/>
          <a:lstStyle/>
          <a:p>
            <a:pPr indent="0" marL="0">
              <a:buNone/>
            </a:pPr>
            <a:r>
              <a:rPr lang="en-US" sz="1050" i="1" dirty="0">
                <a:solidFill>
                  <a:srgbClr val="F0B429"/>
                </a:solidFill>
                <a:latin typeface="Calibri" pitchFamily="34" charset="0"/>
                <a:ea typeface="Calibri" pitchFamily="34" charset="-122"/>
                <a:cs typeface="Calibri" pitchFamily="34" charset="-120"/>
              </a:rPr>
              <a:t>Public speaking, debate, spoken English</a:t>
            </a:r>
            <a:endParaRPr lang="en-US" sz="1050" dirty="0"/>
          </a:p>
        </p:txBody>
      </p:sp>
      <p:sp>
        <p:nvSpPr>
          <p:cNvPr id="9" name="Text 7"/>
          <p:cNvSpPr/>
          <p:nvPr/>
        </p:nvSpPr>
        <p:spPr>
          <a:xfrm>
            <a:off x="896112" y="3273552"/>
            <a:ext cx="2880360" cy="1298448"/>
          </a:xfrm>
          <a:prstGeom prst="rect">
            <a:avLst/>
          </a:prstGeom>
          <a:noFill/>
          <a:ln/>
        </p:spPr>
        <p:txBody>
          <a:bodyPr wrap="square" lIns="0" tIns="0" rIns="0" bIns="0" rtlCol="0" anchor="ctr"/>
          <a:lstStyle/>
          <a:p>
            <a:pPr indent="0" marL="0">
              <a:lnSpc>
                <a:spcPts val="1350"/>
              </a:lnSpc>
              <a:buNone/>
            </a:pPr>
            <a:r>
              <a:rPr lang="en-US" sz="1050" dirty="0">
                <a:solidFill>
                  <a:srgbClr val="E3DCF2"/>
                </a:solidFill>
                <a:latin typeface="Calibri" pitchFamily="34" charset="0"/>
                <a:ea typeface="Calibri" pitchFamily="34" charset="-122"/>
                <a:cs typeface="Calibri" pitchFamily="34" charset="-120"/>
              </a:rPr>
              <a:t>The strongest omission. It fills the twelve-to-sixteen cliff, it is the largest education category in India by search, and it is the same subject the YouTube channel already makes films about. The catch: doing it properly needs the app to LISTEN and score pronunciation, which is speech recognition and not in the engine.</a:t>
            </a:r>
            <a:endParaRPr lang="en-US" sz="1050" dirty="0"/>
          </a:p>
        </p:txBody>
      </p:sp>
      <p:sp>
        <p:nvSpPr>
          <p:cNvPr id="10" name="Shape 8"/>
          <p:cNvSpPr/>
          <p:nvPr/>
        </p:nvSpPr>
        <p:spPr>
          <a:xfrm>
            <a:off x="4325112" y="1828800"/>
            <a:ext cx="3410712" cy="2880360"/>
          </a:xfrm>
          <a:prstGeom prst="roundRect">
            <a:avLst>
              <a:gd name="adj" fmla="val 4444"/>
            </a:avLst>
          </a:prstGeom>
          <a:solidFill>
            <a:srgbClr val="FFFFFF">
              <a:alpha val="8000"/>
            </a:srgbClr>
          </a:solidFill>
          <a:ln w="12700">
            <a:solidFill>
              <a:srgbClr val="6C4FE0"/>
            </a:solidFill>
            <a:prstDash val="solid"/>
          </a:ln>
        </p:spPr>
      </p:sp>
      <p:sp>
        <p:nvSpPr>
          <p:cNvPr id="11" name="Shape 9"/>
          <p:cNvSpPr/>
          <p:nvPr/>
        </p:nvSpPr>
        <p:spPr>
          <a:xfrm rot="5400000">
            <a:off x="4581144" y="2066544"/>
            <a:ext cx="384048" cy="384048"/>
          </a:xfrm>
          <a:prstGeom prst="hexagon">
            <a:avLst/>
          </a:prstGeom>
          <a:solidFill>
            <a:srgbClr val="F0B429"/>
          </a:solidFill>
          <a:ln/>
        </p:spPr>
      </p:sp>
      <p:sp>
        <p:nvSpPr>
          <p:cNvPr id="12" name="Text 10"/>
          <p:cNvSpPr/>
          <p:nvPr/>
        </p:nvSpPr>
        <p:spPr>
          <a:xfrm>
            <a:off x="4581144" y="2066544"/>
            <a:ext cx="384048" cy="384048"/>
          </a:xfrm>
          <a:prstGeom prst="rect">
            <a:avLst/>
          </a:prstGeom>
          <a:noFill/>
          <a:ln/>
        </p:spPr>
        <p:txBody>
          <a:bodyPr wrap="square" lIns="0" tIns="0" rIns="0" bIns="0" rtlCol="0" anchor="ctr"/>
          <a:lstStyle/>
          <a:p>
            <a:pPr algn="ctr" indent="0" marL="0">
              <a:buNone/>
            </a:pPr>
            <a:r>
              <a:rPr lang="en-US" sz="1300" b="1" dirty="0">
                <a:solidFill>
                  <a:srgbClr val="241E33"/>
                </a:solidFill>
                <a:latin typeface="Cambria" pitchFamily="34" charset="0"/>
                <a:ea typeface="Cambria" pitchFamily="34" charset="-122"/>
                <a:cs typeface="Cambria" pitchFamily="34" charset="-120"/>
              </a:rPr>
              <a:t>2</a:t>
            </a:r>
            <a:endParaRPr lang="en-US" sz="1300" dirty="0"/>
          </a:p>
        </p:txBody>
      </p:sp>
      <p:sp>
        <p:nvSpPr>
          <p:cNvPr id="13" name="Text 11"/>
          <p:cNvSpPr/>
          <p:nvPr/>
        </p:nvSpPr>
        <p:spPr>
          <a:xfrm>
            <a:off x="4581144" y="2596896"/>
            <a:ext cx="2880360" cy="365760"/>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Bizzing Quiz</a:t>
            </a:r>
            <a:endParaRPr lang="en-US" sz="1700" dirty="0"/>
          </a:p>
        </p:txBody>
      </p:sp>
      <p:sp>
        <p:nvSpPr>
          <p:cNvPr id="14" name="Text 12"/>
          <p:cNvSpPr/>
          <p:nvPr/>
        </p:nvSpPr>
        <p:spPr>
          <a:xfrm>
            <a:off x="4581144" y="2944368"/>
            <a:ext cx="2880360" cy="292608"/>
          </a:xfrm>
          <a:prstGeom prst="rect">
            <a:avLst/>
          </a:prstGeom>
          <a:noFill/>
          <a:ln/>
        </p:spPr>
        <p:txBody>
          <a:bodyPr wrap="square" lIns="0" tIns="0" rIns="0" bIns="0" rtlCol="0" anchor="ctr"/>
          <a:lstStyle/>
          <a:p>
            <a:pPr indent="0" marL="0">
              <a:buNone/>
            </a:pPr>
            <a:r>
              <a:rPr lang="en-US" sz="1050" i="1" dirty="0">
                <a:solidFill>
                  <a:srgbClr val="F0B429"/>
                </a:solidFill>
                <a:latin typeface="Calibri" pitchFamily="34" charset="0"/>
                <a:ea typeface="Calibri" pitchFamily="34" charset="-122"/>
                <a:cs typeface="Calibri" pitchFamily="34" charset="-120"/>
              </a:rPr>
              <a:t>General knowledge, quiz-bowl</a:t>
            </a:r>
            <a:endParaRPr lang="en-US" sz="1050" dirty="0"/>
          </a:p>
        </p:txBody>
      </p:sp>
      <p:sp>
        <p:nvSpPr>
          <p:cNvPr id="15" name="Text 13"/>
          <p:cNvSpPr/>
          <p:nvPr/>
        </p:nvSpPr>
        <p:spPr>
          <a:xfrm>
            <a:off x="4581144" y="3273552"/>
            <a:ext cx="2880360" cy="1298448"/>
          </a:xfrm>
          <a:prstGeom prst="rect">
            <a:avLst/>
          </a:prstGeom>
          <a:noFill/>
          <a:ln/>
        </p:spPr>
        <p:txBody>
          <a:bodyPr wrap="square" lIns="0" tIns="0" rIns="0" bIns="0" rtlCol="0" anchor="ctr"/>
          <a:lstStyle/>
          <a:p>
            <a:pPr indent="0" marL="0">
              <a:lnSpc>
                <a:spcPts val="1350"/>
              </a:lnSpc>
              <a:buNone/>
            </a:pPr>
            <a:r>
              <a:rPr lang="en-US" sz="1050" dirty="0">
                <a:solidFill>
                  <a:srgbClr val="E3DCF2"/>
                </a:solidFill>
                <a:latin typeface="Calibri" pitchFamily="34" charset="0"/>
                <a:ea typeface="Calibri" pitchFamily="34" charset="-122"/>
                <a:cs typeface="Calibri" pitchFamily="34" charset="-120"/>
              </a:rPr>
              <a:t>The cheapest product in the house to launch: 31,000 questions across 32 themes and 5 levels already exist and are already sharded and levelled. It is a skin and a scoring loop, not a build.</a:t>
            </a:r>
            <a:endParaRPr lang="en-US" sz="1050" dirty="0"/>
          </a:p>
        </p:txBody>
      </p:sp>
      <p:sp>
        <p:nvSpPr>
          <p:cNvPr id="16" name="Shape 14"/>
          <p:cNvSpPr/>
          <p:nvPr/>
        </p:nvSpPr>
        <p:spPr>
          <a:xfrm>
            <a:off x="8010144" y="1828800"/>
            <a:ext cx="3410712" cy="2880360"/>
          </a:xfrm>
          <a:prstGeom prst="roundRect">
            <a:avLst>
              <a:gd name="adj" fmla="val 4444"/>
            </a:avLst>
          </a:prstGeom>
          <a:solidFill>
            <a:srgbClr val="FFFFFF">
              <a:alpha val="8000"/>
            </a:srgbClr>
          </a:solidFill>
          <a:ln w="12700">
            <a:solidFill>
              <a:srgbClr val="6C4FE0"/>
            </a:solidFill>
            <a:prstDash val="solid"/>
          </a:ln>
        </p:spPr>
      </p:sp>
      <p:sp>
        <p:nvSpPr>
          <p:cNvPr id="17" name="Shape 15"/>
          <p:cNvSpPr/>
          <p:nvPr/>
        </p:nvSpPr>
        <p:spPr>
          <a:xfrm rot="5400000">
            <a:off x="8266176" y="2066544"/>
            <a:ext cx="384048" cy="384048"/>
          </a:xfrm>
          <a:prstGeom prst="hexagon">
            <a:avLst/>
          </a:prstGeom>
          <a:solidFill>
            <a:srgbClr val="F0B429"/>
          </a:solidFill>
          <a:ln/>
        </p:spPr>
      </p:sp>
      <p:sp>
        <p:nvSpPr>
          <p:cNvPr id="18" name="Text 16"/>
          <p:cNvSpPr/>
          <p:nvPr/>
        </p:nvSpPr>
        <p:spPr>
          <a:xfrm>
            <a:off x="8266176" y="2066544"/>
            <a:ext cx="384048" cy="384048"/>
          </a:xfrm>
          <a:prstGeom prst="rect">
            <a:avLst/>
          </a:prstGeom>
          <a:noFill/>
          <a:ln/>
        </p:spPr>
        <p:txBody>
          <a:bodyPr wrap="square" lIns="0" tIns="0" rIns="0" bIns="0" rtlCol="0" anchor="ctr"/>
          <a:lstStyle/>
          <a:p>
            <a:pPr algn="ctr" indent="0" marL="0">
              <a:buNone/>
            </a:pPr>
            <a:r>
              <a:rPr lang="en-US" sz="1300" b="1" dirty="0">
                <a:solidFill>
                  <a:srgbClr val="241E33"/>
                </a:solidFill>
                <a:latin typeface="Cambria" pitchFamily="34" charset="0"/>
                <a:ea typeface="Cambria" pitchFamily="34" charset="-122"/>
                <a:cs typeface="Cambria" pitchFamily="34" charset="-120"/>
              </a:rPr>
              <a:t>3</a:t>
            </a:r>
            <a:endParaRPr lang="en-US" sz="1300" dirty="0"/>
          </a:p>
        </p:txBody>
      </p:sp>
      <p:sp>
        <p:nvSpPr>
          <p:cNvPr id="19" name="Text 17"/>
          <p:cNvSpPr/>
          <p:nvPr/>
        </p:nvSpPr>
        <p:spPr>
          <a:xfrm>
            <a:off x="8266176" y="2596896"/>
            <a:ext cx="2880360" cy="365760"/>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Bizzing Prep</a:t>
            </a:r>
            <a:endParaRPr lang="en-US" sz="1700" dirty="0"/>
          </a:p>
        </p:txBody>
      </p:sp>
      <p:sp>
        <p:nvSpPr>
          <p:cNvPr id="20" name="Text 18"/>
          <p:cNvSpPr/>
          <p:nvPr/>
        </p:nvSpPr>
        <p:spPr>
          <a:xfrm>
            <a:off x="8266176" y="2944368"/>
            <a:ext cx="2880360" cy="292608"/>
          </a:xfrm>
          <a:prstGeom prst="rect">
            <a:avLst/>
          </a:prstGeom>
          <a:noFill/>
          <a:ln/>
        </p:spPr>
        <p:txBody>
          <a:bodyPr wrap="square" lIns="0" tIns="0" rIns="0" bIns="0" rtlCol="0" anchor="ctr"/>
          <a:lstStyle/>
          <a:p>
            <a:pPr indent="0" marL="0">
              <a:buNone/>
            </a:pPr>
            <a:r>
              <a:rPr lang="en-US" sz="1050" i="1" dirty="0">
                <a:solidFill>
                  <a:srgbClr val="F0B429"/>
                </a:solidFill>
                <a:latin typeface="Calibri" pitchFamily="34" charset="0"/>
                <a:ea typeface="Calibri" pitchFamily="34" charset="-122"/>
                <a:cs typeface="Calibri" pitchFamily="34" charset="-120"/>
              </a:rPr>
              <a:t>US gifted and selective entry</a:t>
            </a:r>
            <a:endParaRPr lang="en-US" sz="1050" dirty="0"/>
          </a:p>
        </p:txBody>
      </p:sp>
      <p:sp>
        <p:nvSpPr>
          <p:cNvPr id="21" name="Text 19"/>
          <p:cNvSpPr/>
          <p:nvPr/>
        </p:nvSpPr>
        <p:spPr>
          <a:xfrm>
            <a:off x="8266176" y="3273552"/>
            <a:ext cx="2880360" cy="1298448"/>
          </a:xfrm>
          <a:prstGeom prst="rect">
            <a:avLst/>
          </a:prstGeom>
          <a:noFill/>
          <a:ln/>
        </p:spPr>
        <p:txBody>
          <a:bodyPr wrap="square" lIns="0" tIns="0" rIns="0" bIns="0" rtlCol="0" anchor="ctr"/>
          <a:lstStyle/>
          <a:p>
            <a:pPr indent="0" marL="0">
              <a:lnSpc>
                <a:spcPts val="1350"/>
              </a:lnSpc>
              <a:buNone/>
            </a:pPr>
            <a:r>
              <a:rPr lang="en-US" sz="1050" dirty="0">
                <a:solidFill>
                  <a:srgbClr val="E3DCF2"/>
                </a:solidFill>
                <a:latin typeface="Calibri" pitchFamily="34" charset="0"/>
                <a:ea typeface="Calibri" pitchFamily="34" charset="-122"/>
                <a:cs typeface="Calibri" pitchFamily="34" charset="-120"/>
              </a:rPr>
              <a:t>CogAT, NNAT, OLSAT verbal and SHSAT vocabulary. The highest-anxiety, highest-spend segment in the US, and the incumbent products are poor. Sits beside Eleven and shares its item types.</a:t>
            </a:r>
            <a:endParaRPr lang="en-US" sz="1050" dirty="0"/>
          </a:p>
        </p:txBody>
      </p:sp>
      <p:sp>
        <p:nvSpPr>
          <p:cNvPr id="22" name="Shape 20"/>
          <p:cNvSpPr/>
          <p:nvPr/>
        </p:nvSpPr>
        <p:spPr>
          <a:xfrm>
            <a:off x="640080" y="4956048"/>
            <a:ext cx="10607040" cy="1170432"/>
          </a:xfrm>
          <a:prstGeom prst="roundRect">
            <a:avLst>
              <a:gd name="adj" fmla="val 9375"/>
            </a:avLst>
          </a:prstGeom>
          <a:solidFill>
            <a:srgbClr val="FFFFFF">
              <a:alpha val="6000"/>
            </a:srgbClr>
          </a:solidFill>
          <a:ln/>
        </p:spPr>
      </p:sp>
      <p:sp>
        <p:nvSpPr>
          <p:cNvPr id="23" name="Text 21"/>
          <p:cNvSpPr/>
          <p:nvPr/>
        </p:nvSpPr>
        <p:spPr>
          <a:xfrm>
            <a:off x="932688" y="5084064"/>
            <a:ext cx="4572000" cy="274320"/>
          </a:xfrm>
          <a:prstGeom prst="rect">
            <a:avLst/>
          </a:prstGeom>
          <a:noFill/>
          <a:ln/>
        </p:spPr>
        <p:txBody>
          <a:bodyPr wrap="square" lIns="0" tIns="0" rIns="0" bIns="0" rtlCol="0" anchor="ctr"/>
          <a:lstStyle/>
          <a:p>
            <a:pPr indent="0" marL="0">
              <a:buNone/>
            </a:pPr>
            <a:r>
              <a:rPr lang="en-US" sz="1000" b="1" spc="180" kern="0" dirty="0">
                <a:solidFill>
                  <a:srgbClr val="E8807A"/>
                </a:solidFill>
                <a:latin typeface="Calibri" pitchFamily="34" charset="0"/>
                <a:ea typeface="Calibri" pitchFamily="34" charset="-122"/>
                <a:cs typeface="Calibri" pitchFamily="34" charset="-120"/>
              </a:rPr>
              <a:t>Deliberately NOT building</a:t>
            </a:r>
            <a:endParaRPr lang="en-US" sz="1000" dirty="0"/>
          </a:p>
        </p:txBody>
      </p:sp>
      <p:sp>
        <p:nvSpPr>
          <p:cNvPr id="24" name="Text 22"/>
          <p:cNvSpPr/>
          <p:nvPr/>
        </p:nvSpPr>
        <p:spPr>
          <a:xfrm>
            <a:off x="932688" y="5394960"/>
            <a:ext cx="10012680" cy="640080"/>
          </a:xfrm>
          <a:prstGeom prst="rect">
            <a:avLst/>
          </a:prstGeom>
          <a:noFill/>
          <a:ln/>
        </p:spPr>
        <p:txBody>
          <a:bodyPr wrap="square" lIns="0" tIns="0" rIns="0" bIns="0" rtlCol="0" anchor="ctr"/>
          <a:lstStyle/>
          <a:p>
            <a:pPr indent="0" marL="0">
              <a:lnSpc>
                <a:spcPts val="1500"/>
              </a:lnSpc>
              <a:buNone/>
            </a:pPr>
            <a:r>
              <a:rPr lang="en-US" sz="1150" dirty="0">
                <a:solidFill>
                  <a:srgbClr val="E3DCF2"/>
                </a:solidFill>
                <a:latin typeface="Calibri" pitchFamily="34" charset="0"/>
                <a:ea typeface="Calibri" pitchFamily="34" charset="-122"/>
                <a:cs typeface="Calibri" pitchFamily="34" charset="-120"/>
              </a:rPr>
              <a:t>Coding · chess · music · dance. Every one has real diaspora demand, and every one needs a solver, a rating system or a live teacher. None of them reuses a single line of what has been built, and each would be a company of its own. Chess in particular is surging right now and is still the wrong answer for this house.</a:t>
            </a:r>
            <a:endParaRPr lang="en-US" sz="1150" dirty="0"/>
          </a:p>
        </p:txBody>
      </p:sp>
      <p:sp>
        <p:nvSpPr>
          <p:cNvPr id="25" name="Text 23"/>
          <p:cNvSpPr/>
          <p:nvPr/>
        </p:nvSpPr>
        <p:spPr>
          <a:xfrm>
            <a:off x="640080" y="6254496"/>
            <a:ext cx="10607040" cy="502920"/>
          </a:xfrm>
          <a:prstGeom prst="rect">
            <a:avLst/>
          </a:prstGeom>
          <a:noFill/>
          <a:ln/>
        </p:spPr>
        <p:txBody>
          <a:bodyPr wrap="square" lIns="0" tIns="0" rIns="0" bIns="0" rtlCol="0" anchor="ctr"/>
          <a:lstStyle/>
          <a:p>
            <a:pPr indent="0" marL="0">
              <a:buNone/>
            </a:pPr>
            <a:r>
              <a:rPr lang="en-US" sz="1350" i="1" dirty="0">
                <a:solidFill>
                  <a:srgbClr val="F0B429"/>
                </a:solidFill>
                <a:latin typeface="Cambria" pitchFamily="34" charset="0"/>
                <a:ea typeface="Cambria" pitchFamily="34" charset="-122"/>
                <a:cs typeface="Cambria" pitchFamily="34" charset="-120"/>
              </a:rPr>
              <a:t>Twelve products total. The discipline is not thinking of them — it is refusing to start the fifth before the second has paid for itself.</a:t>
            </a:r>
            <a:endParaRPr lang="en-US" sz="13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SEQUENCE</a:t>
            </a:r>
            <a:endParaRPr lang="en-US" sz="1150" dirty="0"/>
          </a:p>
        </p:txBody>
      </p:sp>
      <p:sp>
        <p:nvSpPr>
          <p:cNvPr id="3" name="Text 1"/>
          <p:cNvSpPr/>
          <p:nvPr/>
        </p:nvSpPr>
        <p:spPr>
          <a:xfrm>
            <a:off x="640080" y="694944"/>
            <a:ext cx="106070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Roadmap, view one: by milestone</a:t>
            </a:r>
            <a:endParaRPr lang="en-US" sz="2900" dirty="0"/>
          </a:p>
        </p:txBody>
      </p:sp>
      <p:sp>
        <p:nvSpPr>
          <p:cNvPr id="4" name="Text 2"/>
          <p:cNvSpPr/>
          <p:nvPr/>
        </p:nvSpPr>
        <p:spPr>
          <a:xfrm>
            <a:off x="640080" y="1444752"/>
            <a:ext cx="10607040" cy="512064"/>
          </a:xfrm>
          <a:prstGeom prst="rect">
            <a:avLst/>
          </a:prstGeom>
          <a:noFill/>
          <a:ln/>
        </p:spPr>
        <p:txBody>
          <a:bodyPr wrap="square" lIns="0" tIns="0" rIns="0" bIns="0" rtlCol="0" anchor="ctr"/>
          <a:lstStyle/>
          <a:p>
            <a:pPr indent="0" marL="0">
              <a:buNone/>
            </a:pPr>
            <a:r>
              <a:rPr lang="en-US" sz="1450" dirty="0">
                <a:solidFill>
                  <a:srgbClr val="7A7291"/>
                </a:solidFill>
                <a:latin typeface="Calibri" pitchFamily="34" charset="0"/>
                <a:ea typeface="Calibri" pitchFamily="34" charset="-122"/>
                <a:cs typeface="Calibri" pitchFamily="34" charset="-120"/>
              </a:rPr>
              <a:t>Nothing launches on a date. Each product unlocks when the one before it has proved something specific.</a:t>
            </a:r>
            <a:endParaRPr lang="en-US" sz="1450" dirty="0"/>
          </a:p>
        </p:txBody>
      </p:sp>
      <p:sp>
        <p:nvSpPr>
          <p:cNvPr id="5" name="Shape 3"/>
          <p:cNvSpPr/>
          <p:nvPr/>
        </p:nvSpPr>
        <p:spPr>
          <a:xfrm>
            <a:off x="1901952" y="2788920"/>
            <a:ext cx="8174736" cy="0"/>
          </a:xfrm>
          <a:prstGeom prst="line">
            <a:avLst/>
          </a:prstGeom>
          <a:noFill/>
          <a:ln w="38100">
            <a:solidFill>
              <a:srgbClr val="E3DCF2"/>
            </a:solidFill>
            <a:prstDash val="solid"/>
          </a:ln>
        </p:spPr>
      </p:sp>
      <p:sp>
        <p:nvSpPr>
          <p:cNvPr id="6" name="Shape 4"/>
          <p:cNvSpPr/>
          <p:nvPr/>
        </p:nvSpPr>
        <p:spPr>
          <a:xfrm rot="5400000">
            <a:off x="1645920" y="2532888"/>
            <a:ext cx="512064" cy="512064"/>
          </a:xfrm>
          <a:prstGeom prst="hexagon">
            <a:avLst/>
          </a:prstGeom>
          <a:solidFill>
            <a:srgbClr val="178A4C"/>
          </a:solidFill>
          <a:ln w="31750">
            <a:solidFill>
              <a:srgbClr val="FFFFFF"/>
            </a:solidFill>
            <a:prstDash val="solid"/>
          </a:ln>
        </p:spPr>
      </p:sp>
      <p:sp>
        <p:nvSpPr>
          <p:cNvPr id="7" name="Text 5"/>
          <p:cNvSpPr/>
          <p:nvPr/>
        </p:nvSpPr>
        <p:spPr>
          <a:xfrm>
            <a:off x="640080" y="2103120"/>
            <a:ext cx="2523744" cy="274320"/>
          </a:xfrm>
          <a:prstGeom prst="rect">
            <a:avLst/>
          </a:prstGeom>
          <a:noFill/>
          <a:ln/>
        </p:spPr>
        <p:txBody>
          <a:bodyPr wrap="square" lIns="0" tIns="0" rIns="0" bIns="0" rtlCol="0" anchor="ctr"/>
          <a:lstStyle/>
          <a:p>
            <a:pPr algn="ctr" indent="0" marL="0">
              <a:buNone/>
            </a:pPr>
            <a:r>
              <a:rPr lang="en-US" sz="950" b="1" spc="160" kern="0" dirty="0">
                <a:solidFill>
                  <a:srgbClr val="178A4C"/>
                </a:solidFill>
                <a:latin typeface="Calibri" pitchFamily="34" charset="0"/>
                <a:ea typeface="Calibri" pitchFamily="34" charset="-122"/>
                <a:cs typeface="Calibri" pitchFamily="34" charset="-120"/>
              </a:rPr>
              <a:t>NOW</a:t>
            </a:r>
            <a:endParaRPr lang="en-US" sz="950" dirty="0"/>
          </a:p>
        </p:txBody>
      </p:sp>
      <p:sp>
        <p:nvSpPr>
          <p:cNvPr id="8" name="Shape 6"/>
          <p:cNvSpPr/>
          <p:nvPr/>
        </p:nvSpPr>
        <p:spPr>
          <a:xfrm>
            <a:off x="640080" y="3310128"/>
            <a:ext cx="2523744" cy="2212848"/>
          </a:xfrm>
          <a:prstGeom prst="roundRect">
            <a:avLst>
              <a:gd name="adj" fmla="val 5785"/>
            </a:avLst>
          </a:prstGeom>
          <a:solidFill>
            <a:srgbClr val="EFEBF8"/>
          </a:solidFill>
          <a:ln/>
          <a:effectLst>
            <a:outerShdw sx="100000" sy="100000" kx="0" ky="0" algn="bl" rotWithShape="0" blurRad="127000" dist="25400" dir="5400000">
              <a:srgbClr val="241E33">
                <a:alpha val="10000"/>
              </a:srgbClr>
            </a:outerShdw>
          </a:effectLst>
        </p:spPr>
      </p:sp>
      <p:sp>
        <p:nvSpPr>
          <p:cNvPr id="9" name="Text 7"/>
          <p:cNvSpPr/>
          <p:nvPr/>
        </p:nvSpPr>
        <p:spPr>
          <a:xfrm>
            <a:off x="841248" y="3474720"/>
            <a:ext cx="2121408" cy="548640"/>
          </a:xfrm>
          <a:prstGeom prst="rect">
            <a:avLst/>
          </a:prstGeom>
          <a:noFill/>
          <a:ln/>
        </p:spPr>
        <p:txBody>
          <a:bodyPr wrap="square" lIns="0" tIns="0" rIns="0" bIns="0" rtlCol="0" anchor="ctr"/>
          <a:lstStyle/>
          <a:p>
            <a:pPr indent="0" marL="0">
              <a:buNone/>
            </a:pPr>
            <a:r>
              <a:rPr lang="en-US" sz="1450" b="1" dirty="0">
                <a:solidFill>
                  <a:srgbClr val="241E33"/>
                </a:solidFill>
                <a:latin typeface="Cambria" pitchFamily="34" charset="0"/>
                <a:ea typeface="Cambria" pitchFamily="34" charset="-122"/>
                <a:cs typeface="Cambria" pitchFamily="34" charset="-120"/>
              </a:rPr>
              <a:t>Bizzing Bee</a:t>
            </a:r>
            <a:endParaRPr lang="en-US" sz="1450" dirty="0"/>
          </a:p>
        </p:txBody>
      </p:sp>
      <p:sp>
        <p:nvSpPr>
          <p:cNvPr id="10" name="Text 8"/>
          <p:cNvSpPr/>
          <p:nvPr/>
        </p:nvSpPr>
        <p:spPr>
          <a:xfrm>
            <a:off x="841248" y="4023360"/>
            <a:ext cx="2121408" cy="402336"/>
          </a:xfrm>
          <a:prstGeom prst="rect">
            <a:avLst/>
          </a:prstGeom>
          <a:noFill/>
          <a:ln/>
        </p:spPr>
        <p:txBody>
          <a:bodyPr wrap="square" lIns="0" tIns="0" rIns="0" bIns="0" rtlCol="0" anchor="ctr"/>
          <a:lstStyle/>
          <a:p>
            <a:pPr indent="0" marL="0">
              <a:lnSpc>
                <a:spcPts val="1200"/>
              </a:lnSpc>
              <a:buNone/>
            </a:pPr>
            <a:r>
              <a:rPr lang="en-US" sz="950" b="1" dirty="0">
                <a:solidFill>
                  <a:srgbClr val="4A31B0"/>
                </a:solidFill>
                <a:latin typeface="Calibri" pitchFamily="34" charset="0"/>
                <a:ea typeface="Calibri" pitchFamily="34" charset="-122"/>
                <a:cs typeface="Calibri" pitchFamily="34" charset="-120"/>
              </a:rPr>
              <a:t>Spelling, live</a:t>
            </a:r>
            <a:endParaRPr lang="en-US" sz="950" dirty="0"/>
          </a:p>
        </p:txBody>
      </p:sp>
      <p:sp>
        <p:nvSpPr>
          <p:cNvPr id="11" name="Text 9"/>
          <p:cNvSpPr/>
          <p:nvPr/>
        </p:nvSpPr>
        <p:spPr>
          <a:xfrm>
            <a:off x="841248" y="4443984"/>
            <a:ext cx="2121408" cy="969264"/>
          </a:xfrm>
          <a:prstGeom prst="rect">
            <a:avLst/>
          </a:prstGeom>
          <a:noFill/>
          <a:ln/>
        </p:spPr>
        <p:txBody>
          <a:bodyPr wrap="square" lIns="0" tIns="0" rIns="0" bIns="0" rtlCol="0" anchor="ctr"/>
          <a:lstStyle/>
          <a:p>
            <a:pPr indent="0" marL="0">
              <a:lnSpc>
                <a:spcPts val="1350"/>
              </a:lnSpc>
              <a:buNone/>
            </a:pPr>
            <a:r>
              <a:rPr lang="en-US" sz="1000" dirty="0">
                <a:solidFill>
                  <a:srgbClr val="4A4360"/>
                </a:solidFill>
                <a:latin typeface="Calibri" pitchFamily="34" charset="0"/>
                <a:ea typeface="Calibri" pitchFamily="34" charset="-122"/>
                <a:cs typeface="Calibri" pitchFamily="34" charset="-120"/>
              </a:rPr>
              <a:t>The wedge. Free app, paid packs, the YouTube channel feeding it.</a:t>
            </a:r>
            <a:endParaRPr lang="en-US" sz="1000" dirty="0"/>
          </a:p>
        </p:txBody>
      </p:sp>
      <p:sp>
        <p:nvSpPr>
          <p:cNvPr id="12" name="Shape 10"/>
          <p:cNvSpPr/>
          <p:nvPr/>
        </p:nvSpPr>
        <p:spPr>
          <a:xfrm rot="5400000">
            <a:off x="4370832" y="2532888"/>
            <a:ext cx="512064" cy="512064"/>
          </a:xfrm>
          <a:prstGeom prst="hexagon">
            <a:avLst/>
          </a:prstGeom>
          <a:solidFill>
            <a:srgbClr val="F0B429"/>
          </a:solidFill>
          <a:ln w="31750">
            <a:solidFill>
              <a:srgbClr val="FFFFFF"/>
            </a:solidFill>
            <a:prstDash val="solid"/>
          </a:ln>
        </p:spPr>
      </p:sp>
      <p:sp>
        <p:nvSpPr>
          <p:cNvPr id="13" name="Text 11"/>
          <p:cNvSpPr/>
          <p:nvPr/>
        </p:nvSpPr>
        <p:spPr>
          <a:xfrm>
            <a:off x="3364992" y="2103120"/>
            <a:ext cx="2523744" cy="274320"/>
          </a:xfrm>
          <a:prstGeom prst="rect">
            <a:avLst/>
          </a:prstGeom>
          <a:noFill/>
          <a:ln/>
        </p:spPr>
        <p:txBody>
          <a:bodyPr wrap="square" lIns="0" tIns="0" rIns="0" bIns="0" rtlCol="0" anchor="ctr"/>
          <a:lstStyle/>
          <a:p>
            <a:pPr algn="ctr" indent="0" marL="0">
              <a:buNone/>
            </a:pPr>
            <a:r>
              <a:rPr lang="en-US" sz="950" b="1" spc="160" kern="0" dirty="0">
                <a:solidFill>
                  <a:srgbClr val="8A5B00"/>
                </a:solidFill>
                <a:latin typeface="Calibri" pitchFamily="34" charset="0"/>
                <a:ea typeface="Calibri" pitchFamily="34" charset="-122"/>
                <a:cs typeface="Calibri" pitchFamily="34" charset="-120"/>
              </a:rPr>
              <a:t>GATE 1</a:t>
            </a:r>
            <a:endParaRPr lang="en-US" sz="950" dirty="0"/>
          </a:p>
        </p:txBody>
      </p:sp>
      <p:sp>
        <p:nvSpPr>
          <p:cNvPr id="14" name="Shape 12"/>
          <p:cNvSpPr/>
          <p:nvPr/>
        </p:nvSpPr>
        <p:spPr>
          <a:xfrm>
            <a:off x="3364992" y="3310128"/>
            <a:ext cx="2523744" cy="2212848"/>
          </a:xfrm>
          <a:prstGeom prst="roundRect">
            <a:avLst>
              <a:gd name="adj" fmla="val 5785"/>
            </a:avLst>
          </a:prstGeom>
          <a:solidFill>
            <a:srgbClr val="FFFFFF"/>
          </a:solidFill>
          <a:ln/>
          <a:effectLst>
            <a:outerShdw sx="100000" sy="100000" kx="0" ky="0" algn="bl" rotWithShape="0" blurRad="127000" dist="25400" dir="5400000">
              <a:srgbClr val="241E33">
                <a:alpha val="10000"/>
              </a:srgbClr>
            </a:outerShdw>
          </a:effectLst>
        </p:spPr>
      </p:sp>
      <p:sp>
        <p:nvSpPr>
          <p:cNvPr id="15" name="Shape 13"/>
          <p:cNvSpPr/>
          <p:nvPr/>
        </p:nvSpPr>
        <p:spPr>
          <a:xfrm>
            <a:off x="3364992" y="3310128"/>
            <a:ext cx="2523744" cy="2212848"/>
          </a:xfrm>
          <a:prstGeom prst="roundRect">
            <a:avLst>
              <a:gd name="adj" fmla="val 5785"/>
            </a:avLst>
          </a:prstGeom>
          <a:solidFill>
            <a:srgbClr val="FFFFFF"/>
          </a:solidFill>
          <a:ln w="15875">
            <a:solidFill>
              <a:srgbClr val="E3DCF2"/>
            </a:solidFill>
            <a:prstDash val="solid"/>
          </a:ln>
        </p:spPr>
      </p:sp>
      <p:sp>
        <p:nvSpPr>
          <p:cNvPr id="16" name="Text 14"/>
          <p:cNvSpPr/>
          <p:nvPr/>
        </p:nvSpPr>
        <p:spPr>
          <a:xfrm>
            <a:off x="3566160" y="3474720"/>
            <a:ext cx="2121408" cy="548640"/>
          </a:xfrm>
          <a:prstGeom prst="rect">
            <a:avLst/>
          </a:prstGeom>
          <a:noFill/>
          <a:ln/>
        </p:spPr>
        <p:txBody>
          <a:bodyPr wrap="square" lIns="0" tIns="0" rIns="0" bIns="0" rtlCol="0" anchor="ctr"/>
          <a:lstStyle/>
          <a:p>
            <a:pPr indent="0" marL="0">
              <a:buNone/>
            </a:pPr>
            <a:r>
              <a:rPr lang="en-US" sz="1450" b="1" dirty="0">
                <a:solidFill>
                  <a:srgbClr val="241E33"/>
                </a:solidFill>
                <a:latin typeface="Cambria" pitchFamily="34" charset="0"/>
                <a:ea typeface="Cambria" pitchFamily="34" charset="-122"/>
                <a:cs typeface="Cambria" pitchFamily="34" charset="-120"/>
              </a:rPr>
              <a:t>India + Bhasha + Quiz</a:t>
            </a:r>
            <a:endParaRPr lang="en-US" sz="1450" dirty="0"/>
          </a:p>
        </p:txBody>
      </p:sp>
      <p:sp>
        <p:nvSpPr>
          <p:cNvPr id="17" name="Text 15"/>
          <p:cNvSpPr/>
          <p:nvPr/>
        </p:nvSpPr>
        <p:spPr>
          <a:xfrm>
            <a:off x="3566160" y="4023360"/>
            <a:ext cx="2121408" cy="402336"/>
          </a:xfrm>
          <a:prstGeom prst="rect">
            <a:avLst/>
          </a:prstGeom>
          <a:noFill/>
          <a:ln/>
        </p:spPr>
        <p:txBody>
          <a:bodyPr wrap="square" lIns="0" tIns="0" rIns="0" bIns="0" rtlCol="0" anchor="ctr"/>
          <a:lstStyle/>
          <a:p>
            <a:pPr indent="0" marL="0">
              <a:lnSpc>
                <a:spcPts val="1200"/>
              </a:lnSpc>
              <a:buNone/>
            </a:pPr>
            <a:r>
              <a:rPr lang="en-US" sz="950" b="1" dirty="0">
                <a:solidFill>
                  <a:srgbClr val="4A31B0"/>
                </a:solidFill>
                <a:latin typeface="Calibri" pitchFamily="34" charset="0"/>
                <a:ea typeface="Calibri" pitchFamily="34" charset="-122"/>
                <a:cs typeface="Calibri" pitchFamily="34" charset="-120"/>
              </a:rPr>
              <a:t>Culture free, language paid</a:t>
            </a:r>
            <a:endParaRPr lang="en-US" sz="950" dirty="0"/>
          </a:p>
        </p:txBody>
      </p:sp>
      <p:sp>
        <p:nvSpPr>
          <p:cNvPr id="18" name="Text 16"/>
          <p:cNvSpPr/>
          <p:nvPr/>
        </p:nvSpPr>
        <p:spPr>
          <a:xfrm>
            <a:off x="3566160" y="4443984"/>
            <a:ext cx="2121408" cy="969264"/>
          </a:xfrm>
          <a:prstGeom prst="rect">
            <a:avLst/>
          </a:prstGeom>
          <a:noFill/>
          <a:ln/>
        </p:spPr>
        <p:txBody>
          <a:bodyPr wrap="square" lIns="0" tIns="0" rIns="0" bIns="0" rtlCol="0" anchor="ctr"/>
          <a:lstStyle/>
          <a:p>
            <a:pPr indent="0" marL="0">
              <a:lnSpc>
                <a:spcPts val="1350"/>
              </a:lnSpc>
              <a:buNone/>
            </a:pPr>
            <a:r>
              <a:rPr lang="en-US" sz="1000" dirty="0">
                <a:solidFill>
                  <a:srgbClr val="4A4360"/>
                </a:solidFill>
                <a:latin typeface="Calibri" pitchFamily="34" charset="0"/>
                <a:ea typeface="Calibri" pitchFamily="34" charset="-122"/>
                <a:cs typeface="Calibri" pitchFamily="34" charset="-120"/>
              </a:rPr>
              <a:t>Unlocks when Bee shows a repeatable way to acquire a family and keep them past the first month. Quiz rides along — its 31k questions already exist.</a:t>
            </a:r>
            <a:endParaRPr lang="en-US" sz="1000" dirty="0"/>
          </a:p>
        </p:txBody>
      </p:sp>
      <p:sp>
        <p:nvSpPr>
          <p:cNvPr id="19" name="Shape 17"/>
          <p:cNvSpPr/>
          <p:nvPr/>
        </p:nvSpPr>
        <p:spPr>
          <a:xfrm rot="5400000">
            <a:off x="7095744" y="2532888"/>
            <a:ext cx="512064" cy="512064"/>
          </a:xfrm>
          <a:prstGeom prst="hexagon">
            <a:avLst/>
          </a:prstGeom>
          <a:solidFill>
            <a:srgbClr val="6C4FE0"/>
          </a:solidFill>
          <a:ln w="31750">
            <a:solidFill>
              <a:srgbClr val="FFFFFF"/>
            </a:solidFill>
            <a:prstDash val="solid"/>
          </a:ln>
        </p:spPr>
      </p:sp>
      <p:sp>
        <p:nvSpPr>
          <p:cNvPr id="20" name="Text 18"/>
          <p:cNvSpPr/>
          <p:nvPr/>
        </p:nvSpPr>
        <p:spPr>
          <a:xfrm>
            <a:off x="6089904" y="2103120"/>
            <a:ext cx="2523744" cy="274320"/>
          </a:xfrm>
          <a:prstGeom prst="rect">
            <a:avLst/>
          </a:prstGeom>
          <a:noFill/>
          <a:ln/>
        </p:spPr>
        <p:txBody>
          <a:bodyPr wrap="square" lIns="0" tIns="0" rIns="0" bIns="0" rtlCol="0" anchor="ctr"/>
          <a:lstStyle/>
          <a:p>
            <a:pPr algn="ctr" indent="0" marL="0">
              <a:buNone/>
            </a:pPr>
            <a:r>
              <a:rPr lang="en-US" sz="950" b="1" spc="160" kern="0" dirty="0">
                <a:solidFill>
                  <a:srgbClr val="6C4FE0"/>
                </a:solidFill>
                <a:latin typeface="Calibri" pitchFamily="34" charset="0"/>
                <a:ea typeface="Calibri" pitchFamily="34" charset="-122"/>
                <a:cs typeface="Calibri" pitchFamily="34" charset="-120"/>
              </a:rPr>
              <a:t>GATE 2</a:t>
            </a:r>
            <a:endParaRPr lang="en-US" sz="950" dirty="0"/>
          </a:p>
        </p:txBody>
      </p:sp>
      <p:sp>
        <p:nvSpPr>
          <p:cNvPr id="21" name="Shape 19"/>
          <p:cNvSpPr/>
          <p:nvPr/>
        </p:nvSpPr>
        <p:spPr>
          <a:xfrm>
            <a:off x="6089904" y="3310128"/>
            <a:ext cx="2523744" cy="2212848"/>
          </a:xfrm>
          <a:prstGeom prst="roundRect">
            <a:avLst>
              <a:gd name="adj" fmla="val 5785"/>
            </a:avLst>
          </a:prstGeom>
          <a:solidFill>
            <a:srgbClr val="FFFFFF"/>
          </a:solidFill>
          <a:ln/>
          <a:effectLst>
            <a:outerShdw sx="100000" sy="100000" kx="0" ky="0" algn="bl" rotWithShape="0" blurRad="127000" dist="25400" dir="5400000">
              <a:srgbClr val="241E33">
                <a:alpha val="10000"/>
              </a:srgbClr>
            </a:outerShdw>
          </a:effectLst>
        </p:spPr>
      </p:sp>
      <p:sp>
        <p:nvSpPr>
          <p:cNvPr id="22" name="Shape 20"/>
          <p:cNvSpPr/>
          <p:nvPr/>
        </p:nvSpPr>
        <p:spPr>
          <a:xfrm>
            <a:off x="6089904" y="3310128"/>
            <a:ext cx="2523744" cy="2212848"/>
          </a:xfrm>
          <a:prstGeom prst="roundRect">
            <a:avLst>
              <a:gd name="adj" fmla="val 5785"/>
            </a:avLst>
          </a:prstGeom>
          <a:solidFill>
            <a:srgbClr val="FFFFFF"/>
          </a:solidFill>
          <a:ln w="15875">
            <a:solidFill>
              <a:srgbClr val="E3DCF2"/>
            </a:solidFill>
            <a:prstDash val="solid"/>
          </a:ln>
        </p:spPr>
      </p:sp>
      <p:sp>
        <p:nvSpPr>
          <p:cNvPr id="23" name="Text 21"/>
          <p:cNvSpPr/>
          <p:nvPr/>
        </p:nvSpPr>
        <p:spPr>
          <a:xfrm>
            <a:off x="6291072" y="3474720"/>
            <a:ext cx="2121408" cy="548640"/>
          </a:xfrm>
          <a:prstGeom prst="rect">
            <a:avLst/>
          </a:prstGeom>
          <a:noFill/>
          <a:ln/>
        </p:spPr>
        <p:txBody>
          <a:bodyPr wrap="square" lIns="0" tIns="0" rIns="0" bIns="0" rtlCol="0" anchor="ctr"/>
          <a:lstStyle/>
          <a:p>
            <a:pPr indent="0" marL="0">
              <a:buNone/>
            </a:pPr>
            <a:r>
              <a:rPr lang="en-US" sz="1450" b="1" dirty="0">
                <a:solidFill>
                  <a:srgbClr val="241E33"/>
                </a:solidFill>
                <a:latin typeface="Cambria" pitchFamily="34" charset="0"/>
                <a:ea typeface="Cambria" pitchFamily="34" charset="-122"/>
                <a:cs typeface="Cambria" pitchFamily="34" charset="-120"/>
              </a:rPr>
              <a:t>Eleven, then Prep</a:t>
            </a:r>
            <a:endParaRPr lang="en-US" sz="1450" dirty="0"/>
          </a:p>
        </p:txBody>
      </p:sp>
      <p:sp>
        <p:nvSpPr>
          <p:cNvPr id="24" name="Text 22"/>
          <p:cNvSpPr/>
          <p:nvPr/>
        </p:nvSpPr>
        <p:spPr>
          <a:xfrm>
            <a:off x="6291072" y="4023360"/>
            <a:ext cx="2121408" cy="402336"/>
          </a:xfrm>
          <a:prstGeom prst="rect">
            <a:avLst/>
          </a:prstGeom>
          <a:noFill/>
          <a:ln/>
        </p:spPr>
        <p:txBody>
          <a:bodyPr wrap="square" lIns="0" tIns="0" rIns="0" bIns="0" rtlCol="0" anchor="ctr"/>
          <a:lstStyle/>
          <a:p>
            <a:pPr indent="0" marL="0">
              <a:lnSpc>
                <a:spcPts val="1200"/>
              </a:lnSpc>
              <a:buNone/>
            </a:pPr>
            <a:r>
              <a:rPr lang="en-US" sz="950" b="1" dirty="0">
                <a:solidFill>
                  <a:srgbClr val="4A31B0"/>
                </a:solidFill>
                <a:latin typeface="Calibri" pitchFamily="34" charset="0"/>
                <a:ea typeface="Calibri" pitchFamily="34" charset="-122"/>
                <a:cs typeface="Calibri" pitchFamily="34" charset="-120"/>
              </a:rPr>
              <a:t>Exam verbal reasoning</a:t>
            </a:r>
            <a:endParaRPr lang="en-US" sz="950" dirty="0"/>
          </a:p>
        </p:txBody>
      </p:sp>
      <p:sp>
        <p:nvSpPr>
          <p:cNvPr id="25" name="Text 23"/>
          <p:cNvSpPr/>
          <p:nvPr/>
        </p:nvSpPr>
        <p:spPr>
          <a:xfrm>
            <a:off x="6291072" y="4443984"/>
            <a:ext cx="2121408" cy="969264"/>
          </a:xfrm>
          <a:prstGeom prst="rect">
            <a:avLst/>
          </a:prstGeom>
          <a:noFill/>
          <a:ln/>
        </p:spPr>
        <p:txBody>
          <a:bodyPr wrap="square" lIns="0" tIns="0" rIns="0" bIns="0" rtlCol="0" anchor="ctr"/>
          <a:lstStyle/>
          <a:p>
            <a:pPr indent="0" marL="0">
              <a:lnSpc>
                <a:spcPts val="1350"/>
              </a:lnSpc>
              <a:buNone/>
            </a:pPr>
            <a:r>
              <a:rPr lang="en-US" sz="1000" dirty="0">
                <a:solidFill>
                  <a:srgbClr val="4A4360"/>
                </a:solidFill>
                <a:latin typeface="Calibri" pitchFamily="34" charset="0"/>
                <a:ea typeface="Calibri" pitchFamily="34" charset="-122"/>
                <a:cs typeface="Calibri" pitchFamily="34" charset="-120"/>
              </a:rPr>
              <a:t>Unlocks when a second paid pack proves families will buy more than one thing from us. Near-total engine reuse, so the cost is content, not build.</a:t>
            </a:r>
            <a:endParaRPr lang="en-US" sz="1000" dirty="0"/>
          </a:p>
        </p:txBody>
      </p:sp>
      <p:sp>
        <p:nvSpPr>
          <p:cNvPr id="26" name="Shape 24"/>
          <p:cNvSpPr/>
          <p:nvPr/>
        </p:nvSpPr>
        <p:spPr>
          <a:xfrm rot="5400000">
            <a:off x="9820656" y="2532888"/>
            <a:ext cx="512064" cy="512064"/>
          </a:xfrm>
          <a:prstGeom prst="hexagon">
            <a:avLst/>
          </a:prstGeom>
          <a:solidFill>
            <a:srgbClr val="6C4FE0"/>
          </a:solidFill>
          <a:ln w="31750">
            <a:solidFill>
              <a:srgbClr val="FFFFFF"/>
            </a:solidFill>
            <a:prstDash val="solid"/>
          </a:ln>
        </p:spPr>
      </p:sp>
      <p:sp>
        <p:nvSpPr>
          <p:cNvPr id="27" name="Text 25"/>
          <p:cNvSpPr/>
          <p:nvPr/>
        </p:nvSpPr>
        <p:spPr>
          <a:xfrm>
            <a:off x="8814816" y="2103120"/>
            <a:ext cx="2523744" cy="274320"/>
          </a:xfrm>
          <a:prstGeom prst="rect">
            <a:avLst/>
          </a:prstGeom>
          <a:noFill/>
          <a:ln/>
        </p:spPr>
        <p:txBody>
          <a:bodyPr wrap="square" lIns="0" tIns="0" rIns="0" bIns="0" rtlCol="0" anchor="ctr"/>
          <a:lstStyle/>
          <a:p>
            <a:pPr algn="ctr" indent="0" marL="0">
              <a:buNone/>
            </a:pPr>
            <a:r>
              <a:rPr lang="en-US" sz="950" b="1" spc="160" kern="0" dirty="0">
                <a:solidFill>
                  <a:srgbClr val="6C4FE0"/>
                </a:solidFill>
                <a:latin typeface="Calibri" pitchFamily="34" charset="0"/>
                <a:ea typeface="Calibri" pitchFamily="34" charset="-122"/>
                <a:cs typeface="Calibri" pitchFamily="34" charset="-120"/>
              </a:rPr>
              <a:t>GATE 3</a:t>
            </a:r>
            <a:endParaRPr lang="en-US" sz="950" dirty="0"/>
          </a:p>
        </p:txBody>
      </p:sp>
      <p:sp>
        <p:nvSpPr>
          <p:cNvPr id="28" name="Shape 26"/>
          <p:cNvSpPr/>
          <p:nvPr/>
        </p:nvSpPr>
        <p:spPr>
          <a:xfrm>
            <a:off x="8814816" y="3310128"/>
            <a:ext cx="2523744" cy="2212848"/>
          </a:xfrm>
          <a:prstGeom prst="roundRect">
            <a:avLst>
              <a:gd name="adj" fmla="val 5785"/>
            </a:avLst>
          </a:prstGeom>
          <a:solidFill>
            <a:srgbClr val="FFFFFF"/>
          </a:solidFill>
          <a:ln/>
          <a:effectLst>
            <a:outerShdw sx="100000" sy="100000" kx="0" ky="0" algn="bl" rotWithShape="0" blurRad="127000" dist="25400" dir="5400000">
              <a:srgbClr val="241E33">
                <a:alpha val="10000"/>
              </a:srgbClr>
            </a:outerShdw>
          </a:effectLst>
        </p:spPr>
      </p:sp>
      <p:sp>
        <p:nvSpPr>
          <p:cNvPr id="29" name="Shape 27"/>
          <p:cNvSpPr/>
          <p:nvPr/>
        </p:nvSpPr>
        <p:spPr>
          <a:xfrm>
            <a:off x="8814816" y="3310128"/>
            <a:ext cx="2523744" cy="2212848"/>
          </a:xfrm>
          <a:prstGeom prst="roundRect">
            <a:avLst>
              <a:gd name="adj" fmla="val 5785"/>
            </a:avLst>
          </a:prstGeom>
          <a:solidFill>
            <a:srgbClr val="FFFFFF"/>
          </a:solidFill>
          <a:ln w="15875">
            <a:solidFill>
              <a:srgbClr val="E3DCF2"/>
            </a:solidFill>
            <a:prstDash val="solid"/>
          </a:ln>
        </p:spPr>
      </p:sp>
      <p:sp>
        <p:nvSpPr>
          <p:cNvPr id="30" name="Text 28"/>
          <p:cNvSpPr/>
          <p:nvPr/>
        </p:nvSpPr>
        <p:spPr>
          <a:xfrm>
            <a:off x="9015984" y="3474720"/>
            <a:ext cx="2121408" cy="548640"/>
          </a:xfrm>
          <a:prstGeom prst="rect">
            <a:avLst/>
          </a:prstGeom>
          <a:noFill/>
          <a:ln/>
        </p:spPr>
        <p:txBody>
          <a:bodyPr wrap="square" lIns="0" tIns="0" rIns="0" bIns="0" rtlCol="0" anchor="ctr"/>
          <a:lstStyle/>
          <a:p>
            <a:pPr indent="0" marL="0">
              <a:buNone/>
            </a:pPr>
            <a:r>
              <a:rPr lang="en-US" sz="1450" b="1" dirty="0">
                <a:solidFill>
                  <a:srgbClr val="241E33"/>
                </a:solidFill>
                <a:latin typeface="Cambria" pitchFamily="34" charset="0"/>
                <a:ea typeface="Cambria" pitchFamily="34" charset="-122"/>
                <a:cs typeface="Cambria" pitchFamily="34" charset="-120"/>
              </a:rPr>
              <a:t>Both ends of the range</a:t>
            </a:r>
            <a:endParaRPr lang="en-US" sz="1450" dirty="0"/>
          </a:p>
        </p:txBody>
      </p:sp>
      <p:sp>
        <p:nvSpPr>
          <p:cNvPr id="31" name="Text 29"/>
          <p:cNvSpPr/>
          <p:nvPr/>
        </p:nvSpPr>
        <p:spPr>
          <a:xfrm>
            <a:off x="9015984" y="4023360"/>
            <a:ext cx="2121408" cy="402336"/>
          </a:xfrm>
          <a:prstGeom prst="rect">
            <a:avLst/>
          </a:prstGeom>
          <a:noFill/>
          <a:ln/>
        </p:spPr>
        <p:txBody>
          <a:bodyPr wrap="square" lIns="0" tIns="0" rIns="0" bIns="0" rtlCol="0" anchor="ctr"/>
          <a:lstStyle/>
          <a:p>
            <a:pPr indent="0" marL="0">
              <a:lnSpc>
                <a:spcPts val="1200"/>
              </a:lnSpc>
              <a:buNone/>
            </a:pPr>
            <a:r>
              <a:rPr lang="en-US" sz="950" b="1" dirty="0">
                <a:solidFill>
                  <a:srgbClr val="4A31B0"/>
                </a:solidFill>
                <a:latin typeface="Calibri" pitchFamily="34" charset="0"/>
                <a:ea typeface="Calibri" pitchFamily="34" charset="-122"/>
                <a:cs typeface="Calibri" pitchFamily="34" charset="-120"/>
              </a:rPr>
              <a:t>Buzz · Speak · English · Maths · Finance · Business</a:t>
            </a:r>
            <a:endParaRPr lang="en-US" sz="950" dirty="0"/>
          </a:p>
        </p:txBody>
      </p:sp>
      <p:sp>
        <p:nvSpPr>
          <p:cNvPr id="32" name="Text 30"/>
          <p:cNvSpPr/>
          <p:nvPr/>
        </p:nvSpPr>
        <p:spPr>
          <a:xfrm>
            <a:off x="9015984" y="4443984"/>
            <a:ext cx="2121408" cy="969264"/>
          </a:xfrm>
          <a:prstGeom prst="rect">
            <a:avLst/>
          </a:prstGeom>
          <a:noFill/>
          <a:ln/>
        </p:spPr>
        <p:txBody>
          <a:bodyPr wrap="square" lIns="0" tIns="0" rIns="0" bIns="0" rtlCol="0" anchor="ctr"/>
          <a:lstStyle/>
          <a:p>
            <a:pPr indent="0" marL="0">
              <a:lnSpc>
                <a:spcPts val="1350"/>
              </a:lnSpc>
              <a:buNone/>
            </a:pPr>
            <a:r>
              <a:rPr lang="en-US" sz="1000" dirty="0">
                <a:solidFill>
                  <a:srgbClr val="4A4360"/>
                </a:solidFill>
                <a:latin typeface="Calibri" pitchFamily="34" charset="0"/>
                <a:ea typeface="Calibri" pitchFamily="34" charset="-122"/>
                <a:cs typeface="Calibri" pitchFamily="34" charset="-120"/>
              </a:rPr>
              <a:t>Unlocks when households run more than one product on one account. This is where the 4–6 and 12–16 gaps get closed.</a:t>
            </a:r>
            <a:endParaRPr lang="en-US" sz="1000" dirty="0"/>
          </a:p>
        </p:txBody>
      </p:sp>
      <p:sp>
        <p:nvSpPr>
          <p:cNvPr id="33" name="Text 31"/>
          <p:cNvSpPr/>
          <p:nvPr/>
        </p:nvSpPr>
        <p:spPr>
          <a:xfrm>
            <a:off x="640080" y="5742432"/>
            <a:ext cx="10607040" cy="457200"/>
          </a:xfrm>
          <a:prstGeom prst="rect">
            <a:avLst/>
          </a:prstGeom>
          <a:noFill/>
          <a:ln/>
        </p:spPr>
        <p:txBody>
          <a:bodyPr wrap="square" lIns="0" tIns="0" rIns="0" bIns="0" rtlCol="0" anchor="ctr"/>
          <a:lstStyle/>
          <a:p>
            <a:pPr indent="0" marL="0">
              <a:buNone/>
            </a:pPr>
            <a:r>
              <a:rPr lang="en-US" sz="1250" i="1" dirty="0">
                <a:solidFill>
                  <a:srgbClr val="7A7291"/>
                </a:solidFill>
                <a:latin typeface="Calibri" pitchFamily="34" charset="0"/>
                <a:ea typeface="Calibri" pitchFamily="34" charset="-122"/>
                <a:cs typeface="Calibri" pitchFamily="34" charset="-120"/>
              </a:rPr>
              <a:t>Gates are written as proofs, not targets — the numbers behind each are the CMO’s. Nothing at Gate 3 starts until Gate 2 has paid for itself.</a:t>
            </a:r>
            <a:endParaRPr lang="en-US" sz="12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COVERAGE</a:t>
            </a:r>
            <a:endParaRPr lang="en-US" sz="1150" dirty="0"/>
          </a:p>
        </p:txBody>
      </p:sp>
      <p:sp>
        <p:nvSpPr>
          <p:cNvPr id="3" name="Text 1"/>
          <p:cNvSpPr/>
          <p:nvPr/>
        </p:nvSpPr>
        <p:spPr>
          <a:xfrm>
            <a:off x="640080" y="694944"/>
            <a:ext cx="106070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Roadmap, view two: by the age of the child</a:t>
            </a:r>
            <a:endParaRPr lang="en-US" sz="2900" dirty="0"/>
          </a:p>
        </p:txBody>
      </p:sp>
      <p:sp>
        <p:nvSpPr>
          <p:cNvPr id="4" name="Text 2"/>
          <p:cNvSpPr/>
          <p:nvPr/>
        </p:nvSpPr>
        <p:spPr>
          <a:xfrm>
            <a:off x="640080" y="1444752"/>
            <a:ext cx="10607040" cy="512064"/>
          </a:xfrm>
          <a:prstGeom prst="rect">
            <a:avLst/>
          </a:prstGeom>
          <a:noFill/>
          <a:ln/>
        </p:spPr>
        <p:txBody>
          <a:bodyPr wrap="square" lIns="0" tIns="0" rIns="0" bIns="0" rtlCol="0" anchor="ctr"/>
          <a:lstStyle/>
          <a:p>
            <a:pPr indent="0" marL="0">
              <a:buNone/>
            </a:pPr>
            <a:r>
              <a:rPr lang="en-US" sz="1450" dirty="0">
                <a:solidFill>
                  <a:srgbClr val="7A7291"/>
                </a:solidFill>
                <a:latin typeface="Calibri" pitchFamily="34" charset="0"/>
                <a:ea typeface="Calibri" pitchFamily="34" charset="-122"/>
                <a:cs typeface="Calibri" pitchFamily="34" charset="-120"/>
              </a:rPr>
              <a:t>A family with three children is with Bizzing from the first child at four to the last at sixteen. The gaps are where we hand them back.</a:t>
            </a:r>
            <a:endParaRPr lang="en-US" sz="1450" dirty="0"/>
          </a:p>
        </p:txBody>
      </p:sp>
      <p:sp>
        <p:nvSpPr>
          <p:cNvPr id="5" name="Shape 3"/>
          <p:cNvSpPr/>
          <p:nvPr/>
        </p:nvSpPr>
        <p:spPr>
          <a:xfrm>
            <a:off x="640080" y="2011680"/>
            <a:ext cx="2011680" cy="566928"/>
          </a:xfrm>
          <a:prstGeom prst="roundRect">
            <a:avLst>
              <a:gd name="adj" fmla="val 19355"/>
            </a:avLst>
          </a:prstGeom>
          <a:solidFill>
            <a:srgbClr val="241E33"/>
          </a:solidFill>
          <a:ln/>
        </p:spPr>
      </p:sp>
      <p:sp>
        <p:nvSpPr>
          <p:cNvPr id="6" name="Text 4"/>
          <p:cNvSpPr/>
          <p:nvPr/>
        </p:nvSpPr>
        <p:spPr>
          <a:xfrm>
            <a:off x="640080" y="2011680"/>
            <a:ext cx="2011680" cy="566928"/>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4–6</a:t>
            </a:r>
            <a:endParaRPr lang="en-US" sz="1900" dirty="0"/>
          </a:p>
        </p:txBody>
      </p:sp>
      <p:sp>
        <p:nvSpPr>
          <p:cNvPr id="7" name="Text 5"/>
          <p:cNvSpPr/>
          <p:nvPr/>
        </p:nvSpPr>
        <p:spPr>
          <a:xfrm>
            <a:off x="731520" y="2670048"/>
            <a:ext cx="1828800" cy="603504"/>
          </a:xfrm>
          <a:prstGeom prst="rect">
            <a:avLst/>
          </a:prstGeom>
          <a:noFill/>
          <a:ln/>
        </p:spPr>
        <p:txBody>
          <a:bodyPr wrap="square" lIns="0" tIns="0" rIns="0" bIns="0" rtlCol="0" anchor="ctr"/>
          <a:lstStyle/>
          <a:p>
            <a:pPr indent="0" marL="0">
              <a:lnSpc>
                <a:spcPts val="1400"/>
              </a:lnSpc>
              <a:buNone/>
            </a:pPr>
            <a:r>
              <a:rPr lang="en-US" sz="1150" b="1" dirty="0">
                <a:solidFill>
                  <a:srgbClr val="4A31B0"/>
                </a:solidFill>
                <a:latin typeface="Calibri" pitchFamily="34" charset="0"/>
                <a:ea typeface="Calibri" pitchFamily="34" charset="-122"/>
                <a:cs typeface="Calibri" pitchFamily="34" charset="-120"/>
              </a:rPr>
              <a:t>Letters, sounds,</a:t>
            </a:r>
            <a:endParaRPr lang="en-US" sz="1150" dirty="0"/>
          </a:p>
          <a:p>
            <a:pPr indent="0" marL="0">
              <a:lnSpc>
                <a:spcPts val="1400"/>
              </a:lnSpc>
              <a:buNone/>
            </a:pPr>
            <a:r>
              <a:rPr lang="en-US" sz="1150" b="1" dirty="0">
                <a:solidFill>
                  <a:srgbClr val="4A31B0"/>
                </a:solidFill>
                <a:latin typeface="Calibri" pitchFamily="34" charset="0"/>
                <a:ea typeface="Calibri" pitchFamily="34" charset="-122"/>
                <a:cs typeface="Calibri" pitchFamily="34" charset="-120"/>
              </a:rPr>
              <a:t>first words</a:t>
            </a:r>
            <a:endParaRPr lang="en-US" sz="1150" dirty="0"/>
          </a:p>
        </p:txBody>
      </p:sp>
      <p:sp>
        <p:nvSpPr>
          <p:cNvPr id="8" name="Shape 6"/>
          <p:cNvSpPr/>
          <p:nvPr/>
        </p:nvSpPr>
        <p:spPr>
          <a:xfrm>
            <a:off x="731520" y="3346704"/>
            <a:ext cx="1828800" cy="274320"/>
          </a:xfrm>
          <a:prstGeom prst="roundRect">
            <a:avLst>
              <a:gd name="adj" fmla="val 50000"/>
            </a:avLst>
          </a:prstGeom>
          <a:solidFill>
            <a:srgbClr val="C4453C"/>
          </a:solidFill>
          <a:ln/>
        </p:spPr>
      </p:sp>
      <p:sp>
        <p:nvSpPr>
          <p:cNvPr id="9" name="Text 7"/>
          <p:cNvSpPr/>
          <p:nvPr/>
        </p:nvSpPr>
        <p:spPr>
          <a:xfrm>
            <a:off x="731520" y="3346704"/>
            <a:ext cx="1828800" cy="274320"/>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GAP, NAMED</a:t>
            </a:r>
            <a:endParaRPr lang="en-US" sz="800" dirty="0"/>
          </a:p>
        </p:txBody>
      </p:sp>
      <p:sp>
        <p:nvSpPr>
          <p:cNvPr id="10" name="Text 8"/>
          <p:cNvSpPr/>
          <p:nvPr/>
        </p:nvSpPr>
        <p:spPr>
          <a:xfrm>
            <a:off x="731520" y="3675888"/>
            <a:ext cx="1828800" cy="420624"/>
          </a:xfrm>
          <a:prstGeom prst="rect">
            <a:avLst/>
          </a:prstGeom>
          <a:noFill/>
          <a:ln/>
        </p:spPr>
        <p:txBody>
          <a:bodyPr wrap="square" lIns="0" tIns="0" rIns="0" bIns="0" rtlCol="0" anchor="ctr"/>
          <a:lstStyle/>
          <a:p>
            <a:pPr indent="0" marL="0">
              <a:lnSpc>
                <a:spcPts val="1200"/>
              </a:lnSpc>
              <a:buNone/>
            </a:pPr>
            <a:r>
              <a:rPr lang="en-US" sz="1000" i="1" dirty="0">
                <a:solidFill>
                  <a:srgbClr val="7A7291"/>
                </a:solidFill>
                <a:latin typeface="Calibri" pitchFamily="34" charset="0"/>
                <a:ea typeface="Calibri" pitchFamily="34" charset="-122"/>
                <a:cs typeface="Calibri" pitchFamily="34" charset="-120"/>
              </a:rPr>
              <a:t>Buzz — to build</a:t>
            </a:r>
            <a:endParaRPr lang="en-US" sz="1000" dirty="0"/>
          </a:p>
        </p:txBody>
      </p:sp>
      <p:sp>
        <p:nvSpPr>
          <p:cNvPr id="11" name="Text 9"/>
          <p:cNvSpPr/>
          <p:nvPr/>
        </p:nvSpPr>
        <p:spPr>
          <a:xfrm>
            <a:off x="731520" y="4151376"/>
            <a:ext cx="1828800" cy="1325880"/>
          </a:xfrm>
          <a:prstGeom prst="rect">
            <a:avLst/>
          </a:prstGeom>
          <a:noFill/>
          <a:ln/>
        </p:spPr>
        <p:txBody>
          <a:bodyPr wrap="square" lIns="0" tIns="0" rIns="0" bIns="0" rtlCol="0" anchor="ctr"/>
          <a:lstStyle/>
          <a:p>
            <a:pPr indent="0" marL="0">
              <a:lnSpc>
                <a:spcPts val="1350"/>
              </a:lnSpc>
              <a:buNone/>
            </a:pPr>
            <a:r>
              <a:rPr lang="en-US" sz="1000" dirty="0">
                <a:solidFill>
                  <a:srgbClr val="4A4360"/>
                </a:solidFill>
                <a:latin typeface="Calibri" pitchFamily="34" charset="0"/>
                <a:ea typeface="Calibri" pitchFamily="34" charset="-122"/>
                <a:cs typeface="Calibri" pitchFamily="34" charset="-120"/>
              </a:rPr>
              <a:t>Bizzing Buzz. Audio and pictures, because the child cannot read the interface. The voice library transfers; the reading-free UI does not exist yet.</a:t>
            </a:r>
            <a:endParaRPr lang="en-US" sz="1000" dirty="0"/>
          </a:p>
        </p:txBody>
      </p:sp>
      <p:sp>
        <p:nvSpPr>
          <p:cNvPr id="12" name="Shape 10"/>
          <p:cNvSpPr/>
          <p:nvPr/>
        </p:nvSpPr>
        <p:spPr>
          <a:xfrm>
            <a:off x="2852928" y="2011680"/>
            <a:ext cx="2011680" cy="566928"/>
          </a:xfrm>
          <a:prstGeom prst="roundRect">
            <a:avLst>
              <a:gd name="adj" fmla="val 19355"/>
            </a:avLst>
          </a:prstGeom>
          <a:solidFill>
            <a:srgbClr val="241E33"/>
          </a:solidFill>
          <a:ln/>
        </p:spPr>
      </p:sp>
      <p:sp>
        <p:nvSpPr>
          <p:cNvPr id="13" name="Text 11"/>
          <p:cNvSpPr/>
          <p:nvPr/>
        </p:nvSpPr>
        <p:spPr>
          <a:xfrm>
            <a:off x="2852928" y="2011680"/>
            <a:ext cx="2011680" cy="566928"/>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6–8</a:t>
            </a:r>
            <a:endParaRPr lang="en-US" sz="1900" dirty="0"/>
          </a:p>
        </p:txBody>
      </p:sp>
      <p:sp>
        <p:nvSpPr>
          <p:cNvPr id="14" name="Text 12"/>
          <p:cNvSpPr/>
          <p:nvPr/>
        </p:nvSpPr>
        <p:spPr>
          <a:xfrm>
            <a:off x="2944368" y="2670048"/>
            <a:ext cx="1828800" cy="603504"/>
          </a:xfrm>
          <a:prstGeom prst="rect">
            <a:avLst/>
          </a:prstGeom>
          <a:noFill/>
          <a:ln/>
        </p:spPr>
        <p:txBody>
          <a:bodyPr wrap="square" lIns="0" tIns="0" rIns="0" bIns="0" rtlCol="0" anchor="ctr"/>
          <a:lstStyle/>
          <a:p>
            <a:pPr indent="0" marL="0">
              <a:lnSpc>
                <a:spcPts val="1400"/>
              </a:lnSpc>
              <a:buNone/>
            </a:pPr>
            <a:r>
              <a:rPr lang="en-US" sz="1150" b="1" dirty="0">
                <a:solidFill>
                  <a:srgbClr val="4A31B0"/>
                </a:solidFill>
                <a:latin typeface="Calibri" pitchFamily="34" charset="0"/>
                <a:ea typeface="Calibri" pitchFamily="34" charset="-122"/>
                <a:cs typeface="Calibri" pitchFamily="34" charset="-120"/>
              </a:rPr>
              <a:t>Reading fluency,</a:t>
            </a:r>
            <a:endParaRPr lang="en-US" sz="1150" dirty="0"/>
          </a:p>
          <a:p>
            <a:pPr indent="0" marL="0">
              <a:lnSpc>
                <a:spcPts val="1400"/>
              </a:lnSpc>
              <a:buNone/>
            </a:pPr>
            <a:r>
              <a:rPr lang="en-US" sz="1150" b="1" dirty="0">
                <a:solidFill>
                  <a:srgbClr val="4A31B0"/>
                </a:solidFill>
                <a:latin typeface="Calibri" pitchFamily="34" charset="0"/>
                <a:ea typeface="Calibri" pitchFamily="34" charset="-122"/>
                <a:cs typeface="Calibri" pitchFamily="34" charset="-120"/>
              </a:rPr>
              <a:t>first spelling</a:t>
            </a:r>
            <a:endParaRPr lang="en-US" sz="1150" dirty="0"/>
          </a:p>
        </p:txBody>
      </p:sp>
      <p:sp>
        <p:nvSpPr>
          <p:cNvPr id="15" name="Shape 13"/>
          <p:cNvSpPr/>
          <p:nvPr/>
        </p:nvSpPr>
        <p:spPr>
          <a:xfrm>
            <a:off x="2944368" y="3346704"/>
            <a:ext cx="1828800" cy="274320"/>
          </a:xfrm>
          <a:prstGeom prst="roundRect">
            <a:avLst>
              <a:gd name="adj" fmla="val 50000"/>
            </a:avLst>
          </a:prstGeom>
          <a:solidFill>
            <a:srgbClr val="F0B429"/>
          </a:solidFill>
          <a:ln/>
        </p:spPr>
      </p:sp>
      <p:sp>
        <p:nvSpPr>
          <p:cNvPr id="16" name="Text 14"/>
          <p:cNvSpPr/>
          <p:nvPr/>
        </p:nvSpPr>
        <p:spPr>
          <a:xfrm>
            <a:off x="2944368" y="3346704"/>
            <a:ext cx="1828800" cy="274320"/>
          </a:xfrm>
          <a:prstGeom prst="rect">
            <a:avLst/>
          </a:prstGeom>
          <a:noFill/>
          <a:ln/>
        </p:spPr>
        <p:txBody>
          <a:bodyPr wrap="square" lIns="0" tIns="0" rIns="0" bIns="0" rtlCol="0" anchor="ctr"/>
          <a:lstStyle/>
          <a:p>
            <a:pPr algn="ctr" indent="0" marL="0">
              <a:buNone/>
            </a:pPr>
            <a:r>
              <a:rPr lang="en-US" sz="800" b="1" dirty="0">
                <a:solidFill>
                  <a:srgbClr val="241E33"/>
                </a:solidFill>
                <a:latin typeface="Calibri" pitchFamily="34" charset="0"/>
                <a:ea typeface="Calibri" pitchFamily="34" charset="-122"/>
                <a:cs typeface="Calibri" pitchFamily="34" charset="-120"/>
              </a:rPr>
              <a:t>PARTIAL</a:t>
            </a:r>
            <a:endParaRPr lang="en-US" sz="800" dirty="0"/>
          </a:p>
        </p:txBody>
      </p:sp>
      <p:sp>
        <p:nvSpPr>
          <p:cNvPr id="17" name="Text 15"/>
          <p:cNvSpPr/>
          <p:nvPr/>
        </p:nvSpPr>
        <p:spPr>
          <a:xfrm>
            <a:off x="2944368" y="3675888"/>
            <a:ext cx="1828800" cy="420624"/>
          </a:xfrm>
          <a:prstGeom prst="rect">
            <a:avLst/>
          </a:prstGeom>
          <a:noFill/>
          <a:ln/>
        </p:spPr>
        <p:txBody>
          <a:bodyPr wrap="square" lIns="0" tIns="0" rIns="0" bIns="0" rtlCol="0" anchor="ctr"/>
          <a:lstStyle/>
          <a:p>
            <a:pPr indent="0" marL="0">
              <a:lnSpc>
                <a:spcPts val="1200"/>
              </a:lnSpc>
              <a:buNone/>
            </a:pPr>
            <a:r>
              <a:rPr lang="en-US" sz="1000" i="1" dirty="0">
                <a:solidFill>
                  <a:srgbClr val="7A7291"/>
                </a:solidFill>
                <a:latin typeface="Calibri" pitchFamily="34" charset="0"/>
                <a:ea typeface="Calibri" pitchFamily="34" charset="-122"/>
                <a:cs typeface="Calibri" pitchFamily="34" charset="-120"/>
              </a:rPr>
              <a:t>Bee entry · Buzz · English</a:t>
            </a:r>
            <a:endParaRPr lang="en-US" sz="1000" dirty="0"/>
          </a:p>
        </p:txBody>
      </p:sp>
      <p:sp>
        <p:nvSpPr>
          <p:cNvPr id="18" name="Text 16"/>
          <p:cNvSpPr/>
          <p:nvPr/>
        </p:nvSpPr>
        <p:spPr>
          <a:xfrm>
            <a:off x="2944368" y="4151376"/>
            <a:ext cx="1828800" cy="1325880"/>
          </a:xfrm>
          <a:prstGeom prst="rect">
            <a:avLst/>
          </a:prstGeom>
          <a:noFill/>
          <a:ln/>
        </p:spPr>
        <p:txBody>
          <a:bodyPr wrap="square" lIns="0" tIns="0" rIns="0" bIns="0" rtlCol="0" anchor="ctr"/>
          <a:lstStyle/>
          <a:p>
            <a:pPr indent="0" marL="0">
              <a:lnSpc>
                <a:spcPts val="1350"/>
              </a:lnSpc>
              <a:buNone/>
            </a:pPr>
            <a:r>
              <a:rPr lang="en-US" sz="1000" dirty="0">
                <a:solidFill>
                  <a:srgbClr val="4A4360"/>
                </a:solidFill>
                <a:latin typeface="Calibri" pitchFamily="34" charset="0"/>
                <a:ea typeface="Calibri" pitchFamily="34" charset="-122"/>
                <a:cs typeface="Calibri" pitchFamily="34" charset="-120"/>
              </a:rPr>
              <a:t>Bee starts too hard for most six-year-olds. Buzz→Bee is the bridge, and it is the strongest retention story in the house.</a:t>
            </a:r>
            <a:endParaRPr lang="en-US" sz="1000" dirty="0"/>
          </a:p>
        </p:txBody>
      </p:sp>
      <p:sp>
        <p:nvSpPr>
          <p:cNvPr id="19" name="Shape 17"/>
          <p:cNvSpPr/>
          <p:nvPr/>
        </p:nvSpPr>
        <p:spPr>
          <a:xfrm>
            <a:off x="5065776" y="2011680"/>
            <a:ext cx="2011680" cy="566928"/>
          </a:xfrm>
          <a:prstGeom prst="roundRect">
            <a:avLst>
              <a:gd name="adj" fmla="val 19355"/>
            </a:avLst>
          </a:prstGeom>
          <a:solidFill>
            <a:srgbClr val="241E33"/>
          </a:solidFill>
          <a:ln/>
        </p:spPr>
      </p:sp>
      <p:sp>
        <p:nvSpPr>
          <p:cNvPr id="20" name="Text 18"/>
          <p:cNvSpPr/>
          <p:nvPr/>
        </p:nvSpPr>
        <p:spPr>
          <a:xfrm>
            <a:off x="5065776" y="2011680"/>
            <a:ext cx="2011680" cy="566928"/>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8–10</a:t>
            </a:r>
            <a:endParaRPr lang="en-US" sz="1900" dirty="0"/>
          </a:p>
        </p:txBody>
      </p:sp>
      <p:sp>
        <p:nvSpPr>
          <p:cNvPr id="21" name="Text 19"/>
          <p:cNvSpPr/>
          <p:nvPr/>
        </p:nvSpPr>
        <p:spPr>
          <a:xfrm>
            <a:off x="5157216" y="2670048"/>
            <a:ext cx="1828800" cy="603504"/>
          </a:xfrm>
          <a:prstGeom prst="rect">
            <a:avLst/>
          </a:prstGeom>
          <a:noFill/>
          <a:ln/>
        </p:spPr>
        <p:txBody>
          <a:bodyPr wrap="square" lIns="0" tIns="0" rIns="0" bIns="0" rtlCol="0" anchor="ctr"/>
          <a:lstStyle/>
          <a:p>
            <a:pPr indent="0" marL="0">
              <a:lnSpc>
                <a:spcPts val="1400"/>
              </a:lnSpc>
              <a:buNone/>
            </a:pPr>
            <a:r>
              <a:rPr lang="en-US" sz="1150" b="1" dirty="0">
                <a:solidFill>
                  <a:srgbClr val="4A31B0"/>
                </a:solidFill>
                <a:latin typeface="Calibri" pitchFamily="34" charset="0"/>
                <a:ea typeface="Calibri" pitchFamily="34" charset="-122"/>
                <a:cs typeface="Calibri" pitchFamily="34" charset="-120"/>
              </a:rPr>
              <a:t>Spelling bee,</a:t>
            </a:r>
            <a:endParaRPr lang="en-US" sz="1150" dirty="0"/>
          </a:p>
          <a:p>
            <a:pPr indent="0" marL="0">
              <a:lnSpc>
                <a:spcPts val="1400"/>
              </a:lnSpc>
              <a:buNone/>
            </a:pPr>
            <a:r>
              <a:rPr lang="en-US" sz="1150" b="1" dirty="0">
                <a:solidFill>
                  <a:srgbClr val="4A31B0"/>
                </a:solidFill>
                <a:latin typeface="Calibri" pitchFamily="34" charset="0"/>
                <a:ea typeface="Calibri" pitchFamily="34" charset="-122"/>
                <a:cs typeface="Calibri" pitchFamily="34" charset="-120"/>
              </a:rPr>
              <a:t>vocabulary, GK</a:t>
            </a:r>
            <a:endParaRPr lang="en-US" sz="1150" dirty="0"/>
          </a:p>
        </p:txBody>
      </p:sp>
      <p:sp>
        <p:nvSpPr>
          <p:cNvPr id="22" name="Shape 20"/>
          <p:cNvSpPr/>
          <p:nvPr/>
        </p:nvSpPr>
        <p:spPr>
          <a:xfrm>
            <a:off x="5157216" y="3346704"/>
            <a:ext cx="1828800" cy="274320"/>
          </a:xfrm>
          <a:prstGeom prst="roundRect">
            <a:avLst>
              <a:gd name="adj" fmla="val 50000"/>
            </a:avLst>
          </a:prstGeom>
          <a:solidFill>
            <a:srgbClr val="178A4C"/>
          </a:solidFill>
          <a:ln/>
        </p:spPr>
      </p:sp>
      <p:sp>
        <p:nvSpPr>
          <p:cNvPr id="23" name="Text 21"/>
          <p:cNvSpPr/>
          <p:nvPr/>
        </p:nvSpPr>
        <p:spPr>
          <a:xfrm>
            <a:off x="5157216" y="3346704"/>
            <a:ext cx="1828800" cy="274320"/>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COVERED</a:t>
            </a:r>
            <a:endParaRPr lang="en-US" sz="800" dirty="0"/>
          </a:p>
        </p:txBody>
      </p:sp>
      <p:sp>
        <p:nvSpPr>
          <p:cNvPr id="24" name="Text 22"/>
          <p:cNvSpPr/>
          <p:nvPr/>
        </p:nvSpPr>
        <p:spPr>
          <a:xfrm>
            <a:off x="5157216" y="3675888"/>
            <a:ext cx="1828800" cy="420624"/>
          </a:xfrm>
          <a:prstGeom prst="rect">
            <a:avLst/>
          </a:prstGeom>
          <a:noFill/>
          <a:ln/>
        </p:spPr>
        <p:txBody>
          <a:bodyPr wrap="square" lIns="0" tIns="0" rIns="0" bIns="0" rtlCol="0" anchor="ctr"/>
          <a:lstStyle/>
          <a:p>
            <a:pPr indent="0" marL="0">
              <a:lnSpc>
                <a:spcPts val="1200"/>
              </a:lnSpc>
              <a:buNone/>
            </a:pPr>
            <a:r>
              <a:rPr lang="en-US" sz="1000" i="1" dirty="0">
                <a:solidFill>
                  <a:srgbClr val="7A7291"/>
                </a:solidFill>
                <a:latin typeface="Calibri" pitchFamily="34" charset="0"/>
                <a:ea typeface="Calibri" pitchFamily="34" charset="-122"/>
                <a:cs typeface="Calibri" pitchFamily="34" charset="-120"/>
              </a:rPr>
              <a:t>Bee · India · Quiz · Maths</a:t>
            </a:r>
            <a:endParaRPr lang="en-US" sz="1000" dirty="0"/>
          </a:p>
        </p:txBody>
      </p:sp>
      <p:sp>
        <p:nvSpPr>
          <p:cNvPr id="25" name="Text 23"/>
          <p:cNvSpPr/>
          <p:nvPr/>
        </p:nvSpPr>
        <p:spPr>
          <a:xfrm>
            <a:off x="5157216" y="4151376"/>
            <a:ext cx="1828800" cy="1325880"/>
          </a:xfrm>
          <a:prstGeom prst="rect">
            <a:avLst/>
          </a:prstGeom>
          <a:noFill/>
          <a:ln/>
        </p:spPr>
        <p:txBody>
          <a:bodyPr wrap="square" lIns="0" tIns="0" rIns="0" bIns="0" rtlCol="0" anchor="ctr"/>
          <a:lstStyle/>
          <a:p>
            <a:pPr indent="0" marL="0">
              <a:lnSpc>
                <a:spcPts val="1350"/>
              </a:lnSpc>
              <a:buNone/>
            </a:pPr>
            <a:r>
              <a:rPr lang="en-US" sz="1000" dirty="0">
                <a:solidFill>
                  <a:srgbClr val="4A4360"/>
                </a:solidFill>
                <a:latin typeface="Calibri" pitchFamily="34" charset="0"/>
                <a:ea typeface="Calibri" pitchFamily="34" charset="-122"/>
                <a:cs typeface="Calibri" pitchFamily="34" charset="-120"/>
              </a:rPr>
              <a:t>The core. Everything built so far lands squarely here, and this is where the bee community lives.</a:t>
            </a:r>
            <a:endParaRPr lang="en-US" sz="1000" dirty="0"/>
          </a:p>
        </p:txBody>
      </p:sp>
      <p:sp>
        <p:nvSpPr>
          <p:cNvPr id="26" name="Shape 24"/>
          <p:cNvSpPr/>
          <p:nvPr/>
        </p:nvSpPr>
        <p:spPr>
          <a:xfrm>
            <a:off x="7278624" y="2011680"/>
            <a:ext cx="2011680" cy="566928"/>
          </a:xfrm>
          <a:prstGeom prst="roundRect">
            <a:avLst>
              <a:gd name="adj" fmla="val 19355"/>
            </a:avLst>
          </a:prstGeom>
          <a:solidFill>
            <a:srgbClr val="241E33"/>
          </a:solidFill>
          <a:ln/>
        </p:spPr>
      </p:sp>
      <p:sp>
        <p:nvSpPr>
          <p:cNvPr id="27" name="Text 25"/>
          <p:cNvSpPr/>
          <p:nvPr/>
        </p:nvSpPr>
        <p:spPr>
          <a:xfrm>
            <a:off x="7278624" y="2011680"/>
            <a:ext cx="2011680" cy="566928"/>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10–12</a:t>
            </a:r>
            <a:endParaRPr lang="en-US" sz="1900" dirty="0"/>
          </a:p>
        </p:txBody>
      </p:sp>
      <p:sp>
        <p:nvSpPr>
          <p:cNvPr id="28" name="Text 26"/>
          <p:cNvSpPr/>
          <p:nvPr/>
        </p:nvSpPr>
        <p:spPr>
          <a:xfrm>
            <a:off x="7370064" y="2670048"/>
            <a:ext cx="1828800" cy="603504"/>
          </a:xfrm>
          <a:prstGeom prst="rect">
            <a:avLst/>
          </a:prstGeom>
          <a:noFill/>
          <a:ln/>
        </p:spPr>
        <p:txBody>
          <a:bodyPr wrap="square" lIns="0" tIns="0" rIns="0" bIns="0" rtlCol="0" anchor="ctr"/>
          <a:lstStyle/>
          <a:p>
            <a:pPr indent="0" marL="0">
              <a:lnSpc>
                <a:spcPts val="1400"/>
              </a:lnSpc>
              <a:buNone/>
            </a:pPr>
            <a:r>
              <a:rPr lang="en-US" sz="1150" b="1" dirty="0">
                <a:solidFill>
                  <a:srgbClr val="4A31B0"/>
                </a:solidFill>
                <a:latin typeface="Calibri" pitchFamily="34" charset="0"/>
                <a:ea typeface="Calibri" pitchFamily="34" charset="-122"/>
                <a:cs typeface="Calibri" pitchFamily="34" charset="-120"/>
              </a:rPr>
              <a:t>Peak bee, 11+,</a:t>
            </a:r>
            <a:endParaRPr lang="en-US" sz="1150" dirty="0"/>
          </a:p>
          <a:p>
            <a:pPr indent="0" marL="0">
              <a:lnSpc>
                <a:spcPts val="1400"/>
              </a:lnSpc>
              <a:buNone/>
            </a:pPr>
            <a:r>
              <a:rPr lang="en-US" sz="1150" b="1" dirty="0">
                <a:solidFill>
                  <a:srgbClr val="4A31B0"/>
                </a:solidFill>
                <a:latin typeface="Calibri" pitchFamily="34" charset="0"/>
                <a:ea typeface="Calibri" pitchFamily="34" charset="-122"/>
                <a:cs typeface="Calibri" pitchFamily="34" charset="-120"/>
              </a:rPr>
              <a:t>gifted testing</a:t>
            </a:r>
            <a:endParaRPr lang="en-US" sz="1150" dirty="0"/>
          </a:p>
        </p:txBody>
      </p:sp>
      <p:sp>
        <p:nvSpPr>
          <p:cNvPr id="29" name="Shape 27"/>
          <p:cNvSpPr/>
          <p:nvPr/>
        </p:nvSpPr>
        <p:spPr>
          <a:xfrm>
            <a:off x="7370064" y="3346704"/>
            <a:ext cx="1828800" cy="274320"/>
          </a:xfrm>
          <a:prstGeom prst="roundRect">
            <a:avLst>
              <a:gd name="adj" fmla="val 50000"/>
            </a:avLst>
          </a:prstGeom>
          <a:solidFill>
            <a:srgbClr val="178A4C"/>
          </a:solidFill>
          <a:ln/>
        </p:spPr>
      </p:sp>
      <p:sp>
        <p:nvSpPr>
          <p:cNvPr id="30" name="Text 28"/>
          <p:cNvSpPr/>
          <p:nvPr/>
        </p:nvSpPr>
        <p:spPr>
          <a:xfrm>
            <a:off x="7370064" y="3346704"/>
            <a:ext cx="1828800" cy="274320"/>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COVERED</a:t>
            </a:r>
            <a:endParaRPr lang="en-US" sz="800" dirty="0"/>
          </a:p>
        </p:txBody>
      </p:sp>
      <p:sp>
        <p:nvSpPr>
          <p:cNvPr id="31" name="Text 29"/>
          <p:cNvSpPr/>
          <p:nvPr/>
        </p:nvSpPr>
        <p:spPr>
          <a:xfrm>
            <a:off x="7370064" y="3675888"/>
            <a:ext cx="1828800" cy="420624"/>
          </a:xfrm>
          <a:prstGeom prst="rect">
            <a:avLst/>
          </a:prstGeom>
          <a:noFill/>
          <a:ln/>
        </p:spPr>
        <p:txBody>
          <a:bodyPr wrap="square" lIns="0" tIns="0" rIns="0" bIns="0" rtlCol="0" anchor="ctr"/>
          <a:lstStyle/>
          <a:p>
            <a:pPr indent="0" marL="0">
              <a:lnSpc>
                <a:spcPts val="1200"/>
              </a:lnSpc>
              <a:buNone/>
            </a:pPr>
            <a:r>
              <a:rPr lang="en-US" sz="1000" i="1" dirty="0">
                <a:solidFill>
                  <a:srgbClr val="7A7291"/>
                </a:solidFill>
                <a:latin typeface="Calibri" pitchFamily="34" charset="0"/>
                <a:ea typeface="Calibri" pitchFamily="34" charset="-122"/>
                <a:cs typeface="Calibri" pitchFamily="34" charset="-120"/>
              </a:rPr>
              <a:t>Bee · Eleven · Prep</a:t>
            </a:r>
            <a:endParaRPr lang="en-US" sz="1000" dirty="0"/>
          </a:p>
          <a:p>
            <a:pPr indent="0" marL="0">
              <a:lnSpc>
                <a:spcPts val="1200"/>
              </a:lnSpc>
              <a:buNone/>
            </a:pPr>
            <a:r>
              <a:rPr lang="en-US" sz="1000" i="1" dirty="0">
                <a:solidFill>
                  <a:srgbClr val="7A7291"/>
                </a:solidFill>
                <a:latin typeface="Calibri" pitchFamily="34" charset="0"/>
                <a:ea typeface="Calibri" pitchFamily="34" charset="-122"/>
                <a:cs typeface="Calibri" pitchFamily="34" charset="-120"/>
              </a:rPr>
              <a:t>Bhasha · English</a:t>
            </a:r>
            <a:endParaRPr lang="en-US" sz="1000" dirty="0"/>
          </a:p>
        </p:txBody>
      </p:sp>
      <p:sp>
        <p:nvSpPr>
          <p:cNvPr id="32" name="Text 30"/>
          <p:cNvSpPr/>
          <p:nvPr/>
        </p:nvSpPr>
        <p:spPr>
          <a:xfrm>
            <a:off x="7370064" y="4151376"/>
            <a:ext cx="1828800" cy="1325880"/>
          </a:xfrm>
          <a:prstGeom prst="rect">
            <a:avLst/>
          </a:prstGeom>
          <a:noFill/>
          <a:ln/>
        </p:spPr>
        <p:txBody>
          <a:bodyPr wrap="square" lIns="0" tIns="0" rIns="0" bIns="0" rtlCol="0" anchor="ctr"/>
          <a:lstStyle/>
          <a:p>
            <a:pPr indent="0" marL="0">
              <a:lnSpc>
                <a:spcPts val="1350"/>
              </a:lnSpc>
              <a:buNone/>
            </a:pPr>
            <a:r>
              <a:rPr lang="en-US" sz="1000" dirty="0">
                <a:solidFill>
                  <a:srgbClr val="4A4360"/>
                </a:solidFill>
                <a:latin typeface="Calibri" pitchFamily="34" charset="0"/>
                <a:ea typeface="Calibri" pitchFamily="34" charset="-122"/>
                <a:cs typeface="Calibri" pitchFamily="34" charset="-120"/>
              </a:rPr>
              <a:t>The highest-intent, highest-spend years. Four products can serve one child at once, on one account.</a:t>
            </a:r>
            <a:endParaRPr lang="en-US" sz="1000" dirty="0"/>
          </a:p>
        </p:txBody>
      </p:sp>
      <p:sp>
        <p:nvSpPr>
          <p:cNvPr id="33" name="Shape 31"/>
          <p:cNvSpPr/>
          <p:nvPr/>
        </p:nvSpPr>
        <p:spPr>
          <a:xfrm>
            <a:off x="9491472" y="2011680"/>
            <a:ext cx="2011680" cy="566928"/>
          </a:xfrm>
          <a:prstGeom prst="roundRect">
            <a:avLst>
              <a:gd name="adj" fmla="val 19355"/>
            </a:avLst>
          </a:prstGeom>
          <a:solidFill>
            <a:srgbClr val="241E33"/>
          </a:solidFill>
          <a:ln/>
        </p:spPr>
      </p:sp>
      <p:sp>
        <p:nvSpPr>
          <p:cNvPr id="34" name="Text 32"/>
          <p:cNvSpPr/>
          <p:nvPr/>
        </p:nvSpPr>
        <p:spPr>
          <a:xfrm>
            <a:off x="9491472" y="2011680"/>
            <a:ext cx="2011680" cy="566928"/>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12–16</a:t>
            </a:r>
            <a:endParaRPr lang="en-US" sz="1900" dirty="0"/>
          </a:p>
        </p:txBody>
      </p:sp>
      <p:sp>
        <p:nvSpPr>
          <p:cNvPr id="35" name="Text 33"/>
          <p:cNvSpPr/>
          <p:nvPr/>
        </p:nvSpPr>
        <p:spPr>
          <a:xfrm>
            <a:off x="9582912" y="2670048"/>
            <a:ext cx="1828800" cy="603504"/>
          </a:xfrm>
          <a:prstGeom prst="rect">
            <a:avLst/>
          </a:prstGeom>
          <a:noFill/>
          <a:ln/>
        </p:spPr>
        <p:txBody>
          <a:bodyPr wrap="square" lIns="0" tIns="0" rIns="0" bIns="0" rtlCol="0" anchor="ctr"/>
          <a:lstStyle/>
          <a:p>
            <a:pPr indent="0" marL="0">
              <a:lnSpc>
                <a:spcPts val="1400"/>
              </a:lnSpc>
              <a:buNone/>
            </a:pPr>
            <a:r>
              <a:rPr lang="en-US" sz="1150" b="1" dirty="0">
                <a:solidFill>
                  <a:srgbClr val="4A31B0"/>
                </a:solidFill>
                <a:latin typeface="Calibri" pitchFamily="34" charset="0"/>
                <a:ea typeface="Calibri" pitchFamily="34" charset="-122"/>
                <a:cs typeface="Calibri" pitchFamily="34" charset="-120"/>
              </a:rPr>
              <a:t>Debate, essays,</a:t>
            </a:r>
            <a:endParaRPr lang="en-US" sz="1150" dirty="0"/>
          </a:p>
          <a:p>
            <a:pPr indent="0" marL="0">
              <a:lnSpc>
                <a:spcPts val="1400"/>
              </a:lnSpc>
              <a:buNone/>
            </a:pPr>
            <a:r>
              <a:rPr lang="en-US" sz="1150" b="1" dirty="0">
                <a:solidFill>
                  <a:srgbClr val="4A31B0"/>
                </a:solidFill>
                <a:latin typeface="Calibri" pitchFamily="34" charset="0"/>
                <a:ea typeface="Calibri" pitchFamily="34" charset="-122"/>
                <a:cs typeface="Calibri" pitchFamily="34" charset="-120"/>
              </a:rPr>
              <a:t>money, business</a:t>
            </a:r>
            <a:endParaRPr lang="en-US" sz="1150" dirty="0"/>
          </a:p>
        </p:txBody>
      </p:sp>
      <p:sp>
        <p:nvSpPr>
          <p:cNvPr id="36" name="Shape 34"/>
          <p:cNvSpPr/>
          <p:nvPr/>
        </p:nvSpPr>
        <p:spPr>
          <a:xfrm>
            <a:off x="9582912" y="3346704"/>
            <a:ext cx="1828800" cy="274320"/>
          </a:xfrm>
          <a:prstGeom prst="roundRect">
            <a:avLst>
              <a:gd name="adj" fmla="val 50000"/>
            </a:avLst>
          </a:prstGeom>
          <a:solidFill>
            <a:srgbClr val="C4453C"/>
          </a:solidFill>
          <a:ln/>
        </p:spPr>
      </p:sp>
      <p:sp>
        <p:nvSpPr>
          <p:cNvPr id="37" name="Text 35"/>
          <p:cNvSpPr/>
          <p:nvPr/>
        </p:nvSpPr>
        <p:spPr>
          <a:xfrm>
            <a:off x="9582912" y="3346704"/>
            <a:ext cx="1828800" cy="274320"/>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GAP, NAMED</a:t>
            </a:r>
            <a:endParaRPr lang="en-US" sz="800" dirty="0"/>
          </a:p>
        </p:txBody>
      </p:sp>
      <p:sp>
        <p:nvSpPr>
          <p:cNvPr id="38" name="Text 36"/>
          <p:cNvSpPr/>
          <p:nvPr/>
        </p:nvSpPr>
        <p:spPr>
          <a:xfrm>
            <a:off x="9582912" y="3675888"/>
            <a:ext cx="1828800" cy="420624"/>
          </a:xfrm>
          <a:prstGeom prst="rect">
            <a:avLst/>
          </a:prstGeom>
          <a:noFill/>
          <a:ln/>
        </p:spPr>
        <p:txBody>
          <a:bodyPr wrap="square" lIns="0" tIns="0" rIns="0" bIns="0" rtlCol="0" anchor="ctr"/>
          <a:lstStyle/>
          <a:p>
            <a:pPr indent="0" marL="0">
              <a:lnSpc>
                <a:spcPts val="1200"/>
              </a:lnSpc>
              <a:buNone/>
            </a:pPr>
            <a:r>
              <a:rPr lang="en-US" sz="1000" i="1" dirty="0">
                <a:solidFill>
                  <a:srgbClr val="7A7291"/>
                </a:solidFill>
                <a:latin typeface="Calibri" pitchFamily="34" charset="0"/>
                <a:ea typeface="Calibri" pitchFamily="34" charset="-122"/>
                <a:cs typeface="Calibri" pitchFamily="34" charset="-120"/>
              </a:rPr>
              <a:t>Speak · Business</a:t>
            </a:r>
            <a:endParaRPr lang="en-US" sz="1000" dirty="0"/>
          </a:p>
          <a:p>
            <a:pPr indent="0" marL="0">
              <a:lnSpc>
                <a:spcPts val="1200"/>
              </a:lnSpc>
              <a:buNone/>
            </a:pPr>
            <a:r>
              <a:rPr lang="en-US" sz="1000" i="1" dirty="0">
                <a:solidFill>
                  <a:srgbClr val="7A7291"/>
                </a:solidFill>
                <a:latin typeface="Calibri" pitchFamily="34" charset="0"/>
                <a:ea typeface="Calibri" pitchFamily="34" charset="-122"/>
                <a:cs typeface="Calibri" pitchFamily="34" charset="-120"/>
              </a:rPr>
              <a:t>Finance · English</a:t>
            </a:r>
            <a:endParaRPr lang="en-US" sz="1000" dirty="0"/>
          </a:p>
        </p:txBody>
      </p:sp>
      <p:sp>
        <p:nvSpPr>
          <p:cNvPr id="39" name="Text 37"/>
          <p:cNvSpPr/>
          <p:nvPr/>
        </p:nvSpPr>
        <p:spPr>
          <a:xfrm>
            <a:off x="9582912" y="4151376"/>
            <a:ext cx="1828800" cy="1325880"/>
          </a:xfrm>
          <a:prstGeom prst="rect">
            <a:avLst/>
          </a:prstGeom>
          <a:noFill/>
          <a:ln/>
        </p:spPr>
        <p:txBody>
          <a:bodyPr wrap="square" lIns="0" tIns="0" rIns="0" bIns="0" rtlCol="0" anchor="ctr"/>
          <a:lstStyle/>
          <a:p>
            <a:pPr indent="0" marL="0">
              <a:lnSpc>
                <a:spcPts val="1350"/>
              </a:lnSpc>
              <a:buNone/>
            </a:pPr>
            <a:r>
              <a:rPr lang="en-US" sz="1000" dirty="0">
                <a:solidFill>
                  <a:srgbClr val="4A4360"/>
                </a:solidFill>
                <a:latin typeface="Calibri" pitchFamily="34" charset="0"/>
                <a:ea typeface="Calibri" pitchFamily="34" charset="-122"/>
                <a:cs typeface="Calibri" pitchFamily="34" charset="-120"/>
              </a:rPr>
              <a:t>The bee ends around fourteen and the family leaves. Four products aim here and not one of them is built. The churn cliff is still open.</a:t>
            </a:r>
            <a:endParaRPr lang="en-US" sz="1000" dirty="0"/>
          </a:p>
        </p:txBody>
      </p:sp>
      <p:sp>
        <p:nvSpPr>
          <p:cNvPr id="40" name="Shape 38"/>
          <p:cNvSpPr/>
          <p:nvPr/>
        </p:nvSpPr>
        <p:spPr>
          <a:xfrm>
            <a:off x="640080" y="5596128"/>
            <a:ext cx="10607040" cy="658368"/>
          </a:xfrm>
          <a:prstGeom prst="roundRect">
            <a:avLst>
              <a:gd name="adj" fmla="val 19444"/>
            </a:avLst>
          </a:prstGeom>
          <a:solidFill>
            <a:srgbClr val="EFEBF8"/>
          </a:solidFill>
          <a:ln/>
          <a:effectLst>
            <a:outerShdw sx="100000" sy="100000" kx="0" ky="0" algn="bl" rotWithShape="0" blurRad="127000" dist="25400" dir="5400000">
              <a:srgbClr val="241E33">
                <a:alpha val="10000"/>
              </a:srgbClr>
            </a:outerShdw>
          </a:effectLst>
        </p:spPr>
      </p:sp>
      <p:sp>
        <p:nvSpPr>
          <p:cNvPr id="41" name="Text 39"/>
          <p:cNvSpPr/>
          <p:nvPr/>
        </p:nvSpPr>
        <p:spPr>
          <a:xfrm>
            <a:off x="950976" y="5596128"/>
            <a:ext cx="9966960" cy="658368"/>
          </a:xfrm>
          <a:prstGeom prst="rect">
            <a:avLst/>
          </a:prstGeom>
          <a:noFill/>
          <a:ln/>
        </p:spPr>
        <p:txBody>
          <a:bodyPr wrap="square" lIns="0" tIns="0" rIns="0" bIns="0" rtlCol="0" anchor="ctr"/>
          <a:lstStyle/>
          <a:p>
            <a:pPr indent="0" marL="0">
              <a:lnSpc>
                <a:spcPts val="1900"/>
              </a:lnSpc>
              <a:buNone/>
            </a:pPr>
            <a:r>
              <a:rPr lang="en-US" sz="1400" i="1" dirty="0">
                <a:solidFill>
                  <a:srgbClr val="241E33"/>
                </a:solidFill>
                <a:latin typeface="Cambria" pitchFamily="34" charset="0"/>
                <a:ea typeface="Cambria" pitchFamily="34" charset="-122"/>
                <a:cs typeface="Cambria" pitchFamily="34" charset="-120"/>
              </a:rPr>
              <a:t>Bizzing’s job is never to hand a family back. Both gaps now have product names against them — but a name is not a build, and until Buzz and Speak exist the family still walks out at four and again at fourteen.</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MONETISATION · YEARS ONE TO FIVE</a:t>
            </a:r>
            <a:endParaRPr lang="en-US" sz="1150" dirty="0"/>
          </a:p>
        </p:txBody>
      </p:sp>
      <p:sp>
        <p:nvSpPr>
          <p:cNvPr id="3" name="Text 1"/>
          <p:cNvSpPr/>
          <p:nvPr/>
        </p:nvSpPr>
        <p:spPr>
          <a:xfrm>
            <a:off x="640080" y="694944"/>
            <a:ext cx="106070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How Bizzing earns, and when</a:t>
            </a:r>
            <a:endParaRPr lang="en-US" sz="2900" dirty="0"/>
          </a:p>
        </p:txBody>
      </p:sp>
      <p:sp>
        <p:nvSpPr>
          <p:cNvPr id="4" name="Text 2"/>
          <p:cNvSpPr/>
          <p:nvPr/>
        </p:nvSpPr>
        <p:spPr>
          <a:xfrm>
            <a:off x="640080" y="1444752"/>
            <a:ext cx="10607040" cy="512064"/>
          </a:xfrm>
          <a:prstGeom prst="rect">
            <a:avLst/>
          </a:prstGeom>
          <a:noFill/>
          <a:ln/>
        </p:spPr>
        <p:txBody>
          <a:bodyPr wrap="square" lIns="0" tIns="0" rIns="0" bIns="0" rtlCol="0" anchor="ctr"/>
          <a:lstStyle/>
          <a:p>
            <a:pPr indent="0" marL="0">
              <a:buNone/>
            </a:pPr>
            <a:r>
              <a:rPr lang="en-US" sz="1450" dirty="0">
                <a:solidFill>
                  <a:srgbClr val="7A7291"/>
                </a:solidFill>
                <a:latin typeface="Calibri" pitchFamily="34" charset="0"/>
                <a:ea typeface="Calibri" pitchFamily="34" charset="-122"/>
                <a:cs typeface="Calibri" pitchFamily="34" charset="-120"/>
              </a:rPr>
              <a:t>Six streams. Two of them can start almost immediately because the asset already exists — the books are written and the avatar art is drawn.</a:t>
            </a:r>
            <a:endParaRPr lang="en-US" sz="1450" dirty="0"/>
          </a:p>
        </p:txBody>
      </p:sp>
      <p:sp>
        <p:nvSpPr>
          <p:cNvPr id="5" name="Text 3"/>
          <p:cNvSpPr/>
          <p:nvPr/>
        </p:nvSpPr>
        <p:spPr>
          <a:xfrm>
            <a:off x="4846320" y="1993392"/>
            <a:ext cx="2103120" cy="274320"/>
          </a:xfrm>
          <a:prstGeom prst="rect">
            <a:avLst/>
          </a:prstGeom>
          <a:noFill/>
          <a:ln/>
        </p:spPr>
        <p:txBody>
          <a:bodyPr wrap="square" lIns="0" tIns="0" rIns="0" bIns="0" rtlCol="0" anchor="ctr"/>
          <a:lstStyle/>
          <a:p>
            <a:pPr algn="ctr" indent="0" marL="0">
              <a:buNone/>
            </a:pPr>
            <a:r>
              <a:rPr lang="en-US" sz="1000" b="1" spc="180" kern="0" dirty="0">
                <a:solidFill>
                  <a:srgbClr val="4A31B0"/>
                </a:solidFill>
                <a:latin typeface="Calibri" pitchFamily="34" charset="0"/>
                <a:ea typeface="Calibri" pitchFamily="34" charset="-122"/>
                <a:cs typeface="Calibri" pitchFamily="34" charset="-120"/>
              </a:rPr>
              <a:t>YEAR 1</a:t>
            </a:r>
            <a:endParaRPr lang="en-US" sz="1000" dirty="0"/>
          </a:p>
        </p:txBody>
      </p:sp>
      <p:sp>
        <p:nvSpPr>
          <p:cNvPr id="6" name="Text 4"/>
          <p:cNvSpPr/>
          <p:nvPr/>
        </p:nvSpPr>
        <p:spPr>
          <a:xfrm>
            <a:off x="7132320" y="1993392"/>
            <a:ext cx="2103120" cy="274320"/>
          </a:xfrm>
          <a:prstGeom prst="rect">
            <a:avLst/>
          </a:prstGeom>
          <a:noFill/>
          <a:ln/>
        </p:spPr>
        <p:txBody>
          <a:bodyPr wrap="square" lIns="0" tIns="0" rIns="0" bIns="0" rtlCol="0" anchor="ctr"/>
          <a:lstStyle/>
          <a:p>
            <a:pPr algn="ctr" indent="0" marL="0">
              <a:buNone/>
            </a:pPr>
            <a:r>
              <a:rPr lang="en-US" sz="1000" b="1" spc="180" kern="0" dirty="0">
                <a:solidFill>
                  <a:srgbClr val="4A31B0"/>
                </a:solidFill>
                <a:latin typeface="Calibri" pitchFamily="34" charset="0"/>
                <a:ea typeface="Calibri" pitchFamily="34" charset="-122"/>
                <a:cs typeface="Calibri" pitchFamily="34" charset="-120"/>
              </a:rPr>
              <a:t>YEARS 2–3</a:t>
            </a:r>
            <a:endParaRPr lang="en-US" sz="1000" dirty="0"/>
          </a:p>
        </p:txBody>
      </p:sp>
      <p:sp>
        <p:nvSpPr>
          <p:cNvPr id="7" name="Text 5"/>
          <p:cNvSpPr/>
          <p:nvPr/>
        </p:nvSpPr>
        <p:spPr>
          <a:xfrm>
            <a:off x="9418320" y="1993392"/>
            <a:ext cx="2103120" cy="274320"/>
          </a:xfrm>
          <a:prstGeom prst="rect">
            <a:avLst/>
          </a:prstGeom>
          <a:noFill/>
          <a:ln/>
        </p:spPr>
        <p:txBody>
          <a:bodyPr wrap="square" lIns="0" tIns="0" rIns="0" bIns="0" rtlCol="0" anchor="ctr"/>
          <a:lstStyle/>
          <a:p>
            <a:pPr algn="ctr" indent="0" marL="0">
              <a:buNone/>
            </a:pPr>
            <a:r>
              <a:rPr lang="en-US" sz="1000" b="1" spc="180" kern="0" dirty="0">
                <a:solidFill>
                  <a:srgbClr val="4A31B0"/>
                </a:solidFill>
                <a:latin typeface="Calibri" pitchFamily="34" charset="0"/>
                <a:ea typeface="Calibri" pitchFamily="34" charset="-122"/>
                <a:cs typeface="Calibri" pitchFamily="34" charset="-120"/>
              </a:rPr>
              <a:t>YEARS 4–5</a:t>
            </a:r>
            <a:endParaRPr lang="en-US" sz="1000" dirty="0"/>
          </a:p>
        </p:txBody>
      </p:sp>
      <p:sp>
        <p:nvSpPr>
          <p:cNvPr id="8" name="Shape 6"/>
          <p:cNvSpPr/>
          <p:nvPr/>
        </p:nvSpPr>
        <p:spPr>
          <a:xfrm>
            <a:off x="512064" y="2286000"/>
            <a:ext cx="10991088" cy="576072"/>
          </a:xfrm>
          <a:prstGeom prst="roundRect">
            <a:avLst>
              <a:gd name="adj" fmla="val 15873"/>
            </a:avLst>
          </a:prstGeom>
          <a:solidFill>
            <a:srgbClr val="EFEBF8"/>
          </a:solidFill>
          <a:ln/>
        </p:spPr>
      </p:sp>
      <p:sp>
        <p:nvSpPr>
          <p:cNvPr id="9" name="Text 7"/>
          <p:cNvSpPr/>
          <p:nvPr/>
        </p:nvSpPr>
        <p:spPr>
          <a:xfrm>
            <a:off x="640080" y="2322576"/>
            <a:ext cx="4160520" cy="256032"/>
          </a:xfrm>
          <a:prstGeom prst="rect">
            <a:avLst/>
          </a:prstGeom>
          <a:noFill/>
          <a:ln/>
        </p:spPr>
        <p:txBody>
          <a:bodyPr wrap="square" lIns="0" tIns="0" rIns="0" bIns="0" rtlCol="0" anchor="ctr"/>
          <a:lstStyle/>
          <a:p>
            <a:pPr indent="0" marL="0">
              <a:buNone/>
            </a:pPr>
            <a:r>
              <a:rPr lang="en-US" sz="1350" b="1" dirty="0">
                <a:solidFill>
                  <a:srgbClr val="241E33"/>
                </a:solidFill>
                <a:latin typeface="Cambria" pitchFamily="34" charset="0"/>
                <a:ea typeface="Cambria" pitchFamily="34" charset="-122"/>
                <a:cs typeface="Cambria" pitchFamily="34" charset="-120"/>
              </a:rPr>
              <a:t>Subscription &amp; packs</a:t>
            </a:r>
            <a:endParaRPr lang="en-US" sz="1350" dirty="0"/>
          </a:p>
        </p:txBody>
      </p:sp>
      <p:sp>
        <p:nvSpPr>
          <p:cNvPr id="10" name="Text 8"/>
          <p:cNvSpPr/>
          <p:nvPr/>
        </p:nvSpPr>
        <p:spPr>
          <a:xfrm>
            <a:off x="640080" y="2569464"/>
            <a:ext cx="4160520" cy="329184"/>
          </a:xfrm>
          <a:prstGeom prst="rect">
            <a:avLst/>
          </a:prstGeom>
          <a:noFill/>
          <a:ln/>
        </p:spPr>
        <p:txBody>
          <a:bodyPr wrap="square" lIns="0" tIns="0" rIns="0" bIns="0" rtlCol="0" anchor="ctr"/>
          <a:lstStyle/>
          <a:p>
            <a:pPr indent="0" marL="0">
              <a:lnSpc>
                <a:spcPts val="1150"/>
              </a:lnSpc>
              <a:buNone/>
            </a:pPr>
            <a:r>
              <a:rPr lang="en-US" sz="950" dirty="0">
                <a:solidFill>
                  <a:srgbClr val="4A4360"/>
                </a:solidFill>
                <a:latin typeface="Calibri" pitchFamily="34" charset="0"/>
                <a:ea typeface="Calibri" pitchFamily="34" charset="-122"/>
                <a:cs typeface="Calibri" pitchFamily="34" charset="-120"/>
              </a:rPr>
              <a:t>Advanced, Bhasha, Eleven. The compounding line — everything else is a supplement to it.</a:t>
            </a:r>
            <a:endParaRPr lang="en-US" sz="950" dirty="0"/>
          </a:p>
        </p:txBody>
      </p:sp>
      <p:sp>
        <p:nvSpPr>
          <p:cNvPr id="11" name="Shape 9"/>
          <p:cNvSpPr/>
          <p:nvPr/>
        </p:nvSpPr>
        <p:spPr>
          <a:xfrm>
            <a:off x="5257800" y="2441448"/>
            <a:ext cx="1280160" cy="274320"/>
          </a:xfrm>
          <a:prstGeom prst="roundRect">
            <a:avLst>
              <a:gd name="adj" fmla="val 50000"/>
            </a:avLst>
          </a:prstGeom>
          <a:solidFill>
            <a:srgbClr val="178A4C"/>
          </a:solidFill>
          <a:ln/>
        </p:spPr>
      </p:sp>
      <p:sp>
        <p:nvSpPr>
          <p:cNvPr id="12" name="Text 10"/>
          <p:cNvSpPr/>
          <p:nvPr/>
        </p:nvSpPr>
        <p:spPr>
          <a:xfrm>
            <a:off x="5257800" y="2441448"/>
            <a:ext cx="1280160" cy="274320"/>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LAUNCH</a:t>
            </a:r>
            <a:endParaRPr lang="en-US" sz="800" dirty="0"/>
          </a:p>
        </p:txBody>
      </p:sp>
      <p:sp>
        <p:nvSpPr>
          <p:cNvPr id="13" name="Shape 11"/>
          <p:cNvSpPr/>
          <p:nvPr/>
        </p:nvSpPr>
        <p:spPr>
          <a:xfrm>
            <a:off x="7543800" y="2441448"/>
            <a:ext cx="1280160" cy="274320"/>
          </a:xfrm>
          <a:prstGeom prst="roundRect">
            <a:avLst>
              <a:gd name="adj" fmla="val 50000"/>
            </a:avLst>
          </a:prstGeom>
          <a:solidFill>
            <a:srgbClr val="6C4FE0"/>
          </a:solidFill>
          <a:ln/>
        </p:spPr>
      </p:sp>
      <p:sp>
        <p:nvSpPr>
          <p:cNvPr id="14" name="Text 12"/>
          <p:cNvSpPr/>
          <p:nvPr/>
        </p:nvSpPr>
        <p:spPr>
          <a:xfrm>
            <a:off x="7543800" y="2441448"/>
            <a:ext cx="1280160" cy="274320"/>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GROW</a:t>
            </a:r>
            <a:endParaRPr lang="en-US" sz="800" dirty="0"/>
          </a:p>
        </p:txBody>
      </p:sp>
      <p:sp>
        <p:nvSpPr>
          <p:cNvPr id="15" name="Shape 13"/>
          <p:cNvSpPr/>
          <p:nvPr/>
        </p:nvSpPr>
        <p:spPr>
          <a:xfrm>
            <a:off x="9829800" y="2441448"/>
            <a:ext cx="1280160" cy="274320"/>
          </a:xfrm>
          <a:prstGeom prst="roundRect">
            <a:avLst>
              <a:gd name="adj" fmla="val 50000"/>
            </a:avLst>
          </a:prstGeom>
          <a:solidFill>
            <a:srgbClr val="F0B429"/>
          </a:solidFill>
          <a:ln/>
        </p:spPr>
      </p:sp>
      <p:sp>
        <p:nvSpPr>
          <p:cNvPr id="16" name="Text 14"/>
          <p:cNvSpPr/>
          <p:nvPr/>
        </p:nvSpPr>
        <p:spPr>
          <a:xfrm>
            <a:off x="9829800" y="2441448"/>
            <a:ext cx="1280160" cy="274320"/>
          </a:xfrm>
          <a:prstGeom prst="rect">
            <a:avLst/>
          </a:prstGeom>
          <a:noFill/>
          <a:ln/>
        </p:spPr>
        <p:txBody>
          <a:bodyPr wrap="square" lIns="0" tIns="0" rIns="0" bIns="0" rtlCol="0" anchor="ctr"/>
          <a:lstStyle/>
          <a:p>
            <a:pPr algn="ctr" indent="0" marL="0">
              <a:buNone/>
            </a:pPr>
            <a:r>
              <a:rPr lang="en-US" sz="800" b="1" dirty="0">
                <a:solidFill>
                  <a:srgbClr val="241E33"/>
                </a:solidFill>
                <a:latin typeface="Calibri" pitchFamily="34" charset="0"/>
                <a:ea typeface="Calibri" pitchFamily="34" charset="-122"/>
                <a:cs typeface="Calibri" pitchFamily="34" charset="-120"/>
              </a:rPr>
              <a:t>SCALE</a:t>
            </a:r>
            <a:endParaRPr lang="en-US" sz="800" dirty="0"/>
          </a:p>
        </p:txBody>
      </p:sp>
      <p:sp>
        <p:nvSpPr>
          <p:cNvPr id="17" name="Text 15"/>
          <p:cNvSpPr/>
          <p:nvPr/>
        </p:nvSpPr>
        <p:spPr>
          <a:xfrm>
            <a:off x="640080" y="2953512"/>
            <a:ext cx="4160520" cy="256032"/>
          </a:xfrm>
          <a:prstGeom prst="rect">
            <a:avLst/>
          </a:prstGeom>
          <a:noFill/>
          <a:ln/>
        </p:spPr>
        <p:txBody>
          <a:bodyPr wrap="square" lIns="0" tIns="0" rIns="0" bIns="0" rtlCol="0" anchor="ctr"/>
          <a:lstStyle/>
          <a:p>
            <a:pPr indent="0" marL="0">
              <a:buNone/>
            </a:pPr>
            <a:r>
              <a:rPr lang="en-US" sz="1350" b="1" dirty="0">
                <a:solidFill>
                  <a:srgbClr val="241E33"/>
                </a:solidFill>
                <a:latin typeface="Cambria" pitchFamily="34" charset="0"/>
                <a:ea typeface="Cambria" pitchFamily="34" charset="-122"/>
                <a:cs typeface="Cambria" pitchFamily="34" charset="-120"/>
              </a:rPr>
              <a:t>Books</a:t>
            </a:r>
            <a:endParaRPr lang="en-US" sz="1350" dirty="0"/>
          </a:p>
        </p:txBody>
      </p:sp>
      <p:sp>
        <p:nvSpPr>
          <p:cNvPr id="18" name="Text 16"/>
          <p:cNvSpPr/>
          <p:nvPr/>
        </p:nvSpPr>
        <p:spPr>
          <a:xfrm>
            <a:off x="640080" y="3200400"/>
            <a:ext cx="4160520" cy="329184"/>
          </a:xfrm>
          <a:prstGeom prst="rect">
            <a:avLst/>
          </a:prstGeom>
          <a:noFill/>
          <a:ln/>
        </p:spPr>
        <p:txBody>
          <a:bodyPr wrap="square" lIns="0" tIns="0" rIns="0" bIns="0" rtlCol="0" anchor="ctr"/>
          <a:lstStyle/>
          <a:p>
            <a:pPr indent="0" marL="0">
              <a:lnSpc>
                <a:spcPts val="1150"/>
              </a:lnSpc>
              <a:buNone/>
            </a:pPr>
            <a:r>
              <a:rPr lang="en-US" sz="950" dirty="0">
                <a:solidFill>
                  <a:srgbClr val="4A4360"/>
                </a:solidFill>
                <a:latin typeface="Calibri" pitchFamily="34" charset="0"/>
                <a:ea typeface="Calibri" pitchFamily="34" charset="-122"/>
                <a:cs typeface="Calibri" pitchFamily="34" charset="-120"/>
              </a:rPr>
              <a:t>23 volumes and 1,700 pages already generated. Print-on-demand and ebook carry no inventory risk.</a:t>
            </a:r>
            <a:endParaRPr lang="en-US" sz="950" dirty="0"/>
          </a:p>
        </p:txBody>
      </p:sp>
      <p:sp>
        <p:nvSpPr>
          <p:cNvPr id="19" name="Shape 17"/>
          <p:cNvSpPr/>
          <p:nvPr/>
        </p:nvSpPr>
        <p:spPr>
          <a:xfrm>
            <a:off x="5257800" y="3072384"/>
            <a:ext cx="1280160" cy="274320"/>
          </a:xfrm>
          <a:prstGeom prst="roundRect">
            <a:avLst>
              <a:gd name="adj" fmla="val 50000"/>
            </a:avLst>
          </a:prstGeom>
          <a:solidFill>
            <a:srgbClr val="178A4C"/>
          </a:solidFill>
          <a:ln/>
        </p:spPr>
      </p:sp>
      <p:sp>
        <p:nvSpPr>
          <p:cNvPr id="20" name="Text 18"/>
          <p:cNvSpPr/>
          <p:nvPr/>
        </p:nvSpPr>
        <p:spPr>
          <a:xfrm>
            <a:off x="5257800" y="3072384"/>
            <a:ext cx="1280160" cy="274320"/>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LAUNCH</a:t>
            </a:r>
            <a:endParaRPr lang="en-US" sz="800" dirty="0"/>
          </a:p>
        </p:txBody>
      </p:sp>
      <p:sp>
        <p:nvSpPr>
          <p:cNvPr id="21" name="Shape 19"/>
          <p:cNvSpPr/>
          <p:nvPr/>
        </p:nvSpPr>
        <p:spPr>
          <a:xfrm>
            <a:off x="7543800" y="3072384"/>
            <a:ext cx="1280160" cy="274320"/>
          </a:xfrm>
          <a:prstGeom prst="roundRect">
            <a:avLst>
              <a:gd name="adj" fmla="val 50000"/>
            </a:avLst>
          </a:prstGeom>
          <a:solidFill>
            <a:srgbClr val="6C4FE0"/>
          </a:solidFill>
          <a:ln/>
        </p:spPr>
      </p:sp>
      <p:sp>
        <p:nvSpPr>
          <p:cNvPr id="22" name="Text 20"/>
          <p:cNvSpPr/>
          <p:nvPr/>
        </p:nvSpPr>
        <p:spPr>
          <a:xfrm>
            <a:off x="7543800" y="3072384"/>
            <a:ext cx="1280160" cy="274320"/>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GROW</a:t>
            </a:r>
            <a:endParaRPr lang="en-US" sz="800" dirty="0"/>
          </a:p>
        </p:txBody>
      </p:sp>
      <p:sp>
        <p:nvSpPr>
          <p:cNvPr id="23" name="Shape 21"/>
          <p:cNvSpPr/>
          <p:nvPr/>
        </p:nvSpPr>
        <p:spPr>
          <a:xfrm>
            <a:off x="9829800" y="3072384"/>
            <a:ext cx="1280160" cy="274320"/>
          </a:xfrm>
          <a:prstGeom prst="roundRect">
            <a:avLst>
              <a:gd name="adj" fmla="val 50000"/>
            </a:avLst>
          </a:prstGeom>
          <a:solidFill>
            <a:srgbClr val="F0B429"/>
          </a:solidFill>
          <a:ln/>
        </p:spPr>
      </p:sp>
      <p:sp>
        <p:nvSpPr>
          <p:cNvPr id="24" name="Text 22"/>
          <p:cNvSpPr/>
          <p:nvPr/>
        </p:nvSpPr>
        <p:spPr>
          <a:xfrm>
            <a:off x="9829800" y="3072384"/>
            <a:ext cx="1280160" cy="274320"/>
          </a:xfrm>
          <a:prstGeom prst="rect">
            <a:avLst/>
          </a:prstGeom>
          <a:noFill/>
          <a:ln/>
        </p:spPr>
        <p:txBody>
          <a:bodyPr wrap="square" lIns="0" tIns="0" rIns="0" bIns="0" rtlCol="0" anchor="ctr"/>
          <a:lstStyle/>
          <a:p>
            <a:pPr algn="ctr" indent="0" marL="0">
              <a:buNone/>
            </a:pPr>
            <a:r>
              <a:rPr lang="en-US" sz="800" b="1" dirty="0">
                <a:solidFill>
                  <a:srgbClr val="241E33"/>
                </a:solidFill>
                <a:latin typeface="Calibri" pitchFamily="34" charset="0"/>
                <a:ea typeface="Calibri" pitchFamily="34" charset="-122"/>
                <a:cs typeface="Calibri" pitchFamily="34" charset="-120"/>
              </a:rPr>
              <a:t>SCALE</a:t>
            </a:r>
            <a:endParaRPr lang="en-US" sz="800" dirty="0"/>
          </a:p>
        </p:txBody>
      </p:sp>
      <p:sp>
        <p:nvSpPr>
          <p:cNvPr id="25" name="Shape 23"/>
          <p:cNvSpPr/>
          <p:nvPr/>
        </p:nvSpPr>
        <p:spPr>
          <a:xfrm>
            <a:off x="512064" y="3547872"/>
            <a:ext cx="10991088" cy="576072"/>
          </a:xfrm>
          <a:prstGeom prst="roundRect">
            <a:avLst>
              <a:gd name="adj" fmla="val 15873"/>
            </a:avLst>
          </a:prstGeom>
          <a:solidFill>
            <a:srgbClr val="EFEBF8"/>
          </a:solidFill>
          <a:ln/>
        </p:spPr>
      </p:sp>
      <p:sp>
        <p:nvSpPr>
          <p:cNvPr id="26" name="Text 24"/>
          <p:cNvSpPr/>
          <p:nvPr/>
        </p:nvSpPr>
        <p:spPr>
          <a:xfrm>
            <a:off x="640080" y="3584448"/>
            <a:ext cx="4160520" cy="256032"/>
          </a:xfrm>
          <a:prstGeom prst="rect">
            <a:avLst/>
          </a:prstGeom>
          <a:noFill/>
          <a:ln/>
        </p:spPr>
        <p:txBody>
          <a:bodyPr wrap="square" lIns="0" tIns="0" rIns="0" bIns="0" rtlCol="0" anchor="ctr"/>
          <a:lstStyle/>
          <a:p>
            <a:pPr indent="0" marL="0">
              <a:buNone/>
            </a:pPr>
            <a:r>
              <a:rPr lang="en-US" sz="1350" b="1" dirty="0">
                <a:solidFill>
                  <a:srgbClr val="241E33"/>
                </a:solidFill>
                <a:latin typeface="Cambria" pitchFamily="34" charset="0"/>
                <a:ea typeface="Cambria" pitchFamily="34" charset="-122"/>
                <a:cs typeface="Cambria" pitchFamily="34" charset="-120"/>
              </a:rPr>
              <a:t>Playable avatar cards</a:t>
            </a:r>
            <a:endParaRPr lang="en-US" sz="1350" dirty="0"/>
          </a:p>
        </p:txBody>
      </p:sp>
      <p:sp>
        <p:nvSpPr>
          <p:cNvPr id="27" name="Text 25"/>
          <p:cNvSpPr/>
          <p:nvPr/>
        </p:nvSpPr>
        <p:spPr>
          <a:xfrm>
            <a:off x="640080" y="3831336"/>
            <a:ext cx="4160520" cy="329184"/>
          </a:xfrm>
          <a:prstGeom prst="rect">
            <a:avLst/>
          </a:prstGeom>
          <a:noFill/>
          <a:ln/>
        </p:spPr>
        <p:txBody>
          <a:bodyPr wrap="square" lIns="0" tIns="0" rIns="0" bIns="0" rtlCol="0" anchor="ctr"/>
          <a:lstStyle/>
          <a:p>
            <a:pPr indent="0" marL="0">
              <a:lnSpc>
                <a:spcPts val="1150"/>
              </a:lnSpc>
              <a:buNone/>
            </a:pPr>
            <a:r>
              <a:rPr lang="en-US" sz="950" dirty="0">
                <a:solidFill>
                  <a:srgbClr val="4A4360"/>
                </a:solidFill>
                <a:latin typeface="Calibri" pitchFamily="34" charset="0"/>
                <a:ea typeface="Calibri" pitchFamily="34" charset="-122"/>
                <a:cs typeface="Calibri" pitchFamily="34" charset="-120"/>
              </a:rPr>
              <a:t>The trump-card deck already exists in-app, and every card carries a real word fact. A physical product that still teaches.</a:t>
            </a:r>
            <a:endParaRPr lang="en-US" sz="950" dirty="0"/>
          </a:p>
        </p:txBody>
      </p:sp>
      <p:sp>
        <p:nvSpPr>
          <p:cNvPr id="28" name="Shape 26"/>
          <p:cNvSpPr/>
          <p:nvPr/>
        </p:nvSpPr>
        <p:spPr>
          <a:xfrm>
            <a:off x="7543800" y="3703320"/>
            <a:ext cx="1280160" cy="274320"/>
          </a:xfrm>
          <a:prstGeom prst="roundRect">
            <a:avLst>
              <a:gd name="adj" fmla="val 50000"/>
            </a:avLst>
          </a:prstGeom>
          <a:solidFill>
            <a:srgbClr val="178A4C"/>
          </a:solidFill>
          <a:ln/>
        </p:spPr>
      </p:sp>
      <p:sp>
        <p:nvSpPr>
          <p:cNvPr id="29" name="Text 27"/>
          <p:cNvSpPr/>
          <p:nvPr/>
        </p:nvSpPr>
        <p:spPr>
          <a:xfrm>
            <a:off x="7543800" y="3703320"/>
            <a:ext cx="1280160" cy="274320"/>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LAUNCH</a:t>
            </a:r>
            <a:endParaRPr lang="en-US" sz="800" dirty="0"/>
          </a:p>
        </p:txBody>
      </p:sp>
      <p:sp>
        <p:nvSpPr>
          <p:cNvPr id="30" name="Shape 28"/>
          <p:cNvSpPr/>
          <p:nvPr/>
        </p:nvSpPr>
        <p:spPr>
          <a:xfrm>
            <a:off x="9829800" y="3703320"/>
            <a:ext cx="1280160" cy="274320"/>
          </a:xfrm>
          <a:prstGeom prst="roundRect">
            <a:avLst>
              <a:gd name="adj" fmla="val 50000"/>
            </a:avLst>
          </a:prstGeom>
          <a:solidFill>
            <a:srgbClr val="6C4FE0"/>
          </a:solidFill>
          <a:ln/>
        </p:spPr>
      </p:sp>
      <p:sp>
        <p:nvSpPr>
          <p:cNvPr id="31" name="Text 29"/>
          <p:cNvSpPr/>
          <p:nvPr/>
        </p:nvSpPr>
        <p:spPr>
          <a:xfrm>
            <a:off x="9829800" y="3703320"/>
            <a:ext cx="1280160" cy="274320"/>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GROW</a:t>
            </a:r>
            <a:endParaRPr lang="en-US" sz="800" dirty="0"/>
          </a:p>
        </p:txBody>
      </p:sp>
      <p:sp>
        <p:nvSpPr>
          <p:cNvPr id="32" name="Text 30"/>
          <p:cNvSpPr/>
          <p:nvPr/>
        </p:nvSpPr>
        <p:spPr>
          <a:xfrm>
            <a:off x="640080" y="4215384"/>
            <a:ext cx="4160520" cy="256032"/>
          </a:xfrm>
          <a:prstGeom prst="rect">
            <a:avLst/>
          </a:prstGeom>
          <a:noFill/>
          <a:ln/>
        </p:spPr>
        <p:txBody>
          <a:bodyPr wrap="square" lIns="0" tIns="0" rIns="0" bIns="0" rtlCol="0" anchor="ctr"/>
          <a:lstStyle/>
          <a:p>
            <a:pPr indent="0" marL="0">
              <a:buNone/>
            </a:pPr>
            <a:r>
              <a:rPr lang="en-US" sz="1350" b="1" dirty="0">
                <a:solidFill>
                  <a:srgbClr val="241E33"/>
                </a:solidFill>
                <a:latin typeface="Cambria" pitchFamily="34" charset="0"/>
                <a:ea typeface="Cambria" pitchFamily="34" charset="-122"/>
                <a:cs typeface="Cambria" pitchFamily="34" charset="-120"/>
              </a:rPr>
              <a:t>Plushies, tees, goodies</a:t>
            </a:r>
            <a:endParaRPr lang="en-US" sz="1350" dirty="0"/>
          </a:p>
        </p:txBody>
      </p:sp>
      <p:sp>
        <p:nvSpPr>
          <p:cNvPr id="33" name="Text 31"/>
          <p:cNvSpPr/>
          <p:nvPr/>
        </p:nvSpPr>
        <p:spPr>
          <a:xfrm>
            <a:off x="640080" y="4462272"/>
            <a:ext cx="4160520" cy="329184"/>
          </a:xfrm>
          <a:prstGeom prst="rect">
            <a:avLst/>
          </a:prstGeom>
          <a:noFill/>
          <a:ln/>
        </p:spPr>
        <p:txBody>
          <a:bodyPr wrap="square" lIns="0" tIns="0" rIns="0" bIns="0" rtlCol="0" anchor="ctr"/>
          <a:lstStyle/>
          <a:p>
            <a:pPr indent="0" marL="0">
              <a:lnSpc>
                <a:spcPts val="1150"/>
              </a:lnSpc>
              <a:buNone/>
            </a:pPr>
            <a:r>
              <a:rPr lang="en-US" sz="950" dirty="0">
                <a:solidFill>
                  <a:srgbClr val="4A4360"/>
                </a:solidFill>
                <a:latin typeface="Calibri" pitchFamily="34" charset="0"/>
                <a:ea typeface="Calibri" pitchFamily="34" charset="-122"/>
                <a:cs typeface="Calibri" pitchFamily="34" charset="-120"/>
              </a:rPr>
              <a:t>Bizzy and the champion avatars. Print-on-demand first; stock only what has already sold.</a:t>
            </a:r>
            <a:endParaRPr lang="en-US" sz="950" dirty="0"/>
          </a:p>
        </p:txBody>
      </p:sp>
      <p:sp>
        <p:nvSpPr>
          <p:cNvPr id="34" name="Shape 32"/>
          <p:cNvSpPr/>
          <p:nvPr/>
        </p:nvSpPr>
        <p:spPr>
          <a:xfrm>
            <a:off x="7543800" y="4334256"/>
            <a:ext cx="1280160" cy="274320"/>
          </a:xfrm>
          <a:prstGeom prst="roundRect">
            <a:avLst>
              <a:gd name="adj" fmla="val 50000"/>
            </a:avLst>
          </a:prstGeom>
          <a:solidFill>
            <a:srgbClr val="178A4C"/>
          </a:solidFill>
          <a:ln/>
        </p:spPr>
      </p:sp>
      <p:sp>
        <p:nvSpPr>
          <p:cNvPr id="35" name="Text 33"/>
          <p:cNvSpPr/>
          <p:nvPr/>
        </p:nvSpPr>
        <p:spPr>
          <a:xfrm>
            <a:off x="7543800" y="4334256"/>
            <a:ext cx="1280160" cy="274320"/>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LAUNCH</a:t>
            </a:r>
            <a:endParaRPr lang="en-US" sz="800" dirty="0"/>
          </a:p>
        </p:txBody>
      </p:sp>
      <p:sp>
        <p:nvSpPr>
          <p:cNvPr id="36" name="Shape 34"/>
          <p:cNvSpPr/>
          <p:nvPr/>
        </p:nvSpPr>
        <p:spPr>
          <a:xfrm>
            <a:off x="9829800" y="4334256"/>
            <a:ext cx="1280160" cy="274320"/>
          </a:xfrm>
          <a:prstGeom prst="roundRect">
            <a:avLst>
              <a:gd name="adj" fmla="val 50000"/>
            </a:avLst>
          </a:prstGeom>
          <a:solidFill>
            <a:srgbClr val="6C4FE0"/>
          </a:solidFill>
          <a:ln/>
        </p:spPr>
      </p:sp>
      <p:sp>
        <p:nvSpPr>
          <p:cNvPr id="37" name="Text 35"/>
          <p:cNvSpPr/>
          <p:nvPr/>
        </p:nvSpPr>
        <p:spPr>
          <a:xfrm>
            <a:off x="9829800" y="4334256"/>
            <a:ext cx="1280160" cy="274320"/>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GROW</a:t>
            </a:r>
            <a:endParaRPr lang="en-US" sz="800" dirty="0"/>
          </a:p>
        </p:txBody>
      </p:sp>
      <p:sp>
        <p:nvSpPr>
          <p:cNvPr id="38" name="Shape 36"/>
          <p:cNvSpPr/>
          <p:nvPr/>
        </p:nvSpPr>
        <p:spPr>
          <a:xfrm>
            <a:off x="512064" y="4809744"/>
            <a:ext cx="10991088" cy="576072"/>
          </a:xfrm>
          <a:prstGeom prst="roundRect">
            <a:avLst>
              <a:gd name="adj" fmla="val 15873"/>
            </a:avLst>
          </a:prstGeom>
          <a:solidFill>
            <a:srgbClr val="EFEBF8"/>
          </a:solidFill>
          <a:ln/>
        </p:spPr>
      </p:sp>
      <p:sp>
        <p:nvSpPr>
          <p:cNvPr id="39" name="Text 37"/>
          <p:cNvSpPr/>
          <p:nvPr/>
        </p:nvSpPr>
        <p:spPr>
          <a:xfrm>
            <a:off x="640080" y="4846320"/>
            <a:ext cx="4160520" cy="256032"/>
          </a:xfrm>
          <a:prstGeom prst="rect">
            <a:avLst/>
          </a:prstGeom>
          <a:noFill/>
          <a:ln/>
        </p:spPr>
        <p:txBody>
          <a:bodyPr wrap="square" lIns="0" tIns="0" rIns="0" bIns="0" rtlCol="0" anchor="ctr"/>
          <a:lstStyle/>
          <a:p>
            <a:pPr indent="0" marL="0">
              <a:buNone/>
            </a:pPr>
            <a:r>
              <a:rPr lang="en-US" sz="1350" b="1" dirty="0">
                <a:solidFill>
                  <a:srgbClr val="241E33"/>
                </a:solidFill>
                <a:latin typeface="Cambria" pitchFamily="34" charset="0"/>
                <a:ea typeface="Cambria" pitchFamily="34" charset="-122"/>
                <a:cs typeface="Cambria" pitchFamily="34" charset="-120"/>
              </a:rPr>
              <a:t>YouTube</a:t>
            </a:r>
            <a:endParaRPr lang="en-US" sz="1350" dirty="0"/>
          </a:p>
        </p:txBody>
      </p:sp>
      <p:sp>
        <p:nvSpPr>
          <p:cNvPr id="40" name="Text 38"/>
          <p:cNvSpPr/>
          <p:nvPr/>
        </p:nvSpPr>
        <p:spPr>
          <a:xfrm>
            <a:off x="640080" y="5093208"/>
            <a:ext cx="4160520" cy="329184"/>
          </a:xfrm>
          <a:prstGeom prst="rect">
            <a:avLst/>
          </a:prstGeom>
          <a:noFill/>
          <a:ln/>
        </p:spPr>
        <p:txBody>
          <a:bodyPr wrap="square" lIns="0" tIns="0" rIns="0" bIns="0" rtlCol="0" anchor="ctr"/>
          <a:lstStyle/>
          <a:p>
            <a:pPr indent="0" marL="0">
              <a:lnSpc>
                <a:spcPts val="1150"/>
              </a:lnSpc>
              <a:buNone/>
            </a:pPr>
            <a:r>
              <a:rPr lang="en-US" sz="950" dirty="0">
                <a:solidFill>
                  <a:srgbClr val="4A4360"/>
                </a:solidFill>
                <a:latin typeface="Calibri" pitchFamily="34" charset="0"/>
                <a:ea typeface="Calibri" pitchFamily="34" charset="-122"/>
                <a:cs typeface="Calibri" pitchFamily="34" charset="-120"/>
              </a:rPr>
              <a:t>Ad revenue and sponsorship. Worth having, but its real return is acquisition — count it as marketing that pays for itself.</a:t>
            </a:r>
            <a:endParaRPr lang="en-US" sz="950" dirty="0"/>
          </a:p>
        </p:txBody>
      </p:sp>
      <p:sp>
        <p:nvSpPr>
          <p:cNvPr id="41" name="Shape 39"/>
          <p:cNvSpPr/>
          <p:nvPr/>
        </p:nvSpPr>
        <p:spPr>
          <a:xfrm>
            <a:off x="7543800" y="4965192"/>
            <a:ext cx="1280160" cy="274320"/>
          </a:xfrm>
          <a:prstGeom prst="roundRect">
            <a:avLst>
              <a:gd name="adj" fmla="val 50000"/>
            </a:avLst>
          </a:prstGeom>
          <a:solidFill>
            <a:srgbClr val="6C4FE0"/>
          </a:solidFill>
          <a:ln/>
        </p:spPr>
      </p:sp>
      <p:sp>
        <p:nvSpPr>
          <p:cNvPr id="42" name="Text 40"/>
          <p:cNvSpPr/>
          <p:nvPr/>
        </p:nvSpPr>
        <p:spPr>
          <a:xfrm>
            <a:off x="7543800" y="4965192"/>
            <a:ext cx="1280160" cy="274320"/>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GROW</a:t>
            </a:r>
            <a:endParaRPr lang="en-US" sz="800" dirty="0"/>
          </a:p>
        </p:txBody>
      </p:sp>
      <p:sp>
        <p:nvSpPr>
          <p:cNvPr id="43" name="Shape 41"/>
          <p:cNvSpPr/>
          <p:nvPr/>
        </p:nvSpPr>
        <p:spPr>
          <a:xfrm>
            <a:off x="9829800" y="4965192"/>
            <a:ext cx="1280160" cy="274320"/>
          </a:xfrm>
          <a:prstGeom prst="roundRect">
            <a:avLst>
              <a:gd name="adj" fmla="val 50000"/>
            </a:avLst>
          </a:prstGeom>
          <a:solidFill>
            <a:srgbClr val="6C4FE0"/>
          </a:solidFill>
          <a:ln/>
        </p:spPr>
      </p:sp>
      <p:sp>
        <p:nvSpPr>
          <p:cNvPr id="44" name="Text 42"/>
          <p:cNvSpPr/>
          <p:nvPr/>
        </p:nvSpPr>
        <p:spPr>
          <a:xfrm>
            <a:off x="9829800" y="4965192"/>
            <a:ext cx="1280160" cy="274320"/>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GROW</a:t>
            </a:r>
            <a:endParaRPr lang="en-US" sz="800" dirty="0"/>
          </a:p>
        </p:txBody>
      </p:sp>
      <p:sp>
        <p:nvSpPr>
          <p:cNvPr id="45" name="Text 43"/>
          <p:cNvSpPr/>
          <p:nvPr/>
        </p:nvSpPr>
        <p:spPr>
          <a:xfrm>
            <a:off x="640080" y="5477256"/>
            <a:ext cx="4160520" cy="256032"/>
          </a:xfrm>
          <a:prstGeom prst="rect">
            <a:avLst/>
          </a:prstGeom>
          <a:noFill/>
          <a:ln/>
        </p:spPr>
        <p:txBody>
          <a:bodyPr wrap="square" lIns="0" tIns="0" rIns="0" bIns="0" rtlCol="0" anchor="ctr"/>
          <a:lstStyle/>
          <a:p>
            <a:pPr indent="0" marL="0">
              <a:buNone/>
            </a:pPr>
            <a:r>
              <a:rPr lang="en-US" sz="1350" b="1" dirty="0">
                <a:solidFill>
                  <a:srgbClr val="241E33"/>
                </a:solidFill>
                <a:latin typeface="Cambria" pitchFamily="34" charset="0"/>
                <a:ea typeface="Cambria" pitchFamily="34" charset="-122"/>
                <a:cs typeface="Cambria" pitchFamily="34" charset="-120"/>
              </a:rPr>
              <a:t>Live training</a:t>
            </a:r>
            <a:endParaRPr lang="en-US" sz="1350" dirty="0"/>
          </a:p>
        </p:txBody>
      </p:sp>
      <p:sp>
        <p:nvSpPr>
          <p:cNvPr id="46" name="Text 44"/>
          <p:cNvSpPr/>
          <p:nvPr/>
        </p:nvSpPr>
        <p:spPr>
          <a:xfrm>
            <a:off x="640080" y="5724144"/>
            <a:ext cx="4160520" cy="329184"/>
          </a:xfrm>
          <a:prstGeom prst="rect">
            <a:avLst/>
          </a:prstGeom>
          <a:noFill/>
          <a:ln/>
        </p:spPr>
        <p:txBody>
          <a:bodyPr wrap="square" lIns="0" tIns="0" rIns="0" bIns="0" rtlCol="0" anchor="ctr"/>
          <a:lstStyle/>
          <a:p>
            <a:pPr indent="0" marL="0">
              <a:lnSpc>
                <a:spcPts val="1150"/>
              </a:lnSpc>
              <a:buNone/>
            </a:pPr>
            <a:r>
              <a:rPr lang="en-US" sz="950" dirty="0">
                <a:solidFill>
                  <a:srgbClr val="4A4360"/>
                </a:solidFill>
                <a:latin typeface="Calibri" pitchFamily="34" charset="0"/>
                <a:ea typeface="Calibri" pitchFamily="34" charset="-122"/>
                <a:cs typeface="Calibri" pitchFamily="34" charset="-120"/>
              </a:rPr>
              <a:t>Bee coaching, workshops, beginner classes. Highest price per family and the only stream limited by someone’s time.</a:t>
            </a:r>
            <a:endParaRPr lang="en-US" sz="950" dirty="0"/>
          </a:p>
        </p:txBody>
      </p:sp>
      <p:sp>
        <p:nvSpPr>
          <p:cNvPr id="47" name="Shape 45"/>
          <p:cNvSpPr/>
          <p:nvPr/>
        </p:nvSpPr>
        <p:spPr>
          <a:xfrm>
            <a:off x="9829800" y="5596128"/>
            <a:ext cx="1280160" cy="274320"/>
          </a:xfrm>
          <a:prstGeom prst="roundRect">
            <a:avLst>
              <a:gd name="adj" fmla="val 50000"/>
            </a:avLst>
          </a:prstGeom>
          <a:solidFill>
            <a:srgbClr val="178A4C"/>
          </a:solidFill>
          <a:ln/>
        </p:spPr>
      </p:sp>
      <p:sp>
        <p:nvSpPr>
          <p:cNvPr id="48" name="Text 46"/>
          <p:cNvSpPr/>
          <p:nvPr/>
        </p:nvSpPr>
        <p:spPr>
          <a:xfrm>
            <a:off x="9829800" y="5596128"/>
            <a:ext cx="1280160" cy="274320"/>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LAUNCH</a:t>
            </a:r>
            <a:endParaRPr lang="en-US" sz="800" dirty="0"/>
          </a:p>
        </p:txBody>
      </p:sp>
      <p:sp>
        <p:nvSpPr>
          <p:cNvPr id="49" name="Shape 47"/>
          <p:cNvSpPr/>
          <p:nvPr/>
        </p:nvSpPr>
        <p:spPr>
          <a:xfrm>
            <a:off x="640080" y="6163056"/>
            <a:ext cx="10607040" cy="475488"/>
          </a:xfrm>
          <a:prstGeom prst="roundRect">
            <a:avLst>
              <a:gd name="adj" fmla="val 23077"/>
            </a:avLst>
          </a:prstGeom>
          <a:solidFill>
            <a:srgbClr val="FBF3E0"/>
          </a:solidFill>
          <a:ln/>
        </p:spPr>
      </p:sp>
      <p:sp>
        <p:nvSpPr>
          <p:cNvPr id="50" name="Text 48"/>
          <p:cNvSpPr/>
          <p:nvPr/>
        </p:nvSpPr>
        <p:spPr>
          <a:xfrm>
            <a:off x="914400" y="6163056"/>
            <a:ext cx="10058400" cy="475488"/>
          </a:xfrm>
          <a:prstGeom prst="rect">
            <a:avLst/>
          </a:prstGeom>
          <a:noFill/>
          <a:ln/>
        </p:spPr>
        <p:txBody>
          <a:bodyPr wrap="square" lIns="0" tIns="0" rIns="0" bIns="0" rtlCol="0" anchor="ctr"/>
          <a:lstStyle/>
          <a:p>
            <a:pPr indent="0" marL="0">
              <a:lnSpc>
                <a:spcPts val="1300"/>
              </a:lnSpc>
              <a:buNone/>
            </a:pPr>
            <a:r>
              <a:rPr lang="en-US" sz="1050" b="1" dirty="0">
                <a:solidFill>
                  <a:srgbClr val="8A5B00"/>
                </a:solidFill>
                <a:latin typeface="Calibri" pitchFamily="34" charset="0"/>
                <a:ea typeface="Calibri" pitchFamily="34" charset="-122"/>
                <a:cs typeface="Calibri" pitchFamily="34" charset="-120"/>
              </a:rPr>
              <a:t>Two cautions:  </a:t>
            </a:r>
            <a:pPr indent="0" marL="0">
              <a:lnSpc>
                <a:spcPts val="1300"/>
              </a:lnSpc>
              <a:buNone/>
            </a:pPr>
            <a:r>
              <a:rPr lang="en-US" sz="1050" dirty="0">
                <a:solidFill>
                  <a:srgbClr val="8A5B00"/>
                </a:solidFill>
                <a:latin typeface="Calibri" pitchFamily="34" charset="0"/>
                <a:ea typeface="Calibri" pitchFamily="34" charset="-122"/>
                <a:cs typeface="Calibri" pitchFamily="34" charset="-120"/>
              </a:rPr>
              <a:t>merch that holds stock is a different business — cash, sizes, returns — so print-on-demand until something proves itself. And live training is the only line capped by a person’s calendar; it scales by being recorded, or by other people teaching it.</a:t>
            </a:r>
            <a:endParaRPr lang="en-US" sz="10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241E33"/>
        </a:solidFill>
      </p:bgPr>
    </p:bg>
    <p:spTree>
      <p:nvGrpSpPr>
        <p:cNvPr id="1" name=""/>
        <p:cNvGrpSpPr/>
        <p:nvPr/>
      </p:nvGrpSpPr>
      <p:grpSpPr>
        <a:xfrm>
          <a:off x="0" y="0"/>
          <a:ext cx="0" cy="0"/>
          <a:chOff x="0" y="0"/>
          <a:chExt cx="0" cy="0"/>
        </a:xfrm>
      </p:grpSpPr>
      <p:sp>
        <p:nvSpPr>
          <p:cNvPr id="2" name="Text 0"/>
          <p:cNvSpPr/>
          <p:nvPr/>
        </p:nvSpPr>
        <p:spPr>
          <a:xfrm>
            <a:off x="640080" y="548640"/>
            <a:ext cx="7315200" cy="292608"/>
          </a:xfrm>
          <a:prstGeom prst="rect">
            <a:avLst/>
          </a:prstGeom>
          <a:noFill/>
          <a:ln/>
        </p:spPr>
        <p:txBody>
          <a:bodyPr wrap="square" lIns="0" tIns="0" rIns="0" bIns="0" rtlCol="0" anchor="ctr"/>
          <a:lstStyle/>
          <a:p>
            <a:pPr indent="0" marL="0">
              <a:buNone/>
            </a:pPr>
            <a:r>
              <a:rPr lang="en-US" sz="1200" b="1" spc="300" kern="0" dirty="0">
                <a:solidFill>
                  <a:srgbClr val="F0B429"/>
                </a:solidFill>
                <a:latin typeface="Calibri" pitchFamily="34" charset="0"/>
                <a:ea typeface="Calibri" pitchFamily="34" charset="-122"/>
                <a:cs typeface="Calibri" pitchFamily="34" charset="-120"/>
              </a:rPr>
              <a:t>MARKETING STRATEGY</a:t>
            </a:r>
            <a:endParaRPr lang="en-US" sz="1200" dirty="0"/>
          </a:p>
        </p:txBody>
      </p:sp>
      <p:sp>
        <p:nvSpPr>
          <p:cNvPr id="3" name="Text 1"/>
          <p:cNvSpPr/>
          <p:nvPr/>
        </p:nvSpPr>
        <p:spPr>
          <a:xfrm>
            <a:off x="640080" y="914400"/>
            <a:ext cx="10607040" cy="731520"/>
          </a:xfrm>
          <a:prstGeom prst="rect">
            <a:avLst/>
          </a:prstGeom>
          <a:noFill/>
          <a:ln/>
        </p:spPr>
        <p:txBody>
          <a:bodyPr wrap="square" lIns="0" tIns="0" rIns="0" bIns="0" rtlCol="0" anchor="ctr"/>
          <a:lstStyle/>
          <a:p>
            <a:pPr indent="0" marL="0">
              <a:buNone/>
            </a:pPr>
            <a:r>
              <a:rPr lang="en-US" sz="2700" b="1" dirty="0">
                <a:solidFill>
                  <a:srgbClr val="FFFFFF"/>
                </a:solidFill>
                <a:latin typeface="Cambria" pitchFamily="34" charset="0"/>
                <a:ea typeface="Cambria" pitchFamily="34" charset="-122"/>
                <a:cs typeface="Cambria" pitchFamily="34" charset="-120"/>
              </a:rPr>
              <a:t>Earn attention, prove it in person, then pay to scale it.</a:t>
            </a:r>
            <a:endParaRPr lang="en-US" sz="2700" dirty="0"/>
          </a:p>
        </p:txBody>
      </p:sp>
      <p:sp>
        <p:nvSpPr>
          <p:cNvPr id="4" name="Text 2"/>
          <p:cNvSpPr/>
          <p:nvPr/>
        </p:nvSpPr>
        <p:spPr>
          <a:xfrm>
            <a:off x="640080" y="1645920"/>
            <a:ext cx="10058400" cy="502920"/>
          </a:xfrm>
          <a:prstGeom prst="rect">
            <a:avLst/>
          </a:prstGeom>
          <a:noFill/>
          <a:ln/>
        </p:spPr>
        <p:txBody>
          <a:bodyPr wrap="square" lIns="0" tIns="0" rIns="0" bIns="0" rtlCol="0" anchor="ctr"/>
          <a:lstStyle/>
          <a:p>
            <a:pPr indent="0" marL="0">
              <a:buNone/>
            </a:pPr>
            <a:r>
              <a:rPr lang="en-US" sz="1350" dirty="0">
                <a:solidFill>
                  <a:srgbClr val="E3DCF2"/>
                </a:solidFill>
                <a:latin typeface="Calibri" pitchFamily="34" charset="0"/>
                <a:ea typeface="Calibri" pitchFamily="34" charset="-122"/>
                <a:cs typeface="Calibri" pitchFamily="34" charset="-120"/>
              </a:rPr>
              <a:t>The order matters more than the mix. Paid media applied to content nobody trusts yet is the fastest way to spend money badly.</a:t>
            </a:r>
            <a:endParaRPr lang="en-US" sz="1350" dirty="0"/>
          </a:p>
        </p:txBody>
      </p:sp>
      <p:sp>
        <p:nvSpPr>
          <p:cNvPr id="5" name="Shape 3"/>
          <p:cNvSpPr/>
          <p:nvPr/>
        </p:nvSpPr>
        <p:spPr>
          <a:xfrm rot="5400000">
            <a:off x="640080" y="2350008"/>
            <a:ext cx="384048" cy="384048"/>
          </a:xfrm>
          <a:prstGeom prst="hexagon">
            <a:avLst/>
          </a:prstGeom>
          <a:solidFill>
            <a:srgbClr val="F0B429"/>
          </a:solidFill>
          <a:ln/>
        </p:spPr>
      </p:sp>
      <p:sp>
        <p:nvSpPr>
          <p:cNvPr id="6" name="Text 4"/>
          <p:cNvSpPr/>
          <p:nvPr/>
        </p:nvSpPr>
        <p:spPr>
          <a:xfrm>
            <a:off x="640080" y="2350008"/>
            <a:ext cx="384048" cy="384048"/>
          </a:xfrm>
          <a:prstGeom prst="rect">
            <a:avLst/>
          </a:prstGeom>
          <a:noFill/>
          <a:ln/>
        </p:spPr>
        <p:txBody>
          <a:bodyPr wrap="square" lIns="0" tIns="0" rIns="0" bIns="0" rtlCol="0" anchor="ctr"/>
          <a:lstStyle/>
          <a:p>
            <a:pPr algn="ctr" indent="0" marL="0">
              <a:buNone/>
            </a:pPr>
            <a:r>
              <a:rPr lang="en-US" sz="1300" b="1" dirty="0">
                <a:solidFill>
                  <a:srgbClr val="241E33"/>
                </a:solidFill>
                <a:latin typeface="Cambria" pitchFamily="34" charset="0"/>
                <a:ea typeface="Cambria" pitchFamily="34" charset="-122"/>
                <a:cs typeface="Cambria" pitchFamily="34" charset="-120"/>
              </a:rPr>
              <a:t>1</a:t>
            </a:r>
            <a:endParaRPr lang="en-US" sz="1300" dirty="0"/>
          </a:p>
        </p:txBody>
      </p:sp>
      <p:sp>
        <p:nvSpPr>
          <p:cNvPr id="7" name="Text 5"/>
          <p:cNvSpPr/>
          <p:nvPr/>
        </p:nvSpPr>
        <p:spPr>
          <a:xfrm>
            <a:off x="1207008" y="2258568"/>
            <a:ext cx="2103120" cy="347472"/>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YouTube</a:t>
            </a:r>
            <a:endParaRPr lang="en-US" sz="1700" dirty="0"/>
          </a:p>
        </p:txBody>
      </p:sp>
      <p:sp>
        <p:nvSpPr>
          <p:cNvPr id="8" name="Text 6"/>
          <p:cNvSpPr/>
          <p:nvPr/>
        </p:nvSpPr>
        <p:spPr>
          <a:xfrm>
            <a:off x="1207008" y="2624328"/>
            <a:ext cx="2103120" cy="274320"/>
          </a:xfrm>
          <a:prstGeom prst="rect">
            <a:avLst/>
          </a:prstGeom>
          <a:noFill/>
          <a:ln/>
        </p:spPr>
        <p:txBody>
          <a:bodyPr wrap="square" lIns="0" tIns="0" rIns="0" bIns="0" rtlCol="0" anchor="ctr"/>
          <a:lstStyle/>
          <a:p>
            <a:pPr indent="0" marL="0">
              <a:buNone/>
            </a:pPr>
            <a:r>
              <a:rPr lang="en-US" sz="1050" i="1" dirty="0">
                <a:solidFill>
                  <a:srgbClr val="E3DCF2"/>
                </a:solidFill>
                <a:latin typeface="Calibri" pitchFamily="34" charset="0"/>
                <a:ea typeface="Calibri" pitchFamily="34" charset="-122"/>
                <a:cs typeface="Calibri" pitchFamily="34" charset="-120"/>
              </a:rPr>
              <a:t>Earns trust and reach</a:t>
            </a:r>
            <a:endParaRPr lang="en-US" sz="1050" dirty="0"/>
          </a:p>
        </p:txBody>
      </p:sp>
      <p:sp>
        <p:nvSpPr>
          <p:cNvPr id="9" name="Text 7"/>
          <p:cNvSpPr/>
          <p:nvPr/>
        </p:nvSpPr>
        <p:spPr>
          <a:xfrm>
            <a:off x="3520440" y="2240280"/>
            <a:ext cx="8001000" cy="822960"/>
          </a:xfrm>
          <a:prstGeom prst="rect">
            <a:avLst/>
          </a:prstGeom>
          <a:noFill/>
          <a:ln/>
        </p:spPr>
        <p:txBody>
          <a:bodyPr wrap="square" lIns="0" tIns="0" rIns="0" bIns="0" rtlCol="0" anchor="ctr"/>
          <a:lstStyle/>
          <a:p>
            <a:pPr indent="0" marL="0">
              <a:lnSpc>
                <a:spcPts val="1500"/>
              </a:lnSpc>
              <a:buNone/>
            </a:pPr>
            <a:r>
              <a:rPr lang="en-US" sz="1150" dirty="0">
                <a:solidFill>
                  <a:srgbClr val="E3DCF2"/>
                </a:solidFill>
                <a:latin typeface="Calibri" pitchFamily="34" charset="0"/>
                <a:ea typeface="Calibri" pitchFamily="34" charset="-122"/>
                <a:cs typeface="Calibri" pitchFamily="34" charset="-120"/>
              </a:rPr>
              <a:t>Long-form documentaries make a stranger believe we know words. Shorts put us in front of families no targeting could find. A video keeps working for years; an ad stops the day the card does.</a:t>
            </a:r>
            <a:endParaRPr lang="en-US" sz="1150" dirty="0"/>
          </a:p>
        </p:txBody>
      </p:sp>
      <p:sp>
        <p:nvSpPr>
          <p:cNvPr id="10" name="Shape 8"/>
          <p:cNvSpPr/>
          <p:nvPr/>
        </p:nvSpPr>
        <p:spPr>
          <a:xfrm rot="5400000">
            <a:off x="640080" y="3337560"/>
            <a:ext cx="384048" cy="384048"/>
          </a:xfrm>
          <a:prstGeom prst="hexagon">
            <a:avLst/>
          </a:prstGeom>
          <a:solidFill>
            <a:srgbClr val="6C4FE0"/>
          </a:solidFill>
          <a:ln/>
        </p:spPr>
      </p:sp>
      <p:sp>
        <p:nvSpPr>
          <p:cNvPr id="11" name="Text 9"/>
          <p:cNvSpPr/>
          <p:nvPr/>
        </p:nvSpPr>
        <p:spPr>
          <a:xfrm>
            <a:off x="640080" y="3337560"/>
            <a:ext cx="384048" cy="384048"/>
          </a:xfrm>
          <a:prstGeom prst="rect">
            <a:avLst/>
          </a:prstGeom>
          <a:noFill/>
          <a:ln/>
        </p:spPr>
        <p:txBody>
          <a:bodyPr wrap="square" lIns="0" tIns="0" rIns="0" bIns="0" rtlCol="0" anchor="ctr"/>
          <a:lstStyle/>
          <a:p>
            <a:pPr algn="ctr" indent="0" marL="0">
              <a:buNone/>
            </a:pPr>
            <a:r>
              <a:rPr lang="en-US" sz="1300" b="1" dirty="0">
                <a:solidFill>
                  <a:srgbClr val="241E33"/>
                </a:solidFill>
                <a:latin typeface="Cambria" pitchFamily="34" charset="0"/>
                <a:ea typeface="Cambria" pitchFamily="34" charset="-122"/>
                <a:cs typeface="Cambria" pitchFamily="34" charset="-120"/>
              </a:rPr>
              <a:t>2</a:t>
            </a:r>
            <a:endParaRPr lang="en-US" sz="1300" dirty="0"/>
          </a:p>
        </p:txBody>
      </p:sp>
      <p:sp>
        <p:nvSpPr>
          <p:cNvPr id="12" name="Text 10"/>
          <p:cNvSpPr/>
          <p:nvPr/>
        </p:nvSpPr>
        <p:spPr>
          <a:xfrm>
            <a:off x="1207008" y="3246120"/>
            <a:ext cx="2103120" cy="347472"/>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Events &amp; community</a:t>
            </a:r>
            <a:endParaRPr lang="en-US" sz="1700" dirty="0"/>
          </a:p>
        </p:txBody>
      </p:sp>
      <p:sp>
        <p:nvSpPr>
          <p:cNvPr id="13" name="Text 11"/>
          <p:cNvSpPr/>
          <p:nvPr/>
        </p:nvSpPr>
        <p:spPr>
          <a:xfrm>
            <a:off x="1207008" y="3611880"/>
            <a:ext cx="2103120" cy="274320"/>
          </a:xfrm>
          <a:prstGeom prst="rect">
            <a:avLst/>
          </a:prstGeom>
          <a:noFill/>
          <a:ln/>
        </p:spPr>
        <p:txBody>
          <a:bodyPr wrap="square" lIns="0" tIns="0" rIns="0" bIns="0" rtlCol="0" anchor="ctr"/>
          <a:lstStyle/>
          <a:p>
            <a:pPr indent="0" marL="0">
              <a:buNone/>
            </a:pPr>
            <a:r>
              <a:rPr lang="en-US" sz="1050" i="1" dirty="0">
                <a:solidFill>
                  <a:srgbClr val="E3DCF2"/>
                </a:solidFill>
                <a:latin typeface="Calibri" pitchFamily="34" charset="0"/>
                <a:ea typeface="Calibri" pitchFamily="34" charset="-122"/>
                <a:cs typeface="Calibri" pitchFamily="34" charset="-120"/>
              </a:rPr>
              <a:t>Turns trust into proof</a:t>
            </a:r>
            <a:endParaRPr lang="en-US" sz="1050" dirty="0"/>
          </a:p>
        </p:txBody>
      </p:sp>
      <p:sp>
        <p:nvSpPr>
          <p:cNvPr id="14" name="Text 12"/>
          <p:cNvSpPr/>
          <p:nvPr/>
        </p:nvSpPr>
        <p:spPr>
          <a:xfrm>
            <a:off x="3520440" y="3227832"/>
            <a:ext cx="8001000" cy="822960"/>
          </a:xfrm>
          <a:prstGeom prst="rect">
            <a:avLst/>
          </a:prstGeom>
          <a:noFill/>
          <a:ln/>
        </p:spPr>
        <p:txBody>
          <a:bodyPr wrap="square" lIns="0" tIns="0" rIns="0" bIns="0" rtlCol="0" anchor="ctr"/>
          <a:lstStyle/>
          <a:p>
            <a:pPr indent="0" marL="0">
              <a:lnSpc>
                <a:spcPts val="1500"/>
              </a:lnSpc>
              <a:buNone/>
            </a:pPr>
            <a:r>
              <a:rPr lang="en-US" sz="1150" dirty="0">
                <a:solidFill>
                  <a:srgbClr val="E3DCF2"/>
                </a:solidFill>
                <a:latin typeface="Calibri" pitchFamily="34" charset="0"/>
                <a:ea typeface="Calibri" pitchFamily="34" charset="-122"/>
                <a:cs typeface="Calibri" pitchFamily="34" charset="-120"/>
              </a:rPr>
              <a:t>Regional bees, cultural associations, temple and community fairs, homeschool conferences — where this diaspora already gathers. Small reach, unmatched credibility. Parent WhatsApp groups are the real distribution channel.</a:t>
            </a:r>
            <a:endParaRPr lang="en-US" sz="1150" dirty="0"/>
          </a:p>
        </p:txBody>
      </p:sp>
      <p:sp>
        <p:nvSpPr>
          <p:cNvPr id="15" name="Shape 13"/>
          <p:cNvSpPr/>
          <p:nvPr/>
        </p:nvSpPr>
        <p:spPr>
          <a:xfrm rot="5400000">
            <a:off x="640080" y="4325112"/>
            <a:ext cx="384048" cy="384048"/>
          </a:xfrm>
          <a:prstGeom prst="hexagon">
            <a:avLst/>
          </a:prstGeom>
          <a:solidFill>
            <a:srgbClr val="178A4C"/>
          </a:solidFill>
          <a:ln/>
        </p:spPr>
      </p:sp>
      <p:sp>
        <p:nvSpPr>
          <p:cNvPr id="16" name="Text 14"/>
          <p:cNvSpPr/>
          <p:nvPr/>
        </p:nvSpPr>
        <p:spPr>
          <a:xfrm>
            <a:off x="640080" y="4325112"/>
            <a:ext cx="384048" cy="384048"/>
          </a:xfrm>
          <a:prstGeom prst="rect">
            <a:avLst/>
          </a:prstGeom>
          <a:noFill/>
          <a:ln/>
        </p:spPr>
        <p:txBody>
          <a:bodyPr wrap="square" lIns="0" tIns="0" rIns="0" bIns="0" rtlCol="0" anchor="ctr"/>
          <a:lstStyle/>
          <a:p>
            <a:pPr algn="ctr" indent="0" marL="0">
              <a:buNone/>
            </a:pPr>
            <a:r>
              <a:rPr lang="en-US" sz="1300" b="1" dirty="0">
                <a:solidFill>
                  <a:srgbClr val="241E33"/>
                </a:solidFill>
                <a:latin typeface="Cambria" pitchFamily="34" charset="0"/>
                <a:ea typeface="Cambria" pitchFamily="34" charset="-122"/>
                <a:cs typeface="Cambria" pitchFamily="34" charset="-120"/>
              </a:rPr>
              <a:t>3</a:t>
            </a:r>
            <a:endParaRPr lang="en-US" sz="1300" dirty="0"/>
          </a:p>
        </p:txBody>
      </p:sp>
      <p:sp>
        <p:nvSpPr>
          <p:cNvPr id="17" name="Text 15"/>
          <p:cNvSpPr/>
          <p:nvPr/>
        </p:nvSpPr>
        <p:spPr>
          <a:xfrm>
            <a:off x="1207008" y="4233672"/>
            <a:ext cx="2103120" cy="347472"/>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Paid media</a:t>
            </a:r>
            <a:endParaRPr lang="en-US" sz="1700" dirty="0"/>
          </a:p>
        </p:txBody>
      </p:sp>
      <p:sp>
        <p:nvSpPr>
          <p:cNvPr id="18" name="Text 16"/>
          <p:cNvSpPr/>
          <p:nvPr/>
        </p:nvSpPr>
        <p:spPr>
          <a:xfrm>
            <a:off x="1207008" y="4599432"/>
            <a:ext cx="2103120" cy="274320"/>
          </a:xfrm>
          <a:prstGeom prst="rect">
            <a:avLst/>
          </a:prstGeom>
          <a:noFill/>
          <a:ln/>
        </p:spPr>
        <p:txBody>
          <a:bodyPr wrap="square" lIns="0" tIns="0" rIns="0" bIns="0" rtlCol="0" anchor="ctr"/>
          <a:lstStyle/>
          <a:p>
            <a:pPr indent="0" marL="0">
              <a:buNone/>
            </a:pPr>
            <a:r>
              <a:rPr lang="en-US" sz="1050" i="1" dirty="0">
                <a:solidFill>
                  <a:srgbClr val="E3DCF2"/>
                </a:solidFill>
                <a:latin typeface="Calibri" pitchFamily="34" charset="0"/>
                <a:ea typeface="Calibri" pitchFamily="34" charset="-122"/>
                <a:cs typeface="Calibri" pitchFamily="34" charset="-120"/>
              </a:rPr>
              <a:t>Scales what is proven</a:t>
            </a:r>
            <a:endParaRPr lang="en-US" sz="1050" dirty="0"/>
          </a:p>
        </p:txBody>
      </p:sp>
      <p:sp>
        <p:nvSpPr>
          <p:cNvPr id="19" name="Text 17"/>
          <p:cNvSpPr/>
          <p:nvPr/>
        </p:nvSpPr>
        <p:spPr>
          <a:xfrm>
            <a:off x="3520440" y="4215384"/>
            <a:ext cx="8001000" cy="822960"/>
          </a:xfrm>
          <a:prstGeom prst="rect">
            <a:avLst/>
          </a:prstGeom>
          <a:noFill/>
          <a:ln/>
        </p:spPr>
        <p:txBody>
          <a:bodyPr wrap="square" lIns="0" tIns="0" rIns="0" bIns="0" rtlCol="0" anchor="ctr"/>
          <a:lstStyle/>
          <a:p>
            <a:pPr indent="0" marL="0">
              <a:lnSpc>
                <a:spcPts val="1500"/>
              </a:lnSpc>
              <a:buNone/>
            </a:pPr>
            <a:r>
              <a:rPr lang="en-US" sz="1150" dirty="0">
                <a:solidFill>
                  <a:srgbClr val="E3DCF2"/>
                </a:solidFill>
                <a:latin typeface="Calibri" pitchFamily="34" charset="0"/>
                <a:ea typeface="Calibri" pitchFamily="34" charset="-122"/>
                <a:cs typeface="Calibri" pitchFamily="34" charset="-120"/>
              </a:rPr>
              <a:t>Harvests demand the content created and retargets the warmed. Creative comes from the channel, not from an agency. It amplifies; it does not originate.</a:t>
            </a:r>
            <a:endParaRPr lang="en-US" sz="1150" dirty="0"/>
          </a:p>
        </p:txBody>
      </p:sp>
      <p:sp>
        <p:nvSpPr>
          <p:cNvPr id="20" name="Shape 18"/>
          <p:cNvSpPr/>
          <p:nvPr/>
        </p:nvSpPr>
        <p:spPr>
          <a:xfrm rot="5400000">
            <a:off x="640080" y="5312664"/>
            <a:ext cx="384048" cy="384048"/>
          </a:xfrm>
          <a:prstGeom prst="hexagon">
            <a:avLst/>
          </a:prstGeom>
          <a:solidFill>
            <a:srgbClr val="E3B23C"/>
          </a:solidFill>
          <a:ln/>
        </p:spPr>
      </p:sp>
      <p:sp>
        <p:nvSpPr>
          <p:cNvPr id="21" name="Text 19"/>
          <p:cNvSpPr/>
          <p:nvPr/>
        </p:nvSpPr>
        <p:spPr>
          <a:xfrm>
            <a:off x="640080" y="5312664"/>
            <a:ext cx="384048" cy="384048"/>
          </a:xfrm>
          <a:prstGeom prst="rect">
            <a:avLst/>
          </a:prstGeom>
          <a:noFill/>
          <a:ln/>
        </p:spPr>
        <p:txBody>
          <a:bodyPr wrap="square" lIns="0" tIns="0" rIns="0" bIns="0" rtlCol="0" anchor="ctr"/>
          <a:lstStyle/>
          <a:p>
            <a:pPr algn="ctr" indent="0" marL="0">
              <a:buNone/>
            </a:pPr>
            <a:r>
              <a:rPr lang="en-US" sz="1300" b="1" dirty="0">
                <a:solidFill>
                  <a:srgbClr val="241E33"/>
                </a:solidFill>
                <a:latin typeface="Cambria" pitchFamily="34" charset="0"/>
                <a:ea typeface="Cambria" pitchFamily="34" charset="-122"/>
                <a:cs typeface="Cambria" pitchFamily="34" charset="-120"/>
              </a:rPr>
              <a:t>4</a:t>
            </a:r>
            <a:endParaRPr lang="en-US" sz="1300" dirty="0"/>
          </a:p>
        </p:txBody>
      </p:sp>
      <p:sp>
        <p:nvSpPr>
          <p:cNvPr id="22" name="Text 20"/>
          <p:cNvSpPr/>
          <p:nvPr/>
        </p:nvSpPr>
        <p:spPr>
          <a:xfrm>
            <a:off x="1207008" y="5221224"/>
            <a:ext cx="2103120" cy="347472"/>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The child</a:t>
            </a:r>
            <a:endParaRPr lang="en-US" sz="1700" dirty="0"/>
          </a:p>
        </p:txBody>
      </p:sp>
      <p:sp>
        <p:nvSpPr>
          <p:cNvPr id="23" name="Text 21"/>
          <p:cNvSpPr/>
          <p:nvPr/>
        </p:nvSpPr>
        <p:spPr>
          <a:xfrm>
            <a:off x="1207008" y="5586984"/>
            <a:ext cx="2103120" cy="274320"/>
          </a:xfrm>
          <a:prstGeom prst="rect">
            <a:avLst/>
          </a:prstGeom>
          <a:noFill/>
          <a:ln/>
        </p:spPr>
        <p:txBody>
          <a:bodyPr wrap="square" lIns="0" tIns="0" rIns="0" bIns="0" rtlCol="0" anchor="ctr"/>
          <a:lstStyle/>
          <a:p>
            <a:pPr indent="0" marL="0">
              <a:buNone/>
            </a:pPr>
            <a:r>
              <a:rPr lang="en-US" sz="1050" i="1" dirty="0">
                <a:solidFill>
                  <a:srgbClr val="F0B429"/>
                </a:solidFill>
                <a:latin typeface="Calibri" pitchFamily="34" charset="0"/>
                <a:ea typeface="Calibri" pitchFamily="34" charset="-122"/>
                <a:cs typeface="Calibri" pitchFamily="34" charset="-120"/>
              </a:rPr>
              <a:t>Compounds all three</a:t>
            </a:r>
            <a:endParaRPr lang="en-US" sz="1050" dirty="0"/>
          </a:p>
        </p:txBody>
      </p:sp>
      <p:sp>
        <p:nvSpPr>
          <p:cNvPr id="24" name="Text 22"/>
          <p:cNvSpPr/>
          <p:nvPr/>
        </p:nvSpPr>
        <p:spPr>
          <a:xfrm>
            <a:off x="3520440" y="5202936"/>
            <a:ext cx="8001000" cy="822960"/>
          </a:xfrm>
          <a:prstGeom prst="rect">
            <a:avLst/>
          </a:prstGeom>
          <a:noFill/>
          <a:ln/>
        </p:spPr>
        <p:txBody>
          <a:bodyPr wrap="square" lIns="0" tIns="0" rIns="0" bIns="0" rtlCol="0" anchor="ctr"/>
          <a:lstStyle/>
          <a:p>
            <a:pPr indent="0" marL="0">
              <a:lnSpc>
                <a:spcPts val="1500"/>
              </a:lnSpc>
              <a:buNone/>
            </a:pPr>
            <a:r>
              <a:rPr lang="en-US" sz="1150" dirty="0">
                <a:solidFill>
                  <a:srgbClr val="E3DCF2"/>
                </a:solidFill>
                <a:latin typeface="Calibri" pitchFamily="34" charset="0"/>
                <a:ea typeface="Calibri" pitchFamily="34" charset="-122"/>
                <a:cs typeface="Calibri" pitchFamily="34" charset="-120"/>
              </a:rPr>
              <a:t>A child who likes the app tells other children, and a champion who used it is worth more than any campaign. The CKO role exists partly for this.</a:t>
            </a:r>
            <a:endParaRPr lang="en-US" sz="1150" dirty="0"/>
          </a:p>
        </p:txBody>
      </p:sp>
      <p:sp>
        <p:nvSpPr>
          <p:cNvPr id="25" name="Text 23"/>
          <p:cNvSpPr/>
          <p:nvPr/>
        </p:nvSpPr>
        <p:spPr>
          <a:xfrm>
            <a:off x="640080" y="6263640"/>
            <a:ext cx="10607040" cy="365760"/>
          </a:xfrm>
          <a:prstGeom prst="rect">
            <a:avLst/>
          </a:prstGeom>
          <a:noFill/>
          <a:ln/>
        </p:spPr>
        <p:txBody>
          <a:bodyPr wrap="square" lIns="0" tIns="0" rIns="0" bIns="0" rtlCol="0" anchor="ctr"/>
          <a:lstStyle/>
          <a:p>
            <a:pPr indent="0" marL="0">
              <a:buNone/>
            </a:pPr>
            <a:r>
              <a:rPr lang="en-US" sz="1150" i="1" dirty="0">
                <a:solidFill>
                  <a:srgbClr val="7A7291"/>
                </a:solidFill>
                <a:latin typeface="Calibri" pitchFamily="34" charset="0"/>
                <a:ea typeface="Calibri" pitchFamily="34" charset="-122"/>
                <a:cs typeface="Calibri" pitchFamily="34" charset="-120"/>
              </a:rPr>
              <a:t>No budgets, targets or channel splits here by design — those are the CMO’s call. This slide fixes the ORDER, not the numbers.</a:t>
            </a:r>
            <a:endParaRPr lang="en-US" sz="11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CONTENT STRATEGY · 1 OF 3</a:t>
            </a:r>
            <a:endParaRPr lang="en-US" sz="1150" dirty="0"/>
          </a:p>
        </p:txBody>
      </p:sp>
      <p:sp>
        <p:nvSpPr>
          <p:cNvPr id="3" name="Text 1"/>
          <p:cNvSpPr/>
          <p:nvPr/>
        </p:nvSpPr>
        <p:spPr>
          <a:xfrm>
            <a:off x="640080" y="694944"/>
            <a:ext cx="106070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YouTube is not an ad channel</a:t>
            </a:r>
            <a:endParaRPr lang="en-US" sz="2900" dirty="0"/>
          </a:p>
        </p:txBody>
      </p:sp>
      <p:sp>
        <p:nvSpPr>
          <p:cNvPr id="4" name="Text 2"/>
          <p:cNvSpPr/>
          <p:nvPr/>
        </p:nvSpPr>
        <p:spPr>
          <a:xfrm>
            <a:off x="640080" y="1444752"/>
            <a:ext cx="10607040" cy="512064"/>
          </a:xfrm>
          <a:prstGeom prst="rect">
            <a:avLst/>
          </a:prstGeom>
          <a:noFill/>
          <a:ln/>
        </p:spPr>
        <p:txBody>
          <a:bodyPr wrap="square" lIns="0" tIns="0" rIns="0" bIns="0" rtlCol="0" anchor="ctr"/>
          <a:lstStyle/>
          <a:p>
            <a:pPr indent="0" marL="0">
              <a:buNone/>
            </a:pPr>
            <a:r>
              <a:rPr lang="en-US" sz="1450" dirty="0">
                <a:solidFill>
                  <a:srgbClr val="7A7291"/>
                </a:solidFill>
                <a:latin typeface="Calibri" pitchFamily="34" charset="0"/>
                <a:ea typeface="Calibri" pitchFamily="34" charset="-122"/>
                <a:cs typeface="Calibri" pitchFamily="34" charset="-120"/>
              </a:rPr>
              <a:t>It is the only asset that earns trust while we sleep — and the one place a parent decides whether Bizzing is serious.</a:t>
            </a:r>
            <a:endParaRPr lang="en-US" sz="1450" dirty="0"/>
          </a:p>
        </p:txBody>
      </p:sp>
      <p:sp>
        <p:nvSpPr>
          <p:cNvPr id="5" name="Shape 3"/>
          <p:cNvSpPr/>
          <p:nvPr/>
        </p:nvSpPr>
        <p:spPr>
          <a:xfrm>
            <a:off x="640080" y="2103120"/>
            <a:ext cx="3410712" cy="2286000"/>
          </a:xfrm>
          <a:prstGeom prst="roundRect">
            <a:avLst>
              <a:gd name="adj" fmla="val 5600"/>
            </a:avLst>
          </a:prstGeom>
          <a:solidFill>
            <a:srgbClr val="EFEBF8"/>
          </a:solidFill>
          <a:ln/>
          <a:effectLst>
            <a:outerShdw sx="100000" sy="100000" kx="0" ky="0" algn="bl" rotWithShape="0" blurRad="127000" dist="25400" dir="5400000">
              <a:srgbClr val="241E33">
                <a:alpha val="10000"/>
              </a:srgbClr>
            </a:outerShdw>
          </a:effectLst>
        </p:spPr>
      </p:sp>
      <p:sp>
        <p:nvSpPr>
          <p:cNvPr id="6" name="Shape 4"/>
          <p:cNvSpPr/>
          <p:nvPr/>
        </p:nvSpPr>
        <p:spPr>
          <a:xfrm rot="5400000">
            <a:off x="914400" y="2331720"/>
            <a:ext cx="420624" cy="420624"/>
          </a:xfrm>
          <a:prstGeom prst="hexagon">
            <a:avLst/>
          </a:prstGeom>
          <a:solidFill>
            <a:srgbClr val="6C4FE0"/>
          </a:solidFill>
          <a:ln/>
        </p:spPr>
      </p:sp>
      <p:sp>
        <p:nvSpPr>
          <p:cNvPr id="7" name="Text 5"/>
          <p:cNvSpPr/>
          <p:nvPr/>
        </p:nvSpPr>
        <p:spPr>
          <a:xfrm>
            <a:off x="914400" y="2871216"/>
            <a:ext cx="2880360" cy="402336"/>
          </a:xfrm>
          <a:prstGeom prst="rect">
            <a:avLst/>
          </a:prstGeom>
          <a:noFill/>
          <a:ln/>
        </p:spPr>
        <p:txBody>
          <a:bodyPr wrap="square" lIns="0" tIns="0" rIns="0" bIns="0" rtlCol="0" anchor="ctr"/>
          <a:lstStyle/>
          <a:p>
            <a:pPr indent="0" marL="0">
              <a:buNone/>
            </a:pPr>
            <a:r>
              <a:rPr lang="en-US" sz="1700" b="1" dirty="0">
                <a:solidFill>
                  <a:srgbClr val="241E33"/>
                </a:solidFill>
                <a:latin typeface="Cambria" pitchFamily="34" charset="0"/>
                <a:ea typeface="Cambria" pitchFamily="34" charset="-122"/>
                <a:cs typeface="Cambria" pitchFamily="34" charset="-120"/>
              </a:rPr>
              <a:t>Authority</a:t>
            </a:r>
            <a:endParaRPr lang="en-US" sz="1700" dirty="0"/>
          </a:p>
        </p:txBody>
      </p:sp>
      <p:sp>
        <p:nvSpPr>
          <p:cNvPr id="8" name="Text 6"/>
          <p:cNvSpPr/>
          <p:nvPr/>
        </p:nvSpPr>
        <p:spPr>
          <a:xfrm>
            <a:off x="914400" y="3273552"/>
            <a:ext cx="2880360" cy="1051560"/>
          </a:xfrm>
          <a:prstGeom prst="rect">
            <a:avLst/>
          </a:prstGeom>
          <a:noFill/>
          <a:ln/>
        </p:spPr>
        <p:txBody>
          <a:bodyPr wrap="square" lIns="0" tIns="0" rIns="0" bIns="0" rtlCol="0" anchor="ctr"/>
          <a:lstStyle/>
          <a:p>
            <a:pPr indent="0" marL="0">
              <a:lnSpc>
                <a:spcPts val="1500"/>
              </a:lnSpc>
              <a:buNone/>
            </a:pPr>
            <a:r>
              <a:rPr lang="en-US" sz="1150" dirty="0">
                <a:solidFill>
                  <a:srgbClr val="4A4360"/>
                </a:solidFill>
                <a:latin typeface="Calibri" pitchFamily="34" charset="0"/>
                <a:ea typeface="Calibri" pitchFamily="34" charset="-122"/>
                <a:cs typeface="Calibri" pitchFamily="34" charset="-120"/>
              </a:rPr>
              <a:t>A parent choosing where their child practises is really asking whether we know the subject. Ten minutes of well-made history about words answers that better than any landing page.</a:t>
            </a:r>
            <a:endParaRPr lang="en-US" sz="1150" dirty="0"/>
          </a:p>
        </p:txBody>
      </p:sp>
      <p:sp>
        <p:nvSpPr>
          <p:cNvPr id="9" name="Shape 7"/>
          <p:cNvSpPr/>
          <p:nvPr/>
        </p:nvSpPr>
        <p:spPr>
          <a:xfrm>
            <a:off x="4325112" y="2103120"/>
            <a:ext cx="3410712" cy="2286000"/>
          </a:xfrm>
          <a:prstGeom prst="roundRect">
            <a:avLst>
              <a:gd name="adj" fmla="val 5600"/>
            </a:avLst>
          </a:prstGeom>
          <a:solidFill>
            <a:srgbClr val="EFEBF8"/>
          </a:solidFill>
          <a:ln/>
          <a:effectLst>
            <a:outerShdw sx="100000" sy="100000" kx="0" ky="0" algn="bl" rotWithShape="0" blurRad="127000" dist="25400" dir="5400000">
              <a:srgbClr val="241E33">
                <a:alpha val="10000"/>
              </a:srgbClr>
            </a:outerShdw>
          </a:effectLst>
        </p:spPr>
      </p:sp>
      <p:sp>
        <p:nvSpPr>
          <p:cNvPr id="10" name="Shape 8"/>
          <p:cNvSpPr/>
          <p:nvPr/>
        </p:nvSpPr>
        <p:spPr>
          <a:xfrm rot="5400000">
            <a:off x="4599432" y="2331720"/>
            <a:ext cx="420624" cy="420624"/>
          </a:xfrm>
          <a:prstGeom prst="hexagon">
            <a:avLst/>
          </a:prstGeom>
          <a:solidFill>
            <a:srgbClr val="F0B429"/>
          </a:solidFill>
          <a:ln/>
        </p:spPr>
      </p:sp>
      <p:sp>
        <p:nvSpPr>
          <p:cNvPr id="11" name="Text 9"/>
          <p:cNvSpPr/>
          <p:nvPr/>
        </p:nvSpPr>
        <p:spPr>
          <a:xfrm>
            <a:off x="4599432" y="2871216"/>
            <a:ext cx="2880360" cy="402336"/>
          </a:xfrm>
          <a:prstGeom prst="rect">
            <a:avLst/>
          </a:prstGeom>
          <a:noFill/>
          <a:ln/>
        </p:spPr>
        <p:txBody>
          <a:bodyPr wrap="square" lIns="0" tIns="0" rIns="0" bIns="0" rtlCol="0" anchor="ctr"/>
          <a:lstStyle/>
          <a:p>
            <a:pPr indent="0" marL="0">
              <a:buNone/>
            </a:pPr>
            <a:r>
              <a:rPr lang="en-US" sz="1700" b="1" dirty="0">
                <a:solidFill>
                  <a:srgbClr val="241E33"/>
                </a:solidFill>
                <a:latin typeface="Cambria" pitchFamily="34" charset="0"/>
                <a:ea typeface="Cambria" pitchFamily="34" charset="-122"/>
                <a:cs typeface="Cambria" pitchFamily="34" charset="-120"/>
              </a:rPr>
              <a:t>Discovery</a:t>
            </a:r>
            <a:endParaRPr lang="en-US" sz="1700" dirty="0"/>
          </a:p>
        </p:txBody>
      </p:sp>
      <p:sp>
        <p:nvSpPr>
          <p:cNvPr id="12" name="Text 10"/>
          <p:cNvSpPr/>
          <p:nvPr/>
        </p:nvSpPr>
        <p:spPr>
          <a:xfrm>
            <a:off x="4599432" y="3273552"/>
            <a:ext cx="2880360" cy="1051560"/>
          </a:xfrm>
          <a:prstGeom prst="rect">
            <a:avLst/>
          </a:prstGeom>
          <a:noFill/>
          <a:ln/>
        </p:spPr>
        <p:txBody>
          <a:bodyPr wrap="square" lIns="0" tIns="0" rIns="0" bIns="0" rtlCol="0" anchor="ctr"/>
          <a:lstStyle/>
          <a:p>
            <a:pPr indent="0" marL="0">
              <a:lnSpc>
                <a:spcPts val="1500"/>
              </a:lnSpc>
              <a:buNone/>
            </a:pPr>
            <a:r>
              <a:rPr lang="en-US" sz="1150" dirty="0">
                <a:solidFill>
                  <a:srgbClr val="4A4360"/>
                </a:solidFill>
                <a:latin typeface="Calibri" pitchFamily="34" charset="0"/>
                <a:ea typeface="Calibri" pitchFamily="34" charset="-122"/>
                <a:cs typeface="Calibri" pitchFamily="34" charset="-120"/>
              </a:rPr>
              <a:t>The algorithm reaches families we could never target — the ones who do not yet know a product like this exists. That is reach we do not have to buy.</a:t>
            </a:r>
            <a:endParaRPr lang="en-US" sz="1150" dirty="0"/>
          </a:p>
        </p:txBody>
      </p:sp>
      <p:sp>
        <p:nvSpPr>
          <p:cNvPr id="13" name="Shape 11"/>
          <p:cNvSpPr/>
          <p:nvPr/>
        </p:nvSpPr>
        <p:spPr>
          <a:xfrm>
            <a:off x="8010144" y="2103120"/>
            <a:ext cx="3410712" cy="2286000"/>
          </a:xfrm>
          <a:prstGeom prst="roundRect">
            <a:avLst>
              <a:gd name="adj" fmla="val 5600"/>
            </a:avLst>
          </a:prstGeom>
          <a:solidFill>
            <a:srgbClr val="EFEBF8"/>
          </a:solidFill>
          <a:ln/>
          <a:effectLst>
            <a:outerShdw sx="100000" sy="100000" kx="0" ky="0" algn="bl" rotWithShape="0" blurRad="127000" dist="25400" dir="5400000">
              <a:srgbClr val="241E33">
                <a:alpha val="10000"/>
              </a:srgbClr>
            </a:outerShdw>
          </a:effectLst>
        </p:spPr>
      </p:sp>
      <p:sp>
        <p:nvSpPr>
          <p:cNvPr id="14" name="Shape 12"/>
          <p:cNvSpPr/>
          <p:nvPr/>
        </p:nvSpPr>
        <p:spPr>
          <a:xfrm rot="5400000">
            <a:off x="8284464" y="2331720"/>
            <a:ext cx="420624" cy="420624"/>
          </a:xfrm>
          <a:prstGeom prst="hexagon">
            <a:avLst/>
          </a:prstGeom>
          <a:solidFill>
            <a:srgbClr val="178A4C"/>
          </a:solidFill>
          <a:ln/>
        </p:spPr>
      </p:sp>
      <p:sp>
        <p:nvSpPr>
          <p:cNvPr id="15" name="Text 13"/>
          <p:cNvSpPr/>
          <p:nvPr/>
        </p:nvSpPr>
        <p:spPr>
          <a:xfrm>
            <a:off x="8284464" y="2871216"/>
            <a:ext cx="2880360" cy="402336"/>
          </a:xfrm>
          <a:prstGeom prst="rect">
            <a:avLst/>
          </a:prstGeom>
          <a:noFill/>
          <a:ln/>
        </p:spPr>
        <p:txBody>
          <a:bodyPr wrap="square" lIns="0" tIns="0" rIns="0" bIns="0" rtlCol="0" anchor="ctr"/>
          <a:lstStyle/>
          <a:p>
            <a:pPr indent="0" marL="0">
              <a:buNone/>
            </a:pPr>
            <a:r>
              <a:rPr lang="en-US" sz="1700" b="1" dirty="0">
                <a:solidFill>
                  <a:srgbClr val="241E33"/>
                </a:solidFill>
                <a:latin typeface="Cambria" pitchFamily="34" charset="0"/>
                <a:ea typeface="Cambria" pitchFamily="34" charset="-122"/>
                <a:cs typeface="Cambria" pitchFamily="34" charset="-120"/>
              </a:rPr>
              <a:t>An asset, not a spend</a:t>
            </a:r>
            <a:endParaRPr lang="en-US" sz="1700" dirty="0"/>
          </a:p>
        </p:txBody>
      </p:sp>
      <p:sp>
        <p:nvSpPr>
          <p:cNvPr id="16" name="Text 14"/>
          <p:cNvSpPr/>
          <p:nvPr/>
        </p:nvSpPr>
        <p:spPr>
          <a:xfrm>
            <a:off x="8284464" y="3273552"/>
            <a:ext cx="2880360" cy="1051560"/>
          </a:xfrm>
          <a:prstGeom prst="rect">
            <a:avLst/>
          </a:prstGeom>
          <a:noFill/>
          <a:ln/>
        </p:spPr>
        <p:txBody>
          <a:bodyPr wrap="square" lIns="0" tIns="0" rIns="0" bIns="0" rtlCol="0" anchor="ctr"/>
          <a:lstStyle/>
          <a:p>
            <a:pPr indent="0" marL="0">
              <a:lnSpc>
                <a:spcPts val="1500"/>
              </a:lnSpc>
              <a:buNone/>
            </a:pPr>
            <a:r>
              <a:rPr lang="en-US" sz="1150" dirty="0">
                <a:solidFill>
                  <a:srgbClr val="4A4360"/>
                </a:solidFill>
                <a:latin typeface="Calibri" pitchFamily="34" charset="0"/>
                <a:ea typeface="Calibri" pitchFamily="34" charset="-122"/>
                <a:cs typeface="Calibri" pitchFamily="34" charset="-120"/>
              </a:rPr>
              <a:t>A documentary published this year is still working in five. Paid media stops the moment the card stops. Over time the channel becomes the cheapest acquisition we own.</a:t>
            </a:r>
            <a:endParaRPr lang="en-US" sz="1150" dirty="0"/>
          </a:p>
        </p:txBody>
      </p:sp>
      <p:sp>
        <p:nvSpPr>
          <p:cNvPr id="17" name="Text 15"/>
          <p:cNvSpPr/>
          <p:nvPr/>
        </p:nvSpPr>
        <p:spPr>
          <a:xfrm>
            <a:off x="640080" y="4498848"/>
            <a:ext cx="5486400" cy="365760"/>
          </a:xfrm>
          <a:prstGeom prst="rect">
            <a:avLst/>
          </a:prstGeom>
          <a:noFill/>
          <a:ln/>
        </p:spPr>
        <p:txBody>
          <a:bodyPr wrap="square" lIns="0" tIns="0" rIns="0" bIns="0" rtlCol="0" anchor="ctr"/>
          <a:lstStyle/>
          <a:p>
            <a:pPr indent="0" marL="0">
              <a:buNone/>
            </a:pPr>
            <a:r>
              <a:rPr lang="en-US" sz="1800" b="1" dirty="0">
                <a:solidFill>
                  <a:srgbClr val="241E33"/>
                </a:solidFill>
                <a:latin typeface="Cambria" pitchFamily="34" charset="0"/>
                <a:ea typeface="Cambria" pitchFamily="34" charset="-122"/>
                <a:cs typeface="Cambria" pitchFamily="34" charset="-120"/>
              </a:rPr>
              <a:t>Two audiences, one video</a:t>
            </a:r>
            <a:endParaRPr lang="en-US" sz="1800" dirty="0"/>
          </a:p>
        </p:txBody>
      </p:sp>
      <p:sp>
        <p:nvSpPr>
          <p:cNvPr id="18" name="Shape 16"/>
          <p:cNvSpPr/>
          <p:nvPr/>
        </p:nvSpPr>
        <p:spPr>
          <a:xfrm rot="5400000">
            <a:off x="640080" y="4974336"/>
            <a:ext cx="274320" cy="274320"/>
          </a:xfrm>
          <a:prstGeom prst="hexagon">
            <a:avLst/>
          </a:prstGeom>
          <a:solidFill>
            <a:srgbClr val="6C4FE0"/>
          </a:solidFill>
          <a:ln/>
        </p:spPr>
      </p:sp>
      <p:sp>
        <p:nvSpPr>
          <p:cNvPr id="19" name="Text 17"/>
          <p:cNvSpPr/>
          <p:nvPr/>
        </p:nvSpPr>
        <p:spPr>
          <a:xfrm>
            <a:off x="1042416" y="4919472"/>
            <a:ext cx="4572000" cy="310896"/>
          </a:xfrm>
          <a:prstGeom prst="rect">
            <a:avLst/>
          </a:prstGeom>
          <a:noFill/>
          <a:ln/>
        </p:spPr>
        <p:txBody>
          <a:bodyPr wrap="square" lIns="0" tIns="0" rIns="0" bIns="0" rtlCol="0" anchor="ctr"/>
          <a:lstStyle/>
          <a:p>
            <a:pPr indent="0" marL="0">
              <a:buNone/>
            </a:pPr>
            <a:r>
              <a:rPr lang="en-US" sz="1300" b="1" dirty="0">
                <a:solidFill>
                  <a:srgbClr val="241E33"/>
                </a:solidFill>
                <a:latin typeface="Calibri" pitchFamily="34" charset="0"/>
                <a:ea typeface="Calibri" pitchFamily="34" charset="-122"/>
                <a:cs typeface="Calibri" pitchFamily="34" charset="-120"/>
              </a:rPr>
              <a:t>The parent decides.</a:t>
            </a:r>
            <a:endParaRPr lang="en-US" sz="1300" dirty="0"/>
          </a:p>
        </p:txBody>
      </p:sp>
      <p:sp>
        <p:nvSpPr>
          <p:cNvPr id="20" name="Text 18"/>
          <p:cNvSpPr/>
          <p:nvPr/>
        </p:nvSpPr>
        <p:spPr>
          <a:xfrm>
            <a:off x="1042416" y="5230368"/>
            <a:ext cx="4572000" cy="640080"/>
          </a:xfrm>
          <a:prstGeom prst="rect">
            <a:avLst/>
          </a:prstGeom>
          <a:noFill/>
          <a:ln/>
        </p:spPr>
        <p:txBody>
          <a:bodyPr wrap="square" lIns="0" tIns="0" rIns="0" bIns="0" rtlCol="0" anchor="ctr"/>
          <a:lstStyle/>
          <a:p>
            <a:pPr indent="0" marL="0">
              <a:lnSpc>
                <a:spcPts val="1500"/>
              </a:lnSpc>
              <a:buNone/>
            </a:pPr>
            <a:r>
              <a:rPr lang="en-US" sz="1150" dirty="0">
                <a:solidFill>
                  <a:srgbClr val="4A4360"/>
                </a:solidFill>
                <a:latin typeface="Calibri" pitchFamily="34" charset="0"/>
                <a:ea typeface="Calibri" pitchFamily="34" charset="-122"/>
                <a:cs typeface="Calibri" pitchFamily="34" charset="-120"/>
              </a:rPr>
              <a:t>They need to see rigour — real sources, real history, nothing that feels like a cartoon selling something.</a:t>
            </a:r>
            <a:endParaRPr lang="en-US" sz="1150" dirty="0"/>
          </a:p>
        </p:txBody>
      </p:sp>
      <p:sp>
        <p:nvSpPr>
          <p:cNvPr id="21" name="Shape 19"/>
          <p:cNvSpPr/>
          <p:nvPr/>
        </p:nvSpPr>
        <p:spPr>
          <a:xfrm rot="5400000">
            <a:off x="6035040" y="4974336"/>
            <a:ext cx="274320" cy="274320"/>
          </a:xfrm>
          <a:prstGeom prst="hexagon">
            <a:avLst/>
          </a:prstGeom>
          <a:solidFill>
            <a:srgbClr val="F0B429"/>
          </a:solidFill>
          <a:ln/>
        </p:spPr>
      </p:sp>
      <p:sp>
        <p:nvSpPr>
          <p:cNvPr id="22" name="Text 20"/>
          <p:cNvSpPr/>
          <p:nvPr/>
        </p:nvSpPr>
        <p:spPr>
          <a:xfrm>
            <a:off x="6437376" y="4919472"/>
            <a:ext cx="4572000" cy="310896"/>
          </a:xfrm>
          <a:prstGeom prst="rect">
            <a:avLst/>
          </a:prstGeom>
          <a:noFill/>
          <a:ln/>
        </p:spPr>
        <p:txBody>
          <a:bodyPr wrap="square" lIns="0" tIns="0" rIns="0" bIns="0" rtlCol="0" anchor="ctr"/>
          <a:lstStyle/>
          <a:p>
            <a:pPr indent="0" marL="0">
              <a:buNone/>
            </a:pPr>
            <a:r>
              <a:rPr lang="en-US" sz="1300" b="1" dirty="0">
                <a:solidFill>
                  <a:srgbClr val="241E33"/>
                </a:solidFill>
                <a:latin typeface="Calibri" pitchFamily="34" charset="0"/>
                <a:ea typeface="Calibri" pitchFamily="34" charset="-122"/>
                <a:cs typeface="Calibri" pitchFamily="34" charset="-120"/>
              </a:rPr>
              <a:t>The child watches.</a:t>
            </a:r>
            <a:endParaRPr lang="en-US" sz="1300" dirty="0"/>
          </a:p>
        </p:txBody>
      </p:sp>
      <p:sp>
        <p:nvSpPr>
          <p:cNvPr id="23" name="Text 21"/>
          <p:cNvSpPr/>
          <p:nvPr/>
        </p:nvSpPr>
        <p:spPr>
          <a:xfrm>
            <a:off x="6437376" y="5230368"/>
            <a:ext cx="4572000" cy="640080"/>
          </a:xfrm>
          <a:prstGeom prst="rect">
            <a:avLst/>
          </a:prstGeom>
          <a:noFill/>
          <a:ln/>
        </p:spPr>
        <p:txBody>
          <a:bodyPr wrap="square" lIns="0" tIns="0" rIns="0" bIns="0" rtlCol="0" anchor="ctr"/>
          <a:lstStyle/>
          <a:p>
            <a:pPr indent="0" marL="0">
              <a:lnSpc>
                <a:spcPts val="1500"/>
              </a:lnSpc>
              <a:buNone/>
            </a:pPr>
            <a:r>
              <a:rPr lang="en-US" sz="1150" dirty="0">
                <a:solidFill>
                  <a:srgbClr val="4A4360"/>
                </a:solidFill>
                <a:latin typeface="Calibri" pitchFamily="34" charset="0"/>
                <a:ea typeface="Calibri" pitchFamily="34" charset="-122"/>
                <a:cs typeface="Calibri" pitchFamily="34" charset="-120"/>
              </a:rPr>
              <a:t>They need story and pace. If the child is bored the parent never finishes it either.</a:t>
            </a:r>
            <a:endParaRPr lang="en-US" sz="1150" dirty="0"/>
          </a:p>
        </p:txBody>
      </p:sp>
      <p:sp>
        <p:nvSpPr>
          <p:cNvPr id="24" name="Text 22"/>
          <p:cNvSpPr/>
          <p:nvPr/>
        </p:nvSpPr>
        <p:spPr>
          <a:xfrm>
            <a:off x="640080" y="6035040"/>
            <a:ext cx="10607040" cy="365760"/>
          </a:xfrm>
          <a:prstGeom prst="rect">
            <a:avLst/>
          </a:prstGeom>
          <a:noFill/>
          <a:ln/>
        </p:spPr>
        <p:txBody>
          <a:bodyPr wrap="square" lIns="0" tIns="0" rIns="0" bIns="0" rtlCol="0" anchor="ctr"/>
          <a:lstStyle/>
          <a:p>
            <a:pPr indent="0" marL="0">
              <a:buNone/>
            </a:pPr>
            <a:r>
              <a:rPr lang="en-US" sz="1400" i="1" dirty="0">
                <a:solidFill>
                  <a:srgbClr val="6C4FE0"/>
                </a:solidFill>
                <a:latin typeface="Cambria" pitchFamily="34" charset="0"/>
                <a:ea typeface="Cambria" pitchFamily="34" charset="-122"/>
                <a:cs typeface="Cambria" pitchFamily="34" charset="-120"/>
              </a:rPr>
              <a:t>The rule that follows: the video never sells. The product is named once, at the end, and that is the whole ask.</a:t>
            </a:r>
            <a:endParaRPr lang="en-US" sz="1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CONTENT STRATEGY · 2 OF 3</a:t>
            </a:r>
            <a:endParaRPr lang="en-US" sz="1150" dirty="0"/>
          </a:p>
        </p:txBody>
      </p:sp>
      <p:sp>
        <p:nvSpPr>
          <p:cNvPr id="3" name="Text 1"/>
          <p:cNvSpPr/>
          <p:nvPr/>
        </p:nvSpPr>
        <p:spPr>
          <a:xfrm>
            <a:off x="640080" y="694944"/>
            <a:ext cx="106070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Four content pillars</a:t>
            </a:r>
            <a:endParaRPr lang="en-US" sz="2900" dirty="0"/>
          </a:p>
        </p:txBody>
      </p:sp>
      <p:sp>
        <p:nvSpPr>
          <p:cNvPr id="4" name="Text 2"/>
          <p:cNvSpPr/>
          <p:nvPr/>
        </p:nvSpPr>
        <p:spPr>
          <a:xfrm>
            <a:off x="640080" y="1444752"/>
            <a:ext cx="10607040" cy="512064"/>
          </a:xfrm>
          <a:prstGeom prst="rect">
            <a:avLst/>
          </a:prstGeom>
          <a:noFill/>
          <a:ln/>
        </p:spPr>
        <p:txBody>
          <a:bodyPr wrap="square" lIns="0" tIns="0" rIns="0" bIns="0" rtlCol="0" anchor="ctr"/>
          <a:lstStyle/>
          <a:p>
            <a:pPr indent="0" marL="0">
              <a:buNone/>
            </a:pPr>
            <a:r>
              <a:rPr lang="en-US" sz="1450" dirty="0">
                <a:solidFill>
                  <a:srgbClr val="7A7291"/>
                </a:solidFill>
                <a:latin typeface="Calibri" pitchFamily="34" charset="0"/>
                <a:ea typeface="Calibri" pitchFamily="34" charset="-122"/>
                <a:cs typeface="Calibri" pitchFamily="34" charset="-120"/>
              </a:rPr>
              <a:t>Each pillar does a different job in the funnel. Together they cover reach, trust and intent.</a:t>
            </a:r>
            <a:endParaRPr lang="en-US" sz="1450" dirty="0"/>
          </a:p>
        </p:txBody>
      </p:sp>
      <p:sp>
        <p:nvSpPr>
          <p:cNvPr id="5" name="Shape 3"/>
          <p:cNvSpPr/>
          <p:nvPr/>
        </p:nvSpPr>
        <p:spPr>
          <a:xfrm>
            <a:off x="640080" y="2011680"/>
            <a:ext cx="5074920" cy="1783080"/>
          </a:xfrm>
          <a:prstGeom prst="roundRect">
            <a:avLst>
              <a:gd name="adj" fmla="val 7179"/>
            </a:avLst>
          </a:prstGeom>
          <a:solidFill>
            <a:srgbClr val="EFEBF8"/>
          </a:solidFill>
          <a:ln/>
          <a:effectLst>
            <a:outerShdw sx="100000" sy="100000" kx="0" ky="0" algn="bl" rotWithShape="0" blurRad="127000" dist="25400" dir="5400000">
              <a:srgbClr val="241E33">
                <a:alpha val="10000"/>
              </a:srgbClr>
            </a:outerShdw>
          </a:effectLst>
        </p:spPr>
      </p:sp>
      <p:sp>
        <p:nvSpPr>
          <p:cNvPr id="6" name="Shape 4"/>
          <p:cNvSpPr/>
          <p:nvPr/>
        </p:nvSpPr>
        <p:spPr>
          <a:xfrm rot="5400000">
            <a:off x="877824" y="2231136"/>
            <a:ext cx="384048" cy="384048"/>
          </a:xfrm>
          <a:prstGeom prst="hexagon">
            <a:avLst/>
          </a:prstGeom>
          <a:solidFill>
            <a:srgbClr val="6C4FE0"/>
          </a:solidFill>
          <a:ln/>
        </p:spPr>
      </p:sp>
      <p:sp>
        <p:nvSpPr>
          <p:cNvPr id="7" name="Text 5"/>
          <p:cNvSpPr/>
          <p:nvPr/>
        </p:nvSpPr>
        <p:spPr>
          <a:xfrm>
            <a:off x="1408176" y="2194560"/>
            <a:ext cx="3017520" cy="365760"/>
          </a:xfrm>
          <a:prstGeom prst="rect">
            <a:avLst/>
          </a:prstGeom>
          <a:noFill/>
          <a:ln/>
        </p:spPr>
        <p:txBody>
          <a:bodyPr wrap="square" lIns="0" tIns="0" rIns="0" bIns="0" rtlCol="0" anchor="ctr"/>
          <a:lstStyle/>
          <a:p>
            <a:pPr indent="0" marL="0">
              <a:buNone/>
            </a:pPr>
            <a:r>
              <a:rPr lang="en-US" sz="1600" b="1" dirty="0">
                <a:solidFill>
                  <a:srgbClr val="241E33"/>
                </a:solidFill>
                <a:latin typeface="Cambria" pitchFamily="34" charset="0"/>
                <a:ea typeface="Cambria" pitchFamily="34" charset="-122"/>
                <a:cs typeface="Cambria" pitchFamily="34" charset="-120"/>
              </a:rPr>
              <a:t>Story documentaries</a:t>
            </a:r>
            <a:endParaRPr lang="en-US" sz="1600" dirty="0"/>
          </a:p>
        </p:txBody>
      </p:sp>
      <p:sp>
        <p:nvSpPr>
          <p:cNvPr id="8" name="Shape 6"/>
          <p:cNvSpPr/>
          <p:nvPr/>
        </p:nvSpPr>
        <p:spPr>
          <a:xfrm>
            <a:off x="4526280" y="2249424"/>
            <a:ext cx="960120" cy="256032"/>
          </a:xfrm>
          <a:prstGeom prst="roundRect">
            <a:avLst>
              <a:gd name="adj" fmla="val 50000"/>
            </a:avLst>
          </a:prstGeom>
          <a:solidFill>
            <a:srgbClr val="E3DCF2"/>
          </a:solidFill>
          <a:ln/>
        </p:spPr>
      </p:sp>
      <p:sp>
        <p:nvSpPr>
          <p:cNvPr id="9" name="Text 7"/>
          <p:cNvSpPr/>
          <p:nvPr/>
        </p:nvSpPr>
        <p:spPr>
          <a:xfrm>
            <a:off x="4526280" y="2249424"/>
            <a:ext cx="960120" cy="256032"/>
          </a:xfrm>
          <a:prstGeom prst="rect">
            <a:avLst/>
          </a:prstGeom>
          <a:noFill/>
          <a:ln/>
        </p:spPr>
        <p:txBody>
          <a:bodyPr wrap="square" lIns="0" tIns="0" rIns="0" bIns="0" rtlCol="0" anchor="ctr"/>
          <a:lstStyle/>
          <a:p>
            <a:pPr algn="ctr" indent="0" marL="0">
              <a:buNone/>
            </a:pPr>
            <a:r>
              <a:rPr lang="en-US" sz="800" b="1" dirty="0">
                <a:solidFill>
                  <a:srgbClr val="4A31B0"/>
                </a:solidFill>
                <a:latin typeface="Calibri" pitchFamily="34" charset="0"/>
                <a:ea typeface="Calibri" pitchFamily="34" charset="-122"/>
                <a:cs typeface="Calibri" pitchFamily="34" charset="-120"/>
              </a:rPr>
              <a:t>Long form</a:t>
            </a:r>
            <a:endParaRPr lang="en-US" sz="800" dirty="0"/>
          </a:p>
        </p:txBody>
      </p:sp>
      <p:sp>
        <p:nvSpPr>
          <p:cNvPr id="10" name="Text 8"/>
          <p:cNvSpPr/>
          <p:nvPr/>
        </p:nvSpPr>
        <p:spPr>
          <a:xfrm>
            <a:off x="877824" y="2633472"/>
            <a:ext cx="4617720" cy="713232"/>
          </a:xfrm>
          <a:prstGeom prst="rect">
            <a:avLst/>
          </a:prstGeom>
          <a:noFill/>
          <a:ln/>
        </p:spPr>
        <p:txBody>
          <a:bodyPr wrap="square" lIns="0" tIns="0" rIns="0" bIns="0" rtlCol="0" anchor="ctr"/>
          <a:lstStyle/>
          <a:p>
            <a:pPr indent="0" marL="0">
              <a:lnSpc>
                <a:spcPts val="1400"/>
              </a:lnSpc>
              <a:buNone/>
            </a:pPr>
            <a:r>
              <a:rPr lang="en-US" sz="1100" dirty="0">
                <a:solidFill>
                  <a:srgbClr val="4A4360"/>
                </a:solidFill>
                <a:latin typeface="Calibri" pitchFamily="34" charset="0"/>
                <a:ea typeface="Calibri" pitchFamily="34" charset="-122"/>
                <a:cs typeface="Calibri" pitchFamily="34" charset="-120"/>
              </a:rPr>
              <a:t>True stories about words and the people who used them. "Before the Bee" — the 1908 contest and the girl whose medal was never found. "The Right Word" — four times somebody reached for a word and the world changed.</a:t>
            </a:r>
            <a:endParaRPr lang="en-US" sz="1100" dirty="0"/>
          </a:p>
        </p:txBody>
      </p:sp>
      <p:sp>
        <p:nvSpPr>
          <p:cNvPr id="11" name="Text 9"/>
          <p:cNvSpPr/>
          <p:nvPr/>
        </p:nvSpPr>
        <p:spPr>
          <a:xfrm>
            <a:off x="877824" y="3364992"/>
            <a:ext cx="4617720" cy="347472"/>
          </a:xfrm>
          <a:prstGeom prst="rect">
            <a:avLst/>
          </a:prstGeom>
          <a:noFill/>
          <a:ln/>
        </p:spPr>
        <p:txBody>
          <a:bodyPr wrap="square" lIns="0" tIns="0" rIns="0" bIns="0" rtlCol="0" anchor="ctr"/>
          <a:lstStyle/>
          <a:p>
            <a:pPr indent="0" marL="0">
              <a:lnSpc>
                <a:spcPts val="1300"/>
              </a:lnSpc>
              <a:buNone/>
            </a:pPr>
            <a:r>
              <a:rPr lang="en-US" sz="1050" b="1" i="1" dirty="0">
                <a:solidFill>
                  <a:srgbClr val="4A31B0"/>
                </a:solidFill>
                <a:latin typeface="Calibri" pitchFamily="34" charset="0"/>
                <a:ea typeface="Calibri" pitchFamily="34" charset="-122"/>
                <a:cs typeface="Calibri" pitchFamily="34" charset="-120"/>
              </a:rPr>
              <a:t>Job:  </a:t>
            </a:r>
            <a:pPr indent="0" marL="0">
              <a:lnSpc>
                <a:spcPts val="1300"/>
              </a:lnSpc>
              <a:buNone/>
            </a:pPr>
            <a:r>
              <a:rPr lang="en-US" sz="1050" i="1" dirty="0">
                <a:solidFill>
                  <a:srgbClr val="4A31B0"/>
                </a:solidFill>
                <a:latin typeface="Calibri" pitchFamily="34" charset="0"/>
                <a:ea typeface="Calibri" pitchFamily="34" charset="-122"/>
                <a:cs typeface="Calibri" pitchFamily="34" charset="-120"/>
              </a:rPr>
              <a:t>Authority. The piece a parent shares with another parent.</a:t>
            </a:r>
            <a:endParaRPr lang="en-US" sz="1050" dirty="0"/>
          </a:p>
        </p:txBody>
      </p:sp>
      <p:sp>
        <p:nvSpPr>
          <p:cNvPr id="12" name="Shape 10"/>
          <p:cNvSpPr/>
          <p:nvPr/>
        </p:nvSpPr>
        <p:spPr>
          <a:xfrm>
            <a:off x="6035040" y="2011680"/>
            <a:ext cx="5074920" cy="1783080"/>
          </a:xfrm>
          <a:prstGeom prst="roundRect">
            <a:avLst>
              <a:gd name="adj" fmla="val 7179"/>
            </a:avLst>
          </a:prstGeom>
          <a:solidFill>
            <a:srgbClr val="FFFFFF"/>
          </a:solidFill>
          <a:ln/>
          <a:effectLst>
            <a:outerShdw sx="100000" sy="100000" kx="0" ky="0" algn="bl" rotWithShape="0" blurRad="127000" dist="25400" dir="5400000">
              <a:srgbClr val="241E33">
                <a:alpha val="10000"/>
              </a:srgbClr>
            </a:outerShdw>
          </a:effectLst>
        </p:spPr>
      </p:sp>
      <p:sp>
        <p:nvSpPr>
          <p:cNvPr id="13" name="Shape 11"/>
          <p:cNvSpPr/>
          <p:nvPr/>
        </p:nvSpPr>
        <p:spPr>
          <a:xfrm>
            <a:off x="6035040" y="2011680"/>
            <a:ext cx="5074920" cy="1783080"/>
          </a:xfrm>
          <a:prstGeom prst="roundRect">
            <a:avLst>
              <a:gd name="adj" fmla="val 7179"/>
            </a:avLst>
          </a:prstGeom>
          <a:solidFill>
            <a:srgbClr val="FFFFFF"/>
          </a:solidFill>
          <a:ln w="15875">
            <a:solidFill>
              <a:srgbClr val="E3DCF2"/>
            </a:solidFill>
            <a:prstDash val="solid"/>
          </a:ln>
        </p:spPr>
      </p:sp>
      <p:sp>
        <p:nvSpPr>
          <p:cNvPr id="14" name="Shape 12"/>
          <p:cNvSpPr/>
          <p:nvPr/>
        </p:nvSpPr>
        <p:spPr>
          <a:xfrm rot="5400000">
            <a:off x="6272784" y="2231136"/>
            <a:ext cx="384048" cy="384048"/>
          </a:xfrm>
          <a:prstGeom prst="hexagon">
            <a:avLst/>
          </a:prstGeom>
          <a:solidFill>
            <a:srgbClr val="F0B429"/>
          </a:solidFill>
          <a:ln/>
        </p:spPr>
      </p:sp>
      <p:sp>
        <p:nvSpPr>
          <p:cNvPr id="15" name="Text 13"/>
          <p:cNvSpPr/>
          <p:nvPr/>
        </p:nvSpPr>
        <p:spPr>
          <a:xfrm>
            <a:off x="6803136" y="2194560"/>
            <a:ext cx="3017520" cy="365760"/>
          </a:xfrm>
          <a:prstGeom prst="rect">
            <a:avLst/>
          </a:prstGeom>
          <a:noFill/>
          <a:ln/>
        </p:spPr>
        <p:txBody>
          <a:bodyPr wrap="square" lIns="0" tIns="0" rIns="0" bIns="0" rtlCol="0" anchor="ctr"/>
          <a:lstStyle/>
          <a:p>
            <a:pPr indent="0" marL="0">
              <a:buNone/>
            </a:pPr>
            <a:r>
              <a:rPr lang="en-US" sz="1600" b="1" dirty="0">
                <a:solidFill>
                  <a:srgbClr val="241E33"/>
                </a:solidFill>
                <a:latin typeface="Cambria" pitchFamily="34" charset="0"/>
                <a:ea typeface="Cambria" pitchFamily="34" charset="-122"/>
                <a:cs typeface="Cambria" pitchFamily="34" charset="-120"/>
              </a:rPr>
              <a:t>Word-origin shorts</a:t>
            </a:r>
            <a:endParaRPr lang="en-US" sz="1600" dirty="0"/>
          </a:p>
        </p:txBody>
      </p:sp>
      <p:sp>
        <p:nvSpPr>
          <p:cNvPr id="16" name="Shape 14"/>
          <p:cNvSpPr/>
          <p:nvPr/>
        </p:nvSpPr>
        <p:spPr>
          <a:xfrm>
            <a:off x="9921240" y="2249424"/>
            <a:ext cx="960120" cy="256032"/>
          </a:xfrm>
          <a:prstGeom prst="roundRect">
            <a:avLst>
              <a:gd name="adj" fmla="val 50000"/>
            </a:avLst>
          </a:prstGeom>
          <a:solidFill>
            <a:srgbClr val="E3DCF2"/>
          </a:solidFill>
          <a:ln/>
        </p:spPr>
      </p:sp>
      <p:sp>
        <p:nvSpPr>
          <p:cNvPr id="17" name="Text 15"/>
          <p:cNvSpPr/>
          <p:nvPr/>
        </p:nvSpPr>
        <p:spPr>
          <a:xfrm>
            <a:off x="9921240" y="2249424"/>
            <a:ext cx="960120" cy="256032"/>
          </a:xfrm>
          <a:prstGeom prst="rect">
            <a:avLst/>
          </a:prstGeom>
          <a:noFill/>
          <a:ln/>
        </p:spPr>
        <p:txBody>
          <a:bodyPr wrap="square" lIns="0" tIns="0" rIns="0" bIns="0" rtlCol="0" anchor="ctr"/>
          <a:lstStyle/>
          <a:p>
            <a:pPr algn="ctr" indent="0" marL="0">
              <a:buNone/>
            </a:pPr>
            <a:r>
              <a:rPr lang="en-US" sz="800" b="1" dirty="0">
                <a:solidFill>
                  <a:srgbClr val="4A31B0"/>
                </a:solidFill>
                <a:latin typeface="Calibri" pitchFamily="34" charset="0"/>
                <a:ea typeface="Calibri" pitchFamily="34" charset="-122"/>
                <a:cs typeface="Calibri" pitchFamily="34" charset="-120"/>
              </a:rPr>
              <a:t>Short form</a:t>
            </a:r>
            <a:endParaRPr lang="en-US" sz="800" dirty="0"/>
          </a:p>
        </p:txBody>
      </p:sp>
      <p:sp>
        <p:nvSpPr>
          <p:cNvPr id="18" name="Text 16"/>
          <p:cNvSpPr/>
          <p:nvPr/>
        </p:nvSpPr>
        <p:spPr>
          <a:xfrm>
            <a:off x="6272784" y="2633472"/>
            <a:ext cx="4617720" cy="713232"/>
          </a:xfrm>
          <a:prstGeom prst="rect">
            <a:avLst/>
          </a:prstGeom>
          <a:noFill/>
          <a:ln/>
        </p:spPr>
        <p:txBody>
          <a:bodyPr wrap="square" lIns="0" tIns="0" rIns="0" bIns="0" rtlCol="0" anchor="ctr"/>
          <a:lstStyle/>
          <a:p>
            <a:pPr indent="0" marL="0">
              <a:lnSpc>
                <a:spcPts val="1400"/>
              </a:lnSpc>
              <a:buNone/>
            </a:pPr>
            <a:r>
              <a:rPr lang="en-US" sz="1100" dirty="0">
                <a:solidFill>
                  <a:srgbClr val="4A4360"/>
                </a:solidFill>
                <a:latin typeface="Calibri" pitchFamily="34" charset="0"/>
                <a:ea typeface="Calibri" pitchFamily="34" charset="-122"/>
                <a:cs typeface="Calibri" pitchFamily="34" charset="-120"/>
              </a:rPr>
              <a:t>One word, one surprising origin, under a minute. Why "knight" keeps a silent K. Why the menu says beef and the field says cow. Built straight from the app’s existing etymology bank.</a:t>
            </a:r>
            <a:endParaRPr lang="en-US" sz="1100" dirty="0"/>
          </a:p>
        </p:txBody>
      </p:sp>
      <p:sp>
        <p:nvSpPr>
          <p:cNvPr id="19" name="Text 17"/>
          <p:cNvSpPr/>
          <p:nvPr/>
        </p:nvSpPr>
        <p:spPr>
          <a:xfrm>
            <a:off x="6272784" y="3364992"/>
            <a:ext cx="4617720" cy="347472"/>
          </a:xfrm>
          <a:prstGeom prst="rect">
            <a:avLst/>
          </a:prstGeom>
          <a:noFill/>
          <a:ln/>
        </p:spPr>
        <p:txBody>
          <a:bodyPr wrap="square" lIns="0" tIns="0" rIns="0" bIns="0" rtlCol="0" anchor="ctr"/>
          <a:lstStyle/>
          <a:p>
            <a:pPr indent="0" marL="0">
              <a:lnSpc>
                <a:spcPts val="1300"/>
              </a:lnSpc>
              <a:buNone/>
            </a:pPr>
            <a:r>
              <a:rPr lang="en-US" sz="1050" b="1" i="1" dirty="0">
                <a:solidFill>
                  <a:srgbClr val="4A31B0"/>
                </a:solidFill>
                <a:latin typeface="Calibri" pitchFamily="34" charset="0"/>
                <a:ea typeface="Calibri" pitchFamily="34" charset="-122"/>
                <a:cs typeface="Calibri" pitchFamily="34" charset="-120"/>
              </a:rPr>
              <a:t>Job:  </a:t>
            </a:r>
            <a:pPr indent="0" marL="0">
              <a:lnSpc>
                <a:spcPts val="1300"/>
              </a:lnSpc>
              <a:buNone/>
            </a:pPr>
            <a:r>
              <a:rPr lang="en-US" sz="1050" i="1" dirty="0">
                <a:solidFill>
                  <a:srgbClr val="4A31B0"/>
                </a:solidFill>
                <a:latin typeface="Calibri" pitchFamily="34" charset="0"/>
                <a:ea typeface="Calibri" pitchFamily="34" charset="-122"/>
                <a:cs typeface="Calibri" pitchFamily="34" charset="-120"/>
              </a:rPr>
              <a:t>Reach. Volume the algorithm can work with, at almost no marginal cost.</a:t>
            </a:r>
            <a:endParaRPr lang="en-US" sz="1050" dirty="0"/>
          </a:p>
        </p:txBody>
      </p:sp>
      <p:sp>
        <p:nvSpPr>
          <p:cNvPr id="20" name="Shape 18"/>
          <p:cNvSpPr/>
          <p:nvPr/>
        </p:nvSpPr>
        <p:spPr>
          <a:xfrm>
            <a:off x="640080" y="4023360"/>
            <a:ext cx="5074920" cy="1783080"/>
          </a:xfrm>
          <a:prstGeom prst="roundRect">
            <a:avLst>
              <a:gd name="adj" fmla="val 7179"/>
            </a:avLst>
          </a:prstGeom>
          <a:solidFill>
            <a:srgbClr val="FFFFFF"/>
          </a:solidFill>
          <a:ln/>
          <a:effectLst>
            <a:outerShdw sx="100000" sy="100000" kx="0" ky="0" algn="bl" rotWithShape="0" blurRad="127000" dist="25400" dir="5400000">
              <a:srgbClr val="241E33">
                <a:alpha val="10000"/>
              </a:srgbClr>
            </a:outerShdw>
          </a:effectLst>
        </p:spPr>
      </p:sp>
      <p:sp>
        <p:nvSpPr>
          <p:cNvPr id="21" name="Shape 19"/>
          <p:cNvSpPr/>
          <p:nvPr/>
        </p:nvSpPr>
        <p:spPr>
          <a:xfrm>
            <a:off x="640080" y="4023360"/>
            <a:ext cx="5074920" cy="1783080"/>
          </a:xfrm>
          <a:prstGeom prst="roundRect">
            <a:avLst>
              <a:gd name="adj" fmla="val 7179"/>
            </a:avLst>
          </a:prstGeom>
          <a:solidFill>
            <a:srgbClr val="FFFFFF"/>
          </a:solidFill>
          <a:ln w="15875">
            <a:solidFill>
              <a:srgbClr val="E3DCF2"/>
            </a:solidFill>
            <a:prstDash val="solid"/>
          </a:ln>
        </p:spPr>
      </p:sp>
      <p:sp>
        <p:nvSpPr>
          <p:cNvPr id="22" name="Shape 20"/>
          <p:cNvSpPr/>
          <p:nvPr/>
        </p:nvSpPr>
        <p:spPr>
          <a:xfrm rot="5400000">
            <a:off x="877824" y="4242816"/>
            <a:ext cx="384048" cy="384048"/>
          </a:xfrm>
          <a:prstGeom prst="hexagon">
            <a:avLst/>
          </a:prstGeom>
          <a:solidFill>
            <a:srgbClr val="178A4C"/>
          </a:solidFill>
          <a:ln/>
        </p:spPr>
      </p:sp>
      <p:sp>
        <p:nvSpPr>
          <p:cNvPr id="23" name="Text 21"/>
          <p:cNvSpPr/>
          <p:nvPr/>
        </p:nvSpPr>
        <p:spPr>
          <a:xfrm>
            <a:off x="1408176" y="4206240"/>
            <a:ext cx="3017520" cy="365760"/>
          </a:xfrm>
          <a:prstGeom prst="rect">
            <a:avLst/>
          </a:prstGeom>
          <a:noFill/>
          <a:ln/>
        </p:spPr>
        <p:txBody>
          <a:bodyPr wrap="square" lIns="0" tIns="0" rIns="0" bIns="0" rtlCol="0" anchor="ctr"/>
          <a:lstStyle/>
          <a:p>
            <a:pPr indent="0" marL="0">
              <a:buNone/>
            </a:pPr>
            <a:r>
              <a:rPr lang="en-US" sz="1600" b="1" dirty="0">
                <a:solidFill>
                  <a:srgbClr val="241E33"/>
                </a:solidFill>
                <a:latin typeface="Cambria" pitchFamily="34" charset="0"/>
                <a:ea typeface="Cambria" pitchFamily="34" charset="-122"/>
                <a:cs typeface="Cambria" pitchFamily="34" charset="-120"/>
              </a:rPr>
              <a:t>Bee craft</a:t>
            </a:r>
            <a:endParaRPr lang="en-US" sz="1600" dirty="0"/>
          </a:p>
        </p:txBody>
      </p:sp>
      <p:sp>
        <p:nvSpPr>
          <p:cNvPr id="24" name="Shape 22"/>
          <p:cNvSpPr/>
          <p:nvPr/>
        </p:nvSpPr>
        <p:spPr>
          <a:xfrm>
            <a:off x="4526280" y="4261104"/>
            <a:ext cx="960120" cy="256032"/>
          </a:xfrm>
          <a:prstGeom prst="roundRect">
            <a:avLst>
              <a:gd name="adj" fmla="val 50000"/>
            </a:avLst>
          </a:prstGeom>
          <a:solidFill>
            <a:srgbClr val="E3DCF2"/>
          </a:solidFill>
          <a:ln/>
        </p:spPr>
      </p:sp>
      <p:sp>
        <p:nvSpPr>
          <p:cNvPr id="25" name="Text 23"/>
          <p:cNvSpPr/>
          <p:nvPr/>
        </p:nvSpPr>
        <p:spPr>
          <a:xfrm>
            <a:off x="4526280" y="4261104"/>
            <a:ext cx="960120" cy="256032"/>
          </a:xfrm>
          <a:prstGeom prst="rect">
            <a:avLst/>
          </a:prstGeom>
          <a:noFill/>
          <a:ln/>
        </p:spPr>
        <p:txBody>
          <a:bodyPr wrap="square" lIns="0" tIns="0" rIns="0" bIns="0" rtlCol="0" anchor="ctr"/>
          <a:lstStyle/>
          <a:p>
            <a:pPr algn="ctr" indent="0" marL="0">
              <a:buNone/>
            </a:pPr>
            <a:r>
              <a:rPr lang="en-US" sz="800" b="1" dirty="0">
                <a:solidFill>
                  <a:srgbClr val="4A31B0"/>
                </a:solidFill>
                <a:latin typeface="Calibri" pitchFamily="34" charset="0"/>
                <a:ea typeface="Calibri" pitchFamily="34" charset="-122"/>
                <a:cs typeface="Calibri" pitchFamily="34" charset="-120"/>
              </a:rPr>
              <a:t>Mid form</a:t>
            </a:r>
            <a:endParaRPr lang="en-US" sz="800" dirty="0"/>
          </a:p>
        </p:txBody>
      </p:sp>
      <p:sp>
        <p:nvSpPr>
          <p:cNvPr id="26" name="Text 24"/>
          <p:cNvSpPr/>
          <p:nvPr/>
        </p:nvSpPr>
        <p:spPr>
          <a:xfrm>
            <a:off x="877824" y="4645152"/>
            <a:ext cx="4617720" cy="713232"/>
          </a:xfrm>
          <a:prstGeom prst="rect">
            <a:avLst/>
          </a:prstGeom>
          <a:noFill/>
          <a:ln/>
        </p:spPr>
        <p:txBody>
          <a:bodyPr wrap="square" lIns="0" tIns="0" rIns="0" bIns="0" rtlCol="0" anchor="ctr"/>
          <a:lstStyle/>
          <a:p>
            <a:pPr indent="0" marL="0">
              <a:lnSpc>
                <a:spcPts val="1400"/>
              </a:lnSpc>
              <a:buNone/>
            </a:pPr>
            <a:r>
              <a:rPr lang="en-US" sz="1100" dirty="0">
                <a:solidFill>
                  <a:srgbClr val="4A4360"/>
                </a:solidFill>
                <a:latin typeface="Calibri" pitchFamily="34" charset="0"/>
                <a:ea typeface="Calibri" pitchFamily="34" charset="-122"/>
                <a:cs typeface="Calibri" pitchFamily="34" charset="-120"/>
              </a:rPr>
              <a:t>How champions actually study: root patterns, language-of-origin cues, what to ask the pronouncer, how to handle a word you have never seen.</a:t>
            </a:r>
            <a:endParaRPr lang="en-US" sz="1100" dirty="0"/>
          </a:p>
        </p:txBody>
      </p:sp>
      <p:sp>
        <p:nvSpPr>
          <p:cNvPr id="27" name="Text 25"/>
          <p:cNvSpPr/>
          <p:nvPr/>
        </p:nvSpPr>
        <p:spPr>
          <a:xfrm>
            <a:off x="877824" y="5376672"/>
            <a:ext cx="4617720" cy="347472"/>
          </a:xfrm>
          <a:prstGeom prst="rect">
            <a:avLst/>
          </a:prstGeom>
          <a:noFill/>
          <a:ln/>
        </p:spPr>
        <p:txBody>
          <a:bodyPr wrap="square" lIns="0" tIns="0" rIns="0" bIns="0" rtlCol="0" anchor="ctr"/>
          <a:lstStyle/>
          <a:p>
            <a:pPr indent="0" marL="0">
              <a:lnSpc>
                <a:spcPts val="1300"/>
              </a:lnSpc>
              <a:buNone/>
            </a:pPr>
            <a:r>
              <a:rPr lang="en-US" sz="1050" b="1" i="1" dirty="0">
                <a:solidFill>
                  <a:srgbClr val="4A31B0"/>
                </a:solidFill>
                <a:latin typeface="Calibri" pitchFamily="34" charset="0"/>
                <a:ea typeface="Calibri" pitchFamily="34" charset="-122"/>
                <a:cs typeface="Calibri" pitchFamily="34" charset="-120"/>
              </a:rPr>
              <a:t>Job:  </a:t>
            </a:r>
            <a:pPr indent="0" marL="0">
              <a:lnSpc>
                <a:spcPts val="1300"/>
              </a:lnSpc>
              <a:buNone/>
            </a:pPr>
            <a:r>
              <a:rPr lang="en-US" sz="1050" i="1" dirty="0">
                <a:solidFill>
                  <a:srgbClr val="4A31B0"/>
                </a:solidFill>
                <a:latin typeface="Calibri" pitchFamily="34" charset="0"/>
                <a:ea typeface="Calibri" pitchFamily="34" charset="-122"/>
                <a:cs typeface="Calibri" pitchFamily="34" charset="-120"/>
              </a:rPr>
              <a:t>Intent. These viewers are already preparing — the shortest path to a trial.</a:t>
            </a:r>
            <a:endParaRPr lang="en-US" sz="1050" dirty="0"/>
          </a:p>
        </p:txBody>
      </p:sp>
      <p:sp>
        <p:nvSpPr>
          <p:cNvPr id="28" name="Shape 26"/>
          <p:cNvSpPr/>
          <p:nvPr/>
        </p:nvSpPr>
        <p:spPr>
          <a:xfrm>
            <a:off x="6035040" y="4023360"/>
            <a:ext cx="5074920" cy="1783080"/>
          </a:xfrm>
          <a:prstGeom prst="roundRect">
            <a:avLst>
              <a:gd name="adj" fmla="val 7179"/>
            </a:avLst>
          </a:prstGeom>
          <a:solidFill>
            <a:srgbClr val="EFEBF8"/>
          </a:solidFill>
          <a:ln/>
          <a:effectLst>
            <a:outerShdw sx="100000" sy="100000" kx="0" ky="0" algn="bl" rotWithShape="0" blurRad="127000" dist="25400" dir="5400000">
              <a:srgbClr val="241E33">
                <a:alpha val="10000"/>
              </a:srgbClr>
            </a:outerShdw>
          </a:effectLst>
        </p:spPr>
      </p:sp>
      <p:sp>
        <p:nvSpPr>
          <p:cNvPr id="29" name="Shape 27"/>
          <p:cNvSpPr/>
          <p:nvPr/>
        </p:nvSpPr>
        <p:spPr>
          <a:xfrm rot="5400000">
            <a:off x="6272784" y="4242816"/>
            <a:ext cx="384048" cy="384048"/>
          </a:xfrm>
          <a:prstGeom prst="hexagon">
            <a:avLst/>
          </a:prstGeom>
          <a:solidFill>
            <a:srgbClr val="E3B23C"/>
          </a:solidFill>
          <a:ln/>
        </p:spPr>
      </p:sp>
      <p:sp>
        <p:nvSpPr>
          <p:cNvPr id="30" name="Text 28"/>
          <p:cNvSpPr/>
          <p:nvPr/>
        </p:nvSpPr>
        <p:spPr>
          <a:xfrm>
            <a:off x="6803136" y="4206240"/>
            <a:ext cx="3017520" cy="365760"/>
          </a:xfrm>
          <a:prstGeom prst="rect">
            <a:avLst/>
          </a:prstGeom>
          <a:noFill/>
          <a:ln/>
        </p:spPr>
        <p:txBody>
          <a:bodyPr wrap="square" lIns="0" tIns="0" rIns="0" bIns="0" rtlCol="0" anchor="ctr"/>
          <a:lstStyle/>
          <a:p>
            <a:pPr indent="0" marL="0">
              <a:buNone/>
            </a:pPr>
            <a:r>
              <a:rPr lang="en-US" sz="1600" b="1" dirty="0">
                <a:solidFill>
                  <a:srgbClr val="241E33"/>
                </a:solidFill>
                <a:latin typeface="Cambria" pitchFamily="34" charset="0"/>
                <a:ea typeface="Cambria" pitchFamily="34" charset="-122"/>
                <a:cs typeface="Cambria" pitchFamily="34" charset="-120"/>
              </a:rPr>
              <a:t>Culture &amp; India</a:t>
            </a:r>
            <a:endParaRPr lang="en-US" sz="1600" dirty="0"/>
          </a:p>
        </p:txBody>
      </p:sp>
      <p:sp>
        <p:nvSpPr>
          <p:cNvPr id="31" name="Shape 29"/>
          <p:cNvSpPr/>
          <p:nvPr/>
        </p:nvSpPr>
        <p:spPr>
          <a:xfrm>
            <a:off x="9921240" y="4261104"/>
            <a:ext cx="960120" cy="256032"/>
          </a:xfrm>
          <a:prstGeom prst="roundRect">
            <a:avLst>
              <a:gd name="adj" fmla="val 50000"/>
            </a:avLst>
          </a:prstGeom>
          <a:solidFill>
            <a:srgbClr val="E3DCF2"/>
          </a:solidFill>
          <a:ln/>
        </p:spPr>
      </p:sp>
      <p:sp>
        <p:nvSpPr>
          <p:cNvPr id="32" name="Text 30"/>
          <p:cNvSpPr/>
          <p:nvPr/>
        </p:nvSpPr>
        <p:spPr>
          <a:xfrm>
            <a:off x="9921240" y="4261104"/>
            <a:ext cx="960120" cy="256032"/>
          </a:xfrm>
          <a:prstGeom prst="rect">
            <a:avLst/>
          </a:prstGeom>
          <a:noFill/>
          <a:ln/>
        </p:spPr>
        <p:txBody>
          <a:bodyPr wrap="square" lIns="0" tIns="0" rIns="0" bIns="0" rtlCol="0" anchor="ctr"/>
          <a:lstStyle/>
          <a:p>
            <a:pPr algn="ctr" indent="0" marL="0">
              <a:buNone/>
            </a:pPr>
            <a:r>
              <a:rPr lang="en-US" sz="800" b="1" dirty="0">
                <a:solidFill>
                  <a:srgbClr val="4A31B0"/>
                </a:solidFill>
                <a:latin typeface="Calibri" pitchFamily="34" charset="0"/>
                <a:ea typeface="Calibri" pitchFamily="34" charset="-122"/>
                <a:cs typeface="Calibri" pitchFamily="34" charset="-120"/>
              </a:rPr>
              <a:t>Mixed</a:t>
            </a:r>
            <a:endParaRPr lang="en-US" sz="800" dirty="0"/>
          </a:p>
        </p:txBody>
      </p:sp>
      <p:sp>
        <p:nvSpPr>
          <p:cNvPr id="33" name="Text 31"/>
          <p:cNvSpPr/>
          <p:nvPr/>
        </p:nvSpPr>
        <p:spPr>
          <a:xfrm>
            <a:off x="6272784" y="4645152"/>
            <a:ext cx="4617720" cy="713232"/>
          </a:xfrm>
          <a:prstGeom prst="rect">
            <a:avLst/>
          </a:prstGeom>
          <a:noFill/>
          <a:ln/>
        </p:spPr>
        <p:txBody>
          <a:bodyPr wrap="square" lIns="0" tIns="0" rIns="0" bIns="0" rtlCol="0" anchor="ctr"/>
          <a:lstStyle/>
          <a:p>
            <a:pPr indent="0" marL="0">
              <a:lnSpc>
                <a:spcPts val="1400"/>
              </a:lnSpc>
              <a:buNone/>
            </a:pPr>
            <a:r>
              <a:rPr lang="en-US" sz="1100" dirty="0">
                <a:solidFill>
                  <a:srgbClr val="4A4360"/>
                </a:solidFill>
                <a:latin typeface="Calibri" pitchFamily="34" charset="0"/>
                <a:ea typeface="Calibri" pitchFamily="34" charset="-122"/>
                <a:cs typeface="Calibri" pitchFamily="34" charset="-120"/>
              </a:rPr>
              <a:t>Festivals, mythology, the words English took from India, why the diaspora spells the way it does. Feeds Bizzing India directly.</a:t>
            </a:r>
            <a:endParaRPr lang="en-US" sz="1100" dirty="0"/>
          </a:p>
        </p:txBody>
      </p:sp>
      <p:sp>
        <p:nvSpPr>
          <p:cNvPr id="34" name="Text 32"/>
          <p:cNvSpPr/>
          <p:nvPr/>
        </p:nvSpPr>
        <p:spPr>
          <a:xfrm>
            <a:off x="6272784" y="5376672"/>
            <a:ext cx="4617720" cy="347472"/>
          </a:xfrm>
          <a:prstGeom prst="rect">
            <a:avLst/>
          </a:prstGeom>
          <a:noFill/>
          <a:ln/>
        </p:spPr>
        <p:txBody>
          <a:bodyPr wrap="square" lIns="0" tIns="0" rIns="0" bIns="0" rtlCol="0" anchor="ctr"/>
          <a:lstStyle/>
          <a:p>
            <a:pPr indent="0" marL="0">
              <a:lnSpc>
                <a:spcPts val="1300"/>
              </a:lnSpc>
              <a:buNone/>
            </a:pPr>
            <a:r>
              <a:rPr lang="en-US" sz="1050" b="1" i="1" dirty="0">
                <a:solidFill>
                  <a:srgbClr val="4A31B0"/>
                </a:solidFill>
                <a:latin typeface="Calibri" pitchFamily="34" charset="0"/>
                <a:ea typeface="Calibri" pitchFamily="34" charset="-122"/>
                <a:cs typeface="Calibri" pitchFamily="34" charset="-120"/>
              </a:rPr>
              <a:t>Job:  </a:t>
            </a:r>
            <a:pPr indent="0" marL="0">
              <a:lnSpc>
                <a:spcPts val="1300"/>
              </a:lnSpc>
              <a:buNone/>
            </a:pPr>
            <a:r>
              <a:rPr lang="en-US" sz="1050" i="1" dirty="0">
                <a:solidFill>
                  <a:srgbClr val="4A31B0"/>
                </a:solidFill>
                <a:latin typeface="Calibri" pitchFamily="34" charset="0"/>
                <a:ea typeface="Calibri" pitchFamily="34" charset="-122"/>
                <a:cs typeface="Calibri" pitchFamily="34" charset="-120"/>
              </a:rPr>
              <a:t>Connection. The pillar that makes this channel ours and nobody else’s.</a:t>
            </a:r>
            <a:endParaRPr lang="en-US" sz="1050" dirty="0"/>
          </a:p>
        </p:txBody>
      </p:sp>
      <p:sp>
        <p:nvSpPr>
          <p:cNvPr id="35" name="Text 33"/>
          <p:cNvSpPr/>
          <p:nvPr/>
        </p:nvSpPr>
        <p:spPr>
          <a:xfrm>
            <a:off x="640080" y="6053328"/>
            <a:ext cx="10607040" cy="365760"/>
          </a:xfrm>
          <a:prstGeom prst="rect">
            <a:avLst/>
          </a:prstGeom>
          <a:noFill/>
          <a:ln/>
        </p:spPr>
        <p:txBody>
          <a:bodyPr wrap="square" lIns="0" tIns="0" rIns="0" bIns="0" rtlCol="0" anchor="ctr"/>
          <a:lstStyle/>
          <a:p>
            <a:pPr indent="0" marL="0">
              <a:buNone/>
            </a:pPr>
            <a:r>
              <a:rPr lang="en-US" sz="1400" i="1" dirty="0">
                <a:solidFill>
                  <a:srgbClr val="6C4FE0"/>
                </a:solidFill>
                <a:latin typeface="Cambria" pitchFamily="34" charset="0"/>
                <a:ea typeface="Cambria" pitchFamily="34" charset="-122"/>
                <a:cs typeface="Cambria" pitchFamily="34" charset="-120"/>
              </a:rPr>
              <a:t>One documentary yields six to ten shorts, and a shorts run seeds a book chapter. Nothing is made once.</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CONTENT STRATEGY · 3 OF 3</a:t>
            </a:r>
            <a:endParaRPr lang="en-US" sz="1150" dirty="0"/>
          </a:p>
        </p:txBody>
      </p:sp>
      <p:sp>
        <p:nvSpPr>
          <p:cNvPr id="3" name="Text 1"/>
          <p:cNvSpPr/>
          <p:nvPr/>
        </p:nvSpPr>
        <p:spPr>
          <a:xfrm>
            <a:off x="640080" y="694944"/>
            <a:ext cx="106070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How it runs, and where it lands</a:t>
            </a:r>
            <a:endParaRPr lang="en-US" sz="2900" dirty="0"/>
          </a:p>
        </p:txBody>
      </p:sp>
      <p:sp>
        <p:nvSpPr>
          <p:cNvPr id="4" name="Text 2"/>
          <p:cNvSpPr/>
          <p:nvPr/>
        </p:nvSpPr>
        <p:spPr>
          <a:xfrm>
            <a:off x="640080" y="1463040"/>
            <a:ext cx="4572000" cy="329184"/>
          </a:xfrm>
          <a:prstGeom prst="rect">
            <a:avLst/>
          </a:prstGeom>
          <a:noFill/>
          <a:ln/>
        </p:spPr>
        <p:txBody>
          <a:bodyPr wrap="square" lIns="0" tIns="0" rIns="0" bIns="0" rtlCol="0" anchor="ctr"/>
          <a:lstStyle/>
          <a:p>
            <a:pPr indent="0" marL="0">
              <a:buNone/>
            </a:pPr>
            <a:r>
              <a:rPr lang="en-US" sz="1800" b="1" dirty="0">
                <a:solidFill>
                  <a:srgbClr val="241E33"/>
                </a:solidFill>
                <a:latin typeface="Cambria" pitchFamily="34" charset="0"/>
                <a:ea typeface="Cambria" pitchFamily="34" charset="-122"/>
                <a:cs typeface="Cambria" pitchFamily="34" charset="-120"/>
              </a:rPr>
              <a:t>Production</a:t>
            </a:r>
            <a:endParaRPr lang="en-US" sz="1800" dirty="0"/>
          </a:p>
        </p:txBody>
      </p:sp>
      <p:sp>
        <p:nvSpPr>
          <p:cNvPr id="5" name="Shape 3"/>
          <p:cNvSpPr/>
          <p:nvPr/>
        </p:nvSpPr>
        <p:spPr>
          <a:xfrm rot="5400000">
            <a:off x="640080" y="1901952"/>
            <a:ext cx="384048" cy="384048"/>
          </a:xfrm>
          <a:prstGeom prst="hexagon">
            <a:avLst/>
          </a:prstGeom>
          <a:solidFill>
            <a:srgbClr val="6C4FE0"/>
          </a:solidFill>
          <a:ln/>
        </p:spPr>
      </p:sp>
      <p:sp>
        <p:nvSpPr>
          <p:cNvPr id="6" name="Text 4"/>
          <p:cNvSpPr/>
          <p:nvPr/>
        </p:nvSpPr>
        <p:spPr>
          <a:xfrm>
            <a:off x="640080" y="190195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7" name="Text 5"/>
          <p:cNvSpPr/>
          <p:nvPr/>
        </p:nvSpPr>
        <p:spPr>
          <a:xfrm>
            <a:off x="1188720" y="1901952"/>
            <a:ext cx="4663440" cy="457200"/>
          </a:xfrm>
          <a:prstGeom prst="rect">
            <a:avLst/>
          </a:prstGeom>
          <a:noFill/>
          <a:ln/>
        </p:spPr>
        <p:txBody>
          <a:bodyPr wrap="square" lIns="0" tIns="0" rIns="0" bIns="0" rtlCol="0" anchor="ctr"/>
          <a:lstStyle/>
          <a:p>
            <a:pPr indent="0" marL="0">
              <a:lnSpc>
                <a:spcPts val="1400"/>
              </a:lnSpc>
              <a:buNone/>
            </a:pPr>
            <a:r>
              <a:rPr lang="en-US" sz="1150" dirty="0">
                <a:solidFill>
                  <a:srgbClr val="4A4360"/>
                </a:solidFill>
                <a:latin typeface="Calibri" pitchFamily="34" charset="0"/>
                <a:ea typeface="Calibri" pitchFamily="34" charset="-122"/>
                <a:cs typeface="Calibri" pitchFamily="34" charset="-120"/>
              </a:rPr>
              <a:t>Script written to one message, checked against sources</a:t>
            </a:r>
            <a:endParaRPr lang="en-US" sz="1150" dirty="0"/>
          </a:p>
        </p:txBody>
      </p:sp>
      <p:sp>
        <p:nvSpPr>
          <p:cNvPr id="8" name="Shape 6"/>
          <p:cNvSpPr/>
          <p:nvPr/>
        </p:nvSpPr>
        <p:spPr>
          <a:xfrm rot="5400000">
            <a:off x="640080" y="2468880"/>
            <a:ext cx="384048" cy="384048"/>
          </a:xfrm>
          <a:prstGeom prst="hexagon">
            <a:avLst/>
          </a:prstGeom>
          <a:solidFill>
            <a:srgbClr val="6C4FE0"/>
          </a:solidFill>
          <a:ln/>
        </p:spPr>
      </p:sp>
      <p:sp>
        <p:nvSpPr>
          <p:cNvPr id="9" name="Text 7"/>
          <p:cNvSpPr/>
          <p:nvPr/>
        </p:nvSpPr>
        <p:spPr>
          <a:xfrm>
            <a:off x="640080" y="246888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0" name="Text 8"/>
          <p:cNvSpPr/>
          <p:nvPr/>
        </p:nvSpPr>
        <p:spPr>
          <a:xfrm>
            <a:off x="1188720" y="2468880"/>
            <a:ext cx="4663440" cy="457200"/>
          </a:xfrm>
          <a:prstGeom prst="rect">
            <a:avLst/>
          </a:prstGeom>
          <a:noFill/>
          <a:ln/>
        </p:spPr>
        <p:txBody>
          <a:bodyPr wrap="square" lIns="0" tIns="0" rIns="0" bIns="0" rtlCol="0" anchor="ctr"/>
          <a:lstStyle/>
          <a:p>
            <a:pPr indent="0" marL="0">
              <a:lnSpc>
                <a:spcPts val="1400"/>
              </a:lnSpc>
              <a:buNone/>
            </a:pPr>
            <a:r>
              <a:rPr lang="en-US" sz="1150" dirty="0">
                <a:solidFill>
                  <a:srgbClr val="4A4360"/>
                </a:solidFill>
                <a:latin typeface="Calibri" pitchFamily="34" charset="0"/>
                <a:ea typeface="Calibri" pitchFamily="34" charset="-122"/>
                <a:cs typeface="Calibri" pitchFamily="34" charset="-120"/>
              </a:rPr>
              <a:t>Narration generated and blind-verified for accent and words</a:t>
            </a:r>
            <a:endParaRPr lang="en-US" sz="1150" dirty="0"/>
          </a:p>
        </p:txBody>
      </p:sp>
      <p:sp>
        <p:nvSpPr>
          <p:cNvPr id="11" name="Shape 9"/>
          <p:cNvSpPr/>
          <p:nvPr/>
        </p:nvSpPr>
        <p:spPr>
          <a:xfrm rot="5400000">
            <a:off x="640080" y="3035808"/>
            <a:ext cx="384048" cy="384048"/>
          </a:xfrm>
          <a:prstGeom prst="hexagon">
            <a:avLst/>
          </a:prstGeom>
          <a:solidFill>
            <a:srgbClr val="6C4FE0"/>
          </a:solidFill>
          <a:ln/>
        </p:spPr>
      </p:sp>
      <p:sp>
        <p:nvSpPr>
          <p:cNvPr id="12" name="Text 10"/>
          <p:cNvSpPr/>
          <p:nvPr/>
        </p:nvSpPr>
        <p:spPr>
          <a:xfrm>
            <a:off x="640080" y="303580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3" name="Text 11"/>
          <p:cNvSpPr/>
          <p:nvPr/>
        </p:nvSpPr>
        <p:spPr>
          <a:xfrm>
            <a:off x="1188720" y="3035808"/>
            <a:ext cx="4663440" cy="457200"/>
          </a:xfrm>
          <a:prstGeom prst="rect">
            <a:avLst/>
          </a:prstGeom>
          <a:noFill/>
          <a:ln/>
        </p:spPr>
        <p:txBody>
          <a:bodyPr wrap="square" lIns="0" tIns="0" rIns="0" bIns="0" rtlCol="0" anchor="ctr"/>
          <a:lstStyle/>
          <a:p>
            <a:pPr indent="0" marL="0">
              <a:lnSpc>
                <a:spcPts val="1400"/>
              </a:lnSpc>
              <a:buNone/>
            </a:pPr>
            <a:r>
              <a:rPr lang="en-US" sz="1150" dirty="0">
                <a:solidFill>
                  <a:srgbClr val="4A4360"/>
                </a:solidFill>
                <a:latin typeface="Calibri" pitchFamily="34" charset="0"/>
                <a:ea typeface="Calibri" pitchFamily="34" charset="-122"/>
                <a:cs typeface="Calibri" pitchFamily="34" charset="-120"/>
              </a:rPr>
              <a:t>Plates generated; archive photographs used where a real person appears</a:t>
            </a:r>
            <a:endParaRPr lang="en-US" sz="1150" dirty="0"/>
          </a:p>
        </p:txBody>
      </p:sp>
      <p:sp>
        <p:nvSpPr>
          <p:cNvPr id="14" name="Shape 12"/>
          <p:cNvSpPr/>
          <p:nvPr/>
        </p:nvSpPr>
        <p:spPr>
          <a:xfrm rot="5400000">
            <a:off x="640080" y="3602736"/>
            <a:ext cx="384048" cy="384048"/>
          </a:xfrm>
          <a:prstGeom prst="hexagon">
            <a:avLst/>
          </a:prstGeom>
          <a:solidFill>
            <a:srgbClr val="6C4FE0"/>
          </a:solidFill>
          <a:ln/>
        </p:spPr>
      </p:sp>
      <p:sp>
        <p:nvSpPr>
          <p:cNvPr id="15" name="Text 13"/>
          <p:cNvSpPr/>
          <p:nvPr/>
        </p:nvSpPr>
        <p:spPr>
          <a:xfrm>
            <a:off x="640080" y="3602736"/>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4</a:t>
            </a:r>
            <a:endParaRPr lang="en-US" sz="1300" dirty="0"/>
          </a:p>
        </p:txBody>
      </p:sp>
      <p:sp>
        <p:nvSpPr>
          <p:cNvPr id="16" name="Text 14"/>
          <p:cNvSpPr/>
          <p:nvPr/>
        </p:nvSpPr>
        <p:spPr>
          <a:xfrm>
            <a:off x="1188720" y="3602736"/>
            <a:ext cx="4663440" cy="457200"/>
          </a:xfrm>
          <a:prstGeom prst="rect">
            <a:avLst/>
          </a:prstGeom>
          <a:noFill/>
          <a:ln/>
        </p:spPr>
        <p:txBody>
          <a:bodyPr wrap="square" lIns="0" tIns="0" rIns="0" bIns="0" rtlCol="0" anchor="ctr"/>
          <a:lstStyle/>
          <a:p>
            <a:pPr indent="0" marL="0">
              <a:lnSpc>
                <a:spcPts val="1400"/>
              </a:lnSpc>
              <a:buNone/>
            </a:pPr>
            <a:r>
              <a:rPr lang="en-US" sz="1150" dirty="0">
                <a:solidFill>
                  <a:srgbClr val="4A4360"/>
                </a:solidFill>
                <a:latin typeface="Calibri" pitchFamily="34" charset="0"/>
                <a:ea typeface="Calibri" pitchFamily="34" charset="-122"/>
                <a:cs typeface="Calibri" pitchFamily="34" charset="-120"/>
              </a:rPr>
              <a:t>Assembled by the render pipeline, timed to the narration</a:t>
            </a:r>
            <a:endParaRPr lang="en-US" sz="1150" dirty="0"/>
          </a:p>
        </p:txBody>
      </p:sp>
      <p:sp>
        <p:nvSpPr>
          <p:cNvPr id="17" name="Shape 15"/>
          <p:cNvSpPr/>
          <p:nvPr/>
        </p:nvSpPr>
        <p:spPr>
          <a:xfrm>
            <a:off x="640080" y="4261104"/>
            <a:ext cx="5212080" cy="841248"/>
          </a:xfrm>
          <a:prstGeom prst="roundRect">
            <a:avLst>
              <a:gd name="adj" fmla="val 15217"/>
            </a:avLst>
          </a:prstGeom>
          <a:solidFill>
            <a:srgbClr val="EFEBF8"/>
          </a:solidFill>
          <a:ln/>
          <a:effectLst>
            <a:outerShdw sx="100000" sy="100000" kx="0" ky="0" algn="bl" rotWithShape="0" blurRad="127000" dist="25400" dir="5400000">
              <a:srgbClr val="241E33">
                <a:alpha val="10000"/>
              </a:srgbClr>
            </a:outerShdw>
          </a:effectLst>
        </p:spPr>
      </p:sp>
      <p:sp>
        <p:nvSpPr>
          <p:cNvPr id="18" name="Text 16"/>
          <p:cNvSpPr/>
          <p:nvPr/>
        </p:nvSpPr>
        <p:spPr>
          <a:xfrm>
            <a:off x="896112" y="4261104"/>
            <a:ext cx="4700016" cy="841248"/>
          </a:xfrm>
          <a:prstGeom prst="rect">
            <a:avLst/>
          </a:prstGeom>
          <a:noFill/>
          <a:ln/>
        </p:spPr>
        <p:txBody>
          <a:bodyPr wrap="square" lIns="0" tIns="0" rIns="0" bIns="0" rtlCol="0" anchor="ctr"/>
          <a:lstStyle/>
          <a:p>
            <a:pPr indent="0" marL="0">
              <a:lnSpc>
                <a:spcPts val="1500"/>
              </a:lnSpc>
              <a:buNone/>
            </a:pPr>
            <a:r>
              <a:rPr lang="en-US" sz="1150" i="1" dirty="0">
                <a:solidFill>
                  <a:srgbClr val="4A31B0"/>
                </a:solidFill>
                <a:latin typeface="Calibri" pitchFamily="34" charset="0"/>
                <a:ea typeface="Calibri" pitchFamily="34" charset="-122"/>
                <a:cs typeface="Calibri" pitchFamily="34" charset="-120"/>
              </a:rPr>
              <a:t>Two episodes are already built this way, founder-run, with no editor, agency or studio.</a:t>
            </a:r>
            <a:endParaRPr lang="en-US" sz="1150" dirty="0"/>
          </a:p>
        </p:txBody>
      </p:sp>
      <p:sp>
        <p:nvSpPr>
          <p:cNvPr id="19" name="Text 17"/>
          <p:cNvSpPr/>
          <p:nvPr/>
        </p:nvSpPr>
        <p:spPr>
          <a:xfrm>
            <a:off x="6309360" y="1463040"/>
            <a:ext cx="4937760" cy="329184"/>
          </a:xfrm>
          <a:prstGeom prst="rect">
            <a:avLst/>
          </a:prstGeom>
          <a:noFill/>
          <a:ln/>
        </p:spPr>
        <p:txBody>
          <a:bodyPr wrap="square" lIns="0" tIns="0" rIns="0" bIns="0" rtlCol="0" anchor="ctr"/>
          <a:lstStyle/>
          <a:p>
            <a:pPr indent="0" marL="0">
              <a:buNone/>
            </a:pPr>
            <a:r>
              <a:rPr lang="en-US" sz="1800" b="1" dirty="0">
                <a:solidFill>
                  <a:srgbClr val="241E33"/>
                </a:solidFill>
                <a:latin typeface="Cambria" pitchFamily="34" charset="0"/>
                <a:ea typeface="Cambria" pitchFamily="34" charset="-122"/>
                <a:cs typeface="Cambria" pitchFamily="34" charset="-120"/>
              </a:rPr>
              <a:t>The path from a video to a paying family</a:t>
            </a:r>
            <a:endParaRPr lang="en-US" sz="1800" dirty="0"/>
          </a:p>
        </p:txBody>
      </p:sp>
      <p:sp>
        <p:nvSpPr>
          <p:cNvPr id="20" name="Shape 18"/>
          <p:cNvSpPr/>
          <p:nvPr/>
        </p:nvSpPr>
        <p:spPr>
          <a:xfrm rot="5400000">
            <a:off x="6309360" y="1956816"/>
            <a:ext cx="310896" cy="310896"/>
          </a:xfrm>
          <a:prstGeom prst="hexagon">
            <a:avLst/>
          </a:prstGeom>
          <a:solidFill>
            <a:srgbClr val="6C4FE0"/>
          </a:solidFill>
          <a:ln/>
        </p:spPr>
      </p:sp>
      <p:sp>
        <p:nvSpPr>
          <p:cNvPr id="21" name="Shape 19"/>
          <p:cNvSpPr/>
          <p:nvPr/>
        </p:nvSpPr>
        <p:spPr>
          <a:xfrm>
            <a:off x="6464808" y="2286000"/>
            <a:ext cx="0" cy="274320"/>
          </a:xfrm>
          <a:prstGeom prst="line">
            <a:avLst/>
          </a:prstGeom>
          <a:noFill/>
          <a:ln w="19050">
            <a:solidFill>
              <a:srgbClr val="E3DCF2"/>
            </a:solidFill>
            <a:prstDash val="solid"/>
          </a:ln>
        </p:spPr>
      </p:sp>
      <p:sp>
        <p:nvSpPr>
          <p:cNvPr id="22" name="Text 20"/>
          <p:cNvSpPr/>
          <p:nvPr/>
        </p:nvSpPr>
        <p:spPr>
          <a:xfrm>
            <a:off x="6803136" y="1901952"/>
            <a:ext cx="1371600" cy="402336"/>
          </a:xfrm>
          <a:prstGeom prst="rect">
            <a:avLst/>
          </a:prstGeom>
          <a:noFill/>
          <a:ln/>
        </p:spPr>
        <p:txBody>
          <a:bodyPr wrap="square" lIns="0" tIns="0" rIns="0" bIns="0" rtlCol="0" anchor="ctr"/>
          <a:lstStyle/>
          <a:p>
            <a:pPr indent="0" marL="0">
              <a:buNone/>
            </a:pPr>
            <a:r>
              <a:rPr lang="en-US" sz="1200" b="1" dirty="0">
                <a:solidFill>
                  <a:srgbClr val="241E33"/>
                </a:solidFill>
                <a:latin typeface="Calibri" pitchFamily="34" charset="0"/>
                <a:ea typeface="Calibri" pitchFamily="34" charset="-122"/>
                <a:cs typeface="Calibri" pitchFamily="34" charset="-120"/>
              </a:rPr>
              <a:t>Watches</a:t>
            </a:r>
            <a:endParaRPr lang="en-US" sz="1200" dirty="0"/>
          </a:p>
        </p:txBody>
      </p:sp>
      <p:sp>
        <p:nvSpPr>
          <p:cNvPr id="23" name="Text 21"/>
          <p:cNvSpPr/>
          <p:nvPr/>
        </p:nvSpPr>
        <p:spPr>
          <a:xfrm>
            <a:off x="8183880" y="1901952"/>
            <a:ext cx="3063240" cy="457200"/>
          </a:xfrm>
          <a:prstGeom prst="rect">
            <a:avLst/>
          </a:prstGeom>
          <a:noFill/>
          <a:ln/>
        </p:spPr>
        <p:txBody>
          <a:bodyPr wrap="square" lIns="0" tIns="0" rIns="0" bIns="0" rtlCol="0" anchor="ctr"/>
          <a:lstStyle/>
          <a:p>
            <a:pPr indent="0" marL="0">
              <a:lnSpc>
                <a:spcPts val="1300"/>
              </a:lnSpc>
              <a:buNone/>
            </a:pPr>
            <a:r>
              <a:rPr lang="en-US" sz="1050" dirty="0">
                <a:solidFill>
                  <a:srgbClr val="4A4360"/>
                </a:solidFill>
                <a:latin typeface="Calibri" pitchFamily="34" charset="0"/>
                <a:ea typeface="Calibri" pitchFamily="34" charset="-122"/>
                <a:cs typeface="Calibri" pitchFamily="34" charset="-120"/>
              </a:rPr>
              <a:t>A story worth ten minutes, or a short worth sixty seconds</a:t>
            </a:r>
            <a:endParaRPr lang="en-US" sz="1050" dirty="0"/>
          </a:p>
        </p:txBody>
      </p:sp>
      <p:sp>
        <p:nvSpPr>
          <p:cNvPr id="24" name="Shape 22"/>
          <p:cNvSpPr/>
          <p:nvPr/>
        </p:nvSpPr>
        <p:spPr>
          <a:xfrm rot="5400000">
            <a:off x="6309360" y="2615184"/>
            <a:ext cx="310896" cy="310896"/>
          </a:xfrm>
          <a:prstGeom prst="hexagon">
            <a:avLst/>
          </a:prstGeom>
          <a:solidFill>
            <a:srgbClr val="6C4FE0"/>
          </a:solidFill>
          <a:ln/>
        </p:spPr>
      </p:sp>
      <p:sp>
        <p:nvSpPr>
          <p:cNvPr id="25" name="Shape 23"/>
          <p:cNvSpPr/>
          <p:nvPr/>
        </p:nvSpPr>
        <p:spPr>
          <a:xfrm>
            <a:off x="6464808" y="2944368"/>
            <a:ext cx="0" cy="274320"/>
          </a:xfrm>
          <a:prstGeom prst="line">
            <a:avLst/>
          </a:prstGeom>
          <a:noFill/>
          <a:ln w="19050">
            <a:solidFill>
              <a:srgbClr val="E3DCF2"/>
            </a:solidFill>
            <a:prstDash val="solid"/>
          </a:ln>
        </p:spPr>
      </p:sp>
      <p:sp>
        <p:nvSpPr>
          <p:cNvPr id="26" name="Text 24"/>
          <p:cNvSpPr/>
          <p:nvPr/>
        </p:nvSpPr>
        <p:spPr>
          <a:xfrm>
            <a:off x="6803136" y="2560320"/>
            <a:ext cx="1371600" cy="402336"/>
          </a:xfrm>
          <a:prstGeom prst="rect">
            <a:avLst/>
          </a:prstGeom>
          <a:noFill/>
          <a:ln/>
        </p:spPr>
        <p:txBody>
          <a:bodyPr wrap="square" lIns="0" tIns="0" rIns="0" bIns="0" rtlCol="0" anchor="ctr"/>
          <a:lstStyle/>
          <a:p>
            <a:pPr indent="0" marL="0">
              <a:buNone/>
            </a:pPr>
            <a:r>
              <a:rPr lang="en-US" sz="1200" b="1" dirty="0">
                <a:solidFill>
                  <a:srgbClr val="241E33"/>
                </a:solidFill>
                <a:latin typeface="Calibri" pitchFamily="34" charset="0"/>
                <a:ea typeface="Calibri" pitchFamily="34" charset="-122"/>
                <a:cs typeface="Calibri" pitchFamily="34" charset="-120"/>
              </a:rPr>
              <a:t>Trusts</a:t>
            </a:r>
            <a:endParaRPr lang="en-US" sz="1200" dirty="0"/>
          </a:p>
        </p:txBody>
      </p:sp>
      <p:sp>
        <p:nvSpPr>
          <p:cNvPr id="27" name="Text 25"/>
          <p:cNvSpPr/>
          <p:nvPr/>
        </p:nvSpPr>
        <p:spPr>
          <a:xfrm>
            <a:off x="8183880" y="2560320"/>
            <a:ext cx="3063240" cy="457200"/>
          </a:xfrm>
          <a:prstGeom prst="rect">
            <a:avLst/>
          </a:prstGeom>
          <a:noFill/>
          <a:ln/>
        </p:spPr>
        <p:txBody>
          <a:bodyPr wrap="square" lIns="0" tIns="0" rIns="0" bIns="0" rtlCol="0" anchor="ctr"/>
          <a:lstStyle/>
          <a:p>
            <a:pPr indent="0" marL="0">
              <a:lnSpc>
                <a:spcPts val="1300"/>
              </a:lnSpc>
              <a:buNone/>
            </a:pPr>
            <a:r>
              <a:rPr lang="en-US" sz="1050" dirty="0">
                <a:solidFill>
                  <a:srgbClr val="4A4360"/>
                </a:solidFill>
                <a:latin typeface="Calibri" pitchFamily="34" charset="0"/>
                <a:ea typeface="Calibri" pitchFamily="34" charset="-122"/>
                <a:cs typeface="Calibri" pitchFamily="34" charset="-120"/>
              </a:rPr>
              <a:t>Sources on screen; nothing oversold; no pitch inside the film</a:t>
            </a:r>
            <a:endParaRPr lang="en-US" sz="1050" dirty="0"/>
          </a:p>
        </p:txBody>
      </p:sp>
      <p:sp>
        <p:nvSpPr>
          <p:cNvPr id="28" name="Shape 26"/>
          <p:cNvSpPr/>
          <p:nvPr/>
        </p:nvSpPr>
        <p:spPr>
          <a:xfrm rot="5400000">
            <a:off x="6309360" y="3273552"/>
            <a:ext cx="310896" cy="310896"/>
          </a:xfrm>
          <a:prstGeom prst="hexagon">
            <a:avLst/>
          </a:prstGeom>
          <a:solidFill>
            <a:srgbClr val="F0B429"/>
          </a:solidFill>
          <a:ln/>
        </p:spPr>
      </p:sp>
      <p:sp>
        <p:nvSpPr>
          <p:cNvPr id="29" name="Shape 27"/>
          <p:cNvSpPr/>
          <p:nvPr/>
        </p:nvSpPr>
        <p:spPr>
          <a:xfrm>
            <a:off x="6464808" y="3602736"/>
            <a:ext cx="0" cy="274320"/>
          </a:xfrm>
          <a:prstGeom prst="line">
            <a:avLst/>
          </a:prstGeom>
          <a:noFill/>
          <a:ln w="19050">
            <a:solidFill>
              <a:srgbClr val="E3DCF2"/>
            </a:solidFill>
            <a:prstDash val="solid"/>
          </a:ln>
        </p:spPr>
      </p:sp>
      <p:sp>
        <p:nvSpPr>
          <p:cNvPr id="30" name="Text 28"/>
          <p:cNvSpPr/>
          <p:nvPr/>
        </p:nvSpPr>
        <p:spPr>
          <a:xfrm>
            <a:off x="6803136" y="3218688"/>
            <a:ext cx="1371600" cy="402336"/>
          </a:xfrm>
          <a:prstGeom prst="rect">
            <a:avLst/>
          </a:prstGeom>
          <a:noFill/>
          <a:ln/>
        </p:spPr>
        <p:txBody>
          <a:bodyPr wrap="square" lIns="0" tIns="0" rIns="0" bIns="0" rtlCol="0" anchor="ctr"/>
          <a:lstStyle/>
          <a:p>
            <a:pPr indent="0" marL="0">
              <a:buNone/>
            </a:pPr>
            <a:r>
              <a:rPr lang="en-US" sz="1200" b="1" dirty="0">
                <a:solidFill>
                  <a:srgbClr val="241E33"/>
                </a:solidFill>
                <a:latin typeface="Calibri" pitchFamily="34" charset="0"/>
                <a:ea typeface="Calibri" pitchFamily="34" charset="-122"/>
                <a:cs typeface="Calibri" pitchFamily="34" charset="-120"/>
              </a:rPr>
              <a:t>Opens the app</a:t>
            </a:r>
            <a:endParaRPr lang="en-US" sz="1200" dirty="0"/>
          </a:p>
        </p:txBody>
      </p:sp>
      <p:sp>
        <p:nvSpPr>
          <p:cNvPr id="31" name="Text 29"/>
          <p:cNvSpPr/>
          <p:nvPr/>
        </p:nvSpPr>
        <p:spPr>
          <a:xfrm>
            <a:off x="8183880" y="3218688"/>
            <a:ext cx="3063240" cy="457200"/>
          </a:xfrm>
          <a:prstGeom prst="rect">
            <a:avLst/>
          </a:prstGeom>
          <a:noFill/>
          <a:ln/>
        </p:spPr>
        <p:txBody>
          <a:bodyPr wrap="square" lIns="0" tIns="0" rIns="0" bIns="0" rtlCol="0" anchor="ctr"/>
          <a:lstStyle/>
          <a:p>
            <a:pPr indent="0" marL="0">
              <a:lnSpc>
                <a:spcPts val="1300"/>
              </a:lnSpc>
              <a:buNone/>
            </a:pPr>
            <a:r>
              <a:rPr lang="en-US" sz="1050" dirty="0">
                <a:solidFill>
                  <a:srgbClr val="4A4360"/>
                </a:solidFill>
                <a:latin typeface="Calibri" pitchFamily="34" charset="0"/>
                <a:ea typeface="Calibri" pitchFamily="34" charset="-122"/>
                <a:cs typeface="Calibri" pitchFamily="34" charset="-120"/>
              </a:rPr>
              <a:t>One link in the description, free and instant — no signup wall</a:t>
            </a:r>
            <a:endParaRPr lang="en-US" sz="1050" dirty="0"/>
          </a:p>
        </p:txBody>
      </p:sp>
      <p:sp>
        <p:nvSpPr>
          <p:cNvPr id="32" name="Shape 30"/>
          <p:cNvSpPr/>
          <p:nvPr/>
        </p:nvSpPr>
        <p:spPr>
          <a:xfrm rot="5400000">
            <a:off x="6309360" y="3931920"/>
            <a:ext cx="310896" cy="310896"/>
          </a:xfrm>
          <a:prstGeom prst="hexagon">
            <a:avLst/>
          </a:prstGeom>
          <a:solidFill>
            <a:srgbClr val="F0B429"/>
          </a:solidFill>
          <a:ln/>
        </p:spPr>
      </p:sp>
      <p:sp>
        <p:nvSpPr>
          <p:cNvPr id="33" name="Shape 31"/>
          <p:cNvSpPr/>
          <p:nvPr/>
        </p:nvSpPr>
        <p:spPr>
          <a:xfrm>
            <a:off x="6464808" y="4261104"/>
            <a:ext cx="0" cy="274320"/>
          </a:xfrm>
          <a:prstGeom prst="line">
            <a:avLst/>
          </a:prstGeom>
          <a:noFill/>
          <a:ln w="19050">
            <a:solidFill>
              <a:srgbClr val="E3DCF2"/>
            </a:solidFill>
            <a:prstDash val="solid"/>
          </a:ln>
        </p:spPr>
      </p:sp>
      <p:sp>
        <p:nvSpPr>
          <p:cNvPr id="34" name="Text 32"/>
          <p:cNvSpPr/>
          <p:nvPr/>
        </p:nvSpPr>
        <p:spPr>
          <a:xfrm>
            <a:off x="6803136" y="3877056"/>
            <a:ext cx="1371600" cy="402336"/>
          </a:xfrm>
          <a:prstGeom prst="rect">
            <a:avLst/>
          </a:prstGeom>
          <a:noFill/>
          <a:ln/>
        </p:spPr>
        <p:txBody>
          <a:bodyPr wrap="square" lIns="0" tIns="0" rIns="0" bIns="0" rtlCol="0" anchor="ctr"/>
          <a:lstStyle/>
          <a:p>
            <a:pPr indent="0" marL="0">
              <a:buNone/>
            </a:pPr>
            <a:r>
              <a:rPr lang="en-US" sz="1200" b="1" dirty="0">
                <a:solidFill>
                  <a:srgbClr val="241E33"/>
                </a:solidFill>
                <a:latin typeface="Calibri" pitchFamily="34" charset="0"/>
                <a:ea typeface="Calibri" pitchFamily="34" charset="-122"/>
                <a:cs typeface="Calibri" pitchFamily="34" charset="-120"/>
              </a:rPr>
              <a:t>Makes an account</a:t>
            </a:r>
            <a:endParaRPr lang="en-US" sz="1200" dirty="0"/>
          </a:p>
        </p:txBody>
      </p:sp>
      <p:sp>
        <p:nvSpPr>
          <p:cNvPr id="35" name="Text 33"/>
          <p:cNvSpPr/>
          <p:nvPr/>
        </p:nvSpPr>
        <p:spPr>
          <a:xfrm>
            <a:off x="8183880" y="3877056"/>
            <a:ext cx="3063240" cy="457200"/>
          </a:xfrm>
          <a:prstGeom prst="rect">
            <a:avLst/>
          </a:prstGeom>
          <a:noFill/>
          <a:ln/>
        </p:spPr>
        <p:txBody>
          <a:bodyPr wrap="square" lIns="0" tIns="0" rIns="0" bIns="0" rtlCol="0" anchor="ctr"/>
          <a:lstStyle/>
          <a:p>
            <a:pPr indent="0" marL="0">
              <a:lnSpc>
                <a:spcPts val="1300"/>
              </a:lnSpc>
              <a:buNone/>
            </a:pPr>
            <a:r>
              <a:rPr lang="en-US" sz="1050" dirty="0">
                <a:solidFill>
                  <a:srgbClr val="4A4360"/>
                </a:solidFill>
                <a:latin typeface="Calibri" pitchFamily="34" charset="0"/>
                <a:ea typeface="Calibri" pitchFamily="34" charset="-122"/>
                <a:cs typeface="Calibri" pitchFamily="34" charset="-120"/>
              </a:rPr>
              <a:t>Progress worth keeping is the reason, not a gate</a:t>
            </a:r>
            <a:endParaRPr lang="en-US" sz="1050" dirty="0"/>
          </a:p>
        </p:txBody>
      </p:sp>
      <p:sp>
        <p:nvSpPr>
          <p:cNvPr id="36" name="Shape 34"/>
          <p:cNvSpPr/>
          <p:nvPr/>
        </p:nvSpPr>
        <p:spPr>
          <a:xfrm rot="5400000">
            <a:off x="6309360" y="4590288"/>
            <a:ext cx="310896" cy="310896"/>
          </a:xfrm>
          <a:prstGeom prst="hexagon">
            <a:avLst/>
          </a:prstGeom>
          <a:solidFill>
            <a:srgbClr val="178A4C"/>
          </a:solidFill>
          <a:ln/>
        </p:spPr>
      </p:sp>
      <p:sp>
        <p:nvSpPr>
          <p:cNvPr id="37" name="Text 35"/>
          <p:cNvSpPr/>
          <p:nvPr/>
        </p:nvSpPr>
        <p:spPr>
          <a:xfrm>
            <a:off x="6803136" y="4535424"/>
            <a:ext cx="1371600" cy="402336"/>
          </a:xfrm>
          <a:prstGeom prst="rect">
            <a:avLst/>
          </a:prstGeom>
          <a:noFill/>
          <a:ln/>
        </p:spPr>
        <p:txBody>
          <a:bodyPr wrap="square" lIns="0" tIns="0" rIns="0" bIns="0" rtlCol="0" anchor="ctr"/>
          <a:lstStyle/>
          <a:p>
            <a:pPr indent="0" marL="0">
              <a:buNone/>
            </a:pPr>
            <a:r>
              <a:rPr lang="en-US" sz="1200" b="1" dirty="0">
                <a:solidFill>
                  <a:srgbClr val="241E33"/>
                </a:solidFill>
                <a:latin typeface="Calibri" pitchFamily="34" charset="0"/>
                <a:ea typeface="Calibri" pitchFamily="34" charset="-122"/>
                <a:cs typeface="Calibri" pitchFamily="34" charset="-120"/>
              </a:rPr>
              <a:t>Buys a pack</a:t>
            </a:r>
            <a:endParaRPr lang="en-US" sz="1200" dirty="0"/>
          </a:p>
        </p:txBody>
      </p:sp>
      <p:sp>
        <p:nvSpPr>
          <p:cNvPr id="38" name="Text 36"/>
          <p:cNvSpPr/>
          <p:nvPr/>
        </p:nvSpPr>
        <p:spPr>
          <a:xfrm>
            <a:off x="8183880" y="4535424"/>
            <a:ext cx="3063240" cy="457200"/>
          </a:xfrm>
          <a:prstGeom prst="rect">
            <a:avLst/>
          </a:prstGeom>
          <a:noFill/>
          <a:ln/>
        </p:spPr>
        <p:txBody>
          <a:bodyPr wrap="square" lIns="0" tIns="0" rIns="0" bIns="0" rtlCol="0" anchor="ctr"/>
          <a:lstStyle/>
          <a:p>
            <a:pPr indent="0" marL="0">
              <a:lnSpc>
                <a:spcPts val="1300"/>
              </a:lnSpc>
              <a:buNone/>
            </a:pPr>
            <a:r>
              <a:rPr lang="en-US" sz="1050" dirty="0">
                <a:solidFill>
                  <a:srgbClr val="4A4360"/>
                </a:solidFill>
                <a:latin typeface="Calibri" pitchFamily="34" charset="0"/>
                <a:ea typeface="Calibri" pitchFamily="34" charset="-122"/>
                <a:cs typeface="Calibri" pitchFamily="34" charset="-120"/>
              </a:rPr>
              <a:t>Bhasha, Eleven, or Advanced — bought because the free part worked</a:t>
            </a:r>
            <a:endParaRPr lang="en-US" sz="1050" dirty="0"/>
          </a:p>
        </p:txBody>
      </p:sp>
      <p:sp>
        <p:nvSpPr>
          <p:cNvPr id="39" name="Shape 37"/>
          <p:cNvSpPr/>
          <p:nvPr/>
        </p:nvSpPr>
        <p:spPr>
          <a:xfrm>
            <a:off x="640080" y="5376672"/>
            <a:ext cx="10607040" cy="914400"/>
          </a:xfrm>
          <a:prstGeom prst="roundRect">
            <a:avLst>
              <a:gd name="adj" fmla="val 12000"/>
            </a:avLst>
          </a:prstGeom>
          <a:solidFill>
            <a:srgbClr val="FBF3E0"/>
          </a:solidFill>
          <a:ln/>
        </p:spPr>
      </p:sp>
      <p:sp>
        <p:nvSpPr>
          <p:cNvPr id="40" name="Text 38"/>
          <p:cNvSpPr/>
          <p:nvPr/>
        </p:nvSpPr>
        <p:spPr>
          <a:xfrm>
            <a:off x="914400" y="5376672"/>
            <a:ext cx="10058400" cy="914400"/>
          </a:xfrm>
          <a:prstGeom prst="rect">
            <a:avLst/>
          </a:prstGeom>
          <a:noFill/>
          <a:ln/>
        </p:spPr>
        <p:txBody>
          <a:bodyPr wrap="square" lIns="0" tIns="0" rIns="0" bIns="0" rtlCol="0" anchor="ctr"/>
          <a:lstStyle/>
          <a:p>
            <a:pPr indent="0" marL="0">
              <a:lnSpc>
                <a:spcPts val="1500"/>
              </a:lnSpc>
              <a:buNone/>
            </a:pPr>
            <a:r>
              <a:rPr lang="en-US" sz="1150" b="1" dirty="0">
                <a:solidFill>
                  <a:srgbClr val="8A5B00"/>
                </a:solidFill>
                <a:latin typeface="Calibri" pitchFamily="34" charset="0"/>
                <a:ea typeface="Calibri" pitchFamily="34" charset="-122"/>
                <a:cs typeface="Calibri" pitchFamily="34" charset="-120"/>
              </a:rPr>
              <a:t>Standing rules:  </a:t>
            </a:r>
            <a:pPr indent="0" marL="0">
              <a:lnSpc>
                <a:spcPts val="1500"/>
              </a:lnSpc>
              <a:buNone/>
            </a:pPr>
            <a:r>
              <a:rPr lang="en-US" sz="1150" dirty="0">
                <a:solidFill>
                  <a:srgbClr val="8A5B00"/>
                </a:solidFill>
                <a:latin typeface="Calibri" pitchFamily="34" charset="0"/>
                <a:ea typeface="Calibri" pitchFamily="34" charset="-122"/>
                <a:cs typeface="Calibri" pitchFamily="34" charset="-120"/>
              </a:rPr>
              <a:t>never sell inside a film · disclose what is generated and what is archive · name sources on screen · verify every claim before it is narrated · publish nothing that would embarrass the brand in front of a bee community that will recognise every error.</a:t>
            </a:r>
            <a:endParaRPr lang="en-US" sz="11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HOW THE TEAM IS BUILT</a:t>
            </a:r>
            <a:endParaRPr lang="en-US" sz="1150" dirty="0"/>
          </a:p>
        </p:txBody>
      </p:sp>
      <p:sp>
        <p:nvSpPr>
          <p:cNvPr id="3" name="Text 1"/>
          <p:cNvSpPr/>
          <p:nvPr/>
        </p:nvSpPr>
        <p:spPr>
          <a:xfrm>
            <a:off x="640080" y="694944"/>
            <a:ext cx="106070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Organisation</a:t>
            </a:r>
            <a:endParaRPr lang="en-US" sz="2900" dirty="0"/>
          </a:p>
        </p:txBody>
      </p:sp>
      <p:sp>
        <p:nvSpPr>
          <p:cNvPr id="4" name="Text 2"/>
          <p:cNvSpPr/>
          <p:nvPr/>
        </p:nvSpPr>
        <p:spPr>
          <a:xfrm>
            <a:off x="640080" y="1417320"/>
            <a:ext cx="10607040" cy="566928"/>
          </a:xfrm>
          <a:prstGeom prst="rect">
            <a:avLst/>
          </a:prstGeom>
          <a:noFill/>
          <a:ln/>
        </p:spPr>
        <p:txBody>
          <a:bodyPr wrap="square" lIns="0" tIns="0" rIns="0" bIns="0" rtlCol="0" anchor="ctr"/>
          <a:lstStyle/>
          <a:p>
            <a:pPr indent="0" marL="0">
              <a:lnSpc>
                <a:spcPts val="1900"/>
              </a:lnSpc>
              <a:buNone/>
            </a:pPr>
            <a:r>
              <a:rPr lang="en-US" sz="1400" dirty="0">
                <a:solidFill>
                  <a:srgbClr val="7A7291"/>
                </a:solidFill>
                <a:latin typeface="Calibri" pitchFamily="34" charset="0"/>
                <a:ea typeface="Calibri" pitchFamily="34" charset="-122"/>
                <a:cs typeface="Calibri" pitchFamily="34" charset="-120"/>
              </a:rPr>
              <a:t>Two co-founders run separate, clearly-owned lanes. Joint decisions are made at founder level. The third role is advisory and sits on top as a brand asset, not an operating function.</a:t>
            </a:r>
            <a:endParaRPr lang="en-US" sz="1400" dirty="0"/>
          </a:p>
        </p:txBody>
      </p:sp>
      <p:sp>
        <p:nvSpPr>
          <p:cNvPr id="5" name="Shape 3"/>
          <p:cNvSpPr/>
          <p:nvPr/>
        </p:nvSpPr>
        <p:spPr>
          <a:xfrm>
            <a:off x="4480560" y="2148840"/>
            <a:ext cx="3200400" cy="658368"/>
          </a:xfrm>
          <a:prstGeom prst="roundRect">
            <a:avLst>
              <a:gd name="adj" fmla="val 19444"/>
            </a:avLst>
          </a:prstGeom>
          <a:solidFill>
            <a:srgbClr val="241E33"/>
          </a:solidFill>
          <a:ln/>
        </p:spPr>
      </p:sp>
      <p:sp>
        <p:nvSpPr>
          <p:cNvPr id="6" name="Text 4"/>
          <p:cNvSpPr/>
          <p:nvPr/>
        </p:nvSpPr>
        <p:spPr>
          <a:xfrm>
            <a:off x="4480560" y="2148840"/>
            <a:ext cx="3200400" cy="658368"/>
          </a:xfrm>
          <a:prstGeom prst="rect">
            <a:avLst/>
          </a:prstGeom>
          <a:noFill/>
          <a:ln/>
        </p:spPr>
        <p:txBody>
          <a:bodyPr wrap="square" lIns="0" tIns="0" rIns="0" bIns="0" rtlCol="0" anchor="ctr"/>
          <a:lstStyle/>
          <a:p>
            <a:pPr algn="ctr" indent="0" marL="0">
              <a:buNone/>
            </a:pPr>
            <a:r>
              <a:rPr lang="en-US" sz="1500" b="1" spc="140" kern="0" dirty="0">
                <a:solidFill>
                  <a:srgbClr val="FFFFFF"/>
                </a:solidFill>
                <a:latin typeface="Cambria" pitchFamily="34" charset="0"/>
                <a:ea typeface="Cambria" pitchFamily="34" charset="-122"/>
                <a:cs typeface="Cambria" pitchFamily="34" charset="-120"/>
              </a:rPr>
              <a:t>FOUNDER GROUP</a:t>
            </a:r>
            <a:endParaRPr lang="en-US" sz="1500" dirty="0"/>
          </a:p>
        </p:txBody>
      </p:sp>
      <p:sp>
        <p:nvSpPr>
          <p:cNvPr id="7" name="Text 5"/>
          <p:cNvSpPr/>
          <p:nvPr/>
        </p:nvSpPr>
        <p:spPr>
          <a:xfrm>
            <a:off x="4480560" y="2834640"/>
            <a:ext cx="3200400" cy="256032"/>
          </a:xfrm>
          <a:prstGeom prst="rect">
            <a:avLst/>
          </a:prstGeom>
          <a:noFill/>
          <a:ln/>
        </p:spPr>
        <p:txBody>
          <a:bodyPr wrap="square" lIns="0" tIns="0" rIns="0" bIns="0" rtlCol="0" anchor="ctr"/>
          <a:lstStyle/>
          <a:p>
            <a:pPr algn="ctr" indent="0" marL="0">
              <a:buNone/>
            </a:pPr>
            <a:r>
              <a:rPr lang="en-US" sz="1050" i="1" dirty="0">
                <a:solidFill>
                  <a:srgbClr val="7A7291"/>
                </a:solidFill>
                <a:latin typeface="Calibri" pitchFamily="34" charset="0"/>
                <a:ea typeface="Calibri" pitchFamily="34" charset="-122"/>
                <a:cs typeface="Calibri" pitchFamily="34" charset="-120"/>
              </a:rPr>
              <a:t>strategy · budget · brand direction</a:t>
            </a:r>
            <a:endParaRPr lang="en-US" sz="1050" dirty="0"/>
          </a:p>
        </p:txBody>
      </p:sp>
      <p:sp>
        <p:nvSpPr>
          <p:cNvPr id="8" name="Shape 6"/>
          <p:cNvSpPr/>
          <p:nvPr/>
        </p:nvSpPr>
        <p:spPr>
          <a:xfrm>
            <a:off x="6080760" y="3127248"/>
            <a:ext cx="0" cy="329184"/>
          </a:xfrm>
          <a:prstGeom prst="line">
            <a:avLst/>
          </a:prstGeom>
          <a:noFill/>
          <a:ln w="25400">
            <a:solidFill>
              <a:srgbClr val="E3DCF2"/>
            </a:solidFill>
            <a:prstDash val="solid"/>
          </a:ln>
        </p:spPr>
      </p:sp>
      <p:sp>
        <p:nvSpPr>
          <p:cNvPr id="9" name="Shape 7"/>
          <p:cNvSpPr/>
          <p:nvPr/>
        </p:nvSpPr>
        <p:spPr>
          <a:xfrm>
            <a:off x="2743200" y="3456432"/>
            <a:ext cx="6675120" cy="0"/>
          </a:xfrm>
          <a:prstGeom prst="line">
            <a:avLst/>
          </a:prstGeom>
          <a:noFill/>
          <a:ln w="25400">
            <a:solidFill>
              <a:srgbClr val="E3DCF2"/>
            </a:solidFill>
            <a:prstDash val="solid"/>
          </a:ln>
        </p:spPr>
      </p:sp>
      <p:sp>
        <p:nvSpPr>
          <p:cNvPr id="10" name="Shape 8"/>
          <p:cNvSpPr/>
          <p:nvPr/>
        </p:nvSpPr>
        <p:spPr>
          <a:xfrm>
            <a:off x="2743200" y="3456432"/>
            <a:ext cx="0" cy="310896"/>
          </a:xfrm>
          <a:prstGeom prst="line">
            <a:avLst/>
          </a:prstGeom>
          <a:noFill/>
          <a:ln w="25400">
            <a:solidFill>
              <a:srgbClr val="E3DCF2"/>
            </a:solidFill>
            <a:prstDash val="solid"/>
          </a:ln>
        </p:spPr>
      </p:sp>
      <p:sp>
        <p:nvSpPr>
          <p:cNvPr id="11" name="Shape 9"/>
          <p:cNvSpPr/>
          <p:nvPr/>
        </p:nvSpPr>
        <p:spPr>
          <a:xfrm>
            <a:off x="1874520" y="3767328"/>
            <a:ext cx="1737360" cy="1691640"/>
          </a:xfrm>
          <a:prstGeom prst="roundRect">
            <a:avLst>
              <a:gd name="adj" fmla="val 7568"/>
            </a:avLst>
          </a:prstGeom>
          <a:solidFill>
            <a:srgbClr val="EFEBF8"/>
          </a:solidFill>
          <a:ln/>
          <a:effectLst>
            <a:outerShdw sx="100000" sy="100000" kx="0" ky="0" algn="bl" rotWithShape="0" blurRad="127000" dist="25400" dir="5400000">
              <a:srgbClr val="241E33">
                <a:alpha val="10000"/>
              </a:srgbClr>
            </a:outerShdw>
          </a:effectLst>
        </p:spPr>
      </p:sp>
      <p:sp>
        <p:nvSpPr>
          <p:cNvPr id="12" name="Shape 10"/>
          <p:cNvSpPr/>
          <p:nvPr/>
        </p:nvSpPr>
        <p:spPr>
          <a:xfrm rot="5400000">
            <a:off x="2020824" y="3931920"/>
            <a:ext cx="402336" cy="402336"/>
          </a:xfrm>
          <a:prstGeom prst="hexagon">
            <a:avLst/>
          </a:prstGeom>
          <a:solidFill>
            <a:srgbClr val="6C4FE0"/>
          </a:solidFill>
          <a:ln/>
        </p:spPr>
      </p:sp>
      <p:sp>
        <p:nvSpPr>
          <p:cNvPr id="13" name="Text 11"/>
          <p:cNvSpPr/>
          <p:nvPr/>
        </p:nvSpPr>
        <p:spPr>
          <a:xfrm>
            <a:off x="2514600" y="3931920"/>
            <a:ext cx="1005840" cy="402336"/>
          </a:xfrm>
          <a:prstGeom prst="rect">
            <a:avLst/>
          </a:prstGeom>
          <a:noFill/>
          <a:ln/>
        </p:spPr>
        <p:txBody>
          <a:bodyPr wrap="square" lIns="0" tIns="0" rIns="0" bIns="0" rtlCol="0" anchor="ctr"/>
          <a:lstStyle/>
          <a:p>
            <a:pPr indent="0" marL="0">
              <a:buNone/>
            </a:pPr>
            <a:r>
              <a:rPr lang="en-US" sz="1700" b="1" dirty="0">
                <a:solidFill>
                  <a:srgbClr val="241E33"/>
                </a:solidFill>
                <a:latin typeface="Cambria" pitchFamily="34" charset="0"/>
                <a:ea typeface="Cambria" pitchFamily="34" charset="-122"/>
                <a:cs typeface="Cambria" pitchFamily="34" charset="-120"/>
              </a:rPr>
              <a:t>Aayush</a:t>
            </a:r>
            <a:endParaRPr lang="en-US" sz="1700" dirty="0"/>
          </a:p>
        </p:txBody>
      </p:sp>
      <p:sp>
        <p:nvSpPr>
          <p:cNvPr id="14" name="Text 12"/>
          <p:cNvSpPr/>
          <p:nvPr/>
        </p:nvSpPr>
        <p:spPr>
          <a:xfrm>
            <a:off x="2020824" y="4443984"/>
            <a:ext cx="1481328" cy="457200"/>
          </a:xfrm>
          <a:prstGeom prst="rect">
            <a:avLst/>
          </a:prstGeom>
          <a:noFill/>
          <a:ln/>
        </p:spPr>
        <p:txBody>
          <a:bodyPr wrap="square" lIns="0" tIns="0" rIns="0" bIns="0" rtlCol="0" anchor="ctr"/>
          <a:lstStyle/>
          <a:p>
            <a:pPr indent="0" marL="0">
              <a:buNone/>
            </a:pPr>
            <a:r>
              <a:rPr lang="en-US" sz="1100" b="1" dirty="0">
                <a:solidFill>
                  <a:srgbClr val="4A31B0"/>
                </a:solidFill>
                <a:latin typeface="Calibri" pitchFamily="34" charset="0"/>
                <a:ea typeface="Calibri" pitchFamily="34" charset="-122"/>
                <a:cs typeface="Calibri" pitchFamily="34" charset="-120"/>
              </a:rPr>
              <a:t>Co-Founder &amp; CPTO</a:t>
            </a:r>
            <a:endParaRPr lang="en-US" sz="1100" dirty="0"/>
          </a:p>
        </p:txBody>
      </p:sp>
      <p:sp>
        <p:nvSpPr>
          <p:cNvPr id="15" name="Text 13"/>
          <p:cNvSpPr/>
          <p:nvPr/>
        </p:nvSpPr>
        <p:spPr>
          <a:xfrm>
            <a:off x="2020824" y="4846320"/>
            <a:ext cx="1481328" cy="548640"/>
          </a:xfrm>
          <a:prstGeom prst="rect">
            <a:avLst/>
          </a:prstGeom>
          <a:noFill/>
          <a:ln/>
        </p:spPr>
        <p:txBody>
          <a:bodyPr wrap="square" lIns="0" tIns="0" rIns="0" bIns="0" rtlCol="0" anchor="ctr"/>
          <a:lstStyle/>
          <a:p>
            <a:pPr indent="0" marL="0">
              <a:lnSpc>
                <a:spcPts val="1300"/>
              </a:lnSpc>
              <a:buNone/>
            </a:pPr>
            <a:r>
              <a:rPr lang="en-US" sz="1000" dirty="0">
                <a:solidFill>
                  <a:srgbClr val="4A4360"/>
                </a:solidFill>
                <a:latin typeface="Calibri" pitchFamily="34" charset="0"/>
                <a:ea typeface="Calibri" pitchFamily="34" charset="-122"/>
                <a:cs typeface="Calibri" pitchFamily="34" charset="-120"/>
              </a:rPr>
              <a:t>Product · engineering · architecture · roadmap</a:t>
            </a:r>
            <a:endParaRPr lang="en-US" sz="1000" dirty="0"/>
          </a:p>
        </p:txBody>
      </p:sp>
      <p:sp>
        <p:nvSpPr>
          <p:cNvPr id="16" name="Shape 14"/>
          <p:cNvSpPr/>
          <p:nvPr/>
        </p:nvSpPr>
        <p:spPr>
          <a:xfrm>
            <a:off x="6263640" y="3456432"/>
            <a:ext cx="0" cy="310896"/>
          </a:xfrm>
          <a:prstGeom prst="line">
            <a:avLst/>
          </a:prstGeom>
          <a:noFill/>
          <a:ln w="25400">
            <a:solidFill>
              <a:srgbClr val="E3DCF2"/>
            </a:solidFill>
            <a:prstDash val="solid"/>
          </a:ln>
        </p:spPr>
      </p:sp>
      <p:sp>
        <p:nvSpPr>
          <p:cNvPr id="17" name="Shape 15"/>
          <p:cNvSpPr/>
          <p:nvPr/>
        </p:nvSpPr>
        <p:spPr>
          <a:xfrm>
            <a:off x="5394960" y="3767328"/>
            <a:ext cx="1737360" cy="1691640"/>
          </a:xfrm>
          <a:prstGeom prst="roundRect">
            <a:avLst>
              <a:gd name="adj" fmla="val 7568"/>
            </a:avLst>
          </a:prstGeom>
          <a:solidFill>
            <a:srgbClr val="EFEBF8"/>
          </a:solidFill>
          <a:ln/>
          <a:effectLst>
            <a:outerShdw sx="100000" sy="100000" kx="0" ky="0" algn="bl" rotWithShape="0" blurRad="127000" dist="25400" dir="5400000">
              <a:srgbClr val="241E33">
                <a:alpha val="10000"/>
              </a:srgbClr>
            </a:outerShdw>
          </a:effectLst>
        </p:spPr>
      </p:sp>
      <p:sp>
        <p:nvSpPr>
          <p:cNvPr id="18" name="Shape 16"/>
          <p:cNvSpPr/>
          <p:nvPr/>
        </p:nvSpPr>
        <p:spPr>
          <a:xfrm rot="5400000">
            <a:off x="5541264" y="3931920"/>
            <a:ext cx="402336" cy="402336"/>
          </a:xfrm>
          <a:prstGeom prst="hexagon">
            <a:avLst/>
          </a:prstGeom>
          <a:solidFill>
            <a:srgbClr val="F0B429"/>
          </a:solidFill>
          <a:ln/>
        </p:spPr>
      </p:sp>
      <p:sp>
        <p:nvSpPr>
          <p:cNvPr id="19" name="Text 17"/>
          <p:cNvSpPr/>
          <p:nvPr/>
        </p:nvSpPr>
        <p:spPr>
          <a:xfrm>
            <a:off x="6035040" y="3931920"/>
            <a:ext cx="1005840" cy="402336"/>
          </a:xfrm>
          <a:prstGeom prst="rect">
            <a:avLst/>
          </a:prstGeom>
          <a:noFill/>
          <a:ln/>
        </p:spPr>
        <p:txBody>
          <a:bodyPr wrap="square" lIns="0" tIns="0" rIns="0" bIns="0" rtlCol="0" anchor="ctr"/>
          <a:lstStyle/>
          <a:p>
            <a:pPr indent="0" marL="0">
              <a:buNone/>
            </a:pPr>
            <a:r>
              <a:rPr lang="en-US" sz="1700" b="1" dirty="0">
                <a:solidFill>
                  <a:srgbClr val="241E33"/>
                </a:solidFill>
                <a:latin typeface="Cambria" pitchFamily="34" charset="0"/>
                <a:ea typeface="Cambria" pitchFamily="34" charset="-122"/>
                <a:cs typeface="Cambria" pitchFamily="34" charset="-120"/>
              </a:rPr>
              <a:t>Amrita</a:t>
            </a:r>
            <a:endParaRPr lang="en-US" sz="1700" dirty="0"/>
          </a:p>
        </p:txBody>
      </p:sp>
      <p:sp>
        <p:nvSpPr>
          <p:cNvPr id="20" name="Text 18"/>
          <p:cNvSpPr/>
          <p:nvPr/>
        </p:nvSpPr>
        <p:spPr>
          <a:xfrm>
            <a:off x="5541264" y="4443984"/>
            <a:ext cx="1481328" cy="457200"/>
          </a:xfrm>
          <a:prstGeom prst="rect">
            <a:avLst/>
          </a:prstGeom>
          <a:noFill/>
          <a:ln/>
        </p:spPr>
        <p:txBody>
          <a:bodyPr wrap="square" lIns="0" tIns="0" rIns="0" bIns="0" rtlCol="0" anchor="ctr"/>
          <a:lstStyle/>
          <a:p>
            <a:pPr indent="0" marL="0">
              <a:buNone/>
            </a:pPr>
            <a:r>
              <a:rPr lang="en-US" sz="1100" b="1" dirty="0">
                <a:solidFill>
                  <a:srgbClr val="4A31B0"/>
                </a:solidFill>
                <a:latin typeface="Calibri" pitchFamily="34" charset="0"/>
                <a:ea typeface="Calibri" pitchFamily="34" charset="-122"/>
                <a:cs typeface="Calibri" pitchFamily="34" charset="-120"/>
              </a:rPr>
              <a:t>Co-Founder &amp; CMO</a:t>
            </a:r>
            <a:endParaRPr lang="en-US" sz="1100" dirty="0"/>
          </a:p>
        </p:txBody>
      </p:sp>
      <p:sp>
        <p:nvSpPr>
          <p:cNvPr id="21" name="Text 19"/>
          <p:cNvSpPr/>
          <p:nvPr/>
        </p:nvSpPr>
        <p:spPr>
          <a:xfrm>
            <a:off x="5541264" y="4846320"/>
            <a:ext cx="1481328" cy="548640"/>
          </a:xfrm>
          <a:prstGeom prst="rect">
            <a:avLst/>
          </a:prstGeom>
          <a:noFill/>
          <a:ln/>
        </p:spPr>
        <p:txBody>
          <a:bodyPr wrap="square" lIns="0" tIns="0" rIns="0" bIns="0" rtlCol="0" anchor="ctr"/>
          <a:lstStyle/>
          <a:p>
            <a:pPr indent="0" marL="0">
              <a:lnSpc>
                <a:spcPts val="1300"/>
              </a:lnSpc>
              <a:buNone/>
            </a:pPr>
            <a:r>
              <a:rPr lang="en-US" sz="1000" dirty="0">
                <a:solidFill>
                  <a:srgbClr val="4A4360"/>
                </a:solidFill>
                <a:latin typeface="Calibri" pitchFamily="34" charset="0"/>
                <a:ea typeface="Calibri" pitchFamily="34" charset="-122"/>
                <a:cs typeface="Calibri" pitchFamily="34" charset="-120"/>
              </a:rPr>
              <a:t>Brand · growth · pricing · merch · voice of customer</a:t>
            </a:r>
            <a:endParaRPr lang="en-US" sz="1000" dirty="0"/>
          </a:p>
        </p:txBody>
      </p:sp>
      <p:sp>
        <p:nvSpPr>
          <p:cNvPr id="22" name="Shape 20"/>
          <p:cNvSpPr/>
          <p:nvPr/>
        </p:nvSpPr>
        <p:spPr>
          <a:xfrm>
            <a:off x="9784080" y="3456432"/>
            <a:ext cx="0" cy="310896"/>
          </a:xfrm>
          <a:prstGeom prst="line">
            <a:avLst/>
          </a:prstGeom>
          <a:noFill/>
          <a:ln w="25400">
            <a:solidFill>
              <a:srgbClr val="E3DCF2"/>
            </a:solidFill>
            <a:prstDash val="solid"/>
          </a:ln>
        </p:spPr>
      </p:sp>
      <p:sp>
        <p:nvSpPr>
          <p:cNvPr id="23" name="Shape 21"/>
          <p:cNvSpPr/>
          <p:nvPr/>
        </p:nvSpPr>
        <p:spPr>
          <a:xfrm>
            <a:off x="8915400" y="3767328"/>
            <a:ext cx="1737360" cy="1691640"/>
          </a:xfrm>
          <a:prstGeom prst="roundRect">
            <a:avLst>
              <a:gd name="adj" fmla="val 7568"/>
            </a:avLst>
          </a:prstGeom>
          <a:solidFill>
            <a:srgbClr val="EFEBF8"/>
          </a:solidFill>
          <a:ln/>
          <a:effectLst>
            <a:outerShdw sx="100000" sy="100000" kx="0" ky="0" algn="bl" rotWithShape="0" blurRad="127000" dist="25400" dir="5400000">
              <a:srgbClr val="241E33">
                <a:alpha val="10000"/>
              </a:srgbClr>
            </a:outerShdw>
          </a:effectLst>
        </p:spPr>
      </p:sp>
      <p:sp>
        <p:nvSpPr>
          <p:cNvPr id="24" name="Shape 22"/>
          <p:cNvSpPr/>
          <p:nvPr/>
        </p:nvSpPr>
        <p:spPr>
          <a:xfrm rot="5400000">
            <a:off x="9061704" y="3931920"/>
            <a:ext cx="402336" cy="402336"/>
          </a:xfrm>
          <a:prstGeom prst="hexagon">
            <a:avLst/>
          </a:prstGeom>
          <a:solidFill>
            <a:srgbClr val="178A4C"/>
          </a:solidFill>
          <a:ln/>
        </p:spPr>
      </p:sp>
      <p:sp>
        <p:nvSpPr>
          <p:cNvPr id="25" name="Text 23"/>
          <p:cNvSpPr/>
          <p:nvPr/>
        </p:nvSpPr>
        <p:spPr>
          <a:xfrm>
            <a:off x="9555480" y="3931920"/>
            <a:ext cx="1005840" cy="402336"/>
          </a:xfrm>
          <a:prstGeom prst="rect">
            <a:avLst/>
          </a:prstGeom>
          <a:noFill/>
          <a:ln/>
        </p:spPr>
        <p:txBody>
          <a:bodyPr wrap="square" lIns="0" tIns="0" rIns="0" bIns="0" rtlCol="0" anchor="ctr"/>
          <a:lstStyle/>
          <a:p>
            <a:pPr indent="0" marL="0">
              <a:buNone/>
            </a:pPr>
            <a:r>
              <a:rPr lang="en-US" sz="1700" b="1" dirty="0">
                <a:solidFill>
                  <a:srgbClr val="241E33"/>
                </a:solidFill>
                <a:latin typeface="Cambria" pitchFamily="34" charset="0"/>
                <a:ea typeface="Cambria" pitchFamily="34" charset="-122"/>
                <a:cs typeface="Cambria" pitchFamily="34" charset="-120"/>
              </a:rPr>
              <a:t>Ahana</a:t>
            </a:r>
            <a:endParaRPr lang="en-US" sz="1700" dirty="0"/>
          </a:p>
        </p:txBody>
      </p:sp>
      <p:sp>
        <p:nvSpPr>
          <p:cNvPr id="26" name="Text 24"/>
          <p:cNvSpPr/>
          <p:nvPr/>
        </p:nvSpPr>
        <p:spPr>
          <a:xfrm>
            <a:off x="9061704" y="4443984"/>
            <a:ext cx="1481328" cy="457200"/>
          </a:xfrm>
          <a:prstGeom prst="rect">
            <a:avLst/>
          </a:prstGeom>
          <a:noFill/>
          <a:ln/>
        </p:spPr>
        <p:txBody>
          <a:bodyPr wrap="square" lIns="0" tIns="0" rIns="0" bIns="0" rtlCol="0" anchor="ctr"/>
          <a:lstStyle/>
          <a:p>
            <a:pPr indent="0" marL="0">
              <a:buNone/>
            </a:pPr>
            <a:r>
              <a:rPr lang="en-US" sz="1100" b="1" dirty="0">
                <a:solidFill>
                  <a:srgbClr val="4A31B0"/>
                </a:solidFill>
                <a:latin typeface="Calibri" pitchFamily="34" charset="0"/>
                <a:ea typeface="Calibri" pitchFamily="34" charset="-122"/>
                <a:cs typeface="Calibri" pitchFamily="34" charset="-120"/>
              </a:rPr>
              <a:t>Chief Kid Officer</a:t>
            </a:r>
            <a:endParaRPr lang="en-US" sz="1100" dirty="0"/>
          </a:p>
        </p:txBody>
      </p:sp>
      <p:sp>
        <p:nvSpPr>
          <p:cNvPr id="27" name="Text 25"/>
          <p:cNvSpPr/>
          <p:nvPr/>
        </p:nvSpPr>
        <p:spPr>
          <a:xfrm>
            <a:off x="9061704" y="4846320"/>
            <a:ext cx="1481328" cy="548640"/>
          </a:xfrm>
          <a:prstGeom prst="rect">
            <a:avLst/>
          </a:prstGeom>
          <a:noFill/>
          <a:ln/>
        </p:spPr>
        <p:txBody>
          <a:bodyPr wrap="square" lIns="0" tIns="0" rIns="0" bIns="0" rtlCol="0" anchor="ctr"/>
          <a:lstStyle/>
          <a:p>
            <a:pPr indent="0" marL="0">
              <a:lnSpc>
                <a:spcPts val="1300"/>
              </a:lnSpc>
              <a:buNone/>
            </a:pPr>
            <a:r>
              <a:rPr lang="en-US" sz="1000" dirty="0">
                <a:solidFill>
                  <a:srgbClr val="4A4360"/>
                </a:solidFill>
                <a:latin typeface="Calibri" pitchFamily="34" charset="0"/>
                <a:ea typeface="Calibri" pitchFamily="34" charset="-122"/>
                <a:cs typeface="Calibri" pitchFamily="34" charset="-120"/>
              </a:rPr>
              <a:t>End user · usability · ambassador (advisory)</a:t>
            </a:r>
            <a:endParaRPr lang="en-US" sz="1000" dirty="0"/>
          </a:p>
        </p:txBody>
      </p:sp>
      <p:sp>
        <p:nvSpPr>
          <p:cNvPr id="28" name="Text 26"/>
          <p:cNvSpPr/>
          <p:nvPr/>
        </p:nvSpPr>
        <p:spPr>
          <a:xfrm>
            <a:off x="640080" y="5806440"/>
            <a:ext cx="10607040" cy="502920"/>
          </a:xfrm>
          <a:prstGeom prst="rect">
            <a:avLst/>
          </a:prstGeom>
          <a:noFill/>
          <a:ln/>
        </p:spPr>
        <p:txBody>
          <a:bodyPr wrap="square" lIns="0" tIns="0" rIns="0" bIns="0" rtlCol="0" anchor="ctr"/>
          <a:lstStyle/>
          <a:p>
            <a:pPr indent="0" marL="0">
              <a:lnSpc>
                <a:spcPts val="1700"/>
              </a:lnSpc>
              <a:buNone/>
            </a:pPr>
            <a:r>
              <a:rPr lang="en-US" sz="1250" i="1" dirty="0">
                <a:solidFill>
                  <a:srgbClr val="7A7291"/>
                </a:solidFill>
                <a:latin typeface="Calibri" pitchFamily="34" charset="0"/>
                <a:ea typeface="Calibri" pitchFamily="34" charset="-122"/>
                <a:cs typeface="Calibri" pitchFamily="34" charset="-120"/>
              </a:rPr>
              <a:t>The operating principle: each lane decides independently inside its own scope. Product decisions do not route through marketing, and brand decisions do not route through engineering.</a:t>
            </a:r>
            <a:endParaRPr lang="en-US" sz="12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ROLE</a:t>
            </a:r>
            <a:endParaRPr lang="en-US" sz="1150" dirty="0"/>
          </a:p>
        </p:txBody>
      </p:sp>
      <p:sp>
        <p:nvSpPr>
          <p:cNvPr id="3" name="Text 1"/>
          <p:cNvSpPr/>
          <p:nvPr/>
        </p:nvSpPr>
        <p:spPr>
          <a:xfrm>
            <a:off x="640080" y="694944"/>
            <a:ext cx="106070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Aayush</a:t>
            </a:r>
            <a:endParaRPr lang="en-US" sz="2900" dirty="0"/>
          </a:p>
        </p:txBody>
      </p:sp>
      <p:sp>
        <p:nvSpPr>
          <p:cNvPr id="4" name="Text 2"/>
          <p:cNvSpPr/>
          <p:nvPr/>
        </p:nvSpPr>
        <p:spPr>
          <a:xfrm>
            <a:off x="640080" y="1371600"/>
            <a:ext cx="10607040" cy="329184"/>
          </a:xfrm>
          <a:prstGeom prst="rect">
            <a:avLst/>
          </a:prstGeom>
          <a:noFill/>
          <a:ln/>
        </p:spPr>
        <p:txBody>
          <a:bodyPr wrap="square" lIns="0" tIns="0" rIns="0" bIns="0" rtlCol="0" anchor="ctr"/>
          <a:lstStyle/>
          <a:p>
            <a:pPr indent="0" marL="0">
              <a:buNone/>
            </a:pPr>
            <a:r>
              <a:rPr lang="en-US" sz="1450" b="1" dirty="0">
                <a:solidFill>
                  <a:srgbClr val="6C4FE0"/>
                </a:solidFill>
                <a:latin typeface="Calibri" pitchFamily="34" charset="0"/>
                <a:ea typeface="Calibri" pitchFamily="34" charset="-122"/>
                <a:cs typeface="Calibri" pitchFamily="34" charset="-120"/>
              </a:rPr>
              <a:t>Co-Founder &amp; Chief Product and Technology Officer</a:t>
            </a:r>
            <a:endParaRPr lang="en-US" sz="1450" dirty="0"/>
          </a:p>
        </p:txBody>
      </p:sp>
      <p:sp>
        <p:nvSpPr>
          <p:cNvPr id="5" name="Shape 3"/>
          <p:cNvSpPr/>
          <p:nvPr/>
        </p:nvSpPr>
        <p:spPr>
          <a:xfrm>
            <a:off x="640080" y="1810512"/>
            <a:ext cx="10607040" cy="960120"/>
          </a:xfrm>
          <a:prstGeom prst="roundRect">
            <a:avLst>
              <a:gd name="adj" fmla="val 13333"/>
            </a:avLst>
          </a:prstGeom>
          <a:solidFill>
            <a:srgbClr val="EFEBF8"/>
          </a:solidFill>
          <a:ln/>
          <a:effectLst>
            <a:outerShdw sx="100000" sy="100000" kx="0" ky="0" algn="bl" rotWithShape="0" blurRad="127000" dist="25400" dir="5400000">
              <a:srgbClr val="241E33">
                <a:alpha val="10000"/>
              </a:srgbClr>
            </a:outerShdw>
          </a:effectLst>
        </p:spPr>
      </p:sp>
      <p:sp>
        <p:nvSpPr>
          <p:cNvPr id="6" name="Text 4"/>
          <p:cNvSpPr/>
          <p:nvPr/>
        </p:nvSpPr>
        <p:spPr>
          <a:xfrm>
            <a:off x="950976" y="1956816"/>
            <a:ext cx="9966960" cy="713232"/>
          </a:xfrm>
          <a:prstGeom prst="rect">
            <a:avLst/>
          </a:prstGeom>
          <a:noFill/>
          <a:ln/>
        </p:spPr>
        <p:txBody>
          <a:bodyPr wrap="square" lIns="0" tIns="0" rIns="0" bIns="0" rtlCol="0" anchor="ctr"/>
          <a:lstStyle/>
          <a:p>
            <a:pPr indent="0" marL="0">
              <a:lnSpc>
                <a:spcPts val="1800"/>
              </a:lnSpc>
              <a:buNone/>
            </a:pPr>
            <a:r>
              <a:rPr lang="en-US" sz="1350" dirty="0">
                <a:solidFill>
                  <a:srgbClr val="3A3352"/>
                </a:solidFill>
                <a:latin typeface="Calibri" pitchFamily="34" charset="0"/>
                <a:ea typeface="Calibri" pitchFamily="34" charset="-122"/>
                <a:cs typeface="Calibri" pitchFamily="34" charset="-120"/>
              </a:rPr>
              <a:t>Owns what Bizzing is, how it is built, and what ships next. Built the full web app AI-first — directing AI coding tools rather than hand-writing code — and runs product and engineering the same way.</a:t>
            </a:r>
            <a:endParaRPr lang="en-US" sz="1350" dirty="0"/>
          </a:p>
        </p:txBody>
      </p:sp>
      <p:sp>
        <p:nvSpPr>
          <p:cNvPr id="7" name="Text 5"/>
          <p:cNvSpPr/>
          <p:nvPr/>
        </p:nvSpPr>
        <p:spPr>
          <a:xfrm>
            <a:off x="640080" y="2999232"/>
            <a:ext cx="3657600" cy="256032"/>
          </a:xfrm>
          <a:prstGeom prst="rect">
            <a:avLst/>
          </a:prstGeom>
          <a:noFill/>
          <a:ln/>
        </p:spPr>
        <p:txBody>
          <a:bodyPr wrap="square" lIns="0" tIns="0" rIns="0" bIns="0" rtlCol="0" anchor="ctr"/>
          <a:lstStyle/>
          <a:p>
            <a:pPr indent="0" marL="0">
              <a:buNone/>
            </a:pPr>
            <a:r>
              <a:rPr lang="en-US" sz="1050" b="1" spc="200" kern="0" dirty="0">
                <a:solidFill>
                  <a:srgbClr val="6C4FE0"/>
                </a:solidFill>
                <a:latin typeface="Calibri" pitchFamily="34" charset="0"/>
                <a:ea typeface="Calibri" pitchFamily="34" charset="-122"/>
                <a:cs typeface="Calibri" pitchFamily="34" charset="-120"/>
              </a:rPr>
              <a:t>OWNS</a:t>
            </a:r>
            <a:endParaRPr lang="en-US" sz="1050" dirty="0"/>
          </a:p>
        </p:txBody>
      </p:sp>
      <p:sp>
        <p:nvSpPr>
          <p:cNvPr id="8" name="Text 6"/>
          <p:cNvSpPr/>
          <p:nvPr/>
        </p:nvSpPr>
        <p:spPr>
          <a:xfrm>
            <a:off x="685800" y="3310128"/>
            <a:ext cx="6035040" cy="2103120"/>
          </a:xfrm>
          <a:prstGeom prst="rect">
            <a:avLst/>
          </a:prstGeom>
          <a:noFill/>
          <a:ln/>
        </p:spPr>
        <p:txBody>
          <a:bodyPr wrap="square" lIns="0" tIns="0" rIns="0" bIns="0" rtlCol="0" anchor="ctr"/>
          <a:lstStyle/>
          <a:p>
            <a:pPr marL="342900" indent="-342900">
              <a:lnSpc>
                <a:spcPts val="1600"/>
              </a:lnSpc>
              <a:spcAft>
                <a:spcPts val="700"/>
              </a:spcAft>
              <a:buSzPct val="100000"/>
              <a:buChar char="•"/>
            </a:pPr>
            <a:r>
              <a:rPr lang="en-US" sz="1250" dirty="0">
                <a:solidFill>
                  <a:srgbClr val="4A4360"/>
                </a:solidFill>
                <a:latin typeface="Calibri" pitchFamily="34" charset="0"/>
                <a:ea typeface="Calibri" pitchFamily="34" charset="-122"/>
                <a:cs typeface="Calibri" pitchFamily="34" charset="-120"/>
              </a:rPr>
              <a:t>Product roadmap and prioritisation across every Bizzing product</a:t>
            </a:r>
            <a:endParaRPr lang="en-US" sz="1250" dirty="0"/>
          </a:p>
          <a:p>
            <a:pPr marL="342900" indent="-342900">
              <a:lnSpc>
                <a:spcPts val="1600"/>
              </a:lnSpc>
              <a:spcAft>
                <a:spcPts val="700"/>
              </a:spcAft>
              <a:buSzPct val="100000"/>
              <a:buChar char="•"/>
            </a:pPr>
            <a:r>
              <a:rPr lang="en-US" sz="1250" dirty="0">
                <a:solidFill>
                  <a:srgbClr val="4A4360"/>
                </a:solidFill>
                <a:latin typeface="Calibri" pitchFamily="34" charset="0"/>
                <a:ea typeface="Calibri" pitchFamily="34" charset="-122"/>
                <a:cs typeface="Calibri" pitchFamily="34" charset="-120"/>
              </a:rPr>
              <a:t>App architecture, infrastructure, technical quality and security</a:t>
            </a:r>
            <a:endParaRPr lang="en-US" sz="1250" dirty="0"/>
          </a:p>
          <a:p>
            <a:pPr marL="342900" indent="-342900">
              <a:lnSpc>
                <a:spcPts val="1600"/>
              </a:lnSpc>
              <a:spcAft>
                <a:spcPts val="700"/>
              </a:spcAft>
              <a:buSzPct val="100000"/>
              <a:buChar char="•"/>
            </a:pPr>
            <a:r>
              <a:rPr lang="en-US" sz="1250" dirty="0">
                <a:solidFill>
                  <a:srgbClr val="4A4360"/>
                </a:solidFill>
                <a:latin typeface="Calibri" pitchFamily="34" charset="0"/>
                <a:ea typeface="Calibri" pitchFamily="34" charset="-122"/>
                <a:cs typeface="Calibri" pitchFamily="34" charset="-120"/>
              </a:rPr>
              <a:t>Turning user feedback into shipped improvements</a:t>
            </a:r>
            <a:endParaRPr lang="en-US" sz="1250" dirty="0"/>
          </a:p>
          <a:p>
            <a:pPr marL="342900" indent="-342900">
              <a:lnSpc>
                <a:spcPts val="1600"/>
              </a:lnSpc>
              <a:spcAft>
                <a:spcPts val="700"/>
              </a:spcAft>
              <a:buSzPct val="100000"/>
              <a:buChar char="•"/>
            </a:pPr>
            <a:r>
              <a:rPr lang="en-US" sz="1250" dirty="0">
                <a:solidFill>
                  <a:srgbClr val="4A4360"/>
                </a:solidFill>
                <a:latin typeface="Calibri" pitchFamily="34" charset="0"/>
                <a:ea typeface="Calibri" pitchFamily="34" charset="-122"/>
                <a:cs typeface="Calibri" pitchFamily="34" charset="-120"/>
              </a:rPr>
              <a:t>Evaluating and adopting AI tooling that improves build speed or quality</a:t>
            </a:r>
            <a:endParaRPr lang="en-US" sz="1250" dirty="0"/>
          </a:p>
          <a:p>
            <a:pPr marL="342900" indent="-342900">
              <a:lnSpc>
                <a:spcPts val="1600"/>
              </a:lnSpc>
              <a:spcAft>
                <a:spcPts val="700"/>
              </a:spcAft>
              <a:buSzPct val="100000"/>
              <a:buChar char="•"/>
            </a:pPr>
            <a:r>
              <a:rPr lang="en-US" sz="1250" dirty="0">
                <a:solidFill>
                  <a:srgbClr val="4A4360"/>
                </a:solidFill>
                <a:latin typeface="Calibri" pitchFamily="34" charset="0"/>
                <a:ea typeface="Calibri" pitchFamily="34" charset="-122"/>
                <a:cs typeface="Calibri" pitchFamily="34" charset="-120"/>
              </a:rPr>
              <a:t>Content generation pipelines — the word bank, question bank and audio</a:t>
            </a:r>
            <a:endParaRPr lang="en-US" sz="1250" dirty="0"/>
          </a:p>
        </p:txBody>
      </p:sp>
      <p:sp>
        <p:nvSpPr>
          <p:cNvPr id="9" name="Text 7"/>
          <p:cNvSpPr/>
          <p:nvPr/>
        </p:nvSpPr>
        <p:spPr>
          <a:xfrm>
            <a:off x="6949440" y="2999232"/>
            <a:ext cx="4297680" cy="256032"/>
          </a:xfrm>
          <a:prstGeom prst="rect">
            <a:avLst/>
          </a:prstGeom>
          <a:noFill/>
          <a:ln/>
        </p:spPr>
        <p:txBody>
          <a:bodyPr wrap="square" lIns="0" tIns="0" rIns="0" bIns="0" rtlCol="0" anchor="ctr"/>
          <a:lstStyle/>
          <a:p>
            <a:pPr indent="0" marL="0">
              <a:buNone/>
            </a:pPr>
            <a:r>
              <a:rPr lang="en-US" sz="1050" b="1" spc="200" kern="0" dirty="0">
                <a:solidFill>
                  <a:srgbClr val="6C4FE0"/>
                </a:solidFill>
                <a:latin typeface="Calibri" pitchFamily="34" charset="0"/>
                <a:ea typeface="Calibri" pitchFamily="34" charset="-122"/>
                <a:cs typeface="Calibri" pitchFamily="34" charset="-120"/>
              </a:rPr>
              <a:t>SUCCESS METRICS</a:t>
            </a:r>
            <a:endParaRPr lang="en-US" sz="1050" dirty="0"/>
          </a:p>
        </p:txBody>
      </p:sp>
      <p:sp>
        <p:nvSpPr>
          <p:cNvPr id="10" name="Shape 8"/>
          <p:cNvSpPr/>
          <p:nvPr/>
        </p:nvSpPr>
        <p:spPr>
          <a:xfrm rot="5400000">
            <a:off x="6949440" y="3355848"/>
            <a:ext cx="256032" cy="256032"/>
          </a:xfrm>
          <a:prstGeom prst="hexagon">
            <a:avLst/>
          </a:prstGeom>
          <a:solidFill>
            <a:srgbClr val="6C4FE0"/>
          </a:solidFill>
          <a:ln/>
        </p:spPr>
      </p:sp>
      <p:sp>
        <p:nvSpPr>
          <p:cNvPr id="11" name="Text 9"/>
          <p:cNvSpPr/>
          <p:nvPr/>
        </p:nvSpPr>
        <p:spPr>
          <a:xfrm>
            <a:off x="7315200" y="3310128"/>
            <a:ext cx="1417320" cy="329184"/>
          </a:xfrm>
          <a:prstGeom prst="rect">
            <a:avLst/>
          </a:prstGeom>
          <a:noFill/>
          <a:ln/>
        </p:spPr>
        <p:txBody>
          <a:bodyPr wrap="square" lIns="0" tIns="0" rIns="0" bIns="0" rtlCol="0" anchor="ctr"/>
          <a:lstStyle/>
          <a:p>
            <a:pPr indent="0" marL="0">
              <a:buNone/>
            </a:pPr>
            <a:r>
              <a:rPr lang="en-US" sz="1150" b="1" dirty="0">
                <a:solidFill>
                  <a:srgbClr val="241E33"/>
                </a:solidFill>
                <a:latin typeface="Calibri" pitchFamily="34" charset="0"/>
                <a:ea typeface="Calibri" pitchFamily="34" charset="-122"/>
                <a:cs typeface="Calibri" pitchFamily="34" charset="-120"/>
              </a:rPr>
              <a:t>Ship rate</a:t>
            </a:r>
            <a:endParaRPr lang="en-US" sz="1150" dirty="0"/>
          </a:p>
        </p:txBody>
      </p:sp>
      <p:sp>
        <p:nvSpPr>
          <p:cNvPr id="12" name="Text 10"/>
          <p:cNvSpPr/>
          <p:nvPr/>
        </p:nvSpPr>
        <p:spPr>
          <a:xfrm>
            <a:off x="8778240" y="3310128"/>
            <a:ext cx="2743200" cy="384048"/>
          </a:xfrm>
          <a:prstGeom prst="rect">
            <a:avLst/>
          </a:prstGeom>
          <a:noFill/>
          <a:ln/>
        </p:spPr>
        <p:txBody>
          <a:bodyPr wrap="square" lIns="0" tIns="0" rIns="0" bIns="0" rtlCol="0" anchor="ctr"/>
          <a:lstStyle/>
          <a:p>
            <a:pPr indent="0" marL="0">
              <a:lnSpc>
                <a:spcPts val="1400"/>
              </a:lnSpc>
              <a:buNone/>
            </a:pPr>
            <a:r>
              <a:rPr lang="en-US" sz="1100" dirty="0">
                <a:solidFill>
                  <a:srgbClr val="4A4360"/>
                </a:solidFill>
                <a:latin typeface="Calibri" pitchFamily="34" charset="0"/>
                <a:ea typeface="Calibri" pitchFamily="34" charset="-122"/>
                <a:cs typeface="Calibri" pitchFamily="34" charset="-120"/>
              </a:rPr>
              <a:t>Features shipped per month against roadmap</a:t>
            </a:r>
            <a:endParaRPr lang="en-US" sz="1100" dirty="0"/>
          </a:p>
        </p:txBody>
      </p:sp>
      <p:sp>
        <p:nvSpPr>
          <p:cNvPr id="13" name="Shape 11"/>
          <p:cNvSpPr/>
          <p:nvPr/>
        </p:nvSpPr>
        <p:spPr>
          <a:xfrm rot="5400000">
            <a:off x="6949440" y="3922776"/>
            <a:ext cx="256032" cy="256032"/>
          </a:xfrm>
          <a:prstGeom prst="hexagon">
            <a:avLst/>
          </a:prstGeom>
          <a:solidFill>
            <a:srgbClr val="6C4FE0"/>
          </a:solidFill>
          <a:ln/>
        </p:spPr>
      </p:sp>
      <p:sp>
        <p:nvSpPr>
          <p:cNvPr id="14" name="Text 12"/>
          <p:cNvSpPr/>
          <p:nvPr/>
        </p:nvSpPr>
        <p:spPr>
          <a:xfrm>
            <a:off x="7315200" y="3877056"/>
            <a:ext cx="1417320" cy="329184"/>
          </a:xfrm>
          <a:prstGeom prst="rect">
            <a:avLst/>
          </a:prstGeom>
          <a:noFill/>
          <a:ln/>
        </p:spPr>
        <p:txBody>
          <a:bodyPr wrap="square" lIns="0" tIns="0" rIns="0" bIns="0" rtlCol="0" anchor="ctr"/>
          <a:lstStyle/>
          <a:p>
            <a:pPr indent="0" marL="0">
              <a:buNone/>
            </a:pPr>
            <a:r>
              <a:rPr lang="en-US" sz="1150" b="1" dirty="0">
                <a:solidFill>
                  <a:srgbClr val="241E33"/>
                </a:solidFill>
                <a:latin typeface="Calibri" pitchFamily="34" charset="0"/>
                <a:ea typeface="Calibri" pitchFamily="34" charset="-122"/>
                <a:cs typeface="Calibri" pitchFamily="34" charset="-120"/>
              </a:rPr>
              <a:t>Quality</a:t>
            </a:r>
            <a:endParaRPr lang="en-US" sz="1150" dirty="0"/>
          </a:p>
        </p:txBody>
      </p:sp>
      <p:sp>
        <p:nvSpPr>
          <p:cNvPr id="15" name="Text 13"/>
          <p:cNvSpPr/>
          <p:nvPr/>
        </p:nvSpPr>
        <p:spPr>
          <a:xfrm>
            <a:off x="8778240" y="3877056"/>
            <a:ext cx="2743200" cy="384048"/>
          </a:xfrm>
          <a:prstGeom prst="rect">
            <a:avLst/>
          </a:prstGeom>
          <a:noFill/>
          <a:ln/>
        </p:spPr>
        <p:txBody>
          <a:bodyPr wrap="square" lIns="0" tIns="0" rIns="0" bIns="0" rtlCol="0" anchor="ctr"/>
          <a:lstStyle/>
          <a:p>
            <a:pPr indent="0" marL="0">
              <a:lnSpc>
                <a:spcPts val="1400"/>
              </a:lnSpc>
              <a:buNone/>
            </a:pPr>
            <a:r>
              <a:rPr lang="en-US" sz="1100" dirty="0">
                <a:solidFill>
                  <a:srgbClr val="4A4360"/>
                </a:solidFill>
                <a:latin typeface="Calibri" pitchFamily="34" charset="0"/>
                <a:ea typeface="Calibri" pitchFamily="34" charset="-122"/>
                <a:cs typeface="Calibri" pitchFamily="34" charset="-120"/>
              </a:rPr>
              <a:t>Crash-free sessions; boot time held under target</a:t>
            </a:r>
            <a:endParaRPr lang="en-US" sz="1100" dirty="0"/>
          </a:p>
        </p:txBody>
      </p:sp>
      <p:sp>
        <p:nvSpPr>
          <p:cNvPr id="16" name="Shape 14"/>
          <p:cNvSpPr/>
          <p:nvPr/>
        </p:nvSpPr>
        <p:spPr>
          <a:xfrm rot="5400000">
            <a:off x="6949440" y="4489704"/>
            <a:ext cx="256032" cy="256032"/>
          </a:xfrm>
          <a:prstGeom prst="hexagon">
            <a:avLst/>
          </a:prstGeom>
          <a:solidFill>
            <a:srgbClr val="6C4FE0"/>
          </a:solidFill>
          <a:ln/>
        </p:spPr>
      </p:sp>
      <p:sp>
        <p:nvSpPr>
          <p:cNvPr id="17" name="Text 15"/>
          <p:cNvSpPr/>
          <p:nvPr/>
        </p:nvSpPr>
        <p:spPr>
          <a:xfrm>
            <a:off x="7315200" y="4443984"/>
            <a:ext cx="1417320" cy="329184"/>
          </a:xfrm>
          <a:prstGeom prst="rect">
            <a:avLst/>
          </a:prstGeom>
          <a:noFill/>
          <a:ln/>
        </p:spPr>
        <p:txBody>
          <a:bodyPr wrap="square" lIns="0" tIns="0" rIns="0" bIns="0" rtlCol="0" anchor="ctr"/>
          <a:lstStyle/>
          <a:p>
            <a:pPr indent="0" marL="0">
              <a:buNone/>
            </a:pPr>
            <a:r>
              <a:rPr lang="en-US" sz="1150" b="1" dirty="0">
                <a:solidFill>
                  <a:srgbClr val="241E33"/>
                </a:solidFill>
                <a:latin typeface="Calibri" pitchFamily="34" charset="0"/>
                <a:ea typeface="Calibri" pitchFamily="34" charset="-122"/>
                <a:cs typeface="Calibri" pitchFamily="34" charset="-120"/>
              </a:rPr>
              <a:t>Engine reuse</a:t>
            </a:r>
            <a:endParaRPr lang="en-US" sz="1150" dirty="0"/>
          </a:p>
        </p:txBody>
      </p:sp>
      <p:sp>
        <p:nvSpPr>
          <p:cNvPr id="18" name="Text 16"/>
          <p:cNvSpPr/>
          <p:nvPr/>
        </p:nvSpPr>
        <p:spPr>
          <a:xfrm>
            <a:off x="8778240" y="4443984"/>
            <a:ext cx="2743200" cy="384048"/>
          </a:xfrm>
          <a:prstGeom prst="rect">
            <a:avLst/>
          </a:prstGeom>
          <a:noFill/>
          <a:ln/>
        </p:spPr>
        <p:txBody>
          <a:bodyPr wrap="square" lIns="0" tIns="0" rIns="0" bIns="0" rtlCol="0" anchor="ctr"/>
          <a:lstStyle/>
          <a:p>
            <a:pPr indent="0" marL="0">
              <a:lnSpc>
                <a:spcPts val="1400"/>
              </a:lnSpc>
              <a:buNone/>
            </a:pPr>
            <a:r>
              <a:rPr lang="en-US" sz="1100" dirty="0">
                <a:solidFill>
                  <a:srgbClr val="4A4360"/>
                </a:solidFill>
                <a:latin typeface="Calibri" pitchFamily="34" charset="0"/>
                <a:ea typeface="Calibri" pitchFamily="34" charset="-122"/>
                <a:cs typeface="Calibri" pitchFamily="34" charset="-120"/>
              </a:rPr>
              <a:t>% of a new product built from existing components</a:t>
            </a:r>
            <a:endParaRPr lang="en-US" sz="1100" dirty="0"/>
          </a:p>
        </p:txBody>
      </p:sp>
      <p:sp>
        <p:nvSpPr>
          <p:cNvPr id="19" name="Shape 17"/>
          <p:cNvSpPr/>
          <p:nvPr/>
        </p:nvSpPr>
        <p:spPr>
          <a:xfrm rot="5400000">
            <a:off x="6949440" y="5056632"/>
            <a:ext cx="256032" cy="256032"/>
          </a:xfrm>
          <a:prstGeom prst="hexagon">
            <a:avLst/>
          </a:prstGeom>
          <a:solidFill>
            <a:srgbClr val="6C4FE0"/>
          </a:solidFill>
          <a:ln/>
        </p:spPr>
      </p:sp>
      <p:sp>
        <p:nvSpPr>
          <p:cNvPr id="20" name="Text 18"/>
          <p:cNvSpPr/>
          <p:nvPr/>
        </p:nvSpPr>
        <p:spPr>
          <a:xfrm>
            <a:off x="7315200" y="5010912"/>
            <a:ext cx="1417320" cy="329184"/>
          </a:xfrm>
          <a:prstGeom prst="rect">
            <a:avLst/>
          </a:prstGeom>
          <a:noFill/>
          <a:ln/>
        </p:spPr>
        <p:txBody>
          <a:bodyPr wrap="square" lIns="0" tIns="0" rIns="0" bIns="0" rtlCol="0" anchor="ctr"/>
          <a:lstStyle/>
          <a:p>
            <a:pPr indent="0" marL="0">
              <a:buNone/>
            </a:pPr>
            <a:r>
              <a:rPr lang="en-US" sz="1150" b="1" dirty="0">
                <a:solidFill>
                  <a:srgbClr val="241E33"/>
                </a:solidFill>
                <a:latin typeface="Calibri" pitchFamily="34" charset="0"/>
                <a:ea typeface="Calibri" pitchFamily="34" charset="-122"/>
                <a:cs typeface="Calibri" pitchFamily="34" charset="-120"/>
              </a:rPr>
              <a:t>Feedback loop</a:t>
            </a:r>
            <a:endParaRPr lang="en-US" sz="1150" dirty="0"/>
          </a:p>
        </p:txBody>
      </p:sp>
      <p:sp>
        <p:nvSpPr>
          <p:cNvPr id="21" name="Text 19"/>
          <p:cNvSpPr/>
          <p:nvPr/>
        </p:nvSpPr>
        <p:spPr>
          <a:xfrm>
            <a:off x="8778240" y="5010912"/>
            <a:ext cx="2743200" cy="384048"/>
          </a:xfrm>
          <a:prstGeom prst="rect">
            <a:avLst/>
          </a:prstGeom>
          <a:noFill/>
          <a:ln/>
        </p:spPr>
        <p:txBody>
          <a:bodyPr wrap="square" lIns="0" tIns="0" rIns="0" bIns="0" rtlCol="0" anchor="ctr"/>
          <a:lstStyle/>
          <a:p>
            <a:pPr indent="0" marL="0">
              <a:lnSpc>
                <a:spcPts val="1400"/>
              </a:lnSpc>
              <a:buNone/>
            </a:pPr>
            <a:r>
              <a:rPr lang="en-US" sz="1100" dirty="0">
                <a:solidFill>
                  <a:srgbClr val="4A4360"/>
                </a:solidFill>
                <a:latin typeface="Calibri" pitchFamily="34" charset="0"/>
                <a:ea typeface="Calibri" pitchFamily="34" charset="-122"/>
                <a:cs typeface="Calibri" pitchFamily="34" charset="-120"/>
              </a:rPr>
              <a:t>% of usability findings actioned</a:t>
            </a:r>
            <a:endParaRPr lang="en-US" sz="1100" dirty="0"/>
          </a:p>
        </p:txBody>
      </p:sp>
      <p:sp>
        <p:nvSpPr>
          <p:cNvPr id="22" name="Shape 20"/>
          <p:cNvSpPr/>
          <p:nvPr/>
        </p:nvSpPr>
        <p:spPr>
          <a:xfrm>
            <a:off x="640080" y="5623560"/>
            <a:ext cx="10607040" cy="566928"/>
          </a:xfrm>
          <a:prstGeom prst="roundRect">
            <a:avLst>
              <a:gd name="adj" fmla="val 19355"/>
            </a:avLst>
          </a:prstGeom>
          <a:solidFill>
            <a:srgbClr val="FBF3E0"/>
          </a:solidFill>
          <a:ln/>
        </p:spPr>
      </p:sp>
      <p:sp>
        <p:nvSpPr>
          <p:cNvPr id="23" name="Text 21"/>
          <p:cNvSpPr/>
          <p:nvPr/>
        </p:nvSpPr>
        <p:spPr>
          <a:xfrm>
            <a:off x="914400" y="5623560"/>
            <a:ext cx="10058400" cy="566928"/>
          </a:xfrm>
          <a:prstGeom prst="rect">
            <a:avLst/>
          </a:prstGeom>
          <a:noFill/>
          <a:ln/>
        </p:spPr>
        <p:txBody>
          <a:bodyPr wrap="square" lIns="0" tIns="0" rIns="0" bIns="0" rtlCol="0" anchor="ctr"/>
          <a:lstStyle/>
          <a:p>
            <a:pPr indent="0" marL="0">
              <a:buNone/>
            </a:pPr>
            <a:r>
              <a:rPr lang="en-US" sz="1200" b="1" dirty="0">
                <a:solidFill>
                  <a:srgbClr val="8A5B00"/>
                </a:solidFill>
                <a:latin typeface="Calibri" pitchFamily="34" charset="0"/>
                <a:ea typeface="Calibri" pitchFamily="34" charset="-122"/>
                <a:cs typeface="Calibri" pitchFamily="34" charset="-120"/>
              </a:rPr>
              <a:t>Does not own:  </a:t>
            </a:r>
            <a:pPr indent="0" marL="0">
              <a:buNone/>
            </a:pPr>
            <a:r>
              <a:rPr lang="en-US" sz="1200" dirty="0">
                <a:solidFill>
                  <a:srgbClr val="8A5B00"/>
                </a:solidFill>
                <a:latin typeface="Calibri" pitchFamily="34" charset="0"/>
                <a:ea typeface="Calibri" pitchFamily="34" charset="-122"/>
                <a:cs typeface="Calibri" pitchFamily="34" charset="-120"/>
              </a:rPr>
              <a:t>Brand, pricing and channel decisions route through the CMO.</a:t>
            </a:r>
            <a:endParaRPr lang="en-US"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ROLE</a:t>
            </a:r>
            <a:endParaRPr lang="en-US" sz="1150" dirty="0"/>
          </a:p>
        </p:txBody>
      </p:sp>
      <p:sp>
        <p:nvSpPr>
          <p:cNvPr id="3" name="Text 1"/>
          <p:cNvSpPr/>
          <p:nvPr/>
        </p:nvSpPr>
        <p:spPr>
          <a:xfrm>
            <a:off x="640080" y="694944"/>
            <a:ext cx="106070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Amrita</a:t>
            </a:r>
            <a:endParaRPr lang="en-US" sz="2900" dirty="0"/>
          </a:p>
        </p:txBody>
      </p:sp>
      <p:sp>
        <p:nvSpPr>
          <p:cNvPr id="4" name="Text 2"/>
          <p:cNvSpPr/>
          <p:nvPr/>
        </p:nvSpPr>
        <p:spPr>
          <a:xfrm>
            <a:off x="640080" y="1371600"/>
            <a:ext cx="10607040" cy="329184"/>
          </a:xfrm>
          <a:prstGeom prst="rect">
            <a:avLst/>
          </a:prstGeom>
          <a:noFill/>
          <a:ln/>
        </p:spPr>
        <p:txBody>
          <a:bodyPr wrap="square" lIns="0" tIns="0" rIns="0" bIns="0" rtlCol="0" anchor="ctr"/>
          <a:lstStyle/>
          <a:p>
            <a:pPr indent="0" marL="0">
              <a:buNone/>
            </a:pPr>
            <a:r>
              <a:rPr lang="en-US" sz="1450" b="1" dirty="0">
                <a:solidFill>
                  <a:srgbClr val="8A5B00"/>
                </a:solidFill>
                <a:latin typeface="Calibri" pitchFamily="34" charset="0"/>
                <a:ea typeface="Calibri" pitchFamily="34" charset="-122"/>
                <a:cs typeface="Calibri" pitchFamily="34" charset="-120"/>
              </a:rPr>
              <a:t>Co-Founder &amp; Chief Marketing and Growth Officer</a:t>
            </a:r>
            <a:endParaRPr lang="en-US" sz="1450" dirty="0"/>
          </a:p>
        </p:txBody>
      </p:sp>
      <p:sp>
        <p:nvSpPr>
          <p:cNvPr id="5" name="Shape 3"/>
          <p:cNvSpPr/>
          <p:nvPr/>
        </p:nvSpPr>
        <p:spPr>
          <a:xfrm>
            <a:off x="640080" y="1810512"/>
            <a:ext cx="10607040" cy="960120"/>
          </a:xfrm>
          <a:prstGeom prst="roundRect">
            <a:avLst>
              <a:gd name="adj" fmla="val 13333"/>
            </a:avLst>
          </a:prstGeom>
          <a:solidFill>
            <a:srgbClr val="EFEBF8"/>
          </a:solidFill>
          <a:ln/>
          <a:effectLst>
            <a:outerShdw sx="100000" sy="100000" kx="0" ky="0" algn="bl" rotWithShape="0" blurRad="127000" dist="25400" dir="5400000">
              <a:srgbClr val="241E33">
                <a:alpha val="10000"/>
              </a:srgbClr>
            </a:outerShdw>
          </a:effectLst>
        </p:spPr>
      </p:sp>
      <p:sp>
        <p:nvSpPr>
          <p:cNvPr id="6" name="Text 4"/>
          <p:cNvSpPr/>
          <p:nvPr/>
        </p:nvSpPr>
        <p:spPr>
          <a:xfrm>
            <a:off x="950976" y="1956816"/>
            <a:ext cx="9966960" cy="713232"/>
          </a:xfrm>
          <a:prstGeom prst="rect">
            <a:avLst/>
          </a:prstGeom>
          <a:noFill/>
          <a:ln/>
        </p:spPr>
        <p:txBody>
          <a:bodyPr wrap="square" lIns="0" tIns="0" rIns="0" bIns="0" rtlCol="0" anchor="ctr"/>
          <a:lstStyle/>
          <a:p>
            <a:pPr indent="0" marL="0">
              <a:lnSpc>
                <a:spcPts val="1800"/>
              </a:lnSpc>
              <a:buNone/>
            </a:pPr>
            <a:r>
              <a:rPr lang="en-US" sz="1350" dirty="0">
                <a:solidFill>
                  <a:srgbClr val="3A3352"/>
                </a:solidFill>
                <a:latin typeface="Calibri" pitchFamily="34" charset="0"/>
                <a:ea typeface="Calibri" pitchFamily="34" charset="-122"/>
                <a:cs typeface="Calibri" pitchFamily="34" charset="-120"/>
              </a:rPr>
              <a:t>Owns everything that gets a family to discover Bizzing, decide to trust it, and want to buy something with the logo on it. Run AI-first and deliberately lean: no agency, no editorial headcount.</a:t>
            </a:r>
            <a:endParaRPr lang="en-US" sz="1350" dirty="0"/>
          </a:p>
        </p:txBody>
      </p:sp>
      <p:sp>
        <p:nvSpPr>
          <p:cNvPr id="7" name="Text 5"/>
          <p:cNvSpPr/>
          <p:nvPr/>
        </p:nvSpPr>
        <p:spPr>
          <a:xfrm>
            <a:off x="640080" y="2999232"/>
            <a:ext cx="3657600" cy="256032"/>
          </a:xfrm>
          <a:prstGeom prst="rect">
            <a:avLst/>
          </a:prstGeom>
          <a:noFill/>
          <a:ln/>
        </p:spPr>
        <p:txBody>
          <a:bodyPr wrap="square" lIns="0" tIns="0" rIns="0" bIns="0" rtlCol="0" anchor="ctr"/>
          <a:lstStyle/>
          <a:p>
            <a:pPr indent="0" marL="0">
              <a:buNone/>
            </a:pPr>
            <a:r>
              <a:rPr lang="en-US" sz="1050" b="1" spc="200" kern="0" dirty="0">
                <a:solidFill>
                  <a:srgbClr val="6C4FE0"/>
                </a:solidFill>
                <a:latin typeface="Calibri" pitchFamily="34" charset="0"/>
                <a:ea typeface="Calibri" pitchFamily="34" charset="-122"/>
                <a:cs typeface="Calibri" pitchFamily="34" charset="-120"/>
              </a:rPr>
              <a:t>OWNS</a:t>
            </a:r>
            <a:endParaRPr lang="en-US" sz="1050" dirty="0"/>
          </a:p>
        </p:txBody>
      </p:sp>
      <p:sp>
        <p:nvSpPr>
          <p:cNvPr id="8" name="Text 6"/>
          <p:cNvSpPr/>
          <p:nvPr/>
        </p:nvSpPr>
        <p:spPr>
          <a:xfrm>
            <a:off x="685800" y="3310128"/>
            <a:ext cx="6035040" cy="2103120"/>
          </a:xfrm>
          <a:prstGeom prst="rect">
            <a:avLst/>
          </a:prstGeom>
          <a:noFill/>
          <a:ln/>
        </p:spPr>
        <p:txBody>
          <a:bodyPr wrap="square" lIns="0" tIns="0" rIns="0" bIns="0" rtlCol="0" anchor="ctr"/>
          <a:lstStyle/>
          <a:p>
            <a:pPr marL="342900" indent="-342900">
              <a:lnSpc>
                <a:spcPts val="1600"/>
              </a:lnSpc>
              <a:spcAft>
                <a:spcPts val="700"/>
              </a:spcAft>
              <a:buSzPct val="100000"/>
              <a:buChar char="•"/>
            </a:pPr>
            <a:r>
              <a:rPr lang="en-US" sz="1250" dirty="0">
                <a:solidFill>
                  <a:srgbClr val="4A4360"/>
                </a:solidFill>
                <a:latin typeface="Calibri" pitchFamily="34" charset="0"/>
                <a:ea typeface="Calibri" pitchFamily="34" charset="-122"/>
                <a:cs typeface="Calibri" pitchFamily="34" charset="-120"/>
              </a:rPr>
              <a:t>Brand strategy — positioning, voice, visual identity, messaging</a:t>
            </a:r>
            <a:endParaRPr lang="en-US" sz="1250" dirty="0"/>
          </a:p>
          <a:p>
            <a:pPr marL="342900" indent="-342900">
              <a:lnSpc>
                <a:spcPts val="1600"/>
              </a:lnSpc>
              <a:spcAft>
                <a:spcPts val="700"/>
              </a:spcAft>
              <a:buSzPct val="100000"/>
              <a:buChar char="•"/>
            </a:pPr>
            <a:r>
              <a:rPr lang="en-US" sz="1250" dirty="0">
                <a:solidFill>
                  <a:srgbClr val="4A4360"/>
                </a:solidFill>
                <a:latin typeface="Calibri" pitchFamily="34" charset="0"/>
                <a:ea typeface="Calibri" pitchFamily="34" charset="-122"/>
                <a:cs typeface="Calibri" pitchFamily="34" charset="-120"/>
              </a:rPr>
              <a:t>Performance marketing — Meta and Google; owns CAC, ROAS and budget</a:t>
            </a:r>
            <a:endParaRPr lang="en-US" sz="1250" dirty="0"/>
          </a:p>
          <a:p>
            <a:pPr marL="342900" indent="-342900">
              <a:lnSpc>
                <a:spcPts val="1600"/>
              </a:lnSpc>
              <a:spcAft>
                <a:spcPts val="700"/>
              </a:spcAft>
              <a:buSzPct val="100000"/>
              <a:buChar char="•"/>
            </a:pPr>
            <a:r>
              <a:rPr lang="en-US" sz="1250" dirty="0">
                <a:solidFill>
                  <a:srgbClr val="4A4360"/>
                </a:solidFill>
                <a:latin typeface="Calibri" pitchFamily="34" charset="0"/>
                <a:ea typeface="Calibri" pitchFamily="34" charset="-122"/>
                <a:cs typeface="Calibri" pitchFamily="34" charset="-120"/>
              </a:rPr>
              <a:t>Marketing analytics — AI-built dashboards for funnel, cohort and channel</a:t>
            </a:r>
            <a:endParaRPr lang="en-US" sz="1250" dirty="0"/>
          </a:p>
          <a:p>
            <a:pPr marL="342900" indent="-342900">
              <a:lnSpc>
                <a:spcPts val="1600"/>
              </a:lnSpc>
              <a:spcAft>
                <a:spcPts val="700"/>
              </a:spcAft>
              <a:buSzPct val="100000"/>
              <a:buChar char="•"/>
            </a:pPr>
            <a:r>
              <a:rPr lang="en-US" sz="1250" dirty="0">
                <a:solidFill>
                  <a:srgbClr val="4A4360"/>
                </a:solidFill>
                <a:latin typeface="Calibri" pitchFamily="34" charset="0"/>
                <a:ea typeface="Calibri" pitchFamily="34" charset="-122"/>
                <a:cs typeface="Calibri" pitchFamily="34" charset="-120"/>
              </a:rPr>
              <a:t>Content and video, produced in-house with AI tools</a:t>
            </a:r>
            <a:endParaRPr lang="en-US" sz="1250" dirty="0"/>
          </a:p>
          <a:p>
            <a:pPr marL="342900" indent="-342900">
              <a:lnSpc>
                <a:spcPts val="1600"/>
              </a:lnSpc>
              <a:spcAft>
                <a:spcPts val="700"/>
              </a:spcAft>
              <a:buSzPct val="100000"/>
              <a:buChar char="•"/>
            </a:pPr>
            <a:r>
              <a:rPr lang="en-US" sz="1250" dirty="0">
                <a:solidFill>
                  <a:srgbClr val="4A4360"/>
                </a:solidFill>
                <a:latin typeface="Calibri" pitchFamily="34" charset="0"/>
                <a:ea typeface="Calibri" pitchFamily="34" charset="-122"/>
                <a:cs typeface="Calibri" pitchFamily="34" charset="-120"/>
              </a:rPr>
              <a:t>Pricing, merch, events, influencer partnerships</a:t>
            </a:r>
            <a:endParaRPr lang="en-US" sz="1250" dirty="0"/>
          </a:p>
          <a:p>
            <a:pPr marL="342900" indent="-342900">
              <a:lnSpc>
                <a:spcPts val="1600"/>
              </a:lnSpc>
              <a:spcAft>
                <a:spcPts val="700"/>
              </a:spcAft>
              <a:buSzPct val="100000"/>
              <a:buChar char="•"/>
            </a:pPr>
            <a:r>
              <a:rPr lang="en-US" sz="1250" dirty="0">
                <a:solidFill>
                  <a:srgbClr val="4A4360"/>
                </a:solidFill>
                <a:latin typeface="Calibri" pitchFamily="34" charset="0"/>
                <a:ea typeface="Calibri" pitchFamily="34" charset="-122"/>
                <a:cs typeface="Calibri" pitchFamily="34" charset="-120"/>
              </a:rPr>
              <a:t>Voice of customer — structured feedback and usability sessions</a:t>
            </a:r>
            <a:endParaRPr lang="en-US" sz="1250" dirty="0"/>
          </a:p>
        </p:txBody>
      </p:sp>
      <p:sp>
        <p:nvSpPr>
          <p:cNvPr id="9" name="Text 7"/>
          <p:cNvSpPr/>
          <p:nvPr/>
        </p:nvSpPr>
        <p:spPr>
          <a:xfrm>
            <a:off x="6949440" y="2999232"/>
            <a:ext cx="4297680" cy="256032"/>
          </a:xfrm>
          <a:prstGeom prst="rect">
            <a:avLst/>
          </a:prstGeom>
          <a:noFill/>
          <a:ln/>
        </p:spPr>
        <p:txBody>
          <a:bodyPr wrap="square" lIns="0" tIns="0" rIns="0" bIns="0" rtlCol="0" anchor="ctr"/>
          <a:lstStyle/>
          <a:p>
            <a:pPr indent="0" marL="0">
              <a:buNone/>
            </a:pPr>
            <a:r>
              <a:rPr lang="en-US" sz="1050" b="1" spc="200" kern="0" dirty="0">
                <a:solidFill>
                  <a:srgbClr val="6C4FE0"/>
                </a:solidFill>
                <a:latin typeface="Calibri" pitchFamily="34" charset="0"/>
                <a:ea typeface="Calibri" pitchFamily="34" charset="-122"/>
                <a:cs typeface="Calibri" pitchFamily="34" charset="-120"/>
              </a:rPr>
              <a:t>SUCCESS METRICS</a:t>
            </a:r>
            <a:endParaRPr lang="en-US" sz="1050" dirty="0"/>
          </a:p>
        </p:txBody>
      </p:sp>
      <p:sp>
        <p:nvSpPr>
          <p:cNvPr id="10" name="Shape 8"/>
          <p:cNvSpPr/>
          <p:nvPr/>
        </p:nvSpPr>
        <p:spPr>
          <a:xfrm rot="5400000">
            <a:off x="6949440" y="3355848"/>
            <a:ext cx="256032" cy="256032"/>
          </a:xfrm>
          <a:prstGeom prst="hexagon">
            <a:avLst/>
          </a:prstGeom>
          <a:solidFill>
            <a:srgbClr val="F0B429"/>
          </a:solidFill>
          <a:ln/>
        </p:spPr>
      </p:sp>
      <p:sp>
        <p:nvSpPr>
          <p:cNvPr id="11" name="Text 9"/>
          <p:cNvSpPr/>
          <p:nvPr/>
        </p:nvSpPr>
        <p:spPr>
          <a:xfrm>
            <a:off x="7315200" y="3310128"/>
            <a:ext cx="1417320" cy="329184"/>
          </a:xfrm>
          <a:prstGeom prst="rect">
            <a:avLst/>
          </a:prstGeom>
          <a:noFill/>
          <a:ln/>
        </p:spPr>
        <p:txBody>
          <a:bodyPr wrap="square" lIns="0" tIns="0" rIns="0" bIns="0" rtlCol="0" anchor="ctr"/>
          <a:lstStyle/>
          <a:p>
            <a:pPr indent="0" marL="0">
              <a:buNone/>
            </a:pPr>
            <a:r>
              <a:rPr lang="en-US" sz="1150" b="1" dirty="0">
                <a:solidFill>
                  <a:srgbClr val="241E33"/>
                </a:solidFill>
                <a:latin typeface="Calibri" pitchFamily="34" charset="0"/>
                <a:ea typeface="Calibri" pitchFamily="34" charset="-122"/>
                <a:cs typeface="Calibri" pitchFamily="34" charset="-120"/>
              </a:rPr>
              <a:t>Acquisition</a:t>
            </a:r>
            <a:endParaRPr lang="en-US" sz="1150" dirty="0"/>
          </a:p>
        </p:txBody>
      </p:sp>
      <p:sp>
        <p:nvSpPr>
          <p:cNvPr id="12" name="Text 10"/>
          <p:cNvSpPr/>
          <p:nvPr/>
        </p:nvSpPr>
        <p:spPr>
          <a:xfrm>
            <a:off x="8778240" y="3310128"/>
            <a:ext cx="2743200" cy="384048"/>
          </a:xfrm>
          <a:prstGeom prst="rect">
            <a:avLst/>
          </a:prstGeom>
          <a:noFill/>
          <a:ln/>
        </p:spPr>
        <p:txBody>
          <a:bodyPr wrap="square" lIns="0" tIns="0" rIns="0" bIns="0" rtlCol="0" anchor="ctr"/>
          <a:lstStyle/>
          <a:p>
            <a:pPr indent="0" marL="0">
              <a:lnSpc>
                <a:spcPts val="1400"/>
              </a:lnSpc>
              <a:buNone/>
            </a:pPr>
            <a:r>
              <a:rPr lang="en-US" sz="1100" dirty="0">
                <a:solidFill>
                  <a:srgbClr val="4A4360"/>
                </a:solidFill>
                <a:latin typeface="Calibri" pitchFamily="34" charset="0"/>
                <a:ea typeface="Calibri" pitchFamily="34" charset="-122"/>
                <a:cs typeface="Calibri" pitchFamily="34" charset="-120"/>
              </a:rPr>
              <a:t>MoM qualified traffic growth; CAC down per channel</a:t>
            </a:r>
            <a:endParaRPr lang="en-US" sz="1100" dirty="0"/>
          </a:p>
        </p:txBody>
      </p:sp>
      <p:sp>
        <p:nvSpPr>
          <p:cNvPr id="13" name="Shape 11"/>
          <p:cNvSpPr/>
          <p:nvPr/>
        </p:nvSpPr>
        <p:spPr>
          <a:xfrm rot="5400000">
            <a:off x="6949440" y="3922776"/>
            <a:ext cx="256032" cy="256032"/>
          </a:xfrm>
          <a:prstGeom prst="hexagon">
            <a:avLst/>
          </a:prstGeom>
          <a:solidFill>
            <a:srgbClr val="F0B429"/>
          </a:solidFill>
          <a:ln/>
        </p:spPr>
      </p:sp>
      <p:sp>
        <p:nvSpPr>
          <p:cNvPr id="14" name="Text 12"/>
          <p:cNvSpPr/>
          <p:nvPr/>
        </p:nvSpPr>
        <p:spPr>
          <a:xfrm>
            <a:off x="7315200" y="3877056"/>
            <a:ext cx="1417320" cy="329184"/>
          </a:xfrm>
          <a:prstGeom prst="rect">
            <a:avLst/>
          </a:prstGeom>
          <a:noFill/>
          <a:ln/>
        </p:spPr>
        <p:txBody>
          <a:bodyPr wrap="square" lIns="0" tIns="0" rIns="0" bIns="0" rtlCol="0" anchor="ctr"/>
          <a:lstStyle/>
          <a:p>
            <a:pPr indent="0" marL="0">
              <a:buNone/>
            </a:pPr>
            <a:r>
              <a:rPr lang="en-US" sz="1150" b="1" dirty="0">
                <a:solidFill>
                  <a:srgbClr val="241E33"/>
                </a:solidFill>
                <a:latin typeface="Calibri" pitchFamily="34" charset="0"/>
                <a:ea typeface="Calibri" pitchFamily="34" charset="-122"/>
                <a:cs typeface="Calibri" pitchFamily="34" charset="-120"/>
              </a:rPr>
              <a:t>Paid efficiency</a:t>
            </a:r>
            <a:endParaRPr lang="en-US" sz="1150" dirty="0"/>
          </a:p>
        </p:txBody>
      </p:sp>
      <p:sp>
        <p:nvSpPr>
          <p:cNvPr id="15" name="Text 13"/>
          <p:cNvSpPr/>
          <p:nvPr/>
        </p:nvSpPr>
        <p:spPr>
          <a:xfrm>
            <a:off x="8778240" y="3877056"/>
            <a:ext cx="2743200" cy="384048"/>
          </a:xfrm>
          <a:prstGeom prst="rect">
            <a:avLst/>
          </a:prstGeom>
          <a:noFill/>
          <a:ln/>
        </p:spPr>
        <p:txBody>
          <a:bodyPr wrap="square" lIns="0" tIns="0" rIns="0" bIns="0" rtlCol="0" anchor="ctr"/>
          <a:lstStyle/>
          <a:p>
            <a:pPr indent="0" marL="0">
              <a:lnSpc>
                <a:spcPts val="1400"/>
              </a:lnSpc>
              <a:buNone/>
            </a:pPr>
            <a:r>
              <a:rPr lang="en-US" sz="1100" dirty="0">
                <a:solidFill>
                  <a:srgbClr val="4A4360"/>
                </a:solidFill>
                <a:latin typeface="Calibri" pitchFamily="34" charset="0"/>
                <a:ea typeface="Calibri" pitchFamily="34" charset="-122"/>
                <a:cs typeface="Calibri" pitchFamily="34" charset="-120"/>
              </a:rPr>
              <a:t>ROAS target per platform; spend within budget</a:t>
            </a:r>
            <a:endParaRPr lang="en-US" sz="1100" dirty="0"/>
          </a:p>
        </p:txBody>
      </p:sp>
      <p:sp>
        <p:nvSpPr>
          <p:cNvPr id="16" name="Shape 14"/>
          <p:cNvSpPr/>
          <p:nvPr/>
        </p:nvSpPr>
        <p:spPr>
          <a:xfrm rot="5400000">
            <a:off x="6949440" y="4489704"/>
            <a:ext cx="256032" cy="256032"/>
          </a:xfrm>
          <a:prstGeom prst="hexagon">
            <a:avLst/>
          </a:prstGeom>
          <a:solidFill>
            <a:srgbClr val="F0B429"/>
          </a:solidFill>
          <a:ln/>
        </p:spPr>
      </p:sp>
      <p:sp>
        <p:nvSpPr>
          <p:cNvPr id="17" name="Text 15"/>
          <p:cNvSpPr/>
          <p:nvPr/>
        </p:nvSpPr>
        <p:spPr>
          <a:xfrm>
            <a:off x="7315200" y="4443984"/>
            <a:ext cx="1417320" cy="329184"/>
          </a:xfrm>
          <a:prstGeom prst="rect">
            <a:avLst/>
          </a:prstGeom>
          <a:noFill/>
          <a:ln/>
        </p:spPr>
        <p:txBody>
          <a:bodyPr wrap="square" lIns="0" tIns="0" rIns="0" bIns="0" rtlCol="0" anchor="ctr"/>
          <a:lstStyle/>
          <a:p>
            <a:pPr indent="0" marL="0">
              <a:buNone/>
            </a:pPr>
            <a:r>
              <a:rPr lang="en-US" sz="1150" b="1" dirty="0">
                <a:solidFill>
                  <a:srgbClr val="241E33"/>
                </a:solidFill>
                <a:latin typeface="Calibri" pitchFamily="34" charset="0"/>
                <a:ea typeface="Calibri" pitchFamily="34" charset="-122"/>
                <a:cs typeface="Calibri" pitchFamily="34" charset="-120"/>
              </a:rPr>
              <a:t>Conversion</a:t>
            </a:r>
            <a:endParaRPr lang="en-US" sz="1150" dirty="0"/>
          </a:p>
        </p:txBody>
      </p:sp>
      <p:sp>
        <p:nvSpPr>
          <p:cNvPr id="18" name="Text 16"/>
          <p:cNvSpPr/>
          <p:nvPr/>
        </p:nvSpPr>
        <p:spPr>
          <a:xfrm>
            <a:off x="8778240" y="4443984"/>
            <a:ext cx="2743200" cy="384048"/>
          </a:xfrm>
          <a:prstGeom prst="rect">
            <a:avLst/>
          </a:prstGeom>
          <a:noFill/>
          <a:ln/>
        </p:spPr>
        <p:txBody>
          <a:bodyPr wrap="square" lIns="0" tIns="0" rIns="0" bIns="0" rtlCol="0" anchor="ctr"/>
          <a:lstStyle/>
          <a:p>
            <a:pPr indent="0" marL="0">
              <a:lnSpc>
                <a:spcPts val="1400"/>
              </a:lnSpc>
              <a:buNone/>
            </a:pPr>
            <a:r>
              <a:rPr lang="en-US" sz="1100" dirty="0">
                <a:solidFill>
                  <a:srgbClr val="4A4360"/>
                </a:solidFill>
                <a:latin typeface="Calibri" pitchFamily="34" charset="0"/>
                <a:ea typeface="Calibri" pitchFamily="34" charset="-122"/>
                <a:cs typeface="Calibri" pitchFamily="34" charset="-120"/>
              </a:rPr>
              <a:t>Free-to-paid rate; merch attach rate</a:t>
            </a:r>
            <a:endParaRPr lang="en-US" sz="1100" dirty="0"/>
          </a:p>
        </p:txBody>
      </p:sp>
      <p:sp>
        <p:nvSpPr>
          <p:cNvPr id="19" name="Shape 17"/>
          <p:cNvSpPr/>
          <p:nvPr/>
        </p:nvSpPr>
        <p:spPr>
          <a:xfrm rot="5400000">
            <a:off x="6949440" y="5056632"/>
            <a:ext cx="256032" cy="256032"/>
          </a:xfrm>
          <a:prstGeom prst="hexagon">
            <a:avLst/>
          </a:prstGeom>
          <a:solidFill>
            <a:srgbClr val="F0B429"/>
          </a:solidFill>
          <a:ln/>
        </p:spPr>
      </p:sp>
      <p:sp>
        <p:nvSpPr>
          <p:cNvPr id="20" name="Text 18"/>
          <p:cNvSpPr/>
          <p:nvPr/>
        </p:nvSpPr>
        <p:spPr>
          <a:xfrm>
            <a:off x="7315200" y="5010912"/>
            <a:ext cx="1417320" cy="329184"/>
          </a:xfrm>
          <a:prstGeom prst="rect">
            <a:avLst/>
          </a:prstGeom>
          <a:noFill/>
          <a:ln/>
        </p:spPr>
        <p:txBody>
          <a:bodyPr wrap="square" lIns="0" tIns="0" rIns="0" bIns="0" rtlCol="0" anchor="ctr"/>
          <a:lstStyle/>
          <a:p>
            <a:pPr indent="0" marL="0">
              <a:buNone/>
            </a:pPr>
            <a:r>
              <a:rPr lang="en-US" sz="1150" b="1" dirty="0">
                <a:solidFill>
                  <a:srgbClr val="241E33"/>
                </a:solidFill>
                <a:latin typeface="Calibri" pitchFamily="34" charset="0"/>
                <a:ea typeface="Calibri" pitchFamily="34" charset="-122"/>
                <a:cs typeface="Calibri" pitchFamily="34" charset="-120"/>
              </a:rPr>
              <a:t>Content</a:t>
            </a:r>
            <a:endParaRPr lang="en-US" sz="1150" dirty="0"/>
          </a:p>
        </p:txBody>
      </p:sp>
      <p:sp>
        <p:nvSpPr>
          <p:cNvPr id="21" name="Text 19"/>
          <p:cNvSpPr/>
          <p:nvPr/>
        </p:nvSpPr>
        <p:spPr>
          <a:xfrm>
            <a:off x="8778240" y="5010912"/>
            <a:ext cx="2743200" cy="384048"/>
          </a:xfrm>
          <a:prstGeom prst="rect">
            <a:avLst/>
          </a:prstGeom>
          <a:noFill/>
          <a:ln/>
        </p:spPr>
        <p:txBody>
          <a:bodyPr wrap="square" lIns="0" tIns="0" rIns="0" bIns="0" rtlCol="0" anchor="ctr"/>
          <a:lstStyle/>
          <a:p>
            <a:pPr indent="0" marL="0">
              <a:lnSpc>
                <a:spcPts val="1400"/>
              </a:lnSpc>
              <a:buNone/>
            </a:pPr>
            <a:r>
              <a:rPr lang="en-US" sz="1100" dirty="0">
                <a:solidFill>
                  <a:srgbClr val="4A4360"/>
                </a:solidFill>
                <a:latin typeface="Calibri" pitchFamily="34" charset="0"/>
                <a:ea typeface="Calibri" pitchFamily="34" charset="-122"/>
                <a:cs typeface="Calibri" pitchFamily="34" charset="-120"/>
              </a:rPr>
              <a:t>Volume produced in-house; $0 on external editors</a:t>
            </a:r>
            <a:endParaRPr lang="en-US" sz="1100" dirty="0"/>
          </a:p>
        </p:txBody>
      </p:sp>
      <p:sp>
        <p:nvSpPr>
          <p:cNvPr id="22" name="Shape 20"/>
          <p:cNvSpPr/>
          <p:nvPr/>
        </p:nvSpPr>
        <p:spPr>
          <a:xfrm>
            <a:off x="640080" y="5623560"/>
            <a:ext cx="10607040" cy="566928"/>
          </a:xfrm>
          <a:prstGeom prst="roundRect">
            <a:avLst>
              <a:gd name="adj" fmla="val 19355"/>
            </a:avLst>
          </a:prstGeom>
          <a:solidFill>
            <a:srgbClr val="FBF3E0"/>
          </a:solidFill>
          <a:ln/>
        </p:spPr>
      </p:sp>
      <p:sp>
        <p:nvSpPr>
          <p:cNvPr id="23" name="Text 21"/>
          <p:cNvSpPr/>
          <p:nvPr/>
        </p:nvSpPr>
        <p:spPr>
          <a:xfrm>
            <a:off x="914400" y="5623560"/>
            <a:ext cx="10058400" cy="566928"/>
          </a:xfrm>
          <a:prstGeom prst="rect">
            <a:avLst/>
          </a:prstGeom>
          <a:noFill/>
          <a:ln/>
        </p:spPr>
        <p:txBody>
          <a:bodyPr wrap="square" lIns="0" tIns="0" rIns="0" bIns="0" rtlCol="0" anchor="ctr"/>
          <a:lstStyle/>
          <a:p>
            <a:pPr indent="0" marL="0">
              <a:buNone/>
            </a:pPr>
            <a:r>
              <a:rPr lang="en-US" sz="1200" b="1" dirty="0">
                <a:solidFill>
                  <a:srgbClr val="8A5B00"/>
                </a:solidFill>
                <a:latin typeface="Calibri" pitchFamily="34" charset="0"/>
                <a:ea typeface="Calibri" pitchFamily="34" charset="-122"/>
                <a:cs typeface="Calibri" pitchFamily="34" charset="-120"/>
              </a:rPr>
              <a:t>Does not own:  </a:t>
            </a:r>
            <a:pPr indent="0" marL="0">
              <a:buNone/>
            </a:pPr>
            <a:r>
              <a:rPr lang="en-US" sz="1200" dirty="0">
                <a:solidFill>
                  <a:srgbClr val="8A5B00"/>
                </a:solidFill>
                <a:latin typeface="Calibri" pitchFamily="34" charset="0"/>
                <a:ea typeface="Calibri" pitchFamily="34" charset="-122"/>
                <a:cs typeface="Calibri" pitchFamily="34" charset="-120"/>
              </a:rPr>
              <a:t>Architecture, engineering roadmap and final call on features sit with the CPTO.</a:t>
            </a:r>
            <a:endParaRPr lang="en-US" sz="12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ROLE</a:t>
            </a:r>
            <a:endParaRPr lang="en-US" sz="1150" dirty="0"/>
          </a:p>
        </p:txBody>
      </p:sp>
      <p:sp>
        <p:nvSpPr>
          <p:cNvPr id="3" name="Text 1"/>
          <p:cNvSpPr/>
          <p:nvPr/>
        </p:nvSpPr>
        <p:spPr>
          <a:xfrm>
            <a:off x="640080" y="694944"/>
            <a:ext cx="106070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Ahana</a:t>
            </a:r>
            <a:endParaRPr lang="en-US" sz="2900" dirty="0"/>
          </a:p>
        </p:txBody>
      </p:sp>
      <p:sp>
        <p:nvSpPr>
          <p:cNvPr id="4" name="Text 2"/>
          <p:cNvSpPr/>
          <p:nvPr/>
        </p:nvSpPr>
        <p:spPr>
          <a:xfrm>
            <a:off x="640080" y="1371600"/>
            <a:ext cx="10607040" cy="329184"/>
          </a:xfrm>
          <a:prstGeom prst="rect">
            <a:avLst/>
          </a:prstGeom>
          <a:noFill/>
          <a:ln/>
        </p:spPr>
        <p:txBody>
          <a:bodyPr wrap="square" lIns="0" tIns="0" rIns="0" bIns="0" rtlCol="0" anchor="ctr"/>
          <a:lstStyle/>
          <a:p>
            <a:pPr indent="0" marL="0">
              <a:buNone/>
            </a:pPr>
            <a:r>
              <a:rPr lang="en-US" sz="1450" b="1" dirty="0">
                <a:solidFill>
                  <a:srgbClr val="178A4C"/>
                </a:solidFill>
                <a:latin typeface="Calibri" pitchFamily="34" charset="0"/>
                <a:ea typeface="Calibri" pitchFamily="34" charset="-122"/>
                <a:cs typeface="Calibri" pitchFamily="34" charset="-120"/>
              </a:rPr>
              <a:t>Chief Kid Officer — honorary and advisory</a:t>
            </a:r>
            <a:endParaRPr lang="en-US" sz="1450" dirty="0"/>
          </a:p>
        </p:txBody>
      </p:sp>
      <p:sp>
        <p:nvSpPr>
          <p:cNvPr id="5" name="Shape 3"/>
          <p:cNvSpPr/>
          <p:nvPr/>
        </p:nvSpPr>
        <p:spPr>
          <a:xfrm>
            <a:off x="640080" y="1810512"/>
            <a:ext cx="10607040" cy="960120"/>
          </a:xfrm>
          <a:prstGeom prst="roundRect">
            <a:avLst>
              <a:gd name="adj" fmla="val 13333"/>
            </a:avLst>
          </a:prstGeom>
          <a:solidFill>
            <a:srgbClr val="EFEBF8"/>
          </a:solidFill>
          <a:ln/>
          <a:effectLst>
            <a:outerShdw sx="100000" sy="100000" kx="0" ky="0" algn="bl" rotWithShape="0" blurRad="127000" dist="25400" dir="5400000">
              <a:srgbClr val="241E33">
                <a:alpha val="10000"/>
              </a:srgbClr>
            </a:outerShdw>
          </a:effectLst>
        </p:spPr>
      </p:sp>
      <p:sp>
        <p:nvSpPr>
          <p:cNvPr id="6" name="Text 4"/>
          <p:cNvSpPr/>
          <p:nvPr/>
        </p:nvSpPr>
        <p:spPr>
          <a:xfrm>
            <a:off x="950976" y="1956816"/>
            <a:ext cx="9966960" cy="713232"/>
          </a:xfrm>
          <a:prstGeom prst="rect">
            <a:avLst/>
          </a:prstGeom>
          <a:noFill/>
          <a:ln/>
        </p:spPr>
        <p:txBody>
          <a:bodyPr wrap="square" lIns="0" tIns="0" rIns="0" bIns="0" rtlCol="0" anchor="ctr"/>
          <a:lstStyle/>
          <a:p>
            <a:pPr indent="0" marL="0">
              <a:lnSpc>
                <a:spcPts val="1800"/>
              </a:lnSpc>
              <a:buNone/>
            </a:pPr>
            <a:r>
              <a:rPr lang="en-US" sz="1350" dirty="0">
                <a:solidFill>
                  <a:srgbClr val="3A3352"/>
                </a:solidFill>
                <a:latin typeface="Calibri" pitchFamily="34" charset="0"/>
                <a:ea typeface="Calibri" pitchFamily="34" charset="-122"/>
                <a:cs typeface="Calibri" pitchFamily="34" charset="-120"/>
              </a:rPr>
              <a:t>The reason Bizzing exists and its most credible voice. Represents the real end user: tests the app as part of her own bee preparation, says plainly what is fun, boring, confusing or broken.</a:t>
            </a:r>
            <a:endParaRPr lang="en-US" sz="1350" dirty="0"/>
          </a:p>
        </p:txBody>
      </p:sp>
      <p:sp>
        <p:nvSpPr>
          <p:cNvPr id="7" name="Text 5"/>
          <p:cNvSpPr/>
          <p:nvPr/>
        </p:nvSpPr>
        <p:spPr>
          <a:xfrm>
            <a:off x="640080" y="2999232"/>
            <a:ext cx="3657600" cy="256032"/>
          </a:xfrm>
          <a:prstGeom prst="rect">
            <a:avLst/>
          </a:prstGeom>
          <a:noFill/>
          <a:ln/>
        </p:spPr>
        <p:txBody>
          <a:bodyPr wrap="square" lIns="0" tIns="0" rIns="0" bIns="0" rtlCol="0" anchor="ctr"/>
          <a:lstStyle/>
          <a:p>
            <a:pPr indent="0" marL="0">
              <a:buNone/>
            </a:pPr>
            <a:r>
              <a:rPr lang="en-US" sz="1050" b="1" spc="200" kern="0" dirty="0">
                <a:solidFill>
                  <a:srgbClr val="6C4FE0"/>
                </a:solidFill>
                <a:latin typeface="Calibri" pitchFamily="34" charset="0"/>
                <a:ea typeface="Calibri" pitchFamily="34" charset="-122"/>
                <a:cs typeface="Calibri" pitchFamily="34" charset="-120"/>
              </a:rPr>
              <a:t>OWNS</a:t>
            </a:r>
            <a:endParaRPr lang="en-US" sz="1050" dirty="0"/>
          </a:p>
        </p:txBody>
      </p:sp>
      <p:sp>
        <p:nvSpPr>
          <p:cNvPr id="8" name="Text 6"/>
          <p:cNvSpPr/>
          <p:nvPr/>
        </p:nvSpPr>
        <p:spPr>
          <a:xfrm>
            <a:off x="685800" y="3310128"/>
            <a:ext cx="6035040" cy="2103120"/>
          </a:xfrm>
          <a:prstGeom prst="rect">
            <a:avLst/>
          </a:prstGeom>
          <a:noFill/>
          <a:ln/>
        </p:spPr>
        <p:txBody>
          <a:bodyPr wrap="square" lIns="0" tIns="0" rIns="0" bIns="0" rtlCol="0" anchor="ctr"/>
          <a:lstStyle/>
          <a:p>
            <a:pPr marL="342900" indent="-342900">
              <a:lnSpc>
                <a:spcPts val="1600"/>
              </a:lnSpc>
              <a:spcAft>
                <a:spcPts val="700"/>
              </a:spcAft>
              <a:buSzPct val="100000"/>
              <a:buChar char="•"/>
            </a:pPr>
            <a:r>
              <a:rPr lang="en-US" sz="1250" dirty="0">
                <a:solidFill>
                  <a:srgbClr val="4A4360"/>
                </a:solidFill>
                <a:latin typeface="Calibri" pitchFamily="34" charset="0"/>
                <a:ea typeface="Calibri" pitchFamily="34" charset="-122"/>
                <a:cs typeface="Calibri" pitchFamily="34" charset="-120"/>
              </a:rPr>
              <a:t>Uses the app for her own spelling preparation and gives honest feedback</a:t>
            </a:r>
            <a:endParaRPr lang="en-US" sz="1250" dirty="0"/>
          </a:p>
          <a:p>
            <a:pPr marL="342900" indent="-342900">
              <a:lnSpc>
                <a:spcPts val="1600"/>
              </a:lnSpc>
              <a:spcAft>
                <a:spcPts val="700"/>
              </a:spcAft>
              <a:buSzPct val="100000"/>
              <a:buChar char="•"/>
            </a:pPr>
            <a:r>
              <a:rPr lang="en-US" sz="1250" dirty="0">
                <a:solidFill>
                  <a:srgbClr val="4A4360"/>
                </a:solidFill>
                <a:latin typeface="Calibri" pitchFamily="34" charset="0"/>
                <a:ea typeface="Calibri" pitchFamily="34" charset="-122"/>
                <a:cs typeface="Calibri" pitchFamily="34" charset="-120"/>
              </a:rPr>
              <a:t>Tries new features first in usability sessions and reacts candidly</a:t>
            </a:r>
            <a:endParaRPr lang="en-US" sz="1250" dirty="0"/>
          </a:p>
          <a:p>
            <a:pPr marL="342900" indent="-342900">
              <a:lnSpc>
                <a:spcPts val="1600"/>
              </a:lnSpc>
              <a:spcAft>
                <a:spcPts val="700"/>
              </a:spcAft>
              <a:buSzPct val="100000"/>
              <a:buChar char="•"/>
            </a:pPr>
            <a:r>
              <a:rPr lang="en-US" sz="1250" dirty="0">
                <a:solidFill>
                  <a:srgbClr val="4A4360"/>
                </a:solidFill>
                <a:latin typeface="Calibri" pitchFamily="34" charset="0"/>
                <a:ea typeface="Calibri" pitchFamily="34" charset="-122"/>
                <a:cs typeface="Calibri" pitchFamily="34" charset="-120"/>
              </a:rPr>
              <a:t>Appears in kid-appropriate marketing, always with a parent involved</a:t>
            </a:r>
            <a:endParaRPr lang="en-US" sz="1250" dirty="0"/>
          </a:p>
          <a:p>
            <a:pPr marL="342900" indent="-342900">
              <a:lnSpc>
                <a:spcPts val="1600"/>
              </a:lnSpc>
              <a:spcAft>
                <a:spcPts val="700"/>
              </a:spcAft>
              <a:buSzPct val="100000"/>
              <a:buChar char="•"/>
            </a:pPr>
            <a:r>
              <a:rPr lang="en-US" sz="1250" dirty="0">
                <a:solidFill>
                  <a:srgbClr val="4A4360"/>
                </a:solidFill>
                <a:latin typeface="Calibri" pitchFamily="34" charset="0"/>
                <a:ea typeface="Calibri" pitchFamily="34" charset="-122"/>
                <a:cs typeface="Calibri" pitchFamily="34" charset="-120"/>
              </a:rPr>
              <a:t>Longer term: hosts beginner spelling sessions to build community</a:t>
            </a:r>
            <a:endParaRPr lang="en-US" sz="1250" dirty="0"/>
          </a:p>
        </p:txBody>
      </p:sp>
      <p:sp>
        <p:nvSpPr>
          <p:cNvPr id="9" name="Text 7"/>
          <p:cNvSpPr/>
          <p:nvPr/>
        </p:nvSpPr>
        <p:spPr>
          <a:xfrm>
            <a:off x="6949440" y="2999232"/>
            <a:ext cx="4297680" cy="256032"/>
          </a:xfrm>
          <a:prstGeom prst="rect">
            <a:avLst/>
          </a:prstGeom>
          <a:noFill/>
          <a:ln/>
        </p:spPr>
        <p:txBody>
          <a:bodyPr wrap="square" lIns="0" tIns="0" rIns="0" bIns="0" rtlCol="0" anchor="ctr"/>
          <a:lstStyle/>
          <a:p>
            <a:pPr indent="0" marL="0">
              <a:buNone/>
            </a:pPr>
            <a:r>
              <a:rPr lang="en-US" sz="1050" b="1" spc="200" kern="0" dirty="0">
                <a:solidFill>
                  <a:srgbClr val="6C4FE0"/>
                </a:solidFill>
                <a:latin typeface="Calibri" pitchFamily="34" charset="0"/>
                <a:ea typeface="Calibri" pitchFamily="34" charset="-122"/>
                <a:cs typeface="Calibri" pitchFamily="34" charset="-120"/>
              </a:rPr>
              <a:t>SUCCESS METRICS</a:t>
            </a:r>
            <a:endParaRPr lang="en-US" sz="1050" dirty="0"/>
          </a:p>
        </p:txBody>
      </p:sp>
      <p:sp>
        <p:nvSpPr>
          <p:cNvPr id="10" name="Shape 8"/>
          <p:cNvSpPr/>
          <p:nvPr/>
        </p:nvSpPr>
        <p:spPr>
          <a:xfrm rot="5400000">
            <a:off x="6949440" y="3355848"/>
            <a:ext cx="256032" cy="256032"/>
          </a:xfrm>
          <a:prstGeom prst="hexagon">
            <a:avLst/>
          </a:prstGeom>
          <a:solidFill>
            <a:srgbClr val="178A4C"/>
          </a:solidFill>
          <a:ln/>
        </p:spPr>
      </p:sp>
      <p:sp>
        <p:nvSpPr>
          <p:cNvPr id="11" name="Text 9"/>
          <p:cNvSpPr/>
          <p:nvPr/>
        </p:nvSpPr>
        <p:spPr>
          <a:xfrm>
            <a:off x="7315200" y="3310128"/>
            <a:ext cx="1417320" cy="329184"/>
          </a:xfrm>
          <a:prstGeom prst="rect">
            <a:avLst/>
          </a:prstGeom>
          <a:noFill/>
          <a:ln/>
        </p:spPr>
        <p:txBody>
          <a:bodyPr wrap="square" lIns="0" tIns="0" rIns="0" bIns="0" rtlCol="0" anchor="ctr"/>
          <a:lstStyle/>
          <a:p>
            <a:pPr indent="0" marL="0">
              <a:buNone/>
            </a:pPr>
            <a:r>
              <a:rPr lang="en-US" sz="1150" b="1" dirty="0">
                <a:solidFill>
                  <a:srgbClr val="241E33"/>
                </a:solidFill>
                <a:latin typeface="Calibri" pitchFamily="34" charset="0"/>
                <a:ea typeface="Calibri" pitchFamily="34" charset="-122"/>
                <a:cs typeface="Calibri" pitchFamily="34" charset="-120"/>
              </a:rPr>
              <a:t>Feedback quality</a:t>
            </a:r>
            <a:endParaRPr lang="en-US" sz="1150" dirty="0"/>
          </a:p>
        </p:txBody>
      </p:sp>
      <p:sp>
        <p:nvSpPr>
          <p:cNvPr id="12" name="Text 10"/>
          <p:cNvSpPr/>
          <p:nvPr/>
        </p:nvSpPr>
        <p:spPr>
          <a:xfrm>
            <a:off x="8778240" y="3310128"/>
            <a:ext cx="2743200" cy="384048"/>
          </a:xfrm>
          <a:prstGeom prst="rect">
            <a:avLst/>
          </a:prstGeom>
          <a:noFill/>
          <a:ln/>
        </p:spPr>
        <p:txBody>
          <a:bodyPr wrap="square" lIns="0" tIns="0" rIns="0" bIns="0" rtlCol="0" anchor="ctr"/>
          <a:lstStyle/>
          <a:p>
            <a:pPr indent="0" marL="0">
              <a:lnSpc>
                <a:spcPts val="1400"/>
              </a:lnSpc>
              <a:buNone/>
            </a:pPr>
            <a:r>
              <a:rPr lang="en-US" sz="1100" dirty="0">
                <a:solidFill>
                  <a:srgbClr val="4A4360"/>
                </a:solidFill>
                <a:latin typeface="Calibri" pitchFamily="34" charset="0"/>
                <a:ea typeface="Calibri" pitchFamily="34" charset="-122"/>
                <a:cs typeface="Calibri" pitchFamily="34" charset="-120"/>
              </a:rPr>
              <a:t>Specific usable notes, not "it’s good"</a:t>
            </a:r>
            <a:endParaRPr lang="en-US" sz="1100" dirty="0"/>
          </a:p>
        </p:txBody>
      </p:sp>
      <p:sp>
        <p:nvSpPr>
          <p:cNvPr id="13" name="Shape 11"/>
          <p:cNvSpPr/>
          <p:nvPr/>
        </p:nvSpPr>
        <p:spPr>
          <a:xfrm rot="5400000">
            <a:off x="6949440" y="3922776"/>
            <a:ext cx="256032" cy="256032"/>
          </a:xfrm>
          <a:prstGeom prst="hexagon">
            <a:avLst/>
          </a:prstGeom>
          <a:solidFill>
            <a:srgbClr val="178A4C"/>
          </a:solidFill>
          <a:ln/>
        </p:spPr>
      </p:sp>
      <p:sp>
        <p:nvSpPr>
          <p:cNvPr id="14" name="Text 12"/>
          <p:cNvSpPr/>
          <p:nvPr/>
        </p:nvSpPr>
        <p:spPr>
          <a:xfrm>
            <a:off x="7315200" y="3877056"/>
            <a:ext cx="1417320" cy="329184"/>
          </a:xfrm>
          <a:prstGeom prst="rect">
            <a:avLst/>
          </a:prstGeom>
          <a:noFill/>
          <a:ln/>
        </p:spPr>
        <p:txBody>
          <a:bodyPr wrap="square" lIns="0" tIns="0" rIns="0" bIns="0" rtlCol="0" anchor="ctr"/>
          <a:lstStyle/>
          <a:p>
            <a:pPr indent="0" marL="0">
              <a:buNone/>
            </a:pPr>
            <a:r>
              <a:rPr lang="en-US" sz="1150" b="1" dirty="0">
                <a:solidFill>
                  <a:srgbClr val="241E33"/>
                </a:solidFill>
                <a:latin typeface="Calibri" pitchFamily="34" charset="0"/>
                <a:ea typeface="Calibri" pitchFamily="34" charset="-122"/>
                <a:cs typeface="Calibri" pitchFamily="34" charset="-120"/>
              </a:rPr>
              <a:t>Ambassador content</a:t>
            </a:r>
            <a:endParaRPr lang="en-US" sz="1150" dirty="0"/>
          </a:p>
        </p:txBody>
      </p:sp>
      <p:sp>
        <p:nvSpPr>
          <p:cNvPr id="15" name="Text 13"/>
          <p:cNvSpPr/>
          <p:nvPr/>
        </p:nvSpPr>
        <p:spPr>
          <a:xfrm>
            <a:off x="8778240" y="3877056"/>
            <a:ext cx="2743200" cy="384048"/>
          </a:xfrm>
          <a:prstGeom prst="rect">
            <a:avLst/>
          </a:prstGeom>
          <a:noFill/>
          <a:ln/>
        </p:spPr>
        <p:txBody>
          <a:bodyPr wrap="square" lIns="0" tIns="0" rIns="0" bIns="0" rtlCol="0" anchor="ctr"/>
          <a:lstStyle/>
          <a:p>
            <a:pPr indent="0" marL="0">
              <a:lnSpc>
                <a:spcPts val="1400"/>
              </a:lnSpc>
              <a:buNone/>
            </a:pPr>
            <a:r>
              <a:rPr lang="en-US" sz="1100" dirty="0">
                <a:solidFill>
                  <a:srgbClr val="4A4360"/>
                </a:solidFill>
                <a:latin typeface="Calibri" pitchFamily="34" charset="0"/>
                <a:ea typeface="Calibri" pitchFamily="34" charset="-122"/>
                <a:cs typeface="Calibri" pitchFamily="34" charset="-120"/>
              </a:rPr>
              <a:t>Genuine, comfortable approved appearances</a:t>
            </a:r>
            <a:endParaRPr lang="en-US" sz="1100" dirty="0"/>
          </a:p>
        </p:txBody>
      </p:sp>
      <p:sp>
        <p:nvSpPr>
          <p:cNvPr id="16" name="Shape 14"/>
          <p:cNvSpPr/>
          <p:nvPr/>
        </p:nvSpPr>
        <p:spPr>
          <a:xfrm rot="5400000">
            <a:off x="6949440" y="4489704"/>
            <a:ext cx="256032" cy="256032"/>
          </a:xfrm>
          <a:prstGeom prst="hexagon">
            <a:avLst/>
          </a:prstGeom>
          <a:solidFill>
            <a:srgbClr val="178A4C"/>
          </a:solidFill>
          <a:ln/>
        </p:spPr>
      </p:sp>
      <p:sp>
        <p:nvSpPr>
          <p:cNvPr id="17" name="Text 15"/>
          <p:cNvSpPr/>
          <p:nvPr/>
        </p:nvSpPr>
        <p:spPr>
          <a:xfrm>
            <a:off x="7315200" y="4443984"/>
            <a:ext cx="1417320" cy="329184"/>
          </a:xfrm>
          <a:prstGeom prst="rect">
            <a:avLst/>
          </a:prstGeom>
          <a:noFill/>
          <a:ln/>
        </p:spPr>
        <p:txBody>
          <a:bodyPr wrap="square" lIns="0" tIns="0" rIns="0" bIns="0" rtlCol="0" anchor="ctr"/>
          <a:lstStyle/>
          <a:p>
            <a:pPr indent="0" marL="0">
              <a:buNone/>
            </a:pPr>
            <a:r>
              <a:rPr lang="en-US" sz="1150" b="1" dirty="0">
                <a:solidFill>
                  <a:srgbClr val="241E33"/>
                </a:solidFill>
                <a:latin typeface="Calibri" pitchFamily="34" charset="0"/>
                <a:ea typeface="Calibri" pitchFamily="34" charset="-122"/>
                <a:cs typeface="Calibri" pitchFamily="34" charset="-120"/>
              </a:rPr>
              <a:t>Community</a:t>
            </a:r>
            <a:endParaRPr lang="en-US" sz="1150" dirty="0"/>
          </a:p>
        </p:txBody>
      </p:sp>
      <p:sp>
        <p:nvSpPr>
          <p:cNvPr id="18" name="Text 16"/>
          <p:cNvSpPr/>
          <p:nvPr/>
        </p:nvSpPr>
        <p:spPr>
          <a:xfrm>
            <a:off x="8778240" y="4443984"/>
            <a:ext cx="2743200" cy="384048"/>
          </a:xfrm>
          <a:prstGeom prst="rect">
            <a:avLst/>
          </a:prstGeom>
          <a:noFill/>
          <a:ln/>
        </p:spPr>
        <p:txBody>
          <a:bodyPr wrap="square" lIns="0" tIns="0" rIns="0" bIns="0" rtlCol="0" anchor="ctr"/>
          <a:lstStyle/>
          <a:p>
            <a:pPr indent="0" marL="0">
              <a:lnSpc>
                <a:spcPts val="1400"/>
              </a:lnSpc>
              <a:buNone/>
            </a:pPr>
            <a:r>
              <a:rPr lang="en-US" sz="1100" dirty="0">
                <a:solidFill>
                  <a:srgbClr val="4A4360"/>
                </a:solidFill>
                <a:latin typeface="Calibri" pitchFamily="34" charset="0"/>
                <a:ea typeface="Calibri" pitchFamily="34" charset="-122"/>
                <a:cs typeface="Calibri" pitchFamily="34" charset="-120"/>
              </a:rPr>
              <a:t>Interest generated by beginner sessions</a:t>
            </a:r>
            <a:endParaRPr lang="en-US" sz="1100" dirty="0"/>
          </a:p>
        </p:txBody>
      </p:sp>
      <p:sp>
        <p:nvSpPr>
          <p:cNvPr id="19" name="Shape 17"/>
          <p:cNvSpPr/>
          <p:nvPr/>
        </p:nvSpPr>
        <p:spPr>
          <a:xfrm>
            <a:off x="640080" y="5623560"/>
            <a:ext cx="10607040" cy="566928"/>
          </a:xfrm>
          <a:prstGeom prst="roundRect">
            <a:avLst>
              <a:gd name="adj" fmla="val 19355"/>
            </a:avLst>
          </a:prstGeom>
          <a:solidFill>
            <a:srgbClr val="FBF3E0"/>
          </a:solidFill>
          <a:ln/>
        </p:spPr>
      </p:sp>
      <p:sp>
        <p:nvSpPr>
          <p:cNvPr id="20" name="Text 18"/>
          <p:cNvSpPr/>
          <p:nvPr/>
        </p:nvSpPr>
        <p:spPr>
          <a:xfrm>
            <a:off x="914400" y="5623560"/>
            <a:ext cx="10058400" cy="566928"/>
          </a:xfrm>
          <a:prstGeom prst="rect">
            <a:avLst/>
          </a:prstGeom>
          <a:noFill/>
          <a:ln/>
        </p:spPr>
        <p:txBody>
          <a:bodyPr wrap="square" lIns="0" tIns="0" rIns="0" bIns="0" rtlCol="0" anchor="ctr"/>
          <a:lstStyle/>
          <a:p>
            <a:pPr indent="0" marL="0">
              <a:buNone/>
            </a:pPr>
            <a:r>
              <a:rPr lang="en-US" sz="1200" b="1" dirty="0">
                <a:solidFill>
                  <a:srgbClr val="8A5B00"/>
                </a:solidFill>
                <a:latin typeface="Calibri" pitchFamily="34" charset="0"/>
                <a:ea typeface="Calibri" pitchFamily="34" charset="-122"/>
                <a:cs typeface="Calibri" pitchFamily="34" charset="-120"/>
              </a:rPr>
              <a:t>Does not own:  </a:t>
            </a:r>
            <a:pPr indent="0" marL="0">
              <a:buNone/>
            </a:pPr>
            <a:r>
              <a:rPr lang="en-US" sz="1200" dirty="0">
                <a:solidFill>
                  <a:srgbClr val="8A5B00"/>
                </a:solidFill>
                <a:latin typeface="Calibri" pitchFamily="34" charset="0"/>
                <a:ea typeface="Calibri" pitchFamily="34" charset="-122"/>
                <a:cs typeface="Calibri" pitchFamily="34" charset="-120"/>
              </a:rPr>
              <a:t>Not an employment position. Schoolwork, her own bee prep and her own projects take priority.</a:t>
            </a:r>
            <a:endParaRPr lang="en-US" sz="12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241E33"/>
        </a:solidFill>
      </p:bgPr>
    </p:bg>
    <p:spTree>
      <p:nvGrpSpPr>
        <p:cNvPr id="1" name=""/>
        <p:cNvGrpSpPr/>
        <p:nvPr/>
      </p:nvGrpSpPr>
      <p:grpSpPr>
        <a:xfrm>
          <a:off x="0" y="0"/>
          <a:ext cx="0" cy="0"/>
          <a:chOff x="0" y="0"/>
          <a:chExt cx="0" cy="0"/>
        </a:xfrm>
      </p:grpSpPr>
      <p:sp>
        <p:nvSpPr>
          <p:cNvPr id="2" name="Shape 0"/>
          <p:cNvSpPr/>
          <p:nvPr/>
        </p:nvSpPr>
        <p:spPr>
          <a:xfrm rot="5400000">
            <a:off x="9006840" y="4069080"/>
            <a:ext cx="731520" cy="731520"/>
          </a:xfrm>
          <a:prstGeom prst="hexagon">
            <a:avLst/>
          </a:prstGeom>
          <a:solidFill>
            <a:srgbClr val="F0B429">
              <a:alpha val="18000"/>
            </a:srgbClr>
          </a:solidFill>
          <a:ln/>
        </p:spPr>
      </p:sp>
      <p:sp>
        <p:nvSpPr>
          <p:cNvPr id="3" name="Shape 1"/>
          <p:cNvSpPr/>
          <p:nvPr/>
        </p:nvSpPr>
        <p:spPr>
          <a:xfrm rot="5400000">
            <a:off x="9921240" y="4069080"/>
            <a:ext cx="731520" cy="731520"/>
          </a:xfrm>
          <a:prstGeom prst="hexagon">
            <a:avLst/>
          </a:prstGeom>
          <a:solidFill>
            <a:srgbClr val="F0B429">
              <a:alpha val="18000"/>
            </a:srgbClr>
          </a:solidFill>
          <a:ln/>
        </p:spPr>
      </p:sp>
      <p:sp>
        <p:nvSpPr>
          <p:cNvPr id="4" name="Shape 2"/>
          <p:cNvSpPr/>
          <p:nvPr/>
        </p:nvSpPr>
        <p:spPr>
          <a:xfrm rot="5400000">
            <a:off x="10835640" y="4069080"/>
            <a:ext cx="731520" cy="731520"/>
          </a:xfrm>
          <a:prstGeom prst="hexagon">
            <a:avLst/>
          </a:prstGeom>
          <a:solidFill>
            <a:srgbClr val="F0B429">
              <a:alpha val="18000"/>
            </a:srgbClr>
          </a:solidFill>
          <a:ln/>
        </p:spPr>
      </p:sp>
      <p:sp>
        <p:nvSpPr>
          <p:cNvPr id="5" name="Shape 3"/>
          <p:cNvSpPr/>
          <p:nvPr/>
        </p:nvSpPr>
        <p:spPr>
          <a:xfrm rot="5400000">
            <a:off x="9464040" y="4855464"/>
            <a:ext cx="731520" cy="731520"/>
          </a:xfrm>
          <a:prstGeom prst="hexagon">
            <a:avLst/>
          </a:prstGeom>
          <a:solidFill>
            <a:srgbClr val="F0B429">
              <a:alpha val="18000"/>
            </a:srgbClr>
          </a:solidFill>
          <a:ln/>
        </p:spPr>
      </p:sp>
      <p:sp>
        <p:nvSpPr>
          <p:cNvPr id="6" name="Shape 4"/>
          <p:cNvSpPr/>
          <p:nvPr/>
        </p:nvSpPr>
        <p:spPr>
          <a:xfrm rot="5400000">
            <a:off x="10378440" y="4855464"/>
            <a:ext cx="731520" cy="731520"/>
          </a:xfrm>
          <a:prstGeom prst="hexagon">
            <a:avLst/>
          </a:prstGeom>
          <a:solidFill>
            <a:srgbClr val="F0B429">
              <a:alpha val="18000"/>
            </a:srgbClr>
          </a:solidFill>
          <a:ln/>
        </p:spPr>
      </p:sp>
      <p:sp>
        <p:nvSpPr>
          <p:cNvPr id="7" name="Shape 5"/>
          <p:cNvSpPr/>
          <p:nvPr/>
        </p:nvSpPr>
        <p:spPr>
          <a:xfrm rot="5400000">
            <a:off x="11292840" y="4855464"/>
            <a:ext cx="731520" cy="731520"/>
          </a:xfrm>
          <a:prstGeom prst="hexagon">
            <a:avLst/>
          </a:prstGeom>
          <a:solidFill>
            <a:srgbClr val="F0B429">
              <a:alpha val="18000"/>
            </a:srgbClr>
          </a:solidFill>
          <a:ln/>
        </p:spPr>
      </p:sp>
      <p:sp>
        <p:nvSpPr>
          <p:cNvPr id="8" name="Text 6"/>
          <p:cNvSpPr/>
          <p:nvPr/>
        </p:nvSpPr>
        <p:spPr>
          <a:xfrm>
            <a:off x="640080" y="685800"/>
            <a:ext cx="7315200" cy="292608"/>
          </a:xfrm>
          <a:prstGeom prst="rect">
            <a:avLst/>
          </a:prstGeom>
          <a:noFill/>
          <a:ln/>
        </p:spPr>
        <p:txBody>
          <a:bodyPr wrap="square" lIns="0" tIns="0" rIns="0" bIns="0" rtlCol="0" anchor="ctr"/>
          <a:lstStyle/>
          <a:p>
            <a:pPr indent="0" marL="0">
              <a:buNone/>
            </a:pPr>
            <a:r>
              <a:rPr lang="en-US" sz="1200" b="1" spc="300" kern="0" dirty="0">
                <a:solidFill>
                  <a:srgbClr val="F0B429"/>
                </a:solidFill>
                <a:latin typeface="Calibri" pitchFamily="34" charset="0"/>
                <a:ea typeface="Calibri" pitchFamily="34" charset="-122"/>
                <a:cs typeface="Calibri" pitchFamily="34" charset="-120"/>
              </a:rPr>
              <a:t>WHAT WE DECIDE NEXT</a:t>
            </a:r>
            <a:endParaRPr lang="en-US" sz="1200" dirty="0"/>
          </a:p>
        </p:txBody>
      </p:sp>
      <p:sp>
        <p:nvSpPr>
          <p:cNvPr id="9" name="Text 7"/>
          <p:cNvSpPr/>
          <p:nvPr/>
        </p:nvSpPr>
        <p:spPr>
          <a:xfrm>
            <a:off x="640080" y="1051560"/>
            <a:ext cx="10607040" cy="685800"/>
          </a:xfrm>
          <a:prstGeom prst="rect">
            <a:avLst/>
          </a:prstGeom>
          <a:noFill/>
          <a:ln/>
        </p:spPr>
        <p:txBody>
          <a:bodyPr wrap="square" lIns="0" tIns="0" rIns="0" bIns="0" rtlCol="0" anchor="ctr"/>
          <a:lstStyle/>
          <a:p>
            <a:pPr indent="0" marL="0">
              <a:buNone/>
            </a:pPr>
            <a:r>
              <a:rPr lang="en-US" sz="2900" b="1" dirty="0">
                <a:solidFill>
                  <a:srgbClr val="FFFFFF"/>
                </a:solidFill>
                <a:latin typeface="Cambria" pitchFamily="34" charset="0"/>
                <a:ea typeface="Cambria" pitchFamily="34" charset="-122"/>
                <a:cs typeface="Cambria" pitchFamily="34" charset="-120"/>
              </a:rPr>
              <a:t>Four open questions, in the order they block work.</a:t>
            </a:r>
            <a:endParaRPr lang="en-US" sz="2900" dirty="0"/>
          </a:p>
        </p:txBody>
      </p:sp>
      <p:sp>
        <p:nvSpPr>
          <p:cNvPr id="10" name="Shape 8"/>
          <p:cNvSpPr/>
          <p:nvPr/>
        </p:nvSpPr>
        <p:spPr>
          <a:xfrm rot="5400000">
            <a:off x="640080" y="2084832"/>
            <a:ext cx="384048" cy="384048"/>
          </a:xfrm>
          <a:prstGeom prst="hexagon">
            <a:avLst/>
          </a:prstGeom>
          <a:solidFill>
            <a:srgbClr val="F0B429"/>
          </a:solidFill>
          <a:ln/>
        </p:spPr>
      </p:sp>
      <p:sp>
        <p:nvSpPr>
          <p:cNvPr id="11" name="Text 9"/>
          <p:cNvSpPr/>
          <p:nvPr/>
        </p:nvSpPr>
        <p:spPr>
          <a:xfrm>
            <a:off x="640080" y="2084832"/>
            <a:ext cx="384048" cy="384048"/>
          </a:xfrm>
          <a:prstGeom prst="rect">
            <a:avLst/>
          </a:prstGeom>
          <a:noFill/>
          <a:ln/>
        </p:spPr>
        <p:txBody>
          <a:bodyPr wrap="square" lIns="0" tIns="0" rIns="0" bIns="0" rtlCol="0" anchor="ctr"/>
          <a:lstStyle/>
          <a:p>
            <a:pPr algn="ctr" indent="0" marL="0">
              <a:buNone/>
            </a:pPr>
            <a:r>
              <a:rPr lang="en-US" sz="1300" b="1" dirty="0">
                <a:solidFill>
                  <a:srgbClr val="241E33"/>
                </a:solidFill>
                <a:latin typeface="Cambria" pitchFamily="34" charset="0"/>
                <a:ea typeface="Cambria" pitchFamily="34" charset="-122"/>
                <a:cs typeface="Cambria" pitchFamily="34" charset="-120"/>
              </a:rPr>
              <a:t>1</a:t>
            </a:r>
            <a:endParaRPr lang="en-US" sz="1300" dirty="0"/>
          </a:p>
        </p:txBody>
      </p:sp>
      <p:sp>
        <p:nvSpPr>
          <p:cNvPr id="12" name="Text 10"/>
          <p:cNvSpPr/>
          <p:nvPr/>
        </p:nvSpPr>
        <p:spPr>
          <a:xfrm>
            <a:off x="1207008" y="2011680"/>
            <a:ext cx="2377440" cy="384048"/>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Brand axis</a:t>
            </a:r>
            <a:endParaRPr lang="en-US" sz="1600" dirty="0"/>
          </a:p>
        </p:txBody>
      </p:sp>
      <p:sp>
        <p:nvSpPr>
          <p:cNvPr id="13" name="Text 11"/>
          <p:cNvSpPr/>
          <p:nvPr/>
        </p:nvSpPr>
        <p:spPr>
          <a:xfrm>
            <a:off x="3657600" y="2011680"/>
            <a:ext cx="7863840" cy="658368"/>
          </a:xfrm>
          <a:prstGeom prst="rect">
            <a:avLst/>
          </a:prstGeom>
          <a:noFill/>
          <a:ln/>
        </p:spPr>
        <p:txBody>
          <a:bodyPr wrap="square" lIns="0" tIns="0" rIns="0" bIns="0" rtlCol="0" anchor="ctr"/>
          <a:lstStyle/>
          <a:p>
            <a:pPr indent="0" marL="0">
              <a:lnSpc>
                <a:spcPts val="1700"/>
              </a:lnSpc>
              <a:buNone/>
            </a:pPr>
            <a:r>
              <a:rPr lang="en-US" sz="1250" dirty="0">
                <a:solidFill>
                  <a:srgbClr val="E3DCF2"/>
                </a:solidFill>
                <a:latin typeface="Calibri" pitchFamily="34" charset="0"/>
                <a:ea typeface="Calibri" pitchFamily="34" charset="-122"/>
                <a:cs typeface="Calibri" pitchFamily="34" charset="-120"/>
              </a:rPr>
              <a:t>Are the sub-brands subjects or geographies? Everything downstream — domains, marks, roadmap naming — waits on this.</a:t>
            </a:r>
            <a:endParaRPr lang="en-US" sz="1250" dirty="0"/>
          </a:p>
        </p:txBody>
      </p:sp>
      <p:sp>
        <p:nvSpPr>
          <p:cNvPr id="14" name="Shape 12"/>
          <p:cNvSpPr/>
          <p:nvPr/>
        </p:nvSpPr>
        <p:spPr>
          <a:xfrm rot="5400000">
            <a:off x="640080" y="3054096"/>
            <a:ext cx="384048" cy="384048"/>
          </a:xfrm>
          <a:prstGeom prst="hexagon">
            <a:avLst/>
          </a:prstGeom>
          <a:solidFill>
            <a:srgbClr val="F0B429"/>
          </a:solidFill>
          <a:ln/>
        </p:spPr>
      </p:sp>
      <p:sp>
        <p:nvSpPr>
          <p:cNvPr id="15" name="Text 13"/>
          <p:cNvSpPr/>
          <p:nvPr/>
        </p:nvSpPr>
        <p:spPr>
          <a:xfrm>
            <a:off x="640080" y="3054096"/>
            <a:ext cx="384048" cy="384048"/>
          </a:xfrm>
          <a:prstGeom prst="rect">
            <a:avLst/>
          </a:prstGeom>
          <a:noFill/>
          <a:ln/>
        </p:spPr>
        <p:txBody>
          <a:bodyPr wrap="square" lIns="0" tIns="0" rIns="0" bIns="0" rtlCol="0" anchor="ctr"/>
          <a:lstStyle/>
          <a:p>
            <a:pPr algn="ctr" indent="0" marL="0">
              <a:buNone/>
            </a:pPr>
            <a:r>
              <a:rPr lang="en-US" sz="1300" b="1" dirty="0">
                <a:solidFill>
                  <a:srgbClr val="241E33"/>
                </a:solidFill>
                <a:latin typeface="Cambria" pitchFamily="34" charset="0"/>
                <a:ea typeface="Cambria" pitchFamily="34" charset="-122"/>
                <a:cs typeface="Cambria" pitchFamily="34" charset="-120"/>
              </a:rPr>
              <a:t>2</a:t>
            </a:r>
            <a:endParaRPr lang="en-US" sz="1300" dirty="0"/>
          </a:p>
        </p:txBody>
      </p:sp>
      <p:sp>
        <p:nvSpPr>
          <p:cNvPr id="16" name="Text 14"/>
          <p:cNvSpPr/>
          <p:nvPr/>
        </p:nvSpPr>
        <p:spPr>
          <a:xfrm>
            <a:off x="1207008" y="2980944"/>
            <a:ext cx="2377440" cy="384048"/>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Second product</a:t>
            </a:r>
            <a:endParaRPr lang="en-US" sz="1600" dirty="0"/>
          </a:p>
        </p:txBody>
      </p:sp>
      <p:sp>
        <p:nvSpPr>
          <p:cNvPr id="17" name="Text 15"/>
          <p:cNvSpPr/>
          <p:nvPr/>
        </p:nvSpPr>
        <p:spPr>
          <a:xfrm>
            <a:off x="3657600" y="2980944"/>
            <a:ext cx="7863840" cy="658368"/>
          </a:xfrm>
          <a:prstGeom prst="rect">
            <a:avLst/>
          </a:prstGeom>
          <a:noFill/>
          <a:ln/>
        </p:spPr>
        <p:txBody>
          <a:bodyPr wrap="square" lIns="0" tIns="0" rIns="0" bIns="0" rtlCol="0" anchor="ctr"/>
          <a:lstStyle/>
          <a:p>
            <a:pPr indent="0" marL="0">
              <a:lnSpc>
                <a:spcPts val="1700"/>
              </a:lnSpc>
              <a:buNone/>
            </a:pPr>
            <a:r>
              <a:rPr lang="en-US" sz="1250" dirty="0">
                <a:solidFill>
                  <a:srgbClr val="E3DCF2"/>
                </a:solidFill>
                <a:latin typeface="Calibri" pitchFamily="34" charset="0"/>
                <a:ea typeface="Calibri" pitchFamily="34" charset="-122"/>
                <a:cs typeface="Calibri" pitchFamily="34" charset="-120"/>
              </a:rPr>
              <a:t>Bizzing Eleven is the fastest to ship because the engine already does it. Bizzing Bhasha is the more valuable business. Which first?</a:t>
            </a:r>
            <a:endParaRPr lang="en-US" sz="1250" dirty="0"/>
          </a:p>
        </p:txBody>
      </p:sp>
      <p:sp>
        <p:nvSpPr>
          <p:cNvPr id="18" name="Shape 16"/>
          <p:cNvSpPr/>
          <p:nvPr/>
        </p:nvSpPr>
        <p:spPr>
          <a:xfrm rot="5400000">
            <a:off x="640080" y="4023360"/>
            <a:ext cx="384048" cy="384048"/>
          </a:xfrm>
          <a:prstGeom prst="hexagon">
            <a:avLst/>
          </a:prstGeom>
          <a:solidFill>
            <a:srgbClr val="F0B429"/>
          </a:solidFill>
          <a:ln/>
        </p:spPr>
      </p:sp>
      <p:sp>
        <p:nvSpPr>
          <p:cNvPr id="19" name="Text 17"/>
          <p:cNvSpPr/>
          <p:nvPr/>
        </p:nvSpPr>
        <p:spPr>
          <a:xfrm>
            <a:off x="640080" y="4023360"/>
            <a:ext cx="384048" cy="384048"/>
          </a:xfrm>
          <a:prstGeom prst="rect">
            <a:avLst/>
          </a:prstGeom>
          <a:noFill/>
          <a:ln/>
        </p:spPr>
        <p:txBody>
          <a:bodyPr wrap="square" lIns="0" tIns="0" rIns="0" bIns="0" rtlCol="0" anchor="ctr"/>
          <a:lstStyle/>
          <a:p>
            <a:pPr algn="ctr" indent="0" marL="0">
              <a:buNone/>
            </a:pPr>
            <a:r>
              <a:rPr lang="en-US" sz="1300" b="1" dirty="0">
                <a:solidFill>
                  <a:srgbClr val="241E33"/>
                </a:solidFill>
                <a:latin typeface="Cambria" pitchFamily="34" charset="0"/>
                <a:ea typeface="Cambria" pitchFamily="34" charset="-122"/>
                <a:cs typeface="Cambria" pitchFamily="34" charset="-120"/>
              </a:rPr>
              <a:t>3</a:t>
            </a:r>
            <a:endParaRPr lang="en-US" sz="1300" dirty="0"/>
          </a:p>
        </p:txBody>
      </p:sp>
      <p:sp>
        <p:nvSpPr>
          <p:cNvPr id="20" name="Text 18"/>
          <p:cNvSpPr/>
          <p:nvPr/>
        </p:nvSpPr>
        <p:spPr>
          <a:xfrm>
            <a:off x="1207008" y="3950208"/>
            <a:ext cx="2377440" cy="384048"/>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Monetisation shape</a:t>
            </a:r>
            <a:endParaRPr lang="en-US" sz="1600" dirty="0"/>
          </a:p>
        </p:txBody>
      </p:sp>
      <p:sp>
        <p:nvSpPr>
          <p:cNvPr id="21" name="Text 19"/>
          <p:cNvSpPr/>
          <p:nvPr/>
        </p:nvSpPr>
        <p:spPr>
          <a:xfrm>
            <a:off x="3657600" y="3950208"/>
            <a:ext cx="7863840" cy="658368"/>
          </a:xfrm>
          <a:prstGeom prst="rect">
            <a:avLst/>
          </a:prstGeom>
          <a:noFill/>
          <a:ln/>
        </p:spPr>
        <p:txBody>
          <a:bodyPr wrap="square" lIns="0" tIns="0" rIns="0" bIns="0" rtlCol="0" anchor="ctr"/>
          <a:lstStyle/>
          <a:p>
            <a:pPr indent="0" marL="0">
              <a:lnSpc>
                <a:spcPts val="1700"/>
              </a:lnSpc>
              <a:buNone/>
            </a:pPr>
            <a:r>
              <a:rPr lang="en-US" sz="1250" dirty="0">
                <a:solidFill>
                  <a:srgbClr val="E3DCF2"/>
                </a:solidFill>
                <a:latin typeface="Calibri" pitchFamily="34" charset="0"/>
                <a:ea typeface="Calibri" pitchFamily="34" charset="-122"/>
                <a:cs typeface="Calibri" pitchFamily="34" charset="-120"/>
              </a:rPr>
              <a:t>One subscription across the house, or a price per product? Decide before the second product exists, not after.</a:t>
            </a:r>
            <a:endParaRPr lang="en-US" sz="1250" dirty="0"/>
          </a:p>
        </p:txBody>
      </p:sp>
      <p:sp>
        <p:nvSpPr>
          <p:cNvPr id="22" name="Shape 20"/>
          <p:cNvSpPr/>
          <p:nvPr/>
        </p:nvSpPr>
        <p:spPr>
          <a:xfrm rot="5400000">
            <a:off x="640080" y="4992624"/>
            <a:ext cx="384048" cy="384048"/>
          </a:xfrm>
          <a:prstGeom prst="hexagon">
            <a:avLst/>
          </a:prstGeom>
          <a:solidFill>
            <a:srgbClr val="F0B429"/>
          </a:solidFill>
          <a:ln/>
        </p:spPr>
      </p:sp>
      <p:sp>
        <p:nvSpPr>
          <p:cNvPr id="23" name="Text 21"/>
          <p:cNvSpPr/>
          <p:nvPr/>
        </p:nvSpPr>
        <p:spPr>
          <a:xfrm>
            <a:off x="640080" y="4992624"/>
            <a:ext cx="384048" cy="384048"/>
          </a:xfrm>
          <a:prstGeom prst="rect">
            <a:avLst/>
          </a:prstGeom>
          <a:noFill/>
          <a:ln/>
        </p:spPr>
        <p:txBody>
          <a:bodyPr wrap="square" lIns="0" tIns="0" rIns="0" bIns="0" rtlCol="0" anchor="ctr"/>
          <a:lstStyle/>
          <a:p>
            <a:pPr algn="ctr" indent="0" marL="0">
              <a:buNone/>
            </a:pPr>
            <a:r>
              <a:rPr lang="en-US" sz="1300" b="1" dirty="0">
                <a:solidFill>
                  <a:srgbClr val="241E33"/>
                </a:solidFill>
                <a:latin typeface="Cambria" pitchFamily="34" charset="0"/>
                <a:ea typeface="Cambria" pitchFamily="34" charset="-122"/>
                <a:cs typeface="Cambria" pitchFamily="34" charset="-120"/>
              </a:rPr>
              <a:t>4</a:t>
            </a:r>
            <a:endParaRPr lang="en-US" sz="1300" dirty="0"/>
          </a:p>
        </p:txBody>
      </p:sp>
      <p:sp>
        <p:nvSpPr>
          <p:cNvPr id="24" name="Text 22"/>
          <p:cNvSpPr/>
          <p:nvPr/>
        </p:nvSpPr>
        <p:spPr>
          <a:xfrm>
            <a:off x="1207008" y="4919472"/>
            <a:ext cx="2377440" cy="384048"/>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Entity &amp; filings</a:t>
            </a:r>
            <a:endParaRPr lang="en-US" sz="1600" dirty="0"/>
          </a:p>
        </p:txBody>
      </p:sp>
      <p:sp>
        <p:nvSpPr>
          <p:cNvPr id="25" name="Text 23"/>
          <p:cNvSpPr/>
          <p:nvPr/>
        </p:nvSpPr>
        <p:spPr>
          <a:xfrm>
            <a:off x="3657600" y="4919472"/>
            <a:ext cx="7863840" cy="658368"/>
          </a:xfrm>
          <a:prstGeom prst="rect">
            <a:avLst/>
          </a:prstGeom>
          <a:noFill/>
          <a:ln/>
        </p:spPr>
        <p:txBody>
          <a:bodyPr wrap="square" lIns="0" tIns="0" rIns="0" bIns="0" rtlCol="0" anchor="ctr"/>
          <a:lstStyle/>
          <a:p>
            <a:pPr indent="0" marL="0">
              <a:lnSpc>
                <a:spcPts val="1700"/>
              </a:lnSpc>
              <a:buNone/>
            </a:pPr>
            <a:r>
              <a:rPr lang="en-US" sz="1250" dirty="0">
                <a:solidFill>
                  <a:srgbClr val="E3DCF2"/>
                </a:solidFill>
                <a:latin typeface="Calibri" pitchFamily="34" charset="0"/>
                <a:ea typeface="Calibri" pitchFamily="34" charset="-122"/>
                <a:cs typeface="Calibri" pitchFamily="34" charset="-120"/>
              </a:rPr>
              <a:t>LLC, trademark filings, and the child-performer question before any paid appearance by the CKO.</a:t>
            </a:r>
            <a:endParaRPr lang="en-US" sz="1250" dirty="0"/>
          </a:p>
        </p:txBody>
      </p:sp>
      <p:sp>
        <p:nvSpPr>
          <p:cNvPr id="26" name="Text 24"/>
          <p:cNvSpPr/>
          <p:nvPr/>
        </p:nvSpPr>
        <p:spPr>
          <a:xfrm>
            <a:off x="640080" y="6035040"/>
            <a:ext cx="5486400" cy="274320"/>
          </a:xfrm>
          <a:prstGeom prst="rect">
            <a:avLst/>
          </a:prstGeom>
          <a:noFill/>
          <a:ln/>
        </p:spPr>
        <p:txBody>
          <a:bodyPr wrap="square" lIns="0" tIns="0" rIns="0" bIns="0" rtlCol="0" anchor="ctr"/>
          <a:lstStyle/>
          <a:p>
            <a:pPr indent="0" marL="0">
              <a:buNone/>
            </a:pPr>
            <a:r>
              <a:rPr lang="en-US" sz="1100" dirty="0">
                <a:solidFill>
                  <a:srgbClr val="7A7291"/>
                </a:solidFill>
                <a:latin typeface="Calibri" pitchFamily="34" charset="0"/>
                <a:ea typeface="Calibri" pitchFamily="34" charset="-122"/>
                <a:cs typeface="Calibri" pitchFamily="34" charset="-120"/>
              </a:rPr>
              <a:t>Bizzing · bizzingbee.com</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Bizzing — Vision, Strategy &amp; Organisation</dc:title>
  <dc:subject>PptxGenJS Presentation</dc:subject>
  <dc:creator>Bizzing</dc:creator>
  <cp:lastModifiedBy>Bizzing</cp:lastModifiedBy>
  <cp:revision>1</cp:revision>
  <dcterms:created xsi:type="dcterms:W3CDTF">2026-08-23T00:31:21Z</dcterms:created>
  <dcterms:modified xsi:type="dcterms:W3CDTF">2026-08-23T00:31:21Z</dcterms:modified>
</cp:coreProperties>
</file>