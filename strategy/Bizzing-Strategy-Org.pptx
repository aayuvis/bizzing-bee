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Subscriptions</c:v>
                </c:pt>
              </c:strCache>
            </c:strRef>
          </c:tx>
          <c:spPr>
            <a:solidFill>
              <a:srgbClr val="6C4FE0"/>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0.138</c:v>
                </c:pt>
                <c:pt idx="1">
                  <c:v>0.603</c:v>
                </c:pt>
                <c:pt idx="2">
                  <c:v>1.602</c:v>
                </c:pt>
                <c:pt idx="3">
                  <c:v>3.116</c:v>
                </c:pt>
                <c:pt idx="4">
                  <c:v>5.128</c:v>
                </c:pt>
              </c:numCache>
            </c:numRef>
          </c:val>
        </c:ser>
        <c:ser>
          <c:idx val="1"/>
          <c:order val="1"/>
          <c:tx>
            <c:strRef>
              <c:f>Sheet1!$C$1</c:f>
              <c:strCache>
                <c:ptCount val="1"/>
                <c:pt idx="0">
                  <c:v>Business cohorts</c:v>
                </c:pt>
              </c:strCache>
            </c:strRef>
          </c:tx>
          <c:spPr>
            <a:solidFill>
              <a:srgbClr val="178A4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0</c:v>
                </c:pt>
                <c:pt idx="1">
                  <c:v>0</c:v>
                </c:pt>
                <c:pt idx="2">
                  <c:v>0.11</c:v>
                </c:pt>
                <c:pt idx="3">
                  <c:v>0.439</c:v>
                </c:pt>
                <c:pt idx="4">
                  <c:v>0.988</c:v>
                </c:pt>
              </c:numCache>
            </c:numRef>
          </c:val>
        </c:ser>
        <c:ser>
          <c:idx val="2"/>
          <c:order val="2"/>
          <c:tx>
            <c:strRef>
              <c:f>Sheet1!$D$1</c:f>
              <c:strCache>
                <c:ptCount val="1"/>
                <c:pt idx="0">
                  <c:v>Books, cards, merch</c:v>
                </c:pt>
              </c:strCache>
            </c:strRef>
          </c:tx>
          <c:spPr>
            <a:solidFill>
              <a:srgbClr val="F0B429"/>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Sheet1!$D$2:$D$6</c:f>
              <c:numCache>
                <c:formatCode>General</c:formatCode>
                <c:ptCount val="5"/>
                <c:pt idx="0">
                  <c:v>0</c:v>
                </c:pt>
                <c:pt idx="1">
                  <c:v>0.035</c:v>
                </c:pt>
                <c:pt idx="2">
                  <c:v>0.13</c:v>
                </c:pt>
                <c:pt idx="3">
                  <c:v>0.29</c:v>
                </c:pt>
                <c:pt idx="4">
                  <c:v>0.52</c:v>
                </c:pt>
              </c:numCache>
            </c:numRef>
          </c:val>
        </c:ser>
        <c:ser>
          <c:idx val="3"/>
          <c:order val="3"/>
          <c:tx>
            <c:strRef>
              <c:f>Sheet1!$E$1</c:f>
              <c:strCache>
                <c:ptCount val="1"/>
                <c:pt idx="0">
                  <c:v>YouTube</c:v>
                </c:pt>
              </c:strCache>
            </c:strRef>
          </c:tx>
          <c:spPr>
            <a:solidFill>
              <a:srgbClr val="9C89E8"/>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Sheet1!$E$2:$E$6</c:f>
              <c:numCache>
                <c:formatCode>General</c:formatCode>
                <c:ptCount val="5"/>
                <c:pt idx="0">
                  <c:v>0</c:v>
                </c:pt>
                <c:pt idx="1">
                  <c:v>0.012</c:v>
                </c:pt>
                <c:pt idx="2">
                  <c:v>0.045</c:v>
                </c:pt>
                <c:pt idx="3">
                  <c:v>0.105</c:v>
                </c:pt>
                <c:pt idx="4">
                  <c:v>0.19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436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DCF2"/>
              </a:solidFill>
              <a:prstDash val="solid"/>
              <a:round/>
            </a:ln>
          </c:spPr>
        </c:majorGridlines>
        <c:title>
          <c:tx>
            <c:rich>
              <a:bodyPr/>
              <a:lstStyle/>
              <a:p>
                <a:pPr>
                  <a:defRPr sz="1000" b="0" i="0" u="none" strike="noStrike">
                    <a:solidFill>
                      <a:srgbClr val="7A7291"/>
                    </a:solidFill>
                    <a:latin typeface="Arial"/>
                  </a:defRPr>
                </a:pPr>
                <a:r>
                  <a:rPr sz="1000" b="0" i="0" u="none" strike="noStrike">
                    <a:solidFill>
                      <a:srgbClr val="7A7291"/>
                    </a:solidFill>
                    <a:latin typeface="Arial"/>
                  </a:rPr>
                  <a:t>Revenue, $M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436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436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is the parent brand. Bizzing Bee is the first product, not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is deliberately about the child at 25, not the child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Culture is free and shareable; the language pack inside it is paid. That is the freemium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Bee — The best place in the world to prepare for a spelling bee.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India — A child who knows where they came from, and finds it genuinely interesting rather than dutiful.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Bhasha — The grandparent and the grandchild can hold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Eleven — The 11+ verbal paper stops being a mystery a family has to buy tutoring to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Buzz — A child who cannot read yet still plays with words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English — A child who owns the language, rather than one who passes tests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Maths — A child who is fast and fearless with numbers, and knows why the trick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Bizzing Business — A sixteen-year-old who has built something, pitched it to a room, and can explain why it worked or why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pushed back on treating "needs teachers" as a risk. It is the moat.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prices, splits or targets anywhere — those are the CMO’s to set. This slide fixes what the streams are and the order they switch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derives from the assumption block. Change an input and the model re-derives; do not argue with the chart, argue with the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8092440" y="566928"/>
            <a:ext cx="914400" cy="914400"/>
          </a:xfrm>
          <a:prstGeom prst="hexagon">
            <a:avLst/>
          </a:prstGeom>
          <a:solidFill>
            <a:srgbClr val="F0B429">
              <a:alpha val="16000"/>
            </a:srgbClr>
          </a:solidFill>
          <a:ln/>
        </p:spPr>
      </p:sp>
      <p:sp>
        <p:nvSpPr>
          <p:cNvPr id="3" name="Shape 1"/>
          <p:cNvSpPr/>
          <p:nvPr/>
        </p:nvSpPr>
        <p:spPr>
          <a:xfrm rot="5400000">
            <a:off x="9235440" y="566928"/>
            <a:ext cx="914400" cy="914400"/>
          </a:xfrm>
          <a:prstGeom prst="hexagon">
            <a:avLst/>
          </a:prstGeom>
          <a:solidFill>
            <a:srgbClr val="F0B429">
              <a:alpha val="16000"/>
            </a:srgbClr>
          </a:solidFill>
          <a:ln/>
        </p:spPr>
      </p:sp>
      <p:sp>
        <p:nvSpPr>
          <p:cNvPr id="4" name="Shape 2"/>
          <p:cNvSpPr/>
          <p:nvPr/>
        </p:nvSpPr>
        <p:spPr>
          <a:xfrm rot="5400000">
            <a:off x="10378440" y="566928"/>
            <a:ext cx="914400" cy="914400"/>
          </a:xfrm>
          <a:prstGeom prst="hexagon">
            <a:avLst/>
          </a:prstGeom>
          <a:solidFill>
            <a:srgbClr val="F0B429">
              <a:alpha val="16000"/>
            </a:srgbClr>
          </a:solidFill>
          <a:ln/>
        </p:spPr>
      </p:sp>
      <p:sp>
        <p:nvSpPr>
          <p:cNvPr id="5" name="Shape 3"/>
          <p:cNvSpPr/>
          <p:nvPr/>
        </p:nvSpPr>
        <p:spPr>
          <a:xfrm rot="5400000">
            <a:off x="8663940" y="1549908"/>
            <a:ext cx="914400" cy="914400"/>
          </a:xfrm>
          <a:prstGeom prst="hexagon">
            <a:avLst/>
          </a:prstGeom>
          <a:solidFill>
            <a:srgbClr val="F0B429">
              <a:alpha val="16000"/>
            </a:srgbClr>
          </a:solidFill>
          <a:ln/>
        </p:spPr>
      </p:sp>
      <p:sp>
        <p:nvSpPr>
          <p:cNvPr id="6" name="Shape 4"/>
          <p:cNvSpPr/>
          <p:nvPr/>
        </p:nvSpPr>
        <p:spPr>
          <a:xfrm rot="5400000">
            <a:off x="9806940" y="1549908"/>
            <a:ext cx="914400" cy="914400"/>
          </a:xfrm>
          <a:prstGeom prst="hexagon">
            <a:avLst/>
          </a:prstGeom>
          <a:solidFill>
            <a:srgbClr val="F0B429">
              <a:alpha val="16000"/>
            </a:srgbClr>
          </a:solidFill>
          <a:ln/>
        </p:spPr>
      </p:sp>
      <p:sp>
        <p:nvSpPr>
          <p:cNvPr id="7" name="Shape 5"/>
          <p:cNvSpPr/>
          <p:nvPr/>
        </p:nvSpPr>
        <p:spPr>
          <a:xfrm rot="5400000">
            <a:off x="10949940" y="1549908"/>
            <a:ext cx="914400" cy="914400"/>
          </a:xfrm>
          <a:prstGeom prst="hexagon">
            <a:avLst/>
          </a:prstGeom>
          <a:solidFill>
            <a:srgbClr val="F0B429">
              <a:alpha val="16000"/>
            </a:srgbClr>
          </a:solidFill>
          <a:ln/>
        </p:spPr>
      </p:sp>
      <p:sp>
        <p:nvSpPr>
          <p:cNvPr id="8" name="Shape 6"/>
          <p:cNvSpPr/>
          <p:nvPr/>
        </p:nvSpPr>
        <p:spPr>
          <a:xfrm rot="5400000">
            <a:off x="8092440" y="2532888"/>
            <a:ext cx="914400" cy="914400"/>
          </a:xfrm>
          <a:prstGeom prst="hexagon">
            <a:avLst/>
          </a:prstGeom>
          <a:solidFill>
            <a:srgbClr val="F0B429">
              <a:alpha val="16000"/>
            </a:srgbClr>
          </a:solidFill>
          <a:ln/>
        </p:spPr>
      </p:sp>
      <p:sp>
        <p:nvSpPr>
          <p:cNvPr id="9" name="Shape 7"/>
          <p:cNvSpPr/>
          <p:nvPr/>
        </p:nvSpPr>
        <p:spPr>
          <a:xfrm rot="5400000">
            <a:off x="9235440" y="2532888"/>
            <a:ext cx="914400" cy="914400"/>
          </a:xfrm>
          <a:prstGeom prst="hexagon">
            <a:avLst/>
          </a:prstGeom>
          <a:solidFill>
            <a:srgbClr val="F0B429">
              <a:alpha val="16000"/>
            </a:srgbClr>
          </a:solidFill>
          <a:ln/>
        </p:spPr>
      </p:sp>
      <p:sp>
        <p:nvSpPr>
          <p:cNvPr id="10" name="Shape 8"/>
          <p:cNvSpPr/>
          <p:nvPr/>
        </p:nvSpPr>
        <p:spPr>
          <a:xfrm rot="5400000">
            <a:off x="10378440" y="2532888"/>
            <a:ext cx="914400" cy="914400"/>
          </a:xfrm>
          <a:prstGeom prst="hexagon">
            <a:avLst/>
          </a:prstGeom>
          <a:solidFill>
            <a:srgbClr val="F0B429">
              <a:alpha val="16000"/>
            </a:srgbClr>
          </a:solidFill>
          <a:ln/>
        </p:spPr>
      </p:sp>
      <p:pic>
        <p:nvPicPr>
          <p:cNvPr id="11" name="Image 0" descr="preencoded.png">    </p:cNvPr>
          <p:cNvPicPr>
            <a:picLocks noChangeAspect="1"/>
          </p:cNvPicPr>
          <p:nvPr/>
        </p:nvPicPr>
        <p:blipFill>
          <a:blip r:embed="rId1"/>
          <a:stretch>
            <a:fillRect/>
          </a:stretch>
        </p:blipFill>
        <p:spPr>
          <a:xfrm>
            <a:off x="8732520" y="1965960"/>
            <a:ext cx="2651760" cy="2651760"/>
          </a:xfrm>
          <a:prstGeom prst="rect">
            <a:avLst/>
          </a:prstGeom>
        </p:spPr>
      </p:pic>
      <p:pic>
        <p:nvPicPr>
          <p:cNvPr id="12" name="Image 1" descr="preencoded.png">    </p:cNvPr>
          <p:cNvPicPr>
            <a:picLocks noChangeAspect="1"/>
          </p:cNvPicPr>
          <p:nvPr/>
        </p:nvPicPr>
        <p:blipFill>
          <a:blip r:embed="rId2"/>
          <a:stretch>
            <a:fillRect/>
          </a:stretch>
        </p:blipFill>
        <p:spPr>
          <a:xfrm>
            <a:off x="640080" y="5257800"/>
            <a:ext cx="841248" cy="841248"/>
          </a:xfrm>
          <a:prstGeom prst="rect">
            <a:avLst/>
          </a:prstGeom>
        </p:spPr>
      </p:pic>
      <p:pic>
        <p:nvPicPr>
          <p:cNvPr id="13" name="Image 2" descr="preencoded.png">    </p:cNvPr>
          <p:cNvPicPr>
            <a:picLocks noChangeAspect="1"/>
          </p:cNvPicPr>
          <p:nvPr/>
        </p:nvPicPr>
        <p:blipFill>
          <a:blip r:embed="rId3"/>
          <a:stretch>
            <a:fillRect/>
          </a:stretch>
        </p:blipFill>
        <p:spPr>
          <a:xfrm>
            <a:off x="1572768" y="5257800"/>
            <a:ext cx="841248" cy="841248"/>
          </a:xfrm>
          <a:prstGeom prst="rect">
            <a:avLst/>
          </a:prstGeom>
        </p:spPr>
      </p:pic>
      <p:pic>
        <p:nvPicPr>
          <p:cNvPr id="14" name="Image 3" descr="preencoded.png">    </p:cNvPr>
          <p:cNvPicPr>
            <a:picLocks noChangeAspect="1"/>
          </p:cNvPicPr>
          <p:nvPr/>
        </p:nvPicPr>
        <p:blipFill>
          <a:blip r:embed="rId4"/>
          <a:stretch>
            <a:fillRect/>
          </a:stretch>
        </p:blipFill>
        <p:spPr>
          <a:xfrm>
            <a:off x="2505456" y="5257800"/>
            <a:ext cx="841248" cy="841248"/>
          </a:xfrm>
          <a:prstGeom prst="rect">
            <a:avLst/>
          </a:prstGeom>
        </p:spPr>
      </p:pic>
      <p:pic>
        <p:nvPicPr>
          <p:cNvPr id="15" name="Image 4" descr="preencoded.png">    </p:cNvPr>
          <p:cNvPicPr>
            <a:picLocks noChangeAspect="1"/>
          </p:cNvPicPr>
          <p:nvPr/>
        </p:nvPicPr>
        <p:blipFill>
          <a:blip r:embed="rId5"/>
          <a:stretch>
            <a:fillRect/>
          </a:stretch>
        </p:blipFill>
        <p:spPr>
          <a:xfrm>
            <a:off x="3438144" y="5257800"/>
            <a:ext cx="841248" cy="841248"/>
          </a:xfrm>
          <a:prstGeom prst="rect">
            <a:avLst/>
          </a:prstGeom>
        </p:spPr>
      </p:pic>
      <p:sp>
        <p:nvSpPr>
          <p:cNvPr id="16" name="Text 9"/>
          <p:cNvSpPr/>
          <p:nvPr/>
        </p:nvSpPr>
        <p:spPr>
          <a:xfrm>
            <a:off x="640080" y="1828800"/>
            <a:ext cx="8229600" cy="1188720"/>
          </a:xfrm>
          <a:prstGeom prst="rect">
            <a:avLst/>
          </a:prstGeom>
          <a:noFill/>
          <a:ln/>
        </p:spPr>
        <p:txBody>
          <a:bodyPr wrap="square" lIns="0" tIns="0" rIns="0" bIns="0" rtlCol="0" anchor="ctr"/>
          <a:lstStyle/>
          <a:p>
            <a:pPr indent="0" marL="0">
              <a:buNone/>
            </a:pPr>
            <a:r>
              <a:rPr lang="en-US" sz="7600" b="1" spc="200" kern="0" dirty="0">
                <a:solidFill>
                  <a:srgbClr val="FFFFFF"/>
                </a:solidFill>
                <a:latin typeface="Cambria" pitchFamily="34" charset="0"/>
                <a:ea typeface="Cambria" pitchFamily="34" charset="-122"/>
                <a:cs typeface="Cambria" pitchFamily="34" charset="-120"/>
              </a:rPr>
              <a:t>BIZZING</a:t>
            </a:r>
            <a:endParaRPr lang="en-US" sz="7600" dirty="0"/>
          </a:p>
        </p:txBody>
      </p:sp>
      <p:sp>
        <p:nvSpPr>
          <p:cNvPr id="17" name="Text 10"/>
          <p:cNvSpPr/>
          <p:nvPr/>
        </p:nvSpPr>
        <p:spPr>
          <a:xfrm>
            <a:off x="640080" y="3063240"/>
            <a:ext cx="7680960" cy="548640"/>
          </a:xfrm>
          <a:prstGeom prst="rect">
            <a:avLst/>
          </a:prstGeom>
          <a:noFill/>
          <a:ln/>
        </p:spPr>
        <p:txBody>
          <a:bodyPr wrap="square" lIns="0" tIns="0" rIns="0" bIns="0" rtlCol="0" anchor="ctr"/>
          <a:lstStyle/>
          <a:p>
            <a:pPr indent="0" marL="0">
              <a:buNone/>
            </a:pPr>
            <a:r>
              <a:rPr lang="en-US" sz="2100" i="1" dirty="0">
                <a:solidFill>
                  <a:srgbClr val="F0B429"/>
                </a:solidFill>
                <a:latin typeface="Cambria" pitchFamily="34" charset="0"/>
                <a:ea typeface="Cambria" pitchFamily="34" charset="-122"/>
                <a:cs typeface="Cambria" pitchFamily="34" charset="-120"/>
              </a:rPr>
              <a:t>Competitive learning for the children of the diaspora.</a:t>
            </a:r>
            <a:endParaRPr lang="en-US" sz="2100" dirty="0"/>
          </a:p>
        </p:txBody>
      </p:sp>
      <p:sp>
        <p:nvSpPr>
          <p:cNvPr id="18" name="Text 11"/>
          <p:cNvSpPr/>
          <p:nvPr/>
        </p:nvSpPr>
        <p:spPr>
          <a:xfrm>
            <a:off x="640080" y="3886200"/>
            <a:ext cx="7680960" cy="365760"/>
          </a:xfrm>
          <a:prstGeom prst="rect">
            <a:avLst/>
          </a:prstGeom>
          <a:noFill/>
          <a:ln/>
        </p:spPr>
        <p:txBody>
          <a:bodyPr wrap="square" lIns="0" tIns="0" rIns="0" bIns="0" rtlCol="0" anchor="ctr"/>
          <a:lstStyle/>
          <a:p>
            <a:pPr indent="0" marL="0">
              <a:buNone/>
            </a:pPr>
            <a:r>
              <a:rPr lang="en-US" sz="1400" dirty="0">
                <a:solidFill>
                  <a:srgbClr val="E3DCF2"/>
                </a:solidFill>
                <a:latin typeface="Calibri" pitchFamily="34" charset="0"/>
                <a:ea typeface="Calibri" pitchFamily="34" charset="-122"/>
                <a:cs typeface="Calibri" pitchFamily="34" charset="-120"/>
              </a:rPr>
              <a:t>Vision · Strategy · Roadmap · Money · Marketing · Content · Team</a:t>
            </a:r>
            <a:endParaRPr lang="en-US" sz="1400" dirty="0"/>
          </a:p>
        </p:txBody>
      </p:sp>
      <p:sp>
        <p:nvSpPr>
          <p:cNvPr id="19" name="Shape 12"/>
          <p:cNvSpPr/>
          <p:nvPr/>
        </p:nvSpPr>
        <p:spPr>
          <a:xfrm>
            <a:off x="640080" y="4709160"/>
            <a:ext cx="2926080" cy="0"/>
          </a:xfrm>
          <a:prstGeom prst="line">
            <a:avLst/>
          </a:prstGeom>
          <a:noFill/>
          <a:ln w="31750">
            <a:solidFill>
              <a:srgbClr val="6C4FE0"/>
            </a:solidFill>
            <a:prstDash val="solid"/>
          </a:ln>
        </p:spPr>
      </p:sp>
      <p:sp>
        <p:nvSpPr>
          <p:cNvPr id="20" name="Text 13"/>
          <p:cNvSpPr/>
          <p:nvPr/>
        </p:nvSpPr>
        <p:spPr>
          <a:xfrm>
            <a:off x="640080" y="4892040"/>
            <a:ext cx="7315200" cy="320040"/>
          </a:xfrm>
          <a:prstGeom prst="rect">
            <a:avLst/>
          </a:prstGeom>
          <a:noFill/>
          <a:ln/>
        </p:spPr>
        <p:txBody>
          <a:bodyPr wrap="square" lIns="0" tIns="0" rIns="0" bIns="0" rtlCol="0" anchor="ctr"/>
          <a:lstStyle/>
          <a:p>
            <a:pPr indent="0" marL="0">
              <a:buNone/>
            </a:pPr>
            <a:r>
              <a:rPr lang="en-US" sz="1250" dirty="0">
                <a:solidFill>
                  <a:srgbClr val="7A7291"/>
                </a:solidFill>
                <a:latin typeface="Calibri" pitchFamily="34" charset="0"/>
                <a:ea typeface="Calibri" pitchFamily="34" charset="-122"/>
                <a:cs typeface="Calibri" pitchFamily="34" charset="-120"/>
              </a:rPr>
              <a:t>Founding team · AI-first operating model</a:t>
            </a:r>
            <a:endParaRPr lang="en-US" sz="1250" dirty="0"/>
          </a:p>
        </p:txBody>
      </p:sp>
      <p:sp>
        <p:nvSpPr>
          <p:cNvPr id="21" name="Text 14"/>
          <p:cNvSpPr/>
          <p:nvPr/>
        </p:nvSpPr>
        <p:spPr>
          <a:xfrm>
            <a:off x="4480560" y="5541264"/>
            <a:ext cx="6766560" cy="29260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Marie Bolden · Frank Neuhauser · Pauline Bell · Dean Lucas — the first four champions, in the pack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STARTING POINT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They moved countries so their child could compete.</a:t>
            </a:r>
            <a:endParaRPr lang="en-US" sz="2900" dirty="0"/>
          </a:p>
        </p:txBody>
      </p:sp>
      <p:sp>
        <p:nvSpPr>
          <p:cNvPr id="4" name="Text 2"/>
          <p:cNvSpPr/>
          <p:nvPr/>
        </p:nvSpPr>
        <p:spPr>
          <a:xfrm>
            <a:off x="640080" y="1463040"/>
            <a:ext cx="10607040" cy="365760"/>
          </a:xfrm>
          <a:prstGeom prst="rect">
            <a:avLst/>
          </a:prstGeom>
          <a:noFill/>
          <a:ln/>
        </p:spPr>
        <p:txBody>
          <a:bodyPr wrap="square" lIns="0" tIns="0" rIns="0" bIns="0" rtlCol="0" anchor="ctr"/>
          <a:lstStyle/>
          <a:p>
            <a:pPr indent="0" marL="0">
              <a:buNone/>
            </a:pPr>
            <a:r>
              <a:rPr lang="en-US" sz="1550" dirty="0">
                <a:solidFill>
                  <a:srgbClr val="7A7291"/>
                </a:solidFill>
                <a:latin typeface="Calibri" pitchFamily="34" charset="0"/>
                <a:ea typeface="Calibri" pitchFamily="34" charset="-122"/>
                <a:cs typeface="Calibri" pitchFamily="34" charset="-120"/>
              </a:rPr>
              <a:t>Everything Bizzing builds answers a worry that parent already has.</a:t>
            </a:r>
            <a:endParaRPr lang="en-US" sz="1550" dirty="0"/>
          </a:p>
        </p:txBody>
      </p:sp>
      <p:sp>
        <p:nvSpPr>
          <p:cNvPr id="5" name="Shape 3"/>
          <p:cNvSpPr/>
          <p:nvPr/>
        </p:nvSpPr>
        <p:spPr>
          <a:xfrm>
            <a:off x="640080"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95728"/>
            <a:ext cx="457200" cy="457200"/>
          </a:xfrm>
          <a:prstGeom prst="hexagon">
            <a:avLst/>
          </a:prstGeom>
          <a:solidFill>
            <a:srgbClr val="6C4FE0"/>
          </a:solidFill>
          <a:ln/>
        </p:spPr>
      </p:sp>
      <p:sp>
        <p:nvSpPr>
          <p:cNvPr id="7" name="Text 5"/>
          <p:cNvSpPr/>
          <p:nvPr/>
        </p:nvSpPr>
        <p:spPr>
          <a:xfrm>
            <a:off x="914400"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school is not enough</a:t>
            </a:r>
            <a:endParaRPr lang="en-US" sz="1700" dirty="0"/>
          </a:p>
        </p:txBody>
      </p:sp>
      <p:sp>
        <p:nvSpPr>
          <p:cNvPr id="8" name="Text 6"/>
          <p:cNvSpPr/>
          <p:nvPr/>
        </p:nvSpPr>
        <p:spPr>
          <a:xfrm>
            <a:off x="914400"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Diaspora parents rarely believe the local curriculum is preparing their child for the contests, tests and admissions that actually decide outcomes.</a:t>
            </a:r>
            <a:endParaRPr lang="en-US" sz="1250" dirty="0"/>
          </a:p>
        </p:txBody>
      </p:sp>
      <p:sp>
        <p:nvSpPr>
          <p:cNvPr id="9" name="Shape 7"/>
          <p:cNvSpPr/>
          <p:nvPr/>
        </p:nvSpPr>
        <p:spPr>
          <a:xfrm>
            <a:off x="4325112"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95728"/>
            <a:ext cx="457200" cy="457200"/>
          </a:xfrm>
          <a:prstGeom prst="hexagon">
            <a:avLst/>
          </a:prstGeom>
          <a:solidFill>
            <a:srgbClr val="F0B429"/>
          </a:solidFill>
          <a:ln/>
        </p:spPr>
      </p:sp>
      <p:sp>
        <p:nvSpPr>
          <p:cNvPr id="11" name="Text 9"/>
          <p:cNvSpPr/>
          <p:nvPr/>
        </p:nvSpPr>
        <p:spPr>
          <a:xfrm>
            <a:off x="4599432"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child is between two worlds</a:t>
            </a:r>
            <a:endParaRPr lang="en-US" sz="1700" dirty="0"/>
          </a:p>
        </p:txBody>
      </p:sp>
      <p:sp>
        <p:nvSpPr>
          <p:cNvPr id="12" name="Text 10"/>
          <p:cNvSpPr/>
          <p:nvPr/>
        </p:nvSpPr>
        <p:spPr>
          <a:xfrm>
            <a:off x="4599432"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Expected to win at an adopted country’s competitions, and to keep a language and culture that country does not teach.</a:t>
            </a:r>
            <a:endParaRPr lang="en-US" sz="1250" dirty="0"/>
          </a:p>
        </p:txBody>
      </p:sp>
      <p:sp>
        <p:nvSpPr>
          <p:cNvPr id="13" name="Shape 11"/>
          <p:cNvSpPr/>
          <p:nvPr/>
        </p:nvSpPr>
        <p:spPr>
          <a:xfrm>
            <a:off x="8010144" y="2148840"/>
            <a:ext cx="3410712" cy="2743200"/>
          </a:xfrm>
          <a:prstGeom prst="roundRect">
            <a:avLst>
              <a:gd name="adj" fmla="val 4667"/>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95728"/>
            <a:ext cx="457200" cy="457200"/>
          </a:xfrm>
          <a:prstGeom prst="hexagon">
            <a:avLst/>
          </a:prstGeom>
          <a:solidFill>
            <a:srgbClr val="178A4C"/>
          </a:solidFill>
          <a:ln/>
        </p:spPr>
      </p:sp>
      <p:sp>
        <p:nvSpPr>
          <p:cNvPr id="15" name="Text 13"/>
          <p:cNvSpPr/>
          <p:nvPr/>
        </p:nvSpPr>
        <p:spPr>
          <a:xfrm>
            <a:off x="8284464" y="3017520"/>
            <a:ext cx="2880360" cy="566928"/>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The alternatives are poor</a:t>
            </a:r>
            <a:endParaRPr lang="en-US" sz="1700" dirty="0"/>
          </a:p>
        </p:txBody>
      </p:sp>
      <p:sp>
        <p:nvSpPr>
          <p:cNvPr id="16" name="Text 14"/>
          <p:cNvSpPr/>
          <p:nvPr/>
        </p:nvSpPr>
        <p:spPr>
          <a:xfrm>
            <a:off x="8284464" y="3657600"/>
            <a:ext cx="2880360" cy="1097280"/>
          </a:xfrm>
          <a:prstGeom prst="rect">
            <a:avLst/>
          </a:prstGeom>
          <a:noFill/>
          <a:ln/>
        </p:spPr>
        <p:txBody>
          <a:bodyPr wrap="square" lIns="0" tIns="0" rIns="0" bIns="0" rtlCol="0" anchor="ctr"/>
          <a:lstStyle/>
          <a:p>
            <a:pPr indent="0" marL="0">
              <a:lnSpc>
                <a:spcPts val="1600"/>
              </a:lnSpc>
              <a:buNone/>
            </a:pPr>
            <a:r>
              <a:rPr lang="en-US" sz="1250" dirty="0">
                <a:solidFill>
                  <a:srgbClr val="4A4360"/>
                </a:solidFill>
                <a:latin typeface="Calibri" pitchFamily="34" charset="0"/>
                <a:ea typeface="Calibri" pitchFamily="34" charset="-122"/>
                <a:cs typeface="Calibri" pitchFamily="34" charset="-120"/>
              </a:rPr>
              <a:t>Photocopied worksheets, tutors at $60–100 an hour, or apps built for a general audience that do not understand this family at all.</a:t>
            </a:r>
            <a:endParaRPr lang="en-US" sz="1250" dirty="0"/>
          </a:p>
        </p:txBody>
      </p:sp>
      <p:sp>
        <p:nvSpPr>
          <p:cNvPr id="17" name="Text 15"/>
          <p:cNvSpPr/>
          <p:nvPr/>
        </p:nvSpPr>
        <p:spPr>
          <a:xfrm>
            <a:off x="640080" y="5212080"/>
            <a:ext cx="10607040" cy="365760"/>
          </a:xfrm>
          <a:prstGeom prst="rect">
            <a:avLst/>
          </a:prstGeom>
          <a:noFill/>
          <a:ln/>
        </p:spPr>
        <p:txBody>
          <a:bodyPr wrap="square" lIns="0" tIns="0" rIns="0" bIns="0" rtlCol="0" anchor="ctr"/>
          <a:lstStyle/>
          <a:p>
            <a:pPr indent="0" marL="0">
              <a:buNone/>
            </a:pPr>
            <a:r>
              <a:rPr lang="en-US" sz="1600" i="1" dirty="0">
                <a:solidFill>
                  <a:srgbClr val="6C4FE0"/>
                </a:solidFill>
                <a:latin typeface="Cambria" pitchFamily="34" charset="0"/>
                <a:ea typeface="Cambria" pitchFamily="34" charset="-122"/>
                <a:cs typeface="Cambria" pitchFamily="34" charset="-120"/>
              </a:rPr>
              <a:t>That worry is large, permanent, and currently served badly. It is the whole opportunity.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182880" y="4343400"/>
            <a:ext cx="777240" cy="777240"/>
          </a:xfrm>
          <a:prstGeom prst="hexagon">
            <a:avLst/>
          </a:prstGeom>
          <a:solidFill>
            <a:srgbClr val="6C4FE0">
              <a:alpha val="20000"/>
            </a:srgbClr>
          </a:solidFill>
          <a:ln/>
        </p:spPr>
      </p:sp>
      <p:sp>
        <p:nvSpPr>
          <p:cNvPr id="3" name="Shape 1"/>
          <p:cNvSpPr/>
          <p:nvPr/>
        </p:nvSpPr>
        <p:spPr>
          <a:xfrm rot="5400000">
            <a:off x="1280160" y="4343400"/>
            <a:ext cx="777240" cy="777240"/>
          </a:xfrm>
          <a:prstGeom prst="hexagon">
            <a:avLst/>
          </a:prstGeom>
          <a:solidFill>
            <a:srgbClr val="6C4FE0">
              <a:alpha val="20000"/>
            </a:srgbClr>
          </a:solidFill>
          <a:ln/>
        </p:spPr>
      </p:sp>
      <p:sp>
        <p:nvSpPr>
          <p:cNvPr id="4" name="Shape 2"/>
          <p:cNvSpPr/>
          <p:nvPr/>
        </p:nvSpPr>
        <p:spPr>
          <a:xfrm rot="5400000">
            <a:off x="2377440" y="4343400"/>
            <a:ext cx="777240" cy="777240"/>
          </a:xfrm>
          <a:prstGeom prst="hexagon">
            <a:avLst/>
          </a:prstGeom>
          <a:solidFill>
            <a:srgbClr val="6C4FE0">
              <a:alpha val="20000"/>
            </a:srgbClr>
          </a:solidFill>
          <a:ln/>
        </p:spPr>
      </p:sp>
      <p:sp>
        <p:nvSpPr>
          <p:cNvPr id="5" name="Shape 3"/>
          <p:cNvSpPr/>
          <p:nvPr/>
        </p:nvSpPr>
        <p:spPr>
          <a:xfrm rot="5400000">
            <a:off x="731520" y="5287061"/>
            <a:ext cx="777240" cy="777240"/>
          </a:xfrm>
          <a:prstGeom prst="hexagon">
            <a:avLst/>
          </a:prstGeom>
          <a:solidFill>
            <a:srgbClr val="6C4FE0">
              <a:alpha val="20000"/>
            </a:srgbClr>
          </a:solidFill>
          <a:ln/>
        </p:spPr>
      </p:sp>
      <p:sp>
        <p:nvSpPr>
          <p:cNvPr id="6" name="Shape 4"/>
          <p:cNvSpPr/>
          <p:nvPr/>
        </p:nvSpPr>
        <p:spPr>
          <a:xfrm rot="5400000">
            <a:off x="1828800" y="5287061"/>
            <a:ext cx="777240" cy="777240"/>
          </a:xfrm>
          <a:prstGeom prst="hexagon">
            <a:avLst/>
          </a:prstGeom>
          <a:solidFill>
            <a:srgbClr val="6C4FE0">
              <a:alpha val="20000"/>
            </a:srgbClr>
          </a:solidFill>
          <a:ln/>
        </p:spPr>
      </p:sp>
      <p:sp>
        <p:nvSpPr>
          <p:cNvPr id="7" name="Shape 5"/>
          <p:cNvSpPr/>
          <p:nvPr/>
        </p:nvSpPr>
        <p:spPr>
          <a:xfrm rot="5400000">
            <a:off x="2926080" y="5287061"/>
            <a:ext cx="777240" cy="777240"/>
          </a:xfrm>
          <a:prstGeom prst="hexagon">
            <a:avLst/>
          </a:prstGeom>
          <a:solidFill>
            <a:srgbClr val="6C4FE0">
              <a:alpha val="20000"/>
            </a:srgbClr>
          </a:solidFill>
          <a:ln/>
        </p:spPr>
      </p:sp>
      <p:sp>
        <p:nvSpPr>
          <p:cNvPr id="8" name="Text 6"/>
          <p:cNvSpPr/>
          <p:nvPr/>
        </p:nvSpPr>
        <p:spPr>
          <a:xfrm>
            <a:off x="640080" y="914400"/>
            <a:ext cx="5486400" cy="320040"/>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VISION</a:t>
            </a:r>
            <a:endParaRPr lang="en-US" sz="1200" dirty="0"/>
          </a:p>
        </p:txBody>
      </p:sp>
      <p:sp>
        <p:nvSpPr>
          <p:cNvPr id="9" name="Text 7"/>
          <p:cNvSpPr/>
          <p:nvPr/>
        </p:nvSpPr>
        <p:spPr>
          <a:xfrm>
            <a:off x="640080" y="1481328"/>
            <a:ext cx="8595360" cy="1051560"/>
          </a:xfrm>
          <a:prstGeom prst="rect">
            <a:avLst/>
          </a:prstGeom>
          <a:noFill/>
          <a:ln/>
        </p:spPr>
        <p:txBody>
          <a:bodyPr wrap="square" lIns="0" tIns="0" rIns="0" bIns="0" rtlCol="0" anchor="ctr"/>
          <a:lstStyle/>
          <a:p>
            <a:pPr indent="0" marL="0">
              <a:buNone/>
            </a:pPr>
            <a:r>
              <a:rPr lang="en-US" sz="6200" b="1" dirty="0">
                <a:solidFill>
                  <a:srgbClr val="F0B429"/>
                </a:solidFill>
                <a:latin typeface="Cambria" pitchFamily="34" charset="0"/>
                <a:ea typeface="Cambria" pitchFamily="34" charset="-122"/>
                <a:cs typeface="Cambria" pitchFamily="34" charset="-120"/>
              </a:rPr>
              <a:t>Own the stage.</a:t>
            </a:r>
            <a:endParaRPr lang="en-US" sz="6200" dirty="0"/>
          </a:p>
        </p:txBody>
      </p:sp>
      <p:sp>
        <p:nvSpPr>
          <p:cNvPr id="10" name="Text 8"/>
          <p:cNvSpPr/>
          <p:nvPr/>
        </p:nvSpPr>
        <p:spPr>
          <a:xfrm>
            <a:off x="640080" y="2670048"/>
            <a:ext cx="9326880" cy="1371600"/>
          </a:xfrm>
          <a:prstGeom prst="rect">
            <a:avLst/>
          </a:prstGeom>
          <a:noFill/>
          <a:ln/>
        </p:spPr>
        <p:txBody>
          <a:bodyPr wrap="square" lIns="0" tIns="0" rIns="0" bIns="0" rtlCol="0" anchor="ctr"/>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Every stage in the world has one of our kids on it.</a:t>
            </a:r>
            <a:endParaRPr lang="en-US" sz="3600" dirty="0"/>
          </a:p>
        </p:txBody>
      </p:sp>
      <p:sp>
        <p:nvSpPr>
          <p:cNvPr id="11" name="Text 9"/>
          <p:cNvSpPr/>
          <p:nvPr/>
        </p:nvSpPr>
        <p:spPr>
          <a:xfrm>
            <a:off x="640080" y="4224528"/>
            <a:ext cx="8686800" cy="960120"/>
          </a:xfrm>
          <a:prstGeom prst="rect">
            <a:avLst/>
          </a:prstGeom>
          <a:noFill/>
          <a:ln/>
        </p:spPr>
        <p:txBody>
          <a:bodyPr wrap="square" lIns="0" tIns="0" rIns="0" bIns="0" rtlCol="0" anchor="ctr"/>
          <a:lstStyle/>
          <a:p>
            <a:pPr indent="0" marL="0">
              <a:lnSpc>
                <a:spcPts val="2100"/>
              </a:lnSpc>
              <a:buNone/>
            </a:pPr>
            <a:r>
              <a:rPr lang="en-US" sz="1450" dirty="0">
                <a:solidFill>
                  <a:srgbClr val="E3DCF2"/>
                </a:solidFill>
                <a:latin typeface="Calibri" pitchFamily="34" charset="0"/>
                <a:ea typeface="Calibri" pitchFamily="34" charset="-122"/>
                <a:cs typeface="Calibri" pitchFamily="34" charset="-120"/>
              </a:rPr>
              <a:t>A spelling bee is a child at a microphone under lights. So is a debate, a pitch, a boardroom and a parliament. We are not raising children who fit in quietly — we are raising the ones who take the mic.</a:t>
            </a:r>
            <a:endParaRPr lang="en-US" sz="1450" dirty="0"/>
          </a:p>
        </p:txBody>
      </p:sp>
      <p:pic>
        <p:nvPicPr>
          <p:cNvPr id="12" name="Image 0" descr="preencoded.png">    </p:cNvPr>
          <p:cNvPicPr>
            <a:picLocks noChangeAspect="1"/>
          </p:cNvPicPr>
          <p:nvPr/>
        </p:nvPicPr>
        <p:blipFill>
          <a:blip r:embed="rId1"/>
          <a:stretch>
            <a:fillRect/>
          </a:stretch>
        </p:blipFill>
        <p:spPr>
          <a:xfrm>
            <a:off x="9464040" y="1417320"/>
            <a:ext cx="1920240" cy="1920240"/>
          </a:xfrm>
          <a:prstGeom prst="rect">
            <a:avLst/>
          </a:prstGeom>
        </p:spPr>
      </p:pic>
      <p:pic>
        <p:nvPicPr>
          <p:cNvPr id="13" name="Image 1" descr="preencoded.png">    </p:cNvPr>
          <p:cNvPicPr>
            <a:picLocks noChangeAspect="1"/>
          </p:cNvPicPr>
          <p:nvPr/>
        </p:nvPicPr>
        <p:blipFill>
          <a:blip r:embed="rId2"/>
          <a:stretch>
            <a:fillRect/>
          </a:stretch>
        </p:blipFill>
        <p:spPr>
          <a:xfrm>
            <a:off x="9829800" y="3429000"/>
            <a:ext cx="1371600" cy="13716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WHAT WE DO ABOUT IT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Mission</a:t>
            </a:r>
            <a:endParaRPr lang="en-US" sz="2900" dirty="0"/>
          </a:p>
        </p:txBody>
      </p:sp>
      <p:sp>
        <p:nvSpPr>
          <p:cNvPr id="4" name="Shape 2"/>
          <p:cNvSpPr/>
          <p:nvPr/>
        </p:nvSpPr>
        <p:spPr>
          <a:xfrm>
            <a:off x="640080" y="1417320"/>
            <a:ext cx="1060704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5" name="Text 3"/>
          <p:cNvSpPr/>
          <p:nvPr/>
        </p:nvSpPr>
        <p:spPr>
          <a:xfrm>
            <a:off x="1024128" y="1600200"/>
            <a:ext cx="9875520" cy="868680"/>
          </a:xfrm>
          <a:prstGeom prst="rect">
            <a:avLst/>
          </a:prstGeom>
          <a:noFill/>
          <a:ln/>
        </p:spPr>
        <p:txBody>
          <a:bodyPr wrap="square" lIns="0" tIns="0" rIns="0" bIns="0" rtlCol="0" anchor="ctr"/>
          <a:lstStyle/>
          <a:p>
            <a:pPr indent="0" marL="0">
              <a:lnSpc>
                <a:spcPts val="2800"/>
              </a:lnSpc>
              <a:buNone/>
            </a:pPr>
            <a:r>
              <a:rPr lang="en-US" sz="2100" b="1" dirty="0">
                <a:solidFill>
                  <a:srgbClr val="241E33"/>
                </a:solidFill>
                <a:latin typeface="Cambria" pitchFamily="34" charset="0"/>
                <a:ea typeface="Cambria" pitchFamily="34" charset="-122"/>
                <a:cs typeface="Cambria" pitchFamily="34" charset="-120"/>
              </a:rPr>
              <a:t>To give diaspora families world-class competitive learning — starting with words — in products children actually want to open.</a:t>
            </a:r>
            <a:endParaRPr lang="en-US" sz="2100" dirty="0"/>
          </a:p>
        </p:txBody>
      </p:sp>
      <p:sp>
        <p:nvSpPr>
          <p:cNvPr id="6" name="Shape 4"/>
          <p:cNvSpPr/>
          <p:nvPr/>
        </p:nvSpPr>
        <p:spPr>
          <a:xfrm rot="5400000">
            <a:off x="640080" y="3035808"/>
            <a:ext cx="384048" cy="384048"/>
          </a:xfrm>
          <a:prstGeom prst="hexagon">
            <a:avLst/>
          </a:prstGeom>
          <a:solidFill>
            <a:srgbClr val="6C4FE0"/>
          </a:solidFill>
          <a:ln/>
        </p:spPr>
      </p:sp>
      <p:sp>
        <p:nvSpPr>
          <p:cNvPr id="7" name="Text 5"/>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640080"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Competitive, not remedial</a:t>
            </a:r>
            <a:endParaRPr lang="en-US" sz="1650" dirty="0"/>
          </a:p>
        </p:txBody>
      </p:sp>
      <p:sp>
        <p:nvSpPr>
          <p:cNvPr id="9" name="Text 7"/>
          <p:cNvSpPr/>
          <p:nvPr/>
        </p:nvSpPr>
        <p:spPr>
          <a:xfrm>
            <a:off x="640080"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We prepare children to win things, not to catch up. That is the register the parent is already in.</a:t>
            </a:r>
            <a:endParaRPr lang="en-US" sz="1300" dirty="0"/>
          </a:p>
        </p:txBody>
      </p:sp>
      <p:sp>
        <p:nvSpPr>
          <p:cNvPr id="10" name="Shape 8"/>
          <p:cNvSpPr/>
          <p:nvPr/>
        </p:nvSpPr>
        <p:spPr>
          <a:xfrm rot="5400000">
            <a:off x="4325112" y="3035808"/>
            <a:ext cx="384048" cy="384048"/>
          </a:xfrm>
          <a:prstGeom prst="hexagon">
            <a:avLst/>
          </a:prstGeom>
          <a:solidFill>
            <a:srgbClr val="F0B429"/>
          </a:solidFill>
          <a:ln/>
        </p:spPr>
      </p:sp>
      <p:sp>
        <p:nvSpPr>
          <p:cNvPr id="11" name="Text 9"/>
          <p:cNvSpPr/>
          <p:nvPr/>
        </p:nvSpPr>
        <p:spPr>
          <a:xfrm>
            <a:off x="4325112" y="30358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4325112"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Built for this family</a:t>
            </a:r>
            <a:endParaRPr lang="en-US" sz="1650" dirty="0"/>
          </a:p>
        </p:txBody>
      </p:sp>
      <p:sp>
        <p:nvSpPr>
          <p:cNvPr id="13" name="Text 11"/>
          <p:cNvSpPr/>
          <p:nvPr/>
        </p:nvSpPr>
        <p:spPr>
          <a:xfrm>
            <a:off x="4325112"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Heritage, language and diaspora context are first-class, not a localisation afterthought.</a:t>
            </a:r>
            <a:endParaRPr lang="en-US" sz="1300" dirty="0"/>
          </a:p>
        </p:txBody>
      </p:sp>
      <p:sp>
        <p:nvSpPr>
          <p:cNvPr id="14" name="Shape 12"/>
          <p:cNvSpPr/>
          <p:nvPr/>
        </p:nvSpPr>
        <p:spPr>
          <a:xfrm rot="5400000">
            <a:off x="8010144" y="3035808"/>
            <a:ext cx="384048" cy="384048"/>
          </a:xfrm>
          <a:prstGeom prst="hexagon">
            <a:avLst/>
          </a:prstGeom>
          <a:solidFill>
            <a:srgbClr val="6C4FE0"/>
          </a:solidFill>
          <a:ln/>
        </p:spPr>
      </p:sp>
      <p:sp>
        <p:nvSpPr>
          <p:cNvPr id="15" name="Text 13"/>
          <p:cNvSpPr/>
          <p:nvPr/>
        </p:nvSpPr>
        <p:spPr>
          <a:xfrm>
            <a:off x="8010144"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p:nvPr/>
        </p:nvSpPr>
        <p:spPr>
          <a:xfrm>
            <a:off x="8010144" y="3584448"/>
            <a:ext cx="3291840" cy="457200"/>
          </a:xfrm>
          <a:prstGeom prst="rect">
            <a:avLst/>
          </a:prstGeom>
          <a:noFill/>
          <a:ln/>
        </p:spPr>
        <p:txBody>
          <a:bodyPr wrap="square" lIns="0" tIns="0" rIns="0" bIns="0" rtlCol="0" anchor="ctr"/>
          <a:lstStyle/>
          <a:p>
            <a:pPr indent="0" marL="0">
              <a:buNone/>
            </a:pPr>
            <a:r>
              <a:rPr lang="en-US" sz="1650" b="1" dirty="0">
                <a:solidFill>
                  <a:srgbClr val="241E33"/>
                </a:solidFill>
                <a:latin typeface="Cambria" pitchFamily="34" charset="0"/>
                <a:ea typeface="Cambria" pitchFamily="34" charset="-122"/>
                <a:cs typeface="Cambria" pitchFamily="34" charset="-120"/>
              </a:rPr>
              <a:t>Fun enough to open unprompted</a:t>
            </a:r>
            <a:endParaRPr lang="en-US" sz="1650" dirty="0"/>
          </a:p>
        </p:txBody>
      </p:sp>
      <p:sp>
        <p:nvSpPr>
          <p:cNvPr id="17" name="Text 15"/>
          <p:cNvSpPr/>
          <p:nvPr/>
        </p:nvSpPr>
        <p:spPr>
          <a:xfrm>
            <a:off x="8010144" y="4078224"/>
            <a:ext cx="3291840" cy="1097280"/>
          </a:xfrm>
          <a:prstGeom prst="rect">
            <a:avLst/>
          </a:prstGeom>
          <a:noFill/>
          <a:ln/>
        </p:spPr>
        <p:txBody>
          <a:bodyPr wrap="square" lIns="0" tIns="0" rIns="0" bIns="0" rtlCol="0" anchor="ctr"/>
          <a:lstStyle/>
          <a:p>
            <a:pPr indent="0" marL="0">
              <a:lnSpc>
                <a:spcPts val="1800"/>
              </a:lnSpc>
              <a:buNone/>
            </a:pPr>
            <a:r>
              <a:rPr lang="en-US" sz="1300" dirty="0">
                <a:solidFill>
                  <a:srgbClr val="4A4360"/>
                </a:solidFill>
                <a:latin typeface="Calibri" pitchFamily="34" charset="0"/>
                <a:ea typeface="Calibri" pitchFamily="34" charset="-122"/>
                <a:cs typeface="Calibri" pitchFamily="34" charset="-120"/>
              </a:rPr>
              <a:t>A product a child opens on their own beats a better product they have to be nagged into.</a:t>
            </a:r>
            <a:endParaRPr lang="en-US" sz="1300" dirty="0"/>
          </a:p>
        </p:txBody>
      </p:sp>
      <p:sp>
        <p:nvSpPr>
          <p:cNvPr id="18" name="Text 16"/>
          <p:cNvSpPr/>
          <p:nvPr/>
        </p:nvSpPr>
        <p:spPr>
          <a:xfrm>
            <a:off x="640080" y="5532120"/>
            <a:ext cx="10607040" cy="457200"/>
          </a:xfrm>
          <a:prstGeom prst="rect">
            <a:avLst/>
          </a:prstGeom>
          <a:noFill/>
          <a:ln/>
        </p:spPr>
        <p:txBody>
          <a:bodyPr wrap="square" lIns="0" tIns="0" rIns="0" bIns="0" rtlCol="0" anchor="ctr"/>
          <a:lstStyle/>
          <a:p>
            <a:pPr indent="0" marL="0">
              <a:buNone/>
            </a:pPr>
            <a:r>
              <a:rPr lang="en-US" sz="1350" i="1" dirty="0">
                <a:solidFill>
                  <a:srgbClr val="7A7291"/>
                </a:solidFill>
                <a:latin typeface="Calibri" pitchFamily="34" charset="0"/>
                <a:ea typeface="Calibri" pitchFamily="34" charset="-122"/>
                <a:cs typeface="Calibri" pitchFamily="34" charset="-120"/>
              </a:rPr>
              <a:t>Success is a child who is measurably better at something their parent cares about — and who did the practice willingly.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THREE QUESTIONS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Why, what, how</a:t>
            </a:r>
            <a:endParaRPr lang="en-US" sz="2900" dirty="0"/>
          </a:p>
        </p:txBody>
      </p:sp>
      <p:sp>
        <p:nvSpPr>
          <p:cNvPr id="4" name="Shape 2"/>
          <p:cNvSpPr/>
          <p:nvPr/>
        </p:nvSpPr>
        <p:spPr>
          <a:xfrm>
            <a:off x="640080" y="1481328"/>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5" name="Shape 3"/>
          <p:cNvSpPr/>
          <p:nvPr/>
        </p:nvSpPr>
        <p:spPr>
          <a:xfrm rot="5400000">
            <a:off x="960120" y="1865376"/>
            <a:ext cx="603504" cy="603504"/>
          </a:xfrm>
          <a:prstGeom prst="hexagon">
            <a:avLst/>
          </a:prstGeom>
          <a:solidFill>
            <a:srgbClr val="6C4FE0"/>
          </a:solidFill>
          <a:ln/>
        </p:spPr>
      </p:sp>
      <p:sp>
        <p:nvSpPr>
          <p:cNvPr id="6" name="Text 4"/>
          <p:cNvSpPr/>
          <p:nvPr/>
        </p:nvSpPr>
        <p:spPr>
          <a:xfrm>
            <a:off x="960120" y="1865376"/>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p>
        </p:txBody>
      </p:sp>
      <p:sp>
        <p:nvSpPr>
          <p:cNvPr id="7" name="Text 5"/>
          <p:cNvSpPr/>
          <p:nvPr/>
        </p:nvSpPr>
        <p:spPr>
          <a:xfrm>
            <a:off x="1874520" y="1700784"/>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Because ability is not the constraint — access is.</a:t>
            </a:r>
            <a:endParaRPr lang="en-US" sz="1850" dirty="0"/>
          </a:p>
        </p:txBody>
      </p:sp>
      <p:sp>
        <p:nvSpPr>
          <p:cNvPr id="8" name="Text 6"/>
          <p:cNvSpPr/>
          <p:nvPr/>
        </p:nvSpPr>
        <p:spPr>
          <a:xfrm>
            <a:off x="1874520" y="2121408"/>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These children are not short of talent or of parental will. They are short of good, affordable, culturally-fluent practice. Every hour a parent spends worrying is an hour we can convert into something the child enjoys.</a:t>
            </a:r>
            <a:endParaRPr lang="en-US" sz="1280" dirty="0"/>
          </a:p>
        </p:txBody>
      </p:sp>
      <p:sp>
        <p:nvSpPr>
          <p:cNvPr id="9" name="Shape 7"/>
          <p:cNvSpPr/>
          <p:nvPr/>
        </p:nvSpPr>
        <p:spPr>
          <a:xfrm>
            <a:off x="640080" y="3054096"/>
            <a:ext cx="10607040" cy="1371600"/>
          </a:xfrm>
          <a:prstGeom prst="roundRect">
            <a:avLst>
              <a:gd name="adj" fmla="val 9333"/>
            </a:avLst>
          </a:prstGeom>
          <a:solidFill>
            <a:srgbClr val="FFFFFF"/>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960120" y="3438144"/>
            <a:ext cx="603504" cy="603504"/>
          </a:xfrm>
          <a:prstGeom prst="hexagon">
            <a:avLst/>
          </a:prstGeom>
          <a:solidFill>
            <a:srgbClr val="F0B429"/>
          </a:solidFill>
          <a:ln/>
        </p:spPr>
      </p:sp>
      <p:sp>
        <p:nvSpPr>
          <p:cNvPr id="11" name="Text 9"/>
          <p:cNvSpPr/>
          <p:nvPr/>
        </p:nvSpPr>
        <p:spPr>
          <a:xfrm>
            <a:off x="960120" y="3438144"/>
            <a:ext cx="603504" cy="603504"/>
          </a:xfrm>
          <a:prstGeom prst="rect">
            <a:avLst/>
          </a:prstGeom>
          <a:noFill/>
          <a:ln/>
        </p:spPr>
        <p:txBody>
          <a:bodyPr wrap="square" lIns="0" tIns="0" rIns="0" bIns="0" rtlCol="0" anchor="ctr"/>
          <a:lstStyle/>
          <a:p>
            <a:pPr algn="ctr" indent="0" marL="0">
              <a:buNone/>
            </a:pPr>
            <a:r>
              <a:rPr lang="en-US" sz="950" b="1" dirty="0">
                <a:solidFill>
                  <a:srgbClr val="241E33"/>
                </a:solidFill>
                <a:latin typeface="Calibri" pitchFamily="34" charset="0"/>
                <a:ea typeface="Calibri" pitchFamily="34" charset="-122"/>
                <a:cs typeface="Calibri" pitchFamily="34" charset="-120"/>
              </a:rPr>
              <a:t>WHAT</a:t>
            </a:r>
            <a:endParaRPr lang="en-US" sz="950" dirty="0"/>
          </a:p>
        </p:txBody>
      </p:sp>
      <p:sp>
        <p:nvSpPr>
          <p:cNvPr id="12" name="Text 10"/>
          <p:cNvSpPr/>
          <p:nvPr/>
        </p:nvSpPr>
        <p:spPr>
          <a:xfrm>
            <a:off x="1874520" y="3273552"/>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 house of competitive-learning products for ages 8–15.</a:t>
            </a:r>
            <a:endParaRPr lang="en-US" sz="1850" dirty="0"/>
          </a:p>
        </p:txBody>
      </p:sp>
      <p:sp>
        <p:nvSpPr>
          <p:cNvPr id="13" name="Text 11"/>
          <p:cNvSpPr/>
          <p:nvPr/>
        </p:nvSpPr>
        <p:spPr>
          <a:xfrm>
            <a:off x="1874520" y="3694176"/>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One engine, many subjects. Spelling first, because it is the contest this community already organises around. Then the adjacent word products, then heritage language, then numeracy.</a:t>
            </a:r>
            <a:endParaRPr lang="en-US" sz="1280" dirty="0"/>
          </a:p>
        </p:txBody>
      </p:sp>
      <p:sp>
        <p:nvSpPr>
          <p:cNvPr id="14" name="Shape 12"/>
          <p:cNvSpPr/>
          <p:nvPr/>
        </p:nvSpPr>
        <p:spPr>
          <a:xfrm>
            <a:off x="640080" y="4626864"/>
            <a:ext cx="10607040" cy="1371600"/>
          </a:xfrm>
          <a:prstGeom prst="roundRect">
            <a:avLst>
              <a:gd name="adj" fmla="val 9333"/>
            </a:avLst>
          </a:prstGeom>
          <a:solidFill>
            <a:srgbClr val="EFEBF8"/>
          </a:solidFill>
          <a:ln/>
          <a:effectLst>
            <a:outerShdw sx="100000" sy="100000" kx="0" ky="0" algn="bl" rotWithShape="0" blurRad="127000" dist="25400" dir="5400000">
              <a:srgbClr val="241E33">
                <a:alpha val="10000"/>
              </a:srgbClr>
            </a:outerShdw>
          </a:effectLst>
        </p:spPr>
      </p:sp>
      <p:sp>
        <p:nvSpPr>
          <p:cNvPr id="15" name="Shape 13"/>
          <p:cNvSpPr/>
          <p:nvPr/>
        </p:nvSpPr>
        <p:spPr>
          <a:xfrm rot="5400000">
            <a:off x="960120" y="5010912"/>
            <a:ext cx="603504" cy="603504"/>
          </a:xfrm>
          <a:prstGeom prst="hexagon">
            <a:avLst/>
          </a:prstGeom>
          <a:solidFill>
            <a:srgbClr val="178A4C"/>
          </a:solidFill>
          <a:ln/>
        </p:spPr>
      </p:sp>
      <p:sp>
        <p:nvSpPr>
          <p:cNvPr id="16" name="Text 14"/>
          <p:cNvSpPr/>
          <p:nvPr/>
        </p:nvSpPr>
        <p:spPr>
          <a:xfrm>
            <a:off x="960120" y="5010912"/>
            <a:ext cx="603504"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a:t>
            </a:r>
            <a:endParaRPr lang="en-US" sz="950" dirty="0"/>
          </a:p>
        </p:txBody>
      </p:sp>
      <p:sp>
        <p:nvSpPr>
          <p:cNvPr id="17" name="Text 15"/>
          <p:cNvSpPr/>
          <p:nvPr/>
        </p:nvSpPr>
        <p:spPr>
          <a:xfrm>
            <a:off x="1874520" y="4846320"/>
            <a:ext cx="9052560" cy="384048"/>
          </a:xfrm>
          <a:prstGeom prst="rect">
            <a:avLst/>
          </a:prstGeom>
          <a:noFill/>
          <a:ln/>
        </p:spPr>
        <p:txBody>
          <a:bodyPr wrap="square" lIns="0" tIns="0" rIns="0" bIns="0" rtlCol="0" anchor="ctr"/>
          <a:lstStyle/>
          <a:p>
            <a:pPr indent="0" marL="0">
              <a:buNone/>
            </a:pPr>
            <a:r>
              <a:rPr lang="en-US" sz="1850" b="1" dirty="0">
                <a:solidFill>
                  <a:srgbClr val="241E33"/>
                </a:solidFill>
                <a:latin typeface="Cambria" pitchFamily="34" charset="0"/>
                <a:ea typeface="Cambria" pitchFamily="34" charset="-122"/>
                <a:cs typeface="Cambria" pitchFamily="34" charset="-120"/>
              </a:rPr>
              <a:t>AI-first, founder-run, content-owned.</a:t>
            </a:r>
            <a:endParaRPr lang="en-US" sz="1850" dirty="0"/>
          </a:p>
        </p:txBody>
      </p:sp>
      <p:sp>
        <p:nvSpPr>
          <p:cNvPr id="18" name="Text 16"/>
          <p:cNvSpPr/>
          <p:nvPr/>
        </p:nvSpPr>
        <p:spPr>
          <a:xfrm>
            <a:off x="1874520" y="5266944"/>
            <a:ext cx="9052560" cy="658368"/>
          </a:xfrm>
          <a:prstGeom prst="rect">
            <a:avLst/>
          </a:prstGeom>
          <a:noFill/>
          <a:ln/>
        </p:spPr>
        <p:txBody>
          <a:bodyPr wrap="square" lIns="0" tIns="0" rIns="0" bIns="0" rtlCol="0" anchor="ctr"/>
          <a:lstStyle/>
          <a:p>
            <a:pPr indent="0" marL="0">
              <a:lnSpc>
                <a:spcPts val="1700"/>
              </a:lnSpc>
              <a:buNone/>
            </a:pPr>
            <a:r>
              <a:rPr lang="en-US" sz="1280" dirty="0">
                <a:solidFill>
                  <a:srgbClr val="4A4360"/>
                </a:solidFill>
                <a:latin typeface="Calibri" pitchFamily="34" charset="0"/>
                <a:ea typeface="Calibri" pitchFamily="34" charset="-122"/>
                <a:cs typeface="Calibri" pitchFamily="34" charset="-120"/>
              </a:rPr>
              <a:t>Two founders and no agency. The product is built with AI coding tools, the marketing is produced with AI tools, and the content bank — which is the actual moat — is generated, verified and owned in-house.</a:t>
            </a:r>
            <a:endParaRPr lang="en-US" sz="12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02920"/>
            <a:ext cx="54864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STRATEGY</a:t>
            </a:r>
            <a:endParaRPr lang="en-US" sz="1200" dirty="0"/>
          </a:p>
        </p:txBody>
      </p:sp>
      <p:sp>
        <p:nvSpPr>
          <p:cNvPr id="3" name="Text 1"/>
          <p:cNvSpPr/>
          <p:nvPr/>
        </p:nvSpPr>
        <p:spPr>
          <a:xfrm>
            <a:off x="640080" y="896112"/>
            <a:ext cx="10607040" cy="73152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Win one contest completely, then reuse the engine.</a:t>
            </a:r>
            <a:endParaRPr lang="en-US" sz="2900" dirty="0"/>
          </a:p>
        </p:txBody>
      </p:sp>
      <p:sp>
        <p:nvSpPr>
          <p:cNvPr id="4" name="Shape 2"/>
          <p:cNvSpPr/>
          <p:nvPr/>
        </p:nvSpPr>
        <p:spPr>
          <a:xfrm>
            <a:off x="640080"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5" name="Shape 3"/>
          <p:cNvSpPr/>
          <p:nvPr/>
        </p:nvSpPr>
        <p:spPr>
          <a:xfrm rot="5400000">
            <a:off x="896112" y="2267712"/>
            <a:ext cx="384048" cy="384048"/>
          </a:xfrm>
          <a:prstGeom prst="hexagon">
            <a:avLst/>
          </a:prstGeom>
          <a:solidFill>
            <a:srgbClr val="F0B429"/>
          </a:solidFill>
          <a:ln/>
        </p:spPr>
      </p:sp>
      <p:sp>
        <p:nvSpPr>
          <p:cNvPr id="6" name="Text 4"/>
          <p:cNvSpPr/>
          <p:nvPr/>
        </p:nvSpPr>
        <p:spPr>
          <a:xfrm>
            <a:off x="896112" y="22677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896112"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WEDGE</a:t>
            </a:r>
            <a:endParaRPr lang="en-US" sz="950" dirty="0"/>
          </a:p>
        </p:txBody>
      </p:sp>
      <p:sp>
        <p:nvSpPr>
          <p:cNvPr id="8" name="Text 6"/>
          <p:cNvSpPr/>
          <p:nvPr/>
        </p:nvSpPr>
        <p:spPr>
          <a:xfrm>
            <a:off x="896112"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Spelling bee</a:t>
            </a:r>
            <a:endParaRPr lang="en-US" sz="1700" dirty="0"/>
          </a:p>
        </p:txBody>
      </p:sp>
      <p:sp>
        <p:nvSpPr>
          <p:cNvPr id="9" name="Text 7"/>
          <p:cNvSpPr/>
          <p:nvPr/>
        </p:nvSpPr>
        <p:spPr>
          <a:xfrm>
            <a:off x="896112"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one competition this community already organises around — and dominates. We do not have to create the demand or explain the category.</a:t>
            </a:r>
            <a:endParaRPr lang="en-US" sz="1150" dirty="0"/>
          </a:p>
        </p:txBody>
      </p:sp>
      <p:sp>
        <p:nvSpPr>
          <p:cNvPr id="10" name="Shape 8"/>
          <p:cNvSpPr/>
          <p:nvPr/>
        </p:nvSpPr>
        <p:spPr>
          <a:xfrm>
            <a:off x="3401568"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1" name="Shape 9"/>
          <p:cNvSpPr/>
          <p:nvPr/>
        </p:nvSpPr>
        <p:spPr>
          <a:xfrm rot="5400000">
            <a:off x="3657600" y="2267712"/>
            <a:ext cx="384048" cy="384048"/>
          </a:xfrm>
          <a:prstGeom prst="hexagon">
            <a:avLst/>
          </a:prstGeom>
          <a:solidFill>
            <a:srgbClr val="6C4FE0"/>
          </a:solidFill>
          <a:ln/>
        </p:spPr>
      </p:sp>
      <p:sp>
        <p:nvSpPr>
          <p:cNvPr id="12" name="Text 10"/>
          <p:cNvSpPr/>
          <p:nvPr/>
        </p:nvSpPr>
        <p:spPr>
          <a:xfrm>
            <a:off x="3657600"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3657600"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EXPAND BY ENGINE REUSE</a:t>
            </a:r>
            <a:endParaRPr lang="en-US" sz="950" dirty="0"/>
          </a:p>
        </p:txBody>
      </p:sp>
      <p:sp>
        <p:nvSpPr>
          <p:cNvPr id="14" name="Text 12"/>
          <p:cNvSpPr/>
          <p:nvPr/>
        </p:nvSpPr>
        <p:spPr>
          <a:xfrm>
            <a:off x="3657600"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Adjacent word products</a:t>
            </a:r>
            <a:endParaRPr lang="en-US" sz="1700" dirty="0"/>
          </a:p>
        </p:txBody>
      </p:sp>
      <p:sp>
        <p:nvSpPr>
          <p:cNvPr id="15" name="Text 13"/>
          <p:cNvSpPr/>
          <p:nvPr/>
        </p:nvSpPr>
        <p:spPr>
          <a:xfrm>
            <a:off x="3657600"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Verbal reasoning, vocabulary and test prep run on the drill engine that already exists. New revenue, near-zero new infrastructure.</a:t>
            </a:r>
            <a:endParaRPr lang="en-US" sz="1150" dirty="0"/>
          </a:p>
        </p:txBody>
      </p:sp>
      <p:sp>
        <p:nvSpPr>
          <p:cNvPr id="16" name="Shape 14"/>
          <p:cNvSpPr/>
          <p:nvPr/>
        </p:nvSpPr>
        <p:spPr>
          <a:xfrm>
            <a:off x="6163056"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17" name="Shape 15"/>
          <p:cNvSpPr/>
          <p:nvPr/>
        </p:nvSpPr>
        <p:spPr>
          <a:xfrm rot="5400000">
            <a:off x="6419088" y="2267712"/>
            <a:ext cx="384048" cy="384048"/>
          </a:xfrm>
          <a:prstGeom prst="hexagon">
            <a:avLst/>
          </a:prstGeom>
          <a:solidFill>
            <a:srgbClr val="6C4FE0"/>
          </a:solidFill>
          <a:ln/>
        </p:spPr>
      </p:sp>
      <p:sp>
        <p:nvSpPr>
          <p:cNvPr id="18" name="Text 16"/>
          <p:cNvSpPr/>
          <p:nvPr/>
        </p:nvSpPr>
        <p:spPr>
          <a:xfrm>
            <a:off x="6419088"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6419088"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DEEPEN THE MOAT</a:t>
            </a:r>
            <a:endParaRPr lang="en-US" sz="950" dirty="0"/>
          </a:p>
        </p:txBody>
      </p:sp>
      <p:sp>
        <p:nvSpPr>
          <p:cNvPr id="20" name="Text 18"/>
          <p:cNvSpPr/>
          <p:nvPr/>
        </p:nvSpPr>
        <p:spPr>
          <a:xfrm>
            <a:off x="6419088"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Heritage language</a:t>
            </a:r>
            <a:endParaRPr lang="en-US" sz="1700" dirty="0"/>
          </a:p>
        </p:txBody>
      </p:sp>
      <p:sp>
        <p:nvSpPr>
          <p:cNvPr id="21" name="Text 19"/>
          <p:cNvSpPr/>
          <p:nvPr/>
        </p:nvSpPr>
        <p:spPr>
          <a:xfrm>
            <a:off x="6419088"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The only category where the diaspora is the entire market rather than a slice of it. Hardest to copy, stickiest to own.</a:t>
            </a:r>
            <a:endParaRPr lang="en-US" sz="1150" dirty="0"/>
          </a:p>
        </p:txBody>
      </p:sp>
      <p:sp>
        <p:nvSpPr>
          <p:cNvPr id="22" name="Shape 20"/>
          <p:cNvSpPr/>
          <p:nvPr/>
        </p:nvSpPr>
        <p:spPr>
          <a:xfrm>
            <a:off x="8924544" y="2011680"/>
            <a:ext cx="2542032" cy="3200400"/>
          </a:xfrm>
          <a:prstGeom prst="roundRect">
            <a:avLst>
              <a:gd name="adj" fmla="val 4676"/>
            </a:avLst>
          </a:prstGeom>
          <a:solidFill>
            <a:srgbClr val="FFFFFF">
              <a:alpha val="8000"/>
            </a:srgbClr>
          </a:solidFill>
          <a:ln w="12700">
            <a:solidFill>
              <a:srgbClr val="6C4FE0"/>
            </a:solidFill>
            <a:prstDash val="solid"/>
          </a:ln>
        </p:spPr>
      </p:sp>
      <p:sp>
        <p:nvSpPr>
          <p:cNvPr id="23" name="Shape 21"/>
          <p:cNvSpPr/>
          <p:nvPr/>
        </p:nvSpPr>
        <p:spPr>
          <a:xfrm rot="5400000">
            <a:off x="9180576" y="2267712"/>
            <a:ext cx="384048" cy="384048"/>
          </a:xfrm>
          <a:prstGeom prst="hexagon">
            <a:avLst/>
          </a:prstGeom>
          <a:solidFill>
            <a:srgbClr val="6C4FE0"/>
          </a:solidFill>
          <a:ln/>
        </p:spPr>
      </p:sp>
      <p:sp>
        <p:nvSpPr>
          <p:cNvPr id="24" name="Text 22"/>
          <p:cNvSpPr/>
          <p:nvPr/>
        </p:nvSpPr>
        <p:spPr>
          <a:xfrm>
            <a:off x="9180576" y="2267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5" name="Text 23"/>
          <p:cNvSpPr/>
          <p:nvPr/>
        </p:nvSpPr>
        <p:spPr>
          <a:xfrm>
            <a:off x="9180576" y="2798064"/>
            <a:ext cx="2103120" cy="256032"/>
          </a:xfrm>
          <a:prstGeom prst="rect">
            <a:avLst/>
          </a:prstGeom>
          <a:noFill/>
          <a:ln/>
        </p:spPr>
        <p:txBody>
          <a:bodyPr wrap="square" lIns="0" tIns="0" rIns="0" bIns="0" rtlCol="0" anchor="ctr"/>
          <a:lstStyle/>
          <a:p>
            <a:pPr indent="0" marL="0">
              <a:buNone/>
            </a:pPr>
            <a:r>
              <a:rPr lang="en-US" sz="950" b="1" spc="160" kern="0" dirty="0">
                <a:solidFill>
                  <a:srgbClr val="F0B429"/>
                </a:solidFill>
                <a:latin typeface="Calibri" pitchFamily="34" charset="0"/>
                <a:ea typeface="Calibri" pitchFamily="34" charset="-122"/>
                <a:cs typeface="Calibri" pitchFamily="34" charset="-120"/>
              </a:rPr>
              <a:t>BROADEN THE HOUSE</a:t>
            </a:r>
            <a:endParaRPr lang="en-US" sz="950" dirty="0"/>
          </a:p>
        </p:txBody>
      </p:sp>
      <p:sp>
        <p:nvSpPr>
          <p:cNvPr id="26" name="Text 24"/>
          <p:cNvSpPr/>
          <p:nvPr/>
        </p:nvSpPr>
        <p:spPr>
          <a:xfrm>
            <a:off x="9180576" y="3072384"/>
            <a:ext cx="2103120" cy="56692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Numeracy &amp; money</a:t>
            </a:r>
            <a:endParaRPr lang="en-US" sz="1700" dirty="0"/>
          </a:p>
        </p:txBody>
      </p:sp>
      <p:sp>
        <p:nvSpPr>
          <p:cNvPr id="27" name="Text 25"/>
          <p:cNvSpPr/>
          <p:nvPr/>
        </p:nvSpPr>
        <p:spPr>
          <a:xfrm>
            <a:off x="9180576" y="3712464"/>
            <a:ext cx="2103120" cy="137160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Bizzing Finance and mental-maths extend the brand past words once the word franchise is proven.</a:t>
            </a:r>
            <a:endParaRPr lang="en-US" sz="1150" dirty="0"/>
          </a:p>
        </p:txBody>
      </p:sp>
      <p:sp>
        <p:nvSpPr>
          <p:cNvPr id="28" name="Text 26"/>
          <p:cNvSpPr/>
          <p:nvPr/>
        </p:nvSpPr>
        <p:spPr>
          <a:xfrm>
            <a:off x="640080" y="5504688"/>
            <a:ext cx="10607040" cy="731520"/>
          </a:xfrm>
          <a:prstGeom prst="rect">
            <a:avLst/>
          </a:prstGeom>
          <a:noFill/>
          <a:ln/>
        </p:spPr>
        <p:txBody>
          <a:bodyPr wrap="square" lIns="0" tIns="0" rIns="0" bIns="0" rtlCol="0" anchor="ctr"/>
          <a:lstStyle/>
          <a:p>
            <a:pPr indent="0" marL="0">
              <a:lnSpc>
                <a:spcPts val="2100"/>
              </a:lnSpc>
              <a:buNone/>
            </a:pPr>
            <a:r>
              <a:rPr lang="en-US" sz="1500" i="1" dirty="0">
                <a:solidFill>
                  <a:srgbClr val="F0B429"/>
                </a:solidFill>
                <a:latin typeface="Cambria" pitchFamily="34" charset="0"/>
                <a:ea typeface="Cambria" pitchFamily="34" charset="-122"/>
                <a:cs typeface="Cambria" pitchFamily="34" charset="-120"/>
              </a:rPr>
              <a:t>The sequencing rule: order by how much of the existing engine a product reuses — not by which market is biggest.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THE ASSET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already exists, and transfers</a:t>
            </a:r>
            <a:endParaRPr lang="en-US" sz="2900" dirty="0"/>
          </a:p>
        </p:txBody>
      </p:sp>
      <p:sp>
        <p:nvSpPr>
          <p:cNvPr id="4" name="Text 2"/>
          <p:cNvSpPr/>
          <p:nvPr/>
        </p:nvSpPr>
        <p:spPr>
          <a:xfrm>
            <a:off x="640080" y="1444752"/>
            <a:ext cx="10607040" cy="365760"/>
          </a:xfrm>
          <a:prstGeom prst="rect">
            <a:avLst/>
          </a:prstGeom>
          <a:noFill/>
          <a:ln/>
        </p:spPr>
        <p:txBody>
          <a:bodyPr wrap="square" lIns="0" tIns="0" rIns="0" bIns="0" rtlCol="0" anchor="ctr"/>
          <a:lstStyle/>
          <a:p>
            <a:pPr indent="0" marL="0">
              <a:buNone/>
            </a:pPr>
            <a:r>
              <a:rPr lang="en-US" sz="1500" dirty="0">
                <a:solidFill>
                  <a:srgbClr val="7A7291"/>
                </a:solidFill>
                <a:latin typeface="Calibri" pitchFamily="34" charset="0"/>
                <a:ea typeface="Calibri" pitchFamily="34" charset="-122"/>
                <a:cs typeface="Calibri" pitchFamily="34" charset="-120"/>
              </a:rPr>
              <a:t>Bizzing Bee is not one app. It is a content-drill engine with a spelling skin — and the engine is the company.</a:t>
            </a:r>
            <a:endParaRPr lang="en-US" sz="1500" dirty="0"/>
          </a:p>
        </p:txBody>
      </p:sp>
      <p:sp>
        <p:nvSpPr>
          <p:cNvPr id="5" name="Shape 3"/>
          <p:cNvSpPr/>
          <p:nvPr/>
        </p:nvSpPr>
        <p:spPr>
          <a:xfrm>
            <a:off x="640080"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822960"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128,491</a:t>
            </a:r>
            <a:endParaRPr lang="en-US" sz="3400" dirty="0"/>
          </a:p>
        </p:txBody>
      </p:sp>
      <p:sp>
        <p:nvSpPr>
          <p:cNvPr id="7" name="Text 5"/>
          <p:cNvSpPr/>
          <p:nvPr/>
        </p:nvSpPr>
        <p:spPr>
          <a:xfrm>
            <a:off x="822960"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words, every one</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spoken aloud</a:t>
            </a:r>
            <a:endParaRPr lang="en-US" sz="1200" dirty="0"/>
          </a:p>
        </p:txBody>
      </p:sp>
      <p:sp>
        <p:nvSpPr>
          <p:cNvPr id="8" name="Shape 6"/>
          <p:cNvSpPr/>
          <p:nvPr/>
        </p:nvSpPr>
        <p:spPr>
          <a:xfrm>
            <a:off x="3401568"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3584448"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31,000+</a:t>
            </a:r>
            <a:endParaRPr lang="en-US" sz="3400" dirty="0"/>
          </a:p>
        </p:txBody>
      </p:sp>
      <p:sp>
        <p:nvSpPr>
          <p:cNvPr id="10" name="Text 8"/>
          <p:cNvSpPr/>
          <p:nvPr/>
        </p:nvSpPr>
        <p:spPr>
          <a:xfrm>
            <a:off x="3584448"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trivia questions across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32 themes, 5 levels</a:t>
            </a:r>
            <a:endParaRPr lang="en-US" sz="1200" dirty="0"/>
          </a:p>
        </p:txBody>
      </p:sp>
      <p:sp>
        <p:nvSpPr>
          <p:cNvPr id="11" name="Shape 9"/>
          <p:cNvSpPr/>
          <p:nvPr/>
        </p:nvSpPr>
        <p:spPr>
          <a:xfrm>
            <a:off x="6163056"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2" name="Text 10"/>
          <p:cNvSpPr/>
          <p:nvPr/>
        </p:nvSpPr>
        <p:spPr>
          <a:xfrm>
            <a:off x="6345936"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164</a:t>
            </a:r>
            <a:endParaRPr lang="en-US" sz="3400" dirty="0"/>
          </a:p>
        </p:txBody>
      </p:sp>
      <p:sp>
        <p:nvSpPr>
          <p:cNvPr id="13" name="Text 11"/>
          <p:cNvSpPr/>
          <p:nvPr/>
        </p:nvSpPr>
        <p:spPr>
          <a:xfrm>
            <a:off x="6345936"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concept chapters,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free and advanced</a:t>
            </a:r>
            <a:endParaRPr lang="en-US" sz="1200" dirty="0"/>
          </a:p>
        </p:txBody>
      </p:sp>
      <p:sp>
        <p:nvSpPr>
          <p:cNvPr id="14" name="Shape 12"/>
          <p:cNvSpPr/>
          <p:nvPr/>
        </p:nvSpPr>
        <p:spPr>
          <a:xfrm>
            <a:off x="8924544" y="2057400"/>
            <a:ext cx="2542032" cy="1600200"/>
          </a:xfrm>
          <a:prstGeom prst="roundRect">
            <a:avLst>
              <a:gd name="adj" fmla="val 8000"/>
            </a:avLst>
          </a:prstGeom>
          <a:solidFill>
            <a:srgbClr val="EFEBF8"/>
          </a:solidFill>
          <a:ln/>
          <a:effectLst>
            <a:outerShdw sx="100000" sy="100000" kx="0" ky="0" algn="bl" rotWithShape="0" blurRad="127000" dist="25400" dir="5400000">
              <a:srgbClr val="241E33">
                <a:alpha val="10000"/>
              </a:srgbClr>
            </a:outerShdw>
          </a:effectLst>
        </p:spPr>
      </p:sp>
      <p:sp>
        <p:nvSpPr>
          <p:cNvPr id="15" name="Text 13"/>
          <p:cNvSpPr/>
          <p:nvPr/>
        </p:nvSpPr>
        <p:spPr>
          <a:xfrm>
            <a:off x="9107424" y="2212848"/>
            <a:ext cx="2194560" cy="713232"/>
          </a:xfrm>
          <a:prstGeom prst="rect">
            <a:avLst/>
          </a:prstGeom>
          <a:noFill/>
          <a:ln/>
        </p:spPr>
        <p:txBody>
          <a:bodyPr wrap="square" lIns="0" tIns="0" rIns="0" bIns="0" rtlCol="0" anchor="ctr"/>
          <a:lstStyle/>
          <a:p>
            <a:pPr indent="0" marL="0">
              <a:buNone/>
            </a:pPr>
            <a:r>
              <a:rPr lang="en-US" sz="3400" b="1" dirty="0">
                <a:solidFill>
                  <a:srgbClr val="6C4FE0"/>
                </a:solidFill>
                <a:latin typeface="Cambria" pitchFamily="34" charset="0"/>
                <a:ea typeface="Cambria" pitchFamily="34" charset="-122"/>
                <a:cs typeface="Cambria" pitchFamily="34" charset="-120"/>
              </a:rPr>
              <a:t>23</a:t>
            </a:r>
            <a:endParaRPr lang="en-US" sz="3400" dirty="0"/>
          </a:p>
        </p:txBody>
      </p:sp>
      <p:sp>
        <p:nvSpPr>
          <p:cNvPr id="16" name="Text 14"/>
          <p:cNvSpPr/>
          <p:nvPr/>
        </p:nvSpPr>
        <p:spPr>
          <a:xfrm>
            <a:off x="9107424" y="2926080"/>
            <a:ext cx="2194560" cy="621792"/>
          </a:xfrm>
          <a:prstGeom prst="rect">
            <a:avLst/>
          </a:prstGeom>
          <a:noFill/>
          <a:ln/>
        </p:spPr>
        <p:txBody>
          <a:bodyPr wrap="square" lIns="0" tIns="0" rIns="0" bIns="0" rtlCol="0" anchor="ctr"/>
          <a:lstStyle/>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illustrated books,</a:t>
            </a:r>
            <a:endParaRPr lang="en-US" sz="1200" dirty="0"/>
          </a:p>
          <a:p>
            <a:pPr indent="0" marL="0">
              <a:lnSpc>
                <a:spcPts val="1500"/>
              </a:lnSpc>
              <a:buNone/>
            </a:pPr>
            <a:r>
              <a:rPr lang="en-US" sz="1200" dirty="0">
                <a:solidFill>
                  <a:srgbClr val="4A4360"/>
                </a:solidFill>
                <a:latin typeface="Calibri" pitchFamily="34" charset="0"/>
                <a:ea typeface="Calibri" pitchFamily="34" charset="-122"/>
                <a:cs typeface="Calibri" pitchFamily="34" charset="-120"/>
              </a:rPr>
              <a:t>1,700 pages</a:t>
            </a:r>
            <a:endParaRPr lang="en-US" sz="1200" dirty="0"/>
          </a:p>
        </p:txBody>
      </p:sp>
      <p:sp>
        <p:nvSpPr>
          <p:cNvPr id="17" name="Shape 15"/>
          <p:cNvSpPr/>
          <p:nvPr/>
        </p:nvSpPr>
        <p:spPr>
          <a:xfrm rot="5400000">
            <a:off x="640080" y="4014216"/>
            <a:ext cx="310896" cy="310896"/>
          </a:xfrm>
          <a:prstGeom prst="hexagon">
            <a:avLst/>
          </a:prstGeom>
          <a:solidFill>
            <a:srgbClr val="178A4C"/>
          </a:solidFill>
          <a:ln/>
        </p:spPr>
      </p:sp>
      <p:sp>
        <p:nvSpPr>
          <p:cNvPr id="18" name="Text 16"/>
          <p:cNvSpPr/>
          <p:nvPr/>
        </p:nvSpPr>
        <p:spPr>
          <a:xfrm>
            <a:off x="1115568" y="3977640"/>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as-is</a:t>
            </a:r>
            <a:endParaRPr lang="en-US" sz="1400" dirty="0"/>
          </a:p>
        </p:txBody>
      </p:sp>
      <p:sp>
        <p:nvSpPr>
          <p:cNvPr id="19" name="Text 17"/>
          <p:cNvSpPr/>
          <p:nvPr/>
        </p:nvSpPr>
        <p:spPr>
          <a:xfrm>
            <a:off x="3749040" y="3977640"/>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Audio pipeline · adaptive progression · game layer · avatars &amp; rewards · offline delivery</a:t>
            </a:r>
            <a:endParaRPr lang="en-US" sz="1250" dirty="0"/>
          </a:p>
        </p:txBody>
      </p:sp>
      <p:sp>
        <p:nvSpPr>
          <p:cNvPr id="20" name="Shape 18"/>
          <p:cNvSpPr/>
          <p:nvPr/>
        </p:nvSpPr>
        <p:spPr>
          <a:xfrm rot="5400000">
            <a:off x="640080" y="4672584"/>
            <a:ext cx="310896" cy="310896"/>
          </a:xfrm>
          <a:prstGeom prst="hexagon">
            <a:avLst/>
          </a:prstGeom>
          <a:solidFill>
            <a:srgbClr val="6C4FE0"/>
          </a:solidFill>
          <a:ln/>
        </p:spPr>
      </p:sp>
      <p:sp>
        <p:nvSpPr>
          <p:cNvPr id="21" name="Text 19"/>
          <p:cNvSpPr/>
          <p:nvPr/>
        </p:nvSpPr>
        <p:spPr>
          <a:xfrm>
            <a:off x="1115568" y="4636008"/>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Transfers with new content</a:t>
            </a:r>
            <a:endParaRPr lang="en-US" sz="1400" dirty="0"/>
          </a:p>
        </p:txBody>
      </p:sp>
      <p:sp>
        <p:nvSpPr>
          <p:cNvPr id="22" name="Text 20"/>
          <p:cNvSpPr/>
          <p:nvPr/>
        </p:nvSpPr>
        <p:spPr>
          <a:xfrm>
            <a:off x="3749040" y="4636008"/>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Verbal reasoning · heritage vocabulary · mental maths · financial literacy</a:t>
            </a:r>
            <a:endParaRPr lang="en-US" sz="1250" dirty="0"/>
          </a:p>
        </p:txBody>
      </p:sp>
      <p:sp>
        <p:nvSpPr>
          <p:cNvPr id="23" name="Shape 21"/>
          <p:cNvSpPr/>
          <p:nvPr/>
        </p:nvSpPr>
        <p:spPr>
          <a:xfrm rot="5400000">
            <a:off x="640080" y="5330952"/>
            <a:ext cx="310896" cy="310896"/>
          </a:xfrm>
          <a:prstGeom prst="hexagon">
            <a:avLst/>
          </a:prstGeom>
          <a:solidFill>
            <a:srgbClr val="C4453C"/>
          </a:solidFill>
          <a:ln/>
        </p:spPr>
      </p:sp>
      <p:sp>
        <p:nvSpPr>
          <p:cNvPr id="24" name="Text 22"/>
          <p:cNvSpPr/>
          <p:nvPr/>
        </p:nvSpPr>
        <p:spPr>
          <a:xfrm>
            <a:off x="1115568" y="5294376"/>
            <a:ext cx="2651760" cy="384048"/>
          </a:xfrm>
          <a:prstGeom prst="rect">
            <a:avLst/>
          </a:prstGeom>
          <a:noFill/>
          <a:ln/>
        </p:spPr>
        <p:txBody>
          <a:bodyPr wrap="square" lIns="0" tIns="0" rIns="0" bIns="0" rtlCol="0" anchor="ctr"/>
          <a:lstStyle/>
          <a:p>
            <a:pPr indent="0" marL="0">
              <a:buNone/>
            </a:pPr>
            <a:r>
              <a:rPr lang="en-US" sz="1400" b="1" dirty="0">
                <a:solidFill>
                  <a:srgbClr val="241E33"/>
                </a:solidFill>
                <a:latin typeface="Cambria" pitchFamily="34" charset="0"/>
                <a:ea typeface="Cambria" pitchFamily="34" charset="-122"/>
                <a:cs typeface="Cambria" pitchFamily="34" charset="-120"/>
              </a:rPr>
              <a:t>Does not transfer</a:t>
            </a:r>
            <a:endParaRPr lang="en-US" sz="1400" dirty="0"/>
          </a:p>
        </p:txBody>
      </p:sp>
      <p:sp>
        <p:nvSpPr>
          <p:cNvPr id="25" name="Text 23"/>
          <p:cNvSpPr/>
          <p:nvPr/>
        </p:nvSpPr>
        <p:spPr>
          <a:xfrm>
            <a:off x="3749040" y="5294376"/>
            <a:ext cx="7772400" cy="384048"/>
          </a:xfrm>
          <a:prstGeom prst="rect">
            <a:avLst/>
          </a:prstGeom>
          <a:noFill/>
          <a:ln/>
        </p:spPr>
        <p:txBody>
          <a:bodyPr wrap="square" lIns="0" tIns="0" rIns="0" bIns="0" rtlCol="0" anchor="ctr"/>
          <a:lstStyle/>
          <a:p>
            <a:pPr indent="0" marL="0">
              <a:buNone/>
            </a:pPr>
            <a:r>
              <a:rPr lang="en-US" sz="1250" dirty="0">
                <a:solidFill>
                  <a:srgbClr val="4A4360"/>
                </a:solidFill>
                <a:latin typeface="Calibri" pitchFamily="34" charset="0"/>
                <a:ea typeface="Calibri" pitchFamily="34" charset="-122"/>
                <a:cs typeface="Calibri" pitchFamily="34" charset="-120"/>
              </a:rPr>
              <a:t>Anything needing a solver, a rating system or a live teacher — chess, coding, music, dance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BRAND ARCHITECTURE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The house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Three families, one engine. Geography is a hook rather than a brand — which is why India is the only place-name here, and why it is free.</a:t>
            </a:r>
            <a:endParaRPr lang="en-US" sz="1450" dirty="0"/>
          </a:p>
        </p:txBody>
      </p:sp>
      <p:sp>
        <p:nvSpPr>
          <p:cNvPr id="5" name="Shape 3"/>
          <p:cNvSpPr/>
          <p:nvPr/>
        </p:nvSpPr>
        <p:spPr>
          <a:xfrm>
            <a:off x="4937760" y="1938528"/>
            <a:ext cx="2286000" cy="585216"/>
          </a:xfrm>
          <a:prstGeom prst="roundRect">
            <a:avLst>
              <a:gd name="adj" fmla="val 20313"/>
            </a:avLst>
          </a:prstGeom>
          <a:solidFill>
            <a:srgbClr val="241E33"/>
          </a:solidFill>
          <a:ln/>
        </p:spPr>
      </p:sp>
      <p:sp>
        <p:nvSpPr>
          <p:cNvPr id="6" name="Text 4"/>
          <p:cNvSpPr/>
          <p:nvPr/>
        </p:nvSpPr>
        <p:spPr>
          <a:xfrm>
            <a:off x="4937760" y="1938528"/>
            <a:ext cx="2286000" cy="585216"/>
          </a:xfrm>
          <a:prstGeom prst="rect">
            <a:avLst/>
          </a:prstGeom>
          <a:noFill/>
          <a:ln/>
        </p:spPr>
        <p:txBody>
          <a:bodyPr wrap="square" lIns="0" tIns="0" rIns="0" bIns="0" rtlCol="0" anchor="ctr"/>
          <a:lstStyle/>
          <a:p>
            <a:pPr algn="ctr" indent="0" marL="0">
              <a:buNone/>
            </a:pPr>
            <a:r>
              <a:rPr lang="en-US" sz="2000" b="1" spc="200" kern="0" dirty="0">
                <a:solidFill>
                  <a:srgbClr val="FFFFFF"/>
                </a:solidFill>
                <a:latin typeface="Cambria" pitchFamily="34" charset="0"/>
                <a:ea typeface="Cambria" pitchFamily="34" charset="-122"/>
                <a:cs typeface="Cambria" pitchFamily="34" charset="-120"/>
              </a:rPr>
              <a:t>BIZZING</a:t>
            </a:r>
            <a:endParaRPr lang="en-US" sz="2000" dirty="0"/>
          </a:p>
        </p:txBody>
      </p:sp>
      <p:sp>
        <p:nvSpPr>
          <p:cNvPr id="7" name="Shape 5"/>
          <p:cNvSpPr/>
          <p:nvPr/>
        </p:nvSpPr>
        <p:spPr>
          <a:xfrm>
            <a:off x="6080760" y="2523744"/>
            <a:ext cx="0" cy="274320"/>
          </a:xfrm>
          <a:prstGeom prst="line">
            <a:avLst/>
          </a:prstGeom>
          <a:noFill/>
          <a:ln w="25400">
            <a:solidFill>
              <a:srgbClr val="E3DCF2"/>
            </a:solidFill>
            <a:prstDash val="solid"/>
          </a:ln>
        </p:spPr>
      </p:sp>
      <p:sp>
        <p:nvSpPr>
          <p:cNvPr id="8" name="Shape 6"/>
          <p:cNvSpPr/>
          <p:nvPr/>
        </p:nvSpPr>
        <p:spPr>
          <a:xfrm>
            <a:off x="2286000" y="2798064"/>
            <a:ext cx="7589520" cy="0"/>
          </a:xfrm>
          <a:prstGeom prst="line">
            <a:avLst/>
          </a:prstGeom>
          <a:noFill/>
          <a:ln w="25400">
            <a:solidFill>
              <a:srgbClr val="E3DCF2"/>
            </a:solidFill>
            <a:prstDash val="solid"/>
          </a:ln>
        </p:spPr>
      </p:sp>
      <p:sp>
        <p:nvSpPr>
          <p:cNvPr id="9" name="Shape 7"/>
          <p:cNvSpPr/>
          <p:nvPr/>
        </p:nvSpPr>
        <p:spPr>
          <a:xfrm>
            <a:off x="2299716" y="2798064"/>
            <a:ext cx="0" cy="274320"/>
          </a:xfrm>
          <a:prstGeom prst="line">
            <a:avLst/>
          </a:prstGeom>
          <a:noFill/>
          <a:ln w="25400">
            <a:solidFill>
              <a:srgbClr val="E3DCF2"/>
            </a:solidFill>
            <a:prstDash val="solid"/>
          </a:ln>
        </p:spPr>
      </p:sp>
      <p:sp>
        <p:nvSpPr>
          <p:cNvPr id="10" name="Shape 8"/>
          <p:cNvSpPr/>
          <p:nvPr/>
        </p:nvSpPr>
        <p:spPr>
          <a:xfrm>
            <a:off x="640080" y="3072384"/>
            <a:ext cx="3319272" cy="384048"/>
          </a:xfrm>
          <a:prstGeom prst="roundRect">
            <a:avLst>
              <a:gd name="adj" fmla="val 23810"/>
            </a:avLst>
          </a:prstGeom>
          <a:solidFill>
            <a:srgbClr val="6C4FE0"/>
          </a:solidFill>
          <a:ln/>
        </p:spPr>
      </p:sp>
      <p:sp>
        <p:nvSpPr>
          <p:cNvPr id="11" name="Text 9"/>
          <p:cNvSpPr/>
          <p:nvPr/>
        </p:nvSpPr>
        <p:spPr>
          <a:xfrm>
            <a:off x="640080"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WORDS</a:t>
            </a:r>
            <a:endParaRPr lang="en-US" sz="1000" dirty="0"/>
          </a:p>
        </p:txBody>
      </p:sp>
      <p:sp>
        <p:nvSpPr>
          <p:cNvPr id="12" name="Shape 10"/>
          <p:cNvSpPr/>
          <p:nvPr/>
        </p:nvSpPr>
        <p:spPr>
          <a:xfrm>
            <a:off x="640080" y="3602736"/>
            <a:ext cx="3319272" cy="347472"/>
          </a:xfrm>
          <a:prstGeom prst="roundRect">
            <a:avLst>
              <a:gd name="adj" fmla="val 23684"/>
            </a:avLst>
          </a:prstGeom>
          <a:solidFill>
            <a:srgbClr val="EFEBF8"/>
          </a:solidFill>
          <a:ln/>
        </p:spPr>
      </p:sp>
      <p:pic>
        <p:nvPicPr>
          <p:cNvPr id="13" name="Image 0" descr="preencoded.png">    </p:cNvPr>
          <p:cNvPicPr>
            <a:picLocks noChangeAspect="1"/>
          </p:cNvPicPr>
          <p:nvPr/>
        </p:nvPicPr>
        <p:blipFill>
          <a:blip r:embed="rId1"/>
          <a:stretch>
            <a:fillRect/>
          </a:stretch>
        </p:blipFill>
        <p:spPr>
          <a:xfrm>
            <a:off x="694944" y="3621024"/>
            <a:ext cx="310896" cy="310896"/>
          </a:xfrm>
          <a:prstGeom prst="rect">
            <a:avLst/>
          </a:prstGeom>
        </p:spPr>
      </p:pic>
      <p:sp>
        <p:nvSpPr>
          <p:cNvPr id="14" name="Text 11"/>
          <p:cNvSpPr/>
          <p:nvPr/>
        </p:nvSpPr>
        <p:spPr>
          <a:xfrm>
            <a:off x="1060704"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15" name="Text 12"/>
          <p:cNvSpPr/>
          <p:nvPr/>
        </p:nvSpPr>
        <p:spPr>
          <a:xfrm>
            <a:off x="2660904"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live</a:t>
            </a:r>
            <a:endParaRPr lang="en-US" sz="900" dirty="0"/>
          </a:p>
        </p:txBody>
      </p:sp>
      <p:sp>
        <p:nvSpPr>
          <p:cNvPr id="16" name="Shape 13"/>
          <p:cNvSpPr/>
          <p:nvPr/>
        </p:nvSpPr>
        <p:spPr>
          <a:xfrm>
            <a:off x="640080" y="4023360"/>
            <a:ext cx="3319272" cy="347472"/>
          </a:xfrm>
          <a:prstGeom prst="roundRect">
            <a:avLst>
              <a:gd name="adj" fmla="val 23684"/>
            </a:avLst>
          </a:prstGeom>
          <a:solidFill>
            <a:srgbClr val="EFEBF8"/>
          </a:solidFill>
          <a:ln/>
        </p:spPr>
      </p:sp>
      <p:pic>
        <p:nvPicPr>
          <p:cNvPr id="17" name="Image 1" descr="preencoded.png">    </p:cNvPr>
          <p:cNvPicPr>
            <a:picLocks noChangeAspect="1"/>
          </p:cNvPicPr>
          <p:nvPr/>
        </p:nvPicPr>
        <p:blipFill>
          <a:blip r:embed="rId2"/>
          <a:stretch>
            <a:fillRect/>
          </a:stretch>
        </p:blipFill>
        <p:spPr>
          <a:xfrm>
            <a:off x="694944" y="4041648"/>
            <a:ext cx="310896" cy="310896"/>
          </a:xfrm>
          <a:prstGeom prst="rect">
            <a:avLst/>
          </a:prstGeom>
        </p:spPr>
      </p:pic>
      <p:sp>
        <p:nvSpPr>
          <p:cNvPr id="18" name="Text 14"/>
          <p:cNvSpPr/>
          <p:nvPr/>
        </p:nvSpPr>
        <p:spPr>
          <a:xfrm>
            <a:off x="1060704"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19" name="Text 15"/>
          <p:cNvSpPr/>
          <p:nvPr/>
        </p:nvSpPr>
        <p:spPr>
          <a:xfrm>
            <a:off x="2660904"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next</a:t>
            </a:r>
            <a:endParaRPr lang="en-US" sz="900" dirty="0"/>
          </a:p>
        </p:txBody>
      </p:sp>
      <p:sp>
        <p:nvSpPr>
          <p:cNvPr id="20" name="Shape 16"/>
          <p:cNvSpPr/>
          <p:nvPr/>
        </p:nvSpPr>
        <p:spPr>
          <a:xfrm>
            <a:off x="640080" y="4443984"/>
            <a:ext cx="3319272" cy="347472"/>
          </a:xfrm>
          <a:prstGeom prst="roundRect">
            <a:avLst>
              <a:gd name="adj" fmla="val 23684"/>
            </a:avLst>
          </a:prstGeom>
          <a:solidFill>
            <a:srgbClr val="EFEBF8"/>
          </a:solidFill>
          <a:ln/>
        </p:spPr>
      </p:sp>
      <p:pic>
        <p:nvPicPr>
          <p:cNvPr id="21" name="Image 2" descr="preencoded.png">    </p:cNvPr>
          <p:cNvPicPr>
            <a:picLocks noChangeAspect="1"/>
          </p:cNvPicPr>
          <p:nvPr/>
        </p:nvPicPr>
        <p:blipFill>
          <a:blip r:embed="rId3"/>
          <a:stretch>
            <a:fillRect/>
          </a:stretch>
        </p:blipFill>
        <p:spPr>
          <a:xfrm>
            <a:off x="694944" y="4462272"/>
            <a:ext cx="310896" cy="310896"/>
          </a:xfrm>
          <a:prstGeom prst="rect">
            <a:avLst/>
          </a:prstGeom>
        </p:spPr>
      </p:pic>
      <p:sp>
        <p:nvSpPr>
          <p:cNvPr id="22" name="Text 17"/>
          <p:cNvSpPr/>
          <p:nvPr/>
        </p:nvSpPr>
        <p:spPr>
          <a:xfrm>
            <a:off x="1060704"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English</a:t>
            </a:r>
            <a:endParaRPr lang="en-US" sz="1250" dirty="0"/>
          </a:p>
        </p:txBody>
      </p:sp>
      <p:sp>
        <p:nvSpPr>
          <p:cNvPr id="23" name="Text 18"/>
          <p:cNvSpPr/>
          <p:nvPr/>
        </p:nvSpPr>
        <p:spPr>
          <a:xfrm>
            <a:off x="2660904"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24" name="Shape 19"/>
          <p:cNvSpPr/>
          <p:nvPr/>
        </p:nvSpPr>
        <p:spPr>
          <a:xfrm>
            <a:off x="640080" y="4864608"/>
            <a:ext cx="3319272" cy="347472"/>
          </a:xfrm>
          <a:prstGeom prst="roundRect">
            <a:avLst>
              <a:gd name="adj" fmla="val 23684"/>
            </a:avLst>
          </a:prstGeom>
          <a:solidFill>
            <a:srgbClr val="EFEBF8"/>
          </a:solidFill>
          <a:ln/>
        </p:spPr>
      </p:sp>
      <p:pic>
        <p:nvPicPr>
          <p:cNvPr id="25" name="Image 3" descr="preencoded.png">    </p:cNvPr>
          <p:cNvPicPr>
            <a:picLocks noChangeAspect="1"/>
          </p:cNvPicPr>
          <p:nvPr/>
        </p:nvPicPr>
        <p:blipFill>
          <a:blip r:embed="rId4"/>
          <a:stretch>
            <a:fillRect/>
          </a:stretch>
        </p:blipFill>
        <p:spPr>
          <a:xfrm>
            <a:off x="694944" y="4882896"/>
            <a:ext cx="310896" cy="310896"/>
          </a:xfrm>
          <a:prstGeom prst="rect">
            <a:avLst/>
          </a:prstGeom>
        </p:spPr>
      </p:pic>
      <p:sp>
        <p:nvSpPr>
          <p:cNvPr id="26" name="Text 20"/>
          <p:cNvSpPr/>
          <p:nvPr/>
        </p:nvSpPr>
        <p:spPr>
          <a:xfrm>
            <a:off x="1060704"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Buzz</a:t>
            </a:r>
            <a:endParaRPr lang="en-US" sz="1250" dirty="0"/>
          </a:p>
        </p:txBody>
      </p:sp>
      <p:sp>
        <p:nvSpPr>
          <p:cNvPr id="27" name="Text 21"/>
          <p:cNvSpPr/>
          <p:nvPr/>
        </p:nvSpPr>
        <p:spPr>
          <a:xfrm>
            <a:off x="2660904"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ages 4–6</a:t>
            </a:r>
            <a:endParaRPr lang="en-US" sz="900" dirty="0"/>
          </a:p>
        </p:txBody>
      </p:sp>
      <p:sp>
        <p:nvSpPr>
          <p:cNvPr id="28" name="Shape 22"/>
          <p:cNvSpPr/>
          <p:nvPr/>
        </p:nvSpPr>
        <p:spPr>
          <a:xfrm>
            <a:off x="640080" y="5285232"/>
            <a:ext cx="3319272" cy="347472"/>
          </a:xfrm>
          <a:prstGeom prst="roundRect">
            <a:avLst>
              <a:gd name="adj" fmla="val 23684"/>
            </a:avLst>
          </a:prstGeom>
          <a:solidFill>
            <a:srgbClr val="EFEBF8"/>
          </a:solidFill>
          <a:ln/>
        </p:spPr>
      </p:sp>
      <p:pic>
        <p:nvPicPr>
          <p:cNvPr id="29" name="Image 4" descr="preencoded.png">    </p:cNvPr>
          <p:cNvPicPr>
            <a:picLocks noChangeAspect="1"/>
          </p:cNvPicPr>
          <p:nvPr/>
        </p:nvPicPr>
        <p:blipFill>
          <a:blip r:embed="rId5"/>
          <a:stretch>
            <a:fillRect/>
          </a:stretch>
        </p:blipFill>
        <p:spPr>
          <a:xfrm>
            <a:off x="694944" y="5303520"/>
            <a:ext cx="310896" cy="310896"/>
          </a:xfrm>
          <a:prstGeom prst="rect">
            <a:avLst/>
          </a:prstGeom>
        </p:spPr>
      </p:pic>
      <p:sp>
        <p:nvSpPr>
          <p:cNvPr id="30" name="Text 23"/>
          <p:cNvSpPr/>
          <p:nvPr/>
        </p:nvSpPr>
        <p:spPr>
          <a:xfrm>
            <a:off x="1060704" y="5285232"/>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Prep</a:t>
            </a:r>
            <a:endParaRPr lang="en-US" sz="1250" dirty="0"/>
          </a:p>
        </p:txBody>
      </p:sp>
      <p:sp>
        <p:nvSpPr>
          <p:cNvPr id="31" name="Text 24"/>
          <p:cNvSpPr/>
          <p:nvPr/>
        </p:nvSpPr>
        <p:spPr>
          <a:xfrm>
            <a:off x="2660904" y="5285232"/>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2" name="Shape 25"/>
          <p:cNvSpPr/>
          <p:nvPr/>
        </p:nvSpPr>
        <p:spPr>
          <a:xfrm>
            <a:off x="640080" y="5705856"/>
            <a:ext cx="3319272" cy="347472"/>
          </a:xfrm>
          <a:prstGeom prst="roundRect">
            <a:avLst>
              <a:gd name="adj" fmla="val 23684"/>
            </a:avLst>
          </a:prstGeom>
          <a:solidFill>
            <a:srgbClr val="EFEBF8"/>
          </a:solidFill>
          <a:ln/>
        </p:spPr>
      </p:sp>
      <p:pic>
        <p:nvPicPr>
          <p:cNvPr id="33" name="Image 5" descr="preencoded.png">    </p:cNvPr>
          <p:cNvPicPr>
            <a:picLocks noChangeAspect="1"/>
          </p:cNvPicPr>
          <p:nvPr/>
        </p:nvPicPr>
        <p:blipFill>
          <a:blip r:embed="rId6"/>
          <a:stretch>
            <a:fillRect/>
          </a:stretch>
        </p:blipFill>
        <p:spPr>
          <a:xfrm>
            <a:off x="694944" y="5724144"/>
            <a:ext cx="310896" cy="310896"/>
          </a:xfrm>
          <a:prstGeom prst="rect">
            <a:avLst/>
          </a:prstGeom>
        </p:spPr>
      </p:pic>
      <p:sp>
        <p:nvSpPr>
          <p:cNvPr id="34" name="Text 26"/>
          <p:cNvSpPr/>
          <p:nvPr/>
        </p:nvSpPr>
        <p:spPr>
          <a:xfrm>
            <a:off x="1060704" y="570585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Speak</a:t>
            </a:r>
            <a:endParaRPr lang="en-US" sz="1250" dirty="0"/>
          </a:p>
        </p:txBody>
      </p:sp>
      <p:sp>
        <p:nvSpPr>
          <p:cNvPr id="35" name="Text 27"/>
          <p:cNvSpPr/>
          <p:nvPr/>
        </p:nvSpPr>
        <p:spPr>
          <a:xfrm>
            <a:off x="2660904" y="570585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36" name="Shape 28"/>
          <p:cNvSpPr/>
          <p:nvPr/>
        </p:nvSpPr>
        <p:spPr>
          <a:xfrm>
            <a:off x="6076188" y="2798064"/>
            <a:ext cx="0" cy="274320"/>
          </a:xfrm>
          <a:prstGeom prst="line">
            <a:avLst/>
          </a:prstGeom>
          <a:noFill/>
          <a:ln w="25400">
            <a:solidFill>
              <a:srgbClr val="E3DCF2"/>
            </a:solidFill>
            <a:prstDash val="solid"/>
          </a:ln>
        </p:spPr>
      </p:sp>
      <p:sp>
        <p:nvSpPr>
          <p:cNvPr id="37" name="Shape 29"/>
          <p:cNvSpPr/>
          <p:nvPr/>
        </p:nvSpPr>
        <p:spPr>
          <a:xfrm>
            <a:off x="4416552" y="3072384"/>
            <a:ext cx="3319272" cy="384048"/>
          </a:xfrm>
          <a:prstGeom prst="roundRect">
            <a:avLst>
              <a:gd name="adj" fmla="val 23810"/>
            </a:avLst>
          </a:prstGeom>
          <a:solidFill>
            <a:srgbClr val="F0B429"/>
          </a:solidFill>
          <a:ln/>
        </p:spPr>
      </p:sp>
      <p:sp>
        <p:nvSpPr>
          <p:cNvPr id="38" name="Text 30"/>
          <p:cNvSpPr/>
          <p:nvPr/>
        </p:nvSpPr>
        <p:spPr>
          <a:xfrm>
            <a:off x="4416552"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241E33"/>
                </a:solidFill>
                <a:latin typeface="Calibri" pitchFamily="34" charset="0"/>
                <a:ea typeface="Calibri" pitchFamily="34" charset="-122"/>
                <a:cs typeface="Calibri" pitchFamily="34" charset="-120"/>
              </a:rPr>
              <a:t>CULTURE</a:t>
            </a:r>
            <a:endParaRPr lang="en-US" sz="1000" dirty="0"/>
          </a:p>
        </p:txBody>
      </p:sp>
      <p:sp>
        <p:nvSpPr>
          <p:cNvPr id="39" name="Shape 31"/>
          <p:cNvSpPr/>
          <p:nvPr/>
        </p:nvSpPr>
        <p:spPr>
          <a:xfrm>
            <a:off x="4416552" y="3602736"/>
            <a:ext cx="3319272" cy="347472"/>
          </a:xfrm>
          <a:prstGeom prst="roundRect">
            <a:avLst>
              <a:gd name="adj" fmla="val 23684"/>
            </a:avLst>
          </a:prstGeom>
          <a:solidFill>
            <a:srgbClr val="EFEBF8"/>
          </a:solidFill>
          <a:ln/>
        </p:spPr>
      </p:sp>
      <p:pic>
        <p:nvPicPr>
          <p:cNvPr id="40" name="Image 6" descr="preencoded.png">    </p:cNvPr>
          <p:cNvPicPr>
            <a:picLocks noChangeAspect="1"/>
          </p:cNvPicPr>
          <p:nvPr/>
        </p:nvPicPr>
        <p:blipFill>
          <a:blip r:embed="rId7"/>
          <a:stretch>
            <a:fillRect/>
          </a:stretch>
        </p:blipFill>
        <p:spPr>
          <a:xfrm>
            <a:off x="4471416" y="3621024"/>
            <a:ext cx="310896" cy="310896"/>
          </a:xfrm>
          <a:prstGeom prst="rect">
            <a:avLst/>
          </a:prstGeom>
        </p:spPr>
      </p:pic>
      <p:sp>
        <p:nvSpPr>
          <p:cNvPr id="41" name="Text 32"/>
          <p:cNvSpPr/>
          <p:nvPr/>
        </p:nvSpPr>
        <p:spPr>
          <a:xfrm>
            <a:off x="4837176"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India</a:t>
            </a:r>
            <a:endParaRPr lang="en-US" sz="1250" dirty="0"/>
          </a:p>
        </p:txBody>
      </p:sp>
      <p:sp>
        <p:nvSpPr>
          <p:cNvPr id="42" name="Text 33"/>
          <p:cNvSpPr/>
          <p:nvPr/>
        </p:nvSpPr>
        <p:spPr>
          <a:xfrm>
            <a:off x="6437376"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free hook</a:t>
            </a:r>
            <a:endParaRPr lang="en-US" sz="900" dirty="0"/>
          </a:p>
        </p:txBody>
      </p:sp>
      <p:sp>
        <p:nvSpPr>
          <p:cNvPr id="43" name="Shape 34"/>
          <p:cNvSpPr/>
          <p:nvPr/>
        </p:nvSpPr>
        <p:spPr>
          <a:xfrm>
            <a:off x="4727448" y="4023360"/>
            <a:ext cx="3008376" cy="347472"/>
          </a:xfrm>
          <a:prstGeom prst="roundRect">
            <a:avLst>
              <a:gd name="adj" fmla="val 23684"/>
            </a:avLst>
          </a:prstGeom>
          <a:solidFill>
            <a:srgbClr val="EFEBF8"/>
          </a:solidFill>
          <a:ln/>
        </p:spPr>
      </p:sp>
      <p:pic>
        <p:nvPicPr>
          <p:cNvPr id="44" name="Image 7" descr="preencoded.png">    </p:cNvPr>
          <p:cNvPicPr>
            <a:picLocks noChangeAspect="1"/>
          </p:cNvPicPr>
          <p:nvPr/>
        </p:nvPicPr>
        <p:blipFill>
          <a:blip r:embed="rId8"/>
          <a:stretch>
            <a:fillRect/>
          </a:stretch>
        </p:blipFill>
        <p:spPr>
          <a:xfrm>
            <a:off x="4782312" y="4041648"/>
            <a:ext cx="310896" cy="310896"/>
          </a:xfrm>
          <a:prstGeom prst="rect">
            <a:avLst/>
          </a:prstGeom>
        </p:spPr>
      </p:pic>
      <p:sp>
        <p:nvSpPr>
          <p:cNvPr id="45" name="Text 35"/>
          <p:cNvSpPr/>
          <p:nvPr/>
        </p:nvSpPr>
        <p:spPr>
          <a:xfrm>
            <a:off x="5148072" y="4023360"/>
            <a:ext cx="1197864"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46" name="Text 36"/>
          <p:cNvSpPr/>
          <p:nvPr/>
        </p:nvSpPr>
        <p:spPr>
          <a:xfrm>
            <a:off x="6437376"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paid pack</a:t>
            </a:r>
            <a:endParaRPr lang="en-US" sz="900" dirty="0"/>
          </a:p>
        </p:txBody>
      </p:sp>
      <p:sp>
        <p:nvSpPr>
          <p:cNvPr id="47" name="Shape 37"/>
          <p:cNvSpPr/>
          <p:nvPr/>
        </p:nvSpPr>
        <p:spPr>
          <a:xfrm>
            <a:off x="9852660" y="2798064"/>
            <a:ext cx="0" cy="274320"/>
          </a:xfrm>
          <a:prstGeom prst="line">
            <a:avLst/>
          </a:prstGeom>
          <a:noFill/>
          <a:ln w="25400">
            <a:solidFill>
              <a:srgbClr val="E3DCF2"/>
            </a:solidFill>
            <a:prstDash val="solid"/>
          </a:ln>
        </p:spPr>
      </p:sp>
      <p:sp>
        <p:nvSpPr>
          <p:cNvPr id="48" name="Shape 38"/>
          <p:cNvSpPr/>
          <p:nvPr/>
        </p:nvSpPr>
        <p:spPr>
          <a:xfrm>
            <a:off x="8193024" y="3072384"/>
            <a:ext cx="3319272" cy="384048"/>
          </a:xfrm>
          <a:prstGeom prst="roundRect">
            <a:avLst>
              <a:gd name="adj" fmla="val 23810"/>
            </a:avLst>
          </a:prstGeom>
          <a:solidFill>
            <a:srgbClr val="178A4C"/>
          </a:solidFill>
          <a:ln/>
        </p:spPr>
      </p:sp>
      <p:sp>
        <p:nvSpPr>
          <p:cNvPr id="49" name="Text 39"/>
          <p:cNvSpPr/>
          <p:nvPr/>
        </p:nvSpPr>
        <p:spPr>
          <a:xfrm>
            <a:off x="8193024" y="3072384"/>
            <a:ext cx="3319272" cy="384048"/>
          </a:xfrm>
          <a:prstGeom prst="rect">
            <a:avLst/>
          </a:prstGeom>
          <a:noFill/>
          <a:ln/>
        </p:spPr>
        <p:txBody>
          <a:bodyPr wrap="square" lIns="0" tIns="0" rIns="0" bIns="0" rtlCol="0" anchor="ctr"/>
          <a:lstStyle/>
          <a:p>
            <a:pPr algn="ctr" indent="0" marL="0">
              <a:buNone/>
            </a:pPr>
            <a:r>
              <a:rPr lang="en-US" sz="1000" b="1" spc="160" kern="0" dirty="0">
                <a:solidFill>
                  <a:srgbClr val="FFFFFF"/>
                </a:solidFill>
                <a:latin typeface="Calibri" pitchFamily="34" charset="0"/>
                <a:ea typeface="Calibri" pitchFamily="34" charset="-122"/>
                <a:cs typeface="Calibri" pitchFamily="34" charset="-120"/>
              </a:rPr>
              <a:t>NUMBERS &amp; THE WORLD</a:t>
            </a:r>
            <a:endParaRPr lang="en-US" sz="1000" dirty="0"/>
          </a:p>
        </p:txBody>
      </p:sp>
      <p:sp>
        <p:nvSpPr>
          <p:cNvPr id="50" name="Shape 40"/>
          <p:cNvSpPr/>
          <p:nvPr/>
        </p:nvSpPr>
        <p:spPr>
          <a:xfrm>
            <a:off x="8193024" y="3602736"/>
            <a:ext cx="3319272" cy="347472"/>
          </a:xfrm>
          <a:prstGeom prst="roundRect">
            <a:avLst>
              <a:gd name="adj" fmla="val 23684"/>
            </a:avLst>
          </a:prstGeom>
          <a:solidFill>
            <a:srgbClr val="EFEBF8"/>
          </a:solidFill>
          <a:ln/>
        </p:spPr>
      </p:sp>
      <p:pic>
        <p:nvPicPr>
          <p:cNvPr id="51" name="Image 8" descr="preencoded.png">    </p:cNvPr>
          <p:cNvPicPr>
            <a:picLocks noChangeAspect="1"/>
          </p:cNvPicPr>
          <p:nvPr/>
        </p:nvPicPr>
        <p:blipFill>
          <a:blip r:embed="rId9"/>
          <a:stretch>
            <a:fillRect/>
          </a:stretch>
        </p:blipFill>
        <p:spPr>
          <a:xfrm>
            <a:off x="8247888" y="3621024"/>
            <a:ext cx="310896" cy="310896"/>
          </a:xfrm>
          <a:prstGeom prst="rect">
            <a:avLst/>
          </a:prstGeom>
        </p:spPr>
      </p:pic>
      <p:sp>
        <p:nvSpPr>
          <p:cNvPr id="52" name="Text 41"/>
          <p:cNvSpPr/>
          <p:nvPr/>
        </p:nvSpPr>
        <p:spPr>
          <a:xfrm>
            <a:off x="8613648" y="3602736"/>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Maths</a:t>
            </a:r>
            <a:endParaRPr lang="en-US" sz="1250" dirty="0"/>
          </a:p>
        </p:txBody>
      </p:sp>
      <p:sp>
        <p:nvSpPr>
          <p:cNvPr id="53" name="Text 42"/>
          <p:cNvSpPr/>
          <p:nvPr/>
        </p:nvSpPr>
        <p:spPr>
          <a:xfrm>
            <a:off x="10213848" y="3602736"/>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planned</a:t>
            </a:r>
            <a:endParaRPr lang="en-US" sz="900" dirty="0"/>
          </a:p>
        </p:txBody>
      </p:sp>
      <p:sp>
        <p:nvSpPr>
          <p:cNvPr id="54" name="Shape 43"/>
          <p:cNvSpPr/>
          <p:nvPr/>
        </p:nvSpPr>
        <p:spPr>
          <a:xfrm>
            <a:off x="8193024" y="4023360"/>
            <a:ext cx="3319272" cy="347472"/>
          </a:xfrm>
          <a:prstGeom prst="roundRect">
            <a:avLst>
              <a:gd name="adj" fmla="val 23684"/>
            </a:avLst>
          </a:prstGeom>
          <a:solidFill>
            <a:srgbClr val="EFEBF8"/>
          </a:solidFill>
          <a:ln/>
        </p:spPr>
      </p:sp>
      <p:sp>
        <p:nvSpPr>
          <p:cNvPr id="55" name="Text 44"/>
          <p:cNvSpPr/>
          <p:nvPr/>
        </p:nvSpPr>
        <p:spPr>
          <a:xfrm>
            <a:off x="8613648" y="4023360"/>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Finance</a:t>
            </a:r>
            <a:endParaRPr lang="en-US" sz="1250" dirty="0"/>
          </a:p>
        </p:txBody>
      </p:sp>
      <p:sp>
        <p:nvSpPr>
          <p:cNvPr id="56" name="Text 45"/>
          <p:cNvSpPr/>
          <p:nvPr/>
        </p:nvSpPr>
        <p:spPr>
          <a:xfrm>
            <a:off x="10213848" y="4023360"/>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in flight</a:t>
            </a:r>
            <a:endParaRPr lang="en-US" sz="900" dirty="0"/>
          </a:p>
        </p:txBody>
      </p:sp>
      <p:sp>
        <p:nvSpPr>
          <p:cNvPr id="57" name="Shape 46"/>
          <p:cNvSpPr/>
          <p:nvPr/>
        </p:nvSpPr>
        <p:spPr>
          <a:xfrm>
            <a:off x="8193024" y="4443984"/>
            <a:ext cx="3319272" cy="347472"/>
          </a:xfrm>
          <a:prstGeom prst="roundRect">
            <a:avLst>
              <a:gd name="adj" fmla="val 23684"/>
            </a:avLst>
          </a:prstGeom>
          <a:solidFill>
            <a:srgbClr val="EFEBF8"/>
          </a:solidFill>
          <a:ln/>
        </p:spPr>
      </p:sp>
      <p:pic>
        <p:nvPicPr>
          <p:cNvPr id="58" name="Image 9" descr="preencoded.png">    </p:cNvPr>
          <p:cNvPicPr>
            <a:picLocks noChangeAspect="1"/>
          </p:cNvPicPr>
          <p:nvPr/>
        </p:nvPicPr>
        <p:blipFill>
          <a:blip r:embed="rId10"/>
          <a:stretch>
            <a:fillRect/>
          </a:stretch>
        </p:blipFill>
        <p:spPr>
          <a:xfrm>
            <a:off x="8247888" y="4462272"/>
            <a:ext cx="310896" cy="310896"/>
          </a:xfrm>
          <a:prstGeom prst="rect">
            <a:avLst/>
          </a:prstGeom>
        </p:spPr>
      </p:pic>
      <p:sp>
        <p:nvSpPr>
          <p:cNvPr id="59" name="Text 47"/>
          <p:cNvSpPr/>
          <p:nvPr/>
        </p:nvSpPr>
        <p:spPr>
          <a:xfrm>
            <a:off x="8613648" y="4443984"/>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60" name="Text 48"/>
          <p:cNvSpPr/>
          <p:nvPr/>
        </p:nvSpPr>
        <p:spPr>
          <a:xfrm>
            <a:off x="10213848" y="4443984"/>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committed</a:t>
            </a:r>
            <a:endParaRPr lang="en-US" sz="900" dirty="0"/>
          </a:p>
        </p:txBody>
      </p:sp>
      <p:sp>
        <p:nvSpPr>
          <p:cNvPr id="61" name="Shape 49"/>
          <p:cNvSpPr/>
          <p:nvPr/>
        </p:nvSpPr>
        <p:spPr>
          <a:xfrm>
            <a:off x="8193024" y="4864608"/>
            <a:ext cx="3319272" cy="347472"/>
          </a:xfrm>
          <a:prstGeom prst="roundRect">
            <a:avLst>
              <a:gd name="adj" fmla="val 23684"/>
            </a:avLst>
          </a:prstGeom>
          <a:solidFill>
            <a:srgbClr val="EFEBF8"/>
          </a:solidFill>
          <a:ln/>
        </p:spPr>
      </p:sp>
      <p:pic>
        <p:nvPicPr>
          <p:cNvPr id="62" name="Image 10" descr="preencoded.png">    </p:cNvPr>
          <p:cNvPicPr>
            <a:picLocks noChangeAspect="1"/>
          </p:cNvPicPr>
          <p:nvPr/>
        </p:nvPicPr>
        <p:blipFill>
          <a:blip r:embed="rId11"/>
          <a:stretch>
            <a:fillRect/>
          </a:stretch>
        </p:blipFill>
        <p:spPr>
          <a:xfrm>
            <a:off x="8247888" y="4882896"/>
            <a:ext cx="310896" cy="310896"/>
          </a:xfrm>
          <a:prstGeom prst="rect">
            <a:avLst/>
          </a:prstGeom>
        </p:spPr>
      </p:pic>
      <p:sp>
        <p:nvSpPr>
          <p:cNvPr id="63" name="Text 50"/>
          <p:cNvSpPr/>
          <p:nvPr/>
        </p:nvSpPr>
        <p:spPr>
          <a:xfrm>
            <a:off x="8613648" y="4864608"/>
            <a:ext cx="1508760" cy="347472"/>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Quiz</a:t>
            </a:r>
            <a:endParaRPr lang="en-US" sz="1250" dirty="0"/>
          </a:p>
        </p:txBody>
      </p:sp>
      <p:sp>
        <p:nvSpPr>
          <p:cNvPr id="64" name="Text 51"/>
          <p:cNvSpPr/>
          <p:nvPr/>
        </p:nvSpPr>
        <p:spPr>
          <a:xfrm>
            <a:off x="10213848" y="4864608"/>
            <a:ext cx="1115568" cy="347472"/>
          </a:xfrm>
          <a:prstGeom prst="rect">
            <a:avLst/>
          </a:prstGeom>
          <a:noFill/>
          <a:ln/>
        </p:spPr>
        <p:txBody>
          <a:bodyPr wrap="square" lIns="0" tIns="0" rIns="0" bIns="0" rtlCol="0" anchor="ctr"/>
          <a:lstStyle/>
          <a:p>
            <a:pPr algn="r" indent="0" marL="0">
              <a:buNone/>
            </a:pPr>
            <a:r>
              <a:rPr lang="en-US" sz="900" i="1" dirty="0">
                <a:solidFill>
                  <a:srgbClr val="4A31B0"/>
                </a:solidFill>
                <a:latin typeface="Calibri" pitchFamily="34" charset="0"/>
                <a:ea typeface="Calibri" pitchFamily="34" charset="-122"/>
                <a:cs typeface="Calibri" pitchFamily="34" charset="-120"/>
              </a:rPr>
              <a:t>gap</a:t>
            </a:r>
            <a:endParaRPr lang="en-US" sz="900" dirty="0"/>
          </a:p>
        </p:txBody>
      </p:sp>
      <p:sp>
        <p:nvSpPr>
          <p:cNvPr id="65" name="Text 52"/>
          <p:cNvSpPr/>
          <p:nvPr/>
        </p:nvSpPr>
        <p:spPr>
          <a:xfrm>
            <a:off x="640080" y="6144768"/>
            <a:ext cx="10607040" cy="502920"/>
          </a:xfrm>
          <a:prstGeom prst="rect">
            <a:avLst/>
          </a:prstGeom>
          <a:noFill/>
          <a:ln/>
        </p:spPr>
        <p:txBody>
          <a:bodyPr wrap="square" lIns="0" tIns="0" rIns="0" bIns="0" rtlCol="0" anchor="ctr"/>
          <a:lstStyle/>
          <a:p>
            <a:pPr indent="0" marL="0">
              <a:lnSpc>
                <a:spcPts val="1500"/>
              </a:lnSpc>
              <a:buNone/>
            </a:pPr>
            <a:r>
              <a:rPr lang="en-US" sz="1150" i="1" dirty="0">
                <a:solidFill>
                  <a:srgbClr val="7A7291"/>
                </a:solidFill>
                <a:latin typeface="Calibri" pitchFamily="34" charset="0"/>
                <a:ea typeface="Calibri" pitchFamily="34" charset="-122"/>
                <a:cs typeface="Calibri" pitchFamily="34" charset="-120"/>
              </a:rPr>
              <a:t>Twelve products named. Three already have real content behind them — Bee, India and Quiz — and the rest are still a sentence. The naming rule: sub-brands are SUBJECTS, so there is no Bizzing UK, only a UK edition of Bizzing Eleven.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1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Bee</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178A4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LIVE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best place in the world to prepare for a spelling bee.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one competition this community already organises around, and dominates. The demand exists; we neither create it nor explain it.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128,491 words with every one spoken aloud, a mapped journey, 164 concept chapters, an arcade, and a mock bee against ten simulated rivals.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Offline-first, no build step, no accounts required to start. Difficulty ramps on how tricky a spelling is, not on how rare the word is.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Difficulty is measured by TRICKINESS, not rarity — a silent letter beats a long word. Nothing else on the market does this.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Every one of 128k words is spoken. Competitors voice a curated few hundred.</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mock bee with ten rivals who each have their own nerve, speciality and vocabulary skill.</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gentler on-ramp so a six-year-old is not defeated on screen 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Parent-facing progress reporting — today the parent cannot see what is happening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Live and community bee events to convert the strongest users into advocates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The engine itself</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2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India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F0B429"/>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241E33"/>
                </a:solidFill>
                <a:latin typeface="Calibri" pitchFamily="34" charset="0"/>
                <a:ea typeface="Calibri" pitchFamily="34" charset="-122"/>
                <a:cs typeface="Calibri" pitchFamily="34" charset="-120"/>
              </a:rPr>
              <a:t>SEEDED · FREE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knows where they came from, and finds it genuinely interesting rather than dutiful.</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Heritage is the one hook no product built for a general audience can copy. It is also the warmest reason a family arrives, and it costs them nothing to try.</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Culture, festivals, mythology, geography, and the words English took from India. Free, shareable, and the doorway to the paid Bhasha packs.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Reuses the concept-chapter and trivia engines outright. It is a content programme, not a new build.</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MAKES IT DIFFERENT</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real seed already ships: southasia-data.js carries eleven authored chapters on South Asian words in English, live as Expedition IV of the Word Atlas and as Volume 14 of the book series.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teaches Sanskrit, Hindi and Tamil loanwords as a bee STRATEGY — say it, spell it, trust the vowels — not as a curiosity.</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Festival, mythology and India-GK packs on top of the language chapters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clear free/paid line, with Bhasha as the paid pack inside the free hook</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funnel itself: what a family does next after finishing a free chapter</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 trivia engines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3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Bhasha</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 · PAID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grandparent and the grandchild can hold a conversation.</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deepest emotional driver in this market, and the only category where the diaspora is the entire market rather than a slice of it. Parents fear a child losing the family, not a school place.</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Hindi first, then Tamil and Telugu. Script, vocabulary, listening and reading — sold as packs inside the free Bizzing India hook.</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Google TTS pipeline that voiced 128k English words does the expensive part again in another language.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Nobody serious is aiming at diaspora heritage language with a real product — the field is Saturday schools and PDF worksheets.</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brand across many Indian languages, rather than a separate app per language.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per-language content build — this is the real cost, and it repeats per language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Non-Latin script rendering and input, which the app has never done</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decision on which language ships second, on family demand rather than speaker counts</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5–16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pipeline, drills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4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Eleven</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NEXT</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The 11+ verbal paper stops being a mystery a family has to buy tutoring to solve.</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British Indian families spend heavily and start at eight. The incumbents are photocopied workbooks and past papers with no feedback loop.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Synonyms, antonyms, homophones, odd-one-out, word codes, letter manipulation and comprehension vocabulary — the verbal paper, drilled.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Closer to a re-skin than a new product. The homophone groups, diacritics, alternate pronunciations and the 128k library already exist.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It would be the only 11+ verbal product where every word is spoken and difficulty adapts to the child rather than to the page number.</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The 11+ specific item types — codes, sequences, letter shifts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timed mock-paper mode, because the exam is as much about clock as vocabulary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Mapping to what UK grammar schools actually set</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8–11</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Near-total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5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Buzz</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C4453C"/>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WHITE SPACE</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cannot read yet still plays with words every day.</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family arrives when the first child is four and Bizzing has nothing for them. The younger sibling is lost before they ever get to the Bee — this is the on-ramp gap on the age roadmap.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Letter sounds, phonics, rhyme, first words, picture-to-word matching, and Indian nursery stories read aloud.</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Audio-first and picture-first, because the child cannot read the interface. The voice library and avatar art transfer; the reading-free UI does not exist and must be built.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buzz before the bee. A child graduates Buzz → Bee, which is the single strongest retention story in the house.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phonics product that is diaspora-aware from the first screen.</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UI a pre-reader can operate — icons, audio prompts, very large targets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phonics curriculum, which the app has never had</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parent-alongside mode, since a four-year-old does not practise alone</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4–6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Audio + art, not the UI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6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English</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owns the language, rather than one who passes tests in it.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Spelling is a wedge into English, not the whole of it. Grammar, reading and writing are what school actually grades — and the second thing every parent asks about.</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Grammar, punctuation, comprehension, writing structure, idiom and register, on one continuous ladder from first sentence to essay.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The concept-chapter engine already teaches exactly this way, and the 43 advanced chapters are the template. Writing is the exception: it needs assessment, not drills.</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One continuous ladder instead of a workbook per school year — the child never restarts, and a sibling can join at their own rung.</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grammar and punctuation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comprehension passage bank with questions</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writing-feedback loop — the hardest single thing in the whole house, and the one to prototype before committing</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Concept engine; writing is new</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7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Maths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PLANNED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child who is fast and fearless with numbers, and knows why the trick works.</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Already named in the trademark filing. Mental maths and competition maths are the largest adjacent category to spelling in this community, and abacus and Vedic programmes already have the parents’ attention.</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fluency, mental-maths and Vedic techniques, then a decision about competition problems.</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Fact drills reuse the engine almost exactly. Competition problems do NOT — they need worked solutions and a solver, which is a different product.</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Would be the only mental-maths product that also teaches the reasoning, using the same concept-chapter model as the Bee.</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fact-fluency bank and a Vedic technique chapter set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An honest decision on competition maths — it is the demand, and it is the part that does not reuse anything</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Numeric input and working-out capture, which the word engine has never needed</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6–14</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Drills yes, problems no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PRODUCT 8 OF 8</a:t>
            </a:r>
            <a:endParaRPr lang="en-US" sz="1150" dirty="0"/>
          </a:p>
        </p:txBody>
      </p:sp>
      <p:sp>
        <p:nvSpPr>
          <p:cNvPr id="3" name="Text 1"/>
          <p:cNvSpPr/>
          <p:nvPr/>
        </p:nvSpPr>
        <p:spPr>
          <a:xfrm>
            <a:off x="640080" y="694944"/>
            <a:ext cx="78638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Bizzing Business</a:t>
            </a:r>
            <a:endParaRPr lang="en-US" sz="2900" dirty="0"/>
          </a:p>
        </p:txBody>
      </p:sp>
      <p:pic>
        <p:nvPicPr>
          <p:cNvPr id="4" name="Image 0" descr="preencoded.png">    </p:cNvPr>
          <p:cNvPicPr>
            <a:picLocks noChangeAspect="1"/>
          </p:cNvPicPr>
          <p:nvPr/>
        </p:nvPicPr>
        <p:blipFill>
          <a:blip r:embed="rId1"/>
          <a:stretch>
            <a:fillRect/>
          </a:stretch>
        </p:blipFill>
        <p:spPr>
          <a:xfrm>
            <a:off x="10012680" y="1298448"/>
            <a:ext cx="1234440" cy="1234440"/>
          </a:xfrm>
          <a:prstGeom prst="rect">
            <a:avLst/>
          </a:prstGeom>
        </p:spPr>
      </p:pic>
      <p:sp>
        <p:nvSpPr>
          <p:cNvPr id="5" name="Shape 2"/>
          <p:cNvSpPr/>
          <p:nvPr/>
        </p:nvSpPr>
        <p:spPr>
          <a:xfrm>
            <a:off x="8732520" y="749808"/>
            <a:ext cx="2514600" cy="384048"/>
          </a:xfrm>
          <a:prstGeom prst="roundRect">
            <a:avLst>
              <a:gd name="adj" fmla="val 50000"/>
            </a:avLst>
          </a:prstGeom>
          <a:solidFill>
            <a:srgbClr val="6C4FE0"/>
          </a:solidFill>
          <a:ln/>
        </p:spPr>
      </p:sp>
      <p:sp>
        <p:nvSpPr>
          <p:cNvPr id="6" name="Text 3"/>
          <p:cNvSpPr/>
          <p:nvPr/>
        </p:nvSpPr>
        <p:spPr>
          <a:xfrm>
            <a:off x="8732520" y="749808"/>
            <a:ext cx="2514600" cy="384048"/>
          </a:xfrm>
          <a:prstGeom prst="rect">
            <a:avLst/>
          </a:prstGeom>
          <a:noFill/>
          <a:ln/>
        </p:spPr>
        <p:txBody>
          <a:bodyPr wrap="square" lIns="0" tIns="0" rIns="0" bIns="0" rtlCol="0" anchor="ctr"/>
          <a:lstStyle/>
          <a:p>
            <a:pPr algn="ctr" indent="0" marL="0">
              <a:buNone/>
            </a:pPr>
            <a:r>
              <a:rPr lang="en-US" sz="1000" b="1" spc="120" kern="0" dirty="0">
                <a:solidFill>
                  <a:srgbClr val="FFFFFF"/>
                </a:solidFill>
                <a:latin typeface="Calibri" pitchFamily="34" charset="0"/>
                <a:ea typeface="Calibri" pitchFamily="34" charset="-122"/>
                <a:cs typeface="Calibri" pitchFamily="34" charset="-120"/>
              </a:rPr>
              <a:t>COMMITTED</a:t>
            </a:r>
            <a:endParaRPr lang="en-US" sz="1000" dirty="0"/>
          </a:p>
        </p:txBody>
      </p:sp>
      <p:sp>
        <p:nvSpPr>
          <p:cNvPr id="7" name="Text 4"/>
          <p:cNvSpPr/>
          <p:nvPr/>
        </p:nvSpPr>
        <p:spPr>
          <a:xfrm>
            <a:off x="640080" y="1444752"/>
            <a:ext cx="8778240" cy="585216"/>
          </a:xfrm>
          <a:prstGeom prst="rect">
            <a:avLst/>
          </a:prstGeom>
          <a:noFill/>
          <a:ln/>
        </p:spPr>
        <p:txBody>
          <a:bodyPr wrap="square" lIns="0" tIns="0" rIns="0" bIns="0" rtlCol="0" anchor="ctr"/>
          <a:lstStyle/>
          <a:p>
            <a:pPr indent="0" marL="0">
              <a:lnSpc>
                <a:spcPts val="2100"/>
              </a:lnSpc>
              <a:buNone/>
            </a:pPr>
            <a:r>
              <a:rPr lang="en-US" sz="1600" i="1" dirty="0">
                <a:solidFill>
                  <a:srgbClr val="6C4FE0"/>
                </a:solidFill>
                <a:latin typeface="Cambria" pitchFamily="34" charset="0"/>
                <a:ea typeface="Cambria" pitchFamily="34" charset="-122"/>
                <a:cs typeface="Cambria" pitchFamily="34" charset="-120"/>
              </a:rPr>
              <a:t>A sixteen-year-old who has built something, pitched it to a room, and can explain why it worked or why it did not.</a:t>
            </a:r>
            <a:endParaRPr lang="en-US" sz="1600" dirty="0"/>
          </a:p>
        </p:txBody>
      </p:sp>
      <p:sp>
        <p:nvSpPr>
          <p:cNvPr id="8" name="Shape 5"/>
          <p:cNvSpPr/>
          <p:nvPr/>
        </p:nvSpPr>
        <p:spPr>
          <a:xfrm rot="5400000">
            <a:off x="640080" y="2103120"/>
            <a:ext cx="457200" cy="457200"/>
          </a:xfrm>
          <a:prstGeom prst="hexagon">
            <a:avLst/>
          </a:prstGeom>
          <a:solidFill>
            <a:srgbClr val="6C4FE0"/>
          </a:solidFill>
          <a:ln/>
        </p:spPr>
      </p:sp>
      <p:sp>
        <p:nvSpPr>
          <p:cNvPr id="9" name="Text 6"/>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WHY</a:t>
            </a:r>
            <a:endParaRPr lang="en-US" sz="850" dirty="0"/>
          </a:p>
        </p:txBody>
      </p:sp>
      <p:sp>
        <p:nvSpPr>
          <p:cNvPr id="10" name="Text 7"/>
          <p:cNvSpPr/>
          <p:nvPr/>
        </p:nvSpPr>
        <p:spPr>
          <a:xfrm>
            <a:off x="1261872" y="2084832"/>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This is the conversation these families already have at the dinner table, and nothing exists for children that is not a four-figure summer camp. It lands in the twelve-to-sixteen gap where the bee ends, it is the highest price a family will pay in the whole house, and it is the product that turns Bizzing from a practice app into the place a child grew up.</a:t>
            </a:r>
            <a:endParaRPr lang="en-US" sz="1150" dirty="0"/>
          </a:p>
        </p:txBody>
      </p:sp>
      <p:sp>
        <p:nvSpPr>
          <p:cNvPr id="11" name="Shape 8"/>
          <p:cNvSpPr/>
          <p:nvPr/>
        </p:nvSpPr>
        <p:spPr>
          <a:xfrm rot="5400000">
            <a:off x="640080" y="3493008"/>
            <a:ext cx="457200" cy="457200"/>
          </a:xfrm>
          <a:prstGeom prst="hexagon">
            <a:avLst/>
          </a:prstGeom>
          <a:solidFill>
            <a:srgbClr val="F0B429"/>
          </a:solidFill>
          <a:ln/>
        </p:spPr>
      </p:sp>
      <p:sp>
        <p:nvSpPr>
          <p:cNvPr id="12" name="Text 9"/>
          <p:cNvSpPr/>
          <p:nvPr/>
        </p:nvSpPr>
        <p:spPr>
          <a:xfrm>
            <a:off x="640080" y="3493008"/>
            <a:ext cx="457200" cy="457200"/>
          </a:xfrm>
          <a:prstGeom prst="rect">
            <a:avLst/>
          </a:prstGeom>
          <a:noFill/>
          <a:ln/>
        </p:spPr>
        <p:txBody>
          <a:bodyPr wrap="square" lIns="0" tIns="0" rIns="0" bIns="0" rtlCol="0" anchor="ctr"/>
          <a:lstStyle/>
          <a:p>
            <a:pPr algn="ctr" indent="0" marL="0">
              <a:buNone/>
            </a:pPr>
            <a:r>
              <a:rPr lang="en-US" sz="850" b="1" dirty="0">
                <a:solidFill>
                  <a:srgbClr val="241E33"/>
                </a:solidFill>
                <a:latin typeface="Calibri" pitchFamily="34" charset="0"/>
                <a:ea typeface="Calibri" pitchFamily="34" charset="-122"/>
                <a:cs typeface="Calibri" pitchFamily="34" charset="-120"/>
              </a:rPr>
              <a:t>WHAT</a:t>
            </a:r>
            <a:endParaRPr lang="en-US" sz="850" dirty="0"/>
          </a:p>
        </p:txBody>
      </p:sp>
      <p:sp>
        <p:nvSpPr>
          <p:cNvPr id="13" name="Text 10"/>
          <p:cNvSpPr/>
          <p:nvPr/>
        </p:nvSpPr>
        <p:spPr>
          <a:xfrm>
            <a:off x="1261872" y="3474720"/>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How a business makes money, customers, pricing, competition, brand, operations and ethics — taught through real cases, worked in small teams, and finished with a capstone the child builds and pitches at a demo day.</a:t>
            </a:r>
            <a:endParaRPr lang="en-US" sz="1150" dirty="0"/>
          </a:p>
        </p:txBody>
      </p:sp>
      <p:sp>
        <p:nvSpPr>
          <p:cNvPr id="14" name="Shape 11"/>
          <p:cNvSpPr/>
          <p:nvPr/>
        </p:nvSpPr>
        <p:spPr>
          <a:xfrm rot="5400000">
            <a:off x="640080" y="4882896"/>
            <a:ext cx="457200" cy="457200"/>
          </a:xfrm>
          <a:prstGeom prst="hexagon">
            <a:avLst/>
          </a:prstGeom>
          <a:solidFill>
            <a:srgbClr val="6C4FE0"/>
          </a:solidFill>
          <a:ln/>
        </p:spPr>
      </p:sp>
      <p:sp>
        <p:nvSpPr>
          <p:cNvPr id="15" name="Text 12"/>
          <p:cNvSpPr/>
          <p:nvPr/>
        </p:nvSpPr>
        <p:spPr>
          <a:xfrm>
            <a:off x="640080" y="4882896"/>
            <a:ext cx="457200"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HOW</a:t>
            </a:r>
            <a:endParaRPr lang="en-US" sz="850" dirty="0"/>
          </a:p>
        </p:txBody>
      </p:sp>
      <p:sp>
        <p:nvSpPr>
          <p:cNvPr id="16" name="Text 13"/>
          <p:cNvSpPr/>
          <p:nvPr/>
        </p:nvSpPr>
        <p:spPr>
          <a:xfrm>
            <a:off x="1261872" y="4864608"/>
            <a:ext cx="4114800" cy="1280160"/>
          </a:xfrm>
          <a:prstGeom prst="rect">
            <a:avLst/>
          </a:prstGeom>
          <a:noFill/>
          <a:ln/>
        </p:spPr>
        <p:txBody>
          <a:bodyPr wrap="square" lIns="0" tIns="0" rIns="0" bIns="0" rtlCol="0" anchor="ctr"/>
          <a:lstStyle/>
          <a:p>
            <a:pPr indent="0" marL="0">
              <a:lnSpc>
                <a:spcPts val="1550"/>
              </a:lnSpc>
              <a:buNone/>
            </a:pPr>
            <a:r>
              <a:rPr lang="en-US" sz="1150" dirty="0">
                <a:solidFill>
                  <a:srgbClr val="4A4360"/>
                </a:solidFill>
                <a:latin typeface="Calibri" pitchFamily="34" charset="0"/>
                <a:ea typeface="Calibri" pitchFamily="34" charset="-122"/>
                <a:cs typeface="Calibri" pitchFamily="34" charset="-120"/>
              </a:rPr>
              <a:t>Cohorts with fixed start dates, teams of three or four, a trained mentor per cohort, recorded core lessons and live sessions. Teamwork and a real teacher are FEATURES here, not obstacles — they are the reason it works and the reason it cannot be cloned by software.</a:t>
            </a:r>
            <a:endParaRPr lang="en-US" sz="1150" dirty="0"/>
          </a:p>
        </p:txBody>
      </p:sp>
      <p:sp>
        <p:nvSpPr>
          <p:cNvPr id="17" name="Shape 14"/>
          <p:cNvSpPr/>
          <p:nvPr/>
        </p:nvSpPr>
        <p:spPr>
          <a:xfrm>
            <a:off x="5577840" y="2048256"/>
            <a:ext cx="5669280" cy="2103120"/>
          </a:xfrm>
          <a:prstGeom prst="roundRect">
            <a:avLst>
              <a:gd name="adj" fmla="val 6087"/>
            </a:avLst>
          </a:prstGeom>
          <a:solidFill>
            <a:srgbClr val="E8F4EC"/>
          </a:solidFill>
          <a:ln/>
          <a:effectLst>
            <a:outerShdw sx="100000" sy="100000" kx="0" ky="0" algn="bl" rotWithShape="0" blurRad="127000" dist="25400" dir="5400000">
              <a:srgbClr val="241E33">
                <a:alpha val="10000"/>
              </a:srgbClr>
            </a:outerShdw>
          </a:effectLst>
        </p:spPr>
      </p:sp>
      <p:sp>
        <p:nvSpPr>
          <p:cNvPr id="18" name="Text 15"/>
          <p:cNvSpPr/>
          <p:nvPr/>
        </p:nvSpPr>
        <p:spPr>
          <a:xfrm>
            <a:off x="5870448" y="2194560"/>
            <a:ext cx="5120640" cy="256032"/>
          </a:xfrm>
          <a:prstGeom prst="rect">
            <a:avLst/>
          </a:prstGeom>
          <a:noFill/>
          <a:ln/>
        </p:spPr>
        <p:txBody>
          <a:bodyPr wrap="square" lIns="0" tIns="0" rIns="0" bIns="0" rtlCol="0" anchor="ctr"/>
          <a:lstStyle/>
          <a:p>
            <a:pPr indent="0" marL="0">
              <a:buNone/>
            </a:pPr>
            <a:r>
              <a:rPr lang="en-US" sz="900" b="1" spc="180" kern="0" dirty="0">
                <a:solidFill>
                  <a:srgbClr val="178A4C"/>
                </a:solidFill>
                <a:latin typeface="Calibri" pitchFamily="34" charset="0"/>
                <a:ea typeface="Calibri" pitchFamily="34" charset="-122"/>
                <a:cs typeface="Calibri" pitchFamily="34" charset="-120"/>
              </a:rPr>
              <a:t>WHAT ITS EDGE WOULD BE</a:t>
            </a:r>
            <a:endParaRPr lang="en-US" sz="900" dirty="0"/>
          </a:p>
        </p:txBody>
      </p:sp>
      <p:sp>
        <p:nvSpPr>
          <p:cNvPr id="19" name="Text 16"/>
          <p:cNvSpPr/>
          <p:nvPr/>
        </p:nvSpPr>
        <p:spPr>
          <a:xfrm>
            <a:off x="5907024" y="2487168"/>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A mentor network is a moat. Content can be copied in a quarter; a trained bench of coaches who know these families cannot.</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The capstone: the child makes and pitches something real. It is exactly what the CKO already does with slime, clay and loom bags — the product is that instinct, given structure.</a:t>
            </a:r>
            <a:endParaRPr lang="en-US" sz="1050" dirty="0"/>
          </a:p>
          <a:p>
            <a:pPr marL="342900" indent="-342900">
              <a:lnSpc>
                <a:spcPts val="1400"/>
              </a:lnSpc>
              <a:spcAft>
                <a:spcPts val="600"/>
              </a:spcAft>
              <a:buSzPct val="100000"/>
              <a:buChar char="•"/>
            </a:pPr>
            <a:r>
              <a:rPr lang="en-US" sz="1050" dirty="0">
                <a:solidFill>
                  <a:srgbClr val="1F4A33"/>
                </a:solidFill>
                <a:latin typeface="Calibri" pitchFamily="34" charset="0"/>
                <a:ea typeface="Calibri" pitchFamily="34" charset="-122"/>
                <a:cs typeface="Calibri" pitchFamily="34" charset="-120"/>
              </a:rPr>
              <a:t>Demo day is a marketing asset as well as a lesson: parents in a room watching their own children present.</a:t>
            </a:r>
            <a:endParaRPr lang="en-US" sz="1050" dirty="0"/>
          </a:p>
        </p:txBody>
      </p:sp>
      <p:sp>
        <p:nvSpPr>
          <p:cNvPr id="20" name="Shape 17"/>
          <p:cNvSpPr/>
          <p:nvPr/>
        </p:nvSpPr>
        <p:spPr>
          <a:xfrm>
            <a:off x="5577840" y="4315968"/>
            <a:ext cx="5669280" cy="2103120"/>
          </a:xfrm>
          <a:prstGeom prst="roundRect">
            <a:avLst>
              <a:gd name="adj" fmla="val 6087"/>
            </a:avLst>
          </a:prstGeom>
          <a:solidFill>
            <a:srgbClr val="FBF3E0"/>
          </a:solidFill>
          <a:ln/>
          <a:effectLst>
            <a:outerShdw sx="100000" sy="100000" kx="0" ky="0" algn="bl" rotWithShape="0" blurRad="127000" dist="25400" dir="5400000">
              <a:srgbClr val="241E33">
                <a:alpha val="10000"/>
              </a:srgbClr>
            </a:outerShdw>
          </a:effectLst>
        </p:spPr>
      </p:sp>
      <p:sp>
        <p:nvSpPr>
          <p:cNvPr id="21" name="Text 18"/>
          <p:cNvSpPr/>
          <p:nvPr/>
        </p:nvSpPr>
        <p:spPr>
          <a:xfrm>
            <a:off x="5870448" y="4462272"/>
            <a:ext cx="5120640" cy="256032"/>
          </a:xfrm>
          <a:prstGeom prst="rect">
            <a:avLst/>
          </a:prstGeom>
          <a:noFill/>
          <a:ln/>
        </p:spPr>
        <p:txBody>
          <a:bodyPr wrap="square" lIns="0" tIns="0" rIns="0" bIns="0" rtlCol="0" anchor="ctr"/>
          <a:lstStyle/>
          <a:p>
            <a:pPr indent="0" marL="0">
              <a:buNone/>
            </a:pPr>
            <a:r>
              <a:rPr lang="en-US" sz="900" b="1" spc="180" kern="0" dirty="0">
                <a:solidFill>
                  <a:srgbClr val="8A5B00"/>
                </a:solidFill>
                <a:latin typeface="Calibri" pitchFamily="34" charset="0"/>
                <a:ea typeface="Calibri" pitchFamily="34" charset="-122"/>
                <a:cs typeface="Calibri" pitchFamily="34" charset="-120"/>
              </a:rPr>
              <a:t>WHAT STILL HAS TO BE BUILT</a:t>
            </a:r>
            <a:endParaRPr lang="en-US" sz="900" dirty="0"/>
          </a:p>
        </p:txBody>
      </p:sp>
      <p:sp>
        <p:nvSpPr>
          <p:cNvPr id="22" name="Text 19"/>
          <p:cNvSpPr/>
          <p:nvPr/>
        </p:nvSpPr>
        <p:spPr>
          <a:xfrm>
            <a:off x="5907024" y="4754880"/>
            <a:ext cx="5074920" cy="155448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case library written for eleven-year-olds, and a cohort curriculum</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Teams, project submission and mentor review in the app — none of which exists today</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A mentor bench: recruited, trained, paid and quality-managed. This is a hiring plan, not a feature ticket</a:t>
            </a:r>
            <a:endParaRPr lang="en-US" sz="1050" dirty="0"/>
          </a:p>
          <a:p>
            <a:pPr marL="342900" indent="-342900">
              <a:lnSpc>
                <a:spcPts val="1400"/>
              </a:lnSpc>
              <a:spcAft>
                <a:spcPts val="600"/>
              </a:spcAft>
              <a:buSzPct val="100000"/>
              <a:buChar char="•"/>
            </a:pPr>
            <a:r>
              <a:rPr lang="en-US" sz="1050" dirty="0">
                <a:solidFill>
                  <a:srgbClr val="8A5B00"/>
                </a:solidFill>
                <a:latin typeface="Calibri" pitchFamily="34" charset="0"/>
                <a:ea typeface="Calibri" pitchFamily="34" charset="-122"/>
                <a:cs typeface="Calibri" pitchFamily="34" charset="-120"/>
              </a:rPr>
              <a:t>Safeguarding for adults working with children — background checks, session recording, parent visibility</a:t>
            </a:r>
            <a:endParaRPr lang="en-US" sz="1050" dirty="0"/>
          </a:p>
        </p:txBody>
      </p:sp>
      <p:sp>
        <p:nvSpPr>
          <p:cNvPr id="23" name="Text 20"/>
          <p:cNvSpPr/>
          <p:nvPr/>
        </p:nvSpPr>
        <p:spPr>
          <a:xfrm>
            <a:off x="640080" y="6272784"/>
            <a:ext cx="4846320" cy="310896"/>
          </a:xfrm>
          <a:prstGeom prst="rect">
            <a:avLst/>
          </a:prstGeom>
          <a:noFill/>
          <a:ln/>
        </p:spPr>
        <p:txBody>
          <a:bodyPr wrap="square" lIns="0" tIns="0" rIns="0" bIns="0" rtlCol="0" anchor="ctr"/>
          <a:lstStyle/>
          <a:p>
            <a:pPr indent="0" marL="0">
              <a:buNone/>
            </a:pPr>
            <a:r>
              <a:rPr lang="en-US" sz="1050" b="1" dirty="0">
                <a:solidFill>
                  <a:srgbClr val="7A7291"/>
                </a:solidFill>
                <a:latin typeface="Calibri" pitchFamily="34" charset="0"/>
                <a:ea typeface="Calibri" pitchFamily="34" charset="-122"/>
                <a:cs typeface="Calibri" pitchFamily="34" charset="-120"/>
              </a:rPr>
              <a:t>Ages 11–16</a:t>
            </a:r>
            <a:pPr indent="0" marL="0">
              <a:buNone/>
            </a:pPr>
            <a:r>
              <a:rPr lang="en-US" sz="1050" dirty="0">
                <a:solidFill>
                  <a:srgbClr val="7A7291"/>
                </a:solidFill>
                <a:latin typeface="Calibri" pitchFamily="34" charset="0"/>
                <a:ea typeface="Calibri" pitchFamily="34" charset="-122"/>
                <a:cs typeface="Calibri" pitchFamily="34" charset="-120"/>
              </a:rPr>
              <a:t>   ·   engine reuse: </a:t>
            </a:r>
            <a:pPr indent="0" marL="0">
              <a:buNone/>
            </a:pPr>
            <a:r>
              <a:rPr lang="en-US" sz="1050" b="1" dirty="0">
                <a:solidFill>
                  <a:srgbClr val="7A7291"/>
                </a:solidFill>
                <a:latin typeface="Calibri" pitchFamily="34" charset="0"/>
                <a:ea typeface="Calibri" pitchFamily="34" charset="-122"/>
                <a:cs typeface="Calibri" pitchFamily="34" charset="-120"/>
              </a:rPr>
              <a:t>New shape, on purpose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30352"/>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BIZZING BUSINESS</a:t>
            </a:r>
            <a:endParaRPr lang="en-US" sz="1200" dirty="0"/>
          </a:p>
        </p:txBody>
      </p:sp>
      <p:sp>
        <p:nvSpPr>
          <p:cNvPr id="3" name="Text 1"/>
          <p:cNvSpPr/>
          <p:nvPr/>
        </p:nvSpPr>
        <p:spPr>
          <a:xfrm>
            <a:off x="640080" y="896112"/>
            <a:ext cx="10607040" cy="6858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product where the people are the moat.</a:t>
            </a:r>
            <a:endParaRPr lang="en-US" sz="2800" dirty="0"/>
          </a:p>
        </p:txBody>
      </p:sp>
      <p:sp>
        <p:nvSpPr>
          <p:cNvPr id="4" name="Text 2"/>
          <p:cNvSpPr/>
          <p:nvPr/>
        </p:nvSpPr>
        <p:spPr>
          <a:xfrm>
            <a:off x="640080" y="1627632"/>
            <a:ext cx="10241280" cy="50292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Everything else in the house is software a competitor could clone in a quarter. A trained bench of mentors who know these families cannot be cloned at all — which is exactly why this one is worth the extra difficulty.</a:t>
            </a:r>
            <a:endParaRPr lang="en-US" sz="1300" dirty="0"/>
          </a:p>
        </p:txBody>
      </p:sp>
      <p:sp>
        <p:nvSpPr>
          <p:cNvPr id="5" name="Shape 3"/>
          <p:cNvSpPr/>
          <p:nvPr/>
        </p:nvSpPr>
        <p:spPr>
          <a:xfrm>
            <a:off x="640080"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6" name="Shape 4"/>
          <p:cNvSpPr/>
          <p:nvPr/>
        </p:nvSpPr>
        <p:spPr>
          <a:xfrm rot="5400000">
            <a:off x="822960" y="2542032"/>
            <a:ext cx="384048" cy="384048"/>
          </a:xfrm>
          <a:prstGeom prst="hexagon">
            <a:avLst/>
          </a:prstGeom>
          <a:solidFill>
            <a:srgbClr val="6C4FE0"/>
          </a:solidFill>
          <a:ln/>
        </p:spPr>
      </p:sp>
      <p:sp>
        <p:nvSpPr>
          <p:cNvPr id="7" name="Text 5"/>
          <p:cNvSpPr/>
          <p:nvPr/>
        </p:nvSpPr>
        <p:spPr>
          <a:xfrm>
            <a:off x="822960"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786384"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Cohort opens</a:t>
            </a:r>
            <a:endParaRPr lang="en-US" sz="1400" dirty="0"/>
          </a:p>
        </p:txBody>
      </p:sp>
      <p:sp>
        <p:nvSpPr>
          <p:cNvPr id="9" name="Text 7"/>
          <p:cNvSpPr/>
          <p:nvPr/>
        </p:nvSpPr>
        <p:spPr>
          <a:xfrm>
            <a:off x="786384"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Fixed start dates, not always-on. Scarcity is the point: a cohort has classmates, a calendar and an ending.</a:t>
            </a:r>
            <a:endParaRPr lang="en-US" sz="1000" dirty="0"/>
          </a:p>
        </p:txBody>
      </p:sp>
      <p:sp>
        <p:nvSpPr>
          <p:cNvPr id="10" name="Text 8"/>
          <p:cNvSpPr/>
          <p:nvPr/>
        </p:nvSpPr>
        <p:spPr>
          <a:xfrm>
            <a:off x="2670048"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2852928"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2" name="Shape 10"/>
          <p:cNvSpPr/>
          <p:nvPr/>
        </p:nvSpPr>
        <p:spPr>
          <a:xfrm rot="5400000">
            <a:off x="3035808" y="2542032"/>
            <a:ext cx="384048" cy="384048"/>
          </a:xfrm>
          <a:prstGeom prst="hexagon">
            <a:avLst/>
          </a:prstGeom>
          <a:solidFill>
            <a:srgbClr val="6C4FE0"/>
          </a:solidFill>
          <a:ln/>
        </p:spPr>
      </p:sp>
      <p:sp>
        <p:nvSpPr>
          <p:cNvPr id="13" name="Text 11"/>
          <p:cNvSpPr/>
          <p:nvPr/>
        </p:nvSpPr>
        <p:spPr>
          <a:xfrm>
            <a:off x="3035808"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2999232"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Teams of three</a:t>
            </a:r>
            <a:endParaRPr lang="en-US" sz="1400" dirty="0"/>
          </a:p>
        </p:txBody>
      </p:sp>
      <p:sp>
        <p:nvSpPr>
          <p:cNvPr id="15" name="Text 13"/>
          <p:cNvSpPr/>
          <p:nvPr/>
        </p:nvSpPr>
        <p:spPr>
          <a:xfrm>
            <a:off x="2999232"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child works with others. Teamwork is a FEATURE — it is half of what a parent is buying and none of what an app usually gives.</a:t>
            </a:r>
            <a:endParaRPr lang="en-US" sz="1000" dirty="0"/>
          </a:p>
        </p:txBody>
      </p:sp>
      <p:sp>
        <p:nvSpPr>
          <p:cNvPr id="16" name="Text 14"/>
          <p:cNvSpPr/>
          <p:nvPr/>
        </p:nvSpPr>
        <p:spPr>
          <a:xfrm>
            <a:off x="4882896"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17" name="Shape 15"/>
          <p:cNvSpPr/>
          <p:nvPr/>
        </p:nvSpPr>
        <p:spPr>
          <a:xfrm>
            <a:off x="5065776"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18" name="Shape 16"/>
          <p:cNvSpPr/>
          <p:nvPr/>
        </p:nvSpPr>
        <p:spPr>
          <a:xfrm rot="5400000">
            <a:off x="5248656" y="2542032"/>
            <a:ext cx="384048" cy="384048"/>
          </a:xfrm>
          <a:prstGeom prst="hexagon">
            <a:avLst/>
          </a:prstGeom>
          <a:solidFill>
            <a:srgbClr val="6C4FE0"/>
          </a:solidFill>
          <a:ln/>
        </p:spPr>
      </p:sp>
      <p:sp>
        <p:nvSpPr>
          <p:cNvPr id="19" name="Text 17"/>
          <p:cNvSpPr/>
          <p:nvPr/>
        </p:nvSpPr>
        <p:spPr>
          <a:xfrm>
            <a:off x="5248656"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5212080"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Cases, then build</a:t>
            </a:r>
            <a:endParaRPr lang="en-US" sz="1400" dirty="0"/>
          </a:p>
        </p:txBody>
      </p:sp>
      <p:sp>
        <p:nvSpPr>
          <p:cNvPr id="21" name="Text 19"/>
          <p:cNvSpPr/>
          <p:nvPr/>
        </p:nvSpPr>
        <p:spPr>
          <a:xfrm>
            <a:off x="5212080"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Recorded lessons and real cases carry the theory. The team then builds something actual — a product, a service, a plan.</a:t>
            </a:r>
            <a:endParaRPr lang="en-US" sz="1000" dirty="0"/>
          </a:p>
        </p:txBody>
      </p:sp>
      <p:sp>
        <p:nvSpPr>
          <p:cNvPr id="22" name="Text 20"/>
          <p:cNvSpPr/>
          <p:nvPr/>
        </p:nvSpPr>
        <p:spPr>
          <a:xfrm>
            <a:off x="7095744"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3" name="Shape 21"/>
          <p:cNvSpPr/>
          <p:nvPr/>
        </p:nvSpPr>
        <p:spPr>
          <a:xfrm>
            <a:off x="7278624"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24" name="Shape 22"/>
          <p:cNvSpPr/>
          <p:nvPr/>
        </p:nvSpPr>
        <p:spPr>
          <a:xfrm rot="5400000">
            <a:off x="7461504" y="2542032"/>
            <a:ext cx="384048" cy="384048"/>
          </a:xfrm>
          <a:prstGeom prst="hexagon">
            <a:avLst/>
          </a:prstGeom>
          <a:solidFill>
            <a:srgbClr val="F0B429"/>
          </a:solidFill>
          <a:ln/>
        </p:spPr>
      </p:sp>
      <p:sp>
        <p:nvSpPr>
          <p:cNvPr id="25" name="Text 23"/>
          <p:cNvSpPr/>
          <p:nvPr/>
        </p:nvSpPr>
        <p:spPr>
          <a:xfrm>
            <a:off x="7461504" y="25420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6" name="Text 24"/>
          <p:cNvSpPr/>
          <p:nvPr/>
        </p:nvSpPr>
        <p:spPr>
          <a:xfrm>
            <a:off x="7424928"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Mentor review</a:t>
            </a:r>
            <a:endParaRPr lang="en-US" sz="1400" dirty="0"/>
          </a:p>
        </p:txBody>
      </p:sp>
      <p:sp>
        <p:nvSpPr>
          <p:cNvPr id="27" name="Text 25"/>
          <p:cNvSpPr/>
          <p:nvPr/>
        </p:nvSpPr>
        <p:spPr>
          <a:xfrm>
            <a:off x="7424928"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A trained coach reviews the work against a rubric and meets the team live. This is the paid, human, uncopyable layer.</a:t>
            </a:r>
            <a:endParaRPr lang="en-US" sz="1000" dirty="0"/>
          </a:p>
        </p:txBody>
      </p:sp>
      <p:sp>
        <p:nvSpPr>
          <p:cNvPr id="28" name="Text 26"/>
          <p:cNvSpPr/>
          <p:nvPr/>
        </p:nvSpPr>
        <p:spPr>
          <a:xfrm>
            <a:off x="9308592" y="3127248"/>
            <a:ext cx="182880" cy="402336"/>
          </a:xfrm>
          <a:prstGeom prst="rect">
            <a:avLst/>
          </a:prstGeom>
          <a:noFill/>
          <a:ln/>
        </p:spPr>
        <p:txBody>
          <a:bodyPr wrap="square" lIns="0" tIns="0" rIns="0" bIns="0" rtlCol="0" anchor="ctr"/>
          <a:lstStyle/>
          <a:p>
            <a:pPr algn="ctr" indent="0" marL="0">
              <a:buNone/>
            </a:pPr>
            <a:r>
              <a:rPr lang="en-US" sz="2000" b="1" dirty="0">
                <a:solidFill>
                  <a:srgbClr val="F0B429"/>
                </a:solidFill>
                <a:latin typeface="Cambria" pitchFamily="34" charset="0"/>
                <a:ea typeface="Cambria" pitchFamily="34" charset="-122"/>
                <a:cs typeface="Cambria" pitchFamily="34" charset="-120"/>
              </a:rPr>
              <a:t>›</a:t>
            </a:r>
            <a:endParaRPr lang="en-US" sz="2000" dirty="0"/>
          </a:p>
        </p:txBody>
      </p:sp>
      <p:sp>
        <p:nvSpPr>
          <p:cNvPr id="29" name="Shape 27"/>
          <p:cNvSpPr/>
          <p:nvPr/>
        </p:nvSpPr>
        <p:spPr>
          <a:xfrm>
            <a:off x="9491472" y="2331720"/>
            <a:ext cx="2011680" cy="2286000"/>
          </a:xfrm>
          <a:prstGeom prst="roundRect">
            <a:avLst>
              <a:gd name="adj" fmla="val 5909"/>
            </a:avLst>
          </a:prstGeom>
          <a:solidFill>
            <a:srgbClr val="FFFFFF">
              <a:alpha val="8000"/>
            </a:srgbClr>
          </a:solidFill>
          <a:ln w="12700">
            <a:solidFill>
              <a:srgbClr val="6C4FE0"/>
            </a:solidFill>
            <a:prstDash val="solid"/>
          </a:ln>
        </p:spPr>
      </p:sp>
      <p:sp>
        <p:nvSpPr>
          <p:cNvPr id="30" name="Shape 28"/>
          <p:cNvSpPr/>
          <p:nvPr/>
        </p:nvSpPr>
        <p:spPr>
          <a:xfrm rot="5400000">
            <a:off x="9674352" y="2542032"/>
            <a:ext cx="384048" cy="384048"/>
          </a:xfrm>
          <a:prstGeom prst="hexagon">
            <a:avLst/>
          </a:prstGeom>
          <a:solidFill>
            <a:srgbClr val="6C4FE0"/>
          </a:solidFill>
          <a:ln/>
        </p:spPr>
      </p:sp>
      <p:sp>
        <p:nvSpPr>
          <p:cNvPr id="31" name="Text 29"/>
          <p:cNvSpPr/>
          <p:nvPr/>
        </p:nvSpPr>
        <p:spPr>
          <a:xfrm>
            <a:off x="9674352" y="25420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637776" y="3054096"/>
            <a:ext cx="1719072" cy="512064"/>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Demo day</a:t>
            </a:r>
            <a:endParaRPr lang="en-US" sz="1400" dirty="0"/>
          </a:p>
        </p:txBody>
      </p:sp>
      <p:sp>
        <p:nvSpPr>
          <p:cNvPr id="33" name="Text 31"/>
          <p:cNvSpPr/>
          <p:nvPr/>
        </p:nvSpPr>
        <p:spPr>
          <a:xfrm>
            <a:off x="9637776" y="3584448"/>
            <a:ext cx="1719072" cy="914400"/>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team pitches to a room of parents. A lesson, a rite of passage, and the best marketing asset the brand will ever have.</a:t>
            </a:r>
            <a:endParaRPr lang="en-US" sz="1000" dirty="0"/>
          </a:p>
        </p:txBody>
      </p:sp>
      <p:sp>
        <p:nvSpPr>
          <p:cNvPr id="34" name="Shape 32"/>
          <p:cNvSpPr/>
          <p:nvPr/>
        </p:nvSpPr>
        <p:spPr>
          <a:xfrm>
            <a:off x="640080" y="4800600"/>
            <a:ext cx="5074920" cy="1371600"/>
          </a:xfrm>
          <a:prstGeom prst="roundRect">
            <a:avLst>
              <a:gd name="adj" fmla="val 8667"/>
            </a:avLst>
          </a:prstGeom>
          <a:solidFill>
            <a:srgbClr val="FFFFFF">
              <a:alpha val="6000"/>
            </a:srgbClr>
          </a:solidFill>
          <a:ln/>
        </p:spPr>
      </p:sp>
      <p:sp>
        <p:nvSpPr>
          <p:cNvPr id="35" name="Text 33"/>
          <p:cNvSpPr/>
          <p:nvPr/>
        </p:nvSpPr>
        <p:spPr>
          <a:xfrm>
            <a:off x="896112" y="4937760"/>
            <a:ext cx="4572000" cy="274320"/>
          </a:xfrm>
          <a:prstGeom prst="rect">
            <a:avLst/>
          </a:prstGeom>
          <a:noFill/>
          <a:ln/>
        </p:spPr>
        <p:txBody>
          <a:bodyPr wrap="square" lIns="0" tIns="0" rIns="0" bIns="0" rtlCol="0" anchor="ctr"/>
          <a:lstStyle/>
          <a:p>
            <a:pPr indent="0" marL="0">
              <a:buNone/>
            </a:pPr>
            <a:r>
              <a:rPr lang="en-US" sz="1000" b="1" spc="140" kern="0" dirty="0">
                <a:solidFill>
                  <a:srgbClr val="F0B429"/>
                </a:solidFill>
                <a:latin typeface="Calibri" pitchFamily="34" charset="0"/>
                <a:ea typeface="Calibri" pitchFamily="34" charset="-122"/>
                <a:cs typeface="Calibri" pitchFamily="34" charset="-120"/>
              </a:rPr>
              <a:t>Where the mentors come from</a:t>
            </a:r>
            <a:endParaRPr lang="en-US" sz="1000" dirty="0"/>
          </a:p>
        </p:txBody>
      </p:sp>
      <p:sp>
        <p:nvSpPr>
          <p:cNvPr id="36" name="Text 34"/>
          <p:cNvSpPr/>
          <p:nvPr/>
        </p:nvSpPr>
        <p:spPr>
          <a:xfrm>
            <a:off x="89611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This diaspora is full of MBAs, founders and operators whose own children are the target age. They will teach for status, for community, and because their kid is in the room. Recruit, train, pay, and manage quality — a hiring plan, not a feature ticket.</a:t>
            </a:r>
            <a:endParaRPr lang="en-US" sz="1050" dirty="0"/>
          </a:p>
        </p:txBody>
      </p:sp>
      <p:sp>
        <p:nvSpPr>
          <p:cNvPr id="37" name="Shape 35"/>
          <p:cNvSpPr/>
          <p:nvPr/>
        </p:nvSpPr>
        <p:spPr>
          <a:xfrm>
            <a:off x="6035040" y="4800600"/>
            <a:ext cx="5074920" cy="1371600"/>
          </a:xfrm>
          <a:prstGeom prst="roundRect">
            <a:avLst>
              <a:gd name="adj" fmla="val 8667"/>
            </a:avLst>
          </a:prstGeom>
          <a:solidFill>
            <a:srgbClr val="FFFFFF">
              <a:alpha val="6000"/>
            </a:srgbClr>
          </a:solidFill>
          <a:ln/>
        </p:spPr>
      </p:sp>
      <p:sp>
        <p:nvSpPr>
          <p:cNvPr id="38" name="Text 36"/>
          <p:cNvSpPr/>
          <p:nvPr/>
        </p:nvSpPr>
        <p:spPr>
          <a:xfrm>
            <a:off x="6291072" y="4937760"/>
            <a:ext cx="4572000" cy="274320"/>
          </a:xfrm>
          <a:prstGeom prst="rect">
            <a:avLst/>
          </a:prstGeom>
          <a:noFill/>
          <a:ln/>
        </p:spPr>
        <p:txBody>
          <a:bodyPr wrap="square" lIns="0" tIns="0" rIns="0" bIns="0" rtlCol="0" anchor="ctr"/>
          <a:lstStyle/>
          <a:p>
            <a:pPr indent="0" marL="0">
              <a:buNone/>
            </a:pPr>
            <a:r>
              <a:rPr lang="en-US" sz="1000" b="1" spc="140" kern="0" dirty="0">
                <a:solidFill>
                  <a:srgbClr val="6C4FE0"/>
                </a:solidFill>
                <a:latin typeface="Calibri" pitchFamily="34" charset="0"/>
                <a:ea typeface="Calibri" pitchFamily="34" charset="-122"/>
                <a:cs typeface="Calibri" pitchFamily="34" charset="-120"/>
              </a:rPr>
              <a:t>Why it starts earliest of the late products</a:t>
            </a:r>
            <a:endParaRPr lang="en-US" sz="1000" dirty="0"/>
          </a:p>
        </p:txBody>
      </p:sp>
      <p:sp>
        <p:nvSpPr>
          <p:cNvPr id="39" name="Text 37"/>
          <p:cNvSpPr/>
          <p:nvPr/>
        </p:nvSpPr>
        <p:spPr>
          <a:xfrm>
            <a:off x="6291072" y="5212080"/>
            <a:ext cx="4572000" cy="841248"/>
          </a:xfrm>
          <a:prstGeom prst="rect">
            <a:avLst/>
          </a:prstGeom>
          <a:noFill/>
          <a:ln/>
        </p:spPr>
        <p:txBody>
          <a:bodyPr wrap="square" lIns="0" tIns="0" rIns="0" bIns="0" rtlCol="0" anchor="ctr"/>
          <a:lstStyle/>
          <a:p>
            <a:pPr indent="0" marL="0">
              <a:lnSpc>
                <a:spcPts val="1350"/>
              </a:lnSpc>
              <a:buNone/>
            </a:pPr>
            <a:r>
              <a:rPr lang="en-US" sz="1050" dirty="0">
                <a:solidFill>
                  <a:srgbClr val="E3DCF2"/>
                </a:solidFill>
                <a:latin typeface="Calibri" pitchFamily="34" charset="0"/>
                <a:ea typeface="Calibri" pitchFamily="34" charset="-122"/>
                <a:cs typeface="Calibri" pitchFamily="34" charset="-120"/>
              </a:rPr>
              <a:t>Content can be written in weeks. A trained mentor bench and a safeguarding process cannot. Business has the longest lead time in the house, so its build begins before its launch gate — the one product where that is true.</a:t>
            </a:r>
            <a:endParaRPr lang="en-US" sz="1050" dirty="0"/>
          </a:p>
        </p:txBody>
      </p:sp>
      <p:sp>
        <p:nvSpPr>
          <p:cNvPr id="40" name="Text 38"/>
          <p:cNvSpPr/>
          <p:nvPr/>
        </p:nvSpPr>
        <p:spPr>
          <a:xfrm>
            <a:off x="640080" y="6291072"/>
            <a:ext cx="10607040" cy="41148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It is also the answer to the live-training revenue line — Business IS that line, not a separate venture. And safeguarding is not optional: adults working with children needs checks, recorded sessions and parent visibility from day one.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GAPS</a:t>
            </a:r>
            <a:endParaRPr lang="en-US" sz="1200" dirty="0"/>
          </a:p>
        </p:txBody>
      </p:sp>
      <p:sp>
        <p:nvSpPr>
          <p:cNvPr id="3" name="Text 1"/>
          <p:cNvSpPr/>
          <p:nvPr/>
        </p:nvSpPr>
        <p:spPr>
          <a:xfrm>
            <a:off x="640080" y="914400"/>
            <a:ext cx="10607040" cy="6858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Three products missing, and four we should not build.</a:t>
            </a:r>
            <a:endParaRPr lang="en-US" sz="2700" dirty="0"/>
          </a:p>
        </p:txBody>
      </p:sp>
      <p:sp>
        <p:nvSpPr>
          <p:cNvPr id="4" name="Shape 2"/>
          <p:cNvSpPr/>
          <p:nvPr/>
        </p:nvSpPr>
        <p:spPr>
          <a:xfrm>
            <a:off x="640080"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5" name="Image 0" descr="preencoded.png">    </p:cNvPr>
          <p:cNvPicPr>
            <a:picLocks noChangeAspect="1"/>
          </p:cNvPicPr>
          <p:nvPr/>
        </p:nvPicPr>
        <p:blipFill>
          <a:blip r:embed="rId1"/>
          <a:stretch>
            <a:fillRect/>
          </a:stretch>
        </p:blipFill>
        <p:spPr>
          <a:xfrm>
            <a:off x="896112" y="2011680"/>
            <a:ext cx="658368" cy="658368"/>
          </a:xfrm>
          <a:prstGeom prst="rect">
            <a:avLst/>
          </a:prstGeom>
        </p:spPr>
      </p:pic>
      <p:sp>
        <p:nvSpPr>
          <p:cNvPr id="6" name="Text 3"/>
          <p:cNvSpPr/>
          <p:nvPr/>
        </p:nvSpPr>
        <p:spPr>
          <a:xfrm>
            <a:off x="896112"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Speak</a:t>
            </a:r>
            <a:endParaRPr lang="en-US" sz="1700" dirty="0"/>
          </a:p>
        </p:txBody>
      </p:sp>
      <p:sp>
        <p:nvSpPr>
          <p:cNvPr id="7" name="Text 4"/>
          <p:cNvSpPr/>
          <p:nvPr/>
        </p:nvSpPr>
        <p:spPr>
          <a:xfrm>
            <a:off x="896112"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Public speaking, debate, spoken English</a:t>
            </a:r>
            <a:endParaRPr lang="en-US" sz="1050" dirty="0"/>
          </a:p>
        </p:txBody>
      </p:sp>
      <p:sp>
        <p:nvSpPr>
          <p:cNvPr id="8" name="Text 5"/>
          <p:cNvSpPr/>
          <p:nvPr/>
        </p:nvSpPr>
        <p:spPr>
          <a:xfrm>
            <a:off x="896112"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strongest omission. It fills the twelve-to-sixteen cliff, it is the largest education category in India by search, and it is the same subject the YouTube channel already makes films about. The catch: doing it properly needs the app to LISTEN and score pronunciation, which is speech recognition and not in the engine.</a:t>
            </a:r>
            <a:endParaRPr lang="en-US" sz="1000" dirty="0"/>
          </a:p>
        </p:txBody>
      </p:sp>
      <p:sp>
        <p:nvSpPr>
          <p:cNvPr id="9" name="Shape 6"/>
          <p:cNvSpPr/>
          <p:nvPr/>
        </p:nvSpPr>
        <p:spPr>
          <a:xfrm>
            <a:off x="4325112"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0" name="Image 1" descr="preencoded.png">    </p:cNvPr>
          <p:cNvPicPr>
            <a:picLocks noChangeAspect="1"/>
          </p:cNvPicPr>
          <p:nvPr/>
        </p:nvPicPr>
        <p:blipFill>
          <a:blip r:embed="rId2"/>
          <a:stretch>
            <a:fillRect/>
          </a:stretch>
        </p:blipFill>
        <p:spPr>
          <a:xfrm>
            <a:off x="4581144" y="2011680"/>
            <a:ext cx="658368" cy="658368"/>
          </a:xfrm>
          <a:prstGeom prst="rect">
            <a:avLst/>
          </a:prstGeom>
        </p:spPr>
      </p:pic>
      <p:sp>
        <p:nvSpPr>
          <p:cNvPr id="11" name="Text 7"/>
          <p:cNvSpPr/>
          <p:nvPr/>
        </p:nvSpPr>
        <p:spPr>
          <a:xfrm>
            <a:off x="4581144"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Quiz</a:t>
            </a:r>
            <a:endParaRPr lang="en-US" sz="1700" dirty="0"/>
          </a:p>
        </p:txBody>
      </p:sp>
      <p:sp>
        <p:nvSpPr>
          <p:cNvPr id="12" name="Text 8"/>
          <p:cNvSpPr/>
          <p:nvPr/>
        </p:nvSpPr>
        <p:spPr>
          <a:xfrm>
            <a:off x="4581144"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General knowledge, quiz-bowl</a:t>
            </a:r>
            <a:endParaRPr lang="en-US" sz="1050" dirty="0"/>
          </a:p>
        </p:txBody>
      </p:sp>
      <p:sp>
        <p:nvSpPr>
          <p:cNvPr id="13" name="Text 9"/>
          <p:cNvSpPr/>
          <p:nvPr/>
        </p:nvSpPr>
        <p:spPr>
          <a:xfrm>
            <a:off x="4581144"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The cheapest product in the house to launch: 31,000 questions across 32 themes and 5 levels already exist and are already sharded and levelled. It is a skin and a scoring loop, not a build.</a:t>
            </a:r>
            <a:endParaRPr lang="en-US" sz="1000" dirty="0"/>
          </a:p>
        </p:txBody>
      </p:sp>
      <p:sp>
        <p:nvSpPr>
          <p:cNvPr id="14" name="Shape 10"/>
          <p:cNvSpPr/>
          <p:nvPr/>
        </p:nvSpPr>
        <p:spPr>
          <a:xfrm>
            <a:off x="8010144" y="1828800"/>
            <a:ext cx="3410712" cy="2880360"/>
          </a:xfrm>
          <a:prstGeom prst="roundRect">
            <a:avLst>
              <a:gd name="adj" fmla="val 4444"/>
            </a:avLst>
          </a:prstGeom>
          <a:solidFill>
            <a:srgbClr val="FFFFFF">
              <a:alpha val="8000"/>
            </a:srgbClr>
          </a:solidFill>
          <a:ln w="12700">
            <a:solidFill>
              <a:srgbClr val="6C4FE0"/>
            </a:solidFill>
            <a:prstDash val="solid"/>
          </a:ln>
        </p:spPr>
      </p:sp>
      <p:pic>
        <p:nvPicPr>
          <p:cNvPr id="15" name="Image 2" descr="preencoded.png">    </p:cNvPr>
          <p:cNvPicPr>
            <a:picLocks noChangeAspect="1"/>
          </p:cNvPicPr>
          <p:nvPr/>
        </p:nvPicPr>
        <p:blipFill>
          <a:blip r:embed="rId3"/>
          <a:stretch>
            <a:fillRect/>
          </a:stretch>
        </p:blipFill>
        <p:spPr>
          <a:xfrm>
            <a:off x="8266176" y="2011680"/>
            <a:ext cx="658368" cy="658368"/>
          </a:xfrm>
          <a:prstGeom prst="rect">
            <a:avLst/>
          </a:prstGeom>
        </p:spPr>
      </p:pic>
      <p:sp>
        <p:nvSpPr>
          <p:cNvPr id="16" name="Text 11"/>
          <p:cNvSpPr/>
          <p:nvPr/>
        </p:nvSpPr>
        <p:spPr>
          <a:xfrm>
            <a:off x="8266176" y="2724912"/>
            <a:ext cx="288036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Bizzing Prep</a:t>
            </a:r>
            <a:endParaRPr lang="en-US" sz="1700" dirty="0"/>
          </a:p>
        </p:txBody>
      </p:sp>
      <p:sp>
        <p:nvSpPr>
          <p:cNvPr id="17" name="Text 12"/>
          <p:cNvSpPr/>
          <p:nvPr/>
        </p:nvSpPr>
        <p:spPr>
          <a:xfrm>
            <a:off x="8266176" y="3072384"/>
            <a:ext cx="2880360" cy="292608"/>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US gifted and selective entry</a:t>
            </a:r>
            <a:endParaRPr lang="en-US" sz="1050" dirty="0"/>
          </a:p>
        </p:txBody>
      </p:sp>
      <p:sp>
        <p:nvSpPr>
          <p:cNvPr id="18" name="Text 13"/>
          <p:cNvSpPr/>
          <p:nvPr/>
        </p:nvSpPr>
        <p:spPr>
          <a:xfrm>
            <a:off x="8266176" y="3383280"/>
            <a:ext cx="2880360" cy="1225296"/>
          </a:xfrm>
          <a:prstGeom prst="rect">
            <a:avLst/>
          </a:prstGeom>
          <a:noFill/>
          <a:ln/>
        </p:spPr>
        <p:txBody>
          <a:bodyPr wrap="square" lIns="0" tIns="0" rIns="0" bIns="0" rtlCol="0" anchor="ctr"/>
          <a:lstStyle/>
          <a:p>
            <a:pPr indent="0" marL="0">
              <a:lnSpc>
                <a:spcPts val="1300"/>
              </a:lnSpc>
              <a:buNone/>
            </a:pPr>
            <a:r>
              <a:rPr lang="en-US" sz="1000" dirty="0">
                <a:solidFill>
                  <a:srgbClr val="E3DCF2"/>
                </a:solidFill>
                <a:latin typeface="Calibri" pitchFamily="34" charset="0"/>
                <a:ea typeface="Calibri" pitchFamily="34" charset="-122"/>
                <a:cs typeface="Calibri" pitchFamily="34" charset="-120"/>
              </a:rPr>
              <a:t>CogAT, NNAT, OLSAT verbal and SHSAT vocabulary. The highest-anxiety, highest-spend segment in the US, and the incumbent products are poor. Sits beside Eleven and shares its item types.</a:t>
            </a:r>
            <a:endParaRPr lang="en-US" sz="1000" dirty="0"/>
          </a:p>
        </p:txBody>
      </p:sp>
      <p:sp>
        <p:nvSpPr>
          <p:cNvPr id="19" name="Shape 14"/>
          <p:cNvSpPr/>
          <p:nvPr/>
        </p:nvSpPr>
        <p:spPr>
          <a:xfrm>
            <a:off x="640080" y="4956048"/>
            <a:ext cx="10607040" cy="1170432"/>
          </a:xfrm>
          <a:prstGeom prst="roundRect">
            <a:avLst>
              <a:gd name="adj" fmla="val 9375"/>
            </a:avLst>
          </a:prstGeom>
          <a:solidFill>
            <a:srgbClr val="FFFFFF">
              <a:alpha val="6000"/>
            </a:srgbClr>
          </a:solidFill>
          <a:ln/>
        </p:spPr>
      </p:sp>
      <p:sp>
        <p:nvSpPr>
          <p:cNvPr id="20" name="Text 15"/>
          <p:cNvSpPr/>
          <p:nvPr/>
        </p:nvSpPr>
        <p:spPr>
          <a:xfrm>
            <a:off x="932688" y="5084064"/>
            <a:ext cx="4572000" cy="274320"/>
          </a:xfrm>
          <a:prstGeom prst="rect">
            <a:avLst/>
          </a:prstGeom>
          <a:noFill/>
          <a:ln/>
        </p:spPr>
        <p:txBody>
          <a:bodyPr wrap="square" lIns="0" tIns="0" rIns="0" bIns="0" rtlCol="0" anchor="ctr"/>
          <a:lstStyle/>
          <a:p>
            <a:pPr indent="0" marL="0">
              <a:buNone/>
            </a:pPr>
            <a:r>
              <a:rPr lang="en-US" sz="1000" b="1" spc="180" kern="0" dirty="0">
                <a:solidFill>
                  <a:srgbClr val="E8807A"/>
                </a:solidFill>
                <a:latin typeface="Calibri" pitchFamily="34" charset="0"/>
                <a:ea typeface="Calibri" pitchFamily="34" charset="-122"/>
                <a:cs typeface="Calibri" pitchFamily="34" charset="-120"/>
              </a:rPr>
              <a:t>Deliberately NOT building</a:t>
            </a:r>
            <a:endParaRPr lang="en-US" sz="1000" dirty="0"/>
          </a:p>
        </p:txBody>
      </p:sp>
      <p:sp>
        <p:nvSpPr>
          <p:cNvPr id="21" name="Text 16"/>
          <p:cNvSpPr/>
          <p:nvPr/>
        </p:nvSpPr>
        <p:spPr>
          <a:xfrm>
            <a:off x="932688" y="5394960"/>
            <a:ext cx="10012680" cy="64008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Coding · chess · music · dance. Every one has real diaspora demand, and every one needs a solver, a rating system or a live teacher. None of them reuses a single line of what has been built, and each would be a company of its own. Chess in particular is surging right now and is still the wrong answer for this house.</a:t>
            </a:r>
            <a:endParaRPr lang="en-US" sz="1150" dirty="0"/>
          </a:p>
        </p:txBody>
      </p:sp>
      <p:sp>
        <p:nvSpPr>
          <p:cNvPr id="22" name="Text 17"/>
          <p:cNvSpPr/>
          <p:nvPr/>
        </p:nvSpPr>
        <p:spPr>
          <a:xfrm>
            <a:off x="640080" y="6254496"/>
            <a:ext cx="10607040" cy="502920"/>
          </a:xfrm>
          <a:prstGeom prst="rect">
            <a:avLst/>
          </a:prstGeom>
          <a:noFill/>
          <a:ln/>
        </p:spPr>
        <p:txBody>
          <a:bodyPr wrap="square" lIns="0" tIns="0" rIns="0" bIns="0" rtlCol="0" anchor="ctr"/>
          <a:lstStyle/>
          <a:p>
            <a:pPr indent="0" marL="0">
              <a:buNone/>
            </a:pPr>
            <a:r>
              <a:rPr lang="en-US" sz="1350" i="1" dirty="0">
                <a:solidFill>
                  <a:srgbClr val="F0B429"/>
                </a:solidFill>
                <a:latin typeface="Cambria" pitchFamily="34" charset="0"/>
                <a:ea typeface="Cambria" pitchFamily="34" charset="-122"/>
                <a:cs typeface="Cambria" pitchFamily="34" charset="-120"/>
              </a:rPr>
              <a:t>The refusals are about ENGINE FIT, not ambition. Bizzing Business also needs people, and it is being built — because there the people ARE the product.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SEQUENCE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one: by milestone</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Nothing launches on a date. Each product unlocks when the one before it has proved something specific.</a:t>
            </a:r>
            <a:endParaRPr lang="en-US" sz="1450" dirty="0"/>
          </a:p>
        </p:txBody>
      </p:sp>
      <p:sp>
        <p:nvSpPr>
          <p:cNvPr id="5" name="Shape 3"/>
          <p:cNvSpPr/>
          <p:nvPr/>
        </p:nvSpPr>
        <p:spPr>
          <a:xfrm>
            <a:off x="1901952" y="2788920"/>
            <a:ext cx="8174736" cy="0"/>
          </a:xfrm>
          <a:prstGeom prst="line">
            <a:avLst/>
          </a:prstGeom>
          <a:noFill/>
          <a:ln w="38100">
            <a:solidFill>
              <a:srgbClr val="E3DCF2"/>
            </a:solidFill>
            <a:prstDash val="solid"/>
          </a:ln>
        </p:spPr>
      </p:sp>
      <p:sp>
        <p:nvSpPr>
          <p:cNvPr id="6" name="Shape 4"/>
          <p:cNvSpPr/>
          <p:nvPr/>
        </p:nvSpPr>
        <p:spPr>
          <a:xfrm rot="5400000">
            <a:off x="1645920" y="2532888"/>
            <a:ext cx="512064" cy="512064"/>
          </a:xfrm>
          <a:prstGeom prst="hexagon">
            <a:avLst/>
          </a:prstGeom>
          <a:solidFill>
            <a:srgbClr val="178A4C"/>
          </a:solidFill>
          <a:ln w="31750">
            <a:solidFill>
              <a:srgbClr val="FFFFFF"/>
            </a:solidFill>
            <a:prstDash val="solid"/>
          </a:ln>
        </p:spPr>
      </p:sp>
      <p:sp>
        <p:nvSpPr>
          <p:cNvPr id="7" name="Text 5"/>
          <p:cNvSpPr/>
          <p:nvPr/>
        </p:nvSpPr>
        <p:spPr>
          <a:xfrm>
            <a:off x="640080"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178A4C"/>
                </a:solidFill>
                <a:latin typeface="Calibri" pitchFamily="34" charset="0"/>
                <a:ea typeface="Calibri" pitchFamily="34" charset="-122"/>
                <a:cs typeface="Calibri" pitchFamily="34" charset="-120"/>
              </a:rPr>
              <a:t>NOW</a:t>
            </a:r>
            <a:endParaRPr lang="en-US" sz="950" dirty="0"/>
          </a:p>
        </p:txBody>
      </p:sp>
      <p:sp>
        <p:nvSpPr>
          <p:cNvPr id="8" name="Shape 6"/>
          <p:cNvSpPr/>
          <p:nvPr/>
        </p:nvSpPr>
        <p:spPr>
          <a:xfrm>
            <a:off x="640080" y="3310128"/>
            <a:ext cx="2523744" cy="2340864"/>
          </a:xfrm>
          <a:prstGeom prst="roundRect">
            <a:avLst>
              <a:gd name="adj" fmla="val 5469"/>
            </a:avLst>
          </a:prstGeom>
          <a:solidFill>
            <a:srgbClr val="EFEBF8"/>
          </a:solidFill>
          <a:ln/>
          <a:effectLst>
            <a:outerShdw sx="100000" sy="100000" kx="0" ky="0" algn="bl" rotWithShape="0" blurRad="127000" dist="25400" dir="5400000">
              <a:srgbClr val="241E33">
                <a:alpha val="10000"/>
              </a:srgbClr>
            </a:outerShdw>
          </a:effectLst>
        </p:spPr>
      </p:sp>
      <p:sp>
        <p:nvSpPr>
          <p:cNvPr id="9" name="Text 7"/>
          <p:cNvSpPr/>
          <p:nvPr/>
        </p:nvSpPr>
        <p:spPr>
          <a:xfrm>
            <a:off x="841248"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Bizzing Bee</a:t>
            </a:r>
            <a:endParaRPr lang="en-US" sz="1450" dirty="0"/>
          </a:p>
        </p:txBody>
      </p:sp>
      <p:sp>
        <p:nvSpPr>
          <p:cNvPr id="10" name="Text 8"/>
          <p:cNvSpPr/>
          <p:nvPr/>
        </p:nvSpPr>
        <p:spPr>
          <a:xfrm>
            <a:off x="841248"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Spelling, live</a:t>
            </a:r>
            <a:endParaRPr lang="en-US" sz="950" dirty="0"/>
          </a:p>
        </p:txBody>
      </p:sp>
      <p:sp>
        <p:nvSpPr>
          <p:cNvPr id="11" name="Text 9"/>
          <p:cNvSpPr/>
          <p:nvPr/>
        </p:nvSpPr>
        <p:spPr>
          <a:xfrm>
            <a:off x="841248"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The wedge. Free app, paid packs, the YouTube channel feeding it.</a:t>
            </a:r>
            <a:endParaRPr lang="en-US" sz="950" dirty="0"/>
          </a:p>
        </p:txBody>
      </p:sp>
      <p:sp>
        <p:nvSpPr>
          <p:cNvPr id="12" name="Shape 10"/>
          <p:cNvSpPr/>
          <p:nvPr/>
        </p:nvSpPr>
        <p:spPr>
          <a:xfrm rot="5400000">
            <a:off x="4370832" y="2532888"/>
            <a:ext cx="512064" cy="512064"/>
          </a:xfrm>
          <a:prstGeom prst="hexagon">
            <a:avLst/>
          </a:prstGeom>
          <a:solidFill>
            <a:srgbClr val="F0B429"/>
          </a:solidFill>
          <a:ln w="31750">
            <a:solidFill>
              <a:srgbClr val="FFFFFF"/>
            </a:solidFill>
            <a:prstDash val="solid"/>
          </a:ln>
        </p:spPr>
      </p:sp>
      <p:sp>
        <p:nvSpPr>
          <p:cNvPr id="13" name="Text 11"/>
          <p:cNvSpPr/>
          <p:nvPr/>
        </p:nvSpPr>
        <p:spPr>
          <a:xfrm>
            <a:off x="3364992"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8A5B00"/>
                </a:solidFill>
                <a:latin typeface="Calibri" pitchFamily="34" charset="0"/>
                <a:ea typeface="Calibri" pitchFamily="34" charset="-122"/>
                <a:cs typeface="Calibri" pitchFamily="34" charset="-120"/>
              </a:rPr>
              <a:t>GATE 1</a:t>
            </a:r>
            <a:endParaRPr lang="en-US" sz="950" dirty="0"/>
          </a:p>
        </p:txBody>
      </p:sp>
      <p:sp>
        <p:nvSpPr>
          <p:cNvPr id="14" name="Shape 12"/>
          <p:cNvSpPr/>
          <p:nvPr/>
        </p:nvSpPr>
        <p:spPr>
          <a:xfrm>
            <a:off x="3364992"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15" name="Shape 13"/>
          <p:cNvSpPr/>
          <p:nvPr/>
        </p:nvSpPr>
        <p:spPr>
          <a:xfrm>
            <a:off x="3364992" y="3310128"/>
            <a:ext cx="2523744" cy="2340864"/>
          </a:xfrm>
          <a:prstGeom prst="roundRect">
            <a:avLst>
              <a:gd name="adj" fmla="val 5469"/>
            </a:avLst>
          </a:prstGeom>
          <a:solidFill>
            <a:srgbClr val="FFFFFF"/>
          </a:solidFill>
          <a:ln w="15875">
            <a:solidFill>
              <a:srgbClr val="E3DCF2"/>
            </a:solidFill>
            <a:prstDash val="solid"/>
          </a:ln>
        </p:spPr>
      </p:sp>
      <p:sp>
        <p:nvSpPr>
          <p:cNvPr id="16" name="Text 14"/>
          <p:cNvSpPr/>
          <p:nvPr/>
        </p:nvSpPr>
        <p:spPr>
          <a:xfrm>
            <a:off x="3566160"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India + Bhasha + Quiz</a:t>
            </a:r>
            <a:endParaRPr lang="en-US" sz="1450" dirty="0"/>
          </a:p>
        </p:txBody>
      </p:sp>
      <p:sp>
        <p:nvSpPr>
          <p:cNvPr id="17" name="Text 15"/>
          <p:cNvSpPr/>
          <p:nvPr/>
        </p:nvSpPr>
        <p:spPr>
          <a:xfrm>
            <a:off x="3566160"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Culture free, language paid</a:t>
            </a:r>
            <a:endParaRPr lang="en-US" sz="950" dirty="0"/>
          </a:p>
        </p:txBody>
      </p:sp>
      <p:sp>
        <p:nvSpPr>
          <p:cNvPr id="18" name="Text 16"/>
          <p:cNvSpPr/>
          <p:nvPr/>
        </p:nvSpPr>
        <p:spPr>
          <a:xfrm>
            <a:off x="3566160"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Bee shows a repeatable way to acquire a family and keep them past the first month. Quiz rides along — its 31k questions already exist.</a:t>
            </a:r>
            <a:endParaRPr lang="en-US" sz="950" dirty="0"/>
          </a:p>
        </p:txBody>
      </p:sp>
      <p:sp>
        <p:nvSpPr>
          <p:cNvPr id="19" name="Shape 17"/>
          <p:cNvSpPr/>
          <p:nvPr/>
        </p:nvSpPr>
        <p:spPr>
          <a:xfrm rot="5400000">
            <a:off x="7095744" y="2532888"/>
            <a:ext cx="512064" cy="512064"/>
          </a:xfrm>
          <a:prstGeom prst="hexagon">
            <a:avLst/>
          </a:prstGeom>
          <a:solidFill>
            <a:srgbClr val="6C4FE0"/>
          </a:solidFill>
          <a:ln w="31750">
            <a:solidFill>
              <a:srgbClr val="FFFFFF"/>
            </a:solidFill>
            <a:prstDash val="solid"/>
          </a:ln>
        </p:spPr>
      </p:sp>
      <p:sp>
        <p:nvSpPr>
          <p:cNvPr id="20" name="Text 18"/>
          <p:cNvSpPr/>
          <p:nvPr/>
        </p:nvSpPr>
        <p:spPr>
          <a:xfrm>
            <a:off x="6089904"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2</a:t>
            </a:r>
            <a:endParaRPr lang="en-US" sz="950" dirty="0"/>
          </a:p>
        </p:txBody>
      </p:sp>
      <p:sp>
        <p:nvSpPr>
          <p:cNvPr id="21" name="Shape 19"/>
          <p:cNvSpPr/>
          <p:nvPr/>
        </p:nvSpPr>
        <p:spPr>
          <a:xfrm>
            <a:off x="6089904"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2" name="Shape 20"/>
          <p:cNvSpPr/>
          <p:nvPr/>
        </p:nvSpPr>
        <p:spPr>
          <a:xfrm>
            <a:off x="6089904" y="3310128"/>
            <a:ext cx="2523744" cy="2340864"/>
          </a:xfrm>
          <a:prstGeom prst="roundRect">
            <a:avLst>
              <a:gd name="adj" fmla="val 5469"/>
            </a:avLst>
          </a:prstGeom>
          <a:solidFill>
            <a:srgbClr val="FFFFFF"/>
          </a:solidFill>
          <a:ln w="15875">
            <a:solidFill>
              <a:srgbClr val="E3DCF2"/>
            </a:solidFill>
            <a:prstDash val="solid"/>
          </a:ln>
        </p:spPr>
      </p:sp>
      <p:sp>
        <p:nvSpPr>
          <p:cNvPr id="23" name="Text 21"/>
          <p:cNvSpPr/>
          <p:nvPr/>
        </p:nvSpPr>
        <p:spPr>
          <a:xfrm>
            <a:off x="6291072"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Eleven, then Prep</a:t>
            </a:r>
            <a:endParaRPr lang="en-US" sz="1450" dirty="0"/>
          </a:p>
        </p:txBody>
      </p:sp>
      <p:sp>
        <p:nvSpPr>
          <p:cNvPr id="24" name="Text 22"/>
          <p:cNvSpPr/>
          <p:nvPr/>
        </p:nvSpPr>
        <p:spPr>
          <a:xfrm>
            <a:off x="6291072"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Exam verbal reasoning</a:t>
            </a:r>
            <a:endParaRPr lang="en-US" sz="950" dirty="0"/>
          </a:p>
        </p:txBody>
      </p:sp>
      <p:sp>
        <p:nvSpPr>
          <p:cNvPr id="25" name="Text 23"/>
          <p:cNvSpPr/>
          <p:nvPr/>
        </p:nvSpPr>
        <p:spPr>
          <a:xfrm>
            <a:off x="6291072"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Unlocks when a second paid pack proves families will buy more than one thing from us. Near-total engine reuse, so the cost is content, not build.</a:t>
            </a:r>
            <a:endParaRPr lang="en-US" sz="950" dirty="0"/>
          </a:p>
        </p:txBody>
      </p:sp>
      <p:sp>
        <p:nvSpPr>
          <p:cNvPr id="26" name="Shape 24"/>
          <p:cNvSpPr/>
          <p:nvPr/>
        </p:nvSpPr>
        <p:spPr>
          <a:xfrm rot="5400000">
            <a:off x="9820656" y="2532888"/>
            <a:ext cx="512064" cy="512064"/>
          </a:xfrm>
          <a:prstGeom prst="hexagon">
            <a:avLst/>
          </a:prstGeom>
          <a:solidFill>
            <a:srgbClr val="6C4FE0"/>
          </a:solidFill>
          <a:ln w="31750">
            <a:solidFill>
              <a:srgbClr val="FFFFFF"/>
            </a:solidFill>
            <a:prstDash val="solid"/>
          </a:ln>
        </p:spPr>
      </p:sp>
      <p:sp>
        <p:nvSpPr>
          <p:cNvPr id="27" name="Text 25"/>
          <p:cNvSpPr/>
          <p:nvPr/>
        </p:nvSpPr>
        <p:spPr>
          <a:xfrm>
            <a:off x="8814816" y="2103120"/>
            <a:ext cx="2523744" cy="274320"/>
          </a:xfrm>
          <a:prstGeom prst="rect">
            <a:avLst/>
          </a:prstGeom>
          <a:noFill/>
          <a:ln/>
        </p:spPr>
        <p:txBody>
          <a:bodyPr wrap="square" lIns="0" tIns="0" rIns="0" bIns="0" rtlCol="0" anchor="ctr"/>
          <a:lstStyle/>
          <a:p>
            <a:pPr algn="ctr" indent="0" marL="0">
              <a:buNone/>
            </a:pPr>
            <a:r>
              <a:rPr lang="en-US" sz="950" b="1" spc="160" kern="0" dirty="0">
                <a:solidFill>
                  <a:srgbClr val="6C4FE0"/>
                </a:solidFill>
                <a:latin typeface="Calibri" pitchFamily="34" charset="0"/>
                <a:ea typeface="Calibri" pitchFamily="34" charset="-122"/>
                <a:cs typeface="Calibri" pitchFamily="34" charset="-120"/>
              </a:rPr>
              <a:t>GATE 3</a:t>
            </a:r>
            <a:endParaRPr lang="en-US" sz="950" dirty="0"/>
          </a:p>
        </p:txBody>
      </p:sp>
      <p:sp>
        <p:nvSpPr>
          <p:cNvPr id="28" name="Shape 26"/>
          <p:cNvSpPr/>
          <p:nvPr/>
        </p:nvSpPr>
        <p:spPr>
          <a:xfrm>
            <a:off x="8814816" y="3310128"/>
            <a:ext cx="2523744" cy="2340864"/>
          </a:xfrm>
          <a:prstGeom prst="roundRect">
            <a:avLst>
              <a:gd name="adj" fmla="val 5469"/>
            </a:avLst>
          </a:prstGeom>
          <a:solidFill>
            <a:srgbClr val="FFFFFF"/>
          </a:solidFill>
          <a:ln/>
          <a:effectLst>
            <a:outerShdw sx="100000" sy="100000" kx="0" ky="0" algn="bl" rotWithShape="0" blurRad="127000" dist="25400" dir="5400000">
              <a:srgbClr val="241E33">
                <a:alpha val="10000"/>
              </a:srgbClr>
            </a:outerShdw>
          </a:effectLst>
        </p:spPr>
      </p:sp>
      <p:sp>
        <p:nvSpPr>
          <p:cNvPr id="29" name="Shape 27"/>
          <p:cNvSpPr/>
          <p:nvPr/>
        </p:nvSpPr>
        <p:spPr>
          <a:xfrm>
            <a:off x="8814816" y="3310128"/>
            <a:ext cx="2523744" cy="2340864"/>
          </a:xfrm>
          <a:prstGeom prst="roundRect">
            <a:avLst>
              <a:gd name="adj" fmla="val 5469"/>
            </a:avLst>
          </a:prstGeom>
          <a:solidFill>
            <a:srgbClr val="FFFFFF"/>
          </a:solidFill>
          <a:ln w="15875">
            <a:solidFill>
              <a:srgbClr val="E3DCF2"/>
            </a:solidFill>
            <a:prstDash val="solid"/>
          </a:ln>
        </p:spPr>
      </p:sp>
      <p:sp>
        <p:nvSpPr>
          <p:cNvPr id="30" name="Text 28"/>
          <p:cNvSpPr/>
          <p:nvPr/>
        </p:nvSpPr>
        <p:spPr>
          <a:xfrm>
            <a:off x="9015984" y="3474720"/>
            <a:ext cx="2121408" cy="548640"/>
          </a:xfrm>
          <a:prstGeom prst="rect">
            <a:avLst/>
          </a:prstGeom>
          <a:noFill/>
          <a:ln/>
        </p:spPr>
        <p:txBody>
          <a:bodyPr wrap="square" lIns="0" tIns="0" rIns="0" bIns="0" rtlCol="0" anchor="ctr"/>
          <a:lstStyle/>
          <a:p>
            <a:pPr indent="0" marL="0">
              <a:buNone/>
            </a:pPr>
            <a:r>
              <a:rPr lang="en-US" sz="1450" b="1" dirty="0">
                <a:solidFill>
                  <a:srgbClr val="241E33"/>
                </a:solidFill>
                <a:latin typeface="Cambria" pitchFamily="34" charset="0"/>
                <a:ea typeface="Cambria" pitchFamily="34" charset="-122"/>
                <a:cs typeface="Cambria" pitchFamily="34" charset="-120"/>
              </a:rPr>
              <a:t>Both ends of the range</a:t>
            </a:r>
            <a:endParaRPr lang="en-US" sz="1450" dirty="0"/>
          </a:p>
        </p:txBody>
      </p:sp>
      <p:sp>
        <p:nvSpPr>
          <p:cNvPr id="31" name="Text 29"/>
          <p:cNvSpPr/>
          <p:nvPr/>
        </p:nvSpPr>
        <p:spPr>
          <a:xfrm>
            <a:off x="9015984" y="4023360"/>
            <a:ext cx="2121408" cy="402336"/>
          </a:xfrm>
          <a:prstGeom prst="rect">
            <a:avLst/>
          </a:prstGeom>
          <a:noFill/>
          <a:ln/>
        </p:spPr>
        <p:txBody>
          <a:bodyPr wrap="square" lIns="0" tIns="0" rIns="0" bIns="0" rtlCol="0" anchor="ctr"/>
          <a:lstStyle/>
          <a:p>
            <a:pPr indent="0" marL="0">
              <a:lnSpc>
                <a:spcPts val="1200"/>
              </a:lnSpc>
              <a:buNone/>
            </a:pPr>
            <a:r>
              <a:rPr lang="en-US" sz="950" b="1" dirty="0">
                <a:solidFill>
                  <a:srgbClr val="4A31B0"/>
                </a:solidFill>
                <a:latin typeface="Calibri" pitchFamily="34" charset="0"/>
                <a:ea typeface="Calibri" pitchFamily="34" charset="-122"/>
                <a:cs typeface="Calibri" pitchFamily="34" charset="-120"/>
              </a:rPr>
              <a:t>Buzz · Speak · English · Maths · Finance</a:t>
            </a:r>
            <a:endParaRPr lang="en-US" sz="950" dirty="0"/>
          </a:p>
        </p:txBody>
      </p:sp>
      <p:sp>
        <p:nvSpPr>
          <p:cNvPr id="32" name="Text 30"/>
          <p:cNvSpPr/>
          <p:nvPr/>
        </p:nvSpPr>
        <p:spPr>
          <a:xfrm>
            <a:off x="9015984" y="4425696"/>
            <a:ext cx="2121408" cy="1133856"/>
          </a:xfrm>
          <a:prstGeom prst="rect">
            <a:avLst/>
          </a:prstGeom>
          <a:noFill/>
          <a:ln/>
        </p:spPr>
        <p:txBody>
          <a:bodyPr wrap="square" lIns="0" tIns="0" rIns="0" bIns="0" rtlCol="0" anchor="ctr"/>
          <a:lstStyle/>
          <a:p>
            <a:pPr indent="0" marL="0">
              <a:lnSpc>
                <a:spcPts val="1350"/>
              </a:lnSpc>
              <a:buNone/>
            </a:pPr>
            <a:r>
              <a:rPr lang="en-US" sz="950" dirty="0">
                <a:solidFill>
                  <a:srgbClr val="4A4360"/>
                </a:solidFill>
                <a:latin typeface="Calibri" pitchFamily="34" charset="0"/>
                <a:ea typeface="Calibri" pitchFamily="34" charset="-122"/>
                <a:cs typeface="Calibri" pitchFamily="34" charset="-120"/>
              </a:rPr>
              <a:t>Closes the 4–6 and 12–16 gaps, once households run more than one product on one account. Business is the exception — its mentor bench takes so long to build that recruiting starts back at Gate 1.</a:t>
            </a:r>
            <a:endParaRPr lang="en-US" sz="950" dirty="0"/>
          </a:p>
        </p:txBody>
      </p:sp>
      <p:sp>
        <p:nvSpPr>
          <p:cNvPr id="33" name="Text 31"/>
          <p:cNvSpPr/>
          <p:nvPr/>
        </p:nvSpPr>
        <p:spPr>
          <a:xfrm>
            <a:off x="640080" y="5742432"/>
            <a:ext cx="10607040" cy="457200"/>
          </a:xfrm>
          <a:prstGeom prst="rect">
            <a:avLst/>
          </a:prstGeom>
          <a:noFill/>
          <a:ln/>
        </p:spPr>
        <p:txBody>
          <a:bodyPr wrap="square" lIns="0" tIns="0" rIns="0" bIns="0" rtlCol="0" anchor="ctr"/>
          <a:lstStyle/>
          <a:p>
            <a:pPr indent="0" marL="0">
              <a:buNone/>
            </a:pPr>
            <a:r>
              <a:rPr lang="en-US" sz="1250" i="1" dirty="0">
                <a:solidFill>
                  <a:srgbClr val="7A7291"/>
                </a:solidFill>
                <a:latin typeface="Calibri" pitchFamily="34" charset="0"/>
                <a:ea typeface="Calibri" pitchFamily="34" charset="-122"/>
                <a:cs typeface="Calibri" pitchFamily="34" charset="-120"/>
              </a:rPr>
              <a:t>Gates are written as proofs, not targets — the numbers behind each are the CMO’s. Nothing at Gate 3 starts until Gate 2 has paid for itself.</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COVERAGE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Roadmap, view two: by the age of the child</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A family with three children is with Bizzing from the first child at four to the last at sixteen. The gaps are where we hand them back.</a:t>
            </a:r>
            <a:endParaRPr lang="en-US" sz="1450" dirty="0"/>
          </a:p>
        </p:txBody>
      </p:sp>
      <p:sp>
        <p:nvSpPr>
          <p:cNvPr id="5" name="Shape 3"/>
          <p:cNvSpPr/>
          <p:nvPr/>
        </p:nvSpPr>
        <p:spPr>
          <a:xfrm>
            <a:off x="640080" y="2011680"/>
            <a:ext cx="2011680" cy="566928"/>
          </a:xfrm>
          <a:prstGeom prst="roundRect">
            <a:avLst>
              <a:gd name="adj" fmla="val 19355"/>
            </a:avLst>
          </a:prstGeom>
          <a:solidFill>
            <a:srgbClr val="241E33"/>
          </a:solidFill>
          <a:ln/>
        </p:spPr>
      </p:sp>
      <p:sp>
        <p:nvSpPr>
          <p:cNvPr id="6" name="Text 4"/>
          <p:cNvSpPr/>
          <p:nvPr/>
        </p:nvSpPr>
        <p:spPr>
          <a:xfrm>
            <a:off x="640080"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4–6</a:t>
            </a:r>
            <a:endParaRPr lang="en-US" sz="1900" dirty="0"/>
          </a:p>
        </p:txBody>
      </p:sp>
      <p:sp>
        <p:nvSpPr>
          <p:cNvPr id="7" name="Text 5"/>
          <p:cNvSpPr/>
          <p:nvPr/>
        </p:nvSpPr>
        <p:spPr>
          <a:xfrm>
            <a:off x="731520"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Letters, sounds,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words</a:t>
            </a:r>
            <a:endParaRPr lang="en-US" sz="1150" dirty="0"/>
          </a:p>
        </p:txBody>
      </p:sp>
      <p:sp>
        <p:nvSpPr>
          <p:cNvPr id="8" name="Shape 6"/>
          <p:cNvSpPr/>
          <p:nvPr/>
        </p:nvSpPr>
        <p:spPr>
          <a:xfrm>
            <a:off x="731520" y="3346704"/>
            <a:ext cx="1828800" cy="274320"/>
          </a:xfrm>
          <a:prstGeom prst="roundRect">
            <a:avLst>
              <a:gd name="adj" fmla="val 50000"/>
            </a:avLst>
          </a:prstGeom>
          <a:solidFill>
            <a:srgbClr val="C4453C"/>
          </a:solidFill>
          <a:ln/>
        </p:spPr>
      </p:sp>
      <p:sp>
        <p:nvSpPr>
          <p:cNvPr id="9" name="Text 7"/>
          <p:cNvSpPr/>
          <p:nvPr/>
        </p:nvSpPr>
        <p:spPr>
          <a:xfrm>
            <a:off x="731520"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10" name="Text 8"/>
          <p:cNvSpPr/>
          <p:nvPr/>
        </p:nvSpPr>
        <p:spPr>
          <a:xfrm>
            <a:off x="731520"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Buzz — to build</a:t>
            </a:r>
            <a:endParaRPr lang="en-US" sz="1000" dirty="0"/>
          </a:p>
        </p:txBody>
      </p:sp>
      <p:sp>
        <p:nvSpPr>
          <p:cNvPr id="11" name="Text 9"/>
          <p:cNvSpPr/>
          <p:nvPr/>
        </p:nvSpPr>
        <p:spPr>
          <a:xfrm>
            <a:off x="731520"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Bizzing Buzz. Audio and pictures, because the child cannot read the interface. The voice library transfers; the reading-free UI does not exist yet.</a:t>
            </a:r>
            <a:endParaRPr lang="en-US" sz="1000" dirty="0"/>
          </a:p>
        </p:txBody>
      </p:sp>
      <p:sp>
        <p:nvSpPr>
          <p:cNvPr id="12" name="Shape 10"/>
          <p:cNvSpPr/>
          <p:nvPr/>
        </p:nvSpPr>
        <p:spPr>
          <a:xfrm>
            <a:off x="2852928" y="2011680"/>
            <a:ext cx="2011680" cy="566928"/>
          </a:xfrm>
          <a:prstGeom prst="roundRect">
            <a:avLst>
              <a:gd name="adj" fmla="val 19355"/>
            </a:avLst>
          </a:prstGeom>
          <a:solidFill>
            <a:srgbClr val="241E33"/>
          </a:solidFill>
          <a:ln/>
        </p:spPr>
      </p:sp>
      <p:sp>
        <p:nvSpPr>
          <p:cNvPr id="13" name="Text 11"/>
          <p:cNvSpPr/>
          <p:nvPr/>
        </p:nvSpPr>
        <p:spPr>
          <a:xfrm>
            <a:off x="2852928"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6–8</a:t>
            </a:r>
            <a:endParaRPr lang="en-US" sz="1900" dirty="0"/>
          </a:p>
        </p:txBody>
      </p:sp>
      <p:sp>
        <p:nvSpPr>
          <p:cNvPr id="14" name="Text 12"/>
          <p:cNvSpPr/>
          <p:nvPr/>
        </p:nvSpPr>
        <p:spPr>
          <a:xfrm>
            <a:off x="2944368"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Reading fluency,</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first spelling</a:t>
            </a:r>
            <a:endParaRPr lang="en-US" sz="1150" dirty="0"/>
          </a:p>
        </p:txBody>
      </p:sp>
      <p:sp>
        <p:nvSpPr>
          <p:cNvPr id="15" name="Shape 13"/>
          <p:cNvSpPr/>
          <p:nvPr/>
        </p:nvSpPr>
        <p:spPr>
          <a:xfrm>
            <a:off x="2944368" y="3346704"/>
            <a:ext cx="1828800" cy="274320"/>
          </a:xfrm>
          <a:prstGeom prst="roundRect">
            <a:avLst>
              <a:gd name="adj" fmla="val 50000"/>
            </a:avLst>
          </a:prstGeom>
          <a:solidFill>
            <a:srgbClr val="F0B429"/>
          </a:solidFill>
          <a:ln/>
        </p:spPr>
      </p:sp>
      <p:sp>
        <p:nvSpPr>
          <p:cNvPr id="16" name="Text 14"/>
          <p:cNvSpPr/>
          <p:nvPr/>
        </p:nvSpPr>
        <p:spPr>
          <a:xfrm>
            <a:off x="2944368" y="3346704"/>
            <a:ext cx="182880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PARTIAL</a:t>
            </a:r>
            <a:endParaRPr lang="en-US" sz="800" dirty="0"/>
          </a:p>
        </p:txBody>
      </p:sp>
      <p:sp>
        <p:nvSpPr>
          <p:cNvPr id="17" name="Text 15"/>
          <p:cNvSpPr/>
          <p:nvPr/>
        </p:nvSpPr>
        <p:spPr>
          <a:xfrm>
            <a:off x="2944368"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entry · Buzz · English</a:t>
            </a:r>
            <a:endParaRPr lang="en-US" sz="1000" dirty="0"/>
          </a:p>
        </p:txBody>
      </p:sp>
      <p:sp>
        <p:nvSpPr>
          <p:cNvPr id="18" name="Text 16"/>
          <p:cNvSpPr/>
          <p:nvPr/>
        </p:nvSpPr>
        <p:spPr>
          <a:xfrm>
            <a:off x="2944368"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Bee starts too hard for most six-year-olds. Buzz→Bee is the bridge, and it is the strongest retention story in the house.</a:t>
            </a:r>
            <a:endParaRPr lang="en-US" sz="1000" dirty="0"/>
          </a:p>
        </p:txBody>
      </p:sp>
      <p:sp>
        <p:nvSpPr>
          <p:cNvPr id="19" name="Shape 17"/>
          <p:cNvSpPr/>
          <p:nvPr/>
        </p:nvSpPr>
        <p:spPr>
          <a:xfrm>
            <a:off x="5065776" y="2011680"/>
            <a:ext cx="2011680" cy="566928"/>
          </a:xfrm>
          <a:prstGeom prst="roundRect">
            <a:avLst>
              <a:gd name="adj" fmla="val 19355"/>
            </a:avLst>
          </a:prstGeom>
          <a:solidFill>
            <a:srgbClr val="241E33"/>
          </a:solidFill>
          <a:ln/>
        </p:spPr>
      </p:sp>
      <p:sp>
        <p:nvSpPr>
          <p:cNvPr id="20" name="Text 18"/>
          <p:cNvSpPr/>
          <p:nvPr/>
        </p:nvSpPr>
        <p:spPr>
          <a:xfrm>
            <a:off x="5065776"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8–10</a:t>
            </a:r>
            <a:endParaRPr lang="en-US" sz="1900" dirty="0"/>
          </a:p>
        </p:txBody>
      </p:sp>
      <p:sp>
        <p:nvSpPr>
          <p:cNvPr id="21" name="Text 19"/>
          <p:cNvSpPr/>
          <p:nvPr/>
        </p:nvSpPr>
        <p:spPr>
          <a:xfrm>
            <a:off x="5157216"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Spelling bee,</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vocabulary, GK</a:t>
            </a:r>
            <a:endParaRPr lang="en-US" sz="1150" dirty="0"/>
          </a:p>
        </p:txBody>
      </p:sp>
      <p:sp>
        <p:nvSpPr>
          <p:cNvPr id="22" name="Shape 20"/>
          <p:cNvSpPr/>
          <p:nvPr/>
        </p:nvSpPr>
        <p:spPr>
          <a:xfrm>
            <a:off x="5157216" y="3346704"/>
            <a:ext cx="1828800" cy="274320"/>
          </a:xfrm>
          <a:prstGeom prst="roundRect">
            <a:avLst>
              <a:gd name="adj" fmla="val 50000"/>
            </a:avLst>
          </a:prstGeom>
          <a:solidFill>
            <a:srgbClr val="178A4C"/>
          </a:solidFill>
          <a:ln/>
        </p:spPr>
      </p:sp>
      <p:sp>
        <p:nvSpPr>
          <p:cNvPr id="23" name="Text 21"/>
          <p:cNvSpPr/>
          <p:nvPr/>
        </p:nvSpPr>
        <p:spPr>
          <a:xfrm>
            <a:off x="5157216"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24" name="Text 22"/>
          <p:cNvSpPr/>
          <p:nvPr/>
        </p:nvSpPr>
        <p:spPr>
          <a:xfrm>
            <a:off x="5157216"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India · Quiz · Maths</a:t>
            </a:r>
            <a:endParaRPr lang="en-US" sz="1000" dirty="0"/>
          </a:p>
        </p:txBody>
      </p:sp>
      <p:sp>
        <p:nvSpPr>
          <p:cNvPr id="25" name="Text 23"/>
          <p:cNvSpPr/>
          <p:nvPr/>
        </p:nvSpPr>
        <p:spPr>
          <a:xfrm>
            <a:off x="5157216"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core. Everything built so far lands squarely here, and this is where the bee community lives.</a:t>
            </a:r>
            <a:endParaRPr lang="en-US" sz="1000" dirty="0"/>
          </a:p>
        </p:txBody>
      </p:sp>
      <p:sp>
        <p:nvSpPr>
          <p:cNvPr id="26" name="Shape 24"/>
          <p:cNvSpPr/>
          <p:nvPr/>
        </p:nvSpPr>
        <p:spPr>
          <a:xfrm>
            <a:off x="7278624" y="2011680"/>
            <a:ext cx="2011680" cy="566928"/>
          </a:xfrm>
          <a:prstGeom prst="roundRect">
            <a:avLst>
              <a:gd name="adj" fmla="val 19355"/>
            </a:avLst>
          </a:prstGeom>
          <a:solidFill>
            <a:srgbClr val="241E33"/>
          </a:solidFill>
          <a:ln/>
        </p:spPr>
      </p:sp>
      <p:sp>
        <p:nvSpPr>
          <p:cNvPr id="27" name="Text 25"/>
          <p:cNvSpPr/>
          <p:nvPr/>
        </p:nvSpPr>
        <p:spPr>
          <a:xfrm>
            <a:off x="7278624"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10–12</a:t>
            </a:r>
            <a:endParaRPr lang="en-US" sz="1900" dirty="0"/>
          </a:p>
        </p:txBody>
      </p:sp>
      <p:sp>
        <p:nvSpPr>
          <p:cNvPr id="28" name="Text 26"/>
          <p:cNvSpPr/>
          <p:nvPr/>
        </p:nvSpPr>
        <p:spPr>
          <a:xfrm>
            <a:off x="7370064"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Peak bee, 11+,</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gifted testing</a:t>
            </a:r>
            <a:endParaRPr lang="en-US" sz="1150" dirty="0"/>
          </a:p>
        </p:txBody>
      </p:sp>
      <p:sp>
        <p:nvSpPr>
          <p:cNvPr id="29" name="Shape 27"/>
          <p:cNvSpPr/>
          <p:nvPr/>
        </p:nvSpPr>
        <p:spPr>
          <a:xfrm>
            <a:off x="7370064" y="3346704"/>
            <a:ext cx="1828800" cy="274320"/>
          </a:xfrm>
          <a:prstGeom prst="roundRect">
            <a:avLst>
              <a:gd name="adj" fmla="val 50000"/>
            </a:avLst>
          </a:prstGeom>
          <a:solidFill>
            <a:srgbClr val="178A4C"/>
          </a:solidFill>
          <a:ln/>
        </p:spPr>
      </p:sp>
      <p:sp>
        <p:nvSpPr>
          <p:cNvPr id="30" name="Text 28"/>
          <p:cNvSpPr/>
          <p:nvPr/>
        </p:nvSpPr>
        <p:spPr>
          <a:xfrm>
            <a:off x="7370064"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COVERED</a:t>
            </a:r>
            <a:endParaRPr lang="en-US" sz="800" dirty="0"/>
          </a:p>
        </p:txBody>
      </p:sp>
      <p:sp>
        <p:nvSpPr>
          <p:cNvPr id="31" name="Text 29"/>
          <p:cNvSpPr/>
          <p:nvPr/>
        </p:nvSpPr>
        <p:spPr>
          <a:xfrm>
            <a:off x="7370064"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Bee · Eleven · Prep</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Bhasha · English</a:t>
            </a:r>
            <a:endParaRPr lang="en-US" sz="1000" dirty="0"/>
          </a:p>
        </p:txBody>
      </p:sp>
      <p:sp>
        <p:nvSpPr>
          <p:cNvPr id="32" name="Text 30"/>
          <p:cNvSpPr/>
          <p:nvPr/>
        </p:nvSpPr>
        <p:spPr>
          <a:xfrm>
            <a:off x="7370064"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highest-intent, highest-spend years. Four products can serve one child at once, on one account.</a:t>
            </a:r>
            <a:endParaRPr lang="en-US" sz="1000" dirty="0"/>
          </a:p>
        </p:txBody>
      </p:sp>
      <p:sp>
        <p:nvSpPr>
          <p:cNvPr id="33" name="Shape 31"/>
          <p:cNvSpPr/>
          <p:nvPr/>
        </p:nvSpPr>
        <p:spPr>
          <a:xfrm>
            <a:off x="9491472" y="2011680"/>
            <a:ext cx="2011680" cy="566928"/>
          </a:xfrm>
          <a:prstGeom prst="roundRect">
            <a:avLst>
              <a:gd name="adj" fmla="val 19355"/>
            </a:avLst>
          </a:prstGeom>
          <a:solidFill>
            <a:srgbClr val="241E33"/>
          </a:solidFill>
          <a:ln/>
        </p:spPr>
      </p:sp>
      <p:sp>
        <p:nvSpPr>
          <p:cNvPr id="34" name="Text 32"/>
          <p:cNvSpPr/>
          <p:nvPr/>
        </p:nvSpPr>
        <p:spPr>
          <a:xfrm>
            <a:off x="9491472" y="2011680"/>
            <a:ext cx="2011680"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12–16</a:t>
            </a:r>
            <a:endParaRPr lang="en-US" sz="1900" dirty="0"/>
          </a:p>
        </p:txBody>
      </p:sp>
      <p:sp>
        <p:nvSpPr>
          <p:cNvPr id="35" name="Text 33"/>
          <p:cNvSpPr/>
          <p:nvPr/>
        </p:nvSpPr>
        <p:spPr>
          <a:xfrm>
            <a:off x="9582912" y="2670048"/>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Debate, essays,</a:t>
            </a:r>
            <a:endParaRPr lang="en-US" sz="1150" dirty="0"/>
          </a:p>
          <a:p>
            <a:pPr indent="0" marL="0">
              <a:lnSpc>
                <a:spcPts val="1400"/>
              </a:lnSpc>
              <a:buNone/>
            </a:pPr>
            <a:r>
              <a:rPr lang="en-US" sz="1150" b="1" dirty="0">
                <a:solidFill>
                  <a:srgbClr val="4A31B0"/>
                </a:solidFill>
                <a:latin typeface="Calibri" pitchFamily="34" charset="0"/>
                <a:ea typeface="Calibri" pitchFamily="34" charset="-122"/>
                <a:cs typeface="Calibri" pitchFamily="34" charset="-120"/>
              </a:rPr>
              <a:t>money, business</a:t>
            </a:r>
            <a:endParaRPr lang="en-US" sz="1150" dirty="0"/>
          </a:p>
        </p:txBody>
      </p:sp>
      <p:sp>
        <p:nvSpPr>
          <p:cNvPr id="36" name="Shape 34"/>
          <p:cNvSpPr/>
          <p:nvPr/>
        </p:nvSpPr>
        <p:spPr>
          <a:xfrm>
            <a:off x="9582912" y="3346704"/>
            <a:ext cx="1828800" cy="274320"/>
          </a:xfrm>
          <a:prstGeom prst="roundRect">
            <a:avLst>
              <a:gd name="adj" fmla="val 50000"/>
            </a:avLst>
          </a:prstGeom>
          <a:solidFill>
            <a:srgbClr val="C4453C"/>
          </a:solidFill>
          <a:ln/>
        </p:spPr>
      </p:sp>
      <p:sp>
        <p:nvSpPr>
          <p:cNvPr id="37" name="Text 35"/>
          <p:cNvSpPr/>
          <p:nvPr/>
        </p:nvSpPr>
        <p:spPr>
          <a:xfrm>
            <a:off x="9582912" y="3346704"/>
            <a:ext cx="18288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GAP, NAMED</a:t>
            </a:r>
            <a:endParaRPr lang="en-US" sz="800" dirty="0"/>
          </a:p>
        </p:txBody>
      </p:sp>
      <p:sp>
        <p:nvSpPr>
          <p:cNvPr id="38" name="Text 36"/>
          <p:cNvSpPr/>
          <p:nvPr/>
        </p:nvSpPr>
        <p:spPr>
          <a:xfrm>
            <a:off x="9582912" y="3675888"/>
            <a:ext cx="1828800" cy="420624"/>
          </a:xfrm>
          <a:prstGeom prst="rect">
            <a:avLst/>
          </a:prstGeom>
          <a:noFill/>
          <a:ln/>
        </p:spPr>
        <p:txBody>
          <a:bodyPr wrap="square" lIns="0" tIns="0" rIns="0" bIns="0" rtlCol="0" anchor="ctr"/>
          <a:lstStyle/>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Speak · Business</a:t>
            </a:r>
            <a:endParaRPr lang="en-US" sz="1000" dirty="0"/>
          </a:p>
          <a:p>
            <a:pPr indent="0" marL="0">
              <a:lnSpc>
                <a:spcPts val="1200"/>
              </a:lnSpc>
              <a:buNone/>
            </a:pPr>
            <a:r>
              <a:rPr lang="en-US" sz="1000" i="1" dirty="0">
                <a:solidFill>
                  <a:srgbClr val="7A7291"/>
                </a:solidFill>
                <a:latin typeface="Calibri" pitchFamily="34" charset="0"/>
                <a:ea typeface="Calibri" pitchFamily="34" charset="-122"/>
                <a:cs typeface="Calibri" pitchFamily="34" charset="-120"/>
              </a:rPr>
              <a:t>Finance · English</a:t>
            </a:r>
            <a:endParaRPr lang="en-US" sz="1000" dirty="0"/>
          </a:p>
        </p:txBody>
      </p:sp>
      <p:sp>
        <p:nvSpPr>
          <p:cNvPr id="39" name="Text 37"/>
          <p:cNvSpPr/>
          <p:nvPr/>
        </p:nvSpPr>
        <p:spPr>
          <a:xfrm>
            <a:off x="9582912" y="4151376"/>
            <a:ext cx="1828800" cy="1325880"/>
          </a:xfrm>
          <a:prstGeom prst="rect">
            <a:avLst/>
          </a:prstGeom>
          <a:noFill/>
          <a:ln/>
        </p:spPr>
        <p:txBody>
          <a:bodyPr wrap="square" lIns="0" tIns="0" rIns="0" bIns="0" rtlCol="0" anchor="ctr"/>
          <a:lstStyle/>
          <a:p>
            <a:pPr indent="0" marL="0">
              <a:lnSpc>
                <a:spcPts val="1350"/>
              </a:lnSpc>
              <a:buNone/>
            </a:pPr>
            <a:r>
              <a:rPr lang="en-US" sz="1000" dirty="0">
                <a:solidFill>
                  <a:srgbClr val="4A4360"/>
                </a:solidFill>
                <a:latin typeface="Calibri" pitchFamily="34" charset="0"/>
                <a:ea typeface="Calibri" pitchFamily="34" charset="-122"/>
                <a:cs typeface="Calibri" pitchFamily="34" charset="-120"/>
              </a:rPr>
              <a:t>The bee ends around fourteen and the family leaves. Four products aim here and not one of them is built. The churn cliff is still open.</a:t>
            </a:r>
            <a:endParaRPr lang="en-US" sz="1000" dirty="0"/>
          </a:p>
        </p:txBody>
      </p:sp>
      <p:sp>
        <p:nvSpPr>
          <p:cNvPr id="40" name="Shape 38"/>
          <p:cNvSpPr/>
          <p:nvPr/>
        </p:nvSpPr>
        <p:spPr>
          <a:xfrm>
            <a:off x="640080" y="5596128"/>
            <a:ext cx="10607040" cy="658368"/>
          </a:xfrm>
          <a:prstGeom prst="roundRect">
            <a:avLst>
              <a:gd name="adj" fmla="val 19444"/>
            </a:avLst>
          </a:prstGeom>
          <a:solidFill>
            <a:srgbClr val="EFEBF8"/>
          </a:solidFill>
          <a:ln/>
          <a:effectLst>
            <a:outerShdw sx="100000" sy="100000" kx="0" ky="0" algn="bl" rotWithShape="0" blurRad="127000" dist="25400" dir="5400000">
              <a:srgbClr val="241E33">
                <a:alpha val="10000"/>
              </a:srgbClr>
            </a:outerShdw>
          </a:effectLst>
        </p:spPr>
      </p:sp>
      <p:sp>
        <p:nvSpPr>
          <p:cNvPr id="41" name="Text 39"/>
          <p:cNvSpPr/>
          <p:nvPr/>
        </p:nvSpPr>
        <p:spPr>
          <a:xfrm>
            <a:off x="950976" y="5596128"/>
            <a:ext cx="9966960" cy="658368"/>
          </a:xfrm>
          <a:prstGeom prst="rect">
            <a:avLst/>
          </a:prstGeom>
          <a:noFill/>
          <a:ln/>
        </p:spPr>
        <p:txBody>
          <a:bodyPr wrap="square" lIns="0" tIns="0" rIns="0" bIns="0" rtlCol="0" anchor="ctr"/>
          <a:lstStyle/>
          <a:p>
            <a:pPr indent="0" marL="0">
              <a:lnSpc>
                <a:spcPts val="1900"/>
              </a:lnSpc>
              <a:buNone/>
            </a:pPr>
            <a:r>
              <a:rPr lang="en-US" sz="1400" i="1" dirty="0">
                <a:solidFill>
                  <a:srgbClr val="241E33"/>
                </a:solidFill>
                <a:latin typeface="Cambria" pitchFamily="34" charset="0"/>
                <a:ea typeface="Cambria" pitchFamily="34" charset="-122"/>
                <a:cs typeface="Cambria" pitchFamily="34" charset="-120"/>
              </a:rPr>
              <a:t>Bizzing’s job is never to hand a family back. Both gaps now have product names against them — but a name is not a build, and until Buzz and Speak exist the family still walks out at four and again at fourteen.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MONETISATION · YEARS ONE TO FIVE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Bizzing earns, and when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Six streams. Two of them can start almost immediately because the asset already exists — the books are written and the avatar art is drawn.</a:t>
            </a:r>
            <a:endParaRPr lang="en-US" sz="1450" dirty="0"/>
          </a:p>
        </p:txBody>
      </p:sp>
      <p:sp>
        <p:nvSpPr>
          <p:cNvPr id="5" name="Text 3"/>
          <p:cNvSpPr/>
          <p:nvPr/>
        </p:nvSpPr>
        <p:spPr>
          <a:xfrm>
            <a:off x="4846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 1</a:t>
            </a:r>
            <a:endParaRPr lang="en-US" sz="1000" dirty="0"/>
          </a:p>
        </p:txBody>
      </p:sp>
      <p:sp>
        <p:nvSpPr>
          <p:cNvPr id="6" name="Text 4"/>
          <p:cNvSpPr/>
          <p:nvPr/>
        </p:nvSpPr>
        <p:spPr>
          <a:xfrm>
            <a:off x="7132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2–3</a:t>
            </a:r>
            <a:endParaRPr lang="en-US" sz="1000" dirty="0"/>
          </a:p>
        </p:txBody>
      </p:sp>
      <p:sp>
        <p:nvSpPr>
          <p:cNvPr id="7" name="Text 5"/>
          <p:cNvSpPr/>
          <p:nvPr/>
        </p:nvSpPr>
        <p:spPr>
          <a:xfrm>
            <a:off x="9418320" y="1993392"/>
            <a:ext cx="2103120" cy="274320"/>
          </a:xfrm>
          <a:prstGeom prst="rect">
            <a:avLst/>
          </a:prstGeom>
          <a:noFill/>
          <a:ln/>
        </p:spPr>
        <p:txBody>
          <a:bodyPr wrap="square" lIns="0" tIns="0" rIns="0" bIns="0" rtlCol="0" anchor="ctr"/>
          <a:lstStyle/>
          <a:p>
            <a:pPr algn="ctr" indent="0" marL="0">
              <a:buNone/>
            </a:pPr>
            <a:r>
              <a:rPr lang="en-US" sz="1000" b="1" spc="180" kern="0" dirty="0">
                <a:solidFill>
                  <a:srgbClr val="4A31B0"/>
                </a:solidFill>
                <a:latin typeface="Calibri" pitchFamily="34" charset="0"/>
                <a:ea typeface="Calibri" pitchFamily="34" charset="-122"/>
                <a:cs typeface="Calibri" pitchFamily="34" charset="-120"/>
              </a:rPr>
              <a:t>YEARS 4–5</a:t>
            </a:r>
            <a:endParaRPr lang="en-US" sz="1000" dirty="0"/>
          </a:p>
        </p:txBody>
      </p:sp>
      <p:sp>
        <p:nvSpPr>
          <p:cNvPr id="8" name="Shape 6"/>
          <p:cNvSpPr/>
          <p:nvPr/>
        </p:nvSpPr>
        <p:spPr>
          <a:xfrm>
            <a:off x="512064" y="2286000"/>
            <a:ext cx="10991088" cy="576072"/>
          </a:xfrm>
          <a:prstGeom prst="roundRect">
            <a:avLst>
              <a:gd name="adj" fmla="val 15873"/>
            </a:avLst>
          </a:prstGeom>
          <a:solidFill>
            <a:srgbClr val="EFEBF8"/>
          </a:solidFill>
          <a:ln/>
        </p:spPr>
      </p:sp>
      <p:sp>
        <p:nvSpPr>
          <p:cNvPr id="9" name="Text 7"/>
          <p:cNvSpPr/>
          <p:nvPr/>
        </p:nvSpPr>
        <p:spPr>
          <a:xfrm>
            <a:off x="640080" y="232257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Subscription &amp; packs</a:t>
            </a:r>
            <a:endParaRPr lang="en-US" sz="1350" dirty="0"/>
          </a:p>
        </p:txBody>
      </p:sp>
      <p:sp>
        <p:nvSpPr>
          <p:cNvPr id="10" name="Text 8"/>
          <p:cNvSpPr/>
          <p:nvPr/>
        </p:nvSpPr>
        <p:spPr>
          <a:xfrm>
            <a:off x="640080" y="256946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Advanced, Bhasha, Eleven. The compounding line — everything else is a supplement to it.</a:t>
            </a:r>
            <a:endParaRPr lang="en-US" sz="950" dirty="0"/>
          </a:p>
        </p:txBody>
      </p:sp>
      <p:sp>
        <p:nvSpPr>
          <p:cNvPr id="11" name="Shape 9"/>
          <p:cNvSpPr/>
          <p:nvPr/>
        </p:nvSpPr>
        <p:spPr>
          <a:xfrm>
            <a:off x="5257800" y="2441448"/>
            <a:ext cx="1280160" cy="274320"/>
          </a:xfrm>
          <a:prstGeom prst="roundRect">
            <a:avLst>
              <a:gd name="adj" fmla="val 50000"/>
            </a:avLst>
          </a:prstGeom>
          <a:solidFill>
            <a:srgbClr val="178A4C"/>
          </a:solidFill>
          <a:ln/>
        </p:spPr>
      </p:sp>
      <p:sp>
        <p:nvSpPr>
          <p:cNvPr id="12" name="Text 10"/>
          <p:cNvSpPr/>
          <p:nvPr/>
        </p:nvSpPr>
        <p:spPr>
          <a:xfrm>
            <a:off x="5257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13" name="Shape 11"/>
          <p:cNvSpPr/>
          <p:nvPr/>
        </p:nvSpPr>
        <p:spPr>
          <a:xfrm>
            <a:off x="7543800" y="2441448"/>
            <a:ext cx="1280160" cy="274320"/>
          </a:xfrm>
          <a:prstGeom prst="roundRect">
            <a:avLst>
              <a:gd name="adj" fmla="val 50000"/>
            </a:avLst>
          </a:prstGeom>
          <a:solidFill>
            <a:srgbClr val="6C4FE0"/>
          </a:solidFill>
          <a:ln/>
        </p:spPr>
      </p:sp>
      <p:sp>
        <p:nvSpPr>
          <p:cNvPr id="14" name="Text 12"/>
          <p:cNvSpPr/>
          <p:nvPr/>
        </p:nvSpPr>
        <p:spPr>
          <a:xfrm>
            <a:off x="7543800" y="244144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15" name="Shape 13"/>
          <p:cNvSpPr/>
          <p:nvPr/>
        </p:nvSpPr>
        <p:spPr>
          <a:xfrm>
            <a:off x="9829800" y="2441448"/>
            <a:ext cx="1280160" cy="274320"/>
          </a:xfrm>
          <a:prstGeom prst="roundRect">
            <a:avLst>
              <a:gd name="adj" fmla="val 50000"/>
            </a:avLst>
          </a:prstGeom>
          <a:solidFill>
            <a:srgbClr val="F0B429"/>
          </a:solidFill>
          <a:ln/>
        </p:spPr>
      </p:sp>
      <p:sp>
        <p:nvSpPr>
          <p:cNvPr id="16" name="Text 14"/>
          <p:cNvSpPr/>
          <p:nvPr/>
        </p:nvSpPr>
        <p:spPr>
          <a:xfrm>
            <a:off x="9829800" y="2441448"/>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17" name="Text 15"/>
          <p:cNvSpPr/>
          <p:nvPr/>
        </p:nvSpPr>
        <p:spPr>
          <a:xfrm>
            <a:off x="640080" y="2953512"/>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Books</a:t>
            </a:r>
            <a:endParaRPr lang="en-US" sz="1350" dirty="0"/>
          </a:p>
        </p:txBody>
      </p:sp>
      <p:sp>
        <p:nvSpPr>
          <p:cNvPr id="18" name="Text 16"/>
          <p:cNvSpPr/>
          <p:nvPr/>
        </p:nvSpPr>
        <p:spPr>
          <a:xfrm>
            <a:off x="640080" y="3200400"/>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23 volumes and 1,700 pages already generated. Print-on-demand and ebook carry no inventory risk.</a:t>
            </a:r>
            <a:endParaRPr lang="en-US" sz="950" dirty="0"/>
          </a:p>
        </p:txBody>
      </p:sp>
      <p:sp>
        <p:nvSpPr>
          <p:cNvPr id="19" name="Shape 17"/>
          <p:cNvSpPr/>
          <p:nvPr/>
        </p:nvSpPr>
        <p:spPr>
          <a:xfrm>
            <a:off x="5257800" y="3072384"/>
            <a:ext cx="1280160" cy="274320"/>
          </a:xfrm>
          <a:prstGeom prst="roundRect">
            <a:avLst>
              <a:gd name="adj" fmla="val 50000"/>
            </a:avLst>
          </a:prstGeom>
          <a:solidFill>
            <a:srgbClr val="178A4C"/>
          </a:solidFill>
          <a:ln/>
        </p:spPr>
      </p:sp>
      <p:sp>
        <p:nvSpPr>
          <p:cNvPr id="20" name="Text 18"/>
          <p:cNvSpPr/>
          <p:nvPr/>
        </p:nvSpPr>
        <p:spPr>
          <a:xfrm>
            <a:off x="5257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21" name="Shape 19"/>
          <p:cNvSpPr/>
          <p:nvPr/>
        </p:nvSpPr>
        <p:spPr>
          <a:xfrm>
            <a:off x="7543800" y="3072384"/>
            <a:ext cx="1280160" cy="274320"/>
          </a:xfrm>
          <a:prstGeom prst="roundRect">
            <a:avLst>
              <a:gd name="adj" fmla="val 50000"/>
            </a:avLst>
          </a:prstGeom>
          <a:solidFill>
            <a:srgbClr val="6C4FE0"/>
          </a:solidFill>
          <a:ln/>
        </p:spPr>
      </p:sp>
      <p:sp>
        <p:nvSpPr>
          <p:cNvPr id="22" name="Text 20"/>
          <p:cNvSpPr/>
          <p:nvPr/>
        </p:nvSpPr>
        <p:spPr>
          <a:xfrm>
            <a:off x="7543800" y="3072384"/>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3" name="Shape 21"/>
          <p:cNvSpPr/>
          <p:nvPr/>
        </p:nvSpPr>
        <p:spPr>
          <a:xfrm>
            <a:off x="9829800" y="3072384"/>
            <a:ext cx="1280160" cy="274320"/>
          </a:xfrm>
          <a:prstGeom prst="roundRect">
            <a:avLst>
              <a:gd name="adj" fmla="val 50000"/>
            </a:avLst>
          </a:prstGeom>
          <a:solidFill>
            <a:srgbClr val="F0B429"/>
          </a:solidFill>
          <a:ln/>
        </p:spPr>
      </p:sp>
      <p:sp>
        <p:nvSpPr>
          <p:cNvPr id="24" name="Text 22"/>
          <p:cNvSpPr/>
          <p:nvPr/>
        </p:nvSpPr>
        <p:spPr>
          <a:xfrm>
            <a:off x="9829800" y="3072384"/>
            <a:ext cx="1280160" cy="274320"/>
          </a:xfrm>
          <a:prstGeom prst="rect">
            <a:avLst/>
          </a:prstGeom>
          <a:noFill/>
          <a:ln/>
        </p:spPr>
        <p:txBody>
          <a:bodyPr wrap="square" lIns="0" tIns="0" rIns="0" bIns="0" rtlCol="0" anchor="ctr"/>
          <a:lstStyle/>
          <a:p>
            <a:pPr algn="ctr" indent="0" marL="0">
              <a:buNone/>
            </a:pPr>
            <a:r>
              <a:rPr lang="en-US" sz="800" b="1" dirty="0">
                <a:solidFill>
                  <a:srgbClr val="241E33"/>
                </a:solidFill>
                <a:latin typeface="Calibri" pitchFamily="34" charset="0"/>
                <a:ea typeface="Calibri" pitchFamily="34" charset="-122"/>
                <a:cs typeface="Calibri" pitchFamily="34" charset="-120"/>
              </a:rPr>
              <a:t>SCALE</a:t>
            </a:r>
            <a:endParaRPr lang="en-US" sz="800" dirty="0"/>
          </a:p>
        </p:txBody>
      </p:sp>
      <p:sp>
        <p:nvSpPr>
          <p:cNvPr id="25" name="Shape 23"/>
          <p:cNvSpPr/>
          <p:nvPr/>
        </p:nvSpPr>
        <p:spPr>
          <a:xfrm>
            <a:off x="512064" y="3547872"/>
            <a:ext cx="10991088" cy="576072"/>
          </a:xfrm>
          <a:prstGeom prst="roundRect">
            <a:avLst>
              <a:gd name="adj" fmla="val 15873"/>
            </a:avLst>
          </a:prstGeom>
          <a:solidFill>
            <a:srgbClr val="EFEBF8"/>
          </a:solidFill>
          <a:ln/>
        </p:spPr>
      </p:sp>
      <p:sp>
        <p:nvSpPr>
          <p:cNvPr id="26" name="Text 24"/>
          <p:cNvSpPr/>
          <p:nvPr/>
        </p:nvSpPr>
        <p:spPr>
          <a:xfrm>
            <a:off x="640080" y="3584448"/>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Playable avatar cards</a:t>
            </a:r>
            <a:endParaRPr lang="en-US" sz="1350" dirty="0"/>
          </a:p>
        </p:txBody>
      </p:sp>
      <p:sp>
        <p:nvSpPr>
          <p:cNvPr id="27" name="Text 25"/>
          <p:cNvSpPr/>
          <p:nvPr/>
        </p:nvSpPr>
        <p:spPr>
          <a:xfrm>
            <a:off x="640080" y="3831336"/>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The trump-card deck already exists in-app, and every card carries a real word fact. A physical product that still teaches.</a:t>
            </a:r>
            <a:endParaRPr lang="en-US" sz="950" dirty="0"/>
          </a:p>
        </p:txBody>
      </p:sp>
      <p:sp>
        <p:nvSpPr>
          <p:cNvPr id="28" name="Shape 26"/>
          <p:cNvSpPr/>
          <p:nvPr/>
        </p:nvSpPr>
        <p:spPr>
          <a:xfrm>
            <a:off x="7543800" y="3703320"/>
            <a:ext cx="1280160" cy="274320"/>
          </a:xfrm>
          <a:prstGeom prst="roundRect">
            <a:avLst>
              <a:gd name="adj" fmla="val 50000"/>
            </a:avLst>
          </a:prstGeom>
          <a:solidFill>
            <a:srgbClr val="178A4C"/>
          </a:solidFill>
          <a:ln/>
        </p:spPr>
      </p:sp>
      <p:sp>
        <p:nvSpPr>
          <p:cNvPr id="29" name="Text 27"/>
          <p:cNvSpPr/>
          <p:nvPr/>
        </p:nvSpPr>
        <p:spPr>
          <a:xfrm>
            <a:off x="7543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0" name="Shape 28"/>
          <p:cNvSpPr/>
          <p:nvPr/>
        </p:nvSpPr>
        <p:spPr>
          <a:xfrm>
            <a:off x="9829800" y="3703320"/>
            <a:ext cx="1280160" cy="274320"/>
          </a:xfrm>
          <a:prstGeom prst="roundRect">
            <a:avLst>
              <a:gd name="adj" fmla="val 50000"/>
            </a:avLst>
          </a:prstGeom>
          <a:solidFill>
            <a:srgbClr val="6C4FE0"/>
          </a:solidFill>
          <a:ln/>
        </p:spPr>
      </p:sp>
      <p:sp>
        <p:nvSpPr>
          <p:cNvPr id="31" name="Text 29"/>
          <p:cNvSpPr/>
          <p:nvPr/>
        </p:nvSpPr>
        <p:spPr>
          <a:xfrm>
            <a:off x="9829800" y="3703320"/>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2" name="Text 30"/>
          <p:cNvSpPr/>
          <p:nvPr/>
        </p:nvSpPr>
        <p:spPr>
          <a:xfrm>
            <a:off x="640080" y="4215384"/>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Plushies, tees, goodies</a:t>
            </a:r>
            <a:endParaRPr lang="en-US" sz="1350" dirty="0"/>
          </a:p>
        </p:txBody>
      </p:sp>
      <p:sp>
        <p:nvSpPr>
          <p:cNvPr id="33" name="Text 31"/>
          <p:cNvSpPr/>
          <p:nvPr/>
        </p:nvSpPr>
        <p:spPr>
          <a:xfrm>
            <a:off x="640080" y="4462272"/>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Bizzy and the champion avatars. Print-on-demand first; stock only what has already sold.</a:t>
            </a:r>
            <a:endParaRPr lang="en-US" sz="950" dirty="0"/>
          </a:p>
        </p:txBody>
      </p:sp>
      <p:sp>
        <p:nvSpPr>
          <p:cNvPr id="34" name="Shape 32"/>
          <p:cNvSpPr/>
          <p:nvPr/>
        </p:nvSpPr>
        <p:spPr>
          <a:xfrm>
            <a:off x="7543800" y="4334256"/>
            <a:ext cx="1280160" cy="274320"/>
          </a:xfrm>
          <a:prstGeom prst="roundRect">
            <a:avLst>
              <a:gd name="adj" fmla="val 50000"/>
            </a:avLst>
          </a:prstGeom>
          <a:solidFill>
            <a:srgbClr val="178A4C"/>
          </a:solidFill>
          <a:ln/>
        </p:spPr>
      </p:sp>
      <p:sp>
        <p:nvSpPr>
          <p:cNvPr id="35" name="Text 33"/>
          <p:cNvSpPr/>
          <p:nvPr/>
        </p:nvSpPr>
        <p:spPr>
          <a:xfrm>
            <a:off x="7543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36" name="Shape 34"/>
          <p:cNvSpPr/>
          <p:nvPr/>
        </p:nvSpPr>
        <p:spPr>
          <a:xfrm>
            <a:off x="9829800" y="4334256"/>
            <a:ext cx="1280160" cy="274320"/>
          </a:xfrm>
          <a:prstGeom prst="roundRect">
            <a:avLst>
              <a:gd name="adj" fmla="val 50000"/>
            </a:avLst>
          </a:prstGeom>
          <a:solidFill>
            <a:srgbClr val="6C4FE0"/>
          </a:solidFill>
          <a:ln/>
        </p:spPr>
      </p:sp>
      <p:sp>
        <p:nvSpPr>
          <p:cNvPr id="37" name="Text 35"/>
          <p:cNvSpPr/>
          <p:nvPr/>
        </p:nvSpPr>
        <p:spPr>
          <a:xfrm>
            <a:off x="9829800" y="4334256"/>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38" name="Shape 36"/>
          <p:cNvSpPr/>
          <p:nvPr/>
        </p:nvSpPr>
        <p:spPr>
          <a:xfrm>
            <a:off x="512064" y="4809744"/>
            <a:ext cx="10991088" cy="576072"/>
          </a:xfrm>
          <a:prstGeom prst="roundRect">
            <a:avLst>
              <a:gd name="adj" fmla="val 15873"/>
            </a:avLst>
          </a:prstGeom>
          <a:solidFill>
            <a:srgbClr val="EFEBF8"/>
          </a:solidFill>
          <a:ln/>
        </p:spPr>
      </p:sp>
      <p:sp>
        <p:nvSpPr>
          <p:cNvPr id="39" name="Text 37"/>
          <p:cNvSpPr/>
          <p:nvPr/>
        </p:nvSpPr>
        <p:spPr>
          <a:xfrm>
            <a:off x="640080" y="4846320"/>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YouTube</a:t>
            </a:r>
            <a:endParaRPr lang="en-US" sz="1350" dirty="0"/>
          </a:p>
        </p:txBody>
      </p:sp>
      <p:sp>
        <p:nvSpPr>
          <p:cNvPr id="40" name="Text 38"/>
          <p:cNvSpPr/>
          <p:nvPr/>
        </p:nvSpPr>
        <p:spPr>
          <a:xfrm>
            <a:off x="640080" y="5093208"/>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Ad revenue and sponsorship. Worth having, but its real return is acquisition — count it as marketing that pays for itself.</a:t>
            </a:r>
            <a:endParaRPr lang="en-US" sz="950" dirty="0"/>
          </a:p>
        </p:txBody>
      </p:sp>
      <p:sp>
        <p:nvSpPr>
          <p:cNvPr id="41" name="Shape 39"/>
          <p:cNvSpPr/>
          <p:nvPr/>
        </p:nvSpPr>
        <p:spPr>
          <a:xfrm>
            <a:off x="7543800" y="4965192"/>
            <a:ext cx="1280160" cy="274320"/>
          </a:xfrm>
          <a:prstGeom prst="roundRect">
            <a:avLst>
              <a:gd name="adj" fmla="val 50000"/>
            </a:avLst>
          </a:prstGeom>
          <a:solidFill>
            <a:srgbClr val="6C4FE0"/>
          </a:solidFill>
          <a:ln/>
        </p:spPr>
      </p:sp>
      <p:sp>
        <p:nvSpPr>
          <p:cNvPr id="42" name="Text 40"/>
          <p:cNvSpPr/>
          <p:nvPr/>
        </p:nvSpPr>
        <p:spPr>
          <a:xfrm>
            <a:off x="7543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3" name="Shape 41"/>
          <p:cNvSpPr/>
          <p:nvPr/>
        </p:nvSpPr>
        <p:spPr>
          <a:xfrm>
            <a:off x="9829800" y="4965192"/>
            <a:ext cx="1280160" cy="274320"/>
          </a:xfrm>
          <a:prstGeom prst="roundRect">
            <a:avLst>
              <a:gd name="adj" fmla="val 50000"/>
            </a:avLst>
          </a:prstGeom>
          <a:solidFill>
            <a:srgbClr val="6C4FE0"/>
          </a:solidFill>
          <a:ln/>
        </p:spPr>
      </p:sp>
      <p:sp>
        <p:nvSpPr>
          <p:cNvPr id="44" name="Text 42"/>
          <p:cNvSpPr/>
          <p:nvPr/>
        </p:nvSpPr>
        <p:spPr>
          <a:xfrm>
            <a:off x="9829800" y="4965192"/>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5" name="Text 43"/>
          <p:cNvSpPr/>
          <p:nvPr/>
        </p:nvSpPr>
        <p:spPr>
          <a:xfrm>
            <a:off x="640080" y="5477256"/>
            <a:ext cx="4160520" cy="256032"/>
          </a:xfrm>
          <a:prstGeom prst="rect">
            <a:avLst/>
          </a:prstGeom>
          <a:noFill/>
          <a:ln/>
        </p:spPr>
        <p:txBody>
          <a:bodyPr wrap="square" lIns="0" tIns="0" rIns="0" bIns="0" rtlCol="0" anchor="ctr"/>
          <a:lstStyle/>
          <a:p>
            <a:pPr indent="0" marL="0">
              <a:buNone/>
            </a:pPr>
            <a:r>
              <a:rPr lang="en-US" sz="1350" b="1" dirty="0">
                <a:solidFill>
                  <a:srgbClr val="241E33"/>
                </a:solidFill>
                <a:latin typeface="Cambria" pitchFamily="34" charset="0"/>
                <a:ea typeface="Cambria" pitchFamily="34" charset="-122"/>
                <a:cs typeface="Cambria" pitchFamily="34" charset="-120"/>
              </a:rPr>
              <a:t>Live training</a:t>
            </a:r>
            <a:endParaRPr lang="en-US" sz="1350" dirty="0"/>
          </a:p>
        </p:txBody>
      </p:sp>
      <p:sp>
        <p:nvSpPr>
          <p:cNvPr id="46" name="Text 44"/>
          <p:cNvSpPr/>
          <p:nvPr/>
        </p:nvSpPr>
        <p:spPr>
          <a:xfrm>
            <a:off x="640080" y="5724144"/>
            <a:ext cx="4160520" cy="329184"/>
          </a:xfrm>
          <a:prstGeom prst="rect">
            <a:avLst/>
          </a:prstGeom>
          <a:noFill/>
          <a:ln/>
        </p:spPr>
        <p:txBody>
          <a:bodyPr wrap="square" lIns="0" tIns="0" rIns="0" bIns="0" rtlCol="0" anchor="ctr"/>
          <a:lstStyle/>
          <a:p>
            <a:pPr indent="0" marL="0">
              <a:lnSpc>
                <a:spcPts val="1150"/>
              </a:lnSpc>
              <a:buNone/>
            </a:pPr>
            <a:r>
              <a:rPr lang="en-US" sz="950" dirty="0">
                <a:solidFill>
                  <a:srgbClr val="4A4360"/>
                </a:solidFill>
                <a:latin typeface="Calibri" pitchFamily="34" charset="0"/>
                <a:ea typeface="Calibri" pitchFamily="34" charset="-122"/>
                <a:cs typeface="Calibri" pitchFamily="34" charset="-120"/>
              </a:rPr>
              <a:t>Bizzing Business cohorts, bee coaching, beginner classes. Highest price per family — and Business IS this line, not a separate venture.</a:t>
            </a:r>
            <a:endParaRPr lang="en-US" sz="950" dirty="0"/>
          </a:p>
        </p:txBody>
      </p:sp>
      <p:sp>
        <p:nvSpPr>
          <p:cNvPr id="47" name="Shape 45"/>
          <p:cNvSpPr/>
          <p:nvPr/>
        </p:nvSpPr>
        <p:spPr>
          <a:xfrm>
            <a:off x="7543800" y="5596128"/>
            <a:ext cx="1280160" cy="274320"/>
          </a:xfrm>
          <a:prstGeom prst="roundRect">
            <a:avLst>
              <a:gd name="adj" fmla="val 50000"/>
            </a:avLst>
          </a:prstGeom>
          <a:solidFill>
            <a:srgbClr val="6C4FE0"/>
          </a:solidFill>
          <a:ln/>
        </p:spPr>
      </p:sp>
      <p:sp>
        <p:nvSpPr>
          <p:cNvPr id="48" name="Text 46"/>
          <p:cNvSpPr/>
          <p:nvPr/>
        </p:nvSpPr>
        <p:spPr>
          <a:xfrm>
            <a:off x="7543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49" name="Shape 47"/>
          <p:cNvSpPr/>
          <p:nvPr/>
        </p:nvSpPr>
        <p:spPr>
          <a:xfrm>
            <a:off x="9829800" y="5596128"/>
            <a:ext cx="1280160" cy="274320"/>
          </a:xfrm>
          <a:prstGeom prst="roundRect">
            <a:avLst>
              <a:gd name="adj" fmla="val 50000"/>
            </a:avLst>
          </a:prstGeom>
          <a:solidFill>
            <a:srgbClr val="178A4C"/>
          </a:solidFill>
          <a:ln/>
        </p:spPr>
      </p:sp>
      <p:sp>
        <p:nvSpPr>
          <p:cNvPr id="50" name="Text 48"/>
          <p:cNvSpPr/>
          <p:nvPr/>
        </p:nvSpPr>
        <p:spPr>
          <a:xfrm>
            <a:off x="9829800" y="5596128"/>
            <a:ext cx="12801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LAUNCH</a:t>
            </a:r>
            <a:endParaRPr lang="en-US" sz="800" dirty="0"/>
          </a:p>
        </p:txBody>
      </p:sp>
      <p:sp>
        <p:nvSpPr>
          <p:cNvPr id="51" name="Shape 49"/>
          <p:cNvSpPr/>
          <p:nvPr/>
        </p:nvSpPr>
        <p:spPr>
          <a:xfrm>
            <a:off x="640080" y="6126480"/>
            <a:ext cx="10607040" cy="566928"/>
          </a:xfrm>
          <a:prstGeom prst="roundRect">
            <a:avLst>
              <a:gd name="adj" fmla="val 19355"/>
            </a:avLst>
          </a:prstGeom>
          <a:solidFill>
            <a:srgbClr val="FBF3E0"/>
          </a:solidFill>
          <a:ln/>
        </p:spPr>
      </p:sp>
      <p:sp>
        <p:nvSpPr>
          <p:cNvPr id="52" name="Text 50"/>
          <p:cNvSpPr/>
          <p:nvPr/>
        </p:nvSpPr>
        <p:spPr>
          <a:xfrm>
            <a:off x="914400" y="6126480"/>
            <a:ext cx="10058400" cy="566928"/>
          </a:xfrm>
          <a:prstGeom prst="rect">
            <a:avLst/>
          </a:prstGeom>
          <a:noFill/>
          <a:ln/>
        </p:spPr>
        <p:txBody>
          <a:bodyPr wrap="square" lIns="0" tIns="0" rIns="0" bIns="0" rtlCol="0" anchor="ctr"/>
          <a:lstStyle/>
          <a:p>
            <a:pPr indent="0" marL="0">
              <a:lnSpc>
                <a:spcPts val="1300"/>
              </a:lnSpc>
              <a:buNone/>
            </a:pPr>
            <a:r>
              <a:rPr lang="en-US" sz="1050" b="1" dirty="0">
                <a:solidFill>
                  <a:srgbClr val="8A5B00"/>
                </a:solidFill>
                <a:latin typeface="Calibri" pitchFamily="34" charset="0"/>
                <a:ea typeface="Calibri" pitchFamily="34" charset="-122"/>
                <a:cs typeface="Calibri" pitchFamily="34" charset="-120"/>
              </a:rPr>
              <a:t>Two cautions:  </a:t>
            </a:r>
            <a:pPr indent="0" marL="0">
              <a:lnSpc>
                <a:spcPts val="1300"/>
              </a:lnSpc>
              <a:buNone/>
            </a:pPr>
            <a:r>
              <a:rPr lang="en-US" sz="1050" dirty="0">
                <a:solidFill>
                  <a:srgbClr val="8A5B00"/>
                </a:solidFill>
                <a:latin typeface="Calibri" pitchFamily="34" charset="0"/>
                <a:ea typeface="Calibri" pitchFamily="34" charset="-122"/>
                <a:cs typeface="Calibri" pitchFamily="34" charset="-120"/>
              </a:rPr>
              <a:t>merch that holds stock is a different business — cash, sizes, returns — so print-on-demand until something proves itself. And live training is capped by people, not by software, which is why the mentor bench for Bizzing Business has to start being recruited long before the product launches.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41E33"/>
        </a:solidFill>
      </p:bgPr>
    </p:bg>
    <p:spTree>
      <p:nvGrpSpPr>
        <p:cNvPr id="1" name=""/>
        <p:cNvGrpSpPr/>
        <p:nvPr/>
      </p:nvGrpSpPr>
      <p:grpSpPr>
        <a:xfrm>
          <a:off x="0" y="0"/>
          <a:ext cx="0" cy="0"/>
          <a:chOff x="0" y="0"/>
          <a:chExt cx="0" cy="0"/>
        </a:xfrm>
      </p:grpSpPr>
      <p:sp>
        <p:nvSpPr>
          <p:cNvPr id="2"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MARKETING STRATEGY</a:t>
            </a:r>
            <a:endParaRPr lang="en-US" sz="1200" dirty="0"/>
          </a:p>
        </p:txBody>
      </p:sp>
      <p:sp>
        <p:nvSpPr>
          <p:cNvPr id="3" name="Text 1"/>
          <p:cNvSpPr/>
          <p:nvPr/>
        </p:nvSpPr>
        <p:spPr>
          <a:xfrm>
            <a:off x="640080" y="914400"/>
            <a:ext cx="10607040" cy="73152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Earn attention, prove it in person, then pay to scale it.</a:t>
            </a:r>
            <a:endParaRPr lang="en-US" sz="2700" dirty="0"/>
          </a:p>
        </p:txBody>
      </p:sp>
      <p:sp>
        <p:nvSpPr>
          <p:cNvPr id="4" name="Text 2"/>
          <p:cNvSpPr/>
          <p:nvPr/>
        </p:nvSpPr>
        <p:spPr>
          <a:xfrm>
            <a:off x="640080" y="1645920"/>
            <a:ext cx="10058400" cy="502920"/>
          </a:xfrm>
          <a:prstGeom prst="rect">
            <a:avLst/>
          </a:prstGeom>
          <a:noFill/>
          <a:ln/>
        </p:spPr>
        <p:txBody>
          <a:bodyPr wrap="square" lIns="0" tIns="0" rIns="0" bIns="0" rtlCol="0" anchor="ctr"/>
          <a:lstStyle/>
          <a:p>
            <a:pPr indent="0" marL="0">
              <a:buNone/>
            </a:pPr>
            <a:r>
              <a:rPr lang="en-US" sz="1350" dirty="0">
                <a:solidFill>
                  <a:srgbClr val="E3DCF2"/>
                </a:solidFill>
                <a:latin typeface="Calibri" pitchFamily="34" charset="0"/>
                <a:ea typeface="Calibri" pitchFamily="34" charset="-122"/>
                <a:cs typeface="Calibri" pitchFamily="34" charset="-120"/>
              </a:rPr>
              <a:t>The order matters more than the mix. Paid media applied to content nobody trusts yet is the fastest way to spend money badly.</a:t>
            </a:r>
            <a:endParaRPr lang="en-US" sz="1350" dirty="0"/>
          </a:p>
        </p:txBody>
      </p:sp>
      <p:sp>
        <p:nvSpPr>
          <p:cNvPr id="5" name="Shape 3"/>
          <p:cNvSpPr/>
          <p:nvPr/>
        </p:nvSpPr>
        <p:spPr>
          <a:xfrm rot="5400000">
            <a:off x="640080" y="2350008"/>
            <a:ext cx="384048" cy="384048"/>
          </a:xfrm>
          <a:prstGeom prst="hexagon">
            <a:avLst/>
          </a:prstGeom>
          <a:solidFill>
            <a:srgbClr val="F0B429"/>
          </a:solidFill>
          <a:ln/>
        </p:spPr>
      </p:sp>
      <p:sp>
        <p:nvSpPr>
          <p:cNvPr id="6" name="Text 4"/>
          <p:cNvSpPr/>
          <p:nvPr/>
        </p:nvSpPr>
        <p:spPr>
          <a:xfrm>
            <a:off x="640080" y="2350008"/>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207008" y="2258568"/>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YouTube</a:t>
            </a:r>
            <a:endParaRPr lang="en-US" sz="1700" dirty="0"/>
          </a:p>
        </p:txBody>
      </p:sp>
      <p:sp>
        <p:nvSpPr>
          <p:cNvPr id="8" name="Text 6"/>
          <p:cNvSpPr/>
          <p:nvPr/>
        </p:nvSpPr>
        <p:spPr>
          <a:xfrm>
            <a:off x="1207008" y="2624328"/>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Earns trust and reach</a:t>
            </a:r>
            <a:endParaRPr lang="en-US" sz="1050" dirty="0"/>
          </a:p>
        </p:txBody>
      </p:sp>
      <p:sp>
        <p:nvSpPr>
          <p:cNvPr id="9" name="Text 7"/>
          <p:cNvSpPr/>
          <p:nvPr/>
        </p:nvSpPr>
        <p:spPr>
          <a:xfrm>
            <a:off x="3520440" y="2240280"/>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Long-form documentaries make a stranger believe we know words. Shorts put us in front of families no targeting could find. A video keeps working for years; an ad stops the day the card does.</a:t>
            </a:r>
            <a:endParaRPr lang="en-US" sz="1150" dirty="0"/>
          </a:p>
        </p:txBody>
      </p:sp>
      <p:sp>
        <p:nvSpPr>
          <p:cNvPr id="10" name="Shape 8"/>
          <p:cNvSpPr/>
          <p:nvPr/>
        </p:nvSpPr>
        <p:spPr>
          <a:xfrm rot="5400000">
            <a:off x="640080" y="3337560"/>
            <a:ext cx="384048" cy="384048"/>
          </a:xfrm>
          <a:prstGeom prst="hexagon">
            <a:avLst/>
          </a:prstGeom>
          <a:solidFill>
            <a:srgbClr val="6C4FE0"/>
          </a:solidFill>
          <a:ln/>
        </p:spPr>
      </p:sp>
      <p:sp>
        <p:nvSpPr>
          <p:cNvPr id="11" name="Text 9"/>
          <p:cNvSpPr/>
          <p:nvPr/>
        </p:nvSpPr>
        <p:spPr>
          <a:xfrm>
            <a:off x="640080" y="33375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2" name="Text 10"/>
          <p:cNvSpPr/>
          <p:nvPr/>
        </p:nvSpPr>
        <p:spPr>
          <a:xfrm>
            <a:off x="1207008" y="3246120"/>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Events &amp; community</a:t>
            </a:r>
            <a:endParaRPr lang="en-US" sz="1700" dirty="0"/>
          </a:p>
        </p:txBody>
      </p:sp>
      <p:sp>
        <p:nvSpPr>
          <p:cNvPr id="13" name="Text 11"/>
          <p:cNvSpPr/>
          <p:nvPr/>
        </p:nvSpPr>
        <p:spPr>
          <a:xfrm>
            <a:off x="1207008" y="3611880"/>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Turns trust into proof</a:t>
            </a:r>
            <a:endParaRPr lang="en-US" sz="1050" dirty="0"/>
          </a:p>
        </p:txBody>
      </p:sp>
      <p:sp>
        <p:nvSpPr>
          <p:cNvPr id="14" name="Text 12"/>
          <p:cNvSpPr/>
          <p:nvPr/>
        </p:nvSpPr>
        <p:spPr>
          <a:xfrm>
            <a:off x="3520440" y="3227832"/>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Regional bees, cultural associations, temple and community fairs, homeschool conferences — where this diaspora already gathers. Small reach, unmatched credibility. Parent WhatsApp groups are the real distribution channel.</a:t>
            </a:r>
            <a:endParaRPr lang="en-US" sz="1150" dirty="0"/>
          </a:p>
        </p:txBody>
      </p:sp>
      <p:sp>
        <p:nvSpPr>
          <p:cNvPr id="15" name="Shape 13"/>
          <p:cNvSpPr/>
          <p:nvPr/>
        </p:nvSpPr>
        <p:spPr>
          <a:xfrm rot="5400000">
            <a:off x="640080" y="4325112"/>
            <a:ext cx="384048" cy="384048"/>
          </a:xfrm>
          <a:prstGeom prst="hexagon">
            <a:avLst/>
          </a:prstGeom>
          <a:solidFill>
            <a:srgbClr val="178A4C"/>
          </a:solidFill>
          <a:ln/>
        </p:spPr>
      </p:sp>
      <p:sp>
        <p:nvSpPr>
          <p:cNvPr id="16" name="Text 14"/>
          <p:cNvSpPr/>
          <p:nvPr/>
        </p:nvSpPr>
        <p:spPr>
          <a:xfrm>
            <a:off x="640080" y="432511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17" name="Text 15"/>
          <p:cNvSpPr/>
          <p:nvPr/>
        </p:nvSpPr>
        <p:spPr>
          <a:xfrm>
            <a:off x="1207008" y="4233672"/>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Paid media</a:t>
            </a:r>
            <a:endParaRPr lang="en-US" sz="1700" dirty="0"/>
          </a:p>
        </p:txBody>
      </p:sp>
      <p:sp>
        <p:nvSpPr>
          <p:cNvPr id="18" name="Text 16"/>
          <p:cNvSpPr/>
          <p:nvPr/>
        </p:nvSpPr>
        <p:spPr>
          <a:xfrm>
            <a:off x="1207008" y="4599432"/>
            <a:ext cx="2103120" cy="274320"/>
          </a:xfrm>
          <a:prstGeom prst="rect">
            <a:avLst/>
          </a:prstGeom>
          <a:noFill/>
          <a:ln/>
        </p:spPr>
        <p:txBody>
          <a:bodyPr wrap="square" lIns="0" tIns="0" rIns="0" bIns="0" rtlCol="0" anchor="ctr"/>
          <a:lstStyle/>
          <a:p>
            <a:pPr indent="0" marL="0">
              <a:buNone/>
            </a:pPr>
            <a:r>
              <a:rPr lang="en-US" sz="1050" i="1" dirty="0">
                <a:solidFill>
                  <a:srgbClr val="E3DCF2"/>
                </a:solidFill>
                <a:latin typeface="Calibri" pitchFamily="34" charset="0"/>
                <a:ea typeface="Calibri" pitchFamily="34" charset="-122"/>
                <a:cs typeface="Calibri" pitchFamily="34" charset="-120"/>
              </a:rPr>
              <a:t>Scales what is proven</a:t>
            </a:r>
            <a:endParaRPr lang="en-US" sz="1050" dirty="0"/>
          </a:p>
        </p:txBody>
      </p:sp>
      <p:sp>
        <p:nvSpPr>
          <p:cNvPr id="19" name="Text 17"/>
          <p:cNvSpPr/>
          <p:nvPr/>
        </p:nvSpPr>
        <p:spPr>
          <a:xfrm>
            <a:off x="3520440" y="4215384"/>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Harvests demand the content created and retargets the warmed. Creative comes from the channel, not from an agency. It amplifies; it does not originate.</a:t>
            </a:r>
            <a:endParaRPr lang="en-US" sz="1150" dirty="0"/>
          </a:p>
        </p:txBody>
      </p:sp>
      <p:sp>
        <p:nvSpPr>
          <p:cNvPr id="20" name="Shape 18"/>
          <p:cNvSpPr/>
          <p:nvPr/>
        </p:nvSpPr>
        <p:spPr>
          <a:xfrm rot="5400000">
            <a:off x="640080" y="5312664"/>
            <a:ext cx="384048" cy="384048"/>
          </a:xfrm>
          <a:prstGeom prst="hexagon">
            <a:avLst/>
          </a:prstGeom>
          <a:solidFill>
            <a:srgbClr val="E3B23C"/>
          </a:solidFill>
          <a:ln/>
        </p:spPr>
      </p:sp>
      <p:sp>
        <p:nvSpPr>
          <p:cNvPr id="21" name="Text 19"/>
          <p:cNvSpPr/>
          <p:nvPr/>
        </p:nvSpPr>
        <p:spPr>
          <a:xfrm>
            <a:off x="640080" y="531266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2" name="Text 20"/>
          <p:cNvSpPr/>
          <p:nvPr/>
        </p:nvSpPr>
        <p:spPr>
          <a:xfrm>
            <a:off x="1207008" y="5221224"/>
            <a:ext cx="210312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The child</a:t>
            </a:r>
            <a:endParaRPr lang="en-US" sz="1700" dirty="0"/>
          </a:p>
        </p:txBody>
      </p:sp>
      <p:sp>
        <p:nvSpPr>
          <p:cNvPr id="23" name="Text 21"/>
          <p:cNvSpPr/>
          <p:nvPr/>
        </p:nvSpPr>
        <p:spPr>
          <a:xfrm>
            <a:off x="1207008" y="5586984"/>
            <a:ext cx="2103120" cy="274320"/>
          </a:xfrm>
          <a:prstGeom prst="rect">
            <a:avLst/>
          </a:prstGeom>
          <a:noFill/>
          <a:ln/>
        </p:spPr>
        <p:txBody>
          <a:bodyPr wrap="square" lIns="0" tIns="0" rIns="0" bIns="0" rtlCol="0" anchor="ctr"/>
          <a:lstStyle/>
          <a:p>
            <a:pPr indent="0" marL="0">
              <a:buNone/>
            </a:pPr>
            <a:r>
              <a:rPr lang="en-US" sz="1050" i="1" dirty="0">
                <a:solidFill>
                  <a:srgbClr val="F0B429"/>
                </a:solidFill>
                <a:latin typeface="Calibri" pitchFamily="34" charset="0"/>
                <a:ea typeface="Calibri" pitchFamily="34" charset="-122"/>
                <a:cs typeface="Calibri" pitchFamily="34" charset="-120"/>
              </a:rPr>
              <a:t>Compounds all three</a:t>
            </a:r>
            <a:endParaRPr lang="en-US" sz="1050" dirty="0"/>
          </a:p>
        </p:txBody>
      </p:sp>
      <p:sp>
        <p:nvSpPr>
          <p:cNvPr id="24" name="Text 22"/>
          <p:cNvSpPr/>
          <p:nvPr/>
        </p:nvSpPr>
        <p:spPr>
          <a:xfrm>
            <a:off x="3520440" y="5202936"/>
            <a:ext cx="8001000" cy="822960"/>
          </a:xfrm>
          <a:prstGeom prst="rect">
            <a:avLst/>
          </a:prstGeom>
          <a:noFill/>
          <a:ln/>
        </p:spPr>
        <p:txBody>
          <a:bodyPr wrap="square" lIns="0" tIns="0" rIns="0" bIns="0" rtlCol="0" anchor="ctr"/>
          <a:lstStyle/>
          <a:p>
            <a:pPr indent="0" marL="0">
              <a:lnSpc>
                <a:spcPts val="1500"/>
              </a:lnSpc>
              <a:buNone/>
            </a:pPr>
            <a:r>
              <a:rPr lang="en-US" sz="1150" dirty="0">
                <a:solidFill>
                  <a:srgbClr val="E3DCF2"/>
                </a:solidFill>
                <a:latin typeface="Calibri" pitchFamily="34" charset="0"/>
                <a:ea typeface="Calibri" pitchFamily="34" charset="-122"/>
                <a:cs typeface="Calibri" pitchFamily="34" charset="-120"/>
              </a:rPr>
              <a:t>A child who likes the app tells other children, and a champion who used it is worth more than any campaign. The CKO role exists partly for this.</a:t>
            </a:r>
            <a:endParaRPr lang="en-US" sz="1150" dirty="0"/>
          </a:p>
        </p:txBody>
      </p:sp>
      <p:sp>
        <p:nvSpPr>
          <p:cNvPr id="25" name="Text 23"/>
          <p:cNvSpPr/>
          <p:nvPr/>
        </p:nvSpPr>
        <p:spPr>
          <a:xfrm>
            <a:off x="640080" y="6263640"/>
            <a:ext cx="10607040" cy="365760"/>
          </a:xfrm>
          <a:prstGeom prst="rect">
            <a:avLst/>
          </a:prstGeom>
          <a:noFill/>
          <a:ln/>
        </p:spPr>
        <p:txBody>
          <a:bodyPr wrap="square" lIns="0" tIns="0" rIns="0" bIns="0" rtlCol="0" anchor="ctr"/>
          <a:lstStyle/>
          <a:p>
            <a:pPr indent="0" marL="0">
              <a:buNone/>
            </a:pPr>
            <a:r>
              <a:rPr lang="en-US" sz="1150" i="1" dirty="0">
                <a:solidFill>
                  <a:srgbClr val="7A7291"/>
                </a:solidFill>
                <a:latin typeface="Calibri" pitchFamily="34" charset="0"/>
                <a:ea typeface="Calibri" pitchFamily="34" charset="-122"/>
                <a:cs typeface="Calibri" pitchFamily="34" charset="-120"/>
              </a:rPr>
              <a:t>No budgets, targets or channel splits here by design — those are the CMO’s call. This slide fixes the ORDER, not the numbers.</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1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YouTube is not an ad channel</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It is the only asset that earns trust while we sleep — and the one place a parent decides whether Bizzing is serious.</a:t>
            </a:r>
            <a:endParaRPr lang="en-US" sz="1450" dirty="0"/>
          </a:p>
        </p:txBody>
      </p:sp>
      <p:sp>
        <p:nvSpPr>
          <p:cNvPr id="5" name="Shape 3"/>
          <p:cNvSpPr/>
          <p:nvPr/>
        </p:nvSpPr>
        <p:spPr>
          <a:xfrm>
            <a:off x="640080"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914400" y="2331720"/>
            <a:ext cx="420624" cy="420624"/>
          </a:xfrm>
          <a:prstGeom prst="hexagon">
            <a:avLst/>
          </a:prstGeom>
          <a:solidFill>
            <a:srgbClr val="6C4FE0"/>
          </a:solidFill>
          <a:ln/>
        </p:spPr>
      </p:sp>
      <p:sp>
        <p:nvSpPr>
          <p:cNvPr id="7" name="Text 5"/>
          <p:cNvSpPr/>
          <p:nvPr/>
        </p:nvSpPr>
        <p:spPr>
          <a:xfrm>
            <a:off x="914400"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Authority</a:t>
            </a:r>
            <a:endParaRPr lang="en-US" sz="1700" dirty="0"/>
          </a:p>
        </p:txBody>
      </p:sp>
      <p:sp>
        <p:nvSpPr>
          <p:cNvPr id="8" name="Text 6"/>
          <p:cNvSpPr/>
          <p:nvPr/>
        </p:nvSpPr>
        <p:spPr>
          <a:xfrm>
            <a:off x="914400"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parent choosing where their child practises is really asking whether we know the subject. Ten minutes of well-made history about words answers that better than any landing page.</a:t>
            </a:r>
            <a:endParaRPr lang="en-US" sz="1150" dirty="0"/>
          </a:p>
        </p:txBody>
      </p:sp>
      <p:sp>
        <p:nvSpPr>
          <p:cNvPr id="9" name="Shape 7"/>
          <p:cNvSpPr/>
          <p:nvPr/>
        </p:nvSpPr>
        <p:spPr>
          <a:xfrm>
            <a:off x="4325112"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0" name="Shape 8"/>
          <p:cNvSpPr/>
          <p:nvPr/>
        </p:nvSpPr>
        <p:spPr>
          <a:xfrm rot="5400000">
            <a:off x="4599432" y="2331720"/>
            <a:ext cx="420624" cy="420624"/>
          </a:xfrm>
          <a:prstGeom prst="hexagon">
            <a:avLst/>
          </a:prstGeom>
          <a:solidFill>
            <a:srgbClr val="F0B429"/>
          </a:solidFill>
          <a:ln/>
        </p:spPr>
      </p:sp>
      <p:sp>
        <p:nvSpPr>
          <p:cNvPr id="11" name="Text 9"/>
          <p:cNvSpPr/>
          <p:nvPr/>
        </p:nvSpPr>
        <p:spPr>
          <a:xfrm>
            <a:off x="4599432"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Discovery</a:t>
            </a:r>
            <a:endParaRPr lang="en-US" sz="1700" dirty="0"/>
          </a:p>
        </p:txBody>
      </p:sp>
      <p:sp>
        <p:nvSpPr>
          <p:cNvPr id="12" name="Text 10"/>
          <p:cNvSpPr/>
          <p:nvPr/>
        </p:nvSpPr>
        <p:spPr>
          <a:xfrm>
            <a:off x="4599432"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 algorithm reaches families we could never target — the ones who do not yet know a product like this exists. That is reach we do not have to buy.</a:t>
            </a:r>
            <a:endParaRPr lang="en-US" sz="1150" dirty="0"/>
          </a:p>
        </p:txBody>
      </p:sp>
      <p:sp>
        <p:nvSpPr>
          <p:cNvPr id="13" name="Shape 11"/>
          <p:cNvSpPr/>
          <p:nvPr/>
        </p:nvSpPr>
        <p:spPr>
          <a:xfrm>
            <a:off x="8010144" y="2103120"/>
            <a:ext cx="3410712" cy="2286000"/>
          </a:xfrm>
          <a:prstGeom prst="roundRect">
            <a:avLst>
              <a:gd name="adj" fmla="val 5600"/>
            </a:avLst>
          </a:prstGeom>
          <a:solidFill>
            <a:srgbClr val="EFEBF8"/>
          </a:solidFill>
          <a:ln/>
          <a:effectLst>
            <a:outerShdw sx="100000" sy="100000" kx="0" ky="0" algn="bl" rotWithShape="0" blurRad="127000" dist="25400" dir="5400000">
              <a:srgbClr val="241E33">
                <a:alpha val="10000"/>
              </a:srgbClr>
            </a:outerShdw>
          </a:effectLst>
        </p:spPr>
      </p:sp>
      <p:sp>
        <p:nvSpPr>
          <p:cNvPr id="14" name="Shape 12"/>
          <p:cNvSpPr/>
          <p:nvPr/>
        </p:nvSpPr>
        <p:spPr>
          <a:xfrm rot="5400000">
            <a:off x="8284464" y="2331720"/>
            <a:ext cx="420624" cy="420624"/>
          </a:xfrm>
          <a:prstGeom prst="hexagon">
            <a:avLst/>
          </a:prstGeom>
          <a:solidFill>
            <a:srgbClr val="178A4C"/>
          </a:solidFill>
          <a:ln/>
        </p:spPr>
      </p:sp>
      <p:sp>
        <p:nvSpPr>
          <p:cNvPr id="15" name="Text 13"/>
          <p:cNvSpPr/>
          <p:nvPr/>
        </p:nvSpPr>
        <p:spPr>
          <a:xfrm>
            <a:off x="8284464" y="2871216"/>
            <a:ext cx="288036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An asset, not a spend</a:t>
            </a:r>
            <a:endParaRPr lang="en-US" sz="1700" dirty="0"/>
          </a:p>
        </p:txBody>
      </p:sp>
      <p:sp>
        <p:nvSpPr>
          <p:cNvPr id="16" name="Text 14"/>
          <p:cNvSpPr/>
          <p:nvPr/>
        </p:nvSpPr>
        <p:spPr>
          <a:xfrm>
            <a:off x="8284464" y="3273552"/>
            <a:ext cx="2880360" cy="105156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A documentary published this year is still working in five. Paid media stops the moment the card stops. Over time the channel becomes the cheapest acquisition we own.</a:t>
            </a:r>
            <a:endParaRPr lang="en-US" sz="1150" dirty="0"/>
          </a:p>
        </p:txBody>
      </p:sp>
      <p:sp>
        <p:nvSpPr>
          <p:cNvPr id="17" name="Text 15"/>
          <p:cNvSpPr/>
          <p:nvPr/>
        </p:nvSpPr>
        <p:spPr>
          <a:xfrm>
            <a:off x="640080" y="4498848"/>
            <a:ext cx="5486400" cy="365760"/>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Two audiences, one video</a:t>
            </a:r>
            <a:endParaRPr lang="en-US" sz="1800" dirty="0"/>
          </a:p>
        </p:txBody>
      </p:sp>
      <p:sp>
        <p:nvSpPr>
          <p:cNvPr id="18" name="Shape 16"/>
          <p:cNvSpPr/>
          <p:nvPr/>
        </p:nvSpPr>
        <p:spPr>
          <a:xfrm rot="5400000">
            <a:off x="640080" y="4974336"/>
            <a:ext cx="274320" cy="274320"/>
          </a:xfrm>
          <a:prstGeom prst="hexagon">
            <a:avLst/>
          </a:prstGeom>
          <a:solidFill>
            <a:srgbClr val="6C4FE0"/>
          </a:solidFill>
          <a:ln/>
        </p:spPr>
      </p:sp>
      <p:sp>
        <p:nvSpPr>
          <p:cNvPr id="19" name="Text 17"/>
          <p:cNvSpPr/>
          <p:nvPr/>
        </p:nvSpPr>
        <p:spPr>
          <a:xfrm>
            <a:off x="104241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parent decides.</a:t>
            </a:r>
            <a:endParaRPr lang="en-US" sz="1300" dirty="0"/>
          </a:p>
        </p:txBody>
      </p:sp>
      <p:sp>
        <p:nvSpPr>
          <p:cNvPr id="20" name="Text 18"/>
          <p:cNvSpPr/>
          <p:nvPr/>
        </p:nvSpPr>
        <p:spPr>
          <a:xfrm>
            <a:off x="104241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to see rigour — real sources, real history, nothing that feels like a cartoon selling something.</a:t>
            </a:r>
            <a:endParaRPr lang="en-US" sz="1150" dirty="0"/>
          </a:p>
        </p:txBody>
      </p:sp>
      <p:sp>
        <p:nvSpPr>
          <p:cNvPr id="21" name="Shape 19"/>
          <p:cNvSpPr/>
          <p:nvPr/>
        </p:nvSpPr>
        <p:spPr>
          <a:xfrm rot="5400000">
            <a:off x="6035040" y="4974336"/>
            <a:ext cx="274320" cy="274320"/>
          </a:xfrm>
          <a:prstGeom prst="hexagon">
            <a:avLst/>
          </a:prstGeom>
          <a:solidFill>
            <a:srgbClr val="F0B429"/>
          </a:solidFill>
          <a:ln/>
        </p:spPr>
      </p:sp>
      <p:sp>
        <p:nvSpPr>
          <p:cNvPr id="22" name="Text 20"/>
          <p:cNvSpPr/>
          <p:nvPr/>
        </p:nvSpPr>
        <p:spPr>
          <a:xfrm>
            <a:off x="6437376" y="4919472"/>
            <a:ext cx="4572000" cy="310896"/>
          </a:xfrm>
          <a:prstGeom prst="rect">
            <a:avLst/>
          </a:prstGeom>
          <a:noFill/>
          <a:ln/>
        </p:spPr>
        <p:txBody>
          <a:bodyPr wrap="square" lIns="0" tIns="0" rIns="0" bIns="0" rtlCol="0" anchor="ctr"/>
          <a:lstStyle/>
          <a:p>
            <a:pPr indent="0" marL="0">
              <a:buNone/>
            </a:pPr>
            <a:r>
              <a:rPr lang="en-US" sz="1300" b="1" dirty="0">
                <a:solidFill>
                  <a:srgbClr val="241E33"/>
                </a:solidFill>
                <a:latin typeface="Calibri" pitchFamily="34" charset="0"/>
                <a:ea typeface="Calibri" pitchFamily="34" charset="-122"/>
                <a:cs typeface="Calibri" pitchFamily="34" charset="-120"/>
              </a:rPr>
              <a:t>The child watches.</a:t>
            </a:r>
            <a:endParaRPr lang="en-US" sz="1300" dirty="0"/>
          </a:p>
        </p:txBody>
      </p:sp>
      <p:sp>
        <p:nvSpPr>
          <p:cNvPr id="23" name="Text 21"/>
          <p:cNvSpPr/>
          <p:nvPr/>
        </p:nvSpPr>
        <p:spPr>
          <a:xfrm>
            <a:off x="6437376" y="5230368"/>
            <a:ext cx="4572000" cy="640080"/>
          </a:xfrm>
          <a:prstGeom prst="rect">
            <a:avLst/>
          </a:prstGeom>
          <a:noFill/>
          <a:ln/>
        </p:spPr>
        <p:txBody>
          <a:bodyPr wrap="square" lIns="0" tIns="0" rIns="0" bIns="0" rtlCol="0" anchor="ctr"/>
          <a:lstStyle/>
          <a:p>
            <a:pPr indent="0" marL="0">
              <a:lnSpc>
                <a:spcPts val="1500"/>
              </a:lnSpc>
              <a:buNone/>
            </a:pPr>
            <a:r>
              <a:rPr lang="en-US" sz="1150" dirty="0">
                <a:solidFill>
                  <a:srgbClr val="4A4360"/>
                </a:solidFill>
                <a:latin typeface="Calibri" pitchFamily="34" charset="0"/>
                <a:ea typeface="Calibri" pitchFamily="34" charset="-122"/>
                <a:cs typeface="Calibri" pitchFamily="34" charset="-120"/>
              </a:rPr>
              <a:t>They need story and pace. If the child is bored the parent never finishes it either.</a:t>
            </a:r>
            <a:endParaRPr lang="en-US" sz="1150" dirty="0"/>
          </a:p>
        </p:txBody>
      </p:sp>
      <p:sp>
        <p:nvSpPr>
          <p:cNvPr id="24" name="Text 22"/>
          <p:cNvSpPr/>
          <p:nvPr/>
        </p:nvSpPr>
        <p:spPr>
          <a:xfrm>
            <a:off x="640080" y="6035040"/>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The rule that follows: the video never sells. The product is named once, at the end, and that is the whole ask.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2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Four content pillars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Each pillar does a different job in the funnel. Together they cover reach, trust and intent.</a:t>
            </a:r>
            <a:endParaRPr lang="en-US" sz="1450" dirty="0"/>
          </a:p>
        </p:txBody>
      </p:sp>
      <p:sp>
        <p:nvSpPr>
          <p:cNvPr id="5" name="Shape 3"/>
          <p:cNvSpPr/>
          <p:nvPr/>
        </p:nvSpPr>
        <p:spPr>
          <a:xfrm>
            <a:off x="640080" y="201168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6" name="Shape 4"/>
          <p:cNvSpPr/>
          <p:nvPr/>
        </p:nvSpPr>
        <p:spPr>
          <a:xfrm rot="5400000">
            <a:off x="877824" y="2231136"/>
            <a:ext cx="384048" cy="384048"/>
          </a:xfrm>
          <a:prstGeom prst="hexagon">
            <a:avLst/>
          </a:prstGeom>
          <a:solidFill>
            <a:srgbClr val="6C4FE0"/>
          </a:solidFill>
          <a:ln/>
        </p:spPr>
      </p:sp>
      <p:sp>
        <p:nvSpPr>
          <p:cNvPr id="7" name="Text 5"/>
          <p:cNvSpPr/>
          <p:nvPr/>
        </p:nvSpPr>
        <p:spPr>
          <a:xfrm>
            <a:off x="140817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Story documentaries</a:t>
            </a:r>
            <a:endParaRPr lang="en-US" sz="1600" dirty="0"/>
          </a:p>
        </p:txBody>
      </p:sp>
      <p:sp>
        <p:nvSpPr>
          <p:cNvPr id="8" name="Shape 6"/>
          <p:cNvSpPr/>
          <p:nvPr/>
        </p:nvSpPr>
        <p:spPr>
          <a:xfrm>
            <a:off x="4526280" y="2249424"/>
            <a:ext cx="960120" cy="256032"/>
          </a:xfrm>
          <a:prstGeom prst="roundRect">
            <a:avLst>
              <a:gd name="adj" fmla="val 50000"/>
            </a:avLst>
          </a:prstGeom>
          <a:solidFill>
            <a:srgbClr val="E3DCF2"/>
          </a:solidFill>
          <a:ln/>
        </p:spPr>
      </p:sp>
      <p:sp>
        <p:nvSpPr>
          <p:cNvPr id="9" name="Text 7"/>
          <p:cNvSpPr/>
          <p:nvPr/>
        </p:nvSpPr>
        <p:spPr>
          <a:xfrm>
            <a:off x="452628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Long form</a:t>
            </a:r>
            <a:endParaRPr lang="en-US" sz="800" dirty="0"/>
          </a:p>
        </p:txBody>
      </p:sp>
      <p:sp>
        <p:nvSpPr>
          <p:cNvPr id="10" name="Text 8"/>
          <p:cNvSpPr/>
          <p:nvPr/>
        </p:nvSpPr>
        <p:spPr>
          <a:xfrm>
            <a:off x="87782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True stories about words and the people who used them. "Before the Bee" — the 1908 contest and the girl whose medal was never found. "The Right Word" — four times somebody reached for a word and the world changed.</a:t>
            </a:r>
            <a:endParaRPr lang="en-US" sz="1100" dirty="0"/>
          </a:p>
        </p:txBody>
      </p:sp>
      <p:sp>
        <p:nvSpPr>
          <p:cNvPr id="11" name="Text 9"/>
          <p:cNvSpPr/>
          <p:nvPr/>
        </p:nvSpPr>
        <p:spPr>
          <a:xfrm>
            <a:off x="87782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Authority. The piece a parent shares with another parent.</a:t>
            </a:r>
            <a:endParaRPr lang="en-US" sz="1050" dirty="0"/>
          </a:p>
        </p:txBody>
      </p:sp>
      <p:sp>
        <p:nvSpPr>
          <p:cNvPr id="12" name="Shape 10"/>
          <p:cNvSpPr/>
          <p:nvPr/>
        </p:nvSpPr>
        <p:spPr>
          <a:xfrm>
            <a:off x="6035040" y="201168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13" name="Shape 11"/>
          <p:cNvSpPr/>
          <p:nvPr/>
        </p:nvSpPr>
        <p:spPr>
          <a:xfrm>
            <a:off x="6035040" y="2011680"/>
            <a:ext cx="5074920" cy="1783080"/>
          </a:xfrm>
          <a:prstGeom prst="roundRect">
            <a:avLst>
              <a:gd name="adj" fmla="val 7179"/>
            </a:avLst>
          </a:prstGeom>
          <a:solidFill>
            <a:srgbClr val="FFFFFF"/>
          </a:solidFill>
          <a:ln w="15875">
            <a:solidFill>
              <a:srgbClr val="E3DCF2"/>
            </a:solidFill>
            <a:prstDash val="solid"/>
          </a:ln>
        </p:spPr>
      </p:sp>
      <p:sp>
        <p:nvSpPr>
          <p:cNvPr id="14" name="Shape 12"/>
          <p:cNvSpPr/>
          <p:nvPr/>
        </p:nvSpPr>
        <p:spPr>
          <a:xfrm rot="5400000">
            <a:off x="6272784" y="2231136"/>
            <a:ext cx="384048" cy="384048"/>
          </a:xfrm>
          <a:prstGeom prst="hexagon">
            <a:avLst/>
          </a:prstGeom>
          <a:solidFill>
            <a:srgbClr val="F0B429"/>
          </a:solidFill>
          <a:ln/>
        </p:spPr>
      </p:sp>
      <p:sp>
        <p:nvSpPr>
          <p:cNvPr id="15" name="Text 13"/>
          <p:cNvSpPr/>
          <p:nvPr/>
        </p:nvSpPr>
        <p:spPr>
          <a:xfrm>
            <a:off x="6803136" y="219456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Word-origin shorts</a:t>
            </a:r>
            <a:endParaRPr lang="en-US" sz="1600" dirty="0"/>
          </a:p>
        </p:txBody>
      </p:sp>
      <p:sp>
        <p:nvSpPr>
          <p:cNvPr id="16" name="Shape 14"/>
          <p:cNvSpPr/>
          <p:nvPr/>
        </p:nvSpPr>
        <p:spPr>
          <a:xfrm>
            <a:off x="9921240" y="2249424"/>
            <a:ext cx="960120" cy="256032"/>
          </a:xfrm>
          <a:prstGeom prst="roundRect">
            <a:avLst>
              <a:gd name="adj" fmla="val 50000"/>
            </a:avLst>
          </a:prstGeom>
          <a:solidFill>
            <a:srgbClr val="E3DCF2"/>
          </a:solidFill>
          <a:ln/>
        </p:spPr>
      </p:sp>
      <p:sp>
        <p:nvSpPr>
          <p:cNvPr id="17" name="Text 15"/>
          <p:cNvSpPr/>
          <p:nvPr/>
        </p:nvSpPr>
        <p:spPr>
          <a:xfrm>
            <a:off x="9921240" y="224942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Short form</a:t>
            </a:r>
            <a:endParaRPr lang="en-US" sz="800" dirty="0"/>
          </a:p>
        </p:txBody>
      </p:sp>
      <p:sp>
        <p:nvSpPr>
          <p:cNvPr id="18" name="Text 16"/>
          <p:cNvSpPr/>
          <p:nvPr/>
        </p:nvSpPr>
        <p:spPr>
          <a:xfrm>
            <a:off x="6272784" y="263347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One word, one surprising origin, under a minute. Why "knight" keeps a silent K. Why the menu says beef and the field says cow. Built straight from the app’s existing etymology bank.</a:t>
            </a:r>
            <a:endParaRPr lang="en-US" sz="1100" dirty="0"/>
          </a:p>
        </p:txBody>
      </p:sp>
      <p:sp>
        <p:nvSpPr>
          <p:cNvPr id="19" name="Text 17"/>
          <p:cNvSpPr/>
          <p:nvPr/>
        </p:nvSpPr>
        <p:spPr>
          <a:xfrm>
            <a:off x="6272784" y="336499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Reach. Volume the algorithm can work with, at almost no marginal cost.</a:t>
            </a:r>
            <a:endParaRPr lang="en-US" sz="1050" dirty="0"/>
          </a:p>
        </p:txBody>
      </p:sp>
      <p:sp>
        <p:nvSpPr>
          <p:cNvPr id="20" name="Shape 18"/>
          <p:cNvSpPr/>
          <p:nvPr/>
        </p:nvSpPr>
        <p:spPr>
          <a:xfrm>
            <a:off x="640080" y="4023360"/>
            <a:ext cx="5074920" cy="1783080"/>
          </a:xfrm>
          <a:prstGeom prst="roundRect">
            <a:avLst>
              <a:gd name="adj" fmla="val 7179"/>
            </a:avLst>
          </a:prstGeom>
          <a:solidFill>
            <a:srgbClr val="FFFFFF"/>
          </a:solidFill>
          <a:ln/>
          <a:effectLst>
            <a:outerShdw sx="100000" sy="100000" kx="0" ky="0" algn="bl" rotWithShape="0" blurRad="127000" dist="25400" dir="5400000">
              <a:srgbClr val="241E33">
                <a:alpha val="10000"/>
              </a:srgbClr>
            </a:outerShdw>
          </a:effectLst>
        </p:spPr>
      </p:sp>
      <p:sp>
        <p:nvSpPr>
          <p:cNvPr id="21" name="Shape 19"/>
          <p:cNvSpPr/>
          <p:nvPr/>
        </p:nvSpPr>
        <p:spPr>
          <a:xfrm>
            <a:off x="640080" y="4023360"/>
            <a:ext cx="5074920" cy="1783080"/>
          </a:xfrm>
          <a:prstGeom prst="roundRect">
            <a:avLst>
              <a:gd name="adj" fmla="val 7179"/>
            </a:avLst>
          </a:prstGeom>
          <a:solidFill>
            <a:srgbClr val="FFFFFF"/>
          </a:solidFill>
          <a:ln w="15875">
            <a:solidFill>
              <a:srgbClr val="E3DCF2"/>
            </a:solidFill>
            <a:prstDash val="solid"/>
          </a:ln>
        </p:spPr>
      </p:sp>
      <p:sp>
        <p:nvSpPr>
          <p:cNvPr id="22" name="Shape 20"/>
          <p:cNvSpPr/>
          <p:nvPr/>
        </p:nvSpPr>
        <p:spPr>
          <a:xfrm rot="5400000">
            <a:off x="877824" y="4242816"/>
            <a:ext cx="384048" cy="384048"/>
          </a:xfrm>
          <a:prstGeom prst="hexagon">
            <a:avLst/>
          </a:prstGeom>
          <a:solidFill>
            <a:srgbClr val="178A4C"/>
          </a:solidFill>
          <a:ln/>
        </p:spPr>
      </p:sp>
      <p:sp>
        <p:nvSpPr>
          <p:cNvPr id="23" name="Text 21"/>
          <p:cNvSpPr/>
          <p:nvPr/>
        </p:nvSpPr>
        <p:spPr>
          <a:xfrm>
            <a:off x="140817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Bee craft</a:t>
            </a:r>
            <a:endParaRPr lang="en-US" sz="1600" dirty="0"/>
          </a:p>
        </p:txBody>
      </p:sp>
      <p:sp>
        <p:nvSpPr>
          <p:cNvPr id="24" name="Shape 22"/>
          <p:cNvSpPr/>
          <p:nvPr/>
        </p:nvSpPr>
        <p:spPr>
          <a:xfrm>
            <a:off x="4526280" y="4261104"/>
            <a:ext cx="960120" cy="256032"/>
          </a:xfrm>
          <a:prstGeom prst="roundRect">
            <a:avLst>
              <a:gd name="adj" fmla="val 50000"/>
            </a:avLst>
          </a:prstGeom>
          <a:solidFill>
            <a:srgbClr val="E3DCF2"/>
          </a:solidFill>
          <a:ln/>
        </p:spPr>
      </p:sp>
      <p:sp>
        <p:nvSpPr>
          <p:cNvPr id="25" name="Text 23"/>
          <p:cNvSpPr/>
          <p:nvPr/>
        </p:nvSpPr>
        <p:spPr>
          <a:xfrm>
            <a:off x="452628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Mid form</a:t>
            </a:r>
            <a:endParaRPr lang="en-US" sz="800" dirty="0"/>
          </a:p>
        </p:txBody>
      </p:sp>
      <p:sp>
        <p:nvSpPr>
          <p:cNvPr id="26" name="Text 24"/>
          <p:cNvSpPr/>
          <p:nvPr/>
        </p:nvSpPr>
        <p:spPr>
          <a:xfrm>
            <a:off x="87782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How champions actually study: root patterns, language-of-origin cues, what to ask the pronouncer, how to handle a word you have never seen.</a:t>
            </a:r>
            <a:endParaRPr lang="en-US" sz="1100" dirty="0"/>
          </a:p>
        </p:txBody>
      </p:sp>
      <p:sp>
        <p:nvSpPr>
          <p:cNvPr id="27" name="Text 25"/>
          <p:cNvSpPr/>
          <p:nvPr/>
        </p:nvSpPr>
        <p:spPr>
          <a:xfrm>
            <a:off x="87782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Intent. These viewers are already preparing — the shortest path to a trial.</a:t>
            </a:r>
            <a:endParaRPr lang="en-US" sz="1050" dirty="0"/>
          </a:p>
        </p:txBody>
      </p:sp>
      <p:sp>
        <p:nvSpPr>
          <p:cNvPr id="28" name="Shape 26"/>
          <p:cNvSpPr/>
          <p:nvPr/>
        </p:nvSpPr>
        <p:spPr>
          <a:xfrm>
            <a:off x="6035040" y="4023360"/>
            <a:ext cx="5074920" cy="1783080"/>
          </a:xfrm>
          <a:prstGeom prst="roundRect">
            <a:avLst>
              <a:gd name="adj" fmla="val 7179"/>
            </a:avLst>
          </a:prstGeom>
          <a:solidFill>
            <a:srgbClr val="EFEBF8"/>
          </a:solidFill>
          <a:ln/>
          <a:effectLst>
            <a:outerShdw sx="100000" sy="100000" kx="0" ky="0" algn="bl" rotWithShape="0" blurRad="127000" dist="25400" dir="5400000">
              <a:srgbClr val="241E33">
                <a:alpha val="10000"/>
              </a:srgbClr>
            </a:outerShdw>
          </a:effectLst>
        </p:spPr>
      </p:sp>
      <p:sp>
        <p:nvSpPr>
          <p:cNvPr id="29" name="Shape 27"/>
          <p:cNvSpPr/>
          <p:nvPr/>
        </p:nvSpPr>
        <p:spPr>
          <a:xfrm rot="5400000">
            <a:off x="6272784" y="4242816"/>
            <a:ext cx="384048" cy="384048"/>
          </a:xfrm>
          <a:prstGeom prst="hexagon">
            <a:avLst/>
          </a:prstGeom>
          <a:solidFill>
            <a:srgbClr val="E3B23C"/>
          </a:solidFill>
          <a:ln/>
        </p:spPr>
      </p:sp>
      <p:sp>
        <p:nvSpPr>
          <p:cNvPr id="30" name="Text 28"/>
          <p:cNvSpPr/>
          <p:nvPr/>
        </p:nvSpPr>
        <p:spPr>
          <a:xfrm>
            <a:off x="6803136" y="4206240"/>
            <a:ext cx="3017520" cy="365760"/>
          </a:xfrm>
          <a:prstGeom prst="rect">
            <a:avLst/>
          </a:prstGeom>
          <a:noFill/>
          <a:ln/>
        </p:spPr>
        <p:txBody>
          <a:bodyPr wrap="square" lIns="0" tIns="0" rIns="0" bIns="0" rtlCol="0" anchor="ctr"/>
          <a:lstStyle/>
          <a:p>
            <a:pPr indent="0" marL="0">
              <a:buNone/>
            </a:pPr>
            <a:r>
              <a:rPr lang="en-US" sz="1600" b="1" dirty="0">
                <a:solidFill>
                  <a:srgbClr val="241E33"/>
                </a:solidFill>
                <a:latin typeface="Cambria" pitchFamily="34" charset="0"/>
                <a:ea typeface="Cambria" pitchFamily="34" charset="-122"/>
                <a:cs typeface="Cambria" pitchFamily="34" charset="-120"/>
              </a:rPr>
              <a:t>Culture &amp; India</a:t>
            </a:r>
            <a:endParaRPr lang="en-US" sz="1600" dirty="0"/>
          </a:p>
        </p:txBody>
      </p:sp>
      <p:sp>
        <p:nvSpPr>
          <p:cNvPr id="31" name="Shape 29"/>
          <p:cNvSpPr/>
          <p:nvPr/>
        </p:nvSpPr>
        <p:spPr>
          <a:xfrm>
            <a:off x="9921240" y="4261104"/>
            <a:ext cx="960120" cy="256032"/>
          </a:xfrm>
          <a:prstGeom prst="roundRect">
            <a:avLst>
              <a:gd name="adj" fmla="val 50000"/>
            </a:avLst>
          </a:prstGeom>
          <a:solidFill>
            <a:srgbClr val="E3DCF2"/>
          </a:solidFill>
          <a:ln/>
        </p:spPr>
      </p:sp>
      <p:sp>
        <p:nvSpPr>
          <p:cNvPr id="32" name="Text 30"/>
          <p:cNvSpPr/>
          <p:nvPr/>
        </p:nvSpPr>
        <p:spPr>
          <a:xfrm>
            <a:off x="9921240" y="4261104"/>
            <a:ext cx="960120" cy="256032"/>
          </a:xfrm>
          <a:prstGeom prst="rect">
            <a:avLst/>
          </a:prstGeom>
          <a:noFill/>
          <a:ln/>
        </p:spPr>
        <p:txBody>
          <a:bodyPr wrap="square" lIns="0" tIns="0" rIns="0" bIns="0" rtlCol="0" anchor="ctr"/>
          <a:lstStyle/>
          <a:p>
            <a:pPr algn="ctr" indent="0" marL="0">
              <a:buNone/>
            </a:pPr>
            <a:r>
              <a:rPr lang="en-US" sz="800" b="1" dirty="0">
                <a:solidFill>
                  <a:srgbClr val="4A31B0"/>
                </a:solidFill>
                <a:latin typeface="Calibri" pitchFamily="34" charset="0"/>
                <a:ea typeface="Calibri" pitchFamily="34" charset="-122"/>
                <a:cs typeface="Calibri" pitchFamily="34" charset="-120"/>
              </a:rPr>
              <a:t>Mixed</a:t>
            </a:r>
            <a:endParaRPr lang="en-US" sz="800" dirty="0"/>
          </a:p>
        </p:txBody>
      </p:sp>
      <p:sp>
        <p:nvSpPr>
          <p:cNvPr id="33" name="Text 31"/>
          <p:cNvSpPr/>
          <p:nvPr/>
        </p:nvSpPr>
        <p:spPr>
          <a:xfrm>
            <a:off x="6272784" y="4645152"/>
            <a:ext cx="4617720" cy="713232"/>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Festivals, mythology, the words English took from India, why the diaspora spells the way it does. Feeds Bizzing India directly.</a:t>
            </a:r>
            <a:endParaRPr lang="en-US" sz="1100" dirty="0"/>
          </a:p>
        </p:txBody>
      </p:sp>
      <p:sp>
        <p:nvSpPr>
          <p:cNvPr id="34" name="Text 32"/>
          <p:cNvSpPr/>
          <p:nvPr/>
        </p:nvSpPr>
        <p:spPr>
          <a:xfrm>
            <a:off x="6272784" y="5376672"/>
            <a:ext cx="4617720" cy="347472"/>
          </a:xfrm>
          <a:prstGeom prst="rect">
            <a:avLst/>
          </a:prstGeom>
          <a:noFill/>
          <a:ln/>
        </p:spPr>
        <p:txBody>
          <a:bodyPr wrap="square" lIns="0" tIns="0" rIns="0" bIns="0" rtlCol="0" anchor="ctr"/>
          <a:lstStyle/>
          <a:p>
            <a:pPr indent="0" marL="0">
              <a:lnSpc>
                <a:spcPts val="1300"/>
              </a:lnSpc>
              <a:buNone/>
            </a:pPr>
            <a:r>
              <a:rPr lang="en-US" sz="1050" b="1" i="1" dirty="0">
                <a:solidFill>
                  <a:srgbClr val="4A31B0"/>
                </a:solidFill>
                <a:latin typeface="Calibri" pitchFamily="34" charset="0"/>
                <a:ea typeface="Calibri" pitchFamily="34" charset="-122"/>
                <a:cs typeface="Calibri" pitchFamily="34" charset="-120"/>
              </a:rPr>
              <a:t>Job:  </a:t>
            </a:r>
            <a:pPr indent="0" marL="0">
              <a:lnSpc>
                <a:spcPts val="1300"/>
              </a:lnSpc>
              <a:buNone/>
            </a:pPr>
            <a:r>
              <a:rPr lang="en-US" sz="1050" i="1" dirty="0">
                <a:solidFill>
                  <a:srgbClr val="4A31B0"/>
                </a:solidFill>
                <a:latin typeface="Calibri" pitchFamily="34" charset="0"/>
                <a:ea typeface="Calibri" pitchFamily="34" charset="-122"/>
                <a:cs typeface="Calibri" pitchFamily="34" charset="-120"/>
              </a:rPr>
              <a:t>Connection. The pillar that makes this channel ours and nobody else’s.</a:t>
            </a:r>
            <a:endParaRPr lang="en-US" sz="1050" dirty="0"/>
          </a:p>
        </p:txBody>
      </p:sp>
      <p:sp>
        <p:nvSpPr>
          <p:cNvPr id="35" name="Text 33"/>
          <p:cNvSpPr/>
          <p:nvPr/>
        </p:nvSpPr>
        <p:spPr>
          <a:xfrm>
            <a:off x="640080" y="6053328"/>
            <a:ext cx="10607040" cy="365760"/>
          </a:xfrm>
          <a:prstGeom prst="rect">
            <a:avLst/>
          </a:prstGeom>
          <a:noFill/>
          <a:ln/>
        </p:spPr>
        <p:txBody>
          <a:bodyPr wrap="square" lIns="0" tIns="0" rIns="0" bIns="0" rtlCol="0" anchor="ctr"/>
          <a:lstStyle/>
          <a:p>
            <a:pPr indent="0" marL="0">
              <a:buNone/>
            </a:pPr>
            <a:r>
              <a:rPr lang="en-US" sz="1400" i="1" dirty="0">
                <a:solidFill>
                  <a:srgbClr val="6C4FE0"/>
                </a:solidFill>
                <a:latin typeface="Cambria" pitchFamily="34" charset="0"/>
                <a:ea typeface="Cambria" pitchFamily="34" charset="-122"/>
                <a:cs typeface="Cambria" pitchFamily="34" charset="-120"/>
              </a:rPr>
              <a:t>One documentary yields six to ten shorts, and a shorts run seeds a book chapter. Nothing is made once.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CONTENT STRATEGY · 3 OF 3</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How it runs, and where it lands</a:t>
            </a:r>
            <a:endParaRPr lang="en-US" sz="2900" dirty="0"/>
          </a:p>
        </p:txBody>
      </p:sp>
      <p:sp>
        <p:nvSpPr>
          <p:cNvPr id="4" name="Text 2"/>
          <p:cNvSpPr/>
          <p:nvPr/>
        </p:nvSpPr>
        <p:spPr>
          <a:xfrm>
            <a:off x="640080" y="1463040"/>
            <a:ext cx="457200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Production</a:t>
            </a:r>
            <a:endParaRPr lang="en-US" sz="1800" dirty="0"/>
          </a:p>
        </p:txBody>
      </p:sp>
      <p:sp>
        <p:nvSpPr>
          <p:cNvPr id="5" name="Shape 3"/>
          <p:cNvSpPr/>
          <p:nvPr/>
        </p:nvSpPr>
        <p:spPr>
          <a:xfrm rot="5400000">
            <a:off x="640080" y="1901952"/>
            <a:ext cx="384048" cy="384048"/>
          </a:xfrm>
          <a:prstGeom prst="hexagon">
            <a:avLst/>
          </a:prstGeom>
          <a:solidFill>
            <a:srgbClr val="6C4FE0"/>
          </a:solidFill>
          <a:ln/>
        </p:spPr>
      </p:sp>
      <p:sp>
        <p:nvSpPr>
          <p:cNvPr id="6" name="Text 4"/>
          <p:cNvSpPr/>
          <p:nvPr/>
        </p:nvSpPr>
        <p:spPr>
          <a:xfrm>
            <a:off x="64008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188720" y="1901952"/>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Script written to one message, checked against sources</a:t>
            </a:r>
            <a:endParaRPr lang="en-US" sz="1150" dirty="0"/>
          </a:p>
        </p:txBody>
      </p:sp>
      <p:sp>
        <p:nvSpPr>
          <p:cNvPr id="8" name="Shape 6"/>
          <p:cNvSpPr/>
          <p:nvPr/>
        </p:nvSpPr>
        <p:spPr>
          <a:xfrm rot="5400000">
            <a:off x="640080" y="2468880"/>
            <a:ext cx="384048" cy="384048"/>
          </a:xfrm>
          <a:prstGeom prst="hexagon">
            <a:avLst/>
          </a:prstGeom>
          <a:solidFill>
            <a:srgbClr val="6C4FE0"/>
          </a:solidFill>
          <a:ln/>
        </p:spPr>
      </p:sp>
      <p:sp>
        <p:nvSpPr>
          <p:cNvPr id="9" name="Text 7"/>
          <p:cNvSpPr/>
          <p:nvPr/>
        </p:nvSpPr>
        <p:spPr>
          <a:xfrm>
            <a:off x="640080" y="2468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88720" y="2468880"/>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Narration generated and blind-verified for accent and words</a:t>
            </a:r>
            <a:endParaRPr lang="en-US" sz="1150" dirty="0"/>
          </a:p>
        </p:txBody>
      </p:sp>
      <p:sp>
        <p:nvSpPr>
          <p:cNvPr id="11" name="Shape 9"/>
          <p:cNvSpPr/>
          <p:nvPr/>
        </p:nvSpPr>
        <p:spPr>
          <a:xfrm rot="5400000">
            <a:off x="640080" y="3035808"/>
            <a:ext cx="384048" cy="384048"/>
          </a:xfrm>
          <a:prstGeom prst="hexagon">
            <a:avLst/>
          </a:prstGeom>
          <a:solidFill>
            <a:srgbClr val="6C4FE0"/>
          </a:solidFill>
          <a:ln/>
        </p:spPr>
      </p:sp>
      <p:sp>
        <p:nvSpPr>
          <p:cNvPr id="12" name="Text 10"/>
          <p:cNvSpPr/>
          <p:nvPr/>
        </p:nvSpPr>
        <p:spPr>
          <a:xfrm>
            <a:off x="64008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3" name="Text 11"/>
          <p:cNvSpPr/>
          <p:nvPr/>
        </p:nvSpPr>
        <p:spPr>
          <a:xfrm>
            <a:off x="1188720" y="3035808"/>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Plates generated; archive photographs used where a real person appears</a:t>
            </a:r>
            <a:endParaRPr lang="en-US" sz="1150" dirty="0"/>
          </a:p>
        </p:txBody>
      </p:sp>
      <p:sp>
        <p:nvSpPr>
          <p:cNvPr id="14" name="Shape 12"/>
          <p:cNvSpPr/>
          <p:nvPr/>
        </p:nvSpPr>
        <p:spPr>
          <a:xfrm rot="5400000">
            <a:off x="640080" y="3602736"/>
            <a:ext cx="384048" cy="384048"/>
          </a:xfrm>
          <a:prstGeom prst="hexagon">
            <a:avLst/>
          </a:prstGeom>
          <a:solidFill>
            <a:srgbClr val="6C4FE0"/>
          </a:solidFill>
          <a:ln/>
        </p:spPr>
      </p:sp>
      <p:sp>
        <p:nvSpPr>
          <p:cNvPr id="15" name="Text 13"/>
          <p:cNvSpPr/>
          <p:nvPr/>
        </p:nvSpPr>
        <p:spPr>
          <a:xfrm>
            <a:off x="640080" y="3602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6" name="Text 14"/>
          <p:cNvSpPr/>
          <p:nvPr/>
        </p:nvSpPr>
        <p:spPr>
          <a:xfrm>
            <a:off x="1188720" y="3602736"/>
            <a:ext cx="4663440" cy="457200"/>
          </a:xfrm>
          <a:prstGeom prst="rect">
            <a:avLst/>
          </a:prstGeom>
          <a:noFill/>
          <a:ln/>
        </p:spPr>
        <p:txBody>
          <a:bodyPr wrap="square" lIns="0" tIns="0" rIns="0" bIns="0" rtlCol="0" anchor="ctr"/>
          <a:lstStyle/>
          <a:p>
            <a:pPr indent="0" marL="0">
              <a:lnSpc>
                <a:spcPts val="1400"/>
              </a:lnSpc>
              <a:buNone/>
            </a:pPr>
            <a:r>
              <a:rPr lang="en-US" sz="1150" dirty="0">
                <a:solidFill>
                  <a:srgbClr val="4A4360"/>
                </a:solidFill>
                <a:latin typeface="Calibri" pitchFamily="34" charset="0"/>
                <a:ea typeface="Calibri" pitchFamily="34" charset="-122"/>
                <a:cs typeface="Calibri" pitchFamily="34" charset="-120"/>
              </a:rPr>
              <a:t>Assembled by the render pipeline, timed to the narration</a:t>
            </a:r>
            <a:endParaRPr lang="en-US" sz="1150" dirty="0"/>
          </a:p>
        </p:txBody>
      </p:sp>
      <p:sp>
        <p:nvSpPr>
          <p:cNvPr id="17" name="Shape 15"/>
          <p:cNvSpPr/>
          <p:nvPr/>
        </p:nvSpPr>
        <p:spPr>
          <a:xfrm>
            <a:off x="640080" y="4261104"/>
            <a:ext cx="5212080" cy="841248"/>
          </a:xfrm>
          <a:prstGeom prst="roundRect">
            <a:avLst>
              <a:gd name="adj" fmla="val 15217"/>
            </a:avLst>
          </a:prstGeom>
          <a:solidFill>
            <a:srgbClr val="EFEBF8"/>
          </a:solidFill>
          <a:ln/>
          <a:effectLst>
            <a:outerShdw sx="100000" sy="100000" kx="0" ky="0" algn="bl" rotWithShape="0" blurRad="127000" dist="25400" dir="5400000">
              <a:srgbClr val="241E33">
                <a:alpha val="10000"/>
              </a:srgbClr>
            </a:outerShdw>
          </a:effectLst>
        </p:spPr>
      </p:sp>
      <p:sp>
        <p:nvSpPr>
          <p:cNvPr id="18" name="Text 16"/>
          <p:cNvSpPr/>
          <p:nvPr/>
        </p:nvSpPr>
        <p:spPr>
          <a:xfrm>
            <a:off x="896112" y="4261104"/>
            <a:ext cx="4700016" cy="841248"/>
          </a:xfrm>
          <a:prstGeom prst="rect">
            <a:avLst/>
          </a:prstGeom>
          <a:noFill/>
          <a:ln/>
        </p:spPr>
        <p:txBody>
          <a:bodyPr wrap="square" lIns="0" tIns="0" rIns="0" bIns="0" rtlCol="0" anchor="ctr"/>
          <a:lstStyle/>
          <a:p>
            <a:pPr indent="0" marL="0">
              <a:lnSpc>
                <a:spcPts val="1500"/>
              </a:lnSpc>
              <a:buNone/>
            </a:pPr>
            <a:r>
              <a:rPr lang="en-US" sz="1150" i="1" dirty="0">
                <a:solidFill>
                  <a:srgbClr val="4A31B0"/>
                </a:solidFill>
                <a:latin typeface="Calibri" pitchFamily="34" charset="0"/>
                <a:ea typeface="Calibri" pitchFamily="34" charset="-122"/>
                <a:cs typeface="Calibri" pitchFamily="34" charset="-120"/>
              </a:rPr>
              <a:t>Two episodes are already built this way, founder-run, with no editor, agency or studio.</a:t>
            </a:r>
            <a:endParaRPr lang="en-US" sz="1150" dirty="0"/>
          </a:p>
        </p:txBody>
      </p:sp>
      <p:sp>
        <p:nvSpPr>
          <p:cNvPr id="19" name="Text 17"/>
          <p:cNvSpPr/>
          <p:nvPr/>
        </p:nvSpPr>
        <p:spPr>
          <a:xfrm>
            <a:off x="6309360" y="1463040"/>
            <a:ext cx="4937760" cy="329184"/>
          </a:xfrm>
          <a:prstGeom prst="rect">
            <a:avLst/>
          </a:prstGeom>
          <a:noFill/>
          <a:ln/>
        </p:spPr>
        <p:txBody>
          <a:bodyPr wrap="square" lIns="0" tIns="0" rIns="0" bIns="0" rtlCol="0" anchor="ctr"/>
          <a:lstStyle/>
          <a:p>
            <a:pPr indent="0" marL="0">
              <a:buNone/>
            </a:pPr>
            <a:r>
              <a:rPr lang="en-US" sz="1800" b="1" dirty="0">
                <a:solidFill>
                  <a:srgbClr val="241E33"/>
                </a:solidFill>
                <a:latin typeface="Cambria" pitchFamily="34" charset="0"/>
                <a:ea typeface="Cambria" pitchFamily="34" charset="-122"/>
                <a:cs typeface="Cambria" pitchFamily="34" charset="-120"/>
              </a:rPr>
              <a:t>The path from a video to a paying family</a:t>
            </a:r>
            <a:endParaRPr lang="en-US" sz="1800" dirty="0"/>
          </a:p>
        </p:txBody>
      </p:sp>
      <p:sp>
        <p:nvSpPr>
          <p:cNvPr id="20" name="Shape 18"/>
          <p:cNvSpPr/>
          <p:nvPr/>
        </p:nvSpPr>
        <p:spPr>
          <a:xfrm rot="5400000">
            <a:off x="6309360" y="1956816"/>
            <a:ext cx="310896" cy="310896"/>
          </a:xfrm>
          <a:prstGeom prst="hexagon">
            <a:avLst/>
          </a:prstGeom>
          <a:solidFill>
            <a:srgbClr val="6C4FE0"/>
          </a:solidFill>
          <a:ln/>
        </p:spPr>
      </p:sp>
      <p:sp>
        <p:nvSpPr>
          <p:cNvPr id="21" name="Shape 19"/>
          <p:cNvSpPr/>
          <p:nvPr/>
        </p:nvSpPr>
        <p:spPr>
          <a:xfrm>
            <a:off x="6464808" y="2286000"/>
            <a:ext cx="0" cy="274320"/>
          </a:xfrm>
          <a:prstGeom prst="line">
            <a:avLst/>
          </a:prstGeom>
          <a:noFill/>
          <a:ln w="19050">
            <a:solidFill>
              <a:srgbClr val="E3DCF2"/>
            </a:solidFill>
            <a:prstDash val="solid"/>
          </a:ln>
        </p:spPr>
      </p:sp>
      <p:sp>
        <p:nvSpPr>
          <p:cNvPr id="22" name="Text 20"/>
          <p:cNvSpPr/>
          <p:nvPr/>
        </p:nvSpPr>
        <p:spPr>
          <a:xfrm>
            <a:off x="6803136" y="1901952"/>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Watches</a:t>
            </a:r>
            <a:endParaRPr lang="en-US" sz="1200" dirty="0"/>
          </a:p>
        </p:txBody>
      </p:sp>
      <p:sp>
        <p:nvSpPr>
          <p:cNvPr id="23" name="Text 21"/>
          <p:cNvSpPr/>
          <p:nvPr/>
        </p:nvSpPr>
        <p:spPr>
          <a:xfrm>
            <a:off x="8183880" y="1901952"/>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A story worth ten minutes, or a short worth sixty seconds</a:t>
            </a:r>
            <a:endParaRPr lang="en-US" sz="1050" dirty="0"/>
          </a:p>
        </p:txBody>
      </p:sp>
      <p:sp>
        <p:nvSpPr>
          <p:cNvPr id="24" name="Shape 22"/>
          <p:cNvSpPr/>
          <p:nvPr/>
        </p:nvSpPr>
        <p:spPr>
          <a:xfrm rot="5400000">
            <a:off x="6309360" y="2615184"/>
            <a:ext cx="310896" cy="310896"/>
          </a:xfrm>
          <a:prstGeom prst="hexagon">
            <a:avLst/>
          </a:prstGeom>
          <a:solidFill>
            <a:srgbClr val="6C4FE0"/>
          </a:solidFill>
          <a:ln/>
        </p:spPr>
      </p:sp>
      <p:sp>
        <p:nvSpPr>
          <p:cNvPr id="25" name="Shape 23"/>
          <p:cNvSpPr/>
          <p:nvPr/>
        </p:nvSpPr>
        <p:spPr>
          <a:xfrm>
            <a:off x="6464808" y="2944368"/>
            <a:ext cx="0" cy="274320"/>
          </a:xfrm>
          <a:prstGeom prst="line">
            <a:avLst/>
          </a:prstGeom>
          <a:noFill/>
          <a:ln w="19050">
            <a:solidFill>
              <a:srgbClr val="E3DCF2"/>
            </a:solidFill>
            <a:prstDash val="solid"/>
          </a:ln>
        </p:spPr>
      </p:sp>
      <p:sp>
        <p:nvSpPr>
          <p:cNvPr id="26" name="Text 24"/>
          <p:cNvSpPr/>
          <p:nvPr/>
        </p:nvSpPr>
        <p:spPr>
          <a:xfrm>
            <a:off x="6803136" y="2560320"/>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Trusts</a:t>
            </a:r>
            <a:endParaRPr lang="en-US" sz="1200" dirty="0"/>
          </a:p>
        </p:txBody>
      </p:sp>
      <p:sp>
        <p:nvSpPr>
          <p:cNvPr id="27" name="Text 25"/>
          <p:cNvSpPr/>
          <p:nvPr/>
        </p:nvSpPr>
        <p:spPr>
          <a:xfrm>
            <a:off x="8183880" y="2560320"/>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Sources on screen; nothing oversold; no pitch inside the film</a:t>
            </a:r>
            <a:endParaRPr lang="en-US" sz="1050" dirty="0"/>
          </a:p>
        </p:txBody>
      </p:sp>
      <p:sp>
        <p:nvSpPr>
          <p:cNvPr id="28" name="Shape 26"/>
          <p:cNvSpPr/>
          <p:nvPr/>
        </p:nvSpPr>
        <p:spPr>
          <a:xfrm rot="5400000">
            <a:off x="6309360" y="3273552"/>
            <a:ext cx="310896" cy="310896"/>
          </a:xfrm>
          <a:prstGeom prst="hexagon">
            <a:avLst/>
          </a:prstGeom>
          <a:solidFill>
            <a:srgbClr val="F0B429"/>
          </a:solidFill>
          <a:ln/>
        </p:spPr>
      </p:sp>
      <p:sp>
        <p:nvSpPr>
          <p:cNvPr id="29" name="Shape 27"/>
          <p:cNvSpPr/>
          <p:nvPr/>
        </p:nvSpPr>
        <p:spPr>
          <a:xfrm>
            <a:off x="6464808" y="3602736"/>
            <a:ext cx="0" cy="274320"/>
          </a:xfrm>
          <a:prstGeom prst="line">
            <a:avLst/>
          </a:prstGeom>
          <a:noFill/>
          <a:ln w="19050">
            <a:solidFill>
              <a:srgbClr val="E3DCF2"/>
            </a:solidFill>
            <a:prstDash val="solid"/>
          </a:ln>
        </p:spPr>
      </p:sp>
      <p:sp>
        <p:nvSpPr>
          <p:cNvPr id="30" name="Text 28"/>
          <p:cNvSpPr/>
          <p:nvPr/>
        </p:nvSpPr>
        <p:spPr>
          <a:xfrm>
            <a:off x="6803136" y="3218688"/>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Opens the app</a:t>
            </a:r>
            <a:endParaRPr lang="en-US" sz="1200" dirty="0"/>
          </a:p>
        </p:txBody>
      </p:sp>
      <p:sp>
        <p:nvSpPr>
          <p:cNvPr id="31" name="Text 29"/>
          <p:cNvSpPr/>
          <p:nvPr/>
        </p:nvSpPr>
        <p:spPr>
          <a:xfrm>
            <a:off x="8183880" y="3218688"/>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One link in the description, free and instant — no signup wall</a:t>
            </a:r>
            <a:endParaRPr lang="en-US" sz="1050" dirty="0"/>
          </a:p>
        </p:txBody>
      </p:sp>
      <p:sp>
        <p:nvSpPr>
          <p:cNvPr id="32" name="Shape 30"/>
          <p:cNvSpPr/>
          <p:nvPr/>
        </p:nvSpPr>
        <p:spPr>
          <a:xfrm rot="5400000">
            <a:off x="6309360" y="3931920"/>
            <a:ext cx="310896" cy="310896"/>
          </a:xfrm>
          <a:prstGeom prst="hexagon">
            <a:avLst/>
          </a:prstGeom>
          <a:solidFill>
            <a:srgbClr val="F0B429"/>
          </a:solidFill>
          <a:ln/>
        </p:spPr>
      </p:sp>
      <p:sp>
        <p:nvSpPr>
          <p:cNvPr id="33" name="Shape 31"/>
          <p:cNvSpPr/>
          <p:nvPr/>
        </p:nvSpPr>
        <p:spPr>
          <a:xfrm>
            <a:off x="6464808" y="4261104"/>
            <a:ext cx="0" cy="274320"/>
          </a:xfrm>
          <a:prstGeom prst="line">
            <a:avLst/>
          </a:prstGeom>
          <a:noFill/>
          <a:ln w="19050">
            <a:solidFill>
              <a:srgbClr val="E3DCF2"/>
            </a:solidFill>
            <a:prstDash val="solid"/>
          </a:ln>
        </p:spPr>
      </p:sp>
      <p:sp>
        <p:nvSpPr>
          <p:cNvPr id="34" name="Text 32"/>
          <p:cNvSpPr/>
          <p:nvPr/>
        </p:nvSpPr>
        <p:spPr>
          <a:xfrm>
            <a:off x="6803136" y="3877056"/>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Makes an account</a:t>
            </a:r>
            <a:endParaRPr lang="en-US" sz="1200" dirty="0"/>
          </a:p>
        </p:txBody>
      </p:sp>
      <p:sp>
        <p:nvSpPr>
          <p:cNvPr id="35" name="Text 33"/>
          <p:cNvSpPr/>
          <p:nvPr/>
        </p:nvSpPr>
        <p:spPr>
          <a:xfrm>
            <a:off x="8183880" y="3877056"/>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Progress worth keeping is the reason, not a gate</a:t>
            </a:r>
            <a:endParaRPr lang="en-US" sz="1050" dirty="0"/>
          </a:p>
        </p:txBody>
      </p:sp>
      <p:sp>
        <p:nvSpPr>
          <p:cNvPr id="36" name="Shape 34"/>
          <p:cNvSpPr/>
          <p:nvPr/>
        </p:nvSpPr>
        <p:spPr>
          <a:xfrm rot="5400000">
            <a:off x="6309360" y="4590288"/>
            <a:ext cx="310896" cy="310896"/>
          </a:xfrm>
          <a:prstGeom prst="hexagon">
            <a:avLst/>
          </a:prstGeom>
          <a:solidFill>
            <a:srgbClr val="178A4C"/>
          </a:solidFill>
          <a:ln/>
        </p:spPr>
      </p:sp>
      <p:sp>
        <p:nvSpPr>
          <p:cNvPr id="37" name="Text 35"/>
          <p:cNvSpPr/>
          <p:nvPr/>
        </p:nvSpPr>
        <p:spPr>
          <a:xfrm>
            <a:off x="6803136" y="4535424"/>
            <a:ext cx="1371600" cy="402336"/>
          </a:xfrm>
          <a:prstGeom prst="rect">
            <a:avLst/>
          </a:prstGeom>
          <a:noFill/>
          <a:ln/>
        </p:spPr>
        <p:txBody>
          <a:bodyPr wrap="square" lIns="0" tIns="0" rIns="0" bIns="0" rtlCol="0" anchor="ctr"/>
          <a:lstStyle/>
          <a:p>
            <a:pPr indent="0" marL="0">
              <a:buNone/>
            </a:pPr>
            <a:r>
              <a:rPr lang="en-US" sz="1200" b="1" dirty="0">
                <a:solidFill>
                  <a:srgbClr val="241E33"/>
                </a:solidFill>
                <a:latin typeface="Calibri" pitchFamily="34" charset="0"/>
                <a:ea typeface="Calibri" pitchFamily="34" charset="-122"/>
                <a:cs typeface="Calibri" pitchFamily="34" charset="-120"/>
              </a:rPr>
              <a:t>Buys a pack</a:t>
            </a:r>
            <a:endParaRPr lang="en-US" sz="1200" dirty="0"/>
          </a:p>
        </p:txBody>
      </p:sp>
      <p:sp>
        <p:nvSpPr>
          <p:cNvPr id="38" name="Text 36"/>
          <p:cNvSpPr/>
          <p:nvPr/>
        </p:nvSpPr>
        <p:spPr>
          <a:xfrm>
            <a:off x="8183880" y="4535424"/>
            <a:ext cx="3063240" cy="457200"/>
          </a:xfrm>
          <a:prstGeom prst="rect">
            <a:avLst/>
          </a:prstGeom>
          <a:noFill/>
          <a:ln/>
        </p:spPr>
        <p:txBody>
          <a:bodyPr wrap="square" lIns="0" tIns="0" rIns="0" bIns="0" rtlCol="0" anchor="ctr"/>
          <a:lstStyle/>
          <a:p>
            <a:pPr indent="0" marL="0">
              <a:lnSpc>
                <a:spcPts val="1300"/>
              </a:lnSpc>
              <a:buNone/>
            </a:pPr>
            <a:r>
              <a:rPr lang="en-US" sz="1050" dirty="0">
                <a:solidFill>
                  <a:srgbClr val="4A4360"/>
                </a:solidFill>
                <a:latin typeface="Calibri" pitchFamily="34" charset="0"/>
                <a:ea typeface="Calibri" pitchFamily="34" charset="-122"/>
                <a:cs typeface="Calibri" pitchFamily="34" charset="-120"/>
              </a:rPr>
              <a:t>Bhasha, Eleven, or Advanced — bought because the free part worked</a:t>
            </a:r>
            <a:endParaRPr lang="en-US" sz="1050" dirty="0"/>
          </a:p>
        </p:txBody>
      </p:sp>
      <p:sp>
        <p:nvSpPr>
          <p:cNvPr id="39" name="Shape 37"/>
          <p:cNvSpPr/>
          <p:nvPr/>
        </p:nvSpPr>
        <p:spPr>
          <a:xfrm>
            <a:off x="640080" y="5376672"/>
            <a:ext cx="10607040" cy="914400"/>
          </a:xfrm>
          <a:prstGeom prst="roundRect">
            <a:avLst>
              <a:gd name="adj" fmla="val 12000"/>
            </a:avLst>
          </a:prstGeom>
          <a:solidFill>
            <a:srgbClr val="FBF3E0"/>
          </a:solidFill>
          <a:ln/>
        </p:spPr>
      </p:sp>
      <p:sp>
        <p:nvSpPr>
          <p:cNvPr id="40" name="Text 38"/>
          <p:cNvSpPr/>
          <p:nvPr/>
        </p:nvSpPr>
        <p:spPr>
          <a:xfrm>
            <a:off x="914400" y="5376672"/>
            <a:ext cx="10058400" cy="914400"/>
          </a:xfrm>
          <a:prstGeom prst="rect">
            <a:avLst/>
          </a:prstGeom>
          <a:noFill/>
          <a:ln/>
        </p:spPr>
        <p:txBody>
          <a:bodyPr wrap="square" lIns="0" tIns="0" rIns="0" bIns="0" rtlCol="0" anchor="ctr"/>
          <a:lstStyle/>
          <a:p>
            <a:pPr indent="0" marL="0">
              <a:lnSpc>
                <a:spcPts val="1500"/>
              </a:lnSpc>
              <a:buNone/>
            </a:pPr>
            <a:r>
              <a:rPr lang="en-US" sz="1150" b="1" dirty="0">
                <a:solidFill>
                  <a:srgbClr val="8A5B00"/>
                </a:solidFill>
                <a:latin typeface="Calibri" pitchFamily="34" charset="0"/>
                <a:ea typeface="Calibri" pitchFamily="34" charset="-122"/>
                <a:cs typeface="Calibri" pitchFamily="34" charset="-120"/>
              </a:rPr>
              <a:t>Standing rules:  </a:t>
            </a:r>
            <a:pPr indent="0" marL="0">
              <a:lnSpc>
                <a:spcPts val="1500"/>
              </a:lnSpc>
              <a:buNone/>
            </a:pPr>
            <a:r>
              <a:rPr lang="en-US" sz="1150" dirty="0">
                <a:solidFill>
                  <a:srgbClr val="8A5B00"/>
                </a:solidFill>
                <a:latin typeface="Calibri" pitchFamily="34" charset="0"/>
                <a:ea typeface="Calibri" pitchFamily="34" charset="-122"/>
                <a:cs typeface="Calibri" pitchFamily="34" charset="-120"/>
              </a:rPr>
              <a:t>never sell inside a film · disclose what is generated and what is archive · name sources on screen · verify every claim before it is narrated · publish nothing that would embarrass the brand in front of a bee community that will recognise every error.</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HOW THE TEAM IS BUILT</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Organisation</a:t>
            </a:r>
            <a:endParaRPr lang="en-US" sz="2900" dirty="0"/>
          </a:p>
        </p:txBody>
      </p:sp>
      <p:sp>
        <p:nvSpPr>
          <p:cNvPr id="4" name="Text 2"/>
          <p:cNvSpPr/>
          <p:nvPr/>
        </p:nvSpPr>
        <p:spPr>
          <a:xfrm>
            <a:off x="640080" y="1417320"/>
            <a:ext cx="10607040" cy="566928"/>
          </a:xfrm>
          <a:prstGeom prst="rect">
            <a:avLst/>
          </a:prstGeom>
          <a:noFill/>
          <a:ln/>
        </p:spPr>
        <p:txBody>
          <a:bodyPr wrap="square" lIns="0" tIns="0" rIns="0" bIns="0" rtlCol="0" anchor="ctr"/>
          <a:lstStyle/>
          <a:p>
            <a:pPr indent="0" marL="0">
              <a:lnSpc>
                <a:spcPts val="1900"/>
              </a:lnSpc>
              <a:buNone/>
            </a:pPr>
            <a:r>
              <a:rPr lang="en-US" sz="1400" dirty="0">
                <a:solidFill>
                  <a:srgbClr val="7A7291"/>
                </a:solidFill>
                <a:latin typeface="Calibri" pitchFamily="34" charset="0"/>
                <a:ea typeface="Calibri" pitchFamily="34" charset="-122"/>
                <a:cs typeface="Calibri" pitchFamily="34" charset="-120"/>
              </a:rPr>
              <a:t>Two co-founders run separate, clearly-owned lanes. Joint decisions are made at founder level. The third role is advisory and sits on top as a brand asset, not an operating function.</a:t>
            </a:r>
            <a:endParaRPr lang="en-US" sz="1400" dirty="0"/>
          </a:p>
        </p:txBody>
      </p:sp>
      <p:sp>
        <p:nvSpPr>
          <p:cNvPr id="5" name="Shape 3"/>
          <p:cNvSpPr/>
          <p:nvPr/>
        </p:nvSpPr>
        <p:spPr>
          <a:xfrm>
            <a:off x="4480560" y="2148840"/>
            <a:ext cx="3200400" cy="658368"/>
          </a:xfrm>
          <a:prstGeom prst="roundRect">
            <a:avLst>
              <a:gd name="adj" fmla="val 19444"/>
            </a:avLst>
          </a:prstGeom>
          <a:solidFill>
            <a:srgbClr val="241E33"/>
          </a:solidFill>
          <a:ln/>
        </p:spPr>
      </p:sp>
      <p:sp>
        <p:nvSpPr>
          <p:cNvPr id="6" name="Text 4"/>
          <p:cNvSpPr/>
          <p:nvPr/>
        </p:nvSpPr>
        <p:spPr>
          <a:xfrm>
            <a:off x="4480560" y="2148840"/>
            <a:ext cx="3200400" cy="658368"/>
          </a:xfrm>
          <a:prstGeom prst="rect">
            <a:avLst/>
          </a:prstGeom>
          <a:noFill/>
          <a:ln/>
        </p:spPr>
        <p:txBody>
          <a:bodyPr wrap="square" lIns="0" tIns="0" rIns="0" bIns="0" rtlCol="0" anchor="ctr"/>
          <a:lstStyle/>
          <a:p>
            <a:pPr algn="ctr" indent="0" marL="0">
              <a:buNone/>
            </a:pPr>
            <a:r>
              <a:rPr lang="en-US" sz="1500" b="1" spc="140" kern="0" dirty="0">
                <a:solidFill>
                  <a:srgbClr val="FFFFFF"/>
                </a:solidFill>
                <a:latin typeface="Cambria" pitchFamily="34" charset="0"/>
                <a:ea typeface="Cambria" pitchFamily="34" charset="-122"/>
                <a:cs typeface="Cambria" pitchFamily="34" charset="-120"/>
              </a:rPr>
              <a:t>FOUNDER GROUP</a:t>
            </a:r>
            <a:endParaRPr lang="en-US" sz="1500" dirty="0"/>
          </a:p>
        </p:txBody>
      </p:sp>
      <p:sp>
        <p:nvSpPr>
          <p:cNvPr id="7" name="Text 5"/>
          <p:cNvSpPr/>
          <p:nvPr/>
        </p:nvSpPr>
        <p:spPr>
          <a:xfrm>
            <a:off x="4480560" y="2834640"/>
            <a:ext cx="3200400" cy="256032"/>
          </a:xfrm>
          <a:prstGeom prst="rect">
            <a:avLst/>
          </a:prstGeom>
          <a:noFill/>
          <a:ln/>
        </p:spPr>
        <p:txBody>
          <a:bodyPr wrap="square" lIns="0" tIns="0" rIns="0" bIns="0" rtlCol="0" anchor="ctr"/>
          <a:lstStyle/>
          <a:p>
            <a:pPr algn="ctr" indent="0" marL="0">
              <a:buNone/>
            </a:pPr>
            <a:r>
              <a:rPr lang="en-US" sz="1050" i="1" dirty="0">
                <a:solidFill>
                  <a:srgbClr val="7A7291"/>
                </a:solidFill>
                <a:latin typeface="Calibri" pitchFamily="34" charset="0"/>
                <a:ea typeface="Calibri" pitchFamily="34" charset="-122"/>
                <a:cs typeface="Calibri" pitchFamily="34" charset="-120"/>
              </a:rPr>
              <a:t>strategy · budget · brand direction</a:t>
            </a:r>
            <a:endParaRPr lang="en-US" sz="1050" dirty="0"/>
          </a:p>
        </p:txBody>
      </p:sp>
      <p:sp>
        <p:nvSpPr>
          <p:cNvPr id="8" name="Shape 6"/>
          <p:cNvSpPr/>
          <p:nvPr/>
        </p:nvSpPr>
        <p:spPr>
          <a:xfrm>
            <a:off x="6080760" y="3127248"/>
            <a:ext cx="0" cy="329184"/>
          </a:xfrm>
          <a:prstGeom prst="line">
            <a:avLst/>
          </a:prstGeom>
          <a:noFill/>
          <a:ln w="25400">
            <a:solidFill>
              <a:srgbClr val="E3DCF2"/>
            </a:solidFill>
            <a:prstDash val="solid"/>
          </a:ln>
        </p:spPr>
      </p:sp>
      <p:sp>
        <p:nvSpPr>
          <p:cNvPr id="9" name="Shape 7"/>
          <p:cNvSpPr/>
          <p:nvPr/>
        </p:nvSpPr>
        <p:spPr>
          <a:xfrm>
            <a:off x="2743200" y="3456432"/>
            <a:ext cx="6675120" cy="0"/>
          </a:xfrm>
          <a:prstGeom prst="line">
            <a:avLst/>
          </a:prstGeom>
          <a:noFill/>
          <a:ln w="25400">
            <a:solidFill>
              <a:srgbClr val="E3DCF2"/>
            </a:solidFill>
            <a:prstDash val="solid"/>
          </a:ln>
        </p:spPr>
      </p:sp>
      <p:sp>
        <p:nvSpPr>
          <p:cNvPr id="10" name="Shape 8"/>
          <p:cNvSpPr/>
          <p:nvPr/>
        </p:nvSpPr>
        <p:spPr>
          <a:xfrm>
            <a:off x="2743200" y="3456432"/>
            <a:ext cx="0" cy="310896"/>
          </a:xfrm>
          <a:prstGeom prst="line">
            <a:avLst/>
          </a:prstGeom>
          <a:noFill/>
          <a:ln w="25400">
            <a:solidFill>
              <a:srgbClr val="E3DCF2"/>
            </a:solidFill>
            <a:prstDash val="solid"/>
          </a:ln>
        </p:spPr>
      </p:sp>
      <p:sp>
        <p:nvSpPr>
          <p:cNvPr id="11" name="Shape 9"/>
          <p:cNvSpPr/>
          <p:nvPr/>
        </p:nvSpPr>
        <p:spPr>
          <a:xfrm>
            <a:off x="187452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2" name="Shape 10"/>
          <p:cNvSpPr/>
          <p:nvPr/>
        </p:nvSpPr>
        <p:spPr>
          <a:xfrm rot="5400000">
            <a:off x="2020824" y="3931920"/>
            <a:ext cx="402336" cy="402336"/>
          </a:xfrm>
          <a:prstGeom prst="hexagon">
            <a:avLst/>
          </a:prstGeom>
          <a:solidFill>
            <a:srgbClr val="6C4FE0"/>
          </a:solidFill>
          <a:ln/>
        </p:spPr>
      </p:sp>
      <p:sp>
        <p:nvSpPr>
          <p:cNvPr id="13" name="Text 11"/>
          <p:cNvSpPr/>
          <p:nvPr/>
        </p:nvSpPr>
        <p:spPr>
          <a:xfrm>
            <a:off x="251460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Aayush</a:t>
            </a:r>
            <a:endParaRPr lang="en-US" sz="1700" dirty="0"/>
          </a:p>
        </p:txBody>
      </p:sp>
      <p:sp>
        <p:nvSpPr>
          <p:cNvPr id="14" name="Text 12"/>
          <p:cNvSpPr/>
          <p:nvPr/>
        </p:nvSpPr>
        <p:spPr>
          <a:xfrm>
            <a:off x="202082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CPTO</a:t>
            </a:r>
            <a:endParaRPr lang="en-US" sz="1100" dirty="0"/>
          </a:p>
        </p:txBody>
      </p:sp>
      <p:sp>
        <p:nvSpPr>
          <p:cNvPr id="15" name="Text 13"/>
          <p:cNvSpPr/>
          <p:nvPr/>
        </p:nvSpPr>
        <p:spPr>
          <a:xfrm>
            <a:off x="202082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Product · engineering · architecture · roadmap</a:t>
            </a:r>
            <a:endParaRPr lang="en-US" sz="1000" dirty="0"/>
          </a:p>
        </p:txBody>
      </p:sp>
      <p:sp>
        <p:nvSpPr>
          <p:cNvPr id="16" name="Shape 14"/>
          <p:cNvSpPr/>
          <p:nvPr/>
        </p:nvSpPr>
        <p:spPr>
          <a:xfrm>
            <a:off x="6263640" y="3456432"/>
            <a:ext cx="0" cy="310896"/>
          </a:xfrm>
          <a:prstGeom prst="line">
            <a:avLst/>
          </a:prstGeom>
          <a:noFill/>
          <a:ln w="25400">
            <a:solidFill>
              <a:srgbClr val="E3DCF2"/>
            </a:solidFill>
            <a:prstDash val="solid"/>
          </a:ln>
        </p:spPr>
      </p:sp>
      <p:sp>
        <p:nvSpPr>
          <p:cNvPr id="17" name="Shape 15"/>
          <p:cNvSpPr/>
          <p:nvPr/>
        </p:nvSpPr>
        <p:spPr>
          <a:xfrm>
            <a:off x="539496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18" name="Shape 16"/>
          <p:cNvSpPr/>
          <p:nvPr/>
        </p:nvSpPr>
        <p:spPr>
          <a:xfrm rot="5400000">
            <a:off x="5541264" y="3931920"/>
            <a:ext cx="402336" cy="402336"/>
          </a:xfrm>
          <a:prstGeom prst="hexagon">
            <a:avLst/>
          </a:prstGeom>
          <a:solidFill>
            <a:srgbClr val="F0B429"/>
          </a:solidFill>
          <a:ln/>
        </p:spPr>
      </p:sp>
      <p:sp>
        <p:nvSpPr>
          <p:cNvPr id="19" name="Text 17"/>
          <p:cNvSpPr/>
          <p:nvPr/>
        </p:nvSpPr>
        <p:spPr>
          <a:xfrm>
            <a:off x="603504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Amrita</a:t>
            </a:r>
            <a:endParaRPr lang="en-US" sz="1700" dirty="0"/>
          </a:p>
        </p:txBody>
      </p:sp>
      <p:sp>
        <p:nvSpPr>
          <p:cNvPr id="20" name="Text 18"/>
          <p:cNvSpPr/>
          <p:nvPr/>
        </p:nvSpPr>
        <p:spPr>
          <a:xfrm>
            <a:off x="554126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Co-Founder &amp; CMO</a:t>
            </a:r>
            <a:endParaRPr lang="en-US" sz="1100" dirty="0"/>
          </a:p>
        </p:txBody>
      </p:sp>
      <p:sp>
        <p:nvSpPr>
          <p:cNvPr id="21" name="Text 19"/>
          <p:cNvSpPr/>
          <p:nvPr/>
        </p:nvSpPr>
        <p:spPr>
          <a:xfrm>
            <a:off x="554126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Brand · growth · pricing · merch · voice of customer</a:t>
            </a:r>
            <a:endParaRPr lang="en-US" sz="1000" dirty="0"/>
          </a:p>
        </p:txBody>
      </p:sp>
      <p:sp>
        <p:nvSpPr>
          <p:cNvPr id="22" name="Shape 20"/>
          <p:cNvSpPr/>
          <p:nvPr/>
        </p:nvSpPr>
        <p:spPr>
          <a:xfrm>
            <a:off x="9784080" y="3456432"/>
            <a:ext cx="0" cy="310896"/>
          </a:xfrm>
          <a:prstGeom prst="line">
            <a:avLst/>
          </a:prstGeom>
          <a:noFill/>
          <a:ln w="25400">
            <a:solidFill>
              <a:srgbClr val="E3DCF2"/>
            </a:solidFill>
            <a:prstDash val="solid"/>
          </a:ln>
        </p:spPr>
      </p:sp>
      <p:sp>
        <p:nvSpPr>
          <p:cNvPr id="23" name="Shape 21"/>
          <p:cNvSpPr/>
          <p:nvPr/>
        </p:nvSpPr>
        <p:spPr>
          <a:xfrm>
            <a:off x="8915400" y="3767328"/>
            <a:ext cx="1737360" cy="1691640"/>
          </a:xfrm>
          <a:prstGeom prst="roundRect">
            <a:avLst>
              <a:gd name="adj" fmla="val 7568"/>
            </a:avLst>
          </a:prstGeom>
          <a:solidFill>
            <a:srgbClr val="EFEBF8"/>
          </a:solidFill>
          <a:ln/>
          <a:effectLst>
            <a:outerShdw sx="100000" sy="100000" kx="0" ky="0" algn="bl" rotWithShape="0" blurRad="127000" dist="25400" dir="5400000">
              <a:srgbClr val="241E33">
                <a:alpha val="10000"/>
              </a:srgbClr>
            </a:outerShdw>
          </a:effectLst>
        </p:spPr>
      </p:sp>
      <p:sp>
        <p:nvSpPr>
          <p:cNvPr id="24" name="Shape 22"/>
          <p:cNvSpPr/>
          <p:nvPr/>
        </p:nvSpPr>
        <p:spPr>
          <a:xfrm rot="5400000">
            <a:off x="9061704" y="3931920"/>
            <a:ext cx="402336" cy="402336"/>
          </a:xfrm>
          <a:prstGeom prst="hexagon">
            <a:avLst/>
          </a:prstGeom>
          <a:solidFill>
            <a:srgbClr val="178A4C"/>
          </a:solidFill>
          <a:ln/>
        </p:spPr>
      </p:sp>
      <p:sp>
        <p:nvSpPr>
          <p:cNvPr id="25" name="Text 23"/>
          <p:cNvSpPr/>
          <p:nvPr/>
        </p:nvSpPr>
        <p:spPr>
          <a:xfrm>
            <a:off x="9555480" y="3931920"/>
            <a:ext cx="1005840" cy="402336"/>
          </a:xfrm>
          <a:prstGeom prst="rect">
            <a:avLst/>
          </a:prstGeom>
          <a:noFill/>
          <a:ln/>
        </p:spPr>
        <p:txBody>
          <a:bodyPr wrap="square" lIns="0" tIns="0" rIns="0" bIns="0" rtlCol="0" anchor="ctr"/>
          <a:lstStyle/>
          <a:p>
            <a:pPr indent="0" marL="0">
              <a:buNone/>
            </a:pPr>
            <a:r>
              <a:rPr lang="en-US" sz="1700" b="1" dirty="0">
                <a:solidFill>
                  <a:srgbClr val="241E33"/>
                </a:solidFill>
                <a:latin typeface="Cambria" pitchFamily="34" charset="0"/>
                <a:ea typeface="Cambria" pitchFamily="34" charset="-122"/>
                <a:cs typeface="Cambria" pitchFamily="34" charset="-120"/>
              </a:rPr>
              <a:t>Ahana</a:t>
            </a:r>
            <a:endParaRPr lang="en-US" sz="1700" dirty="0"/>
          </a:p>
        </p:txBody>
      </p:sp>
      <p:sp>
        <p:nvSpPr>
          <p:cNvPr id="26" name="Text 24"/>
          <p:cNvSpPr/>
          <p:nvPr/>
        </p:nvSpPr>
        <p:spPr>
          <a:xfrm>
            <a:off x="9061704" y="4443984"/>
            <a:ext cx="1481328" cy="457200"/>
          </a:xfrm>
          <a:prstGeom prst="rect">
            <a:avLst/>
          </a:prstGeom>
          <a:noFill/>
          <a:ln/>
        </p:spPr>
        <p:txBody>
          <a:bodyPr wrap="square" lIns="0" tIns="0" rIns="0" bIns="0" rtlCol="0" anchor="ctr"/>
          <a:lstStyle/>
          <a:p>
            <a:pPr indent="0" marL="0">
              <a:buNone/>
            </a:pPr>
            <a:r>
              <a:rPr lang="en-US" sz="1100" b="1" dirty="0">
                <a:solidFill>
                  <a:srgbClr val="4A31B0"/>
                </a:solidFill>
                <a:latin typeface="Calibri" pitchFamily="34" charset="0"/>
                <a:ea typeface="Calibri" pitchFamily="34" charset="-122"/>
                <a:cs typeface="Calibri" pitchFamily="34" charset="-120"/>
              </a:rPr>
              <a:t>Chief Kid Officer</a:t>
            </a:r>
            <a:endParaRPr lang="en-US" sz="1100" dirty="0"/>
          </a:p>
        </p:txBody>
      </p:sp>
      <p:sp>
        <p:nvSpPr>
          <p:cNvPr id="27" name="Text 25"/>
          <p:cNvSpPr/>
          <p:nvPr/>
        </p:nvSpPr>
        <p:spPr>
          <a:xfrm>
            <a:off x="9061704" y="4846320"/>
            <a:ext cx="1481328" cy="54864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End user · usability · ambassador (advisory)</a:t>
            </a:r>
            <a:endParaRPr lang="en-US" sz="1000" dirty="0"/>
          </a:p>
        </p:txBody>
      </p:sp>
      <p:sp>
        <p:nvSpPr>
          <p:cNvPr id="28" name="Text 26"/>
          <p:cNvSpPr/>
          <p:nvPr/>
        </p:nvSpPr>
        <p:spPr>
          <a:xfrm>
            <a:off x="640080" y="5806440"/>
            <a:ext cx="10607040" cy="502920"/>
          </a:xfrm>
          <a:prstGeom prst="rect">
            <a:avLst/>
          </a:prstGeom>
          <a:noFill/>
          <a:ln/>
        </p:spPr>
        <p:txBody>
          <a:bodyPr wrap="square" lIns="0" tIns="0" rIns="0" bIns="0" rtlCol="0" anchor="ctr"/>
          <a:lstStyle/>
          <a:p>
            <a:pPr indent="0" marL="0">
              <a:lnSpc>
                <a:spcPts val="1700"/>
              </a:lnSpc>
              <a:buNone/>
            </a:pPr>
            <a:r>
              <a:rPr lang="en-US" sz="1250" i="1" dirty="0">
                <a:solidFill>
                  <a:srgbClr val="7A7291"/>
                </a:solidFill>
                <a:latin typeface="Calibri" pitchFamily="34" charset="0"/>
                <a:ea typeface="Calibri" pitchFamily="34" charset="-122"/>
                <a:cs typeface="Calibri" pitchFamily="34" charset="-120"/>
              </a:rPr>
              <a:t>The operating principle: each lane decides independently inside its own scope. Product decisions do not route through marketing, and brand decisions do not route through engineering.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Aayush</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6C4FE0"/>
                </a:solidFill>
                <a:latin typeface="Calibri" pitchFamily="34" charset="0"/>
                <a:ea typeface="Calibri" pitchFamily="34" charset="-122"/>
                <a:cs typeface="Calibri" pitchFamily="34" charset="-120"/>
              </a:rPr>
              <a:t>Co-Founder &amp; Chief Product and Technology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what Bizzing is, how it is built, and what ships next. Built the full web app AI-first — directing AI coding tools rather than hand-writing code — and runs product and engineering the same way.</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Product roadmap and prioritisation across every Bizzing product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 architecture, infrastructure, technical quality and security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Turning user feedback into shipped improvements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Evaluating and adopting AI tooling that improves build speed or quality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generation pipelines — the word bank, question bank and audio</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6C4FE0"/>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Ship rate</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Features shipped per month against roadmap</a:t>
            </a:r>
            <a:endParaRPr lang="en-US" sz="1100" dirty="0"/>
          </a:p>
        </p:txBody>
      </p:sp>
      <p:sp>
        <p:nvSpPr>
          <p:cNvPr id="13" name="Shape 11"/>
          <p:cNvSpPr/>
          <p:nvPr/>
        </p:nvSpPr>
        <p:spPr>
          <a:xfrm rot="5400000">
            <a:off x="6949440" y="3922776"/>
            <a:ext cx="256032" cy="256032"/>
          </a:xfrm>
          <a:prstGeom prst="hexagon">
            <a:avLst/>
          </a:prstGeom>
          <a:solidFill>
            <a:srgbClr val="6C4FE0"/>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Quality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Crash-free sessions; boot time held under target</a:t>
            </a:r>
            <a:endParaRPr lang="en-US" sz="1100" dirty="0"/>
          </a:p>
        </p:txBody>
      </p:sp>
      <p:sp>
        <p:nvSpPr>
          <p:cNvPr id="16" name="Shape 14"/>
          <p:cNvSpPr/>
          <p:nvPr/>
        </p:nvSpPr>
        <p:spPr>
          <a:xfrm rot="5400000">
            <a:off x="6949440" y="4489704"/>
            <a:ext cx="256032" cy="256032"/>
          </a:xfrm>
          <a:prstGeom prst="hexagon">
            <a:avLst/>
          </a:prstGeom>
          <a:solidFill>
            <a:srgbClr val="6C4FE0"/>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Engine reuse</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a new product built from existing components</a:t>
            </a:r>
            <a:endParaRPr lang="en-US" sz="1100" dirty="0"/>
          </a:p>
        </p:txBody>
      </p:sp>
      <p:sp>
        <p:nvSpPr>
          <p:cNvPr id="19" name="Shape 17"/>
          <p:cNvSpPr/>
          <p:nvPr/>
        </p:nvSpPr>
        <p:spPr>
          <a:xfrm rot="5400000">
            <a:off x="6949440" y="5056632"/>
            <a:ext cx="256032" cy="256032"/>
          </a:xfrm>
          <a:prstGeom prst="hexagon">
            <a:avLst/>
          </a:prstGeom>
          <a:solidFill>
            <a:srgbClr val="6C4FE0"/>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loop</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 of usability findings actioned</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Brand, pricing and channel decisions route through the CMO.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Amrita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8A5B00"/>
                </a:solidFill>
                <a:latin typeface="Calibri" pitchFamily="34" charset="0"/>
                <a:ea typeface="Calibri" pitchFamily="34" charset="-122"/>
                <a:cs typeface="Calibri" pitchFamily="34" charset="-120"/>
              </a:rPr>
              <a:t>Co-Founder &amp; Chief Marketing and Growth Officer</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Owns everything that gets a family to discover Bizzing, decide to trust it, and want to buy something with the logo on it. Run AI-first and deliberately lean: no agency, no editorial headcount.</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Brand strategy — positioning, voice, visual identity, messaging</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Performance marketing — Meta and Google; owns CAC, ROAS and budget</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Marketing analytics — AI-built dashboards for funnel, cohort and channel</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Content and video, produced in-house with AI tools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Pricing, merch, events, influencer partnerships</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Voice of customer — structured feedback and usability sessions</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F0B429"/>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Acquisition</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MoM qualified traffic growth; CAC down per channel</a:t>
            </a:r>
            <a:endParaRPr lang="en-US" sz="1100" dirty="0"/>
          </a:p>
        </p:txBody>
      </p:sp>
      <p:sp>
        <p:nvSpPr>
          <p:cNvPr id="13" name="Shape 11"/>
          <p:cNvSpPr/>
          <p:nvPr/>
        </p:nvSpPr>
        <p:spPr>
          <a:xfrm rot="5400000">
            <a:off x="6949440" y="3922776"/>
            <a:ext cx="256032" cy="256032"/>
          </a:xfrm>
          <a:prstGeom prst="hexagon">
            <a:avLst/>
          </a:prstGeom>
          <a:solidFill>
            <a:srgbClr val="F0B429"/>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Paid efficiency</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ROAS target per platform; spend within budget</a:t>
            </a:r>
            <a:endParaRPr lang="en-US" sz="1100" dirty="0"/>
          </a:p>
        </p:txBody>
      </p:sp>
      <p:sp>
        <p:nvSpPr>
          <p:cNvPr id="16" name="Shape 14"/>
          <p:cNvSpPr/>
          <p:nvPr/>
        </p:nvSpPr>
        <p:spPr>
          <a:xfrm rot="5400000">
            <a:off x="6949440" y="4489704"/>
            <a:ext cx="256032" cy="256032"/>
          </a:xfrm>
          <a:prstGeom prst="hexagon">
            <a:avLst/>
          </a:prstGeom>
          <a:solidFill>
            <a:srgbClr val="F0B429"/>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Conversion</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Free-to-paid rate; merch attach rate</a:t>
            </a:r>
            <a:endParaRPr lang="en-US" sz="1100" dirty="0"/>
          </a:p>
        </p:txBody>
      </p:sp>
      <p:sp>
        <p:nvSpPr>
          <p:cNvPr id="19" name="Shape 17"/>
          <p:cNvSpPr/>
          <p:nvPr/>
        </p:nvSpPr>
        <p:spPr>
          <a:xfrm rot="5400000">
            <a:off x="6949440" y="5056632"/>
            <a:ext cx="256032" cy="256032"/>
          </a:xfrm>
          <a:prstGeom prst="hexagon">
            <a:avLst/>
          </a:prstGeom>
          <a:solidFill>
            <a:srgbClr val="F0B429"/>
          </a:solidFill>
          <a:ln/>
        </p:spPr>
      </p:sp>
      <p:sp>
        <p:nvSpPr>
          <p:cNvPr id="20" name="Text 18"/>
          <p:cNvSpPr/>
          <p:nvPr/>
        </p:nvSpPr>
        <p:spPr>
          <a:xfrm>
            <a:off x="7315200" y="5010912"/>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Content</a:t>
            </a:r>
            <a:endParaRPr lang="en-US" sz="1150" dirty="0"/>
          </a:p>
        </p:txBody>
      </p:sp>
      <p:sp>
        <p:nvSpPr>
          <p:cNvPr id="21" name="Text 19"/>
          <p:cNvSpPr/>
          <p:nvPr/>
        </p:nvSpPr>
        <p:spPr>
          <a:xfrm>
            <a:off x="8778240" y="5010912"/>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Volume produced in-house; $0 on external editors</a:t>
            </a:r>
            <a:endParaRPr lang="en-US" sz="1100" dirty="0"/>
          </a:p>
        </p:txBody>
      </p:sp>
      <p:sp>
        <p:nvSpPr>
          <p:cNvPr id="22" name="Shape 20"/>
          <p:cNvSpPr/>
          <p:nvPr/>
        </p:nvSpPr>
        <p:spPr>
          <a:xfrm>
            <a:off x="640080" y="5623560"/>
            <a:ext cx="10607040" cy="566928"/>
          </a:xfrm>
          <a:prstGeom prst="roundRect">
            <a:avLst>
              <a:gd name="adj" fmla="val 19355"/>
            </a:avLst>
          </a:prstGeom>
          <a:solidFill>
            <a:srgbClr val="FBF3E0"/>
          </a:solidFill>
          <a:ln/>
        </p:spPr>
      </p:sp>
      <p:sp>
        <p:nvSpPr>
          <p:cNvPr id="23" name="Text 21"/>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Architecture, engineering roadmap and final call on features sit with the CPTO.</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ROLE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Ahana</a:t>
            </a:r>
            <a:endParaRPr lang="en-US" sz="2900" dirty="0"/>
          </a:p>
        </p:txBody>
      </p:sp>
      <p:sp>
        <p:nvSpPr>
          <p:cNvPr id="4" name="Text 2"/>
          <p:cNvSpPr/>
          <p:nvPr/>
        </p:nvSpPr>
        <p:spPr>
          <a:xfrm>
            <a:off x="640080" y="1371600"/>
            <a:ext cx="10607040" cy="329184"/>
          </a:xfrm>
          <a:prstGeom prst="rect">
            <a:avLst/>
          </a:prstGeom>
          <a:noFill/>
          <a:ln/>
        </p:spPr>
        <p:txBody>
          <a:bodyPr wrap="square" lIns="0" tIns="0" rIns="0" bIns="0" rtlCol="0" anchor="ctr"/>
          <a:lstStyle/>
          <a:p>
            <a:pPr indent="0" marL="0">
              <a:buNone/>
            </a:pPr>
            <a:r>
              <a:rPr lang="en-US" sz="1450" b="1" dirty="0">
                <a:solidFill>
                  <a:srgbClr val="178A4C"/>
                </a:solidFill>
                <a:latin typeface="Calibri" pitchFamily="34" charset="0"/>
                <a:ea typeface="Calibri" pitchFamily="34" charset="-122"/>
                <a:cs typeface="Calibri" pitchFamily="34" charset="-120"/>
              </a:rPr>
              <a:t>Chief Kid Officer — honorary and advisory</a:t>
            </a:r>
            <a:endParaRPr lang="en-US" sz="1450" dirty="0"/>
          </a:p>
        </p:txBody>
      </p:sp>
      <p:sp>
        <p:nvSpPr>
          <p:cNvPr id="5" name="Shape 3"/>
          <p:cNvSpPr/>
          <p:nvPr/>
        </p:nvSpPr>
        <p:spPr>
          <a:xfrm>
            <a:off x="640080" y="1810512"/>
            <a:ext cx="10607040" cy="960120"/>
          </a:xfrm>
          <a:prstGeom prst="roundRect">
            <a:avLst>
              <a:gd name="adj" fmla="val 13333"/>
            </a:avLst>
          </a:prstGeom>
          <a:solidFill>
            <a:srgbClr val="EFEBF8"/>
          </a:solidFill>
          <a:ln/>
          <a:effectLst>
            <a:outerShdw sx="100000" sy="100000" kx="0" ky="0" algn="bl" rotWithShape="0" blurRad="127000" dist="25400" dir="5400000">
              <a:srgbClr val="241E33">
                <a:alpha val="10000"/>
              </a:srgbClr>
            </a:outerShdw>
          </a:effectLst>
        </p:spPr>
      </p:sp>
      <p:sp>
        <p:nvSpPr>
          <p:cNvPr id="6" name="Text 4"/>
          <p:cNvSpPr/>
          <p:nvPr/>
        </p:nvSpPr>
        <p:spPr>
          <a:xfrm>
            <a:off x="950976" y="1956816"/>
            <a:ext cx="9966960" cy="713232"/>
          </a:xfrm>
          <a:prstGeom prst="rect">
            <a:avLst/>
          </a:prstGeom>
          <a:noFill/>
          <a:ln/>
        </p:spPr>
        <p:txBody>
          <a:bodyPr wrap="square" lIns="0" tIns="0" rIns="0" bIns="0" rtlCol="0" anchor="ctr"/>
          <a:lstStyle/>
          <a:p>
            <a:pPr indent="0" marL="0">
              <a:lnSpc>
                <a:spcPts val="1800"/>
              </a:lnSpc>
              <a:buNone/>
            </a:pPr>
            <a:r>
              <a:rPr lang="en-US" sz="1350" dirty="0">
                <a:solidFill>
                  <a:srgbClr val="3A3352"/>
                </a:solidFill>
                <a:latin typeface="Calibri" pitchFamily="34" charset="0"/>
                <a:ea typeface="Calibri" pitchFamily="34" charset="-122"/>
                <a:cs typeface="Calibri" pitchFamily="34" charset="-120"/>
              </a:rPr>
              <a:t>The reason Bizzing exists and its most credible voice. Represents the real end user: tests the app as part of her own bee preparation, says plainly what is fun, boring, confusing or broken.</a:t>
            </a:r>
            <a:endParaRPr lang="en-US" sz="1350" dirty="0"/>
          </a:p>
        </p:txBody>
      </p:sp>
      <p:sp>
        <p:nvSpPr>
          <p:cNvPr id="7" name="Text 5"/>
          <p:cNvSpPr/>
          <p:nvPr/>
        </p:nvSpPr>
        <p:spPr>
          <a:xfrm>
            <a:off x="640080" y="2999232"/>
            <a:ext cx="365760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OWNS</a:t>
            </a:r>
            <a:endParaRPr lang="en-US" sz="1050" dirty="0"/>
          </a:p>
        </p:txBody>
      </p:sp>
      <p:sp>
        <p:nvSpPr>
          <p:cNvPr id="8" name="Text 6"/>
          <p:cNvSpPr/>
          <p:nvPr/>
        </p:nvSpPr>
        <p:spPr>
          <a:xfrm>
            <a:off x="685800" y="3310128"/>
            <a:ext cx="6035040" cy="210312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Uses the app for her own spelling preparation and gives honest feedback</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Tries new features first in usability sessions and reacts candidly</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Appears in kid-appropriate marketing, always with a parent involved</a:t>
            </a:r>
            <a:endParaRPr lang="en-US" sz="1250" dirty="0"/>
          </a:p>
          <a:p>
            <a:pPr marL="342900" indent="-342900">
              <a:lnSpc>
                <a:spcPts val="1600"/>
              </a:lnSpc>
              <a:spcAft>
                <a:spcPts val="700"/>
              </a:spcAft>
              <a:buSzPct val="100000"/>
              <a:buChar char="•"/>
            </a:pPr>
            <a:r>
              <a:rPr lang="en-US" sz="1250" dirty="0">
                <a:solidFill>
                  <a:srgbClr val="4A4360"/>
                </a:solidFill>
                <a:latin typeface="Calibri" pitchFamily="34" charset="0"/>
                <a:ea typeface="Calibri" pitchFamily="34" charset="-122"/>
                <a:cs typeface="Calibri" pitchFamily="34" charset="-120"/>
              </a:rPr>
              <a:t>Longer term: hosts beginner spelling sessions to build community</a:t>
            </a:r>
            <a:endParaRPr lang="en-US" sz="1250" dirty="0"/>
          </a:p>
        </p:txBody>
      </p:sp>
      <p:sp>
        <p:nvSpPr>
          <p:cNvPr id="9" name="Text 7"/>
          <p:cNvSpPr/>
          <p:nvPr/>
        </p:nvSpPr>
        <p:spPr>
          <a:xfrm>
            <a:off x="6949440" y="2999232"/>
            <a:ext cx="4297680" cy="256032"/>
          </a:xfrm>
          <a:prstGeom prst="rect">
            <a:avLst/>
          </a:prstGeom>
          <a:noFill/>
          <a:ln/>
        </p:spPr>
        <p:txBody>
          <a:bodyPr wrap="square" lIns="0" tIns="0" rIns="0" bIns="0" rtlCol="0" anchor="ctr"/>
          <a:lstStyle/>
          <a:p>
            <a:pPr indent="0" marL="0">
              <a:buNone/>
            </a:pPr>
            <a:r>
              <a:rPr lang="en-US" sz="1050" b="1" spc="200" kern="0" dirty="0">
                <a:solidFill>
                  <a:srgbClr val="6C4FE0"/>
                </a:solidFill>
                <a:latin typeface="Calibri" pitchFamily="34" charset="0"/>
                <a:ea typeface="Calibri" pitchFamily="34" charset="-122"/>
                <a:cs typeface="Calibri" pitchFamily="34" charset="-120"/>
              </a:rPr>
              <a:t>SUCCESS METRICS</a:t>
            </a:r>
            <a:endParaRPr lang="en-US" sz="1050" dirty="0"/>
          </a:p>
        </p:txBody>
      </p:sp>
      <p:sp>
        <p:nvSpPr>
          <p:cNvPr id="10" name="Shape 8"/>
          <p:cNvSpPr/>
          <p:nvPr/>
        </p:nvSpPr>
        <p:spPr>
          <a:xfrm rot="5400000">
            <a:off x="6949440" y="3355848"/>
            <a:ext cx="256032" cy="256032"/>
          </a:xfrm>
          <a:prstGeom prst="hexagon">
            <a:avLst/>
          </a:prstGeom>
          <a:solidFill>
            <a:srgbClr val="178A4C"/>
          </a:solidFill>
          <a:ln/>
        </p:spPr>
      </p:sp>
      <p:sp>
        <p:nvSpPr>
          <p:cNvPr id="11" name="Text 9"/>
          <p:cNvSpPr/>
          <p:nvPr/>
        </p:nvSpPr>
        <p:spPr>
          <a:xfrm>
            <a:off x="7315200" y="3310128"/>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Feedback quality</a:t>
            </a:r>
            <a:endParaRPr lang="en-US" sz="1150" dirty="0"/>
          </a:p>
        </p:txBody>
      </p:sp>
      <p:sp>
        <p:nvSpPr>
          <p:cNvPr id="12" name="Text 10"/>
          <p:cNvSpPr/>
          <p:nvPr/>
        </p:nvSpPr>
        <p:spPr>
          <a:xfrm>
            <a:off x="8778240" y="3310128"/>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Specific usable notes, not "it’s good"</a:t>
            </a:r>
            <a:endParaRPr lang="en-US" sz="1100" dirty="0"/>
          </a:p>
        </p:txBody>
      </p:sp>
      <p:sp>
        <p:nvSpPr>
          <p:cNvPr id="13" name="Shape 11"/>
          <p:cNvSpPr/>
          <p:nvPr/>
        </p:nvSpPr>
        <p:spPr>
          <a:xfrm rot="5400000">
            <a:off x="6949440" y="3922776"/>
            <a:ext cx="256032" cy="256032"/>
          </a:xfrm>
          <a:prstGeom prst="hexagon">
            <a:avLst/>
          </a:prstGeom>
          <a:solidFill>
            <a:srgbClr val="178A4C"/>
          </a:solidFill>
          <a:ln/>
        </p:spPr>
      </p:sp>
      <p:sp>
        <p:nvSpPr>
          <p:cNvPr id="14" name="Text 12"/>
          <p:cNvSpPr/>
          <p:nvPr/>
        </p:nvSpPr>
        <p:spPr>
          <a:xfrm>
            <a:off x="7315200" y="3877056"/>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Ambassador content</a:t>
            </a:r>
            <a:endParaRPr lang="en-US" sz="1150" dirty="0"/>
          </a:p>
        </p:txBody>
      </p:sp>
      <p:sp>
        <p:nvSpPr>
          <p:cNvPr id="15" name="Text 13"/>
          <p:cNvSpPr/>
          <p:nvPr/>
        </p:nvSpPr>
        <p:spPr>
          <a:xfrm>
            <a:off x="8778240" y="3877056"/>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Genuine, comfortable approved appearances</a:t>
            </a:r>
            <a:endParaRPr lang="en-US" sz="1100" dirty="0"/>
          </a:p>
        </p:txBody>
      </p:sp>
      <p:sp>
        <p:nvSpPr>
          <p:cNvPr id="16" name="Shape 14"/>
          <p:cNvSpPr/>
          <p:nvPr/>
        </p:nvSpPr>
        <p:spPr>
          <a:xfrm rot="5400000">
            <a:off x="6949440" y="4489704"/>
            <a:ext cx="256032" cy="256032"/>
          </a:xfrm>
          <a:prstGeom prst="hexagon">
            <a:avLst/>
          </a:prstGeom>
          <a:solidFill>
            <a:srgbClr val="178A4C"/>
          </a:solidFill>
          <a:ln/>
        </p:spPr>
      </p:sp>
      <p:sp>
        <p:nvSpPr>
          <p:cNvPr id="17" name="Text 15"/>
          <p:cNvSpPr/>
          <p:nvPr/>
        </p:nvSpPr>
        <p:spPr>
          <a:xfrm>
            <a:off x="7315200" y="4443984"/>
            <a:ext cx="1417320" cy="329184"/>
          </a:xfrm>
          <a:prstGeom prst="rect">
            <a:avLst/>
          </a:prstGeom>
          <a:noFill/>
          <a:ln/>
        </p:spPr>
        <p:txBody>
          <a:bodyPr wrap="square" lIns="0" tIns="0" rIns="0" bIns="0" rtlCol="0" anchor="ctr"/>
          <a:lstStyle/>
          <a:p>
            <a:pPr indent="0" marL="0">
              <a:buNone/>
            </a:pPr>
            <a:r>
              <a:rPr lang="en-US" sz="1150" b="1" dirty="0">
                <a:solidFill>
                  <a:srgbClr val="241E33"/>
                </a:solidFill>
                <a:latin typeface="Calibri" pitchFamily="34" charset="0"/>
                <a:ea typeface="Calibri" pitchFamily="34" charset="-122"/>
                <a:cs typeface="Calibri" pitchFamily="34" charset="-120"/>
              </a:rPr>
              <a:t>Community</a:t>
            </a:r>
            <a:endParaRPr lang="en-US" sz="1150" dirty="0"/>
          </a:p>
        </p:txBody>
      </p:sp>
      <p:sp>
        <p:nvSpPr>
          <p:cNvPr id="18" name="Text 16"/>
          <p:cNvSpPr/>
          <p:nvPr/>
        </p:nvSpPr>
        <p:spPr>
          <a:xfrm>
            <a:off x="8778240" y="4443984"/>
            <a:ext cx="2743200" cy="384048"/>
          </a:xfrm>
          <a:prstGeom prst="rect">
            <a:avLst/>
          </a:prstGeom>
          <a:noFill/>
          <a:ln/>
        </p:spPr>
        <p:txBody>
          <a:bodyPr wrap="square" lIns="0" tIns="0" rIns="0" bIns="0" rtlCol="0" anchor="ctr"/>
          <a:lstStyle/>
          <a:p>
            <a:pPr indent="0" marL="0">
              <a:lnSpc>
                <a:spcPts val="1400"/>
              </a:lnSpc>
              <a:buNone/>
            </a:pPr>
            <a:r>
              <a:rPr lang="en-US" sz="1100" dirty="0">
                <a:solidFill>
                  <a:srgbClr val="4A4360"/>
                </a:solidFill>
                <a:latin typeface="Calibri" pitchFamily="34" charset="0"/>
                <a:ea typeface="Calibri" pitchFamily="34" charset="-122"/>
                <a:cs typeface="Calibri" pitchFamily="34" charset="-120"/>
              </a:rPr>
              <a:t>Interest generated by beginner sessions</a:t>
            </a:r>
            <a:endParaRPr lang="en-US" sz="1100" dirty="0"/>
          </a:p>
        </p:txBody>
      </p:sp>
      <p:sp>
        <p:nvSpPr>
          <p:cNvPr id="19" name="Shape 17"/>
          <p:cNvSpPr/>
          <p:nvPr/>
        </p:nvSpPr>
        <p:spPr>
          <a:xfrm>
            <a:off x="640080" y="5623560"/>
            <a:ext cx="10607040" cy="566928"/>
          </a:xfrm>
          <a:prstGeom prst="roundRect">
            <a:avLst>
              <a:gd name="adj" fmla="val 19355"/>
            </a:avLst>
          </a:prstGeom>
          <a:solidFill>
            <a:srgbClr val="FBF3E0"/>
          </a:solidFill>
          <a:ln/>
        </p:spPr>
      </p:sp>
      <p:sp>
        <p:nvSpPr>
          <p:cNvPr id="20" name="Text 18"/>
          <p:cNvSpPr/>
          <p:nvPr/>
        </p:nvSpPr>
        <p:spPr>
          <a:xfrm>
            <a:off x="914400" y="5623560"/>
            <a:ext cx="10058400" cy="566928"/>
          </a:xfrm>
          <a:prstGeom prst="rect">
            <a:avLst/>
          </a:prstGeom>
          <a:noFill/>
          <a:ln/>
        </p:spPr>
        <p:txBody>
          <a:bodyPr wrap="square" lIns="0" tIns="0" rIns="0" bIns="0" rtlCol="0" anchor="ctr"/>
          <a:lstStyle/>
          <a:p>
            <a:pPr indent="0" marL="0">
              <a:buNone/>
            </a:pPr>
            <a:r>
              <a:rPr lang="en-US" sz="1200" b="1" dirty="0">
                <a:solidFill>
                  <a:srgbClr val="8A5B00"/>
                </a:solidFill>
                <a:latin typeface="Calibri" pitchFamily="34" charset="0"/>
                <a:ea typeface="Calibri" pitchFamily="34" charset="-122"/>
                <a:cs typeface="Calibri" pitchFamily="34" charset="-120"/>
              </a:rPr>
              <a:t>Does not own:  </a:t>
            </a:r>
            <a:pPr indent="0" marL="0">
              <a:buNone/>
            </a:pPr>
            <a:r>
              <a:rPr lang="en-US" sz="1200" dirty="0">
                <a:solidFill>
                  <a:srgbClr val="8A5B00"/>
                </a:solidFill>
                <a:latin typeface="Calibri" pitchFamily="34" charset="0"/>
                <a:ea typeface="Calibri" pitchFamily="34" charset="-122"/>
                <a:cs typeface="Calibri" pitchFamily="34" charset="-120"/>
              </a:rPr>
              <a:t>Not an employment position. Schoolwork, her own bee prep and her own projects take priority.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058400" y="457200"/>
            <a:ext cx="1417320" cy="141732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BUSINESS MODEL</a:t>
            </a:r>
            <a:endParaRPr lang="en-US" sz="1200" dirty="0"/>
          </a:p>
        </p:txBody>
      </p:sp>
      <p:sp>
        <p:nvSpPr>
          <p:cNvPr id="4" name="Text 1"/>
          <p:cNvSpPr/>
          <p:nvPr/>
        </p:nvSpPr>
        <p:spPr>
          <a:xfrm>
            <a:off x="640080" y="914400"/>
            <a:ext cx="9692640"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Free to arrive. Paid to go deep. Human where it matters.</a:t>
            </a:r>
            <a:endParaRPr lang="en-US" sz="2800" dirty="0"/>
          </a:p>
        </p:txBody>
      </p:sp>
      <p:sp>
        <p:nvSpPr>
          <p:cNvPr id="5" name="Text 2"/>
          <p:cNvSpPr/>
          <p:nvPr/>
        </p:nvSpPr>
        <p:spPr>
          <a:xfrm>
            <a:off x="640080" y="1865376"/>
            <a:ext cx="9692640" cy="457200"/>
          </a:xfrm>
          <a:prstGeom prst="rect">
            <a:avLst/>
          </a:prstGeom>
          <a:noFill/>
          <a:ln/>
        </p:spPr>
        <p:txBody>
          <a:bodyPr wrap="square" lIns="0" tIns="0" rIns="0" bIns="0" rtlCol="0" anchor="ctr"/>
          <a:lstStyle/>
          <a:p>
            <a:pPr indent="0" marL="0">
              <a:lnSpc>
                <a:spcPts val="1700"/>
              </a:lnSpc>
              <a:buNone/>
            </a:pPr>
            <a:r>
              <a:rPr lang="en-US" sz="1300" dirty="0">
                <a:solidFill>
                  <a:srgbClr val="E3DCF2"/>
                </a:solidFill>
                <a:latin typeface="Calibri" pitchFamily="34" charset="0"/>
                <a:ea typeface="Calibri" pitchFamily="34" charset="-122"/>
                <a:cs typeface="Calibri" pitchFamily="34" charset="-120"/>
              </a:rPr>
              <a:t>The unit is the HOUSEHOLD, not the child. A family with three children buys once and stays twelve years — which is why every price below is a family price, and why the age gaps matter more than any single conversion rate.</a:t>
            </a:r>
            <a:endParaRPr lang="en-US" sz="1300" dirty="0"/>
          </a:p>
        </p:txBody>
      </p:sp>
      <p:sp>
        <p:nvSpPr>
          <p:cNvPr id="6" name="Shape 3"/>
          <p:cNvSpPr/>
          <p:nvPr/>
        </p:nvSpPr>
        <p:spPr>
          <a:xfrm>
            <a:off x="640080" y="2450592"/>
            <a:ext cx="2194560" cy="822960"/>
          </a:xfrm>
          <a:prstGeom prst="roundRect">
            <a:avLst>
              <a:gd name="adj" fmla="val 12222"/>
            </a:avLst>
          </a:prstGeom>
          <a:solidFill>
            <a:srgbClr val="F0B429"/>
          </a:solidFill>
          <a:ln/>
        </p:spPr>
      </p:sp>
      <p:sp>
        <p:nvSpPr>
          <p:cNvPr id="7" name="Text 4"/>
          <p:cNvSpPr/>
          <p:nvPr/>
        </p:nvSpPr>
        <p:spPr>
          <a:xfrm>
            <a:off x="640080" y="2569464"/>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FREE</a:t>
            </a:r>
            <a:endParaRPr lang="en-US" sz="950" dirty="0"/>
          </a:p>
        </p:txBody>
      </p:sp>
      <p:sp>
        <p:nvSpPr>
          <p:cNvPr id="8" name="Text 5"/>
          <p:cNvSpPr/>
          <p:nvPr/>
        </p:nvSpPr>
        <p:spPr>
          <a:xfrm>
            <a:off x="640080" y="2852928"/>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Arrive</a:t>
            </a:r>
            <a:endParaRPr lang="en-US" sz="1500" dirty="0"/>
          </a:p>
        </p:txBody>
      </p:sp>
      <p:sp>
        <p:nvSpPr>
          <p:cNvPr id="9" name="Text 6"/>
          <p:cNvSpPr/>
          <p:nvPr/>
        </p:nvSpPr>
        <p:spPr>
          <a:xfrm>
            <a:off x="3127248" y="2505456"/>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Bee core · Bizzing India culture · the YouTube channel. No card, no signup wall. This layer exists to be shared.</a:t>
            </a:r>
            <a:endParaRPr lang="en-US" sz="1200" dirty="0"/>
          </a:p>
        </p:txBody>
      </p:sp>
      <p:sp>
        <p:nvSpPr>
          <p:cNvPr id="10" name="Shape 7"/>
          <p:cNvSpPr/>
          <p:nvPr/>
        </p:nvSpPr>
        <p:spPr>
          <a:xfrm>
            <a:off x="640080" y="3401568"/>
            <a:ext cx="2194560" cy="822960"/>
          </a:xfrm>
          <a:prstGeom prst="roundRect">
            <a:avLst>
              <a:gd name="adj" fmla="val 12222"/>
            </a:avLst>
          </a:prstGeom>
          <a:solidFill>
            <a:srgbClr val="6C4FE0"/>
          </a:solidFill>
          <a:ln/>
        </p:spPr>
      </p:sp>
      <p:sp>
        <p:nvSpPr>
          <p:cNvPr id="11" name="Text 8"/>
          <p:cNvSpPr/>
          <p:nvPr/>
        </p:nvSpPr>
        <p:spPr>
          <a:xfrm>
            <a:off x="640080" y="3520440"/>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SUBSCRIPTION</a:t>
            </a:r>
            <a:endParaRPr lang="en-US" sz="950" dirty="0"/>
          </a:p>
        </p:txBody>
      </p:sp>
      <p:sp>
        <p:nvSpPr>
          <p:cNvPr id="12" name="Text 9"/>
          <p:cNvSpPr/>
          <p:nvPr/>
        </p:nvSpPr>
        <p:spPr>
          <a:xfrm>
            <a:off x="640080" y="3803904"/>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Go deep</a:t>
            </a:r>
            <a:endParaRPr lang="en-US" sz="1500" dirty="0"/>
          </a:p>
        </p:txBody>
      </p:sp>
      <p:sp>
        <p:nvSpPr>
          <p:cNvPr id="13" name="Text 10"/>
          <p:cNvSpPr/>
          <p:nvPr/>
        </p:nvSpPr>
        <p:spPr>
          <a:xfrm>
            <a:off x="3127248" y="3456432"/>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Per-product packs, or one family plan across the house. The compounding line and the only one that improves while you sleep.</a:t>
            </a:r>
            <a:endParaRPr lang="en-US" sz="1200" dirty="0"/>
          </a:p>
        </p:txBody>
      </p:sp>
      <p:sp>
        <p:nvSpPr>
          <p:cNvPr id="14" name="Shape 11"/>
          <p:cNvSpPr/>
          <p:nvPr/>
        </p:nvSpPr>
        <p:spPr>
          <a:xfrm>
            <a:off x="640080" y="4352544"/>
            <a:ext cx="2194560" cy="822960"/>
          </a:xfrm>
          <a:prstGeom prst="roundRect">
            <a:avLst>
              <a:gd name="adj" fmla="val 12222"/>
            </a:avLst>
          </a:prstGeom>
          <a:solidFill>
            <a:srgbClr val="178A4C"/>
          </a:solidFill>
          <a:ln/>
        </p:spPr>
      </p:sp>
      <p:sp>
        <p:nvSpPr>
          <p:cNvPr id="15" name="Text 12"/>
          <p:cNvSpPr/>
          <p:nvPr/>
        </p:nvSpPr>
        <p:spPr>
          <a:xfrm>
            <a:off x="640080" y="4471416"/>
            <a:ext cx="2194560" cy="274320"/>
          </a:xfrm>
          <a:prstGeom prst="rect">
            <a:avLst/>
          </a:prstGeom>
          <a:noFill/>
          <a:ln/>
        </p:spPr>
        <p:txBody>
          <a:bodyPr wrap="square" lIns="0" tIns="0" rIns="0" bIns="0" rtlCol="0" anchor="ctr"/>
          <a:lstStyle/>
          <a:p>
            <a:pPr algn="ctr" indent="0" marL="0">
              <a:buNone/>
            </a:pPr>
            <a:r>
              <a:rPr lang="en-US" sz="950" b="1" spc="140" kern="0" dirty="0">
                <a:solidFill>
                  <a:srgbClr val="FFFFFF"/>
                </a:solidFill>
                <a:latin typeface="Calibri" pitchFamily="34" charset="0"/>
                <a:ea typeface="Calibri" pitchFamily="34" charset="-122"/>
                <a:cs typeface="Calibri" pitchFamily="34" charset="-120"/>
              </a:rPr>
              <a:t>COHORT</a:t>
            </a:r>
            <a:endParaRPr lang="en-US" sz="950" dirty="0"/>
          </a:p>
        </p:txBody>
      </p:sp>
      <p:sp>
        <p:nvSpPr>
          <p:cNvPr id="16" name="Text 13"/>
          <p:cNvSpPr/>
          <p:nvPr/>
        </p:nvSpPr>
        <p:spPr>
          <a:xfrm>
            <a:off x="640080" y="4754880"/>
            <a:ext cx="2194560"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 taught</a:t>
            </a:r>
            <a:endParaRPr lang="en-US" sz="1500" dirty="0"/>
          </a:p>
        </p:txBody>
      </p:sp>
      <p:sp>
        <p:nvSpPr>
          <p:cNvPr id="17" name="Text 14"/>
          <p:cNvSpPr/>
          <p:nvPr/>
        </p:nvSpPr>
        <p:spPr>
          <a:xfrm>
            <a:off x="3127248" y="4407408"/>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Bizzing Business, bee coaching, beginner classes. Highest price per family, capped by people rather than by servers.</a:t>
            </a:r>
            <a:endParaRPr lang="en-US" sz="1200" dirty="0"/>
          </a:p>
        </p:txBody>
      </p:sp>
      <p:sp>
        <p:nvSpPr>
          <p:cNvPr id="18" name="Shape 15"/>
          <p:cNvSpPr/>
          <p:nvPr/>
        </p:nvSpPr>
        <p:spPr>
          <a:xfrm>
            <a:off x="640080" y="5303520"/>
            <a:ext cx="2194560" cy="822960"/>
          </a:xfrm>
          <a:prstGeom prst="roundRect">
            <a:avLst>
              <a:gd name="adj" fmla="val 12222"/>
            </a:avLst>
          </a:prstGeom>
          <a:solidFill>
            <a:srgbClr val="E3B23C"/>
          </a:solidFill>
          <a:ln/>
        </p:spPr>
      </p:sp>
      <p:sp>
        <p:nvSpPr>
          <p:cNvPr id="19" name="Text 16"/>
          <p:cNvSpPr/>
          <p:nvPr/>
        </p:nvSpPr>
        <p:spPr>
          <a:xfrm>
            <a:off x="640080" y="5422392"/>
            <a:ext cx="2194560" cy="274320"/>
          </a:xfrm>
          <a:prstGeom prst="rect">
            <a:avLst/>
          </a:prstGeom>
          <a:noFill/>
          <a:ln/>
        </p:spPr>
        <p:txBody>
          <a:bodyPr wrap="square" lIns="0" tIns="0" rIns="0" bIns="0" rtlCol="0" anchor="ctr"/>
          <a:lstStyle/>
          <a:p>
            <a:pPr algn="ctr" indent="0" marL="0">
              <a:buNone/>
            </a:pPr>
            <a:r>
              <a:rPr lang="en-US" sz="950" b="1" spc="140" kern="0" dirty="0">
                <a:solidFill>
                  <a:srgbClr val="241E33"/>
                </a:solidFill>
                <a:latin typeface="Calibri" pitchFamily="34" charset="0"/>
                <a:ea typeface="Calibri" pitchFamily="34" charset="-122"/>
                <a:cs typeface="Calibri" pitchFamily="34" charset="-120"/>
              </a:rPr>
              <a:t>PHYSICAL &amp; MEDIA</a:t>
            </a:r>
            <a:endParaRPr lang="en-US" sz="950" dirty="0"/>
          </a:p>
        </p:txBody>
      </p:sp>
      <p:sp>
        <p:nvSpPr>
          <p:cNvPr id="20" name="Text 17"/>
          <p:cNvSpPr/>
          <p:nvPr/>
        </p:nvSpPr>
        <p:spPr>
          <a:xfrm>
            <a:off x="640080" y="5705856"/>
            <a:ext cx="2194560" cy="310896"/>
          </a:xfrm>
          <a:prstGeom prst="rect">
            <a:avLst/>
          </a:prstGeom>
          <a:noFill/>
          <a:ln/>
        </p:spPr>
        <p:txBody>
          <a:bodyPr wrap="square" lIns="0" tIns="0" rIns="0" bIns="0" rtlCol="0" anchor="ctr"/>
          <a:lstStyle/>
          <a:p>
            <a:pPr algn="ctr" indent="0" marL="0">
              <a:buNone/>
            </a:pPr>
            <a:r>
              <a:rPr lang="en-US" sz="1500" b="1" dirty="0">
                <a:solidFill>
                  <a:srgbClr val="241E33"/>
                </a:solidFill>
                <a:latin typeface="Cambria" pitchFamily="34" charset="0"/>
                <a:ea typeface="Cambria" pitchFamily="34" charset="-122"/>
                <a:cs typeface="Cambria" pitchFamily="34" charset="-120"/>
              </a:rPr>
              <a:t>Take it home</a:t>
            </a:r>
            <a:endParaRPr lang="en-US" sz="1500" dirty="0"/>
          </a:p>
        </p:txBody>
      </p:sp>
      <p:sp>
        <p:nvSpPr>
          <p:cNvPr id="21" name="Text 18"/>
          <p:cNvSpPr/>
          <p:nvPr/>
        </p:nvSpPr>
        <p:spPr>
          <a:xfrm>
            <a:off x="3127248" y="5358384"/>
            <a:ext cx="8229600" cy="731520"/>
          </a:xfrm>
          <a:prstGeom prst="rect">
            <a:avLst/>
          </a:prstGeom>
          <a:noFill/>
          <a:ln/>
        </p:spPr>
        <p:txBody>
          <a:bodyPr wrap="square" lIns="0" tIns="0" rIns="0" bIns="0" rtlCol="0" anchor="ctr"/>
          <a:lstStyle/>
          <a:p>
            <a:pPr indent="0" marL="0">
              <a:lnSpc>
                <a:spcPts val="1600"/>
              </a:lnSpc>
              <a:buNone/>
            </a:pPr>
            <a:r>
              <a:rPr lang="en-US" sz="1200" dirty="0">
                <a:solidFill>
                  <a:srgbClr val="E3DCF2"/>
                </a:solidFill>
                <a:latin typeface="Calibri" pitchFamily="34" charset="0"/>
                <a:ea typeface="Calibri" pitchFamily="34" charset="-122"/>
                <a:cs typeface="Calibri" pitchFamily="34" charset="-120"/>
              </a:rPr>
              <a:t>Books, avatar cards, plushies and tees; YouTube ad and sponsorship. Margin support, and a brand a child can hold.</a:t>
            </a:r>
            <a:endParaRPr lang="en-US" sz="1200" dirty="0"/>
          </a:p>
        </p:txBody>
      </p:sp>
      <p:sp>
        <p:nvSpPr>
          <p:cNvPr id="22" name="Text 19"/>
          <p:cNvSpPr/>
          <p:nvPr/>
        </p:nvSpPr>
        <p:spPr>
          <a:xfrm>
            <a:off x="640080" y="6309360"/>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Everything after this slide is illustrative arithmetic built on one assumption block — shown in full at the end, so any number can be argued with by changing an input rather than by disbelieving a chart.</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SUBSCRIPTION MODELS</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each product charges, and why</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One free tier across the house, priced packs per subject, and a family plan that is cheaper than any two of them.</a:t>
            </a:r>
            <a:endParaRPr lang="en-US" sz="1450" dirty="0"/>
          </a:p>
        </p:txBody>
      </p:sp>
      <p:sp>
        <p:nvSpPr>
          <p:cNvPr id="5" name="Shape 3"/>
          <p:cNvSpPr/>
          <p:nvPr/>
        </p:nvSpPr>
        <p:spPr>
          <a:xfrm>
            <a:off x="512064" y="2029968"/>
            <a:ext cx="10991088" cy="457200"/>
          </a:xfrm>
          <a:prstGeom prst="roundRect">
            <a:avLst>
              <a:gd name="adj" fmla="val 18000"/>
            </a:avLst>
          </a:prstGeom>
          <a:solidFill>
            <a:srgbClr val="EFEBF8"/>
          </a:solidFill>
          <a:ln/>
        </p:spPr>
      </p:sp>
      <p:sp>
        <p:nvSpPr>
          <p:cNvPr id="6" name="Text 4"/>
          <p:cNvSpPr/>
          <p:nvPr/>
        </p:nvSpPr>
        <p:spPr>
          <a:xfrm>
            <a:off x="640080" y="2066544"/>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Bee</a:t>
            </a:r>
            <a:endParaRPr lang="en-US" sz="1250" dirty="0"/>
          </a:p>
        </p:txBody>
      </p:sp>
      <p:sp>
        <p:nvSpPr>
          <p:cNvPr id="7" name="Text 5"/>
          <p:cNvSpPr/>
          <p:nvPr/>
        </p:nvSpPr>
        <p:spPr>
          <a:xfrm>
            <a:off x="2971800" y="2066544"/>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Free</a:t>
            </a:r>
            <a:endParaRPr lang="en-US" sz="1000" dirty="0"/>
          </a:p>
        </p:txBody>
      </p:sp>
      <p:sp>
        <p:nvSpPr>
          <p:cNvPr id="8" name="Text 6"/>
          <p:cNvSpPr/>
          <p:nvPr/>
        </p:nvSpPr>
        <p:spPr>
          <a:xfrm>
            <a:off x="4480560" y="2066544"/>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a:t>
            </a:r>
            <a:endParaRPr lang="en-US" sz="1200" dirty="0"/>
          </a:p>
        </p:txBody>
      </p:sp>
      <p:sp>
        <p:nvSpPr>
          <p:cNvPr id="9" name="Text 7"/>
          <p:cNvSpPr/>
          <p:nvPr/>
        </p:nvSpPr>
        <p:spPr>
          <a:xfrm>
            <a:off x="6126480" y="2066544"/>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Full word library, journey, arcade. The product most families never pay for, and the reason they trust us.</a:t>
            </a:r>
            <a:endParaRPr lang="en-US" sz="1050" dirty="0"/>
          </a:p>
        </p:txBody>
      </p:sp>
      <p:sp>
        <p:nvSpPr>
          <p:cNvPr id="10" name="Text 8"/>
          <p:cNvSpPr/>
          <p:nvPr/>
        </p:nvSpPr>
        <p:spPr>
          <a:xfrm>
            <a:off x="640080" y="2551176"/>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Bee Plus</a:t>
            </a:r>
            <a:endParaRPr lang="en-US" sz="1250" dirty="0"/>
          </a:p>
        </p:txBody>
      </p:sp>
      <p:sp>
        <p:nvSpPr>
          <p:cNvPr id="11" name="Text 9"/>
          <p:cNvSpPr/>
          <p:nvPr/>
        </p:nvSpPr>
        <p:spPr>
          <a:xfrm>
            <a:off x="2971800" y="2551176"/>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Subscription</a:t>
            </a:r>
            <a:endParaRPr lang="en-US" sz="1000" dirty="0"/>
          </a:p>
        </p:txBody>
      </p:sp>
      <p:sp>
        <p:nvSpPr>
          <p:cNvPr id="12" name="Text 10"/>
          <p:cNvSpPr/>
          <p:nvPr/>
        </p:nvSpPr>
        <p:spPr>
          <a:xfrm>
            <a:off x="4480560" y="2551176"/>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$59 / yr</a:t>
            </a:r>
            <a:endParaRPr lang="en-US" sz="1200" dirty="0"/>
          </a:p>
        </p:txBody>
      </p:sp>
      <p:sp>
        <p:nvSpPr>
          <p:cNvPr id="13" name="Text 11"/>
          <p:cNvSpPr/>
          <p:nvPr/>
        </p:nvSpPr>
        <p:spPr>
          <a:xfrm>
            <a:off x="6126480" y="2551176"/>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Parent reports, offline packs, deeper word lists. The default upgrade.</a:t>
            </a:r>
            <a:endParaRPr lang="en-US" sz="1050" dirty="0"/>
          </a:p>
        </p:txBody>
      </p:sp>
      <p:sp>
        <p:nvSpPr>
          <p:cNvPr id="14" name="Shape 12"/>
          <p:cNvSpPr/>
          <p:nvPr/>
        </p:nvSpPr>
        <p:spPr>
          <a:xfrm>
            <a:off x="512064" y="2999232"/>
            <a:ext cx="10991088" cy="457200"/>
          </a:xfrm>
          <a:prstGeom prst="roundRect">
            <a:avLst>
              <a:gd name="adj" fmla="val 18000"/>
            </a:avLst>
          </a:prstGeom>
          <a:solidFill>
            <a:srgbClr val="EFEBF8"/>
          </a:solidFill>
          <a:ln/>
        </p:spPr>
      </p:sp>
      <p:sp>
        <p:nvSpPr>
          <p:cNvPr id="15" name="Text 13"/>
          <p:cNvSpPr/>
          <p:nvPr/>
        </p:nvSpPr>
        <p:spPr>
          <a:xfrm>
            <a:off x="640080" y="3035808"/>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Advanced Pack</a:t>
            </a:r>
            <a:endParaRPr lang="en-US" sz="1250" dirty="0"/>
          </a:p>
        </p:txBody>
      </p:sp>
      <p:sp>
        <p:nvSpPr>
          <p:cNvPr id="16" name="Text 14"/>
          <p:cNvSpPr/>
          <p:nvPr/>
        </p:nvSpPr>
        <p:spPr>
          <a:xfrm>
            <a:off x="2971800" y="3035808"/>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Subscription</a:t>
            </a:r>
            <a:endParaRPr lang="en-US" sz="1000" dirty="0"/>
          </a:p>
        </p:txBody>
      </p:sp>
      <p:sp>
        <p:nvSpPr>
          <p:cNvPr id="17" name="Text 15"/>
          <p:cNvSpPr/>
          <p:nvPr/>
        </p:nvSpPr>
        <p:spPr>
          <a:xfrm>
            <a:off x="4480560" y="3035808"/>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$299 / yr</a:t>
            </a:r>
            <a:endParaRPr lang="en-US" sz="1200" dirty="0"/>
          </a:p>
        </p:txBody>
      </p:sp>
      <p:sp>
        <p:nvSpPr>
          <p:cNvPr id="18" name="Text 16"/>
          <p:cNvSpPr/>
          <p:nvPr/>
        </p:nvSpPr>
        <p:spPr>
          <a:xfrm>
            <a:off x="6126480" y="3035808"/>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The champion track. Already priced in the app. A small share of families, a large share of revenue.</a:t>
            </a:r>
            <a:endParaRPr lang="en-US" sz="1050" dirty="0"/>
          </a:p>
        </p:txBody>
      </p:sp>
      <p:sp>
        <p:nvSpPr>
          <p:cNvPr id="19" name="Text 17"/>
          <p:cNvSpPr/>
          <p:nvPr/>
        </p:nvSpPr>
        <p:spPr>
          <a:xfrm>
            <a:off x="640080" y="3520440"/>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Bhasha</a:t>
            </a:r>
            <a:endParaRPr lang="en-US" sz="1250" dirty="0"/>
          </a:p>
        </p:txBody>
      </p:sp>
      <p:sp>
        <p:nvSpPr>
          <p:cNvPr id="20" name="Text 18"/>
          <p:cNvSpPr/>
          <p:nvPr/>
        </p:nvSpPr>
        <p:spPr>
          <a:xfrm>
            <a:off x="2971800" y="3520440"/>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Per language</a:t>
            </a:r>
            <a:endParaRPr lang="en-US" sz="1000" dirty="0"/>
          </a:p>
        </p:txBody>
      </p:sp>
      <p:sp>
        <p:nvSpPr>
          <p:cNvPr id="21" name="Text 19"/>
          <p:cNvSpPr/>
          <p:nvPr/>
        </p:nvSpPr>
        <p:spPr>
          <a:xfrm>
            <a:off x="4480560" y="3520440"/>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$79 / yr</a:t>
            </a:r>
            <a:endParaRPr lang="en-US" sz="1200" dirty="0"/>
          </a:p>
        </p:txBody>
      </p:sp>
      <p:sp>
        <p:nvSpPr>
          <p:cNvPr id="22" name="Text 20"/>
          <p:cNvSpPr/>
          <p:nvPr/>
        </p:nvSpPr>
        <p:spPr>
          <a:xfrm>
            <a:off x="6126480" y="3520440"/>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Hindi first. Bought inside the free India hook, which is what makes it convert.</a:t>
            </a:r>
            <a:endParaRPr lang="en-US" sz="1050" dirty="0"/>
          </a:p>
        </p:txBody>
      </p:sp>
      <p:sp>
        <p:nvSpPr>
          <p:cNvPr id="23" name="Shape 21"/>
          <p:cNvSpPr/>
          <p:nvPr/>
        </p:nvSpPr>
        <p:spPr>
          <a:xfrm>
            <a:off x="512064" y="3968496"/>
            <a:ext cx="10991088" cy="457200"/>
          </a:xfrm>
          <a:prstGeom prst="roundRect">
            <a:avLst>
              <a:gd name="adj" fmla="val 18000"/>
            </a:avLst>
          </a:prstGeom>
          <a:solidFill>
            <a:srgbClr val="EFEBF8"/>
          </a:solidFill>
          <a:ln/>
        </p:spPr>
      </p:sp>
      <p:sp>
        <p:nvSpPr>
          <p:cNvPr id="24" name="Text 22"/>
          <p:cNvSpPr/>
          <p:nvPr/>
        </p:nvSpPr>
        <p:spPr>
          <a:xfrm>
            <a:off x="640080" y="4005072"/>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Eleven</a:t>
            </a:r>
            <a:endParaRPr lang="en-US" sz="1250" dirty="0"/>
          </a:p>
        </p:txBody>
      </p:sp>
      <p:sp>
        <p:nvSpPr>
          <p:cNvPr id="25" name="Text 23"/>
          <p:cNvSpPr/>
          <p:nvPr/>
        </p:nvSpPr>
        <p:spPr>
          <a:xfrm>
            <a:off x="2971800" y="4005072"/>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Exam year</a:t>
            </a:r>
            <a:endParaRPr lang="en-US" sz="1000" dirty="0"/>
          </a:p>
        </p:txBody>
      </p:sp>
      <p:sp>
        <p:nvSpPr>
          <p:cNvPr id="26" name="Text 24"/>
          <p:cNvSpPr/>
          <p:nvPr/>
        </p:nvSpPr>
        <p:spPr>
          <a:xfrm>
            <a:off x="4480560" y="4005072"/>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$99 / yr</a:t>
            </a:r>
            <a:endParaRPr lang="en-US" sz="1200" dirty="0"/>
          </a:p>
        </p:txBody>
      </p:sp>
      <p:sp>
        <p:nvSpPr>
          <p:cNvPr id="27" name="Text 25"/>
          <p:cNvSpPr/>
          <p:nvPr/>
        </p:nvSpPr>
        <p:spPr>
          <a:xfrm>
            <a:off x="6126480" y="4005072"/>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High intent, short window, low price sensitivity. Bought in the year it matters.</a:t>
            </a:r>
            <a:endParaRPr lang="en-US" sz="1050" dirty="0"/>
          </a:p>
        </p:txBody>
      </p:sp>
      <p:sp>
        <p:nvSpPr>
          <p:cNvPr id="28" name="Text 26"/>
          <p:cNvSpPr/>
          <p:nvPr/>
        </p:nvSpPr>
        <p:spPr>
          <a:xfrm>
            <a:off x="640080" y="4489704"/>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Maths · English · Finance</a:t>
            </a:r>
            <a:endParaRPr lang="en-US" sz="1250" dirty="0"/>
          </a:p>
        </p:txBody>
      </p:sp>
      <p:sp>
        <p:nvSpPr>
          <p:cNvPr id="29" name="Text 27"/>
          <p:cNvSpPr/>
          <p:nvPr/>
        </p:nvSpPr>
        <p:spPr>
          <a:xfrm>
            <a:off x="2971800" y="4489704"/>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Subscription</a:t>
            </a:r>
            <a:endParaRPr lang="en-US" sz="1000" dirty="0"/>
          </a:p>
        </p:txBody>
      </p:sp>
      <p:sp>
        <p:nvSpPr>
          <p:cNvPr id="30" name="Text 28"/>
          <p:cNvSpPr/>
          <p:nvPr/>
        </p:nvSpPr>
        <p:spPr>
          <a:xfrm>
            <a:off x="4480560" y="4489704"/>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$59 / yr each</a:t>
            </a:r>
            <a:endParaRPr lang="en-US" sz="1200" dirty="0"/>
          </a:p>
        </p:txBody>
      </p:sp>
      <p:sp>
        <p:nvSpPr>
          <p:cNvPr id="31" name="Text 29"/>
          <p:cNvSpPr/>
          <p:nvPr/>
        </p:nvSpPr>
        <p:spPr>
          <a:xfrm>
            <a:off x="6126480" y="4489704"/>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Priced to be added, not agonised over.</a:t>
            </a:r>
            <a:endParaRPr lang="en-US" sz="1050" dirty="0"/>
          </a:p>
        </p:txBody>
      </p:sp>
      <p:sp>
        <p:nvSpPr>
          <p:cNvPr id="32" name="Shape 30"/>
          <p:cNvSpPr/>
          <p:nvPr/>
        </p:nvSpPr>
        <p:spPr>
          <a:xfrm>
            <a:off x="512064" y="4937760"/>
            <a:ext cx="10991088" cy="457200"/>
          </a:xfrm>
          <a:prstGeom prst="roundRect">
            <a:avLst>
              <a:gd name="adj" fmla="val 18000"/>
            </a:avLst>
          </a:prstGeom>
          <a:solidFill>
            <a:srgbClr val="EFEBF8"/>
          </a:solidFill>
          <a:ln/>
        </p:spPr>
      </p:sp>
      <p:sp>
        <p:nvSpPr>
          <p:cNvPr id="33" name="Text 31"/>
          <p:cNvSpPr/>
          <p:nvPr/>
        </p:nvSpPr>
        <p:spPr>
          <a:xfrm>
            <a:off x="640080" y="4974336"/>
            <a:ext cx="2286000" cy="384048"/>
          </a:xfrm>
          <a:prstGeom prst="rect">
            <a:avLst/>
          </a:prstGeom>
          <a:noFill/>
          <a:ln/>
        </p:spPr>
        <p:txBody>
          <a:bodyPr wrap="square" lIns="0" tIns="0" rIns="0" bIns="0" rtlCol="0" anchor="ctr"/>
          <a:lstStyle/>
          <a:p>
            <a:pPr indent="0" marL="0">
              <a:buNone/>
            </a:pPr>
            <a:r>
              <a:rPr lang="en-US" sz="1250" b="1" dirty="0">
                <a:solidFill>
                  <a:srgbClr val="6C4FE0"/>
                </a:solidFill>
                <a:latin typeface="Cambria" pitchFamily="34" charset="0"/>
                <a:ea typeface="Cambria" pitchFamily="34" charset="-122"/>
                <a:cs typeface="Cambria" pitchFamily="34" charset="-120"/>
              </a:rPr>
              <a:t>Bizzing Family</a:t>
            </a:r>
            <a:endParaRPr lang="en-US" sz="1250" dirty="0"/>
          </a:p>
        </p:txBody>
      </p:sp>
      <p:sp>
        <p:nvSpPr>
          <p:cNvPr id="34" name="Text 32"/>
          <p:cNvSpPr/>
          <p:nvPr/>
        </p:nvSpPr>
        <p:spPr>
          <a:xfrm>
            <a:off x="2971800" y="4974336"/>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Everything</a:t>
            </a:r>
            <a:endParaRPr lang="en-US" sz="1000" dirty="0"/>
          </a:p>
        </p:txBody>
      </p:sp>
      <p:sp>
        <p:nvSpPr>
          <p:cNvPr id="35" name="Text 33"/>
          <p:cNvSpPr/>
          <p:nvPr/>
        </p:nvSpPr>
        <p:spPr>
          <a:xfrm>
            <a:off x="4480560" y="4974336"/>
            <a:ext cx="1417320" cy="384048"/>
          </a:xfrm>
          <a:prstGeom prst="rect">
            <a:avLst/>
          </a:prstGeom>
          <a:noFill/>
          <a:ln/>
        </p:spPr>
        <p:txBody>
          <a:bodyPr wrap="square" lIns="0" tIns="0" rIns="0" bIns="0" rtlCol="0" anchor="ctr"/>
          <a:lstStyle/>
          <a:p>
            <a:pPr algn="r" indent="0" marL="0">
              <a:buNone/>
            </a:pPr>
            <a:r>
              <a:rPr lang="en-US" sz="1200" b="1" dirty="0">
                <a:solidFill>
                  <a:srgbClr val="6C4FE0"/>
                </a:solidFill>
                <a:latin typeface="Calibri" pitchFamily="34" charset="0"/>
                <a:ea typeface="Calibri" pitchFamily="34" charset="-122"/>
                <a:cs typeface="Calibri" pitchFamily="34" charset="-120"/>
              </a:rPr>
              <a:t>$199 / yr</a:t>
            </a:r>
            <a:endParaRPr lang="en-US" sz="1200" dirty="0"/>
          </a:p>
        </p:txBody>
      </p:sp>
      <p:sp>
        <p:nvSpPr>
          <p:cNvPr id="36" name="Text 34"/>
          <p:cNvSpPr/>
          <p:nvPr/>
        </p:nvSpPr>
        <p:spPr>
          <a:xfrm>
            <a:off x="6126480" y="4974336"/>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The whole house, up to four children. THE SKU that makes the twelve-year household real.</a:t>
            </a:r>
            <a:endParaRPr lang="en-US" sz="1050" dirty="0"/>
          </a:p>
        </p:txBody>
      </p:sp>
      <p:sp>
        <p:nvSpPr>
          <p:cNvPr id="37" name="Text 35"/>
          <p:cNvSpPr/>
          <p:nvPr/>
        </p:nvSpPr>
        <p:spPr>
          <a:xfrm>
            <a:off x="640080" y="5458968"/>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Bizzing Business</a:t>
            </a:r>
            <a:endParaRPr lang="en-US" sz="1250" dirty="0"/>
          </a:p>
        </p:txBody>
      </p:sp>
      <p:sp>
        <p:nvSpPr>
          <p:cNvPr id="38" name="Text 36"/>
          <p:cNvSpPr/>
          <p:nvPr/>
        </p:nvSpPr>
        <p:spPr>
          <a:xfrm>
            <a:off x="2971800" y="5458968"/>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Cohort</a:t>
            </a:r>
            <a:endParaRPr lang="en-US" sz="1000" dirty="0"/>
          </a:p>
        </p:txBody>
      </p:sp>
      <p:sp>
        <p:nvSpPr>
          <p:cNvPr id="39" name="Text 37"/>
          <p:cNvSpPr/>
          <p:nvPr/>
        </p:nvSpPr>
        <p:spPr>
          <a:xfrm>
            <a:off x="4480560" y="5458968"/>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$549 / cohort</a:t>
            </a:r>
            <a:endParaRPr lang="en-US" sz="1200" dirty="0"/>
          </a:p>
        </p:txBody>
      </p:sp>
      <p:sp>
        <p:nvSpPr>
          <p:cNvPr id="40" name="Text 38"/>
          <p:cNvSpPr/>
          <p:nvPr/>
        </p:nvSpPr>
        <p:spPr>
          <a:xfrm>
            <a:off x="6126480" y="5458968"/>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Eight weeks, a team, a mentor, a demo day. Priced against a summer camp, not against an app.</a:t>
            </a:r>
            <a:endParaRPr lang="en-US" sz="1050" dirty="0"/>
          </a:p>
        </p:txBody>
      </p:sp>
      <p:sp>
        <p:nvSpPr>
          <p:cNvPr id="41" name="Shape 39"/>
          <p:cNvSpPr/>
          <p:nvPr/>
        </p:nvSpPr>
        <p:spPr>
          <a:xfrm>
            <a:off x="512064" y="5907024"/>
            <a:ext cx="10991088" cy="457200"/>
          </a:xfrm>
          <a:prstGeom prst="roundRect">
            <a:avLst>
              <a:gd name="adj" fmla="val 18000"/>
            </a:avLst>
          </a:prstGeom>
          <a:solidFill>
            <a:srgbClr val="EFEBF8"/>
          </a:solidFill>
          <a:ln/>
        </p:spPr>
      </p:sp>
      <p:sp>
        <p:nvSpPr>
          <p:cNvPr id="42" name="Text 40"/>
          <p:cNvSpPr/>
          <p:nvPr/>
        </p:nvSpPr>
        <p:spPr>
          <a:xfrm>
            <a:off x="640080" y="5943600"/>
            <a:ext cx="2286000" cy="384048"/>
          </a:xfrm>
          <a:prstGeom prst="rect">
            <a:avLst/>
          </a:prstGeom>
          <a:noFill/>
          <a:ln/>
        </p:spPr>
        <p:txBody>
          <a:bodyPr wrap="square" lIns="0" tIns="0" rIns="0" bIns="0" rtlCol="0" anchor="ctr"/>
          <a:lstStyle/>
          <a:p>
            <a:pPr indent="0" marL="0">
              <a:buNone/>
            </a:pPr>
            <a:r>
              <a:rPr lang="en-US" sz="1250" b="1" dirty="0">
                <a:solidFill>
                  <a:srgbClr val="241E33"/>
                </a:solidFill>
                <a:latin typeface="Cambria" pitchFamily="34" charset="0"/>
                <a:ea typeface="Cambria" pitchFamily="34" charset="-122"/>
                <a:cs typeface="Cambria" pitchFamily="34" charset="-120"/>
              </a:rPr>
              <a:t>India edition</a:t>
            </a:r>
            <a:endParaRPr lang="en-US" sz="1250" dirty="0"/>
          </a:p>
        </p:txBody>
      </p:sp>
      <p:sp>
        <p:nvSpPr>
          <p:cNvPr id="43" name="Text 41"/>
          <p:cNvSpPr/>
          <p:nvPr/>
        </p:nvSpPr>
        <p:spPr>
          <a:xfrm>
            <a:off x="2971800" y="5943600"/>
            <a:ext cx="1463040" cy="384048"/>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All products</a:t>
            </a:r>
            <a:endParaRPr lang="en-US" sz="1000" dirty="0"/>
          </a:p>
        </p:txBody>
      </p:sp>
      <p:sp>
        <p:nvSpPr>
          <p:cNvPr id="44" name="Text 42"/>
          <p:cNvSpPr/>
          <p:nvPr/>
        </p:nvSpPr>
        <p:spPr>
          <a:xfrm>
            <a:off x="4480560" y="5943600"/>
            <a:ext cx="1417320" cy="384048"/>
          </a:xfrm>
          <a:prstGeom prst="rect">
            <a:avLst/>
          </a:prstGeom>
          <a:noFill/>
          <a:ln/>
        </p:spPr>
        <p:txBody>
          <a:bodyPr wrap="square" lIns="0" tIns="0" rIns="0" bIns="0" rtlCol="0" anchor="ctr"/>
          <a:lstStyle/>
          <a:p>
            <a:pPr algn="r" indent="0" marL="0">
              <a:buNone/>
            </a:pPr>
            <a:r>
              <a:rPr lang="en-US" sz="1200" b="1" dirty="0">
                <a:solidFill>
                  <a:srgbClr val="8A5B00"/>
                </a:solidFill>
                <a:latin typeface="Calibri" pitchFamily="34" charset="0"/>
                <a:ea typeface="Calibri" pitchFamily="34" charset="-122"/>
                <a:cs typeface="Calibri" pitchFamily="34" charset="-120"/>
              </a:rPr>
              <a:t>≈ $18 / yr</a:t>
            </a:r>
            <a:endParaRPr lang="en-US" sz="1200" dirty="0"/>
          </a:p>
        </p:txBody>
      </p:sp>
      <p:sp>
        <p:nvSpPr>
          <p:cNvPr id="45" name="Text 43"/>
          <p:cNvSpPr/>
          <p:nvPr/>
        </p:nvSpPr>
        <p:spPr>
          <a:xfrm>
            <a:off x="6126480" y="5943600"/>
            <a:ext cx="5074920" cy="384048"/>
          </a:xfrm>
          <a:prstGeom prst="rect">
            <a:avLst/>
          </a:prstGeom>
          <a:noFill/>
          <a:ln/>
        </p:spPr>
        <p:txBody>
          <a:bodyPr wrap="square" lIns="0" tIns="0" rIns="0" bIns="0" rtlCol="0" anchor="ctr"/>
          <a:lstStyle/>
          <a:p>
            <a:pPr indent="0" marL="0">
              <a:buNone/>
            </a:pPr>
            <a:r>
              <a:rPr lang="en-US" sz="1050" dirty="0">
                <a:solidFill>
                  <a:srgbClr val="4A4360"/>
                </a:solidFill>
                <a:latin typeface="Calibri" pitchFamily="34" charset="0"/>
                <a:ea typeface="Calibri" pitchFamily="34" charset="-122"/>
                <a:cs typeface="Calibri" pitchFamily="34" charset="-120"/>
              </a:rPr>
              <a:t>Roughly a fifth of diaspora pricing. A different market, not a discount.</a:t>
            </a:r>
            <a:endParaRPr lang="en-US" sz="1050" dirty="0"/>
          </a:p>
        </p:txBody>
      </p:sp>
      <p:sp>
        <p:nvSpPr>
          <p:cNvPr id="46" name="Text 44"/>
          <p:cNvSpPr/>
          <p:nvPr/>
        </p:nvSpPr>
        <p:spPr>
          <a:xfrm>
            <a:off x="640080" y="6419088"/>
            <a:ext cx="10607040" cy="320040"/>
          </a:xfrm>
          <a:prstGeom prst="rect">
            <a:avLst/>
          </a:prstGeom>
          <a:noFill/>
          <a:ln/>
        </p:spPr>
        <p:txBody>
          <a:bodyPr wrap="square" lIns="0" tIns="0" rIns="0" bIns="0" rtlCol="0" anchor="ctr"/>
          <a:lstStyle/>
          <a:p>
            <a:pPr indent="0" marL="0">
              <a:buNone/>
            </a:pPr>
            <a:r>
              <a:rPr lang="en-US" sz="1050" i="1" dirty="0">
                <a:solidFill>
                  <a:srgbClr val="7A7291"/>
                </a:solidFill>
                <a:latin typeface="Calibri" pitchFamily="34" charset="0"/>
                <a:ea typeface="Calibri" pitchFamily="34" charset="-122"/>
                <a:cs typeface="Calibri" pitchFamily="34" charset="-120"/>
              </a:rPr>
              <a:t>Blended ARPU used throughout: $95 diaspora, $18 India. That blend assumes most paying families take one product, a minority take Family, and a small tail takes Advanced.</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CUSTOMER ACQUISITION</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Paying households, five years, by market</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Base case. Households — not children, and not free users. The diaspora markets are ordered by how quickly a bee community can be reached, not by population.</a:t>
            </a:r>
            <a:endParaRPr lang="en-US" sz="1450" dirty="0"/>
          </a:p>
        </p:txBody>
      </p:sp>
      <p:sp>
        <p:nvSpPr>
          <p:cNvPr id="5" name="Text 3"/>
          <p:cNvSpPr/>
          <p:nvPr/>
        </p:nvSpPr>
        <p:spPr>
          <a:xfrm>
            <a:off x="5532120" y="2048256"/>
            <a:ext cx="1005840" cy="274320"/>
          </a:xfrm>
          <a:prstGeom prst="rect">
            <a:avLst/>
          </a:prstGeom>
          <a:noFill/>
          <a:ln/>
        </p:spPr>
        <p:txBody>
          <a:bodyPr wrap="square" lIns="0" tIns="0" rIns="0" bIns="0" rtlCol="0" anchor="ctr"/>
          <a:lstStyle/>
          <a:p>
            <a:pPr algn="ctr" indent="0" marL="0">
              <a:buNone/>
            </a:pPr>
            <a:r>
              <a:rPr lang="en-US" sz="1050" b="1" spc="120" kern="0"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6629400" y="2048256"/>
            <a:ext cx="1005840" cy="274320"/>
          </a:xfrm>
          <a:prstGeom prst="rect">
            <a:avLst/>
          </a:prstGeom>
          <a:noFill/>
          <a:ln/>
        </p:spPr>
        <p:txBody>
          <a:bodyPr wrap="square" lIns="0" tIns="0" rIns="0" bIns="0" rtlCol="0" anchor="ctr"/>
          <a:lstStyle/>
          <a:p>
            <a:pPr algn="ctr" indent="0" marL="0">
              <a:buNone/>
            </a:pPr>
            <a:r>
              <a:rPr lang="en-US" sz="1050" b="1" spc="120" kern="0"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7726680" y="2048256"/>
            <a:ext cx="1005840" cy="274320"/>
          </a:xfrm>
          <a:prstGeom prst="rect">
            <a:avLst/>
          </a:prstGeom>
          <a:noFill/>
          <a:ln/>
        </p:spPr>
        <p:txBody>
          <a:bodyPr wrap="square" lIns="0" tIns="0" rIns="0" bIns="0" rtlCol="0" anchor="ctr"/>
          <a:lstStyle/>
          <a:p>
            <a:pPr algn="ctr" indent="0" marL="0">
              <a:buNone/>
            </a:pPr>
            <a:r>
              <a:rPr lang="en-US" sz="1050" b="1" spc="120" kern="0"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8823960" y="2048256"/>
            <a:ext cx="1005840" cy="274320"/>
          </a:xfrm>
          <a:prstGeom prst="rect">
            <a:avLst/>
          </a:prstGeom>
          <a:noFill/>
          <a:ln/>
        </p:spPr>
        <p:txBody>
          <a:bodyPr wrap="square" lIns="0" tIns="0" rIns="0" bIns="0" rtlCol="0" anchor="ctr"/>
          <a:lstStyle/>
          <a:p>
            <a:pPr algn="ctr" indent="0" marL="0">
              <a:buNone/>
            </a:pPr>
            <a:r>
              <a:rPr lang="en-US" sz="1050" b="1" spc="120" kern="0"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9921240" y="2048256"/>
            <a:ext cx="1005840" cy="274320"/>
          </a:xfrm>
          <a:prstGeom prst="rect">
            <a:avLst/>
          </a:prstGeom>
          <a:noFill/>
          <a:ln/>
        </p:spPr>
        <p:txBody>
          <a:bodyPr wrap="square" lIns="0" tIns="0" rIns="0" bIns="0" rtlCol="0" anchor="ctr"/>
          <a:lstStyle/>
          <a:p>
            <a:pPr algn="ctr" indent="0" marL="0">
              <a:buNone/>
            </a:pPr>
            <a:r>
              <a:rPr lang="en-US" sz="1050" b="1" spc="120" kern="0" dirty="0">
                <a:solidFill>
                  <a:srgbClr val="4A31B0"/>
                </a:solidFill>
                <a:latin typeface="Calibri" pitchFamily="34" charset="0"/>
                <a:ea typeface="Calibri" pitchFamily="34" charset="-122"/>
                <a:cs typeface="Calibri" pitchFamily="34" charset="-120"/>
              </a:rPr>
              <a:t>Y5</a:t>
            </a:r>
            <a:endParaRPr lang="en-US" sz="1050" dirty="0"/>
          </a:p>
        </p:txBody>
      </p:sp>
      <p:sp>
        <p:nvSpPr>
          <p:cNvPr id="10" name="Text 8"/>
          <p:cNvSpPr/>
          <p:nvPr/>
        </p:nvSpPr>
        <p:spPr>
          <a:xfrm>
            <a:off x="3794760" y="2048256"/>
            <a:ext cx="1645920" cy="274320"/>
          </a:xfrm>
          <a:prstGeom prst="rect">
            <a:avLst/>
          </a:prstGeom>
          <a:noFill/>
          <a:ln/>
        </p:spPr>
        <p:txBody>
          <a:bodyPr wrap="square" lIns="0" tIns="0" rIns="0" bIns="0" rtlCol="0" anchor="ctr"/>
          <a:lstStyle/>
          <a:p>
            <a:pPr algn="r" indent="0" marL="0">
              <a:buNone/>
            </a:pPr>
            <a:r>
              <a:rPr lang="en-US" sz="750" b="1" dirty="0">
                <a:solidFill>
                  <a:srgbClr val="7A7291"/>
                </a:solidFill>
                <a:latin typeface="Calibri" pitchFamily="34" charset="0"/>
                <a:ea typeface="Calibri" pitchFamily="34" charset="-122"/>
                <a:cs typeface="Calibri" pitchFamily="34" charset="-120"/>
              </a:rPr>
              <a:t>HOUSEHOLDS WITH A CHILD 4–16</a:t>
            </a:r>
            <a:endParaRPr lang="en-US" sz="750" dirty="0"/>
          </a:p>
        </p:txBody>
      </p:sp>
      <p:sp>
        <p:nvSpPr>
          <p:cNvPr id="11" name="Shape 9"/>
          <p:cNvSpPr/>
          <p:nvPr/>
        </p:nvSpPr>
        <p:spPr>
          <a:xfrm>
            <a:off x="512064" y="2350008"/>
            <a:ext cx="10991088" cy="603504"/>
          </a:xfrm>
          <a:prstGeom prst="roundRect">
            <a:avLst>
              <a:gd name="adj" fmla="val 13636"/>
            </a:avLst>
          </a:prstGeom>
          <a:solidFill>
            <a:srgbClr val="EFEBF8"/>
          </a:solidFill>
          <a:ln/>
        </p:spPr>
      </p:sp>
      <p:sp>
        <p:nvSpPr>
          <p:cNvPr id="12" name="Text 10"/>
          <p:cNvSpPr/>
          <p:nvPr/>
        </p:nvSpPr>
        <p:spPr>
          <a:xfrm>
            <a:off x="640080" y="2377440"/>
            <a:ext cx="3017520" cy="274320"/>
          </a:xfrm>
          <a:prstGeom prst="rect">
            <a:avLst/>
          </a:prstGeom>
          <a:noFill/>
          <a:ln/>
        </p:spPr>
        <p:txBody>
          <a:bodyPr wrap="square" lIns="0" tIns="0" rIns="0" bIns="0" rtlCol="0" anchor="ctr"/>
          <a:lstStyle/>
          <a:p>
            <a:pPr indent="0" marL="0">
              <a:buNone/>
            </a:pPr>
            <a:r>
              <a:rPr lang="en-US" sz="1300" b="1" dirty="0">
                <a:solidFill>
                  <a:srgbClr val="241E33"/>
                </a:solidFill>
                <a:latin typeface="Cambria" pitchFamily="34" charset="0"/>
                <a:ea typeface="Cambria" pitchFamily="34" charset="-122"/>
                <a:cs typeface="Cambria" pitchFamily="34" charset="-120"/>
              </a:rPr>
              <a:t>United States</a:t>
            </a:r>
            <a:endParaRPr lang="en-US" sz="1300" dirty="0"/>
          </a:p>
        </p:txBody>
      </p:sp>
      <p:sp>
        <p:nvSpPr>
          <p:cNvPr id="13" name="Text 11"/>
          <p:cNvSpPr/>
          <p:nvPr/>
        </p:nvSpPr>
        <p:spPr>
          <a:xfrm>
            <a:off x="640080" y="2633472"/>
            <a:ext cx="3108960" cy="274320"/>
          </a:xfrm>
          <a:prstGeom prst="rect">
            <a:avLst/>
          </a:prstGeom>
          <a:noFill/>
          <a:ln/>
        </p:spPr>
        <p:txBody>
          <a:bodyPr wrap="square" lIns="0" tIns="0" rIns="0" bIns="0" rtlCol="0" anchor="ctr"/>
          <a:lstStyle/>
          <a:p>
            <a:pPr indent="0" marL="0">
              <a:buNone/>
            </a:pPr>
            <a:r>
              <a:rPr lang="en-US" sz="900" dirty="0">
                <a:solidFill>
                  <a:srgbClr val="7A7291"/>
                </a:solidFill>
                <a:latin typeface="Calibri" pitchFamily="34" charset="0"/>
                <a:ea typeface="Calibri" pitchFamily="34" charset="-122"/>
                <a:cs typeface="Calibri" pitchFamily="34" charset="-120"/>
              </a:rPr>
              <a:t>The bee community itself. Highest intent anywhere.</a:t>
            </a:r>
            <a:endParaRPr lang="en-US" sz="900" dirty="0"/>
          </a:p>
        </p:txBody>
      </p:sp>
      <p:sp>
        <p:nvSpPr>
          <p:cNvPr id="14" name="Text 12"/>
          <p:cNvSpPr/>
          <p:nvPr/>
        </p:nvSpPr>
        <p:spPr>
          <a:xfrm>
            <a:off x="3794760" y="2395728"/>
            <a:ext cx="1645920" cy="457200"/>
          </a:xfrm>
          <a:prstGeom prst="rect">
            <a:avLst/>
          </a:prstGeom>
          <a:noFill/>
          <a:ln/>
        </p:spPr>
        <p:txBody>
          <a:bodyPr wrap="square" lIns="0" tIns="0" rIns="0" bIns="0" rtlCol="0" anchor="ctr"/>
          <a:lstStyle/>
          <a:p>
            <a:pPr algn="r" indent="0" marL="0">
              <a:buNone/>
            </a:pPr>
            <a:r>
              <a:rPr lang="en-US" sz="1200" b="1" dirty="0">
                <a:solidFill>
                  <a:srgbClr val="7A7291"/>
                </a:solidFill>
                <a:latin typeface="Calibri" pitchFamily="34" charset="0"/>
                <a:ea typeface="Calibri" pitchFamily="34" charset="-122"/>
                <a:cs typeface="Calibri" pitchFamily="34" charset="-120"/>
              </a:rPr>
              <a:t>520k</a:t>
            </a:r>
            <a:endParaRPr lang="en-US" sz="1200" dirty="0"/>
          </a:p>
        </p:txBody>
      </p:sp>
      <p:sp>
        <p:nvSpPr>
          <p:cNvPr id="15" name="Text 13"/>
          <p:cNvSpPr/>
          <p:nvPr/>
        </p:nvSpPr>
        <p:spPr>
          <a:xfrm>
            <a:off x="5532120" y="2395728"/>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900</a:t>
            </a:r>
            <a:endParaRPr lang="en-US" sz="1250" dirty="0"/>
          </a:p>
        </p:txBody>
      </p:sp>
      <p:sp>
        <p:nvSpPr>
          <p:cNvPr id="16" name="Text 14"/>
          <p:cNvSpPr/>
          <p:nvPr/>
        </p:nvSpPr>
        <p:spPr>
          <a:xfrm>
            <a:off x="6629400" y="2395728"/>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3.6k</a:t>
            </a:r>
            <a:endParaRPr lang="en-US" sz="1250" dirty="0"/>
          </a:p>
        </p:txBody>
      </p:sp>
      <p:sp>
        <p:nvSpPr>
          <p:cNvPr id="17" name="Text 15"/>
          <p:cNvSpPr/>
          <p:nvPr/>
        </p:nvSpPr>
        <p:spPr>
          <a:xfrm>
            <a:off x="7726680" y="2395728"/>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9.0k</a:t>
            </a:r>
            <a:endParaRPr lang="en-US" sz="1250" dirty="0"/>
          </a:p>
        </p:txBody>
      </p:sp>
      <p:sp>
        <p:nvSpPr>
          <p:cNvPr id="18" name="Text 16"/>
          <p:cNvSpPr/>
          <p:nvPr/>
        </p:nvSpPr>
        <p:spPr>
          <a:xfrm>
            <a:off x="8823960" y="2395728"/>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17k</a:t>
            </a:r>
            <a:endParaRPr lang="en-US" sz="1250" dirty="0"/>
          </a:p>
        </p:txBody>
      </p:sp>
      <p:sp>
        <p:nvSpPr>
          <p:cNvPr id="19" name="Text 17"/>
          <p:cNvSpPr/>
          <p:nvPr/>
        </p:nvSpPr>
        <p:spPr>
          <a:xfrm>
            <a:off x="9921240" y="2395728"/>
            <a:ext cx="1005840" cy="457200"/>
          </a:xfrm>
          <a:prstGeom prst="rect">
            <a:avLst/>
          </a:prstGeom>
          <a:noFill/>
          <a:ln/>
        </p:spPr>
        <p:txBody>
          <a:bodyPr wrap="square" lIns="0" tIns="0" rIns="0" bIns="0" rtlCol="0" anchor="ctr"/>
          <a:lstStyle/>
          <a:p>
            <a:pPr algn="ctr" indent="0" marL="0">
              <a:buNone/>
            </a:pPr>
            <a:r>
              <a:rPr lang="en-US" sz="1250" b="1" dirty="0">
                <a:solidFill>
                  <a:srgbClr val="6C4FE0"/>
                </a:solidFill>
                <a:latin typeface="Calibri" pitchFamily="34" charset="0"/>
                <a:ea typeface="Calibri" pitchFamily="34" charset="-122"/>
                <a:cs typeface="Calibri" pitchFamily="34" charset="-120"/>
              </a:rPr>
              <a:t>27k</a:t>
            </a:r>
            <a:endParaRPr lang="en-US" sz="1250" dirty="0"/>
          </a:p>
        </p:txBody>
      </p:sp>
      <p:sp>
        <p:nvSpPr>
          <p:cNvPr id="20" name="Text 18"/>
          <p:cNvSpPr/>
          <p:nvPr/>
        </p:nvSpPr>
        <p:spPr>
          <a:xfrm>
            <a:off x="640080" y="3035808"/>
            <a:ext cx="3017520" cy="274320"/>
          </a:xfrm>
          <a:prstGeom prst="rect">
            <a:avLst/>
          </a:prstGeom>
          <a:noFill/>
          <a:ln/>
        </p:spPr>
        <p:txBody>
          <a:bodyPr wrap="square" lIns="0" tIns="0" rIns="0" bIns="0" rtlCol="0" anchor="ctr"/>
          <a:lstStyle/>
          <a:p>
            <a:pPr indent="0" marL="0">
              <a:buNone/>
            </a:pPr>
            <a:r>
              <a:rPr lang="en-US" sz="1300" b="1" dirty="0">
                <a:solidFill>
                  <a:srgbClr val="241E33"/>
                </a:solidFill>
                <a:latin typeface="Cambria" pitchFamily="34" charset="0"/>
                <a:ea typeface="Cambria" pitchFamily="34" charset="-122"/>
                <a:cs typeface="Cambria" pitchFamily="34" charset="-120"/>
              </a:rPr>
              <a:t>United Kingdom</a:t>
            </a:r>
            <a:endParaRPr lang="en-US" sz="1300" dirty="0"/>
          </a:p>
        </p:txBody>
      </p:sp>
      <p:sp>
        <p:nvSpPr>
          <p:cNvPr id="21" name="Text 19"/>
          <p:cNvSpPr/>
          <p:nvPr/>
        </p:nvSpPr>
        <p:spPr>
          <a:xfrm>
            <a:off x="640080" y="3291840"/>
            <a:ext cx="3108960" cy="274320"/>
          </a:xfrm>
          <a:prstGeom prst="rect">
            <a:avLst/>
          </a:prstGeom>
          <a:noFill/>
          <a:ln/>
        </p:spPr>
        <p:txBody>
          <a:bodyPr wrap="square" lIns="0" tIns="0" rIns="0" bIns="0" rtlCol="0" anchor="ctr"/>
          <a:lstStyle/>
          <a:p>
            <a:pPr indent="0" marL="0">
              <a:buNone/>
            </a:pPr>
            <a:r>
              <a:rPr lang="en-US" sz="900" dirty="0">
                <a:solidFill>
                  <a:srgbClr val="7A7291"/>
                </a:solidFill>
                <a:latin typeface="Calibri" pitchFamily="34" charset="0"/>
                <a:ea typeface="Calibri" pitchFamily="34" charset="-122"/>
                <a:cs typeface="Calibri" pitchFamily="34" charset="-120"/>
              </a:rPr>
              <a:t>11+ drives it; different product, same family.</a:t>
            </a:r>
            <a:endParaRPr lang="en-US" sz="900" dirty="0"/>
          </a:p>
        </p:txBody>
      </p:sp>
      <p:sp>
        <p:nvSpPr>
          <p:cNvPr id="22" name="Text 20"/>
          <p:cNvSpPr/>
          <p:nvPr/>
        </p:nvSpPr>
        <p:spPr>
          <a:xfrm>
            <a:off x="3794760" y="3054096"/>
            <a:ext cx="1645920" cy="457200"/>
          </a:xfrm>
          <a:prstGeom prst="rect">
            <a:avLst/>
          </a:prstGeom>
          <a:noFill/>
          <a:ln/>
        </p:spPr>
        <p:txBody>
          <a:bodyPr wrap="square" lIns="0" tIns="0" rIns="0" bIns="0" rtlCol="0" anchor="ctr"/>
          <a:lstStyle/>
          <a:p>
            <a:pPr algn="r" indent="0" marL="0">
              <a:buNone/>
            </a:pPr>
            <a:r>
              <a:rPr lang="en-US" sz="1200" b="1" dirty="0">
                <a:solidFill>
                  <a:srgbClr val="7A7291"/>
                </a:solidFill>
                <a:latin typeface="Calibri" pitchFamily="34" charset="0"/>
                <a:ea typeface="Calibri" pitchFamily="34" charset="-122"/>
                <a:cs typeface="Calibri" pitchFamily="34" charset="-120"/>
              </a:rPr>
              <a:t>190k</a:t>
            </a:r>
            <a:endParaRPr lang="en-US" sz="1200" dirty="0"/>
          </a:p>
        </p:txBody>
      </p:sp>
      <p:sp>
        <p:nvSpPr>
          <p:cNvPr id="23" name="Text 21"/>
          <p:cNvSpPr/>
          <p:nvPr/>
        </p:nvSpPr>
        <p:spPr>
          <a:xfrm>
            <a:off x="5532120" y="3054096"/>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250</a:t>
            </a:r>
            <a:endParaRPr lang="en-US" sz="1250" dirty="0"/>
          </a:p>
        </p:txBody>
      </p:sp>
      <p:sp>
        <p:nvSpPr>
          <p:cNvPr id="24" name="Text 22"/>
          <p:cNvSpPr/>
          <p:nvPr/>
        </p:nvSpPr>
        <p:spPr>
          <a:xfrm>
            <a:off x="6629400" y="3054096"/>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1.2k</a:t>
            </a:r>
            <a:endParaRPr lang="en-US" sz="1250" dirty="0"/>
          </a:p>
        </p:txBody>
      </p:sp>
      <p:sp>
        <p:nvSpPr>
          <p:cNvPr id="25" name="Text 23"/>
          <p:cNvSpPr/>
          <p:nvPr/>
        </p:nvSpPr>
        <p:spPr>
          <a:xfrm>
            <a:off x="7726680" y="3054096"/>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3.4k</a:t>
            </a:r>
            <a:endParaRPr lang="en-US" sz="1250" dirty="0"/>
          </a:p>
        </p:txBody>
      </p:sp>
      <p:sp>
        <p:nvSpPr>
          <p:cNvPr id="26" name="Text 24"/>
          <p:cNvSpPr/>
          <p:nvPr/>
        </p:nvSpPr>
        <p:spPr>
          <a:xfrm>
            <a:off x="8823960" y="3054096"/>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6.5k</a:t>
            </a:r>
            <a:endParaRPr lang="en-US" sz="1250" dirty="0"/>
          </a:p>
        </p:txBody>
      </p:sp>
      <p:sp>
        <p:nvSpPr>
          <p:cNvPr id="27" name="Text 25"/>
          <p:cNvSpPr/>
          <p:nvPr/>
        </p:nvSpPr>
        <p:spPr>
          <a:xfrm>
            <a:off x="9921240" y="3054096"/>
            <a:ext cx="1005840" cy="457200"/>
          </a:xfrm>
          <a:prstGeom prst="rect">
            <a:avLst/>
          </a:prstGeom>
          <a:noFill/>
          <a:ln/>
        </p:spPr>
        <p:txBody>
          <a:bodyPr wrap="square" lIns="0" tIns="0" rIns="0" bIns="0" rtlCol="0" anchor="ctr"/>
          <a:lstStyle/>
          <a:p>
            <a:pPr algn="ctr" indent="0" marL="0">
              <a:buNone/>
            </a:pPr>
            <a:r>
              <a:rPr lang="en-US" sz="1250" b="1" dirty="0">
                <a:solidFill>
                  <a:srgbClr val="6C4FE0"/>
                </a:solidFill>
                <a:latin typeface="Calibri" pitchFamily="34" charset="0"/>
                <a:ea typeface="Calibri" pitchFamily="34" charset="-122"/>
                <a:cs typeface="Calibri" pitchFamily="34" charset="-120"/>
              </a:rPr>
              <a:t>11k</a:t>
            </a:r>
            <a:endParaRPr lang="en-US" sz="1250" dirty="0"/>
          </a:p>
        </p:txBody>
      </p:sp>
      <p:sp>
        <p:nvSpPr>
          <p:cNvPr id="28" name="Shape 26"/>
          <p:cNvSpPr/>
          <p:nvPr/>
        </p:nvSpPr>
        <p:spPr>
          <a:xfrm>
            <a:off x="512064" y="3666744"/>
            <a:ext cx="10991088" cy="603504"/>
          </a:xfrm>
          <a:prstGeom prst="roundRect">
            <a:avLst>
              <a:gd name="adj" fmla="val 13636"/>
            </a:avLst>
          </a:prstGeom>
          <a:solidFill>
            <a:srgbClr val="EFEBF8"/>
          </a:solidFill>
          <a:ln/>
        </p:spPr>
      </p:sp>
      <p:sp>
        <p:nvSpPr>
          <p:cNvPr id="29" name="Text 27"/>
          <p:cNvSpPr/>
          <p:nvPr/>
        </p:nvSpPr>
        <p:spPr>
          <a:xfrm>
            <a:off x="640080" y="3694176"/>
            <a:ext cx="3017520" cy="274320"/>
          </a:xfrm>
          <a:prstGeom prst="rect">
            <a:avLst/>
          </a:prstGeom>
          <a:noFill/>
          <a:ln/>
        </p:spPr>
        <p:txBody>
          <a:bodyPr wrap="square" lIns="0" tIns="0" rIns="0" bIns="0" rtlCol="0" anchor="ctr"/>
          <a:lstStyle/>
          <a:p>
            <a:pPr indent="0" marL="0">
              <a:buNone/>
            </a:pPr>
            <a:r>
              <a:rPr lang="en-US" sz="1300" b="1" dirty="0">
                <a:solidFill>
                  <a:srgbClr val="241E33"/>
                </a:solidFill>
                <a:latin typeface="Cambria" pitchFamily="34" charset="0"/>
                <a:ea typeface="Cambria" pitchFamily="34" charset="-122"/>
                <a:cs typeface="Cambria" pitchFamily="34" charset="-120"/>
              </a:rPr>
              <a:t>Canada &amp; Australia</a:t>
            </a:r>
            <a:endParaRPr lang="en-US" sz="1300" dirty="0"/>
          </a:p>
        </p:txBody>
      </p:sp>
      <p:sp>
        <p:nvSpPr>
          <p:cNvPr id="30" name="Text 28"/>
          <p:cNvSpPr/>
          <p:nvPr/>
        </p:nvSpPr>
        <p:spPr>
          <a:xfrm>
            <a:off x="640080" y="3950208"/>
            <a:ext cx="3108960" cy="274320"/>
          </a:xfrm>
          <a:prstGeom prst="rect">
            <a:avLst/>
          </a:prstGeom>
          <a:noFill/>
          <a:ln/>
        </p:spPr>
        <p:txBody>
          <a:bodyPr wrap="square" lIns="0" tIns="0" rIns="0" bIns="0" rtlCol="0" anchor="ctr"/>
          <a:lstStyle/>
          <a:p>
            <a:pPr indent="0" marL="0">
              <a:buNone/>
            </a:pPr>
            <a:r>
              <a:rPr lang="en-US" sz="900" dirty="0">
                <a:solidFill>
                  <a:srgbClr val="7A7291"/>
                </a:solidFill>
                <a:latin typeface="Calibri" pitchFamily="34" charset="0"/>
                <a:ea typeface="Calibri" pitchFamily="34" charset="-122"/>
                <a:cs typeface="Calibri" pitchFamily="34" charset="-120"/>
              </a:rPr>
              <a:t>Follows US content with no extra production.</a:t>
            </a:r>
            <a:endParaRPr lang="en-US" sz="900" dirty="0"/>
          </a:p>
        </p:txBody>
      </p:sp>
      <p:sp>
        <p:nvSpPr>
          <p:cNvPr id="31" name="Text 29"/>
          <p:cNvSpPr/>
          <p:nvPr/>
        </p:nvSpPr>
        <p:spPr>
          <a:xfrm>
            <a:off x="3794760" y="3712464"/>
            <a:ext cx="1645920" cy="457200"/>
          </a:xfrm>
          <a:prstGeom prst="rect">
            <a:avLst/>
          </a:prstGeom>
          <a:noFill/>
          <a:ln/>
        </p:spPr>
        <p:txBody>
          <a:bodyPr wrap="square" lIns="0" tIns="0" rIns="0" bIns="0" rtlCol="0" anchor="ctr"/>
          <a:lstStyle/>
          <a:p>
            <a:pPr algn="r" indent="0" marL="0">
              <a:buNone/>
            </a:pPr>
            <a:r>
              <a:rPr lang="en-US" sz="1200" b="1" dirty="0">
                <a:solidFill>
                  <a:srgbClr val="7A7291"/>
                </a:solidFill>
                <a:latin typeface="Calibri" pitchFamily="34" charset="0"/>
                <a:ea typeface="Calibri" pitchFamily="34" charset="-122"/>
                <a:cs typeface="Calibri" pitchFamily="34" charset="-120"/>
              </a:rPr>
              <a:t>250k</a:t>
            </a:r>
            <a:endParaRPr lang="en-US" sz="1200" dirty="0"/>
          </a:p>
        </p:txBody>
      </p:sp>
      <p:sp>
        <p:nvSpPr>
          <p:cNvPr id="32" name="Text 30"/>
          <p:cNvSpPr/>
          <p:nvPr/>
        </p:nvSpPr>
        <p:spPr>
          <a:xfrm>
            <a:off x="5532120" y="3712464"/>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200</a:t>
            </a:r>
            <a:endParaRPr lang="en-US" sz="1250" dirty="0"/>
          </a:p>
        </p:txBody>
      </p:sp>
      <p:sp>
        <p:nvSpPr>
          <p:cNvPr id="33" name="Text 31"/>
          <p:cNvSpPr/>
          <p:nvPr/>
        </p:nvSpPr>
        <p:spPr>
          <a:xfrm>
            <a:off x="6629400" y="3712464"/>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900</a:t>
            </a:r>
            <a:endParaRPr lang="en-US" sz="1250" dirty="0"/>
          </a:p>
        </p:txBody>
      </p:sp>
      <p:sp>
        <p:nvSpPr>
          <p:cNvPr id="34" name="Text 32"/>
          <p:cNvSpPr/>
          <p:nvPr/>
        </p:nvSpPr>
        <p:spPr>
          <a:xfrm>
            <a:off x="7726680" y="3712464"/>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2.3k</a:t>
            </a:r>
            <a:endParaRPr lang="en-US" sz="1250" dirty="0"/>
          </a:p>
        </p:txBody>
      </p:sp>
      <p:sp>
        <p:nvSpPr>
          <p:cNvPr id="35" name="Text 33"/>
          <p:cNvSpPr/>
          <p:nvPr/>
        </p:nvSpPr>
        <p:spPr>
          <a:xfrm>
            <a:off x="8823960" y="3712464"/>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4.2k</a:t>
            </a:r>
            <a:endParaRPr lang="en-US" sz="1250" dirty="0"/>
          </a:p>
        </p:txBody>
      </p:sp>
      <p:sp>
        <p:nvSpPr>
          <p:cNvPr id="36" name="Text 34"/>
          <p:cNvSpPr/>
          <p:nvPr/>
        </p:nvSpPr>
        <p:spPr>
          <a:xfrm>
            <a:off x="9921240" y="3712464"/>
            <a:ext cx="1005840" cy="457200"/>
          </a:xfrm>
          <a:prstGeom prst="rect">
            <a:avLst/>
          </a:prstGeom>
          <a:noFill/>
          <a:ln/>
        </p:spPr>
        <p:txBody>
          <a:bodyPr wrap="square" lIns="0" tIns="0" rIns="0" bIns="0" rtlCol="0" anchor="ctr"/>
          <a:lstStyle/>
          <a:p>
            <a:pPr algn="ctr" indent="0" marL="0">
              <a:buNone/>
            </a:pPr>
            <a:r>
              <a:rPr lang="en-US" sz="1250" b="1" dirty="0">
                <a:solidFill>
                  <a:srgbClr val="6C4FE0"/>
                </a:solidFill>
                <a:latin typeface="Calibri" pitchFamily="34" charset="0"/>
                <a:ea typeface="Calibri" pitchFamily="34" charset="-122"/>
                <a:cs typeface="Calibri" pitchFamily="34" charset="-120"/>
              </a:rPr>
              <a:t>6.8k</a:t>
            </a:r>
            <a:endParaRPr lang="en-US" sz="1250" dirty="0"/>
          </a:p>
        </p:txBody>
      </p:sp>
      <p:sp>
        <p:nvSpPr>
          <p:cNvPr id="37" name="Text 35"/>
          <p:cNvSpPr/>
          <p:nvPr/>
        </p:nvSpPr>
        <p:spPr>
          <a:xfrm>
            <a:off x="640080" y="4352544"/>
            <a:ext cx="3017520" cy="274320"/>
          </a:xfrm>
          <a:prstGeom prst="rect">
            <a:avLst/>
          </a:prstGeom>
          <a:noFill/>
          <a:ln/>
        </p:spPr>
        <p:txBody>
          <a:bodyPr wrap="square" lIns="0" tIns="0" rIns="0" bIns="0" rtlCol="0" anchor="ctr"/>
          <a:lstStyle/>
          <a:p>
            <a:pPr indent="0" marL="0">
              <a:buNone/>
            </a:pPr>
            <a:r>
              <a:rPr lang="en-US" sz="1300" b="1" dirty="0">
                <a:solidFill>
                  <a:srgbClr val="241E33"/>
                </a:solidFill>
                <a:latin typeface="Cambria" pitchFamily="34" charset="0"/>
                <a:ea typeface="Cambria" pitchFamily="34" charset="-122"/>
                <a:cs typeface="Cambria" pitchFamily="34" charset="-120"/>
              </a:rPr>
              <a:t>Gulf</a:t>
            </a:r>
            <a:endParaRPr lang="en-US" sz="1300" dirty="0"/>
          </a:p>
        </p:txBody>
      </p:sp>
      <p:sp>
        <p:nvSpPr>
          <p:cNvPr id="38" name="Text 36"/>
          <p:cNvSpPr/>
          <p:nvPr/>
        </p:nvSpPr>
        <p:spPr>
          <a:xfrm>
            <a:off x="640080" y="4608576"/>
            <a:ext cx="3108960" cy="274320"/>
          </a:xfrm>
          <a:prstGeom prst="rect">
            <a:avLst/>
          </a:prstGeom>
          <a:noFill/>
          <a:ln/>
        </p:spPr>
        <p:txBody>
          <a:bodyPr wrap="square" lIns="0" tIns="0" rIns="0" bIns="0" rtlCol="0" anchor="ctr"/>
          <a:lstStyle/>
          <a:p>
            <a:pPr indent="0" marL="0">
              <a:buNone/>
            </a:pPr>
            <a:r>
              <a:rPr lang="en-US" sz="900" dirty="0">
                <a:solidFill>
                  <a:srgbClr val="7A7291"/>
                </a:solidFill>
                <a:latin typeface="Calibri" pitchFamily="34" charset="0"/>
                <a:ea typeface="Calibri" pitchFamily="34" charset="-122"/>
                <a:cs typeface="Calibri" pitchFamily="34" charset="-120"/>
              </a:rPr>
              <a:t>Large, concentrated, school-network led.</a:t>
            </a:r>
            <a:endParaRPr lang="en-US" sz="900" dirty="0"/>
          </a:p>
        </p:txBody>
      </p:sp>
      <p:sp>
        <p:nvSpPr>
          <p:cNvPr id="39" name="Text 37"/>
          <p:cNvSpPr/>
          <p:nvPr/>
        </p:nvSpPr>
        <p:spPr>
          <a:xfrm>
            <a:off x="3794760" y="4370832"/>
            <a:ext cx="1645920" cy="457200"/>
          </a:xfrm>
          <a:prstGeom prst="rect">
            <a:avLst/>
          </a:prstGeom>
          <a:noFill/>
          <a:ln/>
        </p:spPr>
        <p:txBody>
          <a:bodyPr wrap="square" lIns="0" tIns="0" rIns="0" bIns="0" rtlCol="0" anchor="ctr"/>
          <a:lstStyle/>
          <a:p>
            <a:pPr algn="r" indent="0" marL="0">
              <a:buNone/>
            </a:pPr>
            <a:r>
              <a:rPr lang="en-US" sz="1200" b="1" dirty="0">
                <a:solidFill>
                  <a:srgbClr val="7A7291"/>
                </a:solidFill>
                <a:latin typeface="Calibri" pitchFamily="34" charset="0"/>
                <a:ea typeface="Calibri" pitchFamily="34" charset="-122"/>
                <a:cs typeface="Calibri" pitchFamily="34" charset="-120"/>
              </a:rPr>
              <a:t>350k</a:t>
            </a:r>
            <a:endParaRPr lang="en-US" sz="1200" dirty="0"/>
          </a:p>
        </p:txBody>
      </p:sp>
      <p:sp>
        <p:nvSpPr>
          <p:cNvPr id="40" name="Text 38"/>
          <p:cNvSpPr/>
          <p:nvPr/>
        </p:nvSpPr>
        <p:spPr>
          <a:xfrm>
            <a:off x="5532120" y="4370832"/>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100</a:t>
            </a:r>
            <a:endParaRPr lang="en-US" sz="1250" dirty="0"/>
          </a:p>
        </p:txBody>
      </p:sp>
      <p:sp>
        <p:nvSpPr>
          <p:cNvPr id="41" name="Text 39"/>
          <p:cNvSpPr/>
          <p:nvPr/>
        </p:nvSpPr>
        <p:spPr>
          <a:xfrm>
            <a:off x="6629400" y="4370832"/>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500</a:t>
            </a:r>
            <a:endParaRPr lang="en-US" sz="1250" dirty="0"/>
          </a:p>
        </p:txBody>
      </p:sp>
      <p:sp>
        <p:nvSpPr>
          <p:cNvPr id="42" name="Text 40"/>
          <p:cNvSpPr/>
          <p:nvPr/>
        </p:nvSpPr>
        <p:spPr>
          <a:xfrm>
            <a:off x="7726680" y="4370832"/>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1.4k</a:t>
            </a:r>
            <a:endParaRPr lang="en-US" sz="1250" dirty="0"/>
          </a:p>
        </p:txBody>
      </p:sp>
      <p:sp>
        <p:nvSpPr>
          <p:cNvPr id="43" name="Text 41"/>
          <p:cNvSpPr/>
          <p:nvPr/>
        </p:nvSpPr>
        <p:spPr>
          <a:xfrm>
            <a:off x="8823960" y="4370832"/>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2.8k</a:t>
            </a:r>
            <a:endParaRPr lang="en-US" sz="1250" dirty="0"/>
          </a:p>
        </p:txBody>
      </p:sp>
      <p:sp>
        <p:nvSpPr>
          <p:cNvPr id="44" name="Text 42"/>
          <p:cNvSpPr/>
          <p:nvPr/>
        </p:nvSpPr>
        <p:spPr>
          <a:xfrm>
            <a:off x="9921240" y="4370832"/>
            <a:ext cx="1005840" cy="457200"/>
          </a:xfrm>
          <a:prstGeom prst="rect">
            <a:avLst/>
          </a:prstGeom>
          <a:noFill/>
          <a:ln/>
        </p:spPr>
        <p:txBody>
          <a:bodyPr wrap="square" lIns="0" tIns="0" rIns="0" bIns="0" rtlCol="0" anchor="ctr"/>
          <a:lstStyle/>
          <a:p>
            <a:pPr algn="ctr" indent="0" marL="0">
              <a:buNone/>
            </a:pPr>
            <a:r>
              <a:rPr lang="en-US" sz="1250" b="1" dirty="0">
                <a:solidFill>
                  <a:srgbClr val="F0B429"/>
                </a:solidFill>
                <a:latin typeface="Calibri" pitchFamily="34" charset="0"/>
                <a:ea typeface="Calibri" pitchFamily="34" charset="-122"/>
                <a:cs typeface="Calibri" pitchFamily="34" charset="-120"/>
              </a:rPr>
              <a:t>4.7k</a:t>
            </a:r>
            <a:endParaRPr lang="en-US" sz="1250" dirty="0"/>
          </a:p>
        </p:txBody>
      </p:sp>
      <p:sp>
        <p:nvSpPr>
          <p:cNvPr id="45" name="Shape 43"/>
          <p:cNvSpPr/>
          <p:nvPr/>
        </p:nvSpPr>
        <p:spPr>
          <a:xfrm>
            <a:off x="512064" y="4983480"/>
            <a:ext cx="10991088" cy="603504"/>
          </a:xfrm>
          <a:prstGeom prst="roundRect">
            <a:avLst>
              <a:gd name="adj" fmla="val 13636"/>
            </a:avLst>
          </a:prstGeom>
          <a:solidFill>
            <a:srgbClr val="EFEBF8"/>
          </a:solidFill>
          <a:ln/>
        </p:spPr>
      </p:sp>
      <p:sp>
        <p:nvSpPr>
          <p:cNvPr id="46" name="Text 44"/>
          <p:cNvSpPr/>
          <p:nvPr/>
        </p:nvSpPr>
        <p:spPr>
          <a:xfrm>
            <a:off x="640080" y="5010912"/>
            <a:ext cx="3017520" cy="274320"/>
          </a:xfrm>
          <a:prstGeom prst="rect">
            <a:avLst/>
          </a:prstGeom>
          <a:noFill/>
          <a:ln/>
        </p:spPr>
        <p:txBody>
          <a:bodyPr wrap="square" lIns="0" tIns="0" rIns="0" bIns="0" rtlCol="0" anchor="ctr"/>
          <a:lstStyle/>
          <a:p>
            <a:pPr indent="0" marL="0">
              <a:buNone/>
            </a:pPr>
            <a:r>
              <a:rPr lang="en-US" sz="1300" b="1" dirty="0">
                <a:solidFill>
                  <a:srgbClr val="241E33"/>
                </a:solidFill>
                <a:latin typeface="Cambria" pitchFamily="34" charset="0"/>
                <a:ea typeface="Cambria" pitchFamily="34" charset="-122"/>
                <a:cs typeface="Cambria" pitchFamily="34" charset="-120"/>
              </a:rPr>
              <a:t>India</a:t>
            </a:r>
            <a:endParaRPr lang="en-US" sz="1300" dirty="0"/>
          </a:p>
        </p:txBody>
      </p:sp>
      <p:sp>
        <p:nvSpPr>
          <p:cNvPr id="47" name="Text 45"/>
          <p:cNvSpPr/>
          <p:nvPr/>
        </p:nvSpPr>
        <p:spPr>
          <a:xfrm>
            <a:off x="640080" y="5266944"/>
            <a:ext cx="3108960" cy="274320"/>
          </a:xfrm>
          <a:prstGeom prst="rect">
            <a:avLst/>
          </a:prstGeom>
          <a:noFill/>
          <a:ln/>
        </p:spPr>
        <p:txBody>
          <a:bodyPr wrap="square" lIns="0" tIns="0" rIns="0" bIns="0" rtlCol="0" anchor="ctr"/>
          <a:lstStyle/>
          <a:p>
            <a:pPr indent="0" marL="0">
              <a:buNone/>
            </a:pPr>
            <a:r>
              <a:rPr lang="en-US" sz="900" dirty="0">
                <a:solidFill>
                  <a:srgbClr val="7A7291"/>
                </a:solidFill>
                <a:latin typeface="Calibri" pitchFamily="34" charset="0"/>
                <a:ea typeface="Calibri" pitchFamily="34" charset="-122"/>
                <a:cs typeface="Calibri" pitchFamily="34" charset="-120"/>
              </a:rPr>
              <a:t>Fifth of the price, many times the volume. Starts Y2.</a:t>
            </a:r>
            <a:endParaRPr lang="en-US" sz="900" dirty="0"/>
          </a:p>
        </p:txBody>
      </p:sp>
      <p:sp>
        <p:nvSpPr>
          <p:cNvPr id="48" name="Text 46"/>
          <p:cNvSpPr/>
          <p:nvPr/>
        </p:nvSpPr>
        <p:spPr>
          <a:xfrm>
            <a:off x="3794760" y="5029200"/>
            <a:ext cx="1645920" cy="457200"/>
          </a:xfrm>
          <a:prstGeom prst="rect">
            <a:avLst/>
          </a:prstGeom>
          <a:noFill/>
          <a:ln/>
        </p:spPr>
        <p:txBody>
          <a:bodyPr wrap="square" lIns="0" tIns="0" rIns="0" bIns="0" rtlCol="0" anchor="ctr"/>
          <a:lstStyle/>
          <a:p>
            <a:pPr algn="r" indent="0" marL="0">
              <a:buNone/>
            </a:pPr>
            <a:r>
              <a:rPr lang="en-US" sz="1200" b="1" dirty="0">
                <a:solidFill>
                  <a:srgbClr val="7A7291"/>
                </a:solidFill>
                <a:latin typeface="Calibri" pitchFamily="34" charset="0"/>
                <a:ea typeface="Calibri" pitchFamily="34" charset="-122"/>
                <a:cs typeface="Calibri" pitchFamily="34" charset="-120"/>
              </a:rPr>
              <a:t>6.0M</a:t>
            </a:r>
            <a:endParaRPr lang="en-US" sz="1200" dirty="0"/>
          </a:p>
        </p:txBody>
      </p:sp>
      <p:sp>
        <p:nvSpPr>
          <p:cNvPr id="49" name="Text 47"/>
          <p:cNvSpPr/>
          <p:nvPr/>
        </p:nvSpPr>
        <p:spPr>
          <a:xfrm>
            <a:off x="5532120" y="5029200"/>
            <a:ext cx="1005840" cy="457200"/>
          </a:xfrm>
          <a:prstGeom prst="rect">
            <a:avLst/>
          </a:prstGeom>
          <a:noFill/>
          <a:ln/>
        </p:spPr>
        <p:txBody>
          <a:bodyPr wrap="square" lIns="0" tIns="0" rIns="0" bIns="0" rtlCol="0" anchor="ctr"/>
          <a:lstStyle/>
          <a:p>
            <a:pPr algn="ctr" indent="0" marL="0">
              <a:buNone/>
            </a:pPr>
            <a:r>
              <a:rPr lang="en-US" sz="1250" dirty="0">
                <a:solidFill>
                  <a:srgbClr val="E3DCF2"/>
                </a:solidFill>
                <a:latin typeface="Calibri" pitchFamily="34" charset="0"/>
                <a:ea typeface="Calibri" pitchFamily="34" charset="-122"/>
                <a:cs typeface="Calibri" pitchFamily="34" charset="-120"/>
              </a:rPr>
              <a:t>—</a:t>
            </a:r>
            <a:endParaRPr lang="en-US" sz="1250" dirty="0"/>
          </a:p>
        </p:txBody>
      </p:sp>
      <p:sp>
        <p:nvSpPr>
          <p:cNvPr id="50" name="Text 48"/>
          <p:cNvSpPr/>
          <p:nvPr/>
        </p:nvSpPr>
        <p:spPr>
          <a:xfrm>
            <a:off x="6629400" y="5029200"/>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800</a:t>
            </a:r>
            <a:endParaRPr lang="en-US" sz="1250" dirty="0"/>
          </a:p>
        </p:txBody>
      </p:sp>
      <p:sp>
        <p:nvSpPr>
          <p:cNvPr id="51" name="Text 49"/>
          <p:cNvSpPr/>
          <p:nvPr/>
        </p:nvSpPr>
        <p:spPr>
          <a:xfrm>
            <a:off x="7726680" y="5029200"/>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4.0k</a:t>
            </a:r>
            <a:endParaRPr lang="en-US" sz="1250" dirty="0"/>
          </a:p>
        </p:txBody>
      </p:sp>
      <p:sp>
        <p:nvSpPr>
          <p:cNvPr id="52" name="Text 50"/>
          <p:cNvSpPr/>
          <p:nvPr/>
        </p:nvSpPr>
        <p:spPr>
          <a:xfrm>
            <a:off x="8823960" y="5029200"/>
            <a:ext cx="1005840" cy="457200"/>
          </a:xfrm>
          <a:prstGeom prst="rect">
            <a:avLst/>
          </a:prstGeom>
          <a:noFill/>
          <a:ln/>
        </p:spPr>
        <p:txBody>
          <a:bodyPr wrap="square" lIns="0" tIns="0" rIns="0" bIns="0" rtlCol="0" anchor="ctr"/>
          <a:lstStyle/>
          <a:p>
            <a:pPr algn="ctr" indent="0" marL="0">
              <a:buNone/>
            </a:pPr>
            <a:r>
              <a:rPr lang="en-US" sz="1250" dirty="0">
                <a:solidFill>
                  <a:srgbClr val="241E33"/>
                </a:solidFill>
                <a:latin typeface="Calibri" pitchFamily="34" charset="0"/>
                <a:ea typeface="Calibri" pitchFamily="34" charset="-122"/>
                <a:cs typeface="Calibri" pitchFamily="34" charset="-120"/>
              </a:rPr>
              <a:t>12k</a:t>
            </a:r>
            <a:endParaRPr lang="en-US" sz="1250" dirty="0"/>
          </a:p>
        </p:txBody>
      </p:sp>
      <p:sp>
        <p:nvSpPr>
          <p:cNvPr id="53" name="Text 51"/>
          <p:cNvSpPr/>
          <p:nvPr/>
        </p:nvSpPr>
        <p:spPr>
          <a:xfrm>
            <a:off x="9921240" y="5029200"/>
            <a:ext cx="1005840" cy="457200"/>
          </a:xfrm>
          <a:prstGeom prst="rect">
            <a:avLst/>
          </a:prstGeom>
          <a:noFill/>
          <a:ln/>
        </p:spPr>
        <p:txBody>
          <a:bodyPr wrap="square" lIns="0" tIns="0" rIns="0" bIns="0" rtlCol="0" anchor="ctr"/>
          <a:lstStyle/>
          <a:p>
            <a:pPr algn="ctr" indent="0" marL="0">
              <a:buNone/>
            </a:pPr>
            <a:r>
              <a:rPr lang="en-US" sz="1250" b="1" dirty="0">
                <a:solidFill>
                  <a:srgbClr val="178A4C"/>
                </a:solidFill>
                <a:latin typeface="Calibri" pitchFamily="34" charset="0"/>
                <a:ea typeface="Calibri" pitchFamily="34" charset="-122"/>
                <a:cs typeface="Calibri" pitchFamily="34" charset="-120"/>
              </a:rPr>
              <a:t>26k</a:t>
            </a:r>
            <a:endParaRPr lang="en-US" sz="1250" dirty="0"/>
          </a:p>
        </p:txBody>
      </p:sp>
      <p:sp>
        <p:nvSpPr>
          <p:cNvPr id="54" name="Shape 52"/>
          <p:cNvSpPr/>
          <p:nvPr/>
        </p:nvSpPr>
        <p:spPr>
          <a:xfrm>
            <a:off x="512064" y="5641848"/>
            <a:ext cx="10991088" cy="566928"/>
          </a:xfrm>
          <a:prstGeom prst="roundRect">
            <a:avLst>
              <a:gd name="adj" fmla="val 14516"/>
            </a:avLst>
          </a:prstGeom>
          <a:solidFill>
            <a:srgbClr val="241E33"/>
          </a:solidFill>
          <a:ln/>
        </p:spPr>
      </p:sp>
      <p:sp>
        <p:nvSpPr>
          <p:cNvPr id="55" name="Text 53"/>
          <p:cNvSpPr/>
          <p:nvPr/>
        </p:nvSpPr>
        <p:spPr>
          <a:xfrm>
            <a:off x="640080" y="5687568"/>
            <a:ext cx="3657600" cy="475488"/>
          </a:xfrm>
          <a:prstGeom prst="rect">
            <a:avLst/>
          </a:prstGeom>
          <a:noFill/>
          <a:ln/>
        </p:spPr>
        <p:txBody>
          <a:bodyPr wrap="square" lIns="0" tIns="0" rIns="0" bIns="0"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Total paying households</a:t>
            </a:r>
            <a:endParaRPr lang="en-US" sz="1350" dirty="0"/>
          </a:p>
        </p:txBody>
      </p:sp>
      <p:sp>
        <p:nvSpPr>
          <p:cNvPr id="56" name="Text 54"/>
          <p:cNvSpPr/>
          <p:nvPr/>
        </p:nvSpPr>
        <p:spPr>
          <a:xfrm>
            <a:off x="5532120" y="5687568"/>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1.4k</a:t>
            </a:r>
            <a:endParaRPr lang="en-US" sz="1300" dirty="0"/>
          </a:p>
        </p:txBody>
      </p:sp>
      <p:sp>
        <p:nvSpPr>
          <p:cNvPr id="57" name="Text 55"/>
          <p:cNvSpPr/>
          <p:nvPr/>
        </p:nvSpPr>
        <p:spPr>
          <a:xfrm>
            <a:off x="6629400" y="5687568"/>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7.0k</a:t>
            </a:r>
            <a:endParaRPr lang="en-US" sz="1300" dirty="0"/>
          </a:p>
        </p:txBody>
      </p:sp>
      <p:sp>
        <p:nvSpPr>
          <p:cNvPr id="58" name="Text 56"/>
          <p:cNvSpPr/>
          <p:nvPr/>
        </p:nvSpPr>
        <p:spPr>
          <a:xfrm>
            <a:off x="7726680" y="5687568"/>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20k</a:t>
            </a:r>
            <a:endParaRPr lang="en-US" sz="1300" dirty="0"/>
          </a:p>
        </p:txBody>
      </p:sp>
      <p:sp>
        <p:nvSpPr>
          <p:cNvPr id="59" name="Text 57"/>
          <p:cNvSpPr/>
          <p:nvPr/>
        </p:nvSpPr>
        <p:spPr>
          <a:xfrm>
            <a:off x="8823960" y="5687568"/>
            <a:ext cx="1005840"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43k</a:t>
            </a:r>
            <a:endParaRPr lang="en-US" sz="1300" dirty="0"/>
          </a:p>
        </p:txBody>
      </p:sp>
      <p:sp>
        <p:nvSpPr>
          <p:cNvPr id="60" name="Text 58"/>
          <p:cNvSpPr/>
          <p:nvPr/>
        </p:nvSpPr>
        <p:spPr>
          <a:xfrm>
            <a:off x="9921240" y="5687568"/>
            <a:ext cx="1005840" cy="475488"/>
          </a:xfrm>
          <a:prstGeom prst="rect">
            <a:avLst/>
          </a:prstGeom>
          <a:noFill/>
          <a:ln/>
        </p:spPr>
        <p:txBody>
          <a:bodyPr wrap="square" lIns="0" tIns="0" rIns="0" bIns="0" rtlCol="0" anchor="ctr"/>
          <a:lstStyle/>
          <a:p>
            <a:pPr algn="ctr" indent="0" marL="0">
              <a:buNone/>
            </a:pPr>
            <a:r>
              <a:rPr lang="en-US" sz="1300" b="1" dirty="0">
                <a:solidFill>
                  <a:srgbClr val="F0B429"/>
                </a:solidFill>
                <a:latin typeface="Calibri" pitchFamily="34" charset="0"/>
                <a:ea typeface="Calibri" pitchFamily="34" charset="-122"/>
                <a:cs typeface="Calibri" pitchFamily="34" charset="-120"/>
              </a:rPr>
              <a:t>75k</a:t>
            </a:r>
            <a:endParaRPr lang="en-US" sz="1300" dirty="0"/>
          </a:p>
        </p:txBody>
      </p:sp>
      <p:sp>
        <p:nvSpPr>
          <p:cNvPr id="61" name="Text 59"/>
          <p:cNvSpPr/>
          <p:nvPr/>
        </p:nvSpPr>
        <p:spPr>
          <a:xfrm>
            <a:off x="640080" y="6327648"/>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Aggressive case runs roughly 2× the diaspora numbers and 2.5× India, on the same product sequence — not on a different strategy.</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REVENUE MIX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Where the money comes from</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Subscription carries it. Everything else exists to widen the margin, deepen the brand, or reach an age the app cannot.</a:t>
            </a:r>
            <a:endParaRPr lang="en-US" sz="1450" dirty="0"/>
          </a:p>
        </p:txBody>
      </p:sp>
      <p:graphicFrame>
        <p:nvGraphicFramePr>
          <p:cNvPr id="5" name="Chart 0" descr=""/>
          <p:cNvGraphicFramePr/>
          <p:nvPr/>
        </p:nvGraphicFramePr>
        <p:xfrm>
          <a:off x="640080" y="2057400"/>
          <a:ext cx="6858000" cy="3977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2148840"/>
            <a:ext cx="347472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7" name="Text 4"/>
          <p:cNvSpPr/>
          <p:nvPr/>
        </p:nvSpPr>
        <p:spPr>
          <a:xfrm>
            <a:off x="8010144" y="229514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1</a:t>
            </a:r>
            <a:endParaRPr lang="en-US" sz="1000" dirty="0"/>
          </a:p>
        </p:txBody>
      </p:sp>
      <p:sp>
        <p:nvSpPr>
          <p:cNvPr id="8" name="Text 5"/>
          <p:cNvSpPr/>
          <p:nvPr/>
        </p:nvSpPr>
        <p:spPr>
          <a:xfrm>
            <a:off x="9189720" y="2203704"/>
            <a:ext cx="1874520" cy="384048"/>
          </a:xfrm>
          <a:prstGeom prst="rect">
            <a:avLst/>
          </a:prstGeom>
          <a:noFill/>
          <a:ln/>
        </p:spPr>
        <p:txBody>
          <a:bodyPr wrap="square" lIns="0" tIns="0" rIns="0" bIns="0" rtlCol="0" anchor="ctr"/>
          <a:lstStyle/>
          <a:p>
            <a:pPr algn="r" indent="0" marL="0">
              <a:buNone/>
            </a:pPr>
            <a:r>
              <a:rPr lang="en-US" sz="2000" b="1" dirty="0">
                <a:solidFill>
                  <a:srgbClr val="6C4FE0"/>
                </a:solidFill>
                <a:latin typeface="Cambria" pitchFamily="34" charset="0"/>
                <a:ea typeface="Cambria" pitchFamily="34" charset="-122"/>
                <a:cs typeface="Cambria" pitchFamily="34" charset="-120"/>
              </a:rPr>
              <a:t>$138k</a:t>
            </a:r>
            <a:endParaRPr lang="en-US" sz="2000" dirty="0"/>
          </a:p>
        </p:txBody>
      </p:sp>
      <p:sp>
        <p:nvSpPr>
          <p:cNvPr id="9" name="Text 6"/>
          <p:cNvSpPr/>
          <p:nvPr/>
        </p:nvSpPr>
        <p:spPr>
          <a:xfrm>
            <a:off x="8010144" y="2606040"/>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only. Nothing else is switched on, and nothing else should be.</a:t>
            </a:r>
            <a:endParaRPr lang="en-US" sz="1000" dirty="0"/>
          </a:p>
        </p:txBody>
      </p:sp>
      <p:sp>
        <p:nvSpPr>
          <p:cNvPr id="10" name="Shape 7"/>
          <p:cNvSpPr/>
          <p:nvPr/>
        </p:nvSpPr>
        <p:spPr>
          <a:xfrm>
            <a:off x="7772400" y="3566160"/>
            <a:ext cx="347472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11" name="Text 8"/>
          <p:cNvSpPr/>
          <p:nvPr/>
        </p:nvSpPr>
        <p:spPr>
          <a:xfrm>
            <a:off x="8010144" y="371246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3</a:t>
            </a:r>
            <a:endParaRPr lang="en-US" sz="1000" dirty="0"/>
          </a:p>
        </p:txBody>
      </p:sp>
      <p:sp>
        <p:nvSpPr>
          <p:cNvPr id="12" name="Text 9"/>
          <p:cNvSpPr/>
          <p:nvPr/>
        </p:nvSpPr>
        <p:spPr>
          <a:xfrm>
            <a:off x="9189720" y="3621024"/>
            <a:ext cx="1874520" cy="384048"/>
          </a:xfrm>
          <a:prstGeom prst="rect">
            <a:avLst/>
          </a:prstGeom>
          <a:noFill/>
          <a:ln/>
        </p:spPr>
        <p:txBody>
          <a:bodyPr wrap="square" lIns="0" tIns="0" rIns="0" bIns="0" rtlCol="0" anchor="ctr"/>
          <a:lstStyle/>
          <a:p>
            <a:pPr algn="r" indent="0" marL="0">
              <a:buNone/>
            </a:pPr>
            <a:r>
              <a:rPr lang="en-US" sz="2000" b="1" dirty="0">
                <a:solidFill>
                  <a:srgbClr val="178A4C"/>
                </a:solidFill>
                <a:latin typeface="Cambria" pitchFamily="34" charset="0"/>
                <a:ea typeface="Cambria" pitchFamily="34" charset="-122"/>
                <a:cs typeface="Cambria" pitchFamily="34" charset="-120"/>
              </a:rPr>
              <a:t>$1.89M</a:t>
            </a:r>
            <a:endParaRPr lang="en-US" sz="2000" dirty="0"/>
          </a:p>
        </p:txBody>
      </p:sp>
      <p:sp>
        <p:nvSpPr>
          <p:cNvPr id="13" name="Text 10"/>
          <p:cNvSpPr/>
          <p:nvPr/>
        </p:nvSpPr>
        <p:spPr>
          <a:xfrm>
            <a:off x="8010144" y="4023360"/>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Cohorts and physical arrive. Subscription still 85% of the line.</a:t>
            </a:r>
            <a:endParaRPr lang="en-US" sz="1000" dirty="0"/>
          </a:p>
        </p:txBody>
      </p:sp>
      <p:sp>
        <p:nvSpPr>
          <p:cNvPr id="14" name="Shape 11"/>
          <p:cNvSpPr/>
          <p:nvPr/>
        </p:nvSpPr>
        <p:spPr>
          <a:xfrm>
            <a:off x="7772400" y="4983480"/>
            <a:ext cx="3474720" cy="1234440"/>
          </a:xfrm>
          <a:prstGeom prst="roundRect">
            <a:avLst>
              <a:gd name="adj" fmla="val 10370"/>
            </a:avLst>
          </a:prstGeom>
          <a:solidFill>
            <a:srgbClr val="EFEBF8"/>
          </a:solidFill>
          <a:ln/>
          <a:effectLst>
            <a:outerShdw sx="100000" sy="100000" kx="0" ky="0" algn="bl" rotWithShape="0" blurRad="127000" dist="25400" dir="5400000">
              <a:srgbClr val="241E33">
                <a:alpha val="10000"/>
              </a:srgbClr>
            </a:outerShdw>
          </a:effectLst>
        </p:spPr>
      </p:sp>
      <p:sp>
        <p:nvSpPr>
          <p:cNvPr id="15" name="Text 12"/>
          <p:cNvSpPr/>
          <p:nvPr/>
        </p:nvSpPr>
        <p:spPr>
          <a:xfrm>
            <a:off x="8010144" y="5129784"/>
            <a:ext cx="1005840" cy="256032"/>
          </a:xfrm>
          <a:prstGeom prst="rect">
            <a:avLst/>
          </a:prstGeom>
          <a:noFill/>
          <a:ln/>
        </p:spPr>
        <p:txBody>
          <a:bodyPr wrap="square" lIns="0" tIns="0" rIns="0" bIns="0" rtlCol="0" anchor="ctr"/>
          <a:lstStyle/>
          <a:p>
            <a:pPr indent="0" marL="0">
              <a:buNone/>
            </a:pPr>
            <a:r>
              <a:rPr lang="en-US" sz="1000" b="1" spc="140" kern="0" dirty="0">
                <a:solidFill>
                  <a:srgbClr val="7A7291"/>
                </a:solidFill>
                <a:latin typeface="Calibri" pitchFamily="34" charset="0"/>
                <a:ea typeface="Calibri" pitchFamily="34" charset="-122"/>
                <a:cs typeface="Calibri" pitchFamily="34" charset="-120"/>
              </a:rPr>
              <a:t>Year 5</a:t>
            </a:r>
            <a:endParaRPr lang="en-US" sz="1000" dirty="0"/>
          </a:p>
        </p:txBody>
      </p:sp>
      <p:sp>
        <p:nvSpPr>
          <p:cNvPr id="16" name="Text 13"/>
          <p:cNvSpPr/>
          <p:nvPr/>
        </p:nvSpPr>
        <p:spPr>
          <a:xfrm>
            <a:off x="9189720" y="5038344"/>
            <a:ext cx="1874520" cy="384048"/>
          </a:xfrm>
          <a:prstGeom prst="rect">
            <a:avLst/>
          </a:prstGeom>
          <a:noFill/>
          <a:ln/>
        </p:spPr>
        <p:txBody>
          <a:bodyPr wrap="square" lIns="0" tIns="0" rIns="0" bIns="0" rtlCol="0" anchor="ctr"/>
          <a:lstStyle/>
          <a:p>
            <a:pPr algn="r" indent="0" marL="0">
              <a:buNone/>
            </a:pPr>
            <a:r>
              <a:rPr lang="en-US" sz="2000" b="1" dirty="0">
                <a:solidFill>
                  <a:srgbClr val="F0B429"/>
                </a:solidFill>
                <a:latin typeface="Cambria" pitchFamily="34" charset="0"/>
                <a:ea typeface="Cambria" pitchFamily="34" charset="-122"/>
                <a:cs typeface="Cambria" pitchFamily="34" charset="-120"/>
              </a:rPr>
              <a:t>$6.83M</a:t>
            </a:r>
            <a:endParaRPr lang="en-US" sz="2000" dirty="0"/>
          </a:p>
        </p:txBody>
      </p:sp>
      <p:sp>
        <p:nvSpPr>
          <p:cNvPr id="17" name="Text 14"/>
          <p:cNvSpPr/>
          <p:nvPr/>
        </p:nvSpPr>
        <p:spPr>
          <a:xfrm>
            <a:off x="8010144" y="5440680"/>
            <a:ext cx="3017520" cy="685800"/>
          </a:xfrm>
          <a:prstGeom prst="rect">
            <a:avLst/>
          </a:prstGeom>
          <a:noFill/>
          <a:ln/>
        </p:spPr>
        <p:txBody>
          <a:bodyPr wrap="square" lIns="0" tIns="0" rIns="0" bIns="0" rtlCol="0" anchor="ctr"/>
          <a:lstStyle/>
          <a:p>
            <a:pPr indent="0" marL="0">
              <a:lnSpc>
                <a:spcPts val="1300"/>
              </a:lnSpc>
              <a:buNone/>
            </a:pPr>
            <a:r>
              <a:rPr lang="en-US" sz="1000" dirty="0">
                <a:solidFill>
                  <a:srgbClr val="4A4360"/>
                </a:solidFill>
                <a:latin typeface="Calibri" pitchFamily="34" charset="0"/>
                <a:ea typeface="Calibri" pitchFamily="34" charset="-122"/>
                <a:cs typeface="Calibri" pitchFamily="34" charset="-120"/>
              </a:rPr>
              <a:t>Subscription 75%, cohorts 14%, physical and media 11%. A software business with a human edge, not a merch company.</a:t>
            </a:r>
            <a:endParaRPr lang="en-US" sz="1000" dirty="0"/>
          </a:p>
        </p:txBody>
      </p:sp>
      <p:sp>
        <p:nvSpPr>
          <p:cNvPr id="18" name="Text 15"/>
          <p:cNvSpPr/>
          <p:nvPr/>
        </p:nvSpPr>
        <p:spPr>
          <a:xfrm>
            <a:off x="640080" y="6272784"/>
            <a:ext cx="10607040" cy="365760"/>
          </a:xfrm>
          <a:prstGeom prst="rect">
            <a:avLst/>
          </a:prstGeom>
          <a:noFill/>
          <a:ln/>
        </p:spPr>
        <p:txBody>
          <a:bodyPr wrap="square" lIns="0" tIns="0" rIns="0" bIns="0" rtlCol="0" anchor="ctr"/>
          <a:lstStyle/>
          <a:p>
            <a:pPr indent="0" marL="0">
              <a:buNone/>
            </a:pPr>
            <a:r>
              <a:rPr lang="en-US" sz="1100" i="1" dirty="0">
                <a:solidFill>
                  <a:srgbClr val="7A7291"/>
                </a:solidFill>
                <a:latin typeface="Calibri" pitchFamily="34" charset="0"/>
                <a:ea typeface="Calibri" pitchFamily="34" charset="-122"/>
                <a:cs typeface="Calibri" pitchFamily="34" charset="-120"/>
              </a:rPr>
              <a:t>Aggressive case reaches $16.4M in Year 5 with the same mix shape — the ratios barely move, which is the point of a model rather than a wish.</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41E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04120" y="457200"/>
            <a:ext cx="1371600" cy="1371600"/>
          </a:xfrm>
          <a:prstGeom prst="rect">
            <a:avLst/>
          </a:prstGeom>
        </p:spPr>
      </p:pic>
      <p:sp>
        <p:nvSpPr>
          <p:cNvPr id="3" name="Text 0"/>
          <p:cNvSpPr/>
          <p:nvPr/>
        </p:nvSpPr>
        <p:spPr>
          <a:xfrm>
            <a:off x="640080" y="54864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THE CEILING</a:t>
            </a:r>
            <a:endParaRPr lang="en-US" sz="1200" dirty="0"/>
          </a:p>
        </p:txBody>
      </p:sp>
      <p:sp>
        <p:nvSpPr>
          <p:cNvPr id="4" name="Text 1"/>
          <p:cNvSpPr/>
          <p:nvPr/>
        </p:nvSpPr>
        <p:spPr>
          <a:xfrm>
            <a:off x="640080" y="914400"/>
            <a:ext cx="9509760" cy="91440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Big enough to matter. Not big enough to pretend otherwise.</a:t>
            </a:r>
            <a:endParaRPr lang="en-US" sz="2800" dirty="0"/>
          </a:p>
        </p:txBody>
      </p:sp>
      <p:sp>
        <p:nvSpPr>
          <p:cNvPr id="5" name="Text 2"/>
          <p:cNvSpPr/>
          <p:nvPr/>
        </p:nvSpPr>
        <p:spPr>
          <a:xfrm>
            <a:off x="640080" y="1965960"/>
            <a:ext cx="4937760" cy="457200"/>
          </a:xfrm>
          <a:prstGeom prst="rect">
            <a:avLst/>
          </a:prstGeom>
          <a:noFill/>
          <a:ln/>
        </p:spPr>
        <p:txBody>
          <a:bodyPr wrap="square" lIns="0" tIns="0" rIns="0" bIns="0" rtlCol="0" anchor="ctr"/>
          <a:lstStyle/>
          <a:p>
            <a:pPr indent="0" marL="0">
              <a:buNone/>
            </a:pPr>
            <a:r>
              <a:rPr lang="en-US" sz="1200" dirty="0">
                <a:solidFill>
                  <a:srgbClr val="E3DCF2"/>
                </a:solidFill>
                <a:latin typeface="Calibri" pitchFamily="34" charset="0"/>
                <a:ea typeface="Calibri" pitchFamily="34" charset="-122"/>
                <a:cs typeface="Calibri" pitchFamily="34" charset="-120"/>
              </a:rPr>
              <a:t>Diaspora households with a child 4–16</a:t>
            </a:r>
            <a:endParaRPr lang="en-US" sz="1200" dirty="0"/>
          </a:p>
        </p:txBody>
      </p:sp>
      <p:sp>
        <p:nvSpPr>
          <p:cNvPr id="6" name="Shape 3"/>
          <p:cNvSpPr/>
          <p:nvPr/>
        </p:nvSpPr>
        <p:spPr>
          <a:xfrm>
            <a:off x="5760720" y="2057400"/>
            <a:ext cx="3840480" cy="274320"/>
          </a:xfrm>
          <a:prstGeom prst="roundRect">
            <a:avLst>
              <a:gd name="adj" fmla="val 50000"/>
            </a:avLst>
          </a:prstGeom>
          <a:solidFill>
            <a:srgbClr val="FFFFFF">
              <a:alpha val="10000"/>
            </a:srgbClr>
          </a:solidFill>
          <a:ln/>
        </p:spPr>
      </p:sp>
      <p:sp>
        <p:nvSpPr>
          <p:cNvPr id="7" name="Shape 4"/>
          <p:cNvSpPr/>
          <p:nvPr/>
        </p:nvSpPr>
        <p:spPr>
          <a:xfrm>
            <a:off x="5760720" y="2057400"/>
            <a:ext cx="3840480" cy="274320"/>
          </a:xfrm>
          <a:prstGeom prst="roundRect">
            <a:avLst>
              <a:gd name="adj" fmla="val 50000"/>
            </a:avLst>
          </a:prstGeom>
          <a:solidFill>
            <a:srgbClr val="F0B429"/>
          </a:solidFill>
          <a:ln/>
        </p:spPr>
      </p:sp>
      <p:sp>
        <p:nvSpPr>
          <p:cNvPr id="8" name="Text 5"/>
          <p:cNvSpPr/>
          <p:nvPr/>
        </p:nvSpPr>
        <p:spPr>
          <a:xfrm>
            <a:off x="9738360" y="1965960"/>
            <a:ext cx="1554480" cy="457200"/>
          </a:xfrm>
          <a:prstGeom prst="rect">
            <a:avLst/>
          </a:prstGeom>
          <a:noFill/>
          <a:ln/>
        </p:spPr>
        <p:txBody>
          <a:bodyPr wrap="square" lIns="0" tIns="0" rIns="0" bIns="0" rtlCol="0" anchor="ctr"/>
          <a:lstStyle/>
          <a:p>
            <a:pPr algn="r" indent="0" marL="0">
              <a:buNone/>
            </a:pPr>
            <a:r>
              <a:rPr lang="en-US" sz="1700" b="1" dirty="0">
                <a:solidFill>
                  <a:srgbClr val="F0B429"/>
                </a:solidFill>
                <a:latin typeface="Cambria" pitchFamily="34" charset="0"/>
                <a:ea typeface="Cambria" pitchFamily="34" charset="-122"/>
                <a:cs typeface="Cambria" pitchFamily="34" charset="-120"/>
              </a:rPr>
              <a:t>1.31M</a:t>
            </a:r>
            <a:endParaRPr lang="en-US" sz="1700" dirty="0"/>
          </a:p>
        </p:txBody>
      </p:sp>
      <p:sp>
        <p:nvSpPr>
          <p:cNvPr id="9" name="Text 6"/>
          <p:cNvSpPr/>
          <p:nvPr/>
        </p:nvSpPr>
        <p:spPr>
          <a:xfrm>
            <a:off x="640080" y="2679192"/>
            <a:ext cx="4937760" cy="457200"/>
          </a:xfrm>
          <a:prstGeom prst="rect">
            <a:avLst/>
          </a:prstGeom>
          <a:noFill/>
          <a:ln/>
        </p:spPr>
        <p:txBody>
          <a:bodyPr wrap="square" lIns="0" tIns="0" rIns="0" bIns="0" rtlCol="0" anchor="ctr"/>
          <a:lstStyle/>
          <a:p>
            <a:pPr indent="0" marL="0">
              <a:buNone/>
            </a:pPr>
            <a:r>
              <a:rPr lang="en-US" sz="1200" dirty="0">
                <a:solidFill>
                  <a:srgbClr val="E3DCF2"/>
                </a:solidFill>
                <a:latin typeface="Calibri" pitchFamily="34" charset="0"/>
                <a:ea typeface="Calibri" pitchFamily="34" charset="-122"/>
                <a:cs typeface="Calibri" pitchFamily="34" charset="-120"/>
              </a:rPr>
              <a:t>× $95 blended — the whole diaspora market</a:t>
            </a:r>
            <a:endParaRPr lang="en-US" sz="1200" dirty="0"/>
          </a:p>
        </p:txBody>
      </p:sp>
      <p:sp>
        <p:nvSpPr>
          <p:cNvPr id="10" name="Shape 7"/>
          <p:cNvSpPr/>
          <p:nvPr/>
        </p:nvSpPr>
        <p:spPr>
          <a:xfrm>
            <a:off x="5760720" y="2770632"/>
            <a:ext cx="3840480" cy="274320"/>
          </a:xfrm>
          <a:prstGeom prst="roundRect">
            <a:avLst>
              <a:gd name="adj" fmla="val 50000"/>
            </a:avLst>
          </a:prstGeom>
          <a:solidFill>
            <a:srgbClr val="FFFFFF">
              <a:alpha val="10000"/>
            </a:srgbClr>
          </a:solidFill>
          <a:ln/>
        </p:spPr>
      </p:sp>
      <p:sp>
        <p:nvSpPr>
          <p:cNvPr id="11" name="Shape 8"/>
          <p:cNvSpPr/>
          <p:nvPr/>
        </p:nvSpPr>
        <p:spPr>
          <a:xfrm>
            <a:off x="5760720" y="2770632"/>
            <a:ext cx="3840480" cy="274320"/>
          </a:xfrm>
          <a:prstGeom prst="roundRect">
            <a:avLst>
              <a:gd name="adj" fmla="val 50000"/>
            </a:avLst>
          </a:prstGeom>
          <a:solidFill>
            <a:srgbClr val="F0B429"/>
          </a:solidFill>
          <a:ln/>
        </p:spPr>
      </p:sp>
      <p:sp>
        <p:nvSpPr>
          <p:cNvPr id="12" name="Text 9"/>
          <p:cNvSpPr/>
          <p:nvPr/>
        </p:nvSpPr>
        <p:spPr>
          <a:xfrm>
            <a:off x="9738360" y="2679192"/>
            <a:ext cx="1554480" cy="457200"/>
          </a:xfrm>
          <a:prstGeom prst="rect">
            <a:avLst/>
          </a:prstGeom>
          <a:noFill/>
          <a:ln/>
        </p:spPr>
        <p:txBody>
          <a:bodyPr wrap="square" lIns="0" tIns="0" rIns="0" bIns="0" rtlCol="0" anchor="ctr"/>
          <a:lstStyle/>
          <a:p>
            <a:pPr algn="r" indent="0" marL="0">
              <a:buNone/>
            </a:pPr>
            <a:r>
              <a:rPr lang="en-US" sz="1700" b="1" dirty="0">
                <a:solidFill>
                  <a:srgbClr val="F0B429"/>
                </a:solidFill>
                <a:latin typeface="Cambria" pitchFamily="34" charset="0"/>
                <a:ea typeface="Cambria" pitchFamily="34" charset="-122"/>
                <a:cs typeface="Cambria" pitchFamily="34" charset="-120"/>
              </a:rPr>
              <a:t>$124M</a:t>
            </a:r>
            <a:endParaRPr lang="en-US" sz="1700" dirty="0"/>
          </a:p>
        </p:txBody>
      </p:sp>
      <p:sp>
        <p:nvSpPr>
          <p:cNvPr id="13" name="Text 10"/>
          <p:cNvSpPr/>
          <p:nvPr/>
        </p:nvSpPr>
        <p:spPr>
          <a:xfrm>
            <a:off x="640080" y="3392424"/>
            <a:ext cx="4937760" cy="457200"/>
          </a:xfrm>
          <a:prstGeom prst="rect">
            <a:avLst/>
          </a:prstGeom>
          <a:noFill/>
          <a:ln/>
        </p:spPr>
        <p:txBody>
          <a:bodyPr wrap="square" lIns="0" tIns="0" rIns="0" bIns="0" rtlCol="0" anchor="ctr"/>
          <a:lstStyle/>
          <a:p>
            <a:pPr indent="0" marL="0">
              <a:buNone/>
            </a:pPr>
            <a:r>
              <a:rPr lang="en-US" sz="1200" dirty="0">
                <a:solidFill>
                  <a:srgbClr val="E3DCF2"/>
                </a:solidFill>
                <a:latin typeface="Calibri" pitchFamily="34" charset="0"/>
                <a:ea typeface="Calibri" pitchFamily="34" charset="-122"/>
                <a:cs typeface="Calibri" pitchFamily="34" charset="-120"/>
              </a:rPr>
              <a:t>At 10% penetration — realistic leadership</a:t>
            </a:r>
            <a:endParaRPr lang="en-US" sz="1200" dirty="0"/>
          </a:p>
        </p:txBody>
      </p:sp>
      <p:sp>
        <p:nvSpPr>
          <p:cNvPr id="14" name="Shape 11"/>
          <p:cNvSpPr/>
          <p:nvPr/>
        </p:nvSpPr>
        <p:spPr>
          <a:xfrm>
            <a:off x="5760720" y="3483864"/>
            <a:ext cx="3840480" cy="274320"/>
          </a:xfrm>
          <a:prstGeom prst="roundRect">
            <a:avLst>
              <a:gd name="adj" fmla="val 50000"/>
            </a:avLst>
          </a:prstGeom>
          <a:solidFill>
            <a:srgbClr val="FFFFFF">
              <a:alpha val="10000"/>
            </a:srgbClr>
          </a:solidFill>
          <a:ln/>
        </p:spPr>
      </p:sp>
      <p:sp>
        <p:nvSpPr>
          <p:cNvPr id="15" name="Shape 12"/>
          <p:cNvSpPr/>
          <p:nvPr/>
        </p:nvSpPr>
        <p:spPr>
          <a:xfrm>
            <a:off x="5760720" y="3483864"/>
            <a:ext cx="384048" cy="274320"/>
          </a:xfrm>
          <a:prstGeom prst="roundRect">
            <a:avLst>
              <a:gd name="adj" fmla="val 50000"/>
            </a:avLst>
          </a:prstGeom>
          <a:solidFill>
            <a:srgbClr val="6C4FE0"/>
          </a:solidFill>
          <a:ln/>
        </p:spPr>
      </p:sp>
      <p:sp>
        <p:nvSpPr>
          <p:cNvPr id="16" name="Text 13"/>
          <p:cNvSpPr/>
          <p:nvPr/>
        </p:nvSpPr>
        <p:spPr>
          <a:xfrm>
            <a:off x="9738360" y="3392424"/>
            <a:ext cx="1554480" cy="457200"/>
          </a:xfrm>
          <a:prstGeom prst="rect">
            <a:avLst/>
          </a:prstGeom>
          <a:noFill/>
          <a:ln/>
        </p:spPr>
        <p:txBody>
          <a:bodyPr wrap="square" lIns="0" tIns="0" rIns="0" bIns="0" rtlCol="0" anchor="ctr"/>
          <a:lstStyle/>
          <a:p>
            <a:pPr algn="r" indent="0" marL="0">
              <a:buNone/>
            </a:pPr>
            <a:r>
              <a:rPr lang="en-US" sz="1700" b="1" dirty="0">
                <a:solidFill>
                  <a:srgbClr val="6C4FE0"/>
                </a:solidFill>
                <a:latin typeface="Cambria" pitchFamily="34" charset="0"/>
                <a:ea typeface="Cambria" pitchFamily="34" charset="-122"/>
                <a:cs typeface="Cambria" pitchFamily="34" charset="-120"/>
              </a:rPr>
              <a:t>$12.4M</a:t>
            </a:r>
            <a:endParaRPr lang="en-US" sz="1700" dirty="0"/>
          </a:p>
        </p:txBody>
      </p:sp>
      <p:sp>
        <p:nvSpPr>
          <p:cNvPr id="17" name="Text 14"/>
          <p:cNvSpPr/>
          <p:nvPr/>
        </p:nvSpPr>
        <p:spPr>
          <a:xfrm>
            <a:off x="640080" y="4105656"/>
            <a:ext cx="4937760" cy="457200"/>
          </a:xfrm>
          <a:prstGeom prst="rect">
            <a:avLst/>
          </a:prstGeom>
          <a:noFill/>
          <a:ln/>
        </p:spPr>
        <p:txBody>
          <a:bodyPr wrap="square" lIns="0" tIns="0" rIns="0" bIns="0" rtlCol="0" anchor="ctr"/>
          <a:lstStyle/>
          <a:p>
            <a:pPr indent="0" marL="0">
              <a:buNone/>
            </a:pPr>
            <a:r>
              <a:rPr lang="en-US" sz="1200" dirty="0">
                <a:solidFill>
                  <a:srgbClr val="E3DCF2"/>
                </a:solidFill>
                <a:latin typeface="Calibri" pitchFamily="34" charset="0"/>
                <a:ea typeface="Calibri" pitchFamily="34" charset="-122"/>
                <a:cs typeface="Calibri" pitchFamily="34" charset="-120"/>
              </a:rPr>
              <a:t>At 25% — category default, a decade in</a:t>
            </a:r>
            <a:endParaRPr lang="en-US" sz="1200" dirty="0"/>
          </a:p>
        </p:txBody>
      </p:sp>
      <p:sp>
        <p:nvSpPr>
          <p:cNvPr id="18" name="Shape 15"/>
          <p:cNvSpPr/>
          <p:nvPr/>
        </p:nvSpPr>
        <p:spPr>
          <a:xfrm>
            <a:off x="5760720" y="4197096"/>
            <a:ext cx="3840480" cy="274320"/>
          </a:xfrm>
          <a:prstGeom prst="roundRect">
            <a:avLst>
              <a:gd name="adj" fmla="val 50000"/>
            </a:avLst>
          </a:prstGeom>
          <a:solidFill>
            <a:srgbClr val="FFFFFF">
              <a:alpha val="10000"/>
            </a:srgbClr>
          </a:solidFill>
          <a:ln/>
        </p:spPr>
      </p:sp>
      <p:sp>
        <p:nvSpPr>
          <p:cNvPr id="19" name="Shape 16"/>
          <p:cNvSpPr/>
          <p:nvPr/>
        </p:nvSpPr>
        <p:spPr>
          <a:xfrm>
            <a:off x="5760720" y="4197096"/>
            <a:ext cx="960120" cy="274320"/>
          </a:xfrm>
          <a:prstGeom prst="roundRect">
            <a:avLst>
              <a:gd name="adj" fmla="val 50000"/>
            </a:avLst>
          </a:prstGeom>
          <a:solidFill>
            <a:srgbClr val="6C4FE0"/>
          </a:solidFill>
          <a:ln/>
        </p:spPr>
      </p:sp>
      <p:sp>
        <p:nvSpPr>
          <p:cNvPr id="20" name="Text 17"/>
          <p:cNvSpPr/>
          <p:nvPr/>
        </p:nvSpPr>
        <p:spPr>
          <a:xfrm>
            <a:off x="9738360" y="4105656"/>
            <a:ext cx="1554480" cy="457200"/>
          </a:xfrm>
          <a:prstGeom prst="rect">
            <a:avLst/>
          </a:prstGeom>
          <a:noFill/>
          <a:ln/>
        </p:spPr>
        <p:txBody>
          <a:bodyPr wrap="square" lIns="0" tIns="0" rIns="0" bIns="0" rtlCol="0" anchor="ctr"/>
          <a:lstStyle/>
          <a:p>
            <a:pPr algn="r" indent="0" marL="0">
              <a:buNone/>
            </a:pPr>
            <a:r>
              <a:rPr lang="en-US" sz="1700" b="1" dirty="0">
                <a:solidFill>
                  <a:srgbClr val="6C4FE0"/>
                </a:solidFill>
                <a:latin typeface="Cambria" pitchFamily="34" charset="0"/>
                <a:ea typeface="Cambria" pitchFamily="34" charset="-122"/>
                <a:cs typeface="Cambria" pitchFamily="34" charset="-120"/>
              </a:rPr>
              <a:t>$31M</a:t>
            </a:r>
            <a:endParaRPr lang="en-US" sz="1700" dirty="0"/>
          </a:p>
        </p:txBody>
      </p:sp>
      <p:sp>
        <p:nvSpPr>
          <p:cNvPr id="21" name="Text 18"/>
          <p:cNvSpPr/>
          <p:nvPr/>
        </p:nvSpPr>
        <p:spPr>
          <a:xfrm>
            <a:off x="640080" y="4818888"/>
            <a:ext cx="4937760" cy="457200"/>
          </a:xfrm>
          <a:prstGeom prst="rect">
            <a:avLst/>
          </a:prstGeom>
          <a:noFill/>
          <a:ln/>
        </p:spPr>
        <p:txBody>
          <a:bodyPr wrap="square" lIns="0" tIns="0" rIns="0" bIns="0" rtlCol="0" anchor="ctr"/>
          <a:lstStyle/>
          <a:p>
            <a:pPr indent="0" marL="0">
              <a:buNone/>
            </a:pPr>
            <a:r>
              <a:rPr lang="en-US" sz="1200" dirty="0">
                <a:solidFill>
                  <a:srgbClr val="E3DCF2"/>
                </a:solidFill>
                <a:latin typeface="Calibri" pitchFamily="34" charset="0"/>
                <a:ea typeface="Calibri" pitchFamily="34" charset="-122"/>
                <a:cs typeface="Calibri" pitchFamily="34" charset="-120"/>
              </a:rPr>
              <a:t>India at 5% of 6.0M × $18</a:t>
            </a:r>
            <a:endParaRPr lang="en-US" sz="1200" dirty="0"/>
          </a:p>
        </p:txBody>
      </p:sp>
      <p:sp>
        <p:nvSpPr>
          <p:cNvPr id="22" name="Shape 19"/>
          <p:cNvSpPr/>
          <p:nvPr/>
        </p:nvSpPr>
        <p:spPr>
          <a:xfrm>
            <a:off x="5760720" y="4910328"/>
            <a:ext cx="3840480" cy="274320"/>
          </a:xfrm>
          <a:prstGeom prst="roundRect">
            <a:avLst>
              <a:gd name="adj" fmla="val 50000"/>
            </a:avLst>
          </a:prstGeom>
          <a:solidFill>
            <a:srgbClr val="FFFFFF">
              <a:alpha val="10000"/>
            </a:srgbClr>
          </a:solidFill>
          <a:ln/>
        </p:spPr>
      </p:sp>
      <p:sp>
        <p:nvSpPr>
          <p:cNvPr id="23" name="Shape 20"/>
          <p:cNvSpPr/>
          <p:nvPr/>
        </p:nvSpPr>
        <p:spPr>
          <a:xfrm>
            <a:off x="5760720" y="4910328"/>
            <a:ext cx="256032" cy="274320"/>
          </a:xfrm>
          <a:prstGeom prst="roundRect">
            <a:avLst>
              <a:gd name="adj" fmla="val 53571"/>
            </a:avLst>
          </a:prstGeom>
          <a:solidFill>
            <a:srgbClr val="178A4C"/>
          </a:solidFill>
          <a:ln/>
        </p:spPr>
      </p:sp>
      <p:sp>
        <p:nvSpPr>
          <p:cNvPr id="24" name="Text 21"/>
          <p:cNvSpPr/>
          <p:nvPr/>
        </p:nvSpPr>
        <p:spPr>
          <a:xfrm>
            <a:off x="9738360" y="4818888"/>
            <a:ext cx="1554480" cy="457200"/>
          </a:xfrm>
          <a:prstGeom prst="rect">
            <a:avLst/>
          </a:prstGeom>
          <a:noFill/>
          <a:ln/>
        </p:spPr>
        <p:txBody>
          <a:bodyPr wrap="square" lIns="0" tIns="0" rIns="0" bIns="0" rtlCol="0" anchor="ctr"/>
          <a:lstStyle/>
          <a:p>
            <a:pPr algn="r" indent="0" marL="0">
              <a:buNone/>
            </a:pPr>
            <a:r>
              <a:rPr lang="en-US" sz="1700" b="1" dirty="0">
                <a:solidFill>
                  <a:srgbClr val="178A4C"/>
                </a:solidFill>
                <a:latin typeface="Cambria" pitchFamily="34" charset="0"/>
                <a:ea typeface="Cambria" pitchFamily="34" charset="-122"/>
                <a:cs typeface="Cambria" pitchFamily="34" charset="-120"/>
              </a:rPr>
              <a:t>$5.4M</a:t>
            </a:r>
            <a:endParaRPr lang="en-US" sz="1700" dirty="0"/>
          </a:p>
        </p:txBody>
      </p:sp>
      <p:sp>
        <p:nvSpPr>
          <p:cNvPr id="25" name="Shape 22"/>
          <p:cNvSpPr/>
          <p:nvPr/>
        </p:nvSpPr>
        <p:spPr>
          <a:xfrm>
            <a:off x="640080" y="5577840"/>
            <a:ext cx="10607040" cy="1024128"/>
          </a:xfrm>
          <a:prstGeom prst="roundRect">
            <a:avLst>
              <a:gd name="adj" fmla="val 10714"/>
            </a:avLst>
          </a:prstGeom>
          <a:solidFill>
            <a:srgbClr val="FFFFFF">
              <a:alpha val="7000"/>
            </a:srgbClr>
          </a:solidFill>
          <a:ln/>
        </p:spPr>
      </p:sp>
      <p:sp>
        <p:nvSpPr>
          <p:cNvPr id="26" name="Text 23"/>
          <p:cNvSpPr/>
          <p:nvPr/>
        </p:nvSpPr>
        <p:spPr>
          <a:xfrm>
            <a:off x="932688" y="5705856"/>
            <a:ext cx="3657600" cy="274320"/>
          </a:xfrm>
          <a:prstGeom prst="rect">
            <a:avLst/>
          </a:prstGeom>
          <a:noFill/>
          <a:ln/>
        </p:spPr>
        <p:txBody>
          <a:bodyPr wrap="square" lIns="0" tIns="0" rIns="0" bIns="0" rtlCol="0" anchor="ctr"/>
          <a:lstStyle/>
          <a:p>
            <a:pPr indent="0" marL="0">
              <a:buNone/>
            </a:pPr>
            <a:r>
              <a:rPr lang="en-US" sz="1000" b="1" spc="160" kern="0" dirty="0">
                <a:solidFill>
                  <a:srgbClr val="F0B429"/>
                </a:solidFill>
                <a:latin typeface="Calibri" pitchFamily="34" charset="0"/>
                <a:ea typeface="Calibri" pitchFamily="34" charset="-122"/>
                <a:cs typeface="Calibri" pitchFamily="34" charset="-120"/>
              </a:rPr>
              <a:t>The honest read</a:t>
            </a:r>
            <a:endParaRPr lang="en-US" sz="1000" dirty="0"/>
          </a:p>
        </p:txBody>
      </p:sp>
      <p:sp>
        <p:nvSpPr>
          <p:cNvPr id="27" name="Text 24"/>
          <p:cNvSpPr/>
          <p:nvPr/>
        </p:nvSpPr>
        <p:spPr>
          <a:xfrm>
            <a:off x="932688" y="5980176"/>
            <a:ext cx="10012680" cy="566928"/>
          </a:xfrm>
          <a:prstGeom prst="rect">
            <a:avLst/>
          </a:prstGeom>
          <a:noFill/>
          <a:ln/>
        </p:spPr>
        <p:txBody>
          <a:bodyPr wrap="square" lIns="0" tIns="0" rIns="0" bIns="0" rtlCol="0" anchor="ctr"/>
          <a:lstStyle/>
          <a:p>
            <a:pPr indent="0" marL="0">
              <a:lnSpc>
                <a:spcPts val="1450"/>
              </a:lnSpc>
              <a:buNone/>
            </a:pPr>
            <a:r>
              <a:rPr lang="en-US" sz="1100" dirty="0">
                <a:solidFill>
                  <a:srgbClr val="E3DCF2"/>
                </a:solidFill>
                <a:latin typeface="Calibri" pitchFamily="34" charset="0"/>
                <a:ea typeface="Calibri" pitchFamily="34" charset="-122"/>
                <a:cs typeface="Calibri" pitchFamily="34" charset="-120"/>
              </a:rPr>
              <a:t>A realistic ceiling as the category leader is $30–60M of revenue — an excellent, durable, mostly-owned business, and not a venture-scale one. It becomes venture-scale only if Bizzing becomes the default learning brand for an entire diaspora rather than one subject within it, or if India scales far past the fifth-of-price assumption. Both are possible. Neither should be assumed in a plan.</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COST STRUCTURE · BASE CASE</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What it costs to run</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Two lines dominate and they behave very differently: paid media scales with growth and stops when you stop; mentors scale with revenue and cannot be switched off mid-cohort.</a:t>
            </a:r>
            <a:endParaRPr lang="en-US" sz="1450" dirty="0"/>
          </a:p>
        </p:txBody>
      </p:sp>
      <p:sp>
        <p:nvSpPr>
          <p:cNvPr id="5" name="Text 3"/>
          <p:cNvSpPr/>
          <p:nvPr/>
        </p:nvSpPr>
        <p:spPr>
          <a:xfrm>
            <a:off x="594360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Y1</a:t>
            </a:r>
            <a:endParaRPr lang="en-US" sz="1050" dirty="0"/>
          </a:p>
        </p:txBody>
      </p:sp>
      <p:sp>
        <p:nvSpPr>
          <p:cNvPr id="6" name="Text 4"/>
          <p:cNvSpPr/>
          <p:nvPr/>
        </p:nvSpPr>
        <p:spPr>
          <a:xfrm>
            <a:off x="699516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Y2</a:t>
            </a:r>
            <a:endParaRPr lang="en-US" sz="1050" dirty="0"/>
          </a:p>
        </p:txBody>
      </p:sp>
      <p:sp>
        <p:nvSpPr>
          <p:cNvPr id="7" name="Text 5"/>
          <p:cNvSpPr/>
          <p:nvPr/>
        </p:nvSpPr>
        <p:spPr>
          <a:xfrm>
            <a:off x="804672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Y3</a:t>
            </a:r>
            <a:endParaRPr lang="en-US" sz="1050" dirty="0"/>
          </a:p>
        </p:txBody>
      </p:sp>
      <p:sp>
        <p:nvSpPr>
          <p:cNvPr id="8" name="Text 6"/>
          <p:cNvSpPr/>
          <p:nvPr/>
        </p:nvSpPr>
        <p:spPr>
          <a:xfrm>
            <a:off x="909828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Y4</a:t>
            </a:r>
            <a:endParaRPr lang="en-US" sz="1050" dirty="0"/>
          </a:p>
        </p:txBody>
      </p:sp>
      <p:sp>
        <p:nvSpPr>
          <p:cNvPr id="9" name="Text 7"/>
          <p:cNvSpPr/>
          <p:nvPr/>
        </p:nvSpPr>
        <p:spPr>
          <a:xfrm>
            <a:off x="10149840" y="2029968"/>
            <a:ext cx="960120" cy="274320"/>
          </a:xfrm>
          <a:prstGeom prst="rect">
            <a:avLst/>
          </a:prstGeom>
          <a:noFill/>
          <a:ln/>
        </p:spPr>
        <p:txBody>
          <a:bodyPr wrap="square" lIns="0" tIns="0" rIns="0" bIns="0" rtlCol="0" anchor="ctr"/>
          <a:lstStyle/>
          <a:p>
            <a:pPr algn="ctr" indent="0" marL="0">
              <a:buNone/>
            </a:pPr>
            <a:r>
              <a:rPr lang="en-US" sz="1050" b="1" dirty="0">
                <a:solidFill>
                  <a:srgbClr val="4A31B0"/>
                </a:solidFill>
                <a:latin typeface="Calibri" pitchFamily="34" charset="0"/>
                <a:ea typeface="Calibri" pitchFamily="34" charset="-122"/>
                <a:cs typeface="Calibri" pitchFamily="34" charset="-120"/>
              </a:rPr>
              <a:t>Y5</a:t>
            </a:r>
            <a:endParaRPr lang="en-US" sz="1050" dirty="0"/>
          </a:p>
        </p:txBody>
      </p:sp>
      <p:sp>
        <p:nvSpPr>
          <p:cNvPr id="10" name="Shape 8"/>
          <p:cNvSpPr/>
          <p:nvPr/>
        </p:nvSpPr>
        <p:spPr>
          <a:xfrm>
            <a:off x="512064" y="2249424"/>
            <a:ext cx="10991088" cy="475488"/>
          </a:xfrm>
          <a:prstGeom prst="roundRect">
            <a:avLst>
              <a:gd name="adj" fmla="val 17308"/>
            </a:avLst>
          </a:prstGeom>
          <a:solidFill>
            <a:srgbClr val="EFEBF8"/>
          </a:solidFill>
          <a:ln/>
        </p:spPr>
      </p:sp>
      <p:sp>
        <p:nvSpPr>
          <p:cNvPr id="11" name="Shape 9"/>
          <p:cNvSpPr/>
          <p:nvPr/>
        </p:nvSpPr>
        <p:spPr>
          <a:xfrm rot="5400000">
            <a:off x="640080" y="2359152"/>
            <a:ext cx="237744" cy="237744"/>
          </a:xfrm>
          <a:prstGeom prst="hexagon">
            <a:avLst/>
          </a:prstGeom>
          <a:solidFill>
            <a:srgbClr val="6C4FE0"/>
          </a:solidFill>
          <a:ln/>
        </p:spPr>
      </p:sp>
      <p:sp>
        <p:nvSpPr>
          <p:cNvPr id="12" name="Text 10"/>
          <p:cNvSpPr/>
          <p:nvPr/>
        </p:nvSpPr>
        <p:spPr>
          <a:xfrm>
            <a:off x="987552" y="2267712"/>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Paid media</a:t>
            </a:r>
            <a:endParaRPr lang="en-US" sz="1200" dirty="0"/>
          </a:p>
        </p:txBody>
      </p:sp>
      <p:sp>
        <p:nvSpPr>
          <p:cNvPr id="13" name="Text 11"/>
          <p:cNvSpPr/>
          <p:nvPr/>
        </p:nvSpPr>
        <p:spPr>
          <a:xfrm>
            <a:off x="987552" y="2459736"/>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CAC $22 diaspora, $4 India. The largest single line, and the one that can be turned off in a week.</a:t>
            </a:r>
            <a:endParaRPr lang="en-US" sz="800" dirty="0"/>
          </a:p>
        </p:txBody>
      </p:sp>
      <p:sp>
        <p:nvSpPr>
          <p:cNvPr id="14" name="Text 12"/>
          <p:cNvSpPr/>
          <p:nvPr/>
        </p:nvSpPr>
        <p:spPr>
          <a:xfrm>
            <a:off x="594360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$35k</a:t>
            </a:r>
            <a:endParaRPr lang="en-US" sz="1100" dirty="0"/>
          </a:p>
        </p:txBody>
      </p:sp>
      <p:sp>
        <p:nvSpPr>
          <p:cNvPr id="15" name="Text 13"/>
          <p:cNvSpPr/>
          <p:nvPr/>
        </p:nvSpPr>
        <p:spPr>
          <a:xfrm>
            <a:off x="699516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$150k</a:t>
            </a:r>
            <a:endParaRPr lang="en-US" sz="1100" dirty="0"/>
          </a:p>
        </p:txBody>
      </p:sp>
      <p:sp>
        <p:nvSpPr>
          <p:cNvPr id="16" name="Text 14"/>
          <p:cNvSpPr/>
          <p:nvPr/>
        </p:nvSpPr>
        <p:spPr>
          <a:xfrm>
            <a:off x="804672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$420k</a:t>
            </a:r>
            <a:endParaRPr lang="en-US" sz="1100" dirty="0"/>
          </a:p>
        </p:txBody>
      </p:sp>
      <p:sp>
        <p:nvSpPr>
          <p:cNvPr id="17" name="Text 15"/>
          <p:cNvSpPr/>
          <p:nvPr/>
        </p:nvSpPr>
        <p:spPr>
          <a:xfrm>
            <a:off x="909828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$820k</a:t>
            </a:r>
            <a:endParaRPr lang="en-US" sz="1100" dirty="0"/>
          </a:p>
        </p:txBody>
      </p:sp>
      <p:sp>
        <p:nvSpPr>
          <p:cNvPr id="18" name="Text 16"/>
          <p:cNvSpPr/>
          <p:nvPr/>
        </p:nvSpPr>
        <p:spPr>
          <a:xfrm>
            <a:off x="10149840" y="228600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$1400k</a:t>
            </a:r>
            <a:endParaRPr lang="en-US" sz="1100" dirty="0"/>
          </a:p>
        </p:txBody>
      </p:sp>
      <p:sp>
        <p:nvSpPr>
          <p:cNvPr id="19" name="Shape 17"/>
          <p:cNvSpPr/>
          <p:nvPr/>
        </p:nvSpPr>
        <p:spPr>
          <a:xfrm rot="5400000">
            <a:off x="640080" y="2871216"/>
            <a:ext cx="237744" cy="237744"/>
          </a:xfrm>
          <a:prstGeom prst="hexagon">
            <a:avLst/>
          </a:prstGeom>
          <a:solidFill>
            <a:srgbClr val="6C4FE0"/>
          </a:solidFill>
          <a:ln/>
        </p:spPr>
      </p:sp>
      <p:sp>
        <p:nvSpPr>
          <p:cNvPr id="20" name="Text 18"/>
          <p:cNvSpPr/>
          <p:nvPr/>
        </p:nvSpPr>
        <p:spPr>
          <a:xfrm>
            <a:off x="987552" y="2779776"/>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Content &amp; product</a:t>
            </a:r>
            <a:endParaRPr lang="en-US" sz="1200" dirty="0"/>
          </a:p>
        </p:txBody>
      </p:sp>
      <p:sp>
        <p:nvSpPr>
          <p:cNvPr id="21" name="Text 19"/>
          <p:cNvSpPr/>
          <p:nvPr/>
        </p:nvSpPr>
        <p:spPr>
          <a:xfrm>
            <a:off x="987552" y="2971800"/>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AI generation, art and audio, contract writers per subject. Grows with the number of products, not with users.</a:t>
            </a:r>
            <a:endParaRPr lang="en-US" sz="800" dirty="0"/>
          </a:p>
        </p:txBody>
      </p:sp>
      <p:sp>
        <p:nvSpPr>
          <p:cNvPr id="22" name="Text 20"/>
          <p:cNvSpPr/>
          <p:nvPr/>
        </p:nvSpPr>
        <p:spPr>
          <a:xfrm>
            <a:off x="594360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$60k</a:t>
            </a:r>
            <a:endParaRPr lang="en-US" sz="1100" dirty="0"/>
          </a:p>
        </p:txBody>
      </p:sp>
      <p:sp>
        <p:nvSpPr>
          <p:cNvPr id="23" name="Text 21"/>
          <p:cNvSpPr/>
          <p:nvPr/>
        </p:nvSpPr>
        <p:spPr>
          <a:xfrm>
            <a:off x="699516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$180k</a:t>
            </a:r>
            <a:endParaRPr lang="en-US" sz="1100" dirty="0"/>
          </a:p>
        </p:txBody>
      </p:sp>
      <p:sp>
        <p:nvSpPr>
          <p:cNvPr id="24" name="Text 22"/>
          <p:cNvSpPr/>
          <p:nvPr/>
        </p:nvSpPr>
        <p:spPr>
          <a:xfrm>
            <a:off x="804672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$380k</a:t>
            </a:r>
            <a:endParaRPr lang="en-US" sz="1100" dirty="0"/>
          </a:p>
        </p:txBody>
      </p:sp>
      <p:sp>
        <p:nvSpPr>
          <p:cNvPr id="25" name="Text 23"/>
          <p:cNvSpPr/>
          <p:nvPr/>
        </p:nvSpPr>
        <p:spPr>
          <a:xfrm>
            <a:off x="909828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$620k</a:t>
            </a:r>
            <a:endParaRPr lang="en-US" sz="1100" dirty="0"/>
          </a:p>
        </p:txBody>
      </p:sp>
      <p:sp>
        <p:nvSpPr>
          <p:cNvPr id="26" name="Text 24"/>
          <p:cNvSpPr/>
          <p:nvPr/>
        </p:nvSpPr>
        <p:spPr>
          <a:xfrm>
            <a:off x="10149840" y="279806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$850k</a:t>
            </a:r>
            <a:endParaRPr lang="en-US" sz="1100" dirty="0"/>
          </a:p>
        </p:txBody>
      </p:sp>
      <p:sp>
        <p:nvSpPr>
          <p:cNvPr id="27" name="Shape 25"/>
          <p:cNvSpPr/>
          <p:nvPr/>
        </p:nvSpPr>
        <p:spPr>
          <a:xfrm>
            <a:off x="512064" y="3273552"/>
            <a:ext cx="10991088" cy="475488"/>
          </a:xfrm>
          <a:prstGeom prst="roundRect">
            <a:avLst>
              <a:gd name="adj" fmla="val 17308"/>
            </a:avLst>
          </a:prstGeom>
          <a:solidFill>
            <a:srgbClr val="EFEBF8"/>
          </a:solidFill>
          <a:ln/>
        </p:spPr>
      </p:sp>
      <p:sp>
        <p:nvSpPr>
          <p:cNvPr id="28" name="Shape 26"/>
          <p:cNvSpPr/>
          <p:nvPr/>
        </p:nvSpPr>
        <p:spPr>
          <a:xfrm rot="5400000">
            <a:off x="640080" y="3383280"/>
            <a:ext cx="237744" cy="237744"/>
          </a:xfrm>
          <a:prstGeom prst="hexagon">
            <a:avLst/>
          </a:prstGeom>
          <a:solidFill>
            <a:srgbClr val="178A4C"/>
          </a:solidFill>
          <a:ln/>
        </p:spPr>
      </p:sp>
      <p:sp>
        <p:nvSpPr>
          <p:cNvPr id="29" name="Text 27"/>
          <p:cNvSpPr/>
          <p:nvPr/>
        </p:nvSpPr>
        <p:spPr>
          <a:xfrm>
            <a:off x="987552" y="3291840"/>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Mentors &amp; live delivery</a:t>
            </a:r>
            <a:endParaRPr lang="en-US" sz="1200" dirty="0"/>
          </a:p>
        </p:txBody>
      </p:sp>
      <p:sp>
        <p:nvSpPr>
          <p:cNvPr id="30" name="Text 28"/>
          <p:cNvSpPr/>
          <p:nvPr/>
        </p:nvSpPr>
        <p:spPr>
          <a:xfrm>
            <a:off x="987552" y="3483864"/>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Half of cohort revenue. A real cost of goods, and the price of the moat.</a:t>
            </a:r>
            <a:endParaRPr lang="en-US" sz="800" dirty="0"/>
          </a:p>
        </p:txBody>
      </p:sp>
      <p:sp>
        <p:nvSpPr>
          <p:cNvPr id="31" name="Text 29"/>
          <p:cNvSpPr/>
          <p:nvPr/>
        </p:nvSpPr>
        <p:spPr>
          <a:xfrm>
            <a:off x="5943600" y="3310128"/>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32" name="Text 30"/>
          <p:cNvSpPr/>
          <p:nvPr/>
        </p:nvSpPr>
        <p:spPr>
          <a:xfrm>
            <a:off x="6995160" y="3310128"/>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33" name="Text 31"/>
          <p:cNvSpPr/>
          <p:nvPr/>
        </p:nvSpPr>
        <p:spPr>
          <a:xfrm>
            <a:off x="804672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$55k</a:t>
            </a:r>
            <a:endParaRPr lang="en-US" sz="1100" dirty="0"/>
          </a:p>
        </p:txBody>
      </p:sp>
      <p:sp>
        <p:nvSpPr>
          <p:cNvPr id="34" name="Text 32"/>
          <p:cNvSpPr/>
          <p:nvPr/>
        </p:nvSpPr>
        <p:spPr>
          <a:xfrm>
            <a:off x="909828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$220k</a:t>
            </a:r>
            <a:endParaRPr lang="en-US" sz="1100" dirty="0"/>
          </a:p>
        </p:txBody>
      </p:sp>
      <p:sp>
        <p:nvSpPr>
          <p:cNvPr id="35" name="Text 33"/>
          <p:cNvSpPr/>
          <p:nvPr/>
        </p:nvSpPr>
        <p:spPr>
          <a:xfrm>
            <a:off x="10149840" y="3310128"/>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$494k</a:t>
            </a:r>
            <a:endParaRPr lang="en-US" sz="1100" dirty="0"/>
          </a:p>
        </p:txBody>
      </p:sp>
      <p:sp>
        <p:nvSpPr>
          <p:cNvPr id="36" name="Shape 34"/>
          <p:cNvSpPr/>
          <p:nvPr/>
        </p:nvSpPr>
        <p:spPr>
          <a:xfrm rot="5400000">
            <a:off x="640080" y="3895344"/>
            <a:ext cx="237744" cy="237744"/>
          </a:xfrm>
          <a:prstGeom prst="hexagon">
            <a:avLst/>
          </a:prstGeom>
          <a:solidFill>
            <a:srgbClr val="F0B429"/>
          </a:solidFill>
          <a:ln/>
        </p:spPr>
      </p:sp>
      <p:sp>
        <p:nvSpPr>
          <p:cNvPr id="37" name="Text 35"/>
          <p:cNvSpPr/>
          <p:nvPr/>
        </p:nvSpPr>
        <p:spPr>
          <a:xfrm>
            <a:off x="987552" y="3803904"/>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Physical COGS</a:t>
            </a:r>
            <a:endParaRPr lang="en-US" sz="1200" dirty="0"/>
          </a:p>
        </p:txBody>
      </p:sp>
      <p:sp>
        <p:nvSpPr>
          <p:cNvPr id="38" name="Text 36"/>
          <p:cNvSpPr/>
          <p:nvPr/>
        </p:nvSpPr>
        <p:spPr>
          <a:xfrm>
            <a:off x="987552" y="3995928"/>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55% of the books, cards and merch line. Print-on-demand keeps it variable.</a:t>
            </a:r>
            <a:endParaRPr lang="en-US" sz="800" dirty="0"/>
          </a:p>
        </p:txBody>
      </p:sp>
      <p:sp>
        <p:nvSpPr>
          <p:cNvPr id="39" name="Text 37"/>
          <p:cNvSpPr/>
          <p:nvPr/>
        </p:nvSpPr>
        <p:spPr>
          <a:xfrm>
            <a:off x="5943600" y="3822192"/>
            <a:ext cx="960120" cy="438912"/>
          </a:xfrm>
          <a:prstGeom prst="rect">
            <a:avLst/>
          </a:prstGeom>
          <a:noFill/>
          <a:ln/>
        </p:spPr>
        <p:txBody>
          <a:bodyPr wrap="square" lIns="0" tIns="0" rIns="0" bIns="0" rtlCol="0" anchor="ctr"/>
          <a:lstStyle/>
          <a:p>
            <a:pPr algn="ctr" indent="0" marL="0">
              <a:buNone/>
            </a:pPr>
            <a:r>
              <a:rPr lang="en-US" sz="1100" dirty="0">
                <a:solidFill>
                  <a:srgbClr val="E3DCF2"/>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699516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$19k</a:t>
            </a:r>
            <a:endParaRPr lang="en-US" sz="1100" dirty="0"/>
          </a:p>
        </p:txBody>
      </p:sp>
      <p:sp>
        <p:nvSpPr>
          <p:cNvPr id="41" name="Text 39"/>
          <p:cNvSpPr/>
          <p:nvPr/>
        </p:nvSpPr>
        <p:spPr>
          <a:xfrm>
            <a:off x="804672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$72k</a:t>
            </a:r>
            <a:endParaRPr lang="en-US" sz="1100" dirty="0"/>
          </a:p>
        </p:txBody>
      </p:sp>
      <p:sp>
        <p:nvSpPr>
          <p:cNvPr id="42" name="Text 40"/>
          <p:cNvSpPr/>
          <p:nvPr/>
        </p:nvSpPr>
        <p:spPr>
          <a:xfrm>
            <a:off x="909828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$160k</a:t>
            </a:r>
            <a:endParaRPr lang="en-US" sz="1100" dirty="0"/>
          </a:p>
        </p:txBody>
      </p:sp>
      <p:sp>
        <p:nvSpPr>
          <p:cNvPr id="43" name="Text 41"/>
          <p:cNvSpPr/>
          <p:nvPr/>
        </p:nvSpPr>
        <p:spPr>
          <a:xfrm>
            <a:off x="10149840" y="3822192"/>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$286k</a:t>
            </a:r>
            <a:endParaRPr lang="en-US" sz="1100" dirty="0"/>
          </a:p>
        </p:txBody>
      </p:sp>
      <p:sp>
        <p:nvSpPr>
          <p:cNvPr id="44" name="Shape 42"/>
          <p:cNvSpPr/>
          <p:nvPr/>
        </p:nvSpPr>
        <p:spPr>
          <a:xfrm>
            <a:off x="512064" y="4297680"/>
            <a:ext cx="10991088" cy="475488"/>
          </a:xfrm>
          <a:prstGeom prst="roundRect">
            <a:avLst>
              <a:gd name="adj" fmla="val 17308"/>
            </a:avLst>
          </a:prstGeom>
          <a:solidFill>
            <a:srgbClr val="EFEBF8"/>
          </a:solidFill>
          <a:ln/>
        </p:spPr>
      </p:sp>
      <p:sp>
        <p:nvSpPr>
          <p:cNvPr id="45" name="Shape 43"/>
          <p:cNvSpPr/>
          <p:nvPr/>
        </p:nvSpPr>
        <p:spPr>
          <a:xfrm rot="5400000">
            <a:off x="640080" y="4407408"/>
            <a:ext cx="237744" cy="237744"/>
          </a:xfrm>
          <a:prstGeom prst="hexagon">
            <a:avLst/>
          </a:prstGeom>
          <a:solidFill>
            <a:srgbClr val="6C4FE0"/>
          </a:solidFill>
          <a:ln/>
        </p:spPr>
      </p:sp>
      <p:sp>
        <p:nvSpPr>
          <p:cNvPr id="46" name="Text 44"/>
          <p:cNvSpPr/>
          <p:nvPr/>
        </p:nvSpPr>
        <p:spPr>
          <a:xfrm>
            <a:off x="987552" y="4315968"/>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People</a:t>
            </a:r>
            <a:endParaRPr lang="en-US" sz="1200" dirty="0"/>
          </a:p>
        </p:txBody>
      </p:sp>
      <p:sp>
        <p:nvSpPr>
          <p:cNvPr id="47" name="Text 45"/>
          <p:cNvSpPr/>
          <p:nvPr/>
        </p:nvSpPr>
        <p:spPr>
          <a:xfrm>
            <a:off x="987552" y="4507992"/>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Founders unpaid to Year 2. First hires in Year 3; roughly eight to ten by Year 5.</a:t>
            </a:r>
            <a:endParaRPr lang="en-US" sz="800" dirty="0"/>
          </a:p>
        </p:txBody>
      </p:sp>
      <p:sp>
        <p:nvSpPr>
          <p:cNvPr id="48" name="Text 46"/>
          <p:cNvSpPr/>
          <p:nvPr/>
        </p:nvSpPr>
        <p:spPr>
          <a:xfrm>
            <a:off x="594360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$45k</a:t>
            </a:r>
            <a:endParaRPr lang="en-US" sz="1100" dirty="0"/>
          </a:p>
        </p:txBody>
      </p:sp>
      <p:sp>
        <p:nvSpPr>
          <p:cNvPr id="49" name="Text 47"/>
          <p:cNvSpPr/>
          <p:nvPr/>
        </p:nvSpPr>
        <p:spPr>
          <a:xfrm>
            <a:off x="699516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$200k</a:t>
            </a:r>
            <a:endParaRPr lang="en-US" sz="1100" dirty="0"/>
          </a:p>
        </p:txBody>
      </p:sp>
      <p:sp>
        <p:nvSpPr>
          <p:cNvPr id="50" name="Text 48"/>
          <p:cNvSpPr/>
          <p:nvPr/>
        </p:nvSpPr>
        <p:spPr>
          <a:xfrm>
            <a:off x="804672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$560k</a:t>
            </a:r>
            <a:endParaRPr lang="en-US" sz="1100" dirty="0"/>
          </a:p>
        </p:txBody>
      </p:sp>
      <p:sp>
        <p:nvSpPr>
          <p:cNvPr id="51" name="Text 49"/>
          <p:cNvSpPr/>
          <p:nvPr/>
        </p:nvSpPr>
        <p:spPr>
          <a:xfrm>
            <a:off x="909828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$1150k</a:t>
            </a:r>
            <a:endParaRPr lang="en-US" sz="1100" dirty="0"/>
          </a:p>
        </p:txBody>
      </p:sp>
      <p:sp>
        <p:nvSpPr>
          <p:cNvPr id="52" name="Text 50"/>
          <p:cNvSpPr/>
          <p:nvPr/>
        </p:nvSpPr>
        <p:spPr>
          <a:xfrm>
            <a:off x="10149840" y="4334256"/>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$1750k</a:t>
            </a:r>
            <a:endParaRPr lang="en-US" sz="1100" dirty="0"/>
          </a:p>
        </p:txBody>
      </p:sp>
      <p:sp>
        <p:nvSpPr>
          <p:cNvPr id="53" name="Shape 51"/>
          <p:cNvSpPr/>
          <p:nvPr/>
        </p:nvSpPr>
        <p:spPr>
          <a:xfrm rot="5400000">
            <a:off x="640080" y="4919472"/>
            <a:ext cx="237744" cy="237744"/>
          </a:xfrm>
          <a:prstGeom prst="hexagon">
            <a:avLst/>
          </a:prstGeom>
          <a:solidFill>
            <a:srgbClr val="178A4C"/>
          </a:solidFill>
          <a:ln/>
        </p:spPr>
      </p:sp>
      <p:sp>
        <p:nvSpPr>
          <p:cNvPr id="54" name="Text 52"/>
          <p:cNvSpPr/>
          <p:nvPr/>
        </p:nvSpPr>
        <p:spPr>
          <a:xfrm>
            <a:off x="987552" y="4828032"/>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Infrastructure</a:t>
            </a:r>
            <a:endParaRPr lang="en-US" sz="1200" dirty="0"/>
          </a:p>
        </p:txBody>
      </p:sp>
      <p:sp>
        <p:nvSpPr>
          <p:cNvPr id="55" name="Text 53"/>
          <p:cNvSpPr/>
          <p:nvPr/>
        </p:nvSpPr>
        <p:spPr>
          <a:xfrm>
            <a:off x="987552" y="5020056"/>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Offline-first and statically hosted. Genuinely small, and it stays small.</a:t>
            </a:r>
            <a:endParaRPr lang="en-US" sz="800" dirty="0"/>
          </a:p>
        </p:txBody>
      </p:sp>
      <p:sp>
        <p:nvSpPr>
          <p:cNvPr id="56" name="Text 54"/>
          <p:cNvSpPr/>
          <p:nvPr/>
        </p:nvSpPr>
        <p:spPr>
          <a:xfrm>
            <a:off x="594360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$3k</a:t>
            </a:r>
            <a:endParaRPr lang="en-US" sz="1100" dirty="0"/>
          </a:p>
        </p:txBody>
      </p:sp>
      <p:sp>
        <p:nvSpPr>
          <p:cNvPr id="57" name="Text 55"/>
          <p:cNvSpPr/>
          <p:nvPr/>
        </p:nvSpPr>
        <p:spPr>
          <a:xfrm>
            <a:off x="699516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$12k</a:t>
            </a:r>
            <a:endParaRPr lang="en-US" sz="1100" dirty="0"/>
          </a:p>
        </p:txBody>
      </p:sp>
      <p:sp>
        <p:nvSpPr>
          <p:cNvPr id="58" name="Text 56"/>
          <p:cNvSpPr/>
          <p:nvPr/>
        </p:nvSpPr>
        <p:spPr>
          <a:xfrm>
            <a:off x="804672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$30k</a:t>
            </a:r>
            <a:endParaRPr lang="en-US" sz="1100" dirty="0"/>
          </a:p>
        </p:txBody>
      </p:sp>
      <p:sp>
        <p:nvSpPr>
          <p:cNvPr id="59" name="Text 57"/>
          <p:cNvSpPr/>
          <p:nvPr/>
        </p:nvSpPr>
        <p:spPr>
          <a:xfrm>
            <a:off x="909828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$45k</a:t>
            </a:r>
            <a:endParaRPr lang="en-US" sz="1100" dirty="0"/>
          </a:p>
        </p:txBody>
      </p:sp>
      <p:sp>
        <p:nvSpPr>
          <p:cNvPr id="60" name="Text 58"/>
          <p:cNvSpPr/>
          <p:nvPr/>
        </p:nvSpPr>
        <p:spPr>
          <a:xfrm>
            <a:off x="10149840" y="4846320"/>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$65k</a:t>
            </a:r>
            <a:endParaRPr lang="en-US" sz="1100" dirty="0"/>
          </a:p>
        </p:txBody>
      </p:sp>
      <p:sp>
        <p:nvSpPr>
          <p:cNvPr id="61" name="Shape 59"/>
          <p:cNvSpPr/>
          <p:nvPr/>
        </p:nvSpPr>
        <p:spPr>
          <a:xfrm>
            <a:off x="512064" y="5321808"/>
            <a:ext cx="10991088" cy="475488"/>
          </a:xfrm>
          <a:prstGeom prst="roundRect">
            <a:avLst>
              <a:gd name="adj" fmla="val 17308"/>
            </a:avLst>
          </a:prstGeom>
          <a:solidFill>
            <a:srgbClr val="EFEBF8"/>
          </a:solidFill>
          <a:ln/>
        </p:spPr>
      </p:sp>
      <p:sp>
        <p:nvSpPr>
          <p:cNvPr id="62" name="Shape 60"/>
          <p:cNvSpPr/>
          <p:nvPr/>
        </p:nvSpPr>
        <p:spPr>
          <a:xfrm rot="5400000">
            <a:off x="640080" y="5431536"/>
            <a:ext cx="237744" cy="237744"/>
          </a:xfrm>
          <a:prstGeom prst="hexagon">
            <a:avLst/>
          </a:prstGeom>
          <a:solidFill>
            <a:srgbClr val="F0B429"/>
          </a:solidFill>
          <a:ln/>
        </p:spPr>
      </p:sp>
      <p:sp>
        <p:nvSpPr>
          <p:cNvPr id="63" name="Text 61"/>
          <p:cNvSpPr/>
          <p:nvPr/>
        </p:nvSpPr>
        <p:spPr>
          <a:xfrm>
            <a:off x="987552" y="5340096"/>
            <a:ext cx="2194560" cy="25603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G&amp;A, legal, trademark</a:t>
            </a:r>
            <a:endParaRPr lang="en-US" sz="1200" dirty="0"/>
          </a:p>
        </p:txBody>
      </p:sp>
      <p:sp>
        <p:nvSpPr>
          <p:cNvPr id="64" name="Text 62"/>
          <p:cNvSpPr/>
          <p:nvPr/>
        </p:nvSpPr>
        <p:spPr>
          <a:xfrm>
            <a:off x="987552" y="5532120"/>
            <a:ext cx="5029200" cy="274320"/>
          </a:xfrm>
          <a:prstGeom prst="rect">
            <a:avLst/>
          </a:prstGeom>
          <a:noFill/>
          <a:ln/>
        </p:spPr>
        <p:txBody>
          <a:bodyPr wrap="square" lIns="0" tIns="0" rIns="0" bIns="0" rtlCol="0" anchor="ctr"/>
          <a:lstStyle/>
          <a:p>
            <a:pPr indent="0" marL="0">
              <a:buNone/>
            </a:pPr>
            <a:r>
              <a:rPr lang="en-US" sz="800" dirty="0">
                <a:solidFill>
                  <a:srgbClr val="7A7291"/>
                </a:solidFill>
                <a:latin typeface="Calibri" pitchFamily="34" charset="0"/>
                <a:ea typeface="Calibri" pitchFamily="34" charset="-122"/>
                <a:cs typeface="Calibri" pitchFamily="34" charset="-120"/>
              </a:rPr>
              <a:t>Entity, filings, accounting, insurance, safeguarding checks for the mentor bench.</a:t>
            </a:r>
            <a:endParaRPr lang="en-US" sz="800" dirty="0"/>
          </a:p>
        </p:txBody>
      </p:sp>
      <p:sp>
        <p:nvSpPr>
          <p:cNvPr id="65" name="Text 63"/>
          <p:cNvSpPr/>
          <p:nvPr/>
        </p:nvSpPr>
        <p:spPr>
          <a:xfrm>
            <a:off x="594360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$52k</a:t>
            </a:r>
            <a:endParaRPr lang="en-US" sz="1100" dirty="0"/>
          </a:p>
        </p:txBody>
      </p:sp>
      <p:sp>
        <p:nvSpPr>
          <p:cNvPr id="66" name="Text 64"/>
          <p:cNvSpPr/>
          <p:nvPr/>
        </p:nvSpPr>
        <p:spPr>
          <a:xfrm>
            <a:off x="699516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$59k</a:t>
            </a:r>
            <a:endParaRPr lang="en-US" sz="1100" dirty="0"/>
          </a:p>
        </p:txBody>
      </p:sp>
      <p:sp>
        <p:nvSpPr>
          <p:cNvPr id="67" name="Text 65"/>
          <p:cNvSpPr/>
          <p:nvPr/>
        </p:nvSpPr>
        <p:spPr>
          <a:xfrm>
            <a:off x="804672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$143k</a:t>
            </a:r>
            <a:endParaRPr lang="en-US" sz="1100" dirty="0"/>
          </a:p>
        </p:txBody>
      </p:sp>
      <p:sp>
        <p:nvSpPr>
          <p:cNvPr id="68" name="Text 66"/>
          <p:cNvSpPr/>
          <p:nvPr/>
        </p:nvSpPr>
        <p:spPr>
          <a:xfrm>
            <a:off x="909828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$185k</a:t>
            </a:r>
            <a:endParaRPr lang="en-US" sz="1100" dirty="0"/>
          </a:p>
        </p:txBody>
      </p:sp>
      <p:sp>
        <p:nvSpPr>
          <p:cNvPr id="69" name="Text 67"/>
          <p:cNvSpPr/>
          <p:nvPr/>
        </p:nvSpPr>
        <p:spPr>
          <a:xfrm>
            <a:off x="10149840" y="5358384"/>
            <a:ext cx="960120" cy="438912"/>
          </a:xfrm>
          <a:prstGeom prst="rect">
            <a:avLst/>
          </a:prstGeom>
          <a:noFill/>
          <a:ln/>
        </p:spPr>
        <p:txBody>
          <a:bodyPr wrap="square" lIns="0" tIns="0" rIns="0" bIns="0" rtlCol="0" anchor="ctr"/>
          <a:lstStyle/>
          <a:p>
            <a:pPr algn="ctr" indent="0" marL="0">
              <a:buNone/>
            </a:pPr>
            <a:r>
              <a:rPr lang="en-US" sz="1100" dirty="0">
                <a:solidFill>
                  <a:srgbClr val="241E33"/>
                </a:solidFill>
                <a:latin typeface="Calibri" pitchFamily="34" charset="0"/>
                <a:ea typeface="Calibri" pitchFamily="34" charset="-122"/>
                <a:cs typeface="Calibri" pitchFamily="34" charset="-120"/>
              </a:rPr>
              <a:t>$305k</a:t>
            </a:r>
            <a:endParaRPr lang="en-US" sz="1100" dirty="0"/>
          </a:p>
        </p:txBody>
      </p:sp>
      <p:sp>
        <p:nvSpPr>
          <p:cNvPr id="70" name="Shape 68"/>
          <p:cNvSpPr/>
          <p:nvPr/>
        </p:nvSpPr>
        <p:spPr>
          <a:xfrm>
            <a:off x="512064" y="5833872"/>
            <a:ext cx="10991088" cy="475488"/>
          </a:xfrm>
          <a:prstGeom prst="roundRect">
            <a:avLst>
              <a:gd name="adj" fmla="val 17308"/>
            </a:avLst>
          </a:prstGeom>
          <a:solidFill>
            <a:srgbClr val="241E33"/>
          </a:solidFill>
          <a:ln/>
        </p:spPr>
      </p:sp>
      <p:sp>
        <p:nvSpPr>
          <p:cNvPr id="71" name="Text 69"/>
          <p:cNvSpPr/>
          <p:nvPr/>
        </p:nvSpPr>
        <p:spPr>
          <a:xfrm>
            <a:off x="987552" y="5870448"/>
            <a:ext cx="36576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Total operating cost</a:t>
            </a:r>
            <a:endParaRPr lang="en-US" sz="1250" dirty="0"/>
          </a:p>
        </p:txBody>
      </p:sp>
      <p:sp>
        <p:nvSpPr>
          <p:cNvPr id="72" name="Text 70"/>
          <p:cNvSpPr/>
          <p:nvPr/>
        </p:nvSpPr>
        <p:spPr>
          <a:xfrm>
            <a:off x="594360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$195k</a:t>
            </a:r>
            <a:endParaRPr lang="en-US" sz="1150" dirty="0"/>
          </a:p>
        </p:txBody>
      </p:sp>
      <p:sp>
        <p:nvSpPr>
          <p:cNvPr id="73" name="Text 71"/>
          <p:cNvSpPr/>
          <p:nvPr/>
        </p:nvSpPr>
        <p:spPr>
          <a:xfrm>
            <a:off x="699516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$620k</a:t>
            </a:r>
            <a:endParaRPr lang="en-US" sz="1150" dirty="0"/>
          </a:p>
        </p:txBody>
      </p:sp>
      <p:sp>
        <p:nvSpPr>
          <p:cNvPr id="74" name="Text 72"/>
          <p:cNvSpPr/>
          <p:nvPr/>
        </p:nvSpPr>
        <p:spPr>
          <a:xfrm>
            <a:off x="804672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$1.66M</a:t>
            </a:r>
            <a:endParaRPr lang="en-US" sz="1150" dirty="0"/>
          </a:p>
        </p:txBody>
      </p:sp>
      <p:sp>
        <p:nvSpPr>
          <p:cNvPr id="75" name="Text 73"/>
          <p:cNvSpPr/>
          <p:nvPr/>
        </p:nvSpPr>
        <p:spPr>
          <a:xfrm>
            <a:off x="9098280" y="5870448"/>
            <a:ext cx="960120" cy="43891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$3.20M</a:t>
            </a:r>
            <a:endParaRPr lang="en-US" sz="1150" dirty="0"/>
          </a:p>
        </p:txBody>
      </p:sp>
      <p:sp>
        <p:nvSpPr>
          <p:cNvPr id="76" name="Text 74"/>
          <p:cNvSpPr/>
          <p:nvPr/>
        </p:nvSpPr>
        <p:spPr>
          <a:xfrm>
            <a:off x="10149840" y="5870448"/>
            <a:ext cx="960120" cy="438912"/>
          </a:xfrm>
          <a:prstGeom prst="rect">
            <a:avLst/>
          </a:prstGeom>
          <a:noFill/>
          <a:ln/>
        </p:spPr>
        <p:txBody>
          <a:bodyPr wrap="square" lIns="0" tIns="0" rIns="0" bIns="0" rtlCol="0" anchor="ctr"/>
          <a:lstStyle/>
          <a:p>
            <a:pPr algn="ctr" indent="0" marL="0">
              <a:buNone/>
            </a:pPr>
            <a:r>
              <a:rPr lang="en-US" sz="1150" b="1" dirty="0">
                <a:solidFill>
                  <a:srgbClr val="F0B429"/>
                </a:solidFill>
                <a:latin typeface="Calibri" pitchFamily="34" charset="0"/>
                <a:ea typeface="Calibri" pitchFamily="34" charset="-122"/>
                <a:cs typeface="Calibri" pitchFamily="34" charset="-120"/>
              </a:rPr>
              <a:t>$5.15M</a:t>
            </a:r>
            <a:endParaRPr lang="en-US" sz="1150" dirty="0"/>
          </a:p>
        </p:txBody>
      </p:sp>
      <p:sp>
        <p:nvSpPr>
          <p:cNvPr id="77" name="Text 75"/>
          <p:cNvSpPr/>
          <p:nvPr/>
        </p:nvSpPr>
        <p:spPr>
          <a:xfrm>
            <a:off x="640080" y="6419088"/>
            <a:ext cx="10607040" cy="329184"/>
          </a:xfrm>
          <a:prstGeom prst="rect">
            <a:avLst/>
          </a:prstGeom>
          <a:noFill/>
          <a:ln/>
        </p:spPr>
        <p:txBody>
          <a:bodyPr wrap="square" lIns="0" tIns="0" rIns="0" bIns="0" rtlCol="0" anchor="ctr"/>
          <a:lstStyle/>
          <a:p>
            <a:pPr indent="0" marL="0">
              <a:buNone/>
            </a:pPr>
            <a:r>
              <a:rPr lang="en-US" sz="1000" i="1" dirty="0">
                <a:solidFill>
                  <a:srgbClr val="7A7291"/>
                </a:solidFill>
                <a:latin typeface="Calibri" pitchFamily="34" charset="0"/>
                <a:ea typeface="Calibri" pitchFamily="34" charset="-122"/>
                <a:cs typeface="Calibri" pitchFamily="34" charset="-120"/>
              </a:rPr>
              <a:t>Infrastructure stays under $65k at Year 5 because the app is offline-first and statically hosted. Most consumer-education companies spend that on servers in Year 2.</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02336"/>
            <a:ext cx="7315200" cy="256032"/>
          </a:xfrm>
          <a:prstGeom prst="rect">
            <a:avLst/>
          </a:prstGeom>
          <a:noFill/>
          <a:ln/>
        </p:spPr>
        <p:txBody>
          <a:bodyPr wrap="square" lIns="0" tIns="0" rIns="0" bIns="0" rtlCol="0" anchor="ctr"/>
          <a:lstStyle/>
          <a:p>
            <a:pPr indent="0" marL="0">
              <a:buNone/>
            </a:pPr>
            <a:r>
              <a:rPr lang="en-US" sz="1150" b="1" spc="240" kern="0" dirty="0">
                <a:solidFill>
                  <a:srgbClr val="6C4FE0"/>
                </a:solidFill>
                <a:latin typeface="Calibri" pitchFamily="34" charset="0"/>
                <a:ea typeface="Calibri" pitchFamily="34" charset="-122"/>
                <a:cs typeface="Calibri" pitchFamily="34" charset="-120"/>
              </a:rPr>
              <a:t>SUMMARY</a:t>
            </a:r>
            <a:endParaRPr lang="en-US" sz="1150" dirty="0"/>
          </a:p>
        </p:txBody>
      </p:sp>
      <p:sp>
        <p:nvSpPr>
          <p:cNvPr id="3" name="Text 1"/>
          <p:cNvSpPr/>
          <p:nvPr/>
        </p:nvSpPr>
        <p:spPr>
          <a:xfrm>
            <a:off x="640080" y="694944"/>
            <a:ext cx="10607040" cy="749808"/>
          </a:xfrm>
          <a:prstGeom prst="rect">
            <a:avLst/>
          </a:prstGeom>
          <a:noFill/>
          <a:ln/>
        </p:spPr>
        <p:txBody>
          <a:bodyPr wrap="square" lIns="0" tIns="0" rIns="0" bIns="0" rtlCol="0" anchor="ctr"/>
          <a:lstStyle/>
          <a:p>
            <a:pPr indent="0" marL="0">
              <a:buNone/>
            </a:pPr>
            <a:r>
              <a:rPr lang="en-US" sz="2900" b="1" dirty="0">
                <a:solidFill>
                  <a:srgbClr val="241E33"/>
                </a:solidFill>
                <a:latin typeface="Cambria" pitchFamily="34" charset="0"/>
                <a:ea typeface="Cambria" pitchFamily="34" charset="-122"/>
                <a:cs typeface="Cambria" pitchFamily="34" charset="-120"/>
              </a:rPr>
              <a:t>Five-year P&amp;L, both cases</a:t>
            </a:r>
            <a:endParaRPr lang="en-US" sz="2900" dirty="0"/>
          </a:p>
        </p:txBody>
      </p:sp>
      <p:sp>
        <p:nvSpPr>
          <p:cNvPr id="4" name="Text 2"/>
          <p:cNvSpPr/>
          <p:nvPr/>
        </p:nvSpPr>
        <p:spPr>
          <a:xfrm>
            <a:off x="640080" y="1444752"/>
            <a:ext cx="10607040" cy="512064"/>
          </a:xfrm>
          <a:prstGeom prst="rect">
            <a:avLst/>
          </a:prstGeom>
          <a:noFill/>
          <a:ln/>
        </p:spPr>
        <p:txBody>
          <a:bodyPr wrap="square" lIns="0" tIns="0" rIns="0" bIns="0" rtlCol="0" anchor="ctr"/>
          <a:lstStyle/>
          <a:p>
            <a:pPr indent="0" marL="0">
              <a:buNone/>
            </a:pPr>
            <a:r>
              <a:rPr lang="en-US" sz="1450" dirty="0">
                <a:solidFill>
                  <a:srgbClr val="7A7291"/>
                </a:solidFill>
                <a:latin typeface="Calibri" pitchFamily="34" charset="0"/>
                <a:ea typeface="Calibri" pitchFamily="34" charset="-122"/>
                <a:cs typeface="Calibri" pitchFamily="34" charset="-120"/>
              </a:rPr>
              <a:t>Same product sequence, same cost structure. The aggressive case is faster acquisition and a stronger India, not a different company.</a:t>
            </a:r>
            <a:endParaRPr lang="en-US" sz="1450" dirty="0"/>
          </a:p>
        </p:txBody>
      </p:sp>
      <p:sp>
        <p:nvSpPr>
          <p:cNvPr id="5" name="Shape 3"/>
          <p:cNvSpPr/>
          <p:nvPr/>
        </p:nvSpPr>
        <p:spPr>
          <a:xfrm>
            <a:off x="512064" y="1975104"/>
            <a:ext cx="9528048" cy="310896"/>
          </a:xfrm>
          <a:prstGeom prst="roundRect">
            <a:avLst>
              <a:gd name="adj" fmla="val 26471"/>
            </a:avLst>
          </a:prstGeom>
          <a:solidFill>
            <a:srgbClr val="6C4FE0"/>
          </a:solidFill>
          <a:ln/>
        </p:spPr>
      </p:sp>
      <p:sp>
        <p:nvSpPr>
          <p:cNvPr id="6" name="Text 4"/>
          <p:cNvSpPr/>
          <p:nvPr/>
        </p:nvSpPr>
        <p:spPr>
          <a:xfrm>
            <a:off x="694944" y="1975104"/>
            <a:ext cx="3017520" cy="310896"/>
          </a:xfrm>
          <a:prstGeom prst="rect">
            <a:avLst/>
          </a:prstGeom>
          <a:noFill/>
          <a:ln/>
        </p:spPr>
        <p:txBody>
          <a:bodyPr wrap="square" lIns="0" tIns="0" rIns="0" bIns="0" rtlCol="0" anchor="ctr"/>
          <a:lstStyle/>
          <a:p>
            <a:pPr indent="0" marL="0">
              <a:buNone/>
            </a:pPr>
            <a:r>
              <a:rPr lang="en-US" sz="1000" b="1" spc="160" kern="0" dirty="0">
                <a:solidFill>
                  <a:srgbClr val="FFFFFF"/>
                </a:solidFill>
                <a:latin typeface="Calibri" pitchFamily="34" charset="0"/>
                <a:ea typeface="Calibri" pitchFamily="34" charset="-122"/>
                <a:cs typeface="Calibri" pitchFamily="34" charset="-120"/>
              </a:rPr>
              <a:t>BASE CASE</a:t>
            </a:r>
            <a:endParaRPr lang="en-US" sz="1000" dirty="0"/>
          </a:p>
        </p:txBody>
      </p:sp>
      <p:sp>
        <p:nvSpPr>
          <p:cNvPr id="7" name="Text 5"/>
          <p:cNvSpPr/>
          <p:nvPr/>
        </p:nvSpPr>
        <p:spPr>
          <a:xfrm>
            <a:off x="3794760" y="1975104"/>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Y1</a:t>
            </a:r>
            <a:endParaRPr lang="en-US" sz="950" dirty="0"/>
          </a:p>
        </p:txBody>
      </p:sp>
      <p:sp>
        <p:nvSpPr>
          <p:cNvPr id="8" name="Text 6"/>
          <p:cNvSpPr/>
          <p:nvPr/>
        </p:nvSpPr>
        <p:spPr>
          <a:xfrm>
            <a:off x="5029200" y="1975104"/>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Y2</a:t>
            </a:r>
            <a:endParaRPr lang="en-US" sz="950" dirty="0"/>
          </a:p>
        </p:txBody>
      </p:sp>
      <p:sp>
        <p:nvSpPr>
          <p:cNvPr id="9" name="Text 7"/>
          <p:cNvSpPr/>
          <p:nvPr/>
        </p:nvSpPr>
        <p:spPr>
          <a:xfrm>
            <a:off x="6263640" y="1975104"/>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Y3</a:t>
            </a:r>
            <a:endParaRPr lang="en-US" sz="950" dirty="0"/>
          </a:p>
        </p:txBody>
      </p:sp>
      <p:sp>
        <p:nvSpPr>
          <p:cNvPr id="10" name="Text 8"/>
          <p:cNvSpPr/>
          <p:nvPr/>
        </p:nvSpPr>
        <p:spPr>
          <a:xfrm>
            <a:off x="7498080" y="1975104"/>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Y4</a:t>
            </a:r>
            <a:endParaRPr lang="en-US" sz="950" dirty="0"/>
          </a:p>
        </p:txBody>
      </p:sp>
      <p:sp>
        <p:nvSpPr>
          <p:cNvPr id="11" name="Text 9"/>
          <p:cNvSpPr/>
          <p:nvPr/>
        </p:nvSpPr>
        <p:spPr>
          <a:xfrm>
            <a:off x="8732520" y="1975104"/>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Y5</a:t>
            </a:r>
            <a:endParaRPr lang="en-US" sz="950" dirty="0"/>
          </a:p>
        </p:txBody>
      </p:sp>
      <p:sp>
        <p:nvSpPr>
          <p:cNvPr id="12" name="Text 10"/>
          <p:cNvSpPr/>
          <p:nvPr/>
        </p:nvSpPr>
        <p:spPr>
          <a:xfrm>
            <a:off x="640080" y="2304288"/>
            <a:ext cx="3017520" cy="347472"/>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Paying households</a:t>
            </a:r>
            <a:endParaRPr lang="en-US" sz="1100" dirty="0"/>
          </a:p>
        </p:txBody>
      </p:sp>
      <p:sp>
        <p:nvSpPr>
          <p:cNvPr id="13" name="Text 11"/>
          <p:cNvSpPr/>
          <p:nvPr/>
        </p:nvSpPr>
        <p:spPr>
          <a:xfrm>
            <a:off x="3794760" y="2304288"/>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1.5k</a:t>
            </a:r>
            <a:endParaRPr lang="en-US" sz="1050" dirty="0"/>
          </a:p>
        </p:txBody>
      </p:sp>
      <p:sp>
        <p:nvSpPr>
          <p:cNvPr id="14" name="Text 12"/>
          <p:cNvSpPr/>
          <p:nvPr/>
        </p:nvSpPr>
        <p:spPr>
          <a:xfrm>
            <a:off x="5029200" y="2304288"/>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7.0k</a:t>
            </a:r>
            <a:endParaRPr lang="en-US" sz="1050" dirty="0"/>
          </a:p>
        </p:txBody>
      </p:sp>
      <p:sp>
        <p:nvSpPr>
          <p:cNvPr id="15" name="Text 13"/>
          <p:cNvSpPr/>
          <p:nvPr/>
        </p:nvSpPr>
        <p:spPr>
          <a:xfrm>
            <a:off x="6263640" y="2304288"/>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20k</a:t>
            </a:r>
            <a:endParaRPr lang="en-US" sz="1050" dirty="0"/>
          </a:p>
        </p:txBody>
      </p:sp>
      <p:sp>
        <p:nvSpPr>
          <p:cNvPr id="16" name="Text 14"/>
          <p:cNvSpPr/>
          <p:nvPr/>
        </p:nvSpPr>
        <p:spPr>
          <a:xfrm>
            <a:off x="7498080" y="2304288"/>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43k</a:t>
            </a:r>
            <a:endParaRPr lang="en-US" sz="1050" dirty="0"/>
          </a:p>
        </p:txBody>
      </p:sp>
      <p:sp>
        <p:nvSpPr>
          <p:cNvPr id="17" name="Text 15"/>
          <p:cNvSpPr/>
          <p:nvPr/>
        </p:nvSpPr>
        <p:spPr>
          <a:xfrm>
            <a:off x="8732520" y="2304288"/>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75k</a:t>
            </a:r>
            <a:endParaRPr lang="en-US" sz="1050" dirty="0"/>
          </a:p>
        </p:txBody>
      </p:sp>
      <p:sp>
        <p:nvSpPr>
          <p:cNvPr id="18" name="Text 16"/>
          <p:cNvSpPr/>
          <p:nvPr/>
        </p:nvSpPr>
        <p:spPr>
          <a:xfrm>
            <a:off x="640080" y="2688336"/>
            <a:ext cx="3017520" cy="34747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Revenue</a:t>
            </a:r>
            <a:endParaRPr lang="en-US" sz="1200" dirty="0"/>
          </a:p>
        </p:txBody>
      </p:sp>
      <p:sp>
        <p:nvSpPr>
          <p:cNvPr id="19" name="Text 17"/>
          <p:cNvSpPr/>
          <p:nvPr/>
        </p:nvSpPr>
        <p:spPr>
          <a:xfrm>
            <a:off x="3794760" y="2688336"/>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$138k</a:t>
            </a:r>
            <a:endParaRPr lang="en-US" sz="1150" dirty="0"/>
          </a:p>
        </p:txBody>
      </p:sp>
      <p:sp>
        <p:nvSpPr>
          <p:cNvPr id="20" name="Text 18"/>
          <p:cNvSpPr/>
          <p:nvPr/>
        </p:nvSpPr>
        <p:spPr>
          <a:xfrm>
            <a:off x="5029200" y="2688336"/>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$650k</a:t>
            </a:r>
            <a:endParaRPr lang="en-US" sz="1150" dirty="0"/>
          </a:p>
        </p:txBody>
      </p:sp>
      <p:sp>
        <p:nvSpPr>
          <p:cNvPr id="21" name="Text 19"/>
          <p:cNvSpPr/>
          <p:nvPr/>
        </p:nvSpPr>
        <p:spPr>
          <a:xfrm>
            <a:off x="6263640" y="2688336"/>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$1.89M</a:t>
            </a:r>
            <a:endParaRPr lang="en-US" sz="1150" dirty="0"/>
          </a:p>
        </p:txBody>
      </p:sp>
      <p:sp>
        <p:nvSpPr>
          <p:cNvPr id="22" name="Text 20"/>
          <p:cNvSpPr/>
          <p:nvPr/>
        </p:nvSpPr>
        <p:spPr>
          <a:xfrm>
            <a:off x="7498080" y="2688336"/>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$3.95M</a:t>
            </a:r>
            <a:endParaRPr lang="en-US" sz="1150" dirty="0"/>
          </a:p>
        </p:txBody>
      </p:sp>
      <p:sp>
        <p:nvSpPr>
          <p:cNvPr id="23" name="Text 21"/>
          <p:cNvSpPr/>
          <p:nvPr/>
        </p:nvSpPr>
        <p:spPr>
          <a:xfrm>
            <a:off x="8732520" y="2688336"/>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$6.83M</a:t>
            </a:r>
            <a:endParaRPr lang="en-US" sz="1150" dirty="0"/>
          </a:p>
        </p:txBody>
      </p:sp>
      <p:sp>
        <p:nvSpPr>
          <p:cNvPr id="24" name="Text 22"/>
          <p:cNvSpPr/>
          <p:nvPr/>
        </p:nvSpPr>
        <p:spPr>
          <a:xfrm>
            <a:off x="640080" y="3072384"/>
            <a:ext cx="3017520" cy="347472"/>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Operating cost</a:t>
            </a:r>
            <a:endParaRPr lang="en-US" sz="1100" dirty="0"/>
          </a:p>
        </p:txBody>
      </p:sp>
      <p:sp>
        <p:nvSpPr>
          <p:cNvPr id="25" name="Text 23"/>
          <p:cNvSpPr/>
          <p:nvPr/>
        </p:nvSpPr>
        <p:spPr>
          <a:xfrm>
            <a:off x="3794760" y="30723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$195k</a:t>
            </a:r>
            <a:endParaRPr lang="en-US" sz="1050" dirty="0"/>
          </a:p>
        </p:txBody>
      </p:sp>
      <p:sp>
        <p:nvSpPr>
          <p:cNvPr id="26" name="Text 24"/>
          <p:cNvSpPr/>
          <p:nvPr/>
        </p:nvSpPr>
        <p:spPr>
          <a:xfrm>
            <a:off x="5029200" y="30723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$620k</a:t>
            </a:r>
            <a:endParaRPr lang="en-US" sz="1050" dirty="0"/>
          </a:p>
        </p:txBody>
      </p:sp>
      <p:sp>
        <p:nvSpPr>
          <p:cNvPr id="27" name="Text 25"/>
          <p:cNvSpPr/>
          <p:nvPr/>
        </p:nvSpPr>
        <p:spPr>
          <a:xfrm>
            <a:off x="6263640" y="30723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$1.66M</a:t>
            </a:r>
            <a:endParaRPr lang="en-US" sz="1050" dirty="0"/>
          </a:p>
        </p:txBody>
      </p:sp>
      <p:sp>
        <p:nvSpPr>
          <p:cNvPr id="28" name="Text 26"/>
          <p:cNvSpPr/>
          <p:nvPr/>
        </p:nvSpPr>
        <p:spPr>
          <a:xfrm>
            <a:off x="7498080" y="30723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$3.20M</a:t>
            </a:r>
            <a:endParaRPr lang="en-US" sz="1050" dirty="0"/>
          </a:p>
        </p:txBody>
      </p:sp>
      <p:sp>
        <p:nvSpPr>
          <p:cNvPr id="29" name="Text 27"/>
          <p:cNvSpPr/>
          <p:nvPr/>
        </p:nvSpPr>
        <p:spPr>
          <a:xfrm>
            <a:off x="8732520" y="30723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$5.15M</a:t>
            </a:r>
            <a:endParaRPr lang="en-US" sz="1050" dirty="0"/>
          </a:p>
        </p:txBody>
      </p:sp>
      <p:sp>
        <p:nvSpPr>
          <p:cNvPr id="30" name="Text 28"/>
          <p:cNvSpPr/>
          <p:nvPr/>
        </p:nvSpPr>
        <p:spPr>
          <a:xfrm>
            <a:off x="640080" y="3456432"/>
            <a:ext cx="3017520" cy="34747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EBITDA</a:t>
            </a:r>
            <a:endParaRPr lang="en-US" sz="1200" dirty="0"/>
          </a:p>
        </p:txBody>
      </p:sp>
      <p:sp>
        <p:nvSpPr>
          <p:cNvPr id="31" name="Text 29"/>
          <p:cNvSpPr/>
          <p:nvPr/>
        </p:nvSpPr>
        <p:spPr>
          <a:xfrm>
            <a:off x="3794760" y="3456432"/>
            <a:ext cx="1188720" cy="347472"/>
          </a:xfrm>
          <a:prstGeom prst="rect">
            <a:avLst/>
          </a:prstGeom>
          <a:noFill/>
          <a:ln/>
        </p:spPr>
        <p:txBody>
          <a:bodyPr wrap="square" lIns="0" tIns="0" rIns="0" bIns="0" rtlCol="0" anchor="ctr"/>
          <a:lstStyle/>
          <a:p>
            <a:pPr algn="ctr" indent="0" marL="0">
              <a:buNone/>
            </a:pPr>
            <a:r>
              <a:rPr lang="en-US" sz="1150" b="1" dirty="0">
                <a:solidFill>
                  <a:srgbClr val="C4453C"/>
                </a:solidFill>
                <a:latin typeface="Calibri" pitchFamily="34" charset="0"/>
                <a:ea typeface="Calibri" pitchFamily="34" charset="-122"/>
                <a:cs typeface="Calibri" pitchFamily="34" charset="-120"/>
              </a:rPr>
              <a:t>$-57k</a:t>
            </a:r>
            <a:endParaRPr lang="en-US" sz="1150" dirty="0"/>
          </a:p>
        </p:txBody>
      </p:sp>
      <p:sp>
        <p:nvSpPr>
          <p:cNvPr id="32" name="Text 30"/>
          <p:cNvSpPr/>
          <p:nvPr/>
        </p:nvSpPr>
        <p:spPr>
          <a:xfrm>
            <a:off x="5029200" y="34564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$30k</a:t>
            </a:r>
            <a:endParaRPr lang="en-US" sz="1150" dirty="0"/>
          </a:p>
        </p:txBody>
      </p:sp>
      <p:sp>
        <p:nvSpPr>
          <p:cNvPr id="33" name="Text 31"/>
          <p:cNvSpPr/>
          <p:nvPr/>
        </p:nvSpPr>
        <p:spPr>
          <a:xfrm>
            <a:off x="6263640" y="34564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$225k</a:t>
            </a:r>
            <a:endParaRPr lang="en-US" sz="1150" dirty="0"/>
          </a:p>
        </p:txBody>
      </p:sp>
      <p:sp>
        <p:nvSpPr>
          <p:cNvPr id="34" name="Text 32"/>
          <p:cNvSpPr/>
          <p:nvPr/>
        </p:nvSpPr>
        <p:spPr>
          <a:xfrm>
            <a:off x="7498080" y="34564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$750k</a:t>
            </a:r>
            <a:endParaRPr lang="en-US" sz="1150" dirty="0"/>
          </a:p>
        </p:txBody>
      </p:sp>
      <p:sp>
        <p:nvSpPr>
          <p:cNvPr id="35" name="Text 33"/>
          <p:cNvSpPr/>
          <p:nvPr/>
        </p:nvSpPr>
        <p:spPr>
          <a:xfrm>
            <a:off x="8732520" y="34564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$1.68M</a:t>
            </a:r>
            <a:endParaRPr lang="en-US" sz="1150" dirty="0"/>
          </a:p>
        </p:txBody>
      </p:sp>
      <p:sp>
        <p:nvSpPr>
          <p:cNvPr id="36" name="Shape 34"/>
          <p:cNvSpPr/>
          <p:nvPr/>
        </p:nvSpPr>
        <p:spPr>
          <a:xfrm>
            <a:off x="512064" y="4114800"/>
            <a:ext cx="9528048" cy="310896"/>
          </a:xfrm>
          <a:prstGeom prst="roundRect">
            <a:avLst>
              <a:gd name="adj" fmla="val 26471"/>
            </a:avLst>
          </a:prstGeom>
          <a:solidFill>
            <a:srgbClr val="178A4C"/>
          </a:solidFill>
          <a:ln/>
        </p:spPr>
      </p:sp>
      <p:sp>
        <p:nvSpPr>
          <p:cNvPr id="37" name="Text 35"/>
          <p:cNvSpPr/>
          <p:nvPr/>
        </p:nvSpPr>
        <p:spPr>
          <a:xfrm>
            <a:off x="694944" y="4114800"/>
            <a:ext cx="3017520" cy="310896"/>
          </a:xfrm>
          <a:prstGeom prst="rect">
            <a:avLst/>
          </a:prstGeom>
          <a:noFill/>
          <a:ln/>
        </p:spPr>
        <p:txBody>
          <a:bodyPr wrap="square" lIns="0" tIns="0" rIns="0" bIns="0" rtlCol="0" anchor="ctr"/>
          <a:lstStyle/>
          <a:p>
            <a:pPr indent="0" marL="0">
              <a:buNone/>
            </a:pPr>
            <a:r>
              <a:rPr lang="en-US" sz="1000" b="1" spc="160" kern="0" dirty="0">
                <a:solidFill>
                  <a:srgbClr val="FFFFFF"/>
                </a:solidFill>
                <a:latin typeface="Calibri" pitchFamily="34" charset="0"/>
                <a:ea typeface="Calibri" pitchFamily="34" charset="-122"/>
                <a:cs typeface="Calibri" pitchFamily="34" charset="-120"/>
              </a:rPr>
              <a:t>AGGRESSIVE CASE</a:t>
            </a:r>
            <a:endParaRPr lang="en-US" sz="1000" dirty="0"/>
          </a:p>
        </p:txBody>
      </p:sp>
      <p:sp>
        <p:nvSpPr>
          <p:cNvPr id="38" name="Text 36"/>
          <p:cNvSpPr/>
          <p:nvPr/>
        </p:nvSpPr>
        <p:spPr>
          <a:xfrm>
            <a:off x="3794760" y="4114800"/>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Y1</a:t>
            </a:r>
            <a:endParaRPr lang="en-US" sz="950" dirty="0"/>
          </a:p>
        </p:txBody>
      </p:sp>
      <p:sp>
        <p:nvSpPr>
          <p:cNvPr id="39" name="Text 37"/>
          <p:cNvSpPr/>
          <p:nvPr/>
        </p:nvSpPr>
        <p:spPr>
          <a:xfrm>
            <a:off x="5029200" y="4114800"/>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Y2</a:t>
            </a:r>
            <a:endParaRPr lang="en-US" sz="950" dirty="0"/>
          </a:p>
        </p:txBody>
      </p:sp>
      <p:sp>
        <p:nvSpPr>
          <p:cNvPr id="40" name="Text 38"/>
          <p:cNvSpPr/>
          <p:nvPr/>
        </p:nvSpPr>
        <p:spPr>
          <a:xfrm>
            <a:off x="6263640" y="4114800"/>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Y3</a:t>
            </a:r>
            <a:endParaRPr lang="en-US" sz="950" dirty="0"/>
          </a:p>
        </p:txBody>
      </p:sp>
      <p:sp>
        <p:nvSpPr>
          <p:cNvPr id="41" name="Text 39"/>
          <p:cNvSpPr/>
          <p:nvPr/>
        </p:nvSpPr>
        <p:spPr>
          <a:xfrm>
            <a:off x="7498080" y="4114800"/>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Y4</a:t>
            </a:r>
            <a:endParaRPr lang="en-US" sz="950" dirty="0"/>
          </a:p>
        </p:txBody>
      </p:sp>
      <p:sp>
        <p:nvSpPr>
          <p:cNvPr id="42" name="Text 40"/>
          <p:cNvSpPr/>
          <p:nvPr/>
        </p:nvSpPr>
        <p:spPr>
          <a:xfrm>
            <a:off x="8732520" y="4114800"/>
            <a:ext cx="11887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Y5</a:t>
            </a:r>
            <a:endParaRPr lang="en-US" sz="950" dirty="0"/>
          </a:p>
        </p:txBody>
      </p:sp>
      <p:sp>
        <p:nvSpPr>
          <p:cNvPr id="43" name="Text 41"/>
          <p:cNvSpPr/>
          <p:nvPr/>
        </p:nvSpPr>
        <p:spPr>
          <a:xfrm>
            <a:off x="640080" y="4443984"/>
            <a:ext cx="3017520" cy="347472"/>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Paying households</a:t>
            </a:r>
            <a:endParaRPr lang="en-US" sz="1100" dirty="0"/>
          </a:p>
        </p:txBody>
      </p:sp>
      <p:sp>
        <p:nvSpPr>
          <p:cNvPr id="44" name="Text 42"/>
          <p:cNvSpPr/>
          <p:nvPr/>
        </p:nvSpPr>
        <p:spPr>
          <a:xfrm>
            <a:off x="3794760" y="44439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2.4k</a:t>
            </a:r>
            <a:endParaRPr lang="en-US" sz="1050" dirty="0"/>
          </a:p>
        </p:txBody>
      </p:sp>
      <p:sp>
        <p:nvSpPr>
          <p:cNvPr id="45" name="Text 43"/>
          <p:cNvSpPr/>
          <p:nvPr/>
        </p:nvSpPr>
        <p:spPr>
          <a:xfrm>
            <a:off x="5029200" y="44439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14k</a:t>
            </a:r>
            <a:endParaRPr lang="en-US" sz="1050" dirty="0"/>
          </a:p>
        </p:txBody>
      </p:sp>
      <p:sp>
        <p:nvSpPr>
          <p:cNvPr id="46" name="Text 44"/>
          <p:cNvSpPr/>
          <p:nvPr/>
        </p:nvSpPr>
        <p:spPr>
          <a:xfrm>
            <a:off x="6263640" y="44439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42k</a:t>
            </a:r>
            <a:endParaRPr lang="en-US" sz="1050" dirty="0"/>
          </a:p>
        </p:txBody>
      </p:sp>
      <p:sp>
        <p:nvSpPr>
          <p:cNvPr id="47" name="Text 45"/>
          <p:cNvSpPr/>
          <p:nvPr/>
        </p:nvSpPr>
        <p:spPr>
          <a:xfrm>
            <a:off x="7498080" y="44439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92k</a:t>
            </a:r>
            <a:endParaRPr lang="en-US" sz="1050" dirty="0"/>
          </a:p>
        </p:txBody>
      </p:sp>
      <p:sp>
        <p:nvSpPr>
          <p:cNvPr id="48" name="Text 46"/>
          <p:cNvSpPr/>
          <p:nvPr/>
        </p:nvSpPr>
        <p:spPr>
          <a:xfrm>
            <a:off x="8732520" y="4443984"/>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165k</a:t>
            </a:r>
            <a:endParaRPr lang="en-US" sz="1050" dirty="0"/>
          </a:p>
        </p:txBody>
      </p:sp>
      <p:sp>
        <p:nvSpPr>
          <p:cNvPr id="49" name="Text 47"/>
          <p:cNvSpPr/>
          <p:nvPr/>
        </p:nvSpPr>
        <p:spPr>
          <a:xfrm>
            <a:off x="640080" y="4828032"/>
            <a:ext cx="3017520" cy="34747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Revenue</a:t>
            </a:r>
            <a:endParaRPr lang="en-US" sz="1200" dirty="0"/>
          </a:p>
        </p:txBody>
      </p:sp>
      <p:sp>
        <p:nvSpPr>
          <p:cNvPr id="50" name="Text 48"/>
          <p:cNvSpPr/>
          <p:nvPr/>
        </p:nvSpPr>
        <p:spPr>
          <a:xfrm>
            <a:off x="3794760" y="48280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$240k</a:t>
            </a:r>
            <a:endParaRPr lang="en-US" sz="1150" dirty="0"/>
          </a:p>
        </p:txBody>
      </p:sp>
      <p:sp>
        <p:nvSpPr>
          <p:cNvPr id="51" name="Text 49"/>
          <p:cNvSpPr/>
          <p:nvPr/>
        </p:nvSpPr>
        <p:spPr>
          <a:xfrm>
            <a:off x="5029200" y="48280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$1.34M</a:t>
            </a:r>
            <a:endParaRPr lang="en-US" sz="1150" dirty="0"/>
          </a:p>
        </p:txBody>
      </p:sp>
      <p:sp>
        <p:nvSpPr>
          <p:cNvPr id="52" name="Text 50"/>
          <p:cNvSpPr/>
          <p:nvPr/>
        </p:nvSpPr>
        <p:spPr>
          <a:xfrm>
            <a:off x="6263640" y="48280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$4.14M</a:t>
            </a:r>
            <a:endParaRPr lang="en-US" sz="1150" dirty="0"/>
          </a:p>
        </p:txBody>
      </p:sp>
      <p:sp>
        <p:nvSpPr>
          <p:cNvPr id="53" name="Text 51"/>
          <p:cNvSpPr/>
          <p:nvPr/>
        </p:nvSpPr>
        <p:spPr>
          <a:xfrm>
            <a:off x="7498080" y="48280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$8.75M</a:t>
            </a:r>
            <a:endParaRPr lang="en-US" sz="1150" dirty="0"/>
          </a:p>
        </p:txBody>
      </p:sp>
      <p:sp>
        <p:nvSpPr>
          <p:cNvPr id="54" name="Text 52"/>
          <p:cNvSpPr/>
          <p:nvPr/>
        </p:nvSpPr>
        <p:spPr>
          <a:xfrm>
            <a:off x="8732520" y="4828032"/>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$16.4M</a:t>
            </a:r>
            <a:endParaRPr lang="en-US" sz="1150" dirty="0"/>
          </a:p>
        </p:txBody>
      </p:sp>
      <p:sp>
        <p:nvSpPr>
          <p:cNvPr id="55" name="Text 53"/>
          <p:cNvSpPr/>
          <p:nvPr/>
        </p:nvSpPr>
        <p:spPr>
          <a:xfrm>
            <a:off x="640080" y="5212080"/>
            <a:ext cx="3017520" cy="347472"/>
          </a:xfrm>
          <a:prstGeom prst="rect">
            <a:avLst/>
          </a:prstGeom>
          <a:noFill/>
          <a:ln/>
        </p:spPr>
        <p:txBody>
          <a:bodyPr wrap="square" lIns="0" tIns="0" rIns="0" bIns="0" rtlCol="0" anchor="ctr"/>
          <a:lstStyle/>
          <a:p>
            <a:pPr indent="0" marL="0">
              <a:buNone/>
            </a:pPr>
            <a:r>
              <a:rPr lang="en-US" sz="1100" dirty="0">
                <a:solidFill>
                  <a:srgbClr val="4A4360"/>
                </a:solidFill>
                <a:latin typeface="Calibri" pitchFamily="34" charset="0"/>
                <a:ea typeface="Calibri" pitchFamily="34" charset="-122"/>
                <a:cs typeface="Calibri" pitchFamily="34" charset="-120"/>
              </a:rPr>
              <a:t>Operating cost</a:t>
            </a:r>
            <a:endParaRPr lang="en-US" sz="1100" dirty="0"/>
          </a:p>
        </p:txBody>
      </p:sp>
      <p:sp>
        <p:nvSpPr>
          <p:cNvPr id="56" name="Text 54"/>
          <p:cNvSpPr/>
          <p:nvPr/>
        </p:nvSpPr>
        <p:spPr>
          <a:xfrm>
            <a:off x="3794760" y="5212080"/>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$340k</a:t>
            </a:r>
            <a:endParaRPr lang="en-US" sz="1050" dirty="0"/>
          </a:p>
        </p:txBody>
      </p:sp>
      <p:sp>
        <p:nvSpPr>
          <p:cNvPr id="57" name="Text 55"/>
          <p:cNvSpPr/>
          <p:nvPr/>
        </p:nvSpPr>
        <p:spPr>
          <a:xfrm>
            <a:off x="5029200" y="5212080"/>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$1.32M</a:t>
            </a:r>
            <a:endParaRPr lang="en-US" sz="1050" dirty="0"/>
          </a:p>
        </p:txBody>
      </p:sp>
      <p:sp>
        <p:nvSpPr>
          <p:cNvPr id="58" name="Text 56"/>
          <p:cNvSpPr/>
          <p:nvPr/>
        </p:nvSpPr>
        <p:spPr>
          <a:xfrm>
            <a:off x="6263640" y="5212080"/>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$3.55M</a:t>
            </a:r>
            <a:endParaRPr lang="en-US" sz="1050" dirty="0"/>
          </a:p>
        </p:txBody>
      </p:sp>
      <p:sp>
        <p:nvSpPr>
          <p:cNvPr id="59" name="Text 57"/>
          <p:cNvSpPr/>
          <p:nvPr/>
        </p:nvSpPr>
        <p:spPr>
          <a:xfrm>
            <a:off x="7498080" y="5212080"/>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$6.90M</a:t>
            </a:r>
            <a:endParaRPr lang="en-US" sz="1050" dirty="0"/>
          </a:p>
        </p:txBody>
      </p:sp>
      <p:sp>
        <p:nvSpPr>
          <p:cNvPr id="60" name="Text 58"/>
          <p:cNvSpPr/>
          <p:nvPr/>
        </p:nvSpPr>
        <p:spPr>
          <a:xfrm>
            <a:off x="8732520" y="5212080"/>
            <a:ext cx="1188720" cy="347472"/>
          </a:xfrm>
          <a:prstGeom prst="rect">
            <a:avLst/>
          </a:prstGeom>
          <a:noFill/>
          <a:ln/>
        </p:spPr>
        <p:txBody>
          <a:bodyPr wrap="square" lIns="0" tIns="0" rIns="0" bIns="0" rtlCol="0" anchor="ctr"/>
          <a:lstStyle/>
          <a:p>
            <a:pPr algn="ctr" indent="0" marL="0">
              <a:buNone/>
            </a:pPr>
            <a:r>
              <a:rPr lang="en-US" sz="1050" dirty="0">
                <a:solidFill>
                  <a:srgbClr val="4A4360"/>
                </a:solidFill>
                <a:latin typeface="Calibri" pitchFamily="34" charset="0"/>
                <a:ea typeface="Calibri" pitchFamily="34" charset="-122"/>
                <a:cs typeface="Calibri" pitchFamily="34" charset="-120"/>
              </a:rPr>
              <a:t>$11.8M</a:t>
            </a:r>
            <a:endParaRPr lang="en-US" sz="1050" dirty="0"/>
          </a:p>
        </p:txBody>
      </p:sp>
      <p:sp>
        <p:nvSpPr>
          <p:cNvPr id="61" name="Text 59"/>
          <p:cNvSpPr/>
          <p:nvPr/>
        </p:nvSpPr>
        <p:spPr>
          <a:xfrm>
            <a:off x="640080" y="5596128"/>
            <a:ext cx="3017520" cy="347472"/>
          </a:xfrm>
          <a:prstGeom prst="rect">
            <a:avLst/>
          </a:prstGeom>
          <a:noFill/>
          <a:ln/>
        </p:spPr>
        <p:txBody>
          <a:bodyPr wrap="square" lIns="0" tIns="0" rIns="0" bIns="0" rtlCol="0" anchor="ctr"/>
          <a:lstStyle/>
          <a:p>
            <a:pPr indent="0" marL="0">
              <a:buNone/>
            </a:pPr>
            <a:r>
              <a:rPr lang="en-US" sz="1200" b="1" dirty="0">
                <a:solidFill>
                  <a:srgbClr val="241E33"/>
                </a:solidFill>
                <a:latin typeface="Cambria" pitchFamily="34" charset="0"/>
                <a:ea typeface="Cambria" pitchFamily="34" charset="-122"/>
                <a:cs typeface="Cambria" pitchFamily="34" charset="-120"/>
              </a:rPr>
              <a:t>EBITDA</a:t>
            </a:r>
            <a:endParaRPr lang="en-US" sz="1200" dirty="0"/>
          </a:p>
        </p:txBody>
      </p:sp>
      <p:sp>
        <p:nvSpPr>
          <p:cNvPr id="62" name="Text 60"/>
          <p:cNvSpPr/>
          <p:nvPr/>
        </p:nvSpPr>
        <p:spPr>
          <a:xfrm>
            <a:off x="3794760" y="5596128"/>
            <a:ext cx="1188720" cy="347472"/>
          </a:xfrm>
          <a:prstGeom prst="rect">
            <a:avLst/>
          </a:prstGeom>
          <a:noFill/>
          <a:ln/>
        </p:spPr>
        <p:txBody>
          <a:bodyPr wrap="square" lIns="0" tIns="0" rIns="0" bIns="0" rtlCol="0" anchor="ctr"/>
          <a:lstStyle/>
          <a:p>
            <a:pPr algn="ctr" indent="0" marL="0">
              <a:buNone/>
            </a:pPr>
            <a:r>
              <a:rPr lang="en-US" sz="1150" b="1" dirty="0">
                <a:solidFill>
                  <a:srgbClr val="C4453C"/>
                </a:solidFill>
                <a:latin typeface="Calibri" pitchFamily="34" charset="0"/>
                <a:ea typeface="Calibri" pitchFamily="34" charset="-122"/>
                <a:cs typeface="Calibri" pitchFamily="34" charset="-120"/>
              </a:rPr>
              <a:t>$-100k</a:t>
            </a:r>
            <a:endParaRPr lang="en-US" sz="1150" dirty="0"/>
          </a:p>
        </p:txBody>
      </p:sp>
      <p:sp>
        <p:nvSpPr>
          <p:cNvPr id="63" name="Text 61"/>
          <p:cNvSpPr/>
          <p:nvPr/>
        </p:nvSpPr>
        <p:spPr>
          <a:xfrm>
            <a:off x="5029200" y="5596128"/>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$24k</a:t>
            </a:r>
            <a:endParaRPr lang="en-US" sz="1150" dirty="0"/>
          </a:p>
        </p:txBody>
      </p:sp>
      <p:sp>
        <p:nvSpPr>
          <p:cNvPr id="64" name="Text 62"/>
          <p:cNvSpPr/>
          <p:nvPr/>
        </p:nvSpPr>
        <p:spPr>
          <a:xfrm>
            <a:off x="6263640" y="5596128"/>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$589k</a:t>
            </a:r>
            <a:endParaRPr lang="en-US" sz="1150" dirty="0"/>
          </a:p>
        </p:txBody>
      </p:sp>
      <p:sp>
        <p:nvSpPr>
          <p:cNvPr id="65" name="Text 63"/>
          <p:cNvSpPr/>
          <p:nvPr/>
        </p:nvSpPr>
        <p:spPr>
          <a:xfrm>
            <a:off x="7498080" y="5596128"/>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$1.85M</a:t>
            </a:r>
            <a:endParaRPr lang="en-US" sz="1150" dirty="0"/>
          </a:p>
        </p:txBody>
      </p:sp>
      <p:sp>
        <p:nvSpPr>
          <p:cNvPr id="66" name="Text 64"/>
          <p:cNvSpPr/>
          <p:nvPr/>
        </p:nvSpPr>
        <p:spPr>
          <a:xfrm>
            <a:off x="8732520" y="5596128"/>
            <a:ext cx="1188720" cy="347472"/>
          </a:xfrm>
          <a:prstGeom prst="rect">
            <a:avLst/>
          </a:prstGeom>
          <a:noFill/>
          <a:ln/>
        </p:spPr>
        <p:txBody>
          <a:bodyPr wrap="square" lIns="0" tIns="0" rIns="0" bIns="0" rtlCol="0" anchor="ctr"/>
          <a:lstStyle/>
          <a:p>
            <a:pPr algn="ctr" indent="0" marL="0">
              <a:buNone/>
            </a:pPr>
            <a:r>
              <a:rPr lang="en-US" sz="1150" b="1" dirty="0">
                <a:solidFill>
                  <a:srgbClr val="241E33"/>
                </a:solidFill>
                <a:latin typeface="Calibri" pitchFamily="34" charset="0"/>
                <a:ea typeface="Calibri" pitchFamily="34" charset="-122"/>
                <a:cs typeface="Calibri" pitchFamily="34" charset="-120"/>
              </a:rPr>
              <a:t>$4.52M</a:t>
            </a:r>
            <a:endParaRPr lang="en-US" sz="1150" dirty="0"/>
          </a:p>
        </p:txBody>
      </p:sp>
      <p:sp>
        <p:nvSpPr>
          <p:cNvPr id="67" name="Shape 65"/>
          <p:cNvSpPr/>
          <p:nvPr/>
        </p:nvSpPr>
        <p:spPr>
          <a:xfrm>
            <a:off x="10104120" y="1975104"/>
            <a:ext cx="1207008" cy="4023360"/>
          </a:xfrm>
          <a:prstGeom prst="roundRect">
            <a:avLst>
              <a:gd name="adj" fmla="val 9091"/>
            </a:avLst>
          </a:prstGeom>
          <a:solidFill>
            <a:srgbClr val="EFEBF8"/>
          </a:solidFill>
          <a:ln/>
        </p:spPr>
      </p:sp>
      <p:sp>
        <p:nvSpPr>
          <p:cNvPr id="68" name="Text 66"/>
          <p:cNvSpPr/>
          <p:nvPr/>
        </p:nvSpPr>
        <p:spPr>
          <a:xfrm>
            <a:off x="10104120" y="2121408"/>
            <a:ext cx="1207008" cy="640080"/>
          </a:xfrm>
          <a:prstGeom prst="rect">
            <a:avLst/>
          </a:prstGeom>
          <a:noFill/>
          <a:ln/>
        </p:spPr>
        <p:txBody>
          <a:bodyPr wrap="square" lIns="0" tIns="0" rIns="0" bIns="0" rtlCol="0" anchor="ctr"/>
          <a:lstStyle/>
          <a:p>
            <a:pPr algn="ctr" indent="0" marL="0">
              <a:lnSpc>
                <a:spcPts val="1100"/>
              </a:lnSpc>
              <a:buNone/>
            </a:pPr>
            <a:r>
              <a:rPr lang="en-US" sz="850" b="1" dirty="0">
                <a:solidFill>
                  <a:srgbClr val="7A7291"/>
                </a:solidFill>
                <a:latin typeface="Calibri" pitchFamily="34" charset="0"/>
                <a:ea typeface="Calibri" pitchFamily="34" charset="-122"/>
                <a:cs typeface="Calibri" pitchFamily="34" charset="-120"/>
              </a:rPr>
              <a:t>Y5</a:t>
            </a:r>
            <a:endParaRPr lang="en-US" sz="850" dirty="0"/>
          </a:p>
          <a:p>
            <a:pPr algn="ctr" indent="0" marL="0">
              <a:lnSpc>
                <a:spcPts val="1100"/>
              </a:lnSpc>
              <a:buNone/>
            </a:pPr>
            <a:r>
              <a:rPr lang="en-US" sz="850" b="1" dirty="0">
                <a:solidFill>
                  <a:srgbClr val="7A7291"/>
                </a:solidFill>
                <a:latin typeface="Calibri" pitchFamily="34" charset="0"/>
                <a:ea typeface="Calibri" pitchFamily="34" charset="-122"/>
                <a:cs typeface="Calibri" pitchFamily="34" charset="-120"/>
              </a:rPr>
              <a:t>EBITDA</a:t>
            </a:r>
            <a:endParaRPr lang="en-US" sz="850" dirty="0"/>
          </a:p>
          <a:p>
            <a:pPr algn="ctr" indent="0" marL="0">
              <a:lnSpc>
                <a:spcPts val="1100"/>
              </a:lnSpc>
              <a:buNone/>
            </a:pPr>
            <a:r>
              <a:rPr lang="en-US" sz="850" b="1" dirty="0">
                <a:solidFill>
                  <a:srgbClr val="7A7291"/>
                </a:solidFill>
                <a:latin typeface="Calibri" pitchFamily="34" charset="0"/>
                <a:ea typeface="Calibri" pitchFamily="34" charset="-122"/>
                <a:cs typeface="Calibri" pitchFamily="34" charset="-120"/>
              </a:rPr>
              <a:t>MARGIN</a:t>
            </a:r>
            <a:endParaRPr lang="en-US" sz="850" dirty="0"/>
          </a:p>
        </p:txBody>
      </p:sp>
      <p:sp>
        <p:nvSpPr>
          <p:cNvPr id="69" name="Text 67"/>
          <p:cNvSpPr/>
          <p:nvPr/>
        </p:nvSpPr>
        <p:spPr>
          <a:xfrm>
            <a:off x="10104120" y="3108960"/>
            <a:ext cx="1207008" cy="457200"/>
          </a:xfrm>
          <a:prstGeom prst="rect">
            <a:avLst/>
          </a:prstGeom>
          <a:noFill/>
          <a:ln/>
        </p:spPr>
        <p:txBody>
          <a:bodyPr wrap="square" lIns="0" tIns="0" rIns="0" bIns="0" rtlCol="0" anchor="ctr"/>
          <a:lstStyle/>
          <a:p>
            <a:pPr algn="ctr" indent="0" marL="0">
              <a:buNone/>
            </a:pPr>
            <a:r>
              <a:rPr lang="en-US" sz="2400" b="1" dirty="0">
                <a:solidFill>
                  <a:srgbClr val="6C4FE0"/>
                </a:solidFill>
                <a:latin typeface="Cambria" pitchFamily="34" charset="0"/>
                <a:ea typeface="Cambria" pitchFamily="34" charset="-122"/>
                <a:cs typeface="Cambria" pitchFamily="34" charset="-120"/>
              </a:rPr>
              <a:t>25%</a:t>
            </a:r>
            <a:endParaRPr lang="en-US" sz="2400" dirty="0"/>
          </a:p>
        </p:txBody>
      </p:sp>
      <p:sp>
        <p:nvSpPr>
          <p:cNvPr id="70" name="Text 68"/>
          <p:cNvSpPr/>
          <p:nvPr/>
        </p:nvSpPr>
        <p:spPr>
          <a:xfrm>
            <a:off x="10104120" y="3529584"/>
            <a:ext cx="1207008" cy="237744"/>
          </a:xfrm>
          <a:prstGeom prst="rect">
            <a:avLst/>
          </a:prstGeom>
          <a:noFill/>
          <a:ln/>
        </p:spPr>
        <p:txBody>
          <a:bodyPr wrap="square" lIns="0" tIns="0" rIns="0" bIns="0" rtlCol="0" anchor="ctr"/>
          <a:lstStyle/>
          <a:p>
            <a:pPr algn="ctr" indent="0" marL="0">
              <a:buNone/>
            </a:pPr>
            <a:r>
              <a:rPr lang="en-US" sz="900" dirty="0">
                <a:solidFill>
                  <a:srgbClr val="7A7291"/>
                </a:solidFill>
                <a:latin typeface="Calibri" pitchFamily="34" charset="0"/>
                <a:ea typeface="Calibri" pitchFamily="34" charset="-122"/>
                <a:cs typeface="Calibri" pitchFamily="34" charset="-120"/>
              </a:rPr>
              <a:t>base</a:t>
            </a:r>
            <a:endParaRPr lang="en-US" sz="900" dirty="0"/>
          </a:p>
        </p:txBody>
      </p:sp>
      <p:sp>
        <p:nvSpPr>
          <p:cNvPr id="71" name="Text 69"/>
          <p:cNvSpPr/>
          <p:nvPr/>
        </p:nvSpPr>
        <p:spPr>
          <a:xfrm>
            <a:off x="10104120" y="4617720"/>
            <a:ext cx="1207008" cy="457200"/>
          </a:xfrm>
          <a:prstGeom prst="rect">
            <a:avLst/>
          </a:prstGeom>
          <a:noFill/>
          <a:ln/>
        </p:spPr>
        <p:txBody>
          <a:bodyPr wrap="square" lIns="0" tIns="0" rIns="0" bIns="0" rtlCol="0" anchor="ctr"/>
          <a:lstStyle/>
          <a:p>
            <a:pPr algn="ctr" indent="0" marL="0">
              <a:buNone/>
            </a:pPr>
            <a:r>
              <a:rPr lang="en-US" sz="2400" b="1" dirty="0">
                <a:solidFill>
                  <a:srgbClr val="178A4C"/>
                </a:solidFill>
                <a:latin typeface="Cambria" pitchFamily="34" charset="0"/>
                <a:ea typeface="Cambria" pitchFamily="34" charset="-122"/>
                <a:cs typeface="Cambria" pitchFamily="34" charset="-120"/>
              </a:rPr>
              <a:t>28%</a:t>
            </a:r>
            <a:endParaRPr lang="en-US" sz="2400" dirty="0"/>
          </a:p>
        </p:txBody>
      </p:sp>
      <p:sp>
        <p:nvSpPr>
          <p:cNvPr id="72" name="Text 70"/>
          <p:cNvSpPr/>
          <p:nvPr/>
        </p:nvSpPr>
        <p:spPr>
          <a:xfrm>
            <a:off x="10104120" y="5038344"/>
            <a:ext cx="1207008" cy="237744"/>
          </a:xfrm>
          <a:prstGeom prst="rect">
            <a:avLst/>
          </a:prstGeom>
          <a:noFill/>
          <a:ln/>
        </p:spPr>
        <p:txBody>
          <a:bodyPr wrap="square" lIns="0" tIns="0" rIns="0" bIns="0" rtlCol="0" anchor="ctr"/>
          <a:lstStyle/>
          <a:p>
            <a:pPr algn="ctr" indent="0" marL="0">
              <a:buNone/>
            </a:pPr>
            <a:r>
              <a:rPr lang="en-US" sz="900" dirty="0">
                <a:solidFill>
                  <a:srgbClr val="7A7291"/>
                </a:solidFill>
                <a:latin typeface="Calibri" pitchFamily="34" charset="0"/>
                <a:ea typeface="Calibri" pitchFamily="34" charset="-122"/>
                <a:cs typeface="Calibri" pitchFamily="34" charset="-120"/>
              </a:rPr>
              <a:t>aggressive</a:t>
            </a:r>
            <a:endParaRPr lang="en-US" sz="900" dirty="0"/>
          </a:p>
        </p:txBody>
      </p:sp>
      <p:sp>
        <p:nvSpPr>
          <p:cNvPr id="73" name="Shape 71"/>
          <p:cNvSpPr/>
          <p:nvPr/>
        </p:nvSpPr>
        <p:spPr>
          <a:xfrm>
            <a:off x="640080" y="6108192"/>
            <a:ext cx="10607040" cy="621792"/>
          </a:xfrm>
          <a:prstGeom prst="roundRect">
            <a:avLst>
              <a:gd name="adj" fmla="val 17647"/>
            </a:avLst>
          </a:prstGeom>
          <a:solidFill>
            <a:srgbClr val="FBF3E0"/>
          </a:solidFill>
          <a:ln/>
        </p:spPr>
      </p:sp>
      <p:sp>
        <p:nvSpPr>
          <p:cNvPr id="74" name="Text 72"/>
          <p:cNvSpPr/>
          <p:nvPr/>
        </p:nvSpPr>
        <p:spPr>
          <a:xfrm>
            <a:off x="914400" y="6108192"/>
            <a:ext cx="10058400" cy="621792"/>
          </a:xfrm>
          <a:prstGeom prst="rect">
            <a:avLst/>
          </a:prstGeom>
          <a:noFill/>
          <a:ln/>
        </p:spPr>
        <p:txBody>
          <a:bodyPr wrap="square" lIns="0" tIns="0" rIns="0" bIns="0" rtlCol="0" anchor="ctr"/>
          <a:lstStyle/>
          <a:p>
            <a:pPr indent="0" marL="0">
              <a:lnSpc>
                <a:spcPts val="1200"/>
              </a:lnSpc>
              <a:buNone/>
            </a:pPr>
            <a:r>
              <a:rPr lang="en-US" sz="950" b="1" dirty="0">
                <a:solidFill>
                  <a:srgbClr val="8A5B00"/>
                </a:solidFill>
                <a:latin typeface="Calibri" pitchFamily="34" charset="0"/>
                <a:ea typeface="Calibri" pitchFamily="34" charset="-122"/>
                <a:cs typeface="Calibri" pitchFamily="34" charset="-120"/>
              </a:rPr>
              <a:t>Assumptions:  </a:t>
            </a:r>
            <a:pPr indent="0" marL="0">
              <a:lnSpc>
                <a:spcPts val="1200"/>
              </a:lnSpc>
              <a:buNone/>
            </a:pPr>
            <a:r>
              <a:rPr lang="en-US" sz="950" dirty="0">
                <a:solidFill>
                  <a:srgbClr val="8A5B00"/>
                </a:solidFill>
                <a:latin typeface="Calibri" pitchFamily="34" charset="0"/>
                <a:ea typeface="Calibri" pitchFamily="34" charset="-122"/>
                <a:cs typeface="Calibri" pitchFamily="34" charset="-120"/>
              </a:rPr>
              <a:t>ARPU $95 diaspora / $18 India · CAC $22 diaspora, $4 India · annual churn 30% · cohort price $549 at 50% delivery cost · physical COGS 55% · founders unpaid to Y2, ~8–10 people by Y5 · India starts Y2 · cohorts start Y3. Break-even in Year 2 in both cases, which is the single most fragile claim here — it assumes paid media stays disciplined while the YouTube channel does the top-of-funnel work.</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241E33"/>
        </a:solidFill>
      </p:bgPr>
    </p:bg>
    <p:spTree>
      <p:nvGrpSpPr>
        <p:cNvPr id="1" name=""/>
        <p:cNvGrpSpPr/>
        <p:nvPr/>
      </p:nvGrpSpPr>
      <p:grpSpPr>
        <a:xfrm>
          <a:off x="0" y="0"/>
          <a:ext cx="0" cy="0"/>
          <a:chOff x="0" y="0"/>
          <a:chExt cx="0" cy="0"/>
        </a:xfrm>
      </p:grpSpPr>
      <p:sp>
        <p:nvSpPr>
          <p:cNvPr id="2" name="Shape 0"/>
          <p:cNvSpPr/>
          <p:nvPr/>
        </p:nvSpPr>
        <p:spPr>
          <a:xfrm rot="5400000">
            <a:off x="9006840" y="4069080"/>
            <a:ext cx="731520" cy="731520"/>
          </a:xfrm>
          <a:prstGeom prst="hexagon">
            <a:avLst/>
          </a:prstGeom>
          <a:solidFill>
            <a:srgbClr val="F0B429">
              <a:alpha val="18000"/>
            </a:srgbClr>
          </a:solidFill>
          <a:ln/>
        </p:spPr>
      </p:sp>
      <p:sp>
        <p:nvSpPr>
          <p:cNvPr id="3" name="Shape 1"/>
          <p:cNvSpPr/>
          <p:nvPr/>
        </p:nvSpPr>
        <p:spPr>
          <a:xfrm rot="5400000">
            <a:off x="9921240" y="4069080"/>
            <a:ext cx="731520" cy="731520"/>
          </a:xfrm>
          <a:prstGeom prst="hexagon">
            <a:avLst/>
          </a:prstGeom>
          <a:solidFill>
            <a:srgbClr val="F0B429">
              <a:alpha val="18000"/>
            </a:srgbClr>
          </a:solidFill>
          <a:ln/>
        </p:spPr>
      </p:sp>
      <p:sp>
        <p:nvSpPr>
          <p:cNvPr id="4" name="Shape 2"/>
          <p:cNvSpPr/>
          <p:nvPr/>
        </p:nvSpPr>
        <p:spPr>
          <a:xfrm rot="5400000">
            <a:off x="10835640" y="4069080"/>
            <a:ext cx="731520" cy="731520"/>
          </a:xfrm>
          <a:prstGeom prst="hexagon">
            <a:avLst/>
          </a:prstGeom>
          <a:solidFill>
            <a:srgbClr val="F0B429">
              <a:alpha val="18000"/>
            </a:srgbClr>
          </a:solidFill>
          <a:ln/>
        </p:spPr>
      </p:sp>
      <p:sp>
        <p:nvSpPr>
          <p:cNvPr id="5" name="Shape 3"/>
          <p:cNvSpPr/>
          <p:nvPr/>
        </p:nvSpPr>
        <p:spPr>
          <a:xfrm rot="5400000">
            <a:off x="9464040" y="4855464"/>
            <a:ext cx="731520" cy="731520"/>
          </a:xfrm>
          <a:prstGeom prst="hexagon">
            <a:avLst/>
          </a:prstGeom>
          <a:solidFill>
            <a:srgbClr val="F0B429">
              <a:alpha val="18000"/>
            </a:srgbClr>
          </a:solidFill>
          <a:ln/>
        </p:spPr>
      </p:sp>
      <p:sp>
        <p:nvSpPr>
          <p:cNvPr id="6" name="Shape 4"/>
          <p:cNvSpPr/>
          <p:nvPr/>
        </p:nvSpPr>
        <p:spPr>
          <a:xfrm rot="5400000">
            <a:off x="10378440" y="4855464"/>
            <a:ext cx="731520" cy="731520"/>
          </a:xfrm>
          <a:prstGeom prst="hexagon">
            <a:avLst/>
          </a:prstGeom>
          <a:solidFill>
            <a:srgbClr val="F0B429">
              <a:alpha val="18000"/>
            </a:srgbClr>
          </a:solidFill>
          <a:ln/>
        </p:spPr>
      </p:sp>
      <p:sp>
        <p:nvSpPr>
          <p:cNvPr id="7" name="Shape 5"/>
          <p:cNvSpPr/>
          <p:nvPr/>
        </p:nvSpPr>
        <p:spPr>
          <a:xfrm rot="5400000">
            <a:off x="11292840" y="4855464"/>
            <a:ext cx="731520" cy="731520"/>
          </a:xfrm>
          <a:prstGeom prst="hexagon">
            <a:avLst/>
          </a:prstGeom>
          <a:solidFill>
            <a:srgbClr val="F0B429">
              <a:alpha val="18000"/>
            </a:srgbClr>
          </a:solidFill>
          <a:ln/>
        </p:spPr>
      </p:sp>
      <p:sp>
        <p:nvSpPr>
          <p:cNvPr id="8" name="Text 6"/>
          <p:cNvSpPr/>
          <p:nvPr/>
        </p:nvSpPr>
        <p:spPr>
          <a:xfrm>
            <a:off x="640080" y="685800"/>
            <a:ext cx="7315200" cy="292608"/>
          </a:xfrm>
          <a:prstGeom prst="rect">
            <a:avLst/>
          </a:prstGeom>
          <a:noFill/>
          <a:ln/>
        </p:spPr>
        <p:txBody>
          <a:bodyPr wrap="square" lIns="0" tIns="0" rIns="0" bIns="0" rtlCol="0" anchor="ctr"/>
          <a:lstStyle/>
          <a:p>
            <a:pPr indent="0" marL="0">
              <a:buNone/>
            </a:pPr>
            <a:r>
              <a:rPr lang="en-US" sz="1200" b="1" spc="300" kern="0" dirty="0">
                <a:solidFill>
                  <a:srgbClr val="F0B429"/>
                </a:solidFill>
                <a:latin typeface="Calibri" pitchFamily="34" charset="0"/>
                <a:ea typeface="Calibri" pitchFamily="34" charset="-122"/>
                <a:cs typeface="Calibri" pitchFamily="34" charset="-120"/>
              </a:rPr>
              <a:t>WHAT WE DECIDE NEXT</a:t>
            </a:r>
            <a:endParaRPr lang="en-US" sz="1200" dirty="0"/>
          </a:p>
        </p:txBody>
      </p:sp>
      <p:sp>
        <p:nvSpPr>
          <p:cNvPr id="9" name="Text 7"/>
          <p:cNvSpPr/>
          <p:nvPr/>
        </p:nvSpPr>
        <p:spPr>
          <a:xfrm>
            <a:off x="640080" y="1051560"/>
            <a:ext cx="10607040" cy="6858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Four open questions, in the order they block work.</a:t>
            </a:r>
            <a:endParaRPr lang="en-US" sz="2900" dirty="0"/>
          </a:p>
        </p:txBody>
      </p:sp>
      <p:sp>
        <p:nvSpPr>
          <p:cNvPr id="10" name="Shape 8"/>
          <p:cNvSpPr/>
          <p:nvPr/>
        </p:nvSpPr>
        <p:spPr>
          <a:xfrm rot="5400000">
            <a:off x="640080" y="2084832"/>
            <a:ext cx="384048" cy="384048"/>
          </a:xfrm>
          <a:prstGeom prst="hexagon">
            <a:avLst/>
          </a:prstGeom>
          <a:solidFill>
            <a:srgbClr val="F0B429"/>
          </a:solidFill>
          <a:ln/>
        </p:spPr>
      </p:sp>
      <p:sp>
        <p:nvSpPr>
          <p:cNvPr id="11" name="Text 9"/>
          <p:cNvSpPr/>
          <p:nvPr/>
        </p:nvSpPr>
        <p:spPr>
          <a:xfrm>
            <a:off x="640080" y="2084832"/>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1</a:t>
            </a:r>
            <a:endParaRPr lang="en-US" sz="1300" dirty="0"/>
          </a:p>
        </p:txBody>
      </p:sp>
      <p:sp>
        <p:nvSpPr>
          <p:cNvPr id="12" name="Text 10"/>
          <p:cNvSpPr/>
          <p:nvPr/>
        </p:nvSpPr>
        <p:spPr>
          <a:xfrm>
            <a:off x="1207008" y="2011680"/>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Brand axis</a:t>
            </a:r>
            <a:endParaRPr lang="en-US" sz="1600" dirty="0"/>
          </a:p>
        </p:txBody>
      </p:sp>
      <p:sp>
        <p:nvSpPr>
          <p:cNvPr id="13" name="Text 11"/>
          <p:cNvSpPr/>
          <p:nvPr/>
        </p:nvSpPr>
        <p:spPr>
          <a:xfrm>
            <a:off x="3657600" y="2011680"/>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Are the sub-brands subjects or geographies? Everything downstream — domains, marks, roadmap naming — waits on this.</a:t>
            </a:r>
            <a:endParaRPr lang="en-US" sz="1250" dirty="0"/>
          </a:p>
        </p:txBody>
      </p:sp>
      <p:sp>
        <p:nvSpPr>
          <p:cNvPr id="14" name="Shape 12"/>
          <p:cNvSpPr/>
          <p:nvPr/>
        </p:nvSpPr>
        <p:spPr>
          <a:xfrm rot="5400000">
            <a:off x="640080" y="3054096"/>
            <a:ext cx="384048" cy="384048"/>
          </a:xfrm>
          <a:prstGeom prst="hexagon">
            <a:avLst/>
          </a:prstGeom>
          <a:solidFill>
            <a:srgbClr val="F0B429"/>
          </a:solidFill>
          <a:ln/>
        </p:spPr>
      </p:sp>
      <p:sp>
        <p:nvSpPr>
          <p:cNvPr id="15" name="Text 13"/>
          <p:cNvSpPr/>
          <p:nvPr/>
        </p:nvSpPr>
        <p:spPr>
          <a:xfrm>
            <a:off x="640080" y="3054096"/>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2</a:t>
            </a:r>
            <a:endParaRPr lang="en-US" sz="1300" dirty="0"/>
          </a:p>
        </p:txBody>
      </p:sp>
      <p:sp>
        <p:nvSpPr>
          <p:cNvPr id="16" name="Text 14"/>
          <p:cNvSpPr/>
          <p:nvPr/>
        </p:nvSpPr>
        <p:spPr>
          <a:xfrm>
            <a:off x="1207008" y="2980944"/>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Second product</a:t>
            </a:r>
            <a:endParaRPr lang="en-US" sz="1600" dirty="0"/>
          </a:p>
        </p:txBody>
      </p:sp>
      <p:sp>
        <p:nvSpPr>
          <p:cNvPr id="17" name="Text 15"/>
          <p:cNvSpPr/>
          <p:nvPr/>
        </p:nvSpPr>
        <p:spPr>
          <a:xfrm>
            <a:off x="3657600" y="2980944"/>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Bizzing Eleven is the fastest to ship because the engine already does it. Bizzing Bhasha is the more valuable business. Which first?</a:t>
            </a:r>
            <a:endParaRPr lang="en-US" sz="1250" dirty="0"/>
          </a:p>
        </p:txBody>
      </p:sp>
      <p:sp>
        <p:nvSpPr>
          <p:cNvPr id="18" name="Shape 16"/>
          <p:cNvSpPr/>
          <p:nvPr/>
        </p:nvSpPr>
        <p:spPr>
          <a:xfrm rot="5400000">
            <a:off x="640080" y="4023360"/>
            <a:ext cx="384048" cy="384048"/>
          </a:xfrm>
          <a:prstGeom prst="hexagon">
            <a:avLst/>
          </a:prstGeom>
          <a:solidFill>
            <a:srgbClr val="F0B429"/>
          </a:solidFill>
          <a:ln/>
        </p:spPr>
      </p:sp>
      <p:sp>
        <p:nvSpPr>
          <p:cNvPr id="19" name="Text 17"/>
          <p:cNvSpPr/>
          <p:nvPr/>
        </p:nvSpPr>
        <p:spPr>
          <a:xfrm>
            <a:off x="640080" y="4023360"/>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3</a:t>
            </a:r>
            <a:endParaRPr lang="en-US" sz="1300" dirty="0"/>
          </a:p>
        </p:txBody>
      </p:sp>
      <p:sp>
        <p:nvSpPr>
          <p:cNvPr id="20" name="Text 18"/>
          <p:cNvSpPr/>
          <p:nvPr/>
        </p:nvSpPr>
        <p:spPr>
          <a:xfrm>
            <a:off x="1207008" y="3950208"/>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Monetisation shape</a:t>
            </a:r>
            <a:endParaRPr lang="en-US" sz="1600" dirty="0"/>
          </a:p>
        </p:txBody>
      </p:sp>
      <p:sp>
        <p:nvSpPr>
          <p:cNvPr id="21" name="Text 19"/>
          <p:cNvSpPr/>
          <p:nvPr/>
        </p:nvSpPr>
        <p:spPr>
          <a:xfrm>
            <a:off x="3657600" y="3950208"/>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One subscription across the house, or a price per product? Decide before the second product exists, not after.</a:t>
            </a:r>
            <a:endParaRPr lang="en-US" sz="1250" dirty="0"/>
          </a:p>
        </p:txBody>
      </p:sp>
      <p:sp>
        <p:nvSpPr>
          <p:cNvPr id="22" name="Shape 20"/>
          <p:cNvSpPr/>
          <p:nvPr/>
        </p:nvSpPr>
        <p:spPr>
          <a:xfrm rot="5400000">
            <a:off x="640080" y="4992624"/>
            <a:ext cx="384048" cy="384048"/>
          </a:xfrm>
          <a:prstGeom prst="hexagon">
            <a:avLst/>
          </a:prstGeom>
          <a:solidFill>
            <a:srgbClr val="F0B429"/>
          </a:solidFill>
          <a:ln/>
        </p:spPr>
      </p:sp>
      <p:sp>
        <p:nvSpPr>
          <p:cNvPr id="23" name="Text 21"/>
          <p:cNvSpPr/>
          <p:nvPr/>
        </p:nvSpPr>
        <p:spPr>
          <a:xfrm>
            <a:off x="640080" y="4992624"/>
            <a:ext cx="384048" cy="384048"/>
          </a:xfrm>
          <a:prstGeom prst="rect">
            <a:avLst/>
          </a:prstGeom>
          <a:noFill/>
          <a:ln/>
        </p:spPr>
        <p:txBody>
          <a:bodyPr wrap="square" lIns="0" tIns="0" rIns="0" bIns="0" rtlCol="0" anchor="ctr"/>
          <a:lstStyle/>
          <a:p>
            <a:pPr algn="ctr" indent="0" marL="0">
              <a:buNone/>
            </a:pPr>
            <a:r>
              <a:rPr lang="en-US" sz="1300" b="1" dirty="0">
                <a:solidFill>
                  <a:srgbClr val="241E33"/>
                </a:solidFill>
                <a:latin typeface="Cambria" pitchFamily="34" charset="0"/>
                <a:ea typeface="Cambria" pitchFamily="34" charset="-122"/>
                <a:cs typeface="Cambria" pitchFamily="34" charset="-120"/>
              </a:rPr>
              <a:t>4</a:t>
            </a:r>
            <a:endParaRPr lang="en-US" sz="1300" dirty="0"/>
          </a:p>
        </p:txBody>
      </p:sp>
      <p:sp>
        <p:nvSpPr>
          <p:cNvPr id="24" name="Text 22"/>
          <p:cNvSpPr/>
          <p:nvPr/>
        </p:nvSpPr>
        <p:spPr>
          <a:xfrm>
            <a:off x="1207008" y="4919472"/>
            <a:ext cx="2377440" cy="38404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Entity &amp; filings</a:t>
            </a:r>
            <a:endParaRPr lang="en-US" sz="1600" dirty="0"/>
          </a:p>
        </p:txBody>
      </p:sp>
      <p:sp>
        <p:nvSpPr>
          <p:cNvPr id="25" name="Text 23"/>
          <p:cNvSpPr/>
          <p:nvPr/>
        </p:nvSpPr>
        <p:spPr>
          <a:xfrm>
            <a:off x="3657600" y="4919472"/>
            <a:ext cx="7863840" cy="658368"/>
          </a:xfrm>
          <a:prstGeom prst="rect">
            <a:avLst/>
          </a:prstGeom>
          <a:noFill/>
          <a:ln/>
        </p:spPr>
        <p:txBody>
          <a:bodyPr wrap="square" lIns="0" tIns="0" rIns="0" bIns="0" rtlCol="0" anchor="ctr"/>
          <a:lstStyle/>
          <a:p>
            <a:pPr indent="0" marL="0">
              <a:lnSpc>
                <a:spcPts val="1700"/>
              </a:lnSpc>
              <a:buNone/>
            </a:pPr>
            <a:r>
              <a:rPr lang="en-US" sz="1250" dirty="0">
                <a:solidFill>
                  <a:srgbClr val="E3DCF2"/>
                </a:solidFill>
                <a:latin typeface="Calibri" pitchFamily="34" charset="0"/>
                <a:ea typeface="Calibri" pitchFamily="34" charset="-122"/>
                <a:cs typeface="Calibri" pitchFamily="34" charset="-120"/>
              </a:rPr>
              <a:t>LLC, trademark filings, and the child-performer question before any paid appearance by the CKO.</a:t>
            </a:r>
            <a:endParaRPr lang="en-US" sz="1250" dirty="0"/>
          </a:p>
        </p:txBody>
      </p:sp>
      <p:sp>
        <p:nvSpPr>
          <p:cNvPr id="26" name="Text 24"/>
          <p:cNvSpPr/>
          <p:nvPr/>
        </p:nvSpPr>
        <p:spPr>
          <a:xfrm>
            <a:off x="640080" y="6035040"/>
            <a:ext cx="5486400" cy="274320"/>
          </a:xfrm>
          <a:prstGeom prst="rect">
            <a:avLst/>
          </a:prstGeom>
          <a:noFill/>
          <a:ln/>
        </p:spPr>
        <p:txBody>
          <a:bodyPr wrap="square" lIns="0" tIns="0" rIns="0" bIns="0" rtlCol="0" anchor="ctr"/>
          <a:lstStyle/>
          <a:p>
            <a:pPr indent="0" marL="0">
              <a:buNone/>
            </a:pPr>
            <a:r>
              <a:rPr lang="en-US" sz="1100" dirty="0">
                <a:solidFill>
                  <a:srgbClr val="7A7291"/>
                </a:solidFill>
                <a:latin typeface="Calibri" pitchFamily="34" charset="0"/>
                <a:ea typeface="Calibri" pitchFamily="34" charset="-122"/>
                <a:cs typeface="Calibri" pitchFamily="34" charset="-120"/>
              </a:rPr>
              <a:t>Bizzing · bizzingbee.com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Bizzing — Vision, Strategy &amp; Organisation</dc:title>
  <dc:subject>PptxGenJS Presentation</dc:subject>
  <dc:creator>Bizzing</dc:creator>
  <cp:lastModifiedBy>Bizzing</cp:lastModifiedBy>
  <cp:revision>1</cp:revision>
  <dcterms:created xsi:type="dcterms:W3CDTF">2026-08-23T01:24:54Z</dcterms:created>
  <dcterms:modified xsi:type="dcterms:W3CDTF">2026-08-23T01:24:54Z</dcterms:modified>
</cp:coreProperties>
</file>