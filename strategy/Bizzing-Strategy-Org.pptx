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Bizzing is the parent brand. Bizzing Bee is the first product, not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 is deliberately about the child at 25, not the child at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culture hook -&gt; paid language pack is the freemium spine. Culture is shareable; language is deep and worth paying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prices, splits or targets anywhere — those are the CMO’s to set. This slide fixes what the streams are and the order they switch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8092440" y="56692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9235440" y="56692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5400000">
            <a:off x="10378440" y="56692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8663940" y="154990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9806940" y="154990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0949940" y="154990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5400000">
            <a:off x="8092440" y="253288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5400000">
            <a:off x="9235440" y="253288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10378440" y="253288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8288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</a:t>
            </a:r>
            <a:endParaRPr lang="en-US" sz="7600" dirty="0"/>
          </a:p>
        </p:txBody>
      </p:sp>
      <p:sp>
        <p:nvSpPr>
          <p:cNvPr id="12" name="Text 10"/>
          <p:cNvSpPr/>
          <p:nvPr/>
        </p:nvSpPr>
        <p:spPr>
          <a:xfrm>
            <a:off x="640080" y="3063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 learning for the children of the diaspora.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· Strategy · Roadmap · Money · Marketing · Content · Team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2926080" cy="0"/>
          </a:xfrm>
          <a:prstGeom prst="line">
            <a:avLst/>
          </a:prstGeom>
          <a:noFill/>
          <a:ln w="31750">
            <a:solidFill>
              <a:srgbClr val="6C4F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team · AI-first operating model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POINT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moved countries so their child could compete.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Bizzing builds answers a worry that parent already has.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10712" cy="2743200"/>
          </a:xfrm>
          <a:prstGeom prst="roundRect">
            <a:avLst>
              <a:gd name="adj" fmla="val 466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5400000">
            <a:off x="914400" y="2395728"/>
            <a:ext cx="457200" cy="457200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0175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school is not enough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parents rarely believe the local curriculum is preparing their child for the contests, tests and admissions that actually decide outcomes.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2148840"/>
            <a:ext cx="3410712" cy="2743200"/>
          </a:xfrm>
          <a:prstGeom prst="roundRect">
            <a:avLst>
              <a:gd name="adj" fmla="val 466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 rot="5400000">
            <a:off x="4599432" y="2395728"/>
            <a:ext cx="457200" cy="457200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30175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child is between two worlds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99432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to win at an adopted country’s competitions, and to keep a language and culture that country does not teach.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10144" y="2148840"/>
            <a:ext cx="3410712" cy="2743200"/>
          </a:xfrm>
          <a:prstGeom prst="roundRect">
            <a:avLst>
              <a:gd name="adj" fmla="val 466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 rot="5400000">
            <a:off x="8284464" y="2395728"/>
            <a:ext cx="457200" cy="457200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5" name="Text 13"/>
          <p:cNvSpPr/>
          <p:nvPr/>
        </p:nvSpPr>
        <p:spPr>
          <a:xfrm>
            <a:off x="8284464" y="30175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alternatives are poor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84464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Photocopied worksheets, tutors at $60–100 an hour, or apps built for a general audience that do not understand this family at all.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5212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worry is large, permanent, and currently served badly. It is the whole opportunity.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182880" y="4343400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1280160" y="4343400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5400000">
            <a:off x="2377440" y="4343400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731520" y="5287061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1828800" y="5287061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2926080" y="5287061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9692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of the diaspora walks into any room in the world already equipped to belong in it.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40080" y="393192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well at school". Equipped — with the words, the numbers and the nerve to compete anywhere, and the language and history to know where they came from.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ABOUT IT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607040" cy="1234440"/>
          </a:xfrm>
          <a:prstGeom prst="roundRect">
            <a:avLst>
              <a:gd name="adj" fmla="val 1037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16002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give diaspora families world-class competitive learning — starting with words — in products children actually want to open.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 rot="5400000">
            <a:off x="640080" y="3035808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Competitive, not remedial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prepare children to win things, not to catch up. That is the register the parent is already in.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4325112" y="3035808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325112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25112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this family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325112" y="407822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Heritage, language and diaspora context are first-class, not a localisation afterthought.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rot="5400000">
            <a:off x="8010144" y="3035808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5" name="Text 13"/>
          <p:cNvSpPr/>
          <p:nvPr/>
        </p:nvSpPr>
        <p:spPr>
          <a:xfrm>
            <a:off x="8010144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10144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 enough to open unprompted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010144" y="407822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a child opens on their own beats a better product they have to be nagged into.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is a child who is measurably better at something their parent cares about — and who did the practice willingly.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QUESTIONS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Why, what, how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607040" cy="1371600"/>
          </a:xfrm>
          <a:prstGeom prst="roundRect">
            <a:avLst>
              <a:gd name="adj" fmla="val 9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 rot="5400000">
            <a:off x="960120" y="1865376"/>
            <a:ext cx="603504" cy="603504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653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874520" y="1700784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Because ability is not the constraint — access is.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874520" y="212140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children are not short of talent or of parental will. They are short of good, affordable, culturally-fluent practice. Every hour a parent spends worrying is an hour we can convert into something the child enjoys.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40080" y="3054096"/>
            <a:ext cx="106070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 rot="5400000">
            <a:off x="960120" y="3438144"/>
            <a:ext cx="603504" cy="603504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381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74520" y="3273552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house of competitive-learning products for ages 8–15.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1874520" y="369417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many subjects. Spelling first, because it is the contest this community already organises around. Then the adjacent word products, then heritage language, then numeracy.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640080" y="4626864"/>
            <a:ext cx="10607040" cy="1371600"/>
          </a:xfrm>
          <a:prstGeom prst="roundRect">
            <a:avLst>
              <a:gd name="adj" fmla="val 9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 rot="5400000">
            <a:off x="960120" y="5010912"/>
            <a:ext cx="603504" cy="603504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1091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874520" y="4846320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AI-first, founder-run, content-owned.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1874520" y="526694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founders and no agency. The product is built with AI coding tools, the marketing is produced with AI tools, and the content bank — which is the actual moat — is generated, verified and owned in-house.</a:t>
            </a:r>
            <a:endParaRPr lang="en-US" sz="12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one contest completely, then reuse the engine.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5400000">
            <a:off x="896112" y="2267712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WEDGE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96112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Spelling bee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competition this community already organises around — and dominates. We do not have to create the demand or explain the category.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01568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3657600" y="226771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BY ENGINE REUSE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0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Adjacent word products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0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 reasoning, vocabulary and test prep run on the drill engine that already exists. New revenue, near-zero new infrastructure.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63056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419088" y="226771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8" name="Text 16"/>
          <p:cNvSpPr/>
          <p:nvPr/>
        </p:nvSpPr>
        <p:spPr>
          <a:xfrm>
            <a:off x="6419088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19088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THE MOAT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9088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Heritage language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19088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category where the diaspora is the entire market rather than a slice of it. Hardest to copy, stickiest to own.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24544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9180576" y="226771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80576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THE HOUSE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180576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Numeracy &amp; money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180576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Finance and mental-maths extend the brand past words once the word franchise is proven.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550468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sequencing rule: order by how much of the existing engine a product reuses — not by which market is biggest.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already exists, and transfers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Bee is not one app. It is a content-drill engine with a spelling skin — and the engine is the company.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128,491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words, every one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aloud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84448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31,000+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84448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 questions across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themes, 5 levels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63056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45936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45936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chapters,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advanced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24544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07424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07424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illustrated books,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1,700 pages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640080" y="4014216"/>
            <a:ext cx="310896" cy="310896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39776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Transfers as-is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749040" y="39776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pipeline · adaptive progression · game layer · avatars &amp; rewards · offline delivery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640080" y="4672584"/>
            <a:ext cx="310896" cy="31089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1" name="Text 19"/>
          <p:cNvSpPr/>
          <p:nvPr/>
        </p:nvSpPr>
        <p:spPr>
          <a:xfrm>
            <a:off x="1115568" y="46360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Transfers with new content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49040" y="463600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 reasoning · heritage vocabulary · mental maths · financial literacy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40080" y="5330952"/>
            <a:ext cx="310896" cy="310896"/>
          </a:xfrm>
          <a:prstGeom prst="hexagon">
            <a:avLst/>
          </a:prstGeom>
          <a:solidFill>
            <a:srgbClr val="C4453C"/>
          </a:solidFill>
          <a:ln/>
        </p:spPr>
      </p:sp>
      <p:sp>
        <p:nvSpPr>
          <p:cNvPr id="24" name="Text 22"/>
          <p:cNvSpPr/>
          <p:nvPr/>
        </p:nvSpPr>
        <p:spPr>
          <a:xfrm>
            <a:off x="1115568" y="52943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not transfer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749040" y="529437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needing a solver, a rating system or a live teacher — chess, coding, music, dance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architecture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 are brands. Geography is a hook, not a second brand — and the hook is free so the pack inside it can be paid.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937760" y="1993392"/>
            <a:ext cx="2286000" cy="658368"/>
          </a:xfrm>
          <a:prstGeom prst="roundRect">
            <a:avLst>
              <a:gd name="adj" fmla="val 19444"/>
            </a:avLst>
          </a:prstGeom>
          <a:solidFill>
            <a:srgbClr val="241E33"/>
          </a:solidFill>
          <a:ln/>
        </p:spPr>
      </p:sp>
      <p:sp>
        <p:nvSpPr>
          <p:cNvPr id="6" name="Text 4"/>
          <p:cNvSpPr/>
          <p:nvPr/>
        </p:nvSpPr>
        <p:spPr>
          <a:xfrm>
            <a:off x="4937760" y="199339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080760" y="2651760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962656"/>
            <a:ext cx="8503920" cy="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0" y="2962656"/>
            <a:ext cx="0" cy="329184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291840"/>
            <a:ext cx="3200400" cy="1572768"/>
          </a:xfrm>
          <a:prstGeom prst="roundRect">
            <a:avLst>
              <a:gd name="adj" fmla="val 814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05256" y="3456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Bee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05256" y="382219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&amp; words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05256" y="4114800"/>
            <a:ext cx="27614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wedge. Proven demand, an existing competition, and the engine everything else reuses.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587752" y="3419856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15" name="Text 13"/>
          <p:cNvSpPr/>
          <p:nvPr/>
        </p:nvSpPr>
        <p:spPr>
          <a:xfrm>
            <a:off x="2587752" y="341985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· PAID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080760" y="2962656"/>
            <a:ext cx="0" cy="329184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80560" y="3291840"/>
            <a:ext cx="3200400" cy="1572768"/>
          </a:xfrm>
          <a:prstGeom prst="roundRect">
            <a:avLst>
              <a:gd name="adj" fmla="val 814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0016" y="3456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India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700016" y="382219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— the hook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00016" y="4114800"/>
            <a:ext cx="27614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Stories, festivals, mythology, the words English took from India. Free, shareable, and why a family arrives.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82512" y="3419856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341985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875520" y="2962656"/>
            <a:ext cx="0" cy="329184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75320" y="3291840"/>
            <a:ext cx="3200400" cy="1572768"/>
          </a:xfrm>
          <a:prstGeom prst="roundRect">
            <a:avLst>
              <a:gd name="adj" fmla="val 814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94776" y="3456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Finance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494776" y="382219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numeracy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94776" y="4114800"/>
            <a:ext cx="27614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house past words, and reaches the age band where the bee stops.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177272" y="3419856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29" name="Text 27"/>
          <p:cNvSpPr/>
          <p:nvPr/>
        </p:nvSpPr>
        <p:spPr>
          <a:xfrm>
            <a:off x="10177272" y="341985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FLIGHT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80760" y="4864608"/>
            <a:ext cx="0" cy="274320"/>
          </a:xfrm>
          <a:prstGeom prst="line">
            <a:avLst/>
          </a:prstGeom>
          <a:noFill/>
          <a:ln w="25400">
            <a:solidFill>
              <a:srgbClr val="F0B42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80560" y="5138928"/>
            <a:ext cx="3200400" cy="841248"/>
          </a:xfrm>
          <a:prstGeom prst="roundRect">
            <a:avLst>
              <a:gd name="adj" fmla="val 15217"/>
            </a:avLst>
          </a:prstGeom>
          <a:solidFill>
            <a:srgbClr val="FBF3E0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0016" y="5248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5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Bhasha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6492240" y="5266944"/>
            <a:ext cx="969264" cy="256032"/>
          </a:xfrm>
          <a:prstGeom prst="roundRect">
            <a:avLst>
              <a:gd name="adj" fmla="val 50000"/>
            </a:avLst>
          </a:prstGeom>
          <a:solidFill>
            <a:srgbClr val="8A5B0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5266944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700016" y="55778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first, then Tamil and Telugu. The pack the culture hook converts into.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" y="614476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rule to settle now: sub-brands are SUBJECTS. "Bizzing India" is the one exception and it earns it by being a free hook, not a market. There is no "Bizzing UK" — the UK gets an edition of Bizzing Eleven.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Roadmap, view one: by milestone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launches on a date. Each product unlocks when the one before it has proved something specific.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901952" y="2788920"/>
            <a:ext cx="8174736" cy="0"/>
          </a:xfrm>
          <a:prstGeom prst="line">
            <a:avLst/>
          </a:prstGeom>
          <a:noFill/>
          <a:ln w="38100">
            <a:solidFill>
              <a:srgbClr val="E3DC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645920" y="2532888"/>
            <a:ext cx="512064" cy="512064"/>
          </a:xfrm>
          <a:prstGeom prst="hexagon">
            <a:avLst/>
          </a:prstGeom>
          <a:solidFill>
            <a:srgbClr val="178A4C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10312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17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Bee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404164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Spelling, live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41248" y="4352544"/>
            <a:ext cx="212140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wedge. Free app, paid packs, the YouTube channel feeding it.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 rot="5400000">
            <a:off x="4370832" y="2532888"/>
            <a:ext cx="512064" cy="512064"/>
          </a:xfrm>
          <a:prstGeom prst="hexagon">
            <a:avLst/>
          </a:prstGeom>
          <a:solidFill>
            <a:srgbClr val="F0B42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210312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64992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64992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India + Bhasha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66160" y="404164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free, language paid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212140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when Bee shows a repeatable way to acquire a family and keep them past the first month.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095744" y="2532888"/>
            <a:ext cx="512064" cy="512064"/>
          </a:xfrm>
          <a:prstGeom prst="hexagon">
            <a:avLst/>
          </a:prstGeom>
          <a:solidFill>
            <a:srgbClr val="6C4FE0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9904" y="210312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89904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89904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1072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Eleven / Prep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1072" y="404164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verbal reasoning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291072" y="4352544"/>
            <a:ext cx="212140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when a second paid pack proves families will buy more than one thing from us.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820656" y="2532888"/>
            <a:ext cx="512064" cy="512064"/>
          </a:xfrm>
          <a:prstGeom prst="hexagon">
            <a:avLst/>
          </a:prstGeom>
          <a:solidFill>
            <a:srgbClr val="6C4FE0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14816" y="210312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814816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814816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15984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Finance, older ages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015984" y="404164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bee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15984" y="4352544"/>
            <a:ext cx="212140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when households run more than one product on one account — the multi-product home.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" y="5742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gates are deliberately written as proofs, not targets — the numbers behind each one are the CMO’s to set.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Roadmap, view two: by the age of the child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with three children is with Bizzing from the first child at four to the last at sixteen. The gaps are where we hand them back.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4–6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Letters, sounds,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words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C4453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yet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Phonics, letter sounds, first-word games, Indian nursery stories. The child cannot read — so this is audio and pictures, which the engine already does.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852928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13" name="Text 11"/>
          <p:cNvSpPr/>
          <p:nvPr/>
        </p:nvSpPr>
        <p:spPr>
          <a:xfrm>
            <a:off x="2852928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6–8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944368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fluency,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spelling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944368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/>
        </p:spPr>
      </p:sp>
      <p:sp>
        <p:nvSpPr>
          <p:cNvPr id="16" name="Text 14"/>
          <p:cNvSpPr/>
          <p:nvPr/>
        </p:nvSpPr>
        <p:spPr>
          <a:xfrm>
            <a:off x="2944368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944368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Bee, entry levels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Bee starts too hard for most six-year-olds. A gentler on-ramp keeps the younger sibling instead of losing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65776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20" name="Text 18"/>
          <p:cNvSpPr/>
          <p:nvPr/>
        </p:nvSpPr>
        <p:spPr>
          <a:xfrm>
            <a:off x="5065776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8–10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157216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bee,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vocabulary, GK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157216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23" name="Text 21"/>
          <p:cNvSpPr/>
          <p:nvPr/>
        </p:nvSpPr>
        <p:spPr>
          <a:xfrm>
            <a:off x="5157216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57216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Bee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157216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core. Everything built so far lands squarely here, and this is where the bee community lives.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278624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27" name="Text 25"/>
          <p:cNvSpPr/>
          <p:nvPr/>
        </p:nvSpPr>
        <p:spPr>
          <a:xfrm>
            <a:off x="7278624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10–12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370064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bee, 11+,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gifted testing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70064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30" name="Text 28"/>
          <p:cNvSpPr/>
          <p:nvPr/>
        </p:nvSpPr>
        <p:spPr>
          <a:xfrm>
            <a:off x="7370064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370064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· Eleven · Bhasha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70064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highest-intent, highest-spend years. Three products can serve one child at once.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91472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34" name="Text 32"/>
          <p:cNvSpPr/>
          <p:nvPr/>
        </p:nvSpPr>
        <p:spPr>
          <a:xfrm>
            <a:off x="9491472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12–16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9582912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Debate, essays,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money, SAT words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9582912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C4453C"/>
          </a:solidFill>
          <a:ln/>
        </p:spPr>
      </p:sp>
      <p:sp>
        <p:nvSpPr>
          <p:cNvPr id="37" name="Text 35"/>
          <p:cNvSpPr/>
          <p:nvPr/>
        </p:nvSpPr>
        <p:spPr>
          <a:xfrm>
            <a:off x="9582912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582912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only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582912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bee ends around fourteen and the family leaves. This is the churn cliff, and the biggest single gap in the house.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596128"/>
            <a:ext cx="10607040" cy="658368"/>
          </a:xfrm>
          <a:prstGeom prst="roundRect">
            <a:avLst>
              <a:gd name="adj" fmla="val 19444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50976" y="5596128"/>
            <a:ext cx="9966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Bizzing’s job is never to hand a family back. Two gaps do exactly that today — the four-to-six on-ramp, and the cliff after the bee ends at fourteen. Both are product decisions, not marketing ones.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MONETISATION · YEARS ONE TO FIVE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Bizzing earns, and when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streams. Two of them can start almost immediately because the asset already exists — the books are written and the avatar art is drawn.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84632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80" kern="0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3232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80" kern="0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2–3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41832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80" kern="0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4–5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12064" y="2286000"/>
            <a:ext cx="10991088" cy="576072"/>
          </a:xfrm>
          <a:prstGeom prst="roundRect">
            <a:avLst>
              <a:gd name="adj" fmla="val 15873"/>
            </a:avLst>
          </a:prstGeom>
          <a:solidFill>
            <a:srgbClr val="EFEB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2257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 &amp; packs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2569464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Advanced, Bhasha, Eleven. The compounding line — everything else is a supplement to it.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257800" y="244144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12" name="Text 10"/>
          <p:cNvSpPr/>
          <p:nvPr/>
        </p:nvSpPr>
        <p:spPr>
          <a:xfrm>
            <a:off x="5257800" y="2441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543800" y="244144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14" name="Text 12"/>
          <p:cNvSpPr/>
          <p:nvPr/>
        </p:nvSpPr>
        <p:spPr>
          <a:xfrm>
            <a:off x="7543800" y="2441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829800" y="244144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/>
        </p:spPr>
      </p:sp>
      <p:sp>
        <p:nvSpPr>
          <p:cNvPr id="16" name="Text 14"/>
          <p:cNvSpPr/>
          <p:nvPr/>
        </p:nvSpPr>
        <p:spPr>
          <a:xfrm>
            <a:off x="9829800" y="2441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295351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320040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volumes and 1,700 pages already generated. Print-on-demand and ebook carry no inventory risk.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257800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20" name="Text 18"/>
          <p:cNvSpPr/>
          <p:nvPr/>
        </p:nvSpPr>
        <p:spPr>
          <a:xfrm>
            <a:off x="5257800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543800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22" name="Text 20"/>
          <p:cNvSpPr/>
          <p:nvPr/>
        </p:nvSpPr>
        <p:spPr>
          <a:xfrm>
            <a:off x="7543800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829800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/>
        </p:spPr>
      </p:sp>
      <p:sp>
        <p:nvSpPr>
          <p:cNvPr id="24" name="Text 22"/>
          <p:cNvSpPr/>
          <p:nvPr/>
        </p:nvSpPr>
        <p:spPr>
          <a:xfrm>
            <a:off x="9829800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12064" y="3547872"/>
            <a:ext cx="10991088" cy="576072"/>
          </a:xfrm>
          <a:prstGeom prst="roundRect">
            <a:avLst>
              <a:gd name="adj" fmla="val 15873"/>
            </a:avLst>
          </a:prstGeom>
          <a:solidFill>
            <a:srgbClr val="EFEBF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8444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Playable avatar cards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0080" y="383133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trump-card deck already exists in-app, and every card carries a real word fact. A physical product that still teaches.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543800" y="3703320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29" name="Text 27"/>
          <p:cNvSpPr/>
          <p:nvPr/>
        </p:nvSpPr>
        <p:spPr>
          <a:xfrm>
            <a:off x="754380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829800" y="3703320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421538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Plushies, tees, goodies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40080" y="4462272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Bizzy and the champion avatars. Print-on-demand first; stock only what has already sold.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543800" y="433425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35" name="Text 33"/>
          <p:cNvSpPr/>
          <p:nvPr/>
        </p:nvSpPr>
        <p:spPr>
          <a:xfrm>
            <a:off x="7543800" y="43342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829800" y="433425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43342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12064" y="4809744"/>
            <a:ext cx="10991088" cy="576072"/>
          </a:xfrm>
          <a:prstGeom prst="roundRect">
            <a:avLst>
              <a:gd name="adj" fmla="val 15873"/>
            </a:avLst>
          </a:prstGeom>
          <a:solidFill>
            <a:srgbClr val="EFEBF8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48463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40080" y="509320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revenue and sponsorship. Worth having, but its real return is acquisition — count it as marketing that pays for itself.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543800" y="496519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42" name="Text 40"/>
          <p:cNvSpPr/>
          <p:nvPr/>
        </p:nvSpPr>
        <p:spPr>
          <a:xfrm>
            <a:off x="7543800" y="49651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9829800" y="496519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44" name="Text 42"/>
          <p:cNvSpPr/>
          <p:nvPr/>
        </p:nvSpPr>
        <p:spPr>
          <a:xfrm>
            <a:off x="9829800" y="49651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40080" y="547725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training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640080" y="5724144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coaching, workshops, beginner classes. Highest price per family and the only stream limited by someone’s time.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9829800" y="559612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48" name="Text 46"/>
          <p:cNvSpPr/>
          <p:nvPr/>
        </p:nvSpPr>
        <p:spPr>
          <a:xfrm>
            <a:off x="9829800" y="55961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40080" y="6163056"/>
            <a:ext cx="10607040" cy="475488"/>
          </a:xfrm>
          <a:prstGeom prst="roundRect">
            <a:avLst>
              <a:gd name="adj" fmla="val 23077"/>
            </a:avLst>
          </a:prstGeom>
          <a:solidFill>
            <a:srgbClr val="FBF3E0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616305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cautions: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 that holds stock is a different business — cash, sizes, returns — so print-on-demand until something proves itself. And live training is the only line capped by a person’s calendar; it scales by being recorded, or by other people teaching it.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Earn attention, prove it in person, then pay to scale it.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matters more than the mix. Paid media applied to content nobody trusts yet is the fastest way to spend money badly.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 rot="5400000">
            <a:off x="640080" y="2350008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07008" y="225856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07008" y="2624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Earns trust and reach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520440" y="2240280"/>
            <a:ext cx="800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 documentaries make a stranger believe we know words. Shorts put us in front of families no targeting could find. A video keeps working for years; an ad stops the day the card does.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rot="5400000">
            <a:off x="640080" y="3337560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07008" y="32461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&amp; community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07008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trust into proof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20440" y="3227832"/>
            <a:ext cx="800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bees, cultural associations, temple and community fairs, homeschool conferences — where this diaspora already gathers. Small reach, unmatched credibility. Parent WhatsApp groups are the real distribution channel.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rot="5400000">
            <a:off x="640080" y="4325112"/>
            <a:ext cx="384048" cy="384048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07008" y="42336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media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07008" y="4599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what is proven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20440" y="4215384"/>
            <a:ext cx="800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Harvests demand the content created and retargets the warmed. Creative comes from the channel, not from an agency. It amplifies; it does not originate.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 rot="5400000">
            <a:off x="640080" y="5312664"/>
            <a:ext cx="384048" cy="384048"/>
          </a:xfrm>
          <a:prstGeom prst="hexagon">
            <a:avLst/>
          </a:prstGeom>
          <a:solidFill>
            <a:srgbClr val="E3B23C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312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07008" y="52212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child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7008" y="5586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all three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520440" y="5202936"/>
            <a:ext cx="800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child who likes the app tells other children, and a champion who used it is worth more than any campaign. The CKO role exists partly for this.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budgets, targets or channel splits here by design — those are the CMO’s call. This slide fixes the ORDER, not the numbers.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· 1 OF 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 is not an ad channel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only asset that earns trust while we sleep — and the one place a parent decides whether Bizzing is serious.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10712" cy="2286000"/>
          </a:xfrm>
          <a:prstGeom prst="roundRect">
            <a:avLst>
              <a:gd name="adj" fmla="val 56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5400000">
            <a:off x="914400" y="2331720"/>
            <a:ext cx="420624" cy="420624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7121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27355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choosing where their child practises is really asking whether we know the subject. Ten minutes of well-made history about words answers that better than any landing page.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2103120"/>
            <a:ext cx="3410712" cy="2286000"/>
          </a:xfrm>
          <a:prstGeom prst="roundRect">
            <a:avLst>
              <a:gd name="adj" fmla="val 56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 rot="5400000">
            <a:off x="4599432" y="2331720"/>
            <a:ext cx="420624" cy="420624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87121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99432" y="327355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reaches families we could never target — the ones who do not yet know a product like this exists. That is reach we do not have to buy.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10144" y="2103120"/>
            <a:ext cx="3410712" cy="2286000"/>
          </a:xfrm>
          <a:prstGeom prst="roundRect">
            <a:avLst>
              <a:gd name="adj" fmla="val 56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 rot="5400000">
            <a:off x="8284464" y="2331720"/>
            <a:ext cx="420624" cy="420624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5" name="Text 13"/>
          <p:cNvSpPr/>
          <p:nvPr/>
        </p:nvSpPr>
        <p:spPr>
          <a:xfrm>
            <a:off x="8284464" y="287121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asset, not a spend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84464" y="327355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documentary published this year is still working in five. Paid media stops the moment the card stops. Over time the channel becomes the cheapest acquisition we own.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audiences, one video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40080" y="4974336"/>
            <a:ext cx="274320" cy="274320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49194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decides.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42416" y="52303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to see rigour — real sources, real history, nothing that feels like a cartoon selling something.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 rot="5400000">
            <a:off x="6035040" y="4974336"/>
            <a:ext cx="274320" cy="274320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2" name="Text 20"/>
          <p:cNvSpPr/>
          <p:nvPr/>
        </p:nvSpPr>
        <p:spPr>
          <a:xfrm>
            <a:off x="6437376" y="49194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 watches.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37376" y="52303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story and pace. If the child is bored the parent never finishes it either.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6035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that follows: the video never sells. The product is named once, at the end, and that is the whole ask.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· 2 OF 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content pillars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pillar does a different job in the funnel. Together they cover reach, trust and intent.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5400000">
            <a:off x="877824" y="2231136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140817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documentaries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26280" y="224942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E3DCF2"/>
          </a:solidFill>
          <a:ln/>
        </p:spPr>
      </p:sp>
      <p:sp>
        <p:nvSpPr>
          <p:cNvPr id="9" name="Text 7"/>
          <p:cNvSpPr/>
          <p:nvPr/>
        </p:nvSpPr>
        <p:spPr>
          <a:xfrm>
            <a:off x="4526280" y="224942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" y="2633472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stories about words and the people who used them. "Before the Bee" — the 1908 contest and the girl whose medal was never found. "The Right Word" — four times somebody reached for a word and the world changed.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7824" y="3364992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 </a:t>
            </a:r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Authority. The piece a parent shares with another parent.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201168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201168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272784" y="2231136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5" name="Text 13"/>
          <p:cNvSpPr/>
          <p:nvPr/>
        </p:nvSpPr>
        <p:spPr>
          <a:xfrm>
            <a:off x="680313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Word-origin shorts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921240" y="224942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E3DCF2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24942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72784" y="2633472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word, one surprising origin, under a minute. Why "knight" keeps a silent K. Why the menu says beef and the field says cow. Built straight from the app’s existing etymology bank.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72784" y="3364992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 </a:t>
            </a:r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Reach. Volume the algorithm can work with, at almost no marginal cost.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02336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77824" y="4242816"/>
            <a:ext cx="384048" cy="384048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23" name="Text 21"/>
          <p:cNvSpPr/>
          <p:nvPr/>
        </p:nvSpPr>
        <p:spPr>
          <a:xfrm>
            <a:off x="1408176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 craft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26280" y="426110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E3DCF2"/>
          </a:solidFill>
          <a:ln/>
        </p:spPr>
      </p:sp>
      <p:sp>
        <p:nvSpPr>
          <p:cNvPr id="25" name="Text 23"/>
          <p:cNvSpPr/>
          <p:nvPr/>
        </p:nvSpPr>
        <p:spPr>
          <a:xfrm>
            <a:off x="4526280" y="42611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form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77824" y="4645152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champions actually study: root patterns, language-of-origin cues, what to ask the pronouncer, how to handle a word you have never seen.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77824" y="5376672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 </a:t>
            </a:r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 These viewers are already preparing — the shortest path to a trial.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5040" y="402336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 rot="5400000">
            <a:off x="6272784" y="4242816"/>
            <a:ext cx="384048" cy="384048"/>
          </a:xfrm>
          <a:prstGeom prst="hexagon">
            <a:avLst/>
          </a:prstGeom>
          <a:solidFill>
            <a:srgbClr val="E3B23C"/>
          </a:solidFill>
          <a:ln/>
        </p:spPr>
      </p:sp>
      <p:sp>
        <p:nvSpPr>
          <p:cNvPr id="30" name="Text 28"/>
          <p:cNvSpPr/>
          <p:nvPr/>
        </p:nvSpPr>
        <p:spPr>
          <a:xfrm>
            <a:off x="6803136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&amp; India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921240" y="426110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E3DCF2"/>
          </a:solidFill>
          <a:ln/>
        </p:spPr>
      </p:sp>
      <p:sp>
        <p:nvSpPr>
          <p:cNvPr id="32" name="Text 30"/>
          <p:cNvSpPr/>
          <p:nvPr/>
        </p:nvSpPr>
        <p:spPr>
          <a:xfrm>
            <a:off x="9921240" y="42611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72784" y="4645152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Festivals, mythology, the words English took from India, why the diaspora spells the way it does. Feeds Bizzing India directly.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72784" y="5376672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 </a:t>
            </a:r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Connection. The pillar that makes this channel ours and nobody else’s.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0080" y="6053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documentary yields six to ten shorts, and a shorts run seeds a book chapter. Nothing is made once.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· 3 OF 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runs, and where it lands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 rot="5400000">
            <a:off x="640080" y="190195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written to one message, checked against sources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 rot="5400000">
            <a:off x="640080" y="2468880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468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generated and blind-verified for accent and words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5400000">
            <a:off x="640080" y="3035808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30358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generated; archive photographs used where a real person appears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rot="5400000">
            <a:off x="640080" y="3602736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6027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 by the render pipeline, timed to the narration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61104"/>
            <a:ext cx="5212080" cy="841248"/>
          </a:xfrm>
          <a:prstGeom prst="roundRect">
            <a:avLst>
              <a:gd name="adj" fmla="val 1521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" y="4261104"/>
            <a:ext cx="4700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episodes are already built this way, founder-run, with no editor, agency or studio.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09360" y="1463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from a video to a paying family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 rot="5400000">
            <a:off x="6309360" y="1956816"/>
            <a:ext cx="310896" cy="31089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4808" y="2286000"/>
            <a:ext cx="0" cy="274320"/>
          </a:xfrm>
          <a:prstGeom prst="line">
            <a:avLst/>
          </a:prstGeom>
          <a:noFill/>
          <a:ln w="19050">
            <a:solidFill>
              <a:srgbClr val="E3DC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901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8388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 worth ten minutes, or a short worth sixty seconds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6309360" y="2615184"/>
            <a:ext cx="310896" cy="31089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5" name="Shape 23"/>
          <p:cNvSpPr/>
          <p:nvPr/>
        </p:nvSpPr>
        <p:spPr>
          <a:xfrm>
            <a:off x="6464808" y="2944368"/>
            <a:ext cx="0" cy="274320"/>
          </a:xfrm>
          <a:prstGeom prst="line">
            <a:avLst/>
          </a:prstGeom>
          <a:noFill/>
          <a:ln w="19050">
            <a:solidFill>
              <a:srgbClr val="E3DC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03136" y="25603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83880" y="2560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on screen; nothing oversold; no pitch inside the film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 rot="5400000">
            <a:off x="6309360" y="3273552"/>
            <a:ext cx="310896" cy="310896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9" name="Shape 27"/>
          <p:cNvSpPr/>
          <p:nvPr/>
        </p:nvSpPr>
        <p:spPr>
          <a:xfrm>
            <a:off x="6464808" y="3602736"/>
            <a:ext cx="0" cy="274320"/>
          </a:xfrm>
          <a:prstGeom prst="line">
            <a:avLst/>
          </a:prstGeom>
          <a:noFill/>
          <a:ln w="19050">
            <a:solidFill>
              <a:srgbClr val="E3DC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03136" y="321868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app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183880" y="32186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link in the description, free and instant — no signup wall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 rot="5400000">
            <a:off x="6309360" y="3931920"/>
            <a:ext cx="310896" cy="310896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33" name="Shape 31"/>
          <p:cNvSpPr/>
          <p:nvPr/>
        </p:nvSpPr>
        <p:spPr>
          <a:xfrm>
            <a:off x="6464808" y="4261104"/>
            <a:ext cx="0" cy="274320"/>
          </a:xfrm>
          <a:prstGeom prst="line">
            <a:avLst/>
          </a:prstGeom>
          <a:noFill/>
          <a:ln w="19050">
            <a:solidFill>
              <a:srgbClr val="E3DC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03136" y="38770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an account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183880" y="387705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worth keeping is the reason, not a gate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 rot="5400000">
            <a:off x="6309360" y="4590288"/>
            <a:ext cx="310896" cy="310896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37" name="Text 35"/>
          <p:cNvSpPr/>
          <p:nvPr/>
        </p:nvSpPr>
        <p:spPr>
          <a:xfrm>
            <a:off x="6803136" y="453542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a pack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83880" y="453542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Bhasha, Eleven, or Advanced — bought because the free part worked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376672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FBF3E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537667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rules: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sell inside a film · disclose what is generated and what is archive · name sources on screen · verify every claim before it is narrated · publish nothing that would embarrass the brand in front of a bee community that will recognise every error.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TEAM IS BUILT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co-founders run separate, clearly-owned lanes. Joint decisions are made at founder level. The third role is advisory and sits on top as a brand asset, not an operating function.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80560" y="2148840"/>
            <a:ext cx="3200400" cy="658368"/>
          </a:xfrm>
          <a:prstGeom prst="roundRect">
            <a:avLst>
              <a:gd name="adj" fmla="val 19444"/>
            </a:avLst>
          </a:prstGeom>
          <a:solidFill>
            <a:srgbClr val="241E33"/>
          </a:solidFill>
          <a:ln/>
        </p:spPr>
      </p:sp>
      <p:sp>
        <p:nvSpPr>
          <p:cNvPr id="6" name="Text 4"/>
          <p:cNvSpPr/>
          <p:nvPr/>
        </p:nvSpPr>
        <p:spPr>
          <a:xfrm>
            <a:off x="4480560" y="214884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 GROUP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budget · brand direction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3127248"/>
            <a:ext cx="0" cy="329184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3456432"/>
            <a:ext cx="6675120" cy="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3456432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74520" y="3767328"/>
            <a:ext cx="1737360" cy="1691640"/>
          </a:xfrm>
          <a:prstGeom prst="roundRect">
            <a:avLst>
              <a:gd name="adj" fmla="val 7568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 rot="5400000">
            <a:off x="2020824" y="3931920"/>
            <a:ext cx="402336" cy="40233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3" name="Text 11"/>
          <p:cNvSpPr/>
          <p:nvPr/>
        </p:nvSpPr>
        <p:spPr>
          <a:xfrm>
            <a:off x="2514600" y="393192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Aayush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20824" y="4443984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CPTO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20824" y="484632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engineering · architecture · roadmap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56432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94960" y="3767328"/>
            <a:ext cx="1737360" cy="1691640"/>
          </a:xfrm>
          <a:prstGeom prst="roundRect">
            <a:avLst>
              <a:gd name="adj" fmla="val 7568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 rot="5400000">
            <a:off x="5541264" y="3931920"/>
            <a:ext cx="402336" cy="402336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393192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Amrita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541264" y="4443984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CMO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41264" y="484632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· growth · pricing · merch · voice of customer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784080" y="3456432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915400" y="3767328"/>
            <a:ext cx="1737360" cy="1691640"/>
          </a:xfrm>
          <a:prstGeom prst="roundRect">
            <a:avLst>
              <a:gd name="adj" fmla="val 7568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 rot="5400000">
            <a:off x="9061704" y="3931920"/>
            <a:ext cx="402336" cy="402336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25" name="Text 23"/>
          <p:cNvSpPr/>
          <p:nvPr/>
        </p:nvSpPr>
        <p:spPr>
          <a:xfrm>
            <a:off x="9555480" y="393192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Ahana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1704" y="4443984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Kid Officer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61704" y="484632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 · usability · ambassador (advisory)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principle: each lane decides independently inside its own scope. Product decisions do not route through marketing, and brand decisions do not route through engineering.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Aayush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Chief Product and Technology Officer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607040" cy="960120"/>
          </a:xfrm>
          <a:prstGeom prst="roundRect">
            <a:avLst>
              <a:gd name="adj" fmla="val 13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195681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what Bizzing is, how it is built, and what ships next. Built the full web app AI-first — directing AI coding tools rather than hand-writing code — and runs product and engineering the same way.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310128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 and prioritisation across every Bizzing product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architecture, infrastructure, technical quality and security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user feedback into shipped improvements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and adopting AI tooling that improves build speed or quality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generation pipelines — the word bank, question bank and audio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0" y="29992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6949440" y="3355848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331012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rate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78240" y="33101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 per month against roadmap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949440" y="3922776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0" y="387705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Crash-free sessions; boot time held under target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949440" y="4489704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444398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reuse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4443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a new product built from existing components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5400000">
            <a:off x="6949440" y="5056632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50109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78240" y="50109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usability findings actioned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607040" cy="566928"/>
          </a:xfrm>
          <a:prstGeom prst="roundRect">
            <a:avLst>
              <a:gd name="adj" fmla="val 19355"/>
            </a:avLst>
          </a:prstGeom>
          <a:solidFill>
            <a:srgbClr val="FBF3E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own:  </a:t>
            </a:r>
            <a:pPr indent="0" marL="0">
              <a:buNone/>
            </a:pPr>
            <a:r>
              <a:rPr lang="en-US" sz="120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pricing and channel decisions route through the CMO.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Amrita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Chief Marketing and Growth Officer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607040" cy="960120"/>
          </a:xfrm>
          <a:prstGeom prst="roundRect">
            <a:avLst>
              <a:gd name="adj" fmla="val 13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195681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everything that gets a family to discover Bizzing, decide to trust it, and want to buy something with the logo on it. Run AI-first and deliberately lean: no agency, no editorial headcount.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310128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strategy — positioning, voice, visual identity, messaging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marketing — Meta and Google; owns CAC, ROAS and budget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analytics — AI-built dashboards for funnel, cohort and channel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and video, produced in-house with AI tools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merch, events, influencer partnerships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 — structured feedback and usability sessions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0" y="29992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6949440" y="3355848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331012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78240" y="33101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qualified traffic growth; CAC down per channel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949440" y="3922776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0" y="387705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efficiency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target per platform; spend within budget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949440" y="4489704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444398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4443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Free-to-paid rate; merch attach rate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5400000">
            <a:off x="6949440" y="5056632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50109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78240" y="50109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produced in-house; $0 on external editors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607040" cy="566928"/>
          </a:xfrm>
          <a:prstGeom prst="roundRect">
            <a:avLst>
              <a:gd name="adj" fmla="val 19355"/>
            </a:avLst>
          </a:prstGeom>
          <a:solidFill>
            <a:srgbClr val="FBF3E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own:  </a:t>
            </a:r>
            <a:pPr indent="0" marL="0">
              <a:buNone/>
            </a:pPr>
            <a:r>
              <a:rPr lang="en-US" sz="120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engineering roadmap and final call on features sit with the CPTO.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Ahana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Kid Officer — honorary and advisory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607040" cy="960120"/>
          </a:xfrm>
          <a:prstGeom prst="roundRect">
            <a:avLst>
              <a:gd name="adj" fmla="val 13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195681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Bizzing exists and its most credible voice. Represents the real end user: tests the app as part of her own bee preparation, says plainly what is fun, boring, confusing or broken.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310128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app for her own spelling preparation and gives honest feedback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Tries new features first in usability sessions and reacts candidly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in kid-appropriate marketing, always with a parent involved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term: hosts beginner spelling sessions to build community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0" y="29992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6949440" y="3355848"/>
            <a:ext cx="256032" cy="256032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331012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quality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78240" y="33101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usable notes, not "it’s good"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949440" y="3922776"/>
            <a:ext cx="256032" cy="256032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0" y="387705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Ambassador content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Genuine, comfortable approved appearances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949440" y="4489704"/>
            <a:ext cx="256032" cy="256032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444398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4443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generated by beginner sessions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5623560"/>
            <a:ext cx="10607040" cy="566928"/>
          </a:xfrm>
          <a:prstGeom prst="roundRect">
            <a:avLst>
              <a:gd name="adj" fmla="val 19355"/>
            </a:avLst>
          </a:prstGeom>
          <a:solidFill>
            <a:srgbClr val="FBF3E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own:  </a:t>
            </a:r>
            <a:pPr indent="0" marL="0">
              <a:buNone/>
            </a:pPr>
            <a:r>
              <a:rPr lang="en-US" sz="120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employment position. Schoolwork, her own bee prep and her own projects take priority.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9006840" y="4069080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9921240" y="4069080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5400000">
            <a:off x="10835640" y="4069080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9464040" y="4855464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10378440" y="4855464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1292840" y="4855464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685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DECIDE NEXT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051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open questions, in the order they block work.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 rot="5400000">
            <a:off x="640080" y="2084832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07008" y="2011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axis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20116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sub-brands subjects or geographies? Everything downstream — domains, marks, roadmap naming — waits on this.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640080" y="3054096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07008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product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0" y="298094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Eleven is the fastest to ship because the engine already does it. Bizzing Bhasha is the more valuable business. Which first?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 rot="5400000">
            <a:off x="640080" y="4023360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07008" y="39502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Monetisation shape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57600" y="395020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subscription across the house, or a price per product? Decide before the second product exists, not after.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 rot="5400000">
            <a:off x="640080" y="4992624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07008" y="4919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&amp; filings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57600" y="491947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LLC, trademark filings, and the child-performer question before any paid appearance by the CKO.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· bizzingbee.com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Bizzing — Vision, Strategy &amp; Organisation</dc:title>
  <dc:subject>PptxGenJS Presentation</dc:subject>
  <dc:creator>Bizzing</dc:creator>
  <cp:lastModifiedBy>Bizzing</cp:lastModifiedBy>
  <cp:revision>1</cp:revision>
  <dcterms:created xsi:type="dcterms:W3CDTF">2026-08-23T00:20:21Z</dcterms:created>
  <dcterms:modified xsi:type="dcterms:W3CDTF">2026-08-23T00:20:21Z</dcterms:modified>
</cp:coreProperties>
</file>