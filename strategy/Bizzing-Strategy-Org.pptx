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Bizzing is the parent brand. Bizzing Bee is the first product, not the company.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vision is deliberately about the child at 25, not the child at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Free culture hook -&gt; paid language pack is the freemium spine. Culture is shareable; language is deep and worth paying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8092440" y="566928"/>
            <a:ext cx="914400" cy="914400"/>
          </a:xfrm>
          <a:prstGeom prst="hexagon">
            <a:avLst/>
          </a:prstGeom>
          <a:solidFill>
            <a:srgbClr val="F0B429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5400000">
            <a:off x="9235440" y="566928"/>
            <a:ext cx="914400" cy="914400"/>
          </a:xfrm>
          <a:prstGeom prst="hexagon">
            <a:avLst/>
          </a:prstGeom>
          <a:solidFill>
            <a:srgbClr val="F0B429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5400000">
            <a:off x="10378440" y="566928"/>
            <a:ext cx="914400" cy="914400"/>
          </a:xfrm>
          <a:prstGeom prst="hexagon">
            <a:avLst/>
          </a:prstGeom>
          <a:solidFill>
            <a:srgbClr val="F0B429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8663940" y="1549908"/>
            <a:ext cx="914400" cy="914400"/>
          </a:xfrm>
          <a:prstGeom prst="hexagon">
            <a:avLst/>
          </a:prstGeom>
          <a:solidFill>
            <a:srgbClr val="F0B429">
              <a:alpha val="16000"/>
            </a:srgbClr>
          </a:solidFill>
          <a:ln/>
        </p:spPr>
      </p:sp>
      <p:sp>
        <p:nvSpPr>
          <p:cNvPr id="6" name="Shape 4"/>
          <p:cNvSpPr/>
          <p:nvPr/>
        </p:nvSpPr>
        <p:spPr>
          <a:xfrm rot="5400000">
            <a:off x="9806940" y="1549908"/>
            <a:ext cx="914400" cy="914400"/>
          </a:xfrm>
          <a:prstGeom prst="hexagon">
            <a:avLst/>
          </a:prstGeom>
          <a:solidFill>
            <a:srgbClr val="F0B429">
              <a:alpha val="16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5400000">
            <a:off x="10949940" y="1549908"/>
            <a:ext cx="914400" cy="914400"/>
          </a:xfrm>
          <a:prstGeom prst="hexagon">
            <a:avLst/>
          </a:prstGeom>
          <a:solidFill>
            <a:srgbClr val="F0B429">
              <a:alpha val="16000"/>
            </a:srgbClr>
          </a:solidFill>
          <a:ln/>
        </p:spPr>
      </p:sp>
      <p:sp>
        <p:nvSpPr>
          <p:cNvPr id="8" name="Shape 6"/>
          <p:cNvSpPr/>
          <p:nvPr/>
        </p:nvSpPr>
        <p:spPr>
          <a:xfrm rot="5400000">
            <a:off x="8092440" y="2532888"/>
            <a:ext cx="914400" cy="914400"/>
          </a:xfrm>
          <a:prstGeom prst="hexagon">
            <a:avLst/>
          </a:prstGeom>
          <a:solidFill>
            <a:srgbClr val="F0B429">
              <a:alpha val="16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5400000">
            <a:off x="9235440" y="2532888"/>
            <a:ext cx="914400" cy="914400"/>
          </a:xfrm>
          <a:prstGeom prst="hexagon">
            <a:avLst/>
          </a:prstGeom>
          <a:solidFill>
            <a:srgbClr val="F0B429">
              <a:alpha val="16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5400000">
            <a:off x="10378440" y="2532888"/>
            <a:ext cx="914400" cy="914400"/>
          </a:xfrm>
          <a:prstGeom prst="hexagon">
            <a:avLst/>
          </a:prstGeom>
          <a:solidFill>
            <a:srgbClr val="F0B429">
              <a:alpha val="16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8288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BIZZING</a:t>
            </a:r>
            <a:endParaRPr lang="en-US" sz="7600" dirty="0"/>
          </a:p>
        </p:txBody>
      </p:sp>
      <p:sp>
        <p:nvSpPr>
          <p:cNvPr id="12" name="Text 10"/>
          <p:cNvSpPr/>
          <p:nvPr/>
        </p:nvSpPr>
        <p:spPr>
          <a:xfrm>
            <a:off x="640080" y="30632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Competitive learning for the children of the diaspora.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40080" y="3886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· Strategy · Roadmap · Marketing · Content · Organisation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709160"/>
            <a:ext cx="2926080" cy="0"/>
          </a:xfrm>
          <a:prstGeom prst="line">
            <a:avLst/>
          </a:prstGeom>
          <a:noFill/>
          <a:ln w="31750">
            <a:solidFill>
              <a:srgbClr val="6C4F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892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Founding team · AI-first operating model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STARTING POINT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moved countries so their child could compete.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Bizzing builds answers a worry that parent already has.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410712" cy="2743200"/>
          </a:xfrm>
          <a:prstGeom prst="roundRect">
            <a:avLst>
              <a:gd name="adj" fmla="val 4667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 rot="5400000">
            <a:off x="914400" y="2395728"/>
            <a:ext cx="457200" cy="457200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01752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school is not enough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65760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parents rarely believe the local curriculum is preparing their child for the contests, tests and admissions that actually decide outcomes.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5112" y="2148840"/>
            <a:ext cx="3410712" cy="2743200"/>
          </a:xfrm>
          <a:prstGeom prst="roundRect">
            <a:avLst>
              <a:gd name="adj" fmla="val 4667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 rot="5400000">
            <a:off x="4599432" y="2395728"/>
            <a:ext cx="457200" cy="457200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301752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child is between two worlds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99432" y="365760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to win at an adopted country’s competitions, and to keep a language and culture that country does not teach.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10144" y="2148840"/>
            <a:ext cx="3410712" cy="2743200"/>
          </a:xfrm>
          <a:prstGeom prst="roundRect">
            <a:avLst>
              <a:gd name="adj" fmla="val 4667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 rot="5400000">
            <a:off x="8284464" y="2395728"/>
            <a:ext cx="457200" cy="457200"/>
          </a:xfrm>
          <a:prstGeom prst="hexagon">
            <a:avLst/>
          </a:prstGeom>
          <a:solidFill>
            <a:srgbClr val="178A4C"/>
          </a:solidFill>
          <a:ln/>
        </p:spPr>
      </p:sp>
      <p:sp>
        <p:nvSpPr>
          <p:cNvPr id="15" name="Text 13"/>
          <p:cNvSpPr/>
          <p:nvPr/>
        </p:nvSpPr>
        <p:spPr>
          <a:xfrm>
            <a:off x="8284464" y="301752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alternatives are poor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84464" y="365760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Photocopied worksheets, tutors at $60–100 an hour, or apps built for a general audience that do not understand this family at all.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" y="52120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C4F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worry is large, permanent, and currently served badly. It is the whole opportunity.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4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182880" y="4343400"/>
            <a:ext cx="777240" cy="777240"/>
          </a:xfrm>
          <a:prstGeom prst="hexagon">
            <a:avLst/>
          </a:prstGeom>
          <a:solidFill>
            <a:srgbClr val="6C4FE0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5400000">
            <a:off x="1280160" y="4343400"/>
            <a:ext cx="777240" cy="777240"/>
          </a:xfrm>
          <a:prstGeom prst="hexagon">
            <a:avLst/>
          </a:prstGeom>
          <a:solidFill>
            <a:srgbClr val="6C4FE0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5400000">
            <a:off x="2377440" y="4343400"/>
            <a:ext cx="777240" cy="777240"/>
          </a:xfrm>
          <a:prstGeom prst="hexagon">
            <a:avLst/>
          </a:prstGeom>
          <a:solidFill>
            <a:srgbClr val="6C4FE0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731520" y="5287061"/>
            <a:ext cx="777240" cy="777240"/>
          </a:xfrm>
          <a:prstGeom prst="hexagon">
            <a:avLst/>
          </a:prstGeom>
          <a:solidFill>
            <a:srgbClr val="6C4FE0">
              <a:alpha val="2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 rot="5400000">
            <a:off x="1828800" y="5287061"/>
            <a:ext cx="777240" cy="777240"/>
          </a:xfrm>
          <a:prstGeom prst="hexagon">
            <a:avLst/>
          </a:prstGeom>
          <a:solidFill>
            <a:srgbClr val="6C4FE0">
              <a:alpha val="2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5400000">
            <a:off x="2926080" y="5287061"/>
            <a:ext cx="777240" cy="777240"/>
          </a:xfrm>
          <a:prstGeom prst="hexagon">
            <a:avLst/>
          </a:prstGeom>
          <a:solidFill>
            <a:srgbClr val="6C4FE0">
              <a:alpha val="2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914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1554480"/>
            <a:ext cx="9692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child of the diaspora walks into any room in the world already equipped to belong in it.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640080" y="393192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"does well at school". Equipped — with the words, the numbers and the nerve to compete anywhere, and the language and history to know where they came from.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DO ABOUT IT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10607040" cy="1234440"/>
          </a:xfrm>
          <a:prstGeom prst="roundRect">
            <a:avLst>
              <a:gd name="adj" fmla="val 10370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24128" y="160020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1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give diaspora families world-class competitive learning — starting with words — in products children actually want to open.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 rot="5400000">
            <a:off x="640080" y="3035808"/>
            <a:ext cx="384048" cy="384048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5844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Competitive, not remedial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prepare children to win things, not to catch up. That is the register the parent is already in.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 rot="5400000">
            <a:off x="4325112" y="3035808"/>
            <a:ext cx="384048" cy="384048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11" name="Text 9"/>
          <p:cNvSpPr/>
          <p:nvPr/>
        </p:nvSpPr>
        <p:spPr>
          <a:xfrm>
            <a:off x="4325112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325112" y="35844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this family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4325112" y="4078224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Heritage, language and diaspora context are first-class, not a localisation afterthought.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 rot="5400000">
            <a:off x="8010144" y="3035808"/>
            <a:ext cx="384048" cy="384048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15" name="Text 13"/>
          <p:cNvSpPr/>
          <p:nvPr/>
        </p:nvSpPr>
        <p:spPr>
          <a:xfrm>
            <a:off x="8010144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010144" y="35844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 enough to open unprompted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8010144" y="4078224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product a child opens on their own beats a better product they have to be nagged into.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55321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is a child who is measurably better at something their parent cares about — and who did the practice willingly.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QUESTIONS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Why, what, how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607040" cy="1371600"/>
          </a:xfrm>
          <a:prstGeom prst="roundRect">
            <a:avLst>
              <a:gd name="adj" fmla="val 9333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 rot="5400000">
            <a:off x="960120" y="1865376"/>
            <a:ext cx="603504" cy="603504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8653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874520" y="1700784"/>
            <a:ext cx="9052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Because ability is not the constraint — access is.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1874520" y="2121408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8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children are not short of talent or of parental will. They are short of good, affordable, culturally-fluent practice. Every hour a parent spends worrying is an hour we can convert into something the child enjoys.</a:t>
            </a:r>
            <a:endParaRPr lang="en-US" sz="1280" dirty="0"/>
          </a:p>
        </p:txBody>
      </p:sp>
      <p:sp>
        <p:nvSpPr>
          <p:cNvPr id="9" name="Shape 7"/>
          <p:cNvSpPr/>
          <p:nvPr/>
        </p:nvSpPr>
        <p:spPr>
          <a:xfrm>
            <a:off x="640080" y="3054096"/>
            <a:ext cx="1060704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 rot="5400000">
            <a:off x="960120" y="3438144"/>
            <a:ext cx="603504" cy="603504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43814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874520" y="3273552"/>
            <a:ext cx="9052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house of competitive-learning products for ages 8–15.</a:t>
            </a:r>
            <a:endParaRPr lang="en-US" sz="1850" dirty="0"/>
          </a:p>
        </p:txBody>
      </p:sp>
      <p:sp>
        <p:nvSpPr>
          <p:cNvPr id="13" name="Text 11"/>
          <p:cNvSpPr/>
          <p:nvPr/>
        </p:nvSpPr>
        <p:spPr>
          <a:xfrm>
            <a:off x="1874520" y="3694176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8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engine, many subjects. Spelling first, because it is the contest this community already organises around. Then the adjacent word products, then heritage language, then numeracy.</a:t>
            </a:r>
            <a:endParaRPr lang="en-US" sz="1280" dirty="0"/>
          </a:p>
        </p:txBody>
      </p:sp>
      <p:sp>
        <p:nvSpPr>
          <p:cNvPr id="14" name="Shape 12"/>
          <p:cNvSpPr/>
          <p:nvPr/>
        </p:nvSpPr>
        <p:spPr>
          <a:xfrm>
            <a:off x="640080" y="4626864"/>
            <a:ext cx="10607040" cy="1371600"/>
          </a:xfrm>
          <a:prstGeom prst="roundRect">
            <a:avLst>
              <a:gd name="adj" fmla="val 9333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 rot="5400000">
            <a:off x="960120" y="5010912"/>
            <a:ext cx="603504" cy="603504"/>
          </a:xfrm>
          <a:prstGeom prst="hexagon">
            <a:avLst/>
          </a:prstGeom>
          <a:solidFill>
            <a:srgbClr val="178A4C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501091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874520" y="4846320"/>
            <a:ext cx="9052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AI-first, founder-run, content-owned.</a:t>
            </a:r>
            <a:endParaRPr lang="en-US" sz="1850" dirty="0"/>
          </a:p>
        </p:txBody>
      </p:sp>
      <p:sp>
        <p:nvSpPr>
          <p:cNvPr id="18" name="Text 16"/>
          <p:cNvSpPr/>
          <p:nvPr/>
        </p:nvSpPr>
        <p:spPr>
          <a:xfrm>
            <a:off x="1874520" y="5266944"/>
            <a:ext cx="9052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8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founders and no agency. The product is built with AI coding tools, the marketing is produced with AI tools, and the content bank — which is the actual moat — is generated, verified and owned in-house.</a:t>
            </a:r>
            <a:endParaRPr lang="en-US" sz="12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4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96112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 one contest completely, then reuse the engine.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542032" cy="3200400"/>
          </a:xfrm>
          <a:prstGeom prst="roundRect">
            <a:avLst>
              <a:gd name="adj" fmla="val 467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6C4F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5400000">
            <a:off x="896112" y="2267712"/>
            <a:ext cx="384048" cy="384048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96112" y="27980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WEDGE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96112" y="30723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Spelling bee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96112" y="3712464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competition this community already organises around — and dominates. We do not have to create the demand or explain the category.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01568" y="2011680"/>
            <a:ext cx="2542032" cy="3200400"/>
          </a:xfrm>
          <a:prstGeom prst="roundRect">
            <a:avLst>
              <a:gd name="adj" fmla="val 467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6C4F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5400000">
            <a:off x="3657600" y="2267712"/>
            <a:ext cx="384048" cy="384048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0" y="27980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BY ENGINE REUSE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57600" y="30723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Adjacent word products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57600" y="3712464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Verbal reasoning, vocabulary and test prep run on the drill engine that already exists. New revenue, near-zero new infrastructure.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63056" y="2011680"/>
            <a:ext cx="2542032" cy="3200400"/>
          </a:xfrm>
          <a:prstGeom prst="roundRect">
            <a:avLst>
              <a:gd name="adj" fmla="val 467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6C4F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419088" y="2267712"/>
            <a:ext cx="384048" cy="384048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18" name="Text 16"/>
          <p:cNvSpPr/>
          <p:nvPr/>
        </p:nvSpPr>
        <p:spPr>
          <a:xfrm>
            <a:off x="6419088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19088" y="27980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DEEPEN THE MOAT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419088" y="30723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Heritage language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419088" y="3712464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category where the diaspora is the entire market rather than a slice of it. Hardest to copy, stickiest to own.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924544" y="2011680"/>
            <a:ext cx="2542032" cy="3200400"/>
          </a:xfrm>
          <a:prstGeom prst="roundRect">
            <a:avLst>
              <a:gd name="adj" fmla="val 467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6C4F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5400000">
            <a:off x="9180576" y="2267712"/>
            <a:ext cx="384048" cy="384048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24" name="Text 22"/>
          <p:cNvSpPr/>
          <p:nvPr/>
        </p:nvSpPr>
        <p:spPr>
          <a:xfrm>
            <a:off x="9180576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180576" y="279806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BROADEN THE HOUSE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180576" y="30723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Numeracy &amp; money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180576" y="3712464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Bizzing Finance and mental-maths extend the brand past words once the word franchise is proven.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40080" y="5504688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sequencing rule: order by how much of the existing engine a product reuses — not by which market is biggest.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already exists, and transfers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Bizzing Bee is not one app. It is a content-drill engine with a spelling skin — and the engine is the company.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2542032" cy="1600200"/>
          </a:xfrm>
          <a:prstGeom prst="roundRect">
            <a:avLst>
              <a:gd name="adj" fmla="val 8000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21284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C4F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128,491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words, every one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 aloud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01568" y="2057400"/>
            <a:ext cx="2542032" cy="1600200"/>
          </a:xfrm>
          <a:prstGeom prst="roundRect">
            <a:avLst>
              <a:gd name="adj" fmla="val 8000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84448" y="221284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C4F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31,000+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584448" y="292608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trivia questions across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themes, 5 levels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63056" y="2057400"/>
            <a:ext cx="2542032" cy="1600200"/>
          </a:xfrm>
          <a:prstGeom prst="roundRect">
            <a:avLst>
              <a:gd name="adj" fmla="val 8000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45936" y="221284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C4F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164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345936" y="292608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chapters,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and advanced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24544" y="2057400"/>
            <a:ext cx="2542032" cy="1600200"/>
          </a:xfrm>
          <a:prstGeom prst="roundRect">
            <a:avLst>
              <a:gd name="adj" fmla="val 8000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07424" y="221284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C4F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107424" y="292608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illustrated books,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1,700 pages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 rot="5400000">
            <a:off x="640080" y="4014216"/>
            <a:ext cx="310896" cy="310896"/>
          </a:xfrm>
          <a:prstGeom prst="hexagon">
            <a:avLst/>
          </a:prstGeom>
          <a:solidFill>
            <a:srgbClr val="178A4C"/>
          </a:solidFill>
          <a:ln/>
        </p:spPr>
      </p:sp>
      <p:sp>
        <p:nvSpPr>
          <p:cNvPr id="18" name="Text 16"/>
          <p:cNvSpPr/>
          <p:nvPr/>
        </p:nvSpPr>
        <p:spPr>
          <a:xfrm>
            <a:off x="1115568" y="39776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Transfers as-is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749040" y="397764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pipeline · adaptive progression · game layer · avatars &amp; rewards · offline delivery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rot="5400000">
            <a:off x="640080" y="4672584"/>
            <a:ext cx="310896" cy="310896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21" name="Text 19"/>
          <p:cNvSpPr/>
          <p:nvPr/>
        </p:nvSpPr>
        <p:spPr>
          <a:xfrm>
            <a:off x="1115568" y="463600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Transfers with new content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749040" y="4636008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Verbal reasoning · heritage vocabulary · mental maths · financial literacy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 rot="5400000">
            <a:off x="640080" y="5330952"/>
            <a:ext cx="310896" cy="310896"/>
          </a:xfrm>
          <a:prstGeom prst="hexagon">
            <a:avLst/>
          </a:prstGeom>
          <a:solidFill>
            <a:srgbClr val="C4453C"/>
          </a:solidFill>
          <a:ln/>
        </p:spPr>
      </p:sp>
      <p:sp>
        <p:nvSpPr>
          <p:cNvPr id="24" name="Text 22"/>
          <p:cNvSpPr/>
          <p:nvPr/>
        </p:nvSpPr>
        <p:spPr>
          <a:xfrm>
            <a:off x="1115568" y="529437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not transfer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749040" y="5294376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needing a solver, a rating system or a live teacher — chess, coding, music, dance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HOUSE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Brand architecture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 are brands. Geography is a hook, not a second brand — and the hook is free so the pack inside it can be paid.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937760" y="1993392"/>
            <a:ext cx="2286000" cy="658368"/>
          </a:xfrm>
          <a:prstGeom prst="roundRect">
            <a:avLst>
              <a:gd name="adj" fmla="val 19444"/>
            </a:avLst>
          </a:prstGeom>
          <a:solidFill>
            <a:srgbClr val="241E33"/>
          </a:solidFill>
          <a:ln/>
        </p:spPr>
      </p:sp>
      <p:sp>
        <p:nvSpPr>
          <p:cNvPr id="6" name="Text 4"/>
          <p:cNvSpPr/>
          <p:nvPr/>
        </p:nvSpPr>
        <p:spPr>
          <a:xfrm>
            <a:off x="4937760" y="199339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BIZZING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6080760" y="2651760"/>
            <a:ext cx="0" cy="310896"/>
          </a:xfrm>
          <a:prstGeom prst="line">
            <a:avLst/>
          </a:prstGeom>
          <a:noFill/>
          <a:ln w="25400">
            <a:solidFill>
              <a:srgbClr val="E3DC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28800" y="2962656"/>
            <a:ext cx="8503920" cy="0"/>
          </a:xfrm>
          <a:prstGeom prst="line">
            <a:avLst/>
          </a:prstGeom>
          <a:noFill/>
          <a:ln w="25400">
            <a:solidFill>
              <a:srgbClr val="E3DC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86000" y="2962656"/>
            <a:ext cx="0" cy="329184"/>
          </a:xfrm>
          <a:prstGeom prst="line">
            <a:avLst/>
          </a:prstGeom>
          <a:noFill/>
          <a:ln w="25400">
            <a:solidFill>
              <a:srgbClr val="E3DC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3291840"/>
            <a:ext cx="3200400" cy="1572768"/>
          </a:xfrm>
          <a:prstGeom prst="roundRect">
            <a:avLst>
              <a:gd name="adj" fmla="val 8140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05256" y="3456432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Bizzing Bee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905256" y="3822192"/>
            <a:ext cx="2761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&amp; words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05256" y="4114800"/>
            <a:ext cx="27614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wedge. Proven demand, an existing competition, and the engine everything else reuses.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587752" y="3419856"/>
            <a:ext cx="1078992" cy="274320"/>
          </a:xfrm>
          <a:prstGeom prst="roundRect">
            <a:avLst>
              <a:gd name="adj" fmla="val 50000"/>
            </a:avLst>
          </a:prstGeom>
          <a:solidFill>
            <a:srgbClr val="178A4C"/>
          </a:solidFill>
          <a:ln/>
        </p:spPr>
      </p:sp>
      <p:sp>
        <p:nvSpPr>
          <p:cNvPr id="15" name="Text 13"/>
          <p:cNvSpPr/>
          <p:nvPr/>
        </p:nvSpPr>
        <p:spPr>
          <a:xfrm>
            <a:off x="2587752" y="341985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· PAID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080760" y="2962656"/>
            <a:ext cx="0" cy="329184"/>
          </a:xfrm>
          <a:prstGeom prst="line">
            <a:avLst/>
          </a:prstGeom>
          <a:noFill/>
          <a:ln w="25400">
            <a:solidFill>
              <a:srgbClr val="E3DC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80560" y="3291840"/>
            <a:ext cx="3200400" cy="1572768"/>
          </a:xfrm>
          <a:prstGeom prst="roundRect">
            <a:avLst>
              <a:gd name="adj" fmla="val 8140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00016" y="3456432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Bizzing India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700016" y="3822192"/>
            <a:ext cx="2761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— the hook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00016" y="4114800"/>
            <a:ext cx="27614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Stories, festivals, mythology, the words English took from India. Free, shareable, and why a family arrives.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382512" y="3419856"/>
            <a:ext cx="1078992" cy="274320"/>
          </a:xfrm>
          <a:prstGeom prst="roundRect">
            <a:avLst>
              <a:gd name="adj" fmla="val 50000"/>
            </a:avLst>
          </a:prstGeom>
          <a:solidFill>
            <a:srgbClr val="F0B429"/>
          </a:solidFill>
          <a:ln/>
        </p:spPr>
      </p:sp>
      <p:sp>
        <p:nvSpPr>
          <p:cNvPr id="22" name="Text 20"/>
          <p:cNvSpPr/>
          <p:nvPr/>
        </p:nvSpPr>
        <p:spPr>
          <a:xfrm>
            <a:off x="6382512" y="341985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9875520" y="2962656"/>
            <a:ext cx="0" cy="329184"/>
          </a:xfrm>
          <a:prstGeom prst="line">
            <a:avLst/>
          </a:prstGeom>
          <a:noFill/>
          <a:ln w="25400">
            <a:solidFill>
              <a:srgbClr val="E3DCF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75320" y="3291840"/>
            <a:ext cx="3200400" cy="1572768"/>
          </a:xfrm>
          <a:prstGeom prst="roundRect">
            <a:avLst>
              <a:gd name="adj" fmla="val 8140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494776" y="3456432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Bizzing Finance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494776" y="3822192"/>
            <a:ext cx="2761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&amp; numeracy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494776" y="4114800"/>
            <a:ext cx="27614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the house past words, and reaches the age band where the bee stops.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177272" y="3419856"/>
            <a:ext cx="1078992" cy="274320"/>
          </a:xfrm>
          <a:prstGeom prst="roundRect">
            <a:avLst>
              <a:gd name="adj" fmla="val 50000"/>
            </a:avLst>
          </a:prstGeom>
          <a:solidFill>
            <a:srgbClr val="6C4FE0"/>
          </a:solidFill>
          <a:ln/>
        </p:spPr>
      </p:sp>
      <p:sp>
        <p:nvSpPr>
          <p:cNvPr id="29" name="Text 27"/>
          <p:cNvSpPr/>
          <p:nvPr/>
        </p:nvSpPr>
        <p:spPr>
          <a:xfrm>
            <a:off x="10177272" y="341985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FLIGHT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080760" y="4864608"/>
            <a:ext cx="0" cy="274320"/>
          </a:xfrm>
          <a:prstGeom prst="line">
            <a:avLst/>
          </a:prstGeom>
          <a:noFill/>
          <a:ln w="25400">
            <a:solidFill>
              <a:srgbClr val="F0B42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80560" y="5138928"/>
            <a:ext cx="3200400" cy="841248"/>
          </a:xfrm>
          <a:prstGeom prst="roundRect">
            <a:avLst>
              <a:gd name="adj" fmla="val 15217"/>
            </a:avLst>
          </a:prstGeom>
          <a:solidFill>
            <a:srgbClr val="FBF3E0"/>
          </a:solidFill>
          <a:ln w="19050">
            <a:solidFill>
              <a:srgbClr val="F0B42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00016" y="5248656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A5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Bizzing Bhasha</a:t>
            </a:r>
            <a:endParaRPr lang="en-US" sz="1550" dirty="0"/>
          </a:p>
        </p:txBody>
      </p:sp>
      <p:sp>
        <p:nvSpPr>
          <p:cNvPr id="33" name="Shape 31"/>
          <p:cNvSpPr/>
          <p:nvPr/>
        </p:nvSpPr>
        <p:spPr>
          <a:xfrm>
            <a:off x="6492240" y="5266944"/>
            <a:ext cx="969264" cy="256032"/>
          </a:xfrm>
          <a:prstGeom prst="roundRect">
            <a:avLst>
              <a:gd name="adj" fmla="val 50000"/>
            </a:avLst>
          </a:prstGeom>
          <a:solidFill>
            <a:srgbClr val="8A5B00"/>
          </a:solidFill>
          <a:ln/>
        </p:spPr>
      </p:sp>
      <p:sp>
        <p:nvSpPr>
          <p:cNvPr id="34" name="Text 32"/>
          <p:cNvSpPr/>
          <p:nvPr/>
        </p:nvSpPr>
        <p:spPr>
          <a:xfrm>
            <a:off x="6492240" y="5266944"/>
            <a:ext cx="969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700016" y="557784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8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first, then Tamil and Telugu. The pack the culture hook converts into.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40080" y="614476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rule to settle now: sub-brands are SUBJECTS. "Bizzing India" is the one exception and it earns it by being a free hook, not a market. There is no "Bizzing UK" — the UK gets an edition of Bizzing Eleven.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Roadmap, view one: by milestone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launches on a date. Each product unlocks when the one before it has proved something specific.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901952" y="2788920"/>
            <a:ext cx="8174736" cy="0"/>
          </a:xfrm>
          <a:prstGeom prst="line">
            <a:avLst/>
          </a:prstGeom>
          <a:noFill/>
          <a:ln w="38100">
            <a:solidFill>
              <a:srgbClr val="E3DC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1645920" y="2532888"/>
            <a:ext cx="512064" cy="512064"/>
          </a:xfrm>
          <a:prstGeom prst="hexagon">
            <a:avLst/>
          </a:prstGeom>
          <a:solidFill>
            <a:srgbClr val="178A4C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103120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60" kern="0" dirty="0">
                <a:solidFill>
                  <a:srgbClr val="178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40080" y="3310128"/>
            <a:ext cx="2523744" cy="2212848"/>
          </a:xfrm>
          <a:prstGeom prst="roundRect">
            <a:avLst>
              <a:gd name="adj" fmla="val 5785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41248" y="3474720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Bizzing Bee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1248" y="404164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Spelling, live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41248" y="4352544"/>
            <a:ext cx="212140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wedge. Free app, paid packs, the YouTube channel feeding it.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 rot="5400000">
            <a:off x="4370832" y="2532888"/>
            <a:ext cx="512064" cy="512064"/>
          </a:xfrm>
          <a:prstGeom prst="hexagon">
            <a:avLst/>
          </a:prstGeom>
          <a:solidFill>
            <a:srgbClr val="F0B429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64992" y="2103120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60" kern="0" dirty="0">
                <a:solidFill>
                  <a:srgbClr val="8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1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364992" y="3310128"/>
            <a:ext cx="2523744" cy="2212848"/>
          </a:xfrm>
          <a:prstGeom prst="roundRect">
            <a:avLst>
              <a:gd name="adj" fmla="val 57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364992" y="3310128"/>
            <a:ext cx="2523744" cy="2212848"/>
          </a:xfrm>
          <a:prstGeom prst="roundRect">
            <a:avLst>
              <a:gd name="adj" fmla="val 5785"/>
            </a:avLst>
          </a:prstGeom>
          <a:solidFill>
            <a:srgbClr val="FFFFFF"/>
          </a:solidFill>
          <a:ln w="15875">
            <a:solidFill>
              <a:srgbClr val="E3DC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66160" y="3474720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Bizzing India + Bhasha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566160" y="404164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free, language paid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566160" y="4352544"/>
            <a:ext cx="212140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Unlocks when Bee shows a repeatable way to acquire a family and keep them past the first month.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 rot="5400000">
            <a:off x="7095744" y="2532888"/>
            <a:ext cx="512064" cy="512064"/>
          </a:xfrm>
          <a:prstGeom prst="hexagon">
            <a:avLst/>
          </a:prstGeom>
          <a:solidFill>
            <a:srgbClr val="6C4FE0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89904" y="2103120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6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2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089904" y="3310128"/>
            <a:ext cx="2523744" cy="2212848"/>
          </a:xfrm>
          <a:prstGeom prst="roundRect">
            <a:avLst>
              <a:gd name="adj" fmla="val 57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089904" y="3310128"/>
            <a:ext cx="2523744" cy="2212848"/>
          </a:xfrm>
          <a:prstGeom prst="roundRect">
            <a:avLst>
              <a:gd name="adj" fmla="val 5785"/>
            </a:avLst>
          </a:prstGeom>
          <a:solidFill>
            <a:srgbClr val="FFFFFF"/>
          </a:solidFill>
          <a:ln w="15875">
            <a:solidFill>
              <a:srgbClr val="E3DC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91072" y="3474720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Bizzing Eleven / Prep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291072" y="404164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verbal reasoning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291072" y="4352544"/>
            <a:ext cx="212140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Unlocks when a second paid pack proves families will buy more than one thing from us.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 rot="5400000">
            <a:off x="9820656" y="2532888"/>
            <a:ext cx="512064" cy="512064"/>
          </a:xfrm>
          <a:prstGeom prst="hexagon">
            <a:avLst/>
          </a:prstGeom>
          <a:solidFill>
            <a:srgbClr val="6C4FE0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14816" y="2103120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6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3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814816" y="3310128"/>
            <a:ext cx="2523744" cy="2212848"/>
          </a:xfrm>
          <a:prstGeom prst="roundRect">
            <a:avLst>
              <a:gd name="adj" fmla="val 57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814816" y="3310128"/>
            <a:ext cx="2523744" cy="2212848"/>
          </a:xfrm>
          <a:prstGeom prst="roundRect">
            <a:avLst>
              <a:gd name="adj" fmla="val 5785"/>
            </a:avLst>
          </a:prstGeom>
          <a:solidFill>
            <a:srgbClr val="FFFFFF"/>
          </a:solidFill>
          <a:ln w="15875">
            <a:solidFill>
              <a:srgbClr val="E3DCF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15984" y="3474720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Bizzing Finance, older ages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015984" y="404164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the bee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015984" y="4352544"/>
            <a:ext cx="212140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Unlocks when households run more than one product on one account — the multi-product home.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40080" y="57424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gates are deliberately written as proofs, not targets — the numbers behind each one are the CMO’s to set.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Roadmap, view two: by the age of the child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family with three children is with Bizzing from the first child at four to the last at sixteen. The gaps are where we hand them back.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2011680" cy="566928"/>
          </a:xfrm>
          <a:prstGeom prst="roundRect">
            <a:avLst>
              <a:gd name="adj" fmla="val 19355"/>
            </a:avLst>
          </a:prstGeom>
          <a:solidFill>
            <a:srgbClr val="241E3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01168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4–6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31520" y="2670048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Letters, sounds,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words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31520" y="3346704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C4453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46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SPACE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31520" y="36758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yet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31520" y="4023360"/>
            <a:ext cx="182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Phonics, letter sounds, first-word games, Indian nursery stories. The child cannot read — so this is audio and pictures, which the engine already does.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852928" y="2011680"/>
            <a:ext cx="2011680" cy="566928"/>
          </a:xfrm>
          <a:prstGeom prst="roundRect">
            <a:avLst>
              <a:gd name="adj" fmla="val 19355"/>
            </a:avLst>
          </a:prstGeom>
          <a:solidFill>
            <a:srgbClr val="241E33"/>
          </a:solidFill>
          <a:ln/>
        </p:spPr>
      </p:sp>
      <p:sp>
        <p:nvSpPr>
          <p:cNvPr id="13" name="Text 11"/>
          <p:cNvSpPr/>
          <p:nvPr/>
        </p:nvSpPr>
        <p:spPr>
          <a:xfrm>
            <a:off x="2852928" y="201168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6–8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2944368" y="2670048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fluency,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spelling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944368" y="3346704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F0B429"/>
          </a:solidFill>
          <a:ln/>
        </p:spPr>
      </p:sp>
      <p:sp>
        <p:nvSpPr>
          <p:cNvPr id="16" name="Text 14"/>
          <p:cNvSpPr/>
          <p:nvPr/>
        </p:nvSpPr>
        <p:spPr>
          <a:xfrm>
            <a:off x="2944368" y="3346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944368" y="36758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Bee, entry levels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944368" y="4023360"/>
            <a:ext cx="182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Bizzing Bee starts too hard for most six-year-olds. A gentler on-ramp keeps the younger sibling instead of losing them.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65776" y="2011680"/>
            <a:ext cx="2011680" cy="566928"/>
          </a:xfrm>
          <a:prstGeom prst="roundRect">
            <a:avLst>
              <a:gd name="adj" fmla="val 19355"/>
            </a:avLst>
          </a:prstGeom>
          <a:solidFill>
            <a:srgbClr val="241E33"/>
          </a:solidFill>
          <a:ln/>
        </p:spPr>
      </p:sp>
      <p:sp>
        <p:nvSpPr>
          <p:cNvPr id="20" name="Text 18"/>
          <p:cNvSpPr/>
          <p:nvPr/>
        </p:nvSpPr>
        <p:spPr>
          <a:xfrm>
            <a:off x="5065776" y="201168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8–10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5157216" y="2670048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bee,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vocabulary, GK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157216" y="3346704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178A4C"/>
          </a:solidFill>
          <a:ln/>
        </p:spPr>
      </p:sp>
      <p:sp>
        <p:nvSpPr>
          <p:cNvPr id="23" name="Text 21"/>
          <p:cNvSpPr/>
          <p:nvPr/>
        </p:nvSpPr>
        <p:spPr>
          <a:xfrm>
            <a:off x="5157216" y="3346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157216" y="36758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Bizzing Bee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157216" y="4023360"/>
            <a:ext cx="182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core. Everything built so far lands squarely here, and this is where the bee community lives.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278624" y="2011680"/>
            <a:ext cx="2011680" cy="566928"/>
          </a:xfrm>
          <a:prstGeom prst="roundRect">
            <a:avLst>
              <a:gd name="adj" fmla="val 19355"/>
            </a:avLst>
          </a:prstGeom>
          <a:solidFill>
            <a:srgbClr val="241E33"/>
          </a:solidFill>
          <a:ln/>
        </p:spPr>
      </p:sp>
      <p:sp>
        <p:nvSpPr>
          <p:cNvPr id="27" name="Text 25"/>
          <p:cNvSpPr/>
          <p:nvPr/>
        </p:nvSpPr>
        <p:spPr>
          <a:xfrm>
            <a:off x="7278624" y="201168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10–12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7370064" y="2670048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bee, 11+,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gifted testing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370064" y="3346704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178A4C"/>
          </a:solidFill>
          <a:ln/>
        </p:spPr>
      </p:sp>
      <p:sp>
        <p:nvSpPr>
          <p:cNvPr id="30" name="Text 28"/>
          <p:cNvSpPr/>
          <p:nvPr/>
        </p:nvSpPr>
        <p:spPr>
          <a:xfrm>
            <a:off x="7370064" y="3346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370064" y="36758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· Eleven · Bhasha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370064" y="4023360"/>
            <a:ext cx="182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highest-intent, highest-spend years. Three products can serve one child at once.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491472" y="2011680"/>
            <a:ext cx="2011680" cy="566928"/>
          </a:xfrm>
          <a:prstGeom prst="roundRect">
            <a:avLst>
              <a:gd name="adj" fmla="val 19355"/>
            </a:avLst>
          </a:prstGeom>
          <a:solidFill>
            <a:srgbClr val="241E33"/>
          </a:solidFill>
          <a:ln/>
        </p:spPr>
      </p:sp>
      <p:sp>
        <p:nvSpPr>
          <p:cNvPr id="34" name="Text 32"/>
          <p:cNvSpPr/>
          <p:nvPr/>
        </p:nvSpPr>
        <p:spPr>
          <a:xfrm>
            <a:off x="9491472" y="201168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12–16</a:t>
            </a:r>
            <a:endParaRPr lang="en-US" sz="1900" dirty="0"/>
          </a:p>
        </p:txBody>
      </p:sp>
      <p:sp>
        <p:nvSpPr>
          <p:cNvPr id="35" name="Text 33"/>
          <p:cNvSpPr/>
          <p:nvPr/>
        </p:nvSpPr>
        <p:spPr>
          <a:xfrm>
            <a:off x="9582912" y="2670048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Debate, essays,</a:t>
            </a:r>
            <a:endParaRPr lang="en-US" sz="11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money, SAT words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9582912" y="3346704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C4453C"/>
          </a:solidFill>
          <a:ln/>
        </p:spPr>
      </p:sp>
      <p:sp>
        <p:nvSpPr>
          <p:cNvPr id="37" name="Text 35"/>
          <p:cNvSpPr/>
          <p:nvPr/>
        </p:nvSpPr>
        <p:spPr>
          <a:xfrm>
            <a:off x="9582912" y="3346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SPACE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9582912" y="36758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only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582912" y="4023360"/>
            <a:ext cx="1828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bee ends around fourteen and the family leaves. This is the churn cliff, and the biggest single gap in the house.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40080" y="5596128"/>
            <a:ext cx="10607040" cy="658368"/>
          </a:xfrm>
          <a:prstGeom prst="roundRect">
            <a:avLst>
              <a:gd name="adj" fmla="val 19444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950976" y="5596128"/>
            <a:ext cx="9966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Bizzing’s job is never to hand a family back. Two gaps do exactly that today — the four-to-six on-ramp, and the cliff after the bee ends at fourteen. Both are product decisions, not marketing ones.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4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STRATEGY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Earn attention, prove it in person, then pay to scale it.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 matters more than the mix. Paid media applied to content nobody trusts yet is the fastest way to spend money badly.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 rot="5400000">
            <a:off x="640080" y="2350008"/>
            <a:ext cx="384048" cy="384048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350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07008" y="225856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YouTube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207008" y="26243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Earns trust and reach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520440" y="2240280"/>
            <a:ext cx="8001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Long-form documentaries make a stranger believe we know words. Shorts put us in front of families no targeting could find. A video keeps working for years; an ad stops the day the card does.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 rot="5400000">
            <a:off x="640080" y="3337560"/>
            <a:ext cx="384048" cy="384048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07008" y="32461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Events &amp; community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207008" y="36118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trust into proof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520440" y="3227832"/>
            <a:ext cx="8001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bees, cultural associations, temple and community fairs, homeschool conferences — where this diaspora already gathers. Small reach, unmatched credibility. Parent WhatsApp groups are the real distribution channel.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 rot="5400000">
            <a:off x="640080" y="4325112"/>
            <a:ext cx="384048" cy="384048"/>
          </a:xfrm>
          <a:prstGeom prst="hexagon">
            <a:avLst/>
          </a:prstGeom>
          <a:solidFill>
            <a:srgbClr val="178A4C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325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07008" y="423367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Paid media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207008" y="4599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what is proven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520440" y="4215384"/>
            <a:ext cx="8001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Harvests demand the content created and retargets the warmed. Creative comes from the channel, not from an agency. It amplifies; it does not originate.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 rot="5400000">
            <a:off x="640080" y="5312664"/>
            <a:ext cx="384048" cy="384048"/>
          </a:xfrm>
          <a:prstGeom prst="hexagon">
            <a:avLst/>
          </a:prstGeom>
          <a:solidFill>
            <a:srgbClr val="E3B23C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312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07008" y="522122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child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207008" y="55869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 all three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520440" y="5202936"/>
            <a:ext cx="8001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child who likes the app tells other children, and a champion who used it is worth more than any campaign. The CKO role exists partly for this.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263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budgets, targets or channel splits here by design — those are the CMO’s call. This slide fixes the ORDER, not the numbers.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STRATEGY · 1 OF 3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YouTube is not an ad channel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only asset that earns trust while we sleep — and the one place a parent decides whether Bizzing is serious.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3410712" cy="2286000"/>
          </a:xfrm>
          <a:prstGeom prst="roundRect">
            <a:avLst>
              <a:gd name="adj" fmla="val 5600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 rot="5400000">
            <a:off x="914400" y="2331720"/>
            <a:ext cx="420624" cy="420624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871216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Authority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273552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choosing where their child practises is really asking whether we know the subject. Ten minutes of well-made history about words answers that better than any landing page.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5112" y="2103120"/>
            <a:ext cx="3410712" cy="2286000"/>
          </a:xfrm>
          <a:prstGeom prst="roundRect">
            <a:avLst>
              <a:gd name="adj" fmla="val 5600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 rot="5400000">
            <a:off x="4599432" y="2331720"/>
            <a:ext cx="420624" cy="420624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2871216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Discovery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99432" y="3273552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reaches families we could never target — the ones who do not yet know a product like this exists. That is reach we do not have to buy.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10144" y="2103120"/>
            <a:ext cx="3410712" cy="2286000"/>
          </a:xfrm>
          <a:prstGeom prst="roundRect">
            <a:avLst>
              <a:gd name="adj" fmla="val 5600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 rot="5400000">
            <a:off x="8284464" y="2331720"/>
            <a:ext cx="420624" cy="420624"/>
          </a:xfrm>
          <a:prstGeom prst="hexagon">
            <a:avLst/>
          </a:prstGeom>
          <a:solidFill>
            <a:srgbClr val="178A4C"/>
          </a:solidFill>
          <a:ln/>
        </p:spPr>
      </p:sp>
      <p:sp>
        <p:nvSpPr>
          <p:cNvPr id="15" name="Text 13"/>
          <p:cNvSpPr/>
          <p:nvPr/>
        </p:nvSpPr>
        <p:spPr>
          <a:xfrm>
            <a:off x="8284464" y="2871216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asset, not a spend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84464" y="3273552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documentary published this year is still working in five. Paid media stops the moment the card stops. Over time the channel becomes the cheapest acquisition we own.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" y="44988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audiences, one video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 rot="5400000">
            <a:off x="640080" y="4974336"/>
            <a:ext cx="274320" cy="274320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19" name="Text 17"/>
          <p:cNvSpPr/>
          <p:nvPr/>
        </p:nvSpPr>
        <p:spPr>
          <a:xfrm>
            <a:off x="1042416" y="491947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parent decides.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42416" y="523036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need to see rigour — real sources, real history, nothing that feels like a cartoon selling something.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 rot="5400000">
            <a:off x="6035040" y="4974336"/>
            <a:ext cx="274320" cy="274320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22" name="Text 20"/>
          <p:cNvSpPr/>
          <p:nvPr/>
        </p:nvSpPr>
        <p:spPr>
          <a:xfrm>
            <a:off x="6437376" y="491947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 watches.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37376" y="523036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need story and pace. If the child is bored the parent never finishes it either.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40080" y="60350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C4F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rule that follows: the video never sells. The product is named once, at the end, and that is the whole ask.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STRATEGY · 2 OF 3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content pillars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pillar does a different job in the funnel. Together they cover reach, trust and intent.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074920" cy="1783080"/>
          </a:xfrm>
          <a:prstGeom prst="roundRect">
            <a:avLst>
              <a:gd name="adj" fmla="val 7179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 rot="5400000">
            <a:off x="877824" y="2231136"/>
            <a:ext cx="384048" cy="384048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7" name="Text 5"/>
          <p:cNvSpPr/>
          <p:nvPr/>
        </p:nvSpPr>
        <p:spPr>
          <a:xfrm>
            <a:off x="1408176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Story documentaries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26280" y="2249424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E3DCF2"/>
          </a:solidFill>
          <a:ln/>
        </p:spPr>
      </p:sp>
      <p:sp>
        <p:nvSpPr>
          <p:cNvPr id="9" name="Text 7"/>
          <p:cNvSpPr/>
          <p:nvPr/>
        </p:nvSpPr>
        <p:spPr>
          <a:xfrm>
            <a:off x="4526280" y="224942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form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77824" y="2633472"/>
            <a:ext cx="4617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stories about words and the people who used them. "Before the Bee" — the 1908 contest and the girl whose medal was never found. "The Right Word" — four times somebody reached for a word and the world changed.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77824" y="3364992"/>
            <a:ext cx="4617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i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Job:  </a:t>
            </a:r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Authority. The piece a parent shares with another parent.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35040" y="2011680"/>
            <a:ext cx="507492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35040" y="2011680"/>
            <a:ext cx="507492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5875">
            <a:solidFill>
              <a:srgbClr val="E3DC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6272784" y="2231136"/>
            <a:ext cx="384048" cy="384048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15" name="Text 13"/>
          <p:cNvSpPr/>
          <p:nvPr/>
        </p:nvSpPr>
        <p:spPr>
          <a:xfrm>
            <a:off x="6803136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Word-origin shorts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921240" y="2249424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E3DCF2"/>
          </a:solidFill>
          <a:ln/>
        </p:spPr>
      </p:sp>
      <p:sp>
        <p:nvSpPr>
          <p:cNvPr id="17" name="Text 15"/>
          <p:cNvSpPr/>
          <p:nvPr/>
        </p:nvSpPr>
        <p:spPr>
          <a:xfrm>
            <a:off x="9921240" y="224942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form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272784" y="2633472"/>
            <a:ext cx="4617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word, one surprising origin, under a minute. Why "knight" keeps a silent K. Why the menu says beef and the field says cow. Built straight from the app’s existing etymology bank.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72784" y="3364992"/>
            <a:ext cx="4617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i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Job:  </a:t>
            </a:r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Reach. Volume the algorithm can work with, at almost no marginal cost.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4023360"/>
            <a:ext cx="507492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4023360"/>
            <a:ext cx="507492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5875">
            <a:solidFill>
              <a:srgbClr val="E3DC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877824" y="4242816"/>
            <a:ext cx="384048" cy="384048"/>
          </a:xfrm>
          <a:prstGeom prst="hexagon">
            <a:avLst/>
          </a:prstGeom>
          <a:solidFill>
            <a:srgbClr val="178A4C"/>
          </a:solidFill>
          <a:ln/>
        </p:spPr>
      </p:sp>
      <p:sp>
        <p:nvSpPr>
          <p:cNvPr id="23" name="Text 21"/>
          <p:cNvSpPr/>
          <p:nvPr/>
        </p:nvSpPr>
        <p:spPr>
          <a:xfrm>
            <a:off x="1408176" y="42062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Bee craft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526280" y="4261104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E3DCF2"/>
          </a:solidFill>
          <a:ln/>
        </p:spPr>
      </p:sp>
      <p:sp>
        <p:nvSpPr>
          <p:cNvPr id="25" name="Text 23"/>
          <p:cNvSpPr/>
          <p:nvPr/>
        </p:nvSpPr>
        <p:spPr>
          <a:xfrm>
            <a:off x="4526280" y="426110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form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77824" y="4645152"/>
            <a:ext cx="4617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champions actually study: root patterns, language-of-origin cues, what to ask the pronouncer, how to handle a word you have never seen.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77824" y="5376672"/>
            <a:ext cx="4617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i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Job:  </a:t>
            </a:r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Intent. These viewers are already preparing — the shortest path to a trial.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35040" y="4023360"/>
            <a:ext cx="5074920" cy="1783080"/>
          </a:xfrm>
          <a:prstGeom prst="roundRect">
            <a:avLst>
              <a:gd name="adj" fmla="val 7179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 rot="5400000">
            <a:off x="6272784" y="4242816"/>
            <a:ext cx="384048" cy="384048"/>
          </a:xfrm>
          <a:prstGeom prst="hexagon">
            <a:avLst/>
          </a:prstGeom>
          <a:solidFill>
            <a:srgbClr val="E3B23C"/>
          </a:solidFill>
          <a:ln/>
        </p:spPr>
      </p:sp>
      <p:sp>
        <p:nvSpPr>
          <p:cNvPr id="30" name="Text 28"/>
          <p:cNvSpPr/>
          <p:nvPr/>
        </p:nvSpPr>
        <p:spPr>
          <a:xfrm>
            <a:off x="6803136" y="42062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Culture &amp; India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9921240" y="4261104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E3DCF2"/>
          </a:solidFill>
          <a:ln/>
        </p:spPr>
      </p:sp>
      <p:sp>
        <p:nvSpPr>
          <p:cNvPr id="32" name="Text 30"/>
          <p:cNvSpPr/>
          <p:nvPr/>
        </p:nvSpPr>
        <p:spPr>
          <a:xfrm>
            <a:off x="9921240" y="426110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272784" y="4645152"/>
            <a:ext cx="4617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Festivals, mythology, the words English took from India, why the diaspora spells the way it does. Feeds Bizzing India directly.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272784" y="5376672"/>
            <a:ext cx="4617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i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Job:  </a:t>
            </a:r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Connection. The pillar that makes this channel ours and nobody else’s.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40080" y="605332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C4F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documentary yields six to ten shorts, and a shorts run seeds a book chapter. Nothing is made once.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STRATEGY · 3 OF 3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runs, and where it lands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 rot="5400000">
            <a:off x="640080" y="1901952"/>
            <a:ext cx="384048" cy="384048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901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8720" y="19019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written to one message, checked against sources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 rot="5400000">
            <a:off x="640080" y="2468880"/>
            <a:ext cx="384048" cy="384048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88720" y="2468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Narration generated and blind-verified for accent and words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 rot="5400000">
            <a:off x="640080" y="3035808"/>
            <a:ext cx="384048" cy="384048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88720" y="303580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Plates generated; archive photographs used where a real person appears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 rot="5400000">
            <a:off x="640080" y="3602736"/>
            <a:ext cx="384048" cy="384048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602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360273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Assembled by the render pipeline, timed to the narration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261104"/>
            <a:ext cx="5212080" cy="841248"/>
          </a:xfrm>
          <a:prstGeom prst="roundRect">
            <a:avLst>
              <a:gd name="adj" fmla="val 15217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96112" y="4261104"/>
            <a:ext cx="47000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episodes are already built this way, founder-run, with no editor, agency or studio.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309360" y="14630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from a video to a paying family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 rot="5400000">
            <a:off x="6309360" y="1956816"/>
            <a:ext cx="310896" cy="310896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21" name="Shape 19"/>
          <p:cNvSpPr/>
          <p:nvPr/>
        </p:nvSpPr>
        <p:spPr>
          <a:xfrm>
            <a:off x="6464808" y="2286000"/>
            <a:ext cx="0" cy="274320"/>
          </a:xfrm>
          <a:prstGeom prst="line">
            <a:avLst/>
          </a:prstGeom>
          <a:noFill/>
          <a:ln w="19050">
            <a:solidFill>
              <a:srgbClr val="E3DC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03136" y="190195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18388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story worth ten minutes, or a short worth sixty seconds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 rot="5400000">
            <a:off x="6309360" y="2615184"/>
            <a:ext cx="310896" cy="310896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25" name="Shape 23"/>
          <p:cNvSpPr/>
          <p:nvPr/>
        </p:nvSpPr>
        <p:spPr>
          <a:xfrm>
            <a:off x="6464808" y="2944368"/>
            <a:ext cx="0" cy="274320"/>
          </a:xfrm>
          <a:prstGeom prst="line">
            <a:avLst/>
          </a:prstGeom>
          <a:noFill/>
          <a:ln w="19050">
            <a:solidFill>
              <a:srgbClr val="E3DC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03136" y="256032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183880" y="25603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on screen; nothing oversold; no pitch inside the film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 rot="5400000">
            <a:off x="6309360" y="3273552"/>
            <a:ext cx="310896" cy="310896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29" name="Shape 27"/>
          <p:cNvSpPr/>
          <p:nvPr/>
        </p:nvSpPr>
        <p:spPr>
          <a:xfrm>
            <a:off x="6464808" y="3602736"/>
            <a:ext cx="0" cy="274320"/>
          </a:xfrm>
          <a:prstGeom prst="line">
            <a:avLst/>
          </a:prstGeom>
          <a:noFill/>
          <a:ln w="19050">
            <a:solidFill>
              <a:srgbClr val="E3DCF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03136" y="321868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the app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183880" y="321868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link in the description, free and instant — no signup wall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 rot="5400000">
            <a:off x="6309360" y="3931920"/>
            <a:ext cx="310896" cy="310896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33" name="Shape 31"/>
          <p:cNvSpPr/>
          <p:nvPr/>
        </p:nvSpPr>
        <p:spPr>
          <a:xfrm>
            <a:off x="6464808" y="4261104"/>
            <a:ext cx="0" cy="274320"/>
          </a:xfrm>
          <a:prstGeom prst="line">
            <a:avLst/>
          </a:prstGeom>
          <a:noFill/>
          <a:ln w="19050">
            <a:solidFill>
              <a:srgbClr val="E3DCF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03136" y="387705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an account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183880" y="3877056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worth keeping is the reason, not a gate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 rot="5400000">
            <a:off x="6309360" y="4590288"/>
            <a:ext cx="310896" cy="310896"/>
          </a:xfrm>
          <a:prstGeom prst="hexagon">
            <a:avLst/>
          </a:prstGeom>
          <a:solidFill>
            <a:srgbClr val="178A4C"/>
          </a:solidFill>
          <a:ln/>
        </p:spPr>
      </p:sp>
      <p:sp>
        <p:nvSpPr>
          <p:cNvPr id="37" name="Text 35"/>
          <p:cNvSpPr/>
          <p:nvPr/>
        </p:nvSpPr>
        <p:spPr>
          <a:xfrm>
            <a:off x="6803136" y="4535424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Buys a pack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183880" y="453542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Bhasha, Eleven, or Advanced — bought because the free part worked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40080" y="5376672"/>
            <a:ext cx="10607040" cy="914400"/>
          </a:xfrm>
          <a:prstGeom prst="roundRect">
            <a:avLst>
              <a:gd name="adj" fmla="val 12000"/>
            </a:avLst>
          </a:prstGeom>
          <a:solidFill>
            <a:srgbClr val="FBF3E0"/>
          </a:solidFill>
          <a:ln/>
        </p:spPr>
      </p:sp>
      <p:sp>
        <p:nvSpPr>
          <p:cNvPr id="40" name="Text 38"/>
          <p:cNvSpPr/>
          <p:nvPr/>
        </p:nvSpPr>
        <p:spPr>
          <a:xfrm>
            <a:off x="914400" y="5376672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8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rules: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8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sell inside a film · disclose what is generated and what is archive · name sources on screen · verify every claim before it is narrated · publish nothing that would embarrass the brand in front of a bee community that will recognise every error.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TEAM IS BUILT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Organisation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co-founders run separate, clearly-owned lanes. Joint decisions are made at founder level. The third role is advisory and sits on top as a brand asset, not an operating function.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480560" y="2148840"/>
            <a:ext cx="3200400" cy="658368"/>
          </a:xfrm>
          <a:prstGeom prst="roundRect">
            <a:avLst>
              <a:gd name="adj" fmla="val 19444"/>
            </a:avLst>
          </a:prstGeom>
          <a:solidFill>
            <a:srgbClr val="241E33"/>
          </a:solidFill>
          <a:ln/>
        </p:spPr>
      </p:sp>
      <p:sp>
        <p:nvSpPr>
          <p:cNvPr id="6" name="Text 4"/>
          <p:cNvSpPr/>
          <p:nvPr/>
        </p:nvSpPr>
        <p:spPr>
          <a:xfrm>
            <a:off x="4480560" y="214884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4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FOUNDER GROUP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480560" y="28346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· budget · brand direction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080760" y="3127248"/>
            <a:ext cx="0" cy="329184"/>
          </a:xfrm>
          <a:prstGeom prst="line">
            <a:avLst/>
          </a:prstGeom>
          <a:noFill/>
          <a:ln w="25400">
            <a:solidFill>
              <a:srgbClr val="E3DC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0" y="3456432"/>
            <a:ext cx="6675120" cy="0"/>
          </a:xfrm>
          <a:prstGeom prst="line">
            <a:avLst/>
          </a:prstGeom>
          <a:noFill/>
          <a:ln w="25400">
            <a:solidFill>
              <a:srgbClr val="E3DC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3456432"/>
            <a:ext cx="0" cy="310896"/>
          </a:xfrm>
          <a:prstGeom prst="line">
            <a:avLst/>
          </a:prstGeom>
          <a:noFill/>
          <a:ln w="25400">
            <a:solidFill>
              <a:srgbClr val="E3DC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874520" y="3767328"/>
            <a:ext cx="1737360" cy="1691640"/>
          </a:xfrm>
          <a:prstGeom prst="roundRect">
            <a:avLst>
              <a:gd name="adj" fmla="val 7568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 rot="5400000">
            <a:off x="2020824" y="3931920"/>
            <a:ext cx="402336" cy="402336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13" name="Text 11"/>
          <p:cNvSpPr/>
          <p:nvPr/>
        </p:nvSpPr>
        <p:spPr>
          <a:xfrm>
            <a:off x="2514600" y="393192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Aayush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020824" y="4443984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&amp; CPTO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020824" y="4846320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· engineering · architecture · roadmap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63640" y="3456432"/>
            <a:ext cx="0" cy="310896"/>
          </a:xfrm>
          <a:prstGeom prst="line">
            <a:avLst/>
          </a:prstGeom>
          <a:noFill/>
          <a:ln w="25400">
            <a:solidFill>
              <a:srgbClr val="E3DC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94960" y="3767328"/>
            <a:ext cx="1737360" cy="1691640"/>
          </a:xfrm>
          <a:prstGeom prst="roundRect">
            <a:avLst>
              <a:gd name="adj" fmla="val 7568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 rot="5400000">
            <a:off x="5541264" y="3931920"/>
            <a:ext cx="402336" cy="402336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0" y="393192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Amrita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541264" y="4443984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&amp; CMO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541264" y="4846320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· growth · pricing · merch · voice of customer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784080" y="3456432"/>
            <a:ext cx="0" cy="310896"/>
          </a:xfrm>
          <a:prstGeom prst="line">
            <a:avLst/>
          </a:prstGeom>
          <a:noFill/>
          <a:ln w="25400">
            <a:solidFill>
              <a:srgbClr val="E3DCF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915400" y="3767328"/>
            <a:ext cx="1737360" cy="1691640"/>
          </a:xfrm>
          <a:prstGeom prst="roundRect">
            <a:avLst>
              <a:gd name="adj" fmla="val 7568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 rot="5400000">
            <a:off x="9061704" y="3931920"/>
            <a:ext cx="402336" cy="402336"/>
          </a:xfrm>
          <a:prstGeom prst="hexagon">
            <a:avLst/>
          </a:prstGeom>
          <a:solidFill>
            <a:srgbClr val="178A4C"/>
          </a:solidFill>
          <a:ln/>
        </p:spPr>
      </p:sp>
      <p:sp>
        <p:nvSpPr>
          <p:cNvPr id="25" name="Text 23"/>
          <p:cNvSpPr/>
          <p:nvPr/>
        </p:nvSpPr>
        <p:spPr>
          <a:xfrm>
            <a:off x="9555480" y="393192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Ahana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061704" y="4443984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3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Kid Officer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061704" y="4846320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user · usability · ambassador (advisory)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58064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operating principle: each lane decides independently inside its own scope. Product decisions do not route through marketing, and brand decisions do not route through engineering.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Aayush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&amp; Chief Product and Technology Officer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10607040" cy="960120"/>
          </a:xfrm>
          <a:prstGeom prst="roundRect">
            <a:avLst>
              <a:gd name="adj" fmla="val 13333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50976" y="1956816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A3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what Bizzing is, how it is built, and what ships next. Built the full web app AI-first — directing AI coding tools rather than hand-writing code — and runs product and engineering the same way.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9992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85800" y="3310128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roadmap and prioritisation across every Bizzing product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architecture, infrastructure, technical quality and security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user feedback into shipped improvements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and adopting AI tooling that improves build speed or quality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generation pipelines — the word bank, question bank and audio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949440" y="299923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METRICS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 rot="5400000">
            <a:off x="6949440" y="3355848"/>
            <a:ext cx="256032" cy="256032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0" y="331012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rate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778240" y="33101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shipped per month against roadmap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 rot="5400000">
            <a:off x="6949440" y="3922776"/>
            <a:ext cx="256032" cy="256032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0" y="387705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778240" y="387705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Crash-free sessions; boot time held under target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 rot="5400000">
            <a:off x="6949440" y="4489704"/>
            <a:ext cx="256032" cy="256032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0" y="444398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reuse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778240" y="444398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a new product built from existing components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 rot="5400000">
            <a:off x="6949440" y="5056632"/>
            <a:ext cx="256032" cy="256032"/>
          </a:xfrm>
          <a:prstGeom prst="hexagon">
            <a:avLst/>
          </a:prstGeom>
          <a:solidFill>
            <a:srgbClr val="6C4FE0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0" y="501091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loop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778240" y="501091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usability findings actioned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5623560"/>
            <a:ext cx="10607040" cy="566928"/>
          </a:xfrm>
          <a:prstGeom prst="roundRect">
            <a:avLst>
              <a:gd name="adj" fmla="val 19355"/>
            </a:avLst>
          </a:prstGeom>
          <a:solidFill>
            <a:srgbClr val="FBF3E0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562356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own:  </a:t>
            </a:r>
            <a:pPr indent="0" marL="0">
              <a:buNone/>
            </a:pPr>
            <a:r>
              <a:rPr lang="en-US" sz="1200" dirty="0">
                <a:solidFill>
                  <a:srgbClr val="8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Brand, pricing and channel decisions route through the CMO.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Amrita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&amp; Chief Marketing and Growth Officer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10607040" cy="960120"/>
          </a:xfrm>
          <a:prstGeom prst="roundRect">
            <a:avLst>
              <a:gd name="adj" fmla="val 13333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50976" y="1956816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A3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everything that gets a family to discover Bizzing, decide to trust it, and want to buy something with the logo on it. Run AI-first and deliberately lean: no agency, no editorial headcount.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9992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85800" y="3310128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strategy — positioning, voice, visual identity, messaging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marketing — Meta and Google; owns CAC, ROAS and budget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analytics — AI-built dashboards for funnel, cohort and channel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and video, produced in-house with AI tools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Pricing, merch, events, influencer partnerships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customer — structured feedback and usability sessions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949440" y="299923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METRICS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 rot="5400000">
            <a:off x="6949440" y="3355848"/>
            <a:ext cx="256032" cy="256032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0" y="331012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778240" y="33101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 qualified traffic growth; CAC down per channel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 rot="5400000">
            <a:off x="6949440" y="3922776"/>
            <a:ext cx="256032" cy="256032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0" y="387705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efficiency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778240" y="387705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ROAS target per platform; spend within budget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 rot="5400000">
            <a:off x="6949440" y="4489704"/>
            <a:ext cx="256032" cy="256032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0" y="444398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778240" y="444398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Free-to-paid rate; merch attach rate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 rot="5400000">
            <a:off x="6949440" y="5056632"/>
            <a:ext cx="256032" cy="256032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0" y="501091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778240" y="501091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produced in-house; $0 on external editors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5623560"/>
            <a:ext cx="10607040" cy="566928"/>
          </a:xfrm>
          <a:prstGeom prst="roundRect">
            <a:avLst>
              <a:gd name="adj" fmla="val 19355"/>
            </a:avLst>
          </a:prstGeom>
          <a:solidFill>
            <a:srgbClr val="FBF3E0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562356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own:  </a:t>
            </a:r>
            <a:pPr indent="0" marL="0">
              <a:buNone/>
            </a:pPr>
            <a:r>
              <a:rPr lang="en-US" sz="1200" dirty="0">
                <a:solidFill>
                  <a:srgbClr val="8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engineering roadmap and final call on features sit with the CPTO.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Ahana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8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Kid Officer — honorary and advisory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10607040" cy="960120"/>
          </a:xfrm>
          <a:prstGeom prst="roundRect">
            <a:avLst>
              <a:gd name="adj" fmla="val 13333"/>
            </a:avLst>
          </a:prstGeom>
          <a:solidFill>
            <a:srgbClr val="EFEBF8"/>
          </a:solidFill>
          <a:ln/>
          <a:effectLst>
            <a:outerShdw sx="100000" sy="100000" kx="0" ky="0" algn="bl" rotWithShape="0" blurRad="127000" dist="25400" dir="5400000">
              <a:srgbClr val="241E33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50976" y="1956816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A3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Bizzing exists and its most credible voice. Represents the real end user: tests the app as part of her own bee preparation, says plainly what is fun, boring, confusing or broken.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9992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85800" y="3310128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the app for her own spelling preparation and gives honest feedback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Tries new features first in usability sessions and reacts candidly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Appears in kid-appropriate marketing, always with a parent involved</a:t>
            </a:r>
            <a:endParaRPr lang="en-US" sz="125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term: hosts beginner spelling sessions to build community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949440" y="299923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C4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METRICS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 rot="5400000">
            <a:off x="6949440" y="3355848"/>
            <a:ext cx="256032" cy="256032"/>
          </a:xfrm>
          <a:prstGeom prst="hexagon">
            <a:avLst/>
          </a:prstGeom>
          <a:solidFill>
            <a:srgbClr val="178A4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0" y="331012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quality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778240" y="33101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usable notes, not "it’s good"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 rot="5400000">
            <a:off x="6949440" y="3922776"/>
            <a:ext cx="256032" cy="256032"/>
          </a:xfrm>
          <a:prstGeom prst="hexagon">
            <a:avLst/>
          </a:prstGeom>
          <a:solidFill>
            <a:srgbClr val="178A4C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0" y="387705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Ambassador content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778240" y="387705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Genuine, comfortable approved appearances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 rot="5400000">
            <a:off x="6949440" y="4489704"/>
            <a:ext cx="256032" cy="256032"/>
          </a:xfrm>
          <a:prstGeom prst="hexagon">
            <a:avLst/>
          </a:prstGeom>
          <a:solidFill>
            <a:srgbClr val="178A4C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0" y="444398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41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778240" y="444398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43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generated by beginner sessions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5623560"/>
            <a:ext cx="10607040" cy="566928"/>
          </a:xfrm>
          <a:prstGeom prst="roundRect">
            <a:avLst>
              <a:gd name="adj" fmla="val 19355"/>
            </a:avLst>
          </a:prstGeom>
          <a:solidFill>
            <a:srgbClr val="FBF3E0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562356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own:  </a:t>
            </a:r>
            <a:pPr indent="0" marL="0">
              <a:buNone/>
            </a:pPr>
            <a:r>
              <a:rPr lang="en-US" sz="1200" dirty="0">
                <a:solidFill>
                  <a:srgbClr val="8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 employment position. Schoolwork, her own bee prep and her own projects take priority.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4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9006840" y="4069080"/>
            <a:ext cx="731520" cy="731520"/>
          </a:xfrm>
          <a:prstGeom prst="hexagon">
            <a:avLst/>
          </a:prstGeom>
          <a:solidFill>
            <a:srgbClr val="F0B429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5400000">
            <a:off x="9921240" y="4069080"/>
            <a:ext cx="731520" cy="731520"/>
          </a:xfrm>
          <a:prstGeom prst="hexagon">
            <a:avLst/>
          </a:prstGeom>
          <a:solidFill>
            <a:srgbClr val="F0B429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5400000">
            <a:off x="10835640" y="4069080"/>
            <a:ext cx="731520" cy="731520"/>
          </a:xfrm>
          <a:prstGeom prst="hexagon">
            <a:avLst/>
          </a:prstGeom>
          <a:solidFill>
            <a:srgbClr val="F0B429">
              <a:alpha val="1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9464040" y="4855464"/>
            <a:ext cx="731520" cy="731520"/>
          </a:xfrm>
          <a:prstGeom prst="hexagon">
            <a:avLst/>
          </a:prstGeom>
          <a:solidFill>
            <a:srgbClr val="F0B429">
              <a:alpha val="1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 rot="5400000">
            <a:off x="10378440" y="4855464"/>
            <a:ext cx="731520" cy="731520"/>
          </a:xfrm>
          <a:prstGeom prst="hexagon">
            <a:avLst/>
          </a:prstGeom>
          <a:solidFill>
            <a:srgbClr val="F0B429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5400000">
            <a:off x="11292840" y="4855464"/>
            <a:ext cx="731520" cy="731520"/>
          </a:xfrm>
          <a:prstGeom prst="hexagon">
            <a:avLst/>
          </a:prstGeom>
          <a:solidFill>
            <a:srgbClr val="F0B429">
              <a:alpha val="1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6858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DECIDE NEXT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10515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open questions, in the order they block work.</a:t>
            </a:r>
            <a:endParaRPr lang="en-US" sz="2900" dirty="0"/>
          </a:p>
        </p:txBody>
      </p:sp>
      <p:sp>
        <p:nvSpPr>
          <p:cNvPr id="10" name="Shape 8"/>
          <p:cNvSpPr/>
          <p:nvPr/>
        </p:nvSpPr>
        <p:spPr>
          <a:xfrm rot="5400000">
            <a:off x="640080" y="2084832"/>
            <a:ext cx="384048" cy="384048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07008" y="20116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Brand axis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0" y="201168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sub-brands subjects or geographies? Everything downstream — domains, marks, roadmap naming — waits on this.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 rot="5400000">
            <a:off x="640080" y="3054096"/>
            <a:ext cx="384048" cy="384048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054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07008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 product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657600" y="2980944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Bizzing Eleven is the fastest to ship because the engine already does it. Bizzing Bhasha is the more valuable business. Which first?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 rot="5400000">
            <a:off x="640080" y="4023360"/>
            <a:ext cx="384048" cy="384048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07008" y="39502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Monetisation shape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657600" y="3950208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subscription across the house, or a price per product? Decide before the second product exists, not after.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 rot="5400000">
            <a:off x="640080" y="4992624"/>
            <a:ext cx="384048" cy="384048"/>
          </a:xfrm>
          <a:prstGeom prst="hexagon">
            <a:avLst/>
          </a:prstGeom>
          <a:solidFill>
            <a:srgbClr val="F0B429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992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1E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07008" y="4919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Entity &amp; filings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657600" y="4919472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3D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LLC, trademark filings, and the child-performer question before any paid appearance by the CKO.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6035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2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Bizzing · bizzingbee.com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Bizzing — Vision, Strategy &amp; Organisation</dc:title>
  <dc:subject>PptxGenJS Presentation</dc:subject>
  <dc:creator>Bizzing</dc:creator>
  <cp:lastModifiedBy>Bizzing</cp:lastModifiedBy>
  <cp:revision>1</cp:revision>
  <dcterms:created xsi:type="dcterms:W3CDTF">2026-08-23T00:18:00Z</dcterms:created>
  <dcterms:modified xsi:type="dcterms:W3CDTF">2026-08-23T00:18:00Z</dcterms:modified>
</cp:coreProperties>
</file>