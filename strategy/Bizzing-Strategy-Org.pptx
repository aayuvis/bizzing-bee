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charts/chart1.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Subscriptions</c:v>
                </c:pt>
              </c:strCache>
            </c:strRef>
          </c:tx>
          <c:spPr>
            <a:solidFill>
              <a:srgbClr val="6C4FE0"/>
            </a:solidFill>
            <a:ln w="12700" cap="flat">
              <a:solidFill>
                <a:srgbClr val="FFFF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Year 1</c:v>
                  </c:pt>
                  <c:pt idx="1">
                    <c:v>Year 2</c:v>
                  </c:pt>
                  <c:pt idx="2">
                    <c:v>Year 3</c:v>
                  </c:pt>
                  <c:pt idx="3">
                    <c:v>Year 4</c:v>
                  </c:pt>
                  <c:pt idx="4">
                    <c:v>Year 5</c:v>
                  </c:pt>
                </c:lvl>
              </c:multiLvlStrCache>
            </c:multiLvlStrRef>
          </c:cat>
          <c:val>
            <c:numRef>
              <c:f>Sheet1!$B$2:$B$6</c:f>
              <c:numCache>
                <c:formatCode>General</c:formatCode>
                <c:ptCount val="5"/>
                <c:pt idx="0">
                  <c:v>0.026</c:v>
                </c:pt>
                <c:pt idx="1">
                  <c:v>0.151</c:v>
                </c:pt>
                <c:pt idx="2">
                  <c:v>0.475</c:v>
                </c:pt>
                <c:pt idx="3">
                  <c:v>1.118</c:v>
                </c:pt>
                <c:pt idx="4">
                  <c:v>2.102</c:v>
                </c:pt>
              </c:numCache>
            </c:numRef>
          </c:val>
        </c:ser>
        <c:ser>
          <c:idx val="1"/>
          <c:order val="1"/>
          <c:tx>
            <c:strRef>
              <c:f>Sheet1!$C$1</c:f>
              <c:strCache>
                <c:ptCount val="1"/>
                <c:pt idx="0">
                  <c:v>Business cohorts</c:v>
                </c:pt>
              </c:strCache>
            </c:strRef>
          </c:tx>
          <c:spPr>
            <a:solidFill>
              <a:srgbClr val="178A4C"/>
            </a:solidFill>
            <a:ln w="12700" cap="flat">
              <a:solidFill>
                <a:srgbClr val="FFFF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Year 1</c:v>
                  </c:pt>
                  <c:pt idx="1">
                    <c:v>Year 2</c:v>
                  </c:pt>
                  <c:pt idx="2">
                    <c:v>Year 3</c:v>
                  </c:pt>
                  <c:pt idx="3">
                    <c:v>Year 4</c:v>
                  </c:pt>
                  <c:pt idx="4">
                    <c:v>Year 5</c:v>
                  </c:pt>
                </c:lvl>
              </c:multiLvlStrCache>
            </c:multiLvlStrRef>
          </c:cat>
          <c:val>
            <c:numRef>
              <c:f>Sheet1!$C$2:$C$6</c:f>
              <c:numCache>
                <c:formatCode>General</c:formatCode>
                <c:ptCount val="5"/>
                <c:pt idx="0">
                  <c:v>0</c:v>
                </c:pt>
                <c:pt idx="1">
                  <c:v>0</c:v>
                </c:pt>
                <c:pt idx="2">
                  <c:v>0.078</c:v>
                </c:pt>
                <c:pt idx="3">
                  <c:v>0.295</c:v>
                </c:pt>
                <c:pt idx="4">
                  <c:v>0.68</c:v>
                </c:pt>
              </c:numCache>
            </c:numRef>
          </c:val>
        </c:ser>
        <c:ser>
          <c:idx val="2"/>
          <c:order val="2"/>
          <c:tx>
            <c:strRef>
              <c:f>Sheet1!$D$1</c:f>
              <c:strCache>
                <c:ptCount val="1"/>
                <c:pt idx="0">
                  <c:v>Books, cards, merch, YouTube</c:v>
                </c:pt>
              </c:strCache>
            </c:strRef>
          </c:tx>
          <c:spPr>
            <a:solidFill>
              <a:srgbClr val="F0B429"/>
            </a:solidFill>
            <a:ln w="12700" cap="flat">
              <a:solidFill>
                <a:srgbClr val="FFFF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Year 1</c:v>
                  </c:pt>
                  <c:pt idx="1">
                    <c:v>Year 2</c:v>
                  </c:pt>
                  <c:pt idx="2">
                    <c:v>Year 3</c:v>
                  </c:pt>
                  <c:pt idx="3">
                    <c:v>Year 4</c:v>
                  </c:pt>
                  <c:pt idx="4">
                    <c:v>Year 5</c:v>
                  </c:pt>
                </c:lvl>
              </c:multiLvlStrCache>
            </c:multiLvlStrRef>
          </c:cat>
          <c:val>
            <c:numRef>
              <c:f>Sheet1!$D$2:$D$6</c:f>
              <c:numCache>
                <c:formatCode>General</c:formatCode>
                <c:ptCount val="5"/>
                <c:pt idx="0">
                  <c:v>0</c:v>
                </c:pt>
                <c:pt idx="1">
                  <c:v>0.008</c:v>
                </c:pt>
                <c:pt idx="2">
                  <c:v>0.048</c:v>
                </c:pt>
                <c:pt idx="3">
                  <c:v>0.14</c:v>
                </c:pt>
                <c:pt idx="4">
                  <c:v>0.309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436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3DCF2"/>
              </a:solidFill>
              <a:prstDash val="solid"/>
              <a:round/>
            </a:ln>
          </c:spPr>
        </c:majorGridlines>
        <c:title>
          <c:tx>
            <c:rich>
              <a:bodyPr/>
              <a:lstStyle/>
              <a:p>
                <a:pPr>
                  <a:defRPr sz="1000" b="0" i="0" u="none" strike="noStrike">
                    <a:solidFill>
                      <a:srgbClr val="7A7291"/>
                    </a:solidFill>
                    <a:latin typeface="Arial"/>
                  </a:defRPr>
                </a:pPr>
                <a:r>
                  <a:rPr sz="1000" b="0" i="0" u="none" strike="noStrike">
                    <a:solidFill>
                      <a:srgbClr val="7A7291"/>
                    </a:solidFill>
                    <a:latin typeface="Arial"/>
                  </a:rPr>
                  <a:t>Revenue, $M</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436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4A4360"/>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Bizzing is the parent brand. Bizzing Bee is the first product, not the company.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vision is deliberately about the child at 25, not the child at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Culture is free and shareable; the language pack inside it is paid. That is the freemium spine.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Bizzing Bee — The best place in the world to prepare for a spelling bee.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Bizzing India — A child who knows where they came from, and finds it genuinely interesting rather than dutiful.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Bizzing Bhasha — The grandparent and the grandchild can hold a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Bizzing Eleven — The 11+ verbal paper stops being a mystery a family has to buy tutoring to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Bizzing Buzz — A child who cannot read yet still plays with words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Bizzing English — A child who owns the language, rather than one who passes tests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Bizzing Maths — A child who is fast and fearless with numbers, and knows why the trick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Bizzing Business — A sixteen-year-old who has built something, pitched it to a room, and can explain why it worked or why it did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pushed back on treating "needs teachers" as a risk. It is the moat. Build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prices, splits or targets anywhere — those are the CMO’s to set. This slide fixes what the streams are and the order they switch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claim is deliberately narrow and the caveats are on the slide: cash profit with unpaid founders, and deferred revenue means the P&amp;L lags the bank. Both are stated so nobody discovers them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because the 18% paid cap makes organic acquisition load-bearing. If only one metric survives, it is week-two return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trade-off is explicit: never losing money and growing fast are not both available. This deck chooses the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Peak cash need $0. Break-even week 1. The two things that genuinely hurt are a price cut and a product families do not return to — not a slow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slideLayout" Target="../slideLayouts/slideLayout1.xml"/><Relationship Id="rId1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1E33"/>
        </a:solidFill>
      </p:bgPr>
    </p:bg>
    <p:spTree>
      <p:nvGrpSpPr>
        <p:cNvPr id="1" name=""/>
        <p:cNvGrpSpPr/>
        <p:nvPr/>
      </p:nvGrpSpPr>
      <p:grpSpPr>
        <a:xfrm>
          <a:off x="0" y="0"/>
          <a:ext cx="0" cy="0"/>
          <a:chOff x="0" y="0"/>
          <a:chExt cx="0" cy="0"/>
        </a:xfrm>
      </p:grpSpPr>
      <p:sp>
        <p:nvSpPr>
          <p:cNvPr id="2" name="Shape 0"/>
          <p:cNvSpPr/>
          <p:nvPr/>
        </p:nvSpPr>
        <p:spPr>
          <a:xfrm rot="5400000">
            <a:off x="8092440" y="566928"/>
            <a:ext cx="914400" cy="914400"/>
          </a:xfrm>
          <a:prstGeom prst="hexagon">
            <a:avLst/>
          </a:prstGeom>
          <a:solidFill>
            <a:srgbClr val="F0B429">
              <a:alpha val="16000"/>
            </a:srgbClr>
          </a:solidFill>
          <a:ln/>
        </p:spPr>
      </p:sp>
      <p:sp>
        <p:nvSpPr>
          <p:cNvPr id="3" name="Shape 1"/>
          <p:cNvSpPr/>
          <p:nvPr/>
        </p:nvSpPr>
        <p:spPr>
          <a:xfrm rot="5400000">
            <a:off x="9235440" y="566928"/>
            <a:ext cx="914400" cy="914400"/>
          </a:xfrm>
          <a:prstGeom prst="hexagon">
            <a:avLst/>
          </a:prstGeom>
          <a:solidFill>
            <a:srgbClr val="F0B429">
              <a:alpha val="16000"/>
            </a:srgbClr>
          </a:solidFill>
          <a:ln/>
        </p:spPr>
      </p:sp>
      <p:sp>
        <p:nvSpPr>
          <p:cNvPr id="4" name="Shape 2"/>
          <p:cNvSpPr/>
          <p:nvPr/>
        </p:nvSpPr>
        <p:spPr>
          <a:xfrm rot="5400000">
            <a:off x="10378440" y="566928"/>
            <a:ext cx="914400" cy="914400"/>
          </a:xfrm>
          <a:prstGeom prst="hexagon">
            <a:avLst/>
          </a:prstGeom>
          <a:solidFill>
            <a:srgbClr val="F0B429">
              <a:alpha val="16000"/>
            </a:srgbClr>
          </a:solidFill>
          <a:ln/>
        </p:spPr>
      </p:sp>
      <p:sp>
        <p:nvSpPr>
          <p:cNvPr id="5" name="Shape 3"/>
          <p:cNvSpPr/>
          <p:nvPr/>
        </p:nvSpPr>
        <p:spPr>
          <a:xfrm rot="5400000">
            <a:off x="8663940" y="1549908"/>
            <a:ext cx="914400" cy="914400"/>
          </a:xfrm>
          <a:prstGeom prst="hexagon">
            <a:avLst/>
          </a:prstGeom>
          <a:solidFill>
            <a:srgbClr val="F0B429">
              <a:alpha val="16000"/>
            </a:srgbClr>
          </a:solidFill>
          <a:ln/>
        </p:spPr>
      </p:sp>
      <p:sp>
        <p:nvSpPr>
          <p:cNvPr id="6" name="Shape 4"/>
          <p:cNvSpPr/>
          <p:nvPr/>
        </p:nvSpPr>
        <p:spPr>
          <a:xfrm rot="5400000">
            <a:off x="9806940" y="1549908"/>
            <a:ext cx="914400" cy="914400"/>
          </a:xfrm>
          <a:prstGeom prst="hexagon">
            <a:avLst/>
          </a:prstGeom>
          <a:solidFill>
            <a:srgbClr val="F0B429">
              <a:alpha val="16000"/>
            </a:srgbClr>
          </a:solidFill>
          <a:ln/>
        </p:spPr>
      </p:sp>
      <p:sp>
        <p:nvSpPr>
          <p:cNvPr id="7" name="Shape 5"/>
          <p:cNvSpPr/>
          <p:nvPr/>
        </p:nvSpPr>
        <p:spPr>
          <a:xfrm rot="5400000">
            <a:off x="10949940" y="1549908"/>
            <a:ext cx="914400" cy="914400"/>
          </a:xfrm>
          <a:prstGeom prst="hexagon">
            <a:avLst/>
          </a:prstGeom>
          <a:solidFill>
            <a:srgbClr val="F0B429">
              <a:alpha val="16000"/>
            </a:srgbClr>
          </a:solidFill>
          <a:ln/>
        </p:spPr>
      </p:sp>
      <p:sp>
        <p:nvSpPr>
          <p:cNvPr id="8" name="Shape 6"/>
          <p:cNvSpPr/>
          <p:nvPr/>
        </p:nvSpPr>
        <p:spPr>
          <a:xfrm rot="5400000">
            <a:off x="8092440" y="2532888"/>
            <a:ext cx="914400" cy="914400"/>
          </a:xfrm>
          <a:prstGeom prst="hexagon">
            <a:avLst/>
          </a:prstGeom>
          <a:solidFill>
            <a:srgbClr val="F0B429">
              <a:alpha val="16000"/>
            </a:srgbClr>
          </a:solidFill>
          <a:ln/>
        </p:spPr>
      </p:sp>
      <p:sp>
        <p:nvSpPr>
          <p:cNvPr id="9" name="Shape 7"/>
          <p:cNvSpPr/>
          <p:nvPr/>
        </p:nvSpPr>
        <p:spPr>
          <a:xfrm rot="5400000">
            <a:off x="9235440" y="2532888"/>
            <a:ext cx="914400" cy="914400"/>
          </a:xfrm>
          <a:prstGeom prst="hexagon">
            <a:avLst/>
          </a:prstGeom>
          <a:solidFill>
            <a:srgbClr val="F0B429">
              <a:alpha val="16000"/>
            </a:srgbClr>
          </a:solidFill>
          <a:ln/>
        </p:spPr>
      </p:sp>
      <p:sp>
        <p:nvSpPr>
          <p:cNvPr id="10" name="Shape 8"/>
          <p:cNvSpPr/>
          <p:nvPr/>
        </p:nvSpPr>
        <p:spPr>
          <a:xfrm rot="5400000">
            <a:off x="10378440" y="2532888"/>
            <a:ext cx="914400" cy="914400"/>
          </a:xfrm>
          <a:prstGeom prst="hexagon">
            <a:avLst/>
          </a:prstGeom>
          <a:solidFill>
            <a:srgbClr val="F0B429">
              <a:alpha val="16000"/>
            </a:srgbClr>
          </a:solidFill>
          <a:ln/>
        </p:spPr>
      </p:sp>
      <p:pic>
        <p:nvPicPr>
          <p:cNvPr id="11" name="Image 0" descr="preencoded.png">    </p:cNvPr>
          <p:cNvPicPr>
            <a:picLocks noChangeAspect="1"/>
          </p:cNvPicPr>
          <p:nvPr/>
        </p:nvPicPr>
        <p:blipFill>
          <a:blip r:embed="rId1"/>
          <a:stretch>
            <a:fillRect/>
          </a:stretch>
        </p:blipFill>
        <p:spPr>
          <a:xfrm>
            <a:off x="8732520" y="1965960"/>
            <a:ext cx="2651760" cy="2651760"/>
          </a:xfrm>
          <a:prstGeom prst="rect">
            <a:avLst/>
          </a:prstGeom>
        </p:spPr>
      </p:pic>
      <p:pic>
        <p:nvPicPr>
          <p:cNvPr id="12" name="Image 1" descr="preencoded.png">    </p:cNvPr>
          <p:cNvPicPr>
            <a:picLocks noChangeAspect="1"/>
          </p:cNvPicPr>
          <p:nvPr/>
        </p:nvPicPr>
        <p:blipFill>
          <a:blip r:embed="rId2"/>
          <a:stretch>
            <a:fillRect/>
          </a:stretch>
        </p:blipFill>
        <p:spPr>
          <a:xfrm>
            <a:off x="640080" y="5257800"/>
            <a:ext cx="841248" cy="841248"/>
          </a:xfrm>
          <a:prstGeom prst="rect">
            <a:avLst/>
          </a:prstGeom>
        </p:spPr>
      </p:pic>
      <p:pic>
        <p:nvPicPr>
          <p:cNvPr id="13" name="Image 2" descr="preencoded.png">    </p:cNvPr>
          <p:cNvPicPr>
            <a:picLocks noChangeAspect="1"/>
          </p:cNvPicPr>
          <p:nvPr/>
        </p:nvPicPr>
        <p:blipFill>
          <a:blip r:embed="rId3"/>
          <a:stretch>
            <a:fillRect/>
          </a:stretch>
        </p:blipFill>
        <p:spPr>
          <a:xfrm>
            <a:off x="1572768" y="5257800"/>
            <a:ext cx="841248" cy="841248"/>
          </a:xfrm>
          <a:prstGeom prst="rect">
            <a:avLst/>
          </a:prstGeom>
        </p:spPr>
      </p:pic>
      <p:pic>
        <p:nvPicPr>
          <p:cNvPr id="14" name="Image 3" descr="preencoded.png">    </p:cNvPr>
          <p:cNvPicPr>
            <a:picLocks noChangeAspect="1"/>
          </p:cNvPicPr>
          <p:nvPr/>
        </p:nvPicPr>
        <p:blipFill>
          <a:blip r:embed="rId4"/>
          <a:stretch>
            <a:fillRect/>
          </a:stretch>
        </p:blipFill>
        <p:spPr>
          <a:xfrm>
            <a:off x="2505456" y="5257800"/>
            <a:ext cx="841248" cy="841248"/>
          </a:xfrm>
          <a:prstGeom prst="rect">
            <a:avLst/>
          </a:prstGeom>
        </p:spPr>
      </p:pic>
      <p:pic>
        <p:nvPicPr>
          <p:cNvPr id="15" name="Image 4" descr="preencoded.png">    </p:cNvPr>
          <p:cNvPicPr>
            <a:picLocks noChangeAspect="1"/>
          </p:cNvPicPr>
          <p:nvPr/>
        </p:nvPicPr>
        <p:blipFill>
          <a:blip r:embed="rId5"/>
          <a:stretch>
            <a:fillRect/>
          </a:stretch>
        </p:blipFill>
        <p:spPr>
          <a:xfrm>
            <a:off x="3438144" y="5257800"/>
            <a:ext cx="841248" cy="841248"/>
          </a:xfrm>
          <a:prstGeom prst="rect">
            <a:avLst/>
          </a:prstGeom>
        </p:spPr>
      </p:pic>
      <p:sp>
        <p:nvSpPr>
          <p:cNvPr id="16" name="Text 9"/>
          <p:cNvSpPr/>
          <p:nvPr/>
        </p:nvSpPr>
        <p:spPr>
          <a:xfrm>
            <a:off x="640080" y="1828800"/>
            <a:ext cx="8229600" cy="1188720"/>
          </a:xfrm>
          <a:prstGeom prst="rect">
            <a:avLst/>
          </a:prstGeom>
          <a:noFill/>
          <a:ln/>
        </p:spPr>
        <p:txBody>
          <a:bodyPr wrap="square" lIns="0" tIns="0" rIns="0" bIns="0" rtlCol="0" anchor="ctr"/>
          <a:lstStyle/>
          <a:p>
            <a:pPr indent="0" marL="0">
              <a:buNone/>
            </a:pPr>
            <a:r>
              <a:rPr lang="en-US" sz="7600" b="1" spc="200" kern="0" dirty="0">
                <a:solidFill>
                  <a:srgbClr val="FFFFFF"/>
                </a:solidFill>
                <a:latin typeface="Cambria" pitchFamily="34" charset="0"/>
                <a:ea typeface="Cambria" pitchFamily="34" charset="-122"/>
                <a:cs typeface="Cambria" pitchFamily="34" charset="-120"/>
              </a:rPr>
              <a:t>BIZZING</a:t>
            </a:r>
            <a:endParaRPr lang="en-US" sz="7600" dirty="0"/>
          </a:p>
        </p:txBody>
      </p:sp>
      <p:sp>
        <p:nvSpPr>
          <p:cNvPr id="17" name="Text 10"/>
          <p:cNvSpPr/>
          <p:nvPr/>
        </p:nvSpPr>
        <p:spPr>
          <a:xfrm>
            <a:off x="640080" y="3063240"/>
            <a:ext cx="7680960" cy="548640"/>
          </a:xfrm>
          <a:prstGeom prst="rect">
            <a:avLst/>
          </a:prstGeom>
          <a:noFill/>
          <a:ln/>
        </p:spPr>
        <p:txBody>
          <a:bodyPr wrap="square" lIns="0" tIns="0" rIns="0" bIns="0" rtlCol="0" anchor="ctr"/>
          <a:lstStyle/>
          <a:p>
            <a:pPr indent="0" marL="0">
              <a:buNone/>
            </a:pPr>
            <a:r>
              <a:rPr lang="en-US" sz="2100" i="1" dirty="0">
                <a:solidFill>
                  <a:srgbClr val="F0B429"/>
                </a:solidFill>
                <a:latin typeface="Cambria" pitchFamily="34" charset="0"/>
                <a:ea typeface="Cambria" pitchFamily="34" charset="-122"/>
                <a:cs typeface="Cambria" pitchFamily="34" charset="-120"/>
              </a:rPr>
              <a:t>Competitive learning for the children of the diaspora.</a:t>
            </a:r>
            <a:endParaRPr lang="en-US" sz="2100" dirty="0"/>
          </a:p>
        </p:txBody>
      </p:sp>
      <p:sp>
        <p:nvSpPr>
          <p:cNvPr id="18" name="Text 11"/>
          <p:cNvSpPr/>
          <p:nvPr/>
        </p:nvSpPr>
        <p:spPr>
          <a:xfrm>
            <a:off x="640080" y="3886200"/>
            <a:ext cx="7680960" cy="365760"/>
          </a:xfrm>
          <a:prstGeom prst="rect">
            <a:avLst/>
          </a:prstGeom>
          <a:noFill/>
          <a:ln/>
        </p:spPr>
        <p:txBody>
          <a:bodyPr wrap="square" lIns="0" tIns="0" rIns="0" bIns="0" rtlCol="0" anchor="ctr"/>
          <a:lstStyle/>
          <a:p>
            <a:pPr indent="0" marL="0">
              <a:buNone/>
            </a:pPr>
            <a:r>
              <a:rPr lang="en-US" sz="1400" dirty="0">
                <a:solidFill>
                  <a:srgbClr val="E3DCF2"/>
                </a:solidFill>
                <a:latin typeface="Calibri" pitchFamily="34" charset="0"/>
                <a:ea typeface="Calibri" pitchFamily="34" charset="-122"/>
                <a:cs typeface="Calibri" pitchFamily="34" charset="-120"/>
              </a:rPr>
              <a:t>Vision · Strategy · Roadmap · Money · Marketing · Content · Team</a:t>
            </a:r>
            <a:endParaRPr lang="en-US" sz="1400" dirty="0"/>
          </a:p>
        </p:txBody>
      </p:sp>
      <p:sp>
        <p:nvSpPr>
          <p:cNvPr id="19" name="Shape 12"/>
          <p:cNvSpPr/>
          <p:nvPr/>
        </p:nvSpPr>
        <p:spPr>
          <a:xfrm>
            <a:off x="640080" y="4709160"/>
            <a:ext cx="2926080" cy="0"/>
          </a:xfrm>
          <a:prstGeom prst="line">
            <a:avLst/>
          </a:prstGeom>
          <a:noFill/>
          <a:ln w="31750">
            <a:solidFill>
              <a:srgbClr val="6C4FE0"/>
            </a:solidFill>
            <a:prstDash val="solid"/>
          </a:ln>
        </p:spPr>
      </p:sp>
      <p:sp>
        <p:nvSpPr>
          <p:cNvPr id="20" name="Text 13"/>
          <p:cNvSpPr/>
          <p:nvPr/>
        </p:nvSpPr>
        <p:spPr>
          <a:xfrm>
            <a:off x="640080" y="4892040"/>
            <a:ext cx="7315200" cy="320040"/>
          </a:xfrm>
          <a:prstGeom prst="rect">
            <a:avLst/>
          </a:prstGeom>
          <a:noFill/>
          <a:ln/>
        </p:spPr>
        <p:txBody>
          <a:bodyPr wrap="square" lIns="0" tIns="0" rIns="0" bIns="0" rtlCol="0" anchor="ctr"/>
          <a:lstStyle/>
          <a:p>
            <a:pPr indent="0" marL="0">
              <a:buNone/>
            </a:pPr>
            <a:r>
              <a:rPr lang="en-US" sz="1250" dirty="0">
                <a:solidFill>
                  <a:srgbClr val="7A7291"/>
                </a:solidFill>
                <a:latin typeface="Calibri" pitchFamily="34" charset="0"/>
                <a:ea typeface="Calibri" pitchFamily="34" charset="-122"/>
                <a:cs typeface="Calibri" pitchFamily="34" charset="-120"/>
              </a:rPr>
              <a:t>Founding team · AI-first operating model</a:t>
            </a:r>
            <a:endParaRPr lang="en-US" sz="1250" dirty="0"/>
          </a:p>
        </p:txBody>
      </p:sp>
      <p:sp>
        <p:nvSpPr>
          <p:cNvPr id="21" name="Text 14"/>
          <p:cNvSpPr/>
          <p:nvPr/>
        </p:nvSpPr>
        <p:spPr>
          <a:xfrm>
            <a:off x="4480560" y="5541264"/>
            <a:ext cx="6766560" cy="292608"/>
          </a:xfrm>
          <a:prstGeom prst="rect">
            <a:avLst/>
          </a:prstGeom>
          <a:noFill/>
          <a:ln/>
        </p:spPr>
        <p:txBody>
          <a:bodyPr wrap="square" lIns="0" tIns="0" rIns="0" bIns="0" rtlCol="0" anchor="ctr"/>
          <a:lstStyle/>
          <a:p>
            <a:pPr indent="0" marL="0">
              <a:buNone/>
            </a:pPr>
            <a:r>
              <a:rPr lang="en-US" sz="1000" i="1" dirty="0">
                <a:solidFill>
                  <a:srgbClr val="7A7291"/>
                </a:solidFill>
                <a:latin typeface="Calibri" pitchFamily="34" charset="0"/>
                <a:ea typeface="Calibri" pitchFamily="34" charset="-122"/>
                <a:cs typeface="Calibri" pitchFamily="34" charset="-120"/>
              </a:rPr>
              <a:t>Marie Bolden · Frank Neuhauser · Pauline Bell · Dean Lucas — the first four champions, in the pack</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02336"/>
            <a:ext cx="7315200" cy="256032"/>
          </a:xfrm>
          <a:prstGeom prst="rect">
            <a:avLst/>
          </a:prstGeom>
          <a:noFill/>
          <a:ln/>
        </p:spPr>
        <p:txBody>
          <a:bodyPr wrap="square" lIns="0" tIns="0" rIns="0" bIns="0" rtlCol="0" anchor="ctr"/>
          <a:lstStyle/>
          <a:p>
            <a:pPr indent="0" marL="0">
              <a:buNone/>
            </a:pPr>
            <a:r>
              <a:rPr lang="en-US" sz="1150" b="1" spc="240" kern="0" dirty="0">
                <a:solidFill>
                  <a:srgbClr val="6C4FE0"/>
                </a:solidFill>
                <a:latin typeface="Calibri" pitchFamily="34" charset="0"/>
                <a:ea typeface="Calibri" pitchFamily="34" charset="-122"/>
                <a:cs typeface="Calibri" pitchFamily="34" charset="-120"/>
              </a:rPr>
              <a:t>THE STARTING POINT</a:t>
            </a:r>
            <a:endParaRPr lang="en-US" sz="1150" dirty="0"/>
          </a:p>
        </p:txBody>
      </p:sp>
      <p:sp>
        <p:nvSpPr>
          <p:cNvPr id="3" name="Text 1"/>
          <p:cNvSpPr/>
          <p:nvPr/>
        </p:nvSpPr>
        <p:spPr>
          <a:xfrm>
            <a:off x="640080" y="694944"/>
            <a:ext cx="10607040" cy="749808"/>
          </a:xfrm>
          <a:prstGeom prst="rect">
            <a:avLst/>
          </a:prstGeom>
          <a:noFill/>
          <a:ln/>
        </p:spPr>
        <p:txBody>
          <a:bodyPr wrap="square" lIns="0" tIns="0" rIns="0" bIns="0" rtlCol="0" anchor="ctr"/>
          <a:lstStyle/>
          <a:p>
            <a:pPr indent="0" marL="0">
              <a:buNone/>
            </a:pPr>
            <a:r>
              <a:rPr lang="en-US" sz="2900" b="1" dirty="0">
                <a:solidFill>
                  <a:srgbClr val="241E33"/>
                </a:solidFill>
                <a:latin typeface="Cambria" pitchFamily="34" charset="0"/>
                <a:ea typeface="Cambria" pitchFamily="34" charset="-122"/>
                <a:cs typeface="Cambria" pitchFamily="34" charset="-120"/>
              </a:rPr>
              <a:t>They moved countries so their child could compete.</a:t>
            </a:r>
            <a:endParaRPr lang="en-US" sz="2900" dirty="0"/>
          </a:p>
        </p:txBody>
      </p:sp>
      <p:sp>
        <p:nvSpPr>
          <p:cNvPr id="4" name="Text 2"/>
          <p:cNvSpPr/>
          <p:nvPr/>
        </p:nvSpPr>
        <p:spPr>
          <a:xfrm>
            <a:off x="640080" y="1463040"/>
            <a:ext cx="10607040" cy="365760"/>
          </a:xfrm>
          <a:prstGeom prst="rect">
            <a:avLst/>
          </a:prstGeom>
          <a:noFill/>
          <a:ln/>
        </p:spPr>
        <p:txBody>
          <a:bodyPr wrap="square" lIns="0" tIns="0" rIns="0" bIns="0" rtlCol="0" anchor="ctr"/>
          <a:lstStyle/>
          <a:p>
            <a:pPr indent="0" marL="0">
              <a:buNone/>
            </a:pPr>
            <a:r>
              <a:rPr lang="en-US" sz="1550" dirty="0">
                <a:solidFill>
                  <a:srgbClr val="7A7291"/>
                </a:solidFill>
                <a:latin typeface="Calibri" pitchFamily="34" charset="0"/>
                <a:ea typeface="Calibri" pitchFamily="34" charset="-122"/>
                <a:cs typeface="Calibri" pitchFamily="34" charset="-120"/>
              </a:rPr>
              <a:t>Everything Bizzing builds answers a worry that parent already has.</a:t>
            </a:r>
            <a:endParaRPr lang="en-US" sz="1550" dirty="0"/>
          </a:p>
        </p:txBody>
      </p:sp>
      <p:sp>
        <p:nvSpPr>
          <p:cNvPr id="5" name="Shape 3"/>
          <p:cNvSpPr/>
          <p:nvPr/>
        </p:nvSpPr>
        <p:spPr>
          <a:xfrm>
            <a:off x="640080" y="2148840"/>
            <a:ext cx="3410712" cy="2743200"/>
          </a:xfrm>
          <a:prstGeom prst="roundRect">
            <a:avLst>
              <a:gd name="adj" fmla="val 4667"/>
            </a:avLst>
          </a:prstGeom>
          <a:solidFill>
            <a:srgbClr val="EFEBF8"/>
          </a:solidFill>
          <a:ln/>
          <a:effectLst>
            <a:outerShdw sx="100000" sy="100000" kx="0" ky="0" algn="bl" rotWithShape="0" blurRad="127000" dist="25400" dir="5400000">
              <a:srgbClr val="241E33">
                <a:alpha val="10000"/>
              </a:srgbClr>
            </a:outerShdw>
          </a:effectLst>
        </p:spPr>
      </p:sp>
      <p:sp>
        <p:nvSpPr>
          <p:cNvPr id="6" name="Shape 4"/>
          <p:cNvSpPr/>
          <p:nvPr/>
        </p:nvSpPr>
        <p:spPr>
          <a:xfrm rot="5400000">
            <a:off x="914400" y="2395728"/>
            <a:ext cx="457200" cy="457200"/>
          </a:xfrm>
          <a:prstGeom prst="hexagon">
            <a:avLst/>
          </a:prstGeom>
          <a:solidFill>
            <a:srgbClr val="6C4FE0"/>
          </a:solidFill>
          <a:ln/>
        </p:spPr>
      </p:sp>
      <p:sp>
        <p:nvSpPr>
          <p:cNvPr id="7" name="Text 5"/>
          <p:cNvSpPr/>
          <p:nvPr/>
        </p:nvSpPr>
        <p:spPr>
          <a:xfrm>
            <a:off x="914400" y="3017520"/>
            <a:ext cx="2880360" cy="566928"/>
          </a:xfrm>
          <a:prstGeom prst="rect">
            <a:avLst/>
          </a:prstGeom>
          <a:noFill/>
          <a:ln/>
        </p:spPr>
        <p:txBody>
          <a:bodyPr wrap="square" lIns="0" tIns="0" rIns="0" bIns="0" rtlCol="0" anchor="ctr"/>
          <a:lstStyle/>
          <a:p>
            <a:pPr indent="0" marL="0">
              <a:buNone/>
            </a:pPr>
            <a:r>
              <a:rPr lang="en-US" sz="1700" b="1" dirty="0">
                <a:solidFill>
                  <a:srgbClr val="241E33"/>
                </a:solidFill>
                <a:latin typeface="Cambria" pitchFamily="34" charset="0"/>
                <a:ea typeface="Cambria" pitchFamily="34" charset="-122"/>
                <a:cs typeface="Cambria" pitchFamily="34" charset="-120"/>
              </a:rPr>
              <a:t>The school is not enough</a:t>
            </a:r>
            <a:endParaRPr lang="en-US" sz="1700" dirty="0"/>
          </a:p>
        </p:txBody>
      </p:sp>
      <p:sp>
        <p:nvSpPr>
          <p:cNvPr id="8" name="Text 6"/>
          <p:cNvSpPr/>
          <p:nvPr/>
        </p:nvSpPr>
        <p:spPr>
          <a:xfrm>
            <a:off x="914400" y="3657600"/>
            <a:ext cx="2880360" cy="1097280"/>
          </a:xfrm>
          <a:prstGeom prst="rect">
            <a:avLst/>
          </a:prstGeom>
          <a:noFill/>
          <a:ln/>
        </p:spPr>
        <p:txBody>
          <a:bodyPr wrap="square" lIns="0" tIns="0" rIns="0" bIns="0" rtlCol="0" anchor="ctr"/>
          <a:lstStyle/>
          <a:p>
            <a:pPr indent="0" marL="0">
              <a:lnSpc>
                <a:spcPts val="1600"/>
              </a:lnSpc>
              <a:buNone/>
            </a:pPr>
            <a:r>
              <a:rPr lang="en-US" sz="1250" dirty="0">
                <a:solidFill>
                  <a:srgbClr val="4A4360"/>
                </a:solidFill>
                <a:latin typeface="Calibri" pitchFamily="34" charset="0"/>
                <a:ea typeface="Calibri" pitchFamily="34" charset="-122"/>
                <a:cs typeface="Calibri" pitchFamily="34" charset="-120"/>
              </a:rPr>
              <a:t>Diaspora parents rarely believe the local curriculum is preparing their child for the contests, tests and admissions that actually decide outcomes.</a:t>
            </a:r>
            <a:endParaRPr lang="en-US" sz="1250" dirty="0"/>
          </a:p>
        </p:txBody>
      </p:sp>
      <p:sp>
        <p:nvSpPr>
          <p:cNvPr id="9" name="Shape 7"/>
          <p:cNvSpPr/>
          <p:nvPr/>
        </p:nvSpPr>
        <p:spPr>
          <a:xfrm>
            <a:off x="4325112" y="2148840"/>
            <a:ext cx="3410712" cy="2743200"/>
          </a:xfrm>
          <a:prstGeom prst="roundRect">
            <a:avLst>
              <a:gd name="adj" fmla="val 4667"/>
            </a:avLst>
          </a:prstGeom>
          <a:solidFill>
            <a:srgbClr val="EFEBF8"/>
          </a:solidFill>
          <a:ln/>
          <a:effectLst>
            <a:outerShdw sx="100000" sy="100000" kx="0" ky="0" algn="bl" rotWithShape="0" blurRad="127000" dist="25400" dir="5400000">
              <a:srgbClr val="241E33">
                <a:alpha val="10000"/>
              </a:srgbClr>
            </a:outerShdw>
          </a:effectLst>
        </p:spPr>
      </p:sp>
      <p:sp>
        <p:nvSpPr>
          <p:cNvPr id="10" name="Shape 8"/>
          <p:cNvSpPr/>
          <p:nvPr/>
        </p:nvSpPr>
        <p:spPr>
          <a:xfrm rot="5400000">
            <a:off x="4599432" y="2395728"/>
            <a:ext cx="457200" cy="457200"/>
          </a:xfrm>
          <a:prstGeom prst="hexagon">
            <a:avLst/>
          </a:prstGeom>
          <a:solidFill>
            <a:srgbClr val="F0B429"/>
          </a:solidFill>
          <a:ln/>
        </p:spPr>
      </p:sp>
      <p:sp>
        <p:nvSpPr>
          <p:cNvPr id="11" name="Text 9"/>
          <p:cNvSpPr/>
          <p:nvPr/>
        </p:nvSpPr>
        <p:spPr>
          <a:xfrm>
            <a:off x="4599432" y="3017520"/>
            <a:ext cx="2880360" cy="566928"/>
          </a:xfrm>
          <a:prstGeom prst="rect">
            <a:avLst/>
          </a:prstGeom>
          <a:noFill/>
          <a:ln/>
        </p:spPr>
        <p:txBody>
          <a:bodyPr wrap="square" lIns="0" tIns="0" rIns="0" bIns="0" rtlCol="0" anchor="ctr"/>
          <a:lstStyle/>
          <a:p>
            <a:pPr indent="0" marL="0">
              <a:buNone/>
            </a:pPr>
            <a:r>
              <a:rPr lang="en-US" sz="1700" b="1" dirty="0">
                <a:solidFill>
                  <a:srgbClr val="241E33"/>
                </a:solidFill>
                <a:latin typeface="Cambria" pitchFamily="34" charset="0"/>
                <a:ea typeface="Cambria" pitchFamily="34" charset="-122"/>
                <a:cs typeface="Cambria" pitchFamily="34" charset="-120"/>
              </a:rPr>
              <a:t>The child is between two worlds</a:t>
            </a:r>
            <a:endParaRPr lang="en-US" sz="1700" dirty="0"/>
          </a:p>
        </p:txBody>
      </p:sp>
      <p:sp>
        <p:nvSpPr>
          <p:cNvPr id="12" name="Text 10"/>
          <p:cNvSpPr/>
          <p:nvPr/>
        </p:nvSpPr>
        <p:spPr>
          <a:xfrm>
            <a:off x="4599432" y="3657600"/>
            <a:ext cx="2880360" cy="1097280"/>
          </a:xfrm>
          <a:prstGeom prst="rect">
            <a:avLst/>
          </a:prstGeom>
          <a:noFill/>
          <a:ln/>
        </p:spPr>
        <p:txBody>
          <a:bodyPr wrap="square" lIns="0" tIns="0" rIns="0" bIns="0" rtlCol="0" anchor="ctr"/>
          <a:lstStyle/>
          <a:p>
            <a:pPr indent="0" marL="0">
              <a:lnSpc>
                <a:spcPts val="1600"/>
              </a:lnSpc>
              <a:buNone/>
            </a:pPr>
            <a:r>
              <a:rPr lang="en-US" sz="1250" dirty="0">
                <a:solidFill>
                  <a:srgbClr val="4A4360"/>
                </a:solidFill>
                <a:latin typeface="Calibri" pitchFamily="34" charset="0"/>
                <a:ea typeface="Calibri" pitchFamily="34" charset="-122"/>
                <a:cs typeface="Calibri" pitchFamily="34" charset="-120"/>
              </a:rPr>
              <a:t>Expected to win at an adopted country’s competitions, and to keep a language and culture that country does not teach.</a:t>
            </a:r>
            <a:endParaRPr lang="en-US" sz="1250" dirty="0"/>
          </a:p>
        </p:txBody>
      </p:sp>
      <p:sp>
        <p:nvSpPr>
          <p:cNvPr id="13" name="Shape 11"/>
          <p:cNvSpPr/>
          <p:nvPr/>
        </p:nvSpPr>
        <p:spPr>
          <a:xfrm>
            <a:off x="8010144" y="2148840"/>
            <a:ext cx="3410712" cy="2743200"/>
          </a:xfrm>
          <a:prstGeom prst="roundRect">
            <a:avLst>
              <a:gd name="adj" fmla="val 4667"/>
            </a:avLst>
          </a:prstGeom>
          <a:solidFill>
            <a:srgbClr val="EFEBF8"/>
          </a:solidFill>
          <a:ln/>
          <a:effectLst>
            <a:outerShdw sx="100000" sy="100000" kx="0" ky="0" algn="bl" rotWithShape="0" blurRad="127000" dist="25400" dir="5400000">
              <a:srgbClr val="241E33">
                <a:alpha val="10000"/>
              </a:srgbClr>
            </a:outerShdw>
          </a:effectLst>
        </p:spPr>
      </p:sp>
      <p:sp>
        <p:nvSpPr>
          <p:cNvPr id="14" name="Shape 12"/>
          <p:cNvSpPr/>
          <p:nvPr/>
        </p:nvSpPr>
        <p:spPr>
          <a:xfrm rot="5400000">
            <a:off x="8284464" y="2395728"/>
            <a:ext cx="457200" cy="457200"/>
          </a:xfrm>
          <a:prstGeom prst="hexagon">
            <a:avLst/>
          </a:prstGeom>
          <a:solidFill>
            <a:srgbClr val="178A4C"/>
          </a:solidFill>
          <a:ln/>
        </p:spPr>
      </p:sp>
      <p:sp>
        <p:nvSpPr>
          <p:cNvPr id="15" name="Text 13"/>
          <p:cNvSpPr/>
          <p:nvPr/>
        </p:nvSpPr>
        <p:spPr>
          <a:xfrm>
            <a:off x="8284464" y="3017520"/>
            <a:ext cx="2880360" cy="566928"/>
          </a:xfrm>
          <a:prstGeom prst="rect">
            <a:avLst/>
          </a:prstGeom>
          <a:noFill/>
          <a:ln/>
        </p:spPr>
        <p:txBody>
          <a:bodyPr wrap="square" lIns="0" tIns="0" rIns="0" bIns="0" rtlCol="0" anchor="ctr"/>
          <a:lstStyle/>
          <a:p>
            <a:pPr indent="0" marL="0">
              <a:buNone/>
            </a:pPr>
            <a:r>
              <a:rPr lang="en-US" sz="1700" b="1" dirty="0">
                <a:solidFill>
                  <a:srgbClr val="241E33"/>
                </a:solidFill>
                <a:latin typeface="Cambria" pitchFamily="34" charset="0"/>
                <a:ea typeface="Cambria" pitchFamily="34" charset="-122"/>
                <a:cs typeface="Cambria" pitchFamily="34" charset="-120"/>
              </a:rPr>
              <a:t>The alternatives are poor</a:t>
            </a:r>
            <a:endParaRPr lang="en-US" sz="1700" dirty="0"/>
          </a:p>
        </p:txBody>
      </p:sp>
      <p:sp>
        <p:nvSpPr>
          <p:cNvPr id="16" name="Text 14"/>
          <p:cNvSpPr/>
          <p:nvPr/>
        </p:nvSpPr>
        <p:spPr>
          <a:xfrm>
            <a:off x="8284464" y="3657600"/>
            <a:ext cx="2880360" cy="1097280"/>
          </a:xfrm>
          <a:prstGeom prst="rect">
            <a:avLst/>
          </a:prstGeom>
          <a:noFill/>
          <a:ln/>
        </p:spPr>
        <p:txBody>
          <a:bodyPr wrap="square" lIns="0" tIns="0" rIns="0" bIns="0" rtlCol="0" anchor="ctr"/>
          <a:lstStyle/>
          <a:p>
            <a:pPr indent="0" marL="0">
              <a:lnSpc>
                <a:spcPts val="1600"/>
              </a:lnSpc>
              <a:buNone/>
            </a:pPr>
            <a:r>
              <a:rPr lang="en-US" sz="1250" dirty="0">
                <a:solidFill>
                  <a:srgbClr val="4A4360"/>
                </a:solidFill>
                <a:latin typeface="Calibri" pitchFamily="34" charset="0"/>
                <a:ea typeface="Calibri" pitchFamily="34" charset="-122"/>
                <a:cs typeface="Calibri" pitchFamily="34" charset="-120"/>
              </a:rPr>
              <a:t>Photocopied worksheets, tutors at $60–100 an hour, or apps built for a general audience that do not understand this family at all.</a:t>
            </a:r>
            <a:endParaRPr lang="en-US" sz="1250" dirty="0"/>
          </a:p>
        </p:txBody>
      </p:sp>
      <p:sp>
        <p:nvSpPr>
          <p:cNvPr id="17" name="Text 15"/>
          <p:cNvSpPr/>
          <p:nvPr/>
        </p:nvSpPr>
        <p:spPr>
          <a:xfrm>
            <a:off x="640080" y="5212080"/>
            <a:ext cx="10607040" cy="365760"/>
          </a:xfrm>
          <a:prstGeom prst="rect">
            <a:avLst/>
          </a:prstGeom>
          <a:noFill/>
          <a:ln/>
        </p:spPr>
        <p:txBody>
          <a:bodyPr wrap="square" lIns="0" tIns="0" rIns="0" bIns="0" rtlCol="0" anchor="ctr"/>
          <a:lstStyle/>
          <a:p>
            <a:pPr indent="0" marL="0">
              <a:buNone/>
            </a:pPr>
            <a:r>
              <a:rPr lang="en-US" sz="1600" i="1" dirty="0">
                <a:solidFill>
                  <a:srgbClr val="6C4FE0"/>
                </a:solidFill>
                <a:latin typeface="Cambria" pitchFamily="34" charset="0"/>
                <a:ea typeface="Cambria" pitchFamily="34" charset="-122"/>
                <a:cs typeface="Cambria" pitchFamily="34" charset="-120"/>
              </a:rPr>
              <a:t>That worry is large, permanent, and currently served badly. It is the whole opportunity.</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41E33"/>
        </a:solidFill>
      </p:bgPr>
    </p:bg>
    <p:spTree>
      <p:nvGrpSpPr>
        <p:cNvPr id="1" name=""/>
        <p:cNvGrpSpPr/>
        <p:nvPr/>
      </p:nvGrpSpPr>
      <p:grpSpPr>
        <a:xfrm>
          <a:off x="0" y="0"/>
          <a:ext cx="0" cy="0"/>
          <a:chOff x="0" y="0"/>
          <a:chExt cx="0" cy="0"/>
        </a:xfrm>
      </p:grpSpPr>
      <p:sp>
        <p:nvSpPr>
          <p:cNvPr id="2" name="Shape 0"/>
          <p:cNvSpPr/>
          <p:nvPr/>
        </p:nvSpPr>
        <p:spPr>
          <a:xfrm rot="5400000">
            <a:off x="182880" y="4343400"/>
            <a:ext cx="777240" cy="777240"/>
          </a:xfrm>
          <a:prstGeom prst="hexagon">
            <a:avLst/>
          </a:prstGeom>
          <a:solidFill>
            <a:srgbClr val="6C4FE0">
              <a:alpha val="20000"/>
            </a:srgbClr>
          </a:solidFill>
          <a:ln/>
        </p:spPr>
      </p:sp>
      <p:sp>
        <p:nvSpPr>
          <p:cNvPr id="3" name="Shape 1"/>
          <p:cNvSpPr/>
          <p:nvPr/>
        </p:nvSpPr>
        <p:spPr>
          <a:xfrm rot="5400000">
            <a:off x="1280160" y="4343400"/>
            <a:ext cx="777240" cy="777240"/>
          </a:xfrm>
          <a:prstGeom prst="hexagon">
            <a:avLst/>
          </a:prstGeom>
          <a:solidFill>
            <a:srgbClr val="6C4FE0">
              <a:alpha val="20000"/>
            </a:srgbClr>
          </a:solidFill>
          <a:ln/>
        </p:spPr>
      </p:sp>
      <p:sp>
        <p:nvSpPr>
          <p:cNvPr id="4" name="Shape 2"/>
          <p:cNvSpPr/>
          <p:nvPr/>
        </p:nvSpPr>
        <p:spPr>
          <a:xfrm rot="5400000">
            <a:off x="2377440" y="4343400"/>
            <a:ext cx="777240" cy="777240"/>
          </a:xfrm>
          <a:prstGeom prst="hexagon">
            <a:avLst/>
          </a:prstGeom>
          <a:solidFill>
            <a:srgbClr val="6C4FE0">
              <a:alpha val="20000"/>
            </a:srgbClr>
          </a:solidFill>
          <a:ln/>
        </p:spPr>
      </p:sp>
      <p:sp>
        <p:nvSpPr>
          <p:cNvPr id="5" name="Shape 3"/>
          <p:cNvSpPr/>
          <p:nvPr/>
        </p:nvSpPr>
        <p:spPr>
          <a:xfrm rot="5400000">
            <a:off x="731520" y="5287061"/>
            <a:ext cx="777240" cy="777240"/>
          </a:xfrm>
          <a:prstGeom prst="hexagon">
            <a:avLst/>
          </a:prstGeom>
          <a:solidFill>
            <a:srgbClr val="6C4FE0">
              <a:alpha val="20000"/>
            </a:srgbClr>
          </a:solidFill>
          <a:ln/>
        </p:spPr>
      </p:sp>
      <p:sp>
        <p:nvSpPr>
          <p:cNvPr id="6" name="Shape 4"/>
          <p:cNvSpPr/>
          <p:nvPr/>
        </p:nvSpPr>
        <p:spPr>
          <a:xfrm rot="5400000">
            <a:off x="1828800" y="5287061"/>
            <a:ext cx="777240" cy="777240"/>
          </a:xfrm>
          <a:prstGeom prst="hexagon">
            <a:avLst/>
          </a:prstGeom>
          <a:solidFill>
            <a:srgbClr val="6C4FE0">
              <a:alpha val="20000"/>
            </a:srgbClr>
          </a:solidFill>
          <a:ln/>
        </p:spPr>
      </p:sp>
      <p:sp>
        <p:nvSpPr>
          <p:cNvPr id="7" name="Shape 5"/>
          <p:cNvSpPr/>
          <p:nvPr/>
        </p:nvSpPr>
        <p:spPr>
          <a:xfrm rot="5400000">
            <a:off x="2926080" y="5287061"/>
            <a:ext cx="777240" cy="777240"/>
          </a:xfrm>
          <a:prstGeom prst="hexagon">
            <a:avLst/>
          </a:prstGeom>
          <a:solidFill>
            <a:srgbClr val="6C4FE0">
              <a:alpha val="20000"/>
            </a:srgbClr>
          </a:solidFill>
          <a:ln/>
        </p:spPr>
      </p:sp>
      <p:sp>
        <p:nvSpPr>
          <p:cNvPr id="8" name="Text 6"/>
          <p:cNvSpPr/>
          <p:nvPr/>
        </p:nvSpPr>
        <p:spPr>
          <a:xfrm>
            <a:off x="640080" y="914400"/>
            <a:ext cx="5486400" cy="320040"/>
          </a:xfrm>
          <a:prstGeom prst="rect">
            <a:avLst/>
          </a:prstGeom>
          <a:noFill/>
          <a:ln/>
        </p:spPr>
        <p:txBody>
          <a:bodyPr wrap="square" lIns="0" tIns="0" rIns="0" bIns="0" rtlCol="0" anchor="ctr"/>
          <a:lstStyle/>
          <a:p>
            <a:pPr indent="0" marL="0">
              <a:buNone/>
            </a:pPr>
            <a:r>
              <a:rPr lang="en-US" sz="1200" b="1" spc="300" kern="0" dirty="0">
                <a:solidFill>
                  <a:srgbClr val="F0B429"/>
                </a:solidFill>
                <a:latin typeface="Calibri" pitchFamily="34" charset="0"/>
                <a:ea typeface="Calibri" pitchFamily="34" charset="-122"/>
                <a:cs typeface="Calibri" pitchFamily="34" charset="-120"/>
              </a:rPr>
              <a:t>VISION</a:t>
            </a:r>
            <a:endParaRPr lang="en-US" sz="1200" dirty="0"/>
          </a:p>
        </p:txBody>
      </p:sp>
      <p:sp>
        <p:nvSpPr>
          <p:cNvPr id="9" name="Text 7"/>
          <p:cNvSpPr/>
          <p:nvPr/>
        </p:nvSpPr>
        <p:spPr>
          <a:xfrm>
            <a:off x="640080" y="1481328"/>
            <a:ext cx="8595360" cy="1051560"/>
          </a:xfrm>
          <a:prstGeom prst="rect">
            <a:avLst/>
          </a:prstGeom>
          <a:noFill/>
          <a:ln/>
        </p:spPr>
        <p:txBody>
          <a:bodyPr wrap="square" lIns="0" tIns="0" rIns="0" bIns="0" rtlCol="0" anchor="ctr"/>
          <a:lstStyle/>
          <a:p>
            <a:pPr indent="0" marL="0">
              <a:buNone/>
            </a:pPr>
            <a:r>
              <a:rPr lang="en-US" sz="6200" b="1" dirty="0">
                <a:solidFill>
                  <a:srgbClr val="F0B429"/>
                </a:solidFill>
                <a:latin typeface="Cambria" pitchFamily="34" charset="0"/>
                <a:ea typeface="Cambria" pitchFamily="34" charset="-122"/>
                <a:cs typeface="Cambria" pitchFamily="34" charset="-120"/>
              </a:rPr>
              <a:t>Own the stage.</a:t>
            </a:r>
            <a:endParaRPr lang="en-US" sz="6200" dirty="0"/>
          </a:p>
        </p:txBody>
      </p:sp>
      <p:sp>
        <p:nvSpPr>
          <p:cNvPr id="10" name="Text 8"/>
          <p:cNvSpPr/>
          <p:nvPr/>
        </p:nvSpPr>
        <p:spPr>
          <a:xfrm>
            <a:off x="640080" y="2670048"/>
            <a:ext cx="9326880" cy="1371600"/>
          </a:xfrm>
          <a:prstGeom prst="rect">
            <a:avLst/>
          </a:prstGeom>
          <a:noFill/>
          <a:ln/>
        </p:spPr>
        <p:txBody>
          <a:bodyPr wrap="square" lIns="0" tIns="0" rIns="0" bIns="0" rtlCol="0" anchor="ctr"/>
          <a:lstStyle/>
          <a:p>
            <a:pPr indent="0" marL="0">
              <a:lnSpc>
                <a:spcPts val="4400"/>
              </a:lnSpc>
              <a:buNone/>
            </a:pPr>
            <a:r>
              <a:rPr lang="en-US" sz="3600" b="1" dirty="0">
                <a:solidFill>
                  <a:srgbClr val="FFFFFF"/>
                </a:solidFill>
                <a:latin typeface="Cambria" pitchFamily="34" charset="0"/>
                <a:ea typeface="Cambria" pitchFamily="34" charset="-122"/>
                <a:cs typeface="Cambria" pitchFamily="34" charset="-120"/>
              </a:rPr>
              <a:t>Every stage in the world has one of our kids on it.</a:t>
            </a:r>
            <a:endParaRPr lang="en-US" sz="3600" dirty="0"/>
          </a:p>
        </p:txBody>
      </p:sp>
      <p:sp>
        <p:nvSpPr>
          <p:cNvPr id="11" name="Text 9"/>
          <p:cNvSpPr/>
          <p:nvPr/>
        </p:nvSpPr>
        <p:spPr>
          <a:xfrm>
            <a:off x="640080" y="4224528"/>
            <a:ext cx="8686800" cy="960120"/>
          </a:xfrm>
          <a:prstGeom prst="rect">
            <a:avLst/>
          </a:prstGeom>
          <a:noFill/>
          <a:ln/>
        </p:spPr>
        <p:txBody>
          <a:bodyPr wrap="square" lIns="0" tIns="0" rIns="0" bIns="0" rtlCol="0" anchor="ctr"/>
          <a:lstStyle/>
          <a:p>
            <a:pPr indent="0" marL="0">
              <a:lnSpc>
                <a:spcPts val="2100"/>
              </a:lnSpc>
              <a:buNone/>
            </a:pPr>
            <a:r>
              <a:rPr lang="en-US" sz="1450" dirty="0">
                <a:solidFill>
                  <a:srgbClr val="E3DCF2"/>
                </a:solidFill>
                <a:latin typeface="Calibri" pitchFamily="34" charset="0"/>
                <a:ea typeface="Calibri" pitchFamily="34" charset="-122"/>
                <a:cs typeface="Calibri" pitchFamily="34" charset="-120"/>
              </a:rPr>
              <a:t>A spelling bee is a child at a microphone under lights. So is a debate, a pitch, a boardroom and a parliament. We are not raising children who fit in quietly — we are raising the ones who take the mic.</a:t>
            </a:r>
            <a:endParaRPr lang="en-US" sz="1450" dirty="0"/>
          </a:p>
        </p:txBody>
      </p:sp>
      <p:pic>
        <p:nvPicPr>
          <p:cNvPr id="12" name="Image 0" descr="preencoded.png">    </p:cNvPr>
          <p:cNvPicPr>
            <a:picLocks noChangeAspect="1"/>
          </p:cNvPicPr>
          <p:nvPr/>
        </p:nvPicPr>
        <p:blipFill>
          <a:blip r:embed="rId1"/>
          <a:stretch>
            <a:fillRect/>
          </a:stretch>
        </p:blipFill>
        <p:spPr>
          <a:xfrm>
            <a:off x="9464040" y="1417320"/>
            <a:ext cx="1920240" cy="1920240"/>
          </a:xfrm>
          <a:prstGeom prst="rect">
            <a:avLst/>
          </a:prstGeom>
        </p:spPr>
      </p:pic>
      <p:pic>
        <p:nvPicPr>
          <p:cNvPr id="13" name="Image 1" descr="preencoded.png">    </p:cNvPr>
          <p:cNvPicPr>
            <a:picLocks noChangeAspect="1"/>
          </p:cNvPicPr>
          <p:nvPr/>
        </p:nvPicPr>
        <p:blipFill>
          <a:blip r:embed="rId2"/>
          <a:stretch>
            <a:fillRect/>
          </a:stretch>
        </p:blipFill>
        <p:spPr>
          <a:xfrm>
            <a:off x="9829800" y="3429000"/>
            <a:ext cx="1371600" cy="13716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02336"/>
            <a:ext cx="7315200" cy="256032"/>
          </a:xfrm>
          <a:prstGeom prst="rect">
            <a:avLst/>
          </a:prstGeom>
          <a:noFill/>
          <a:ln/>
        </p:spPr>
        <p:txBody>
          <a:bodyPr wrap="square" lIns="0" tIns="0" rIns="0" bIns="0" rtlCol="0" anchor="ctr"/>
          <a:lstStyle/>
          <a:p>
            <a:pPr indent="0" marL="0">
              <a:buNone/>
            </a:pPr>
            <a:r>
              <a:rPr lang="en-US" sz="1150" b="1" spc="240" kern="0" dirty="0">
                <a:solidFill>
                  <a:srgbClr val="6C4FE0"/>
                </a:solidFill>
                <a:latin typeface="Calibri" pitchFamily="34" charset="0"/>
                <a:ea typeface="Calibri" pitchFamily="34" charset="-122"/>
                <a:cs typeface="Calibri" pitchFamily="34" charset="-120"/>
              </a:rPr>
              <a:t>WHAT WE DO ABOUT IT</a:t>
            </a:r>
            <a:endParaRPr lang="en-US" sz="1150" dirty="0"/>
          </a:p>
        </p:txBody>
      </p:sp>
      <p:sp>
        <p:nvSpPr>
          <p:cNvPr id="3" name="Text 1"/>
          <p:cNvSpPr/>
          <p:nvPr/>
        </p:nvSpPr>
        <p:spPr>
          <a:xfrm>
            <a:off x="640080" y="694944"/>
            <a:ext cx="10607040" cy="749808"/>
          </a:xfrm>
          <a:prstGeom prst="rect">
            <a:avLst/>
          </a:prstGeom>
          <a:noFill/>
          <a:ln/>
        </p:spPr>
        <p:txBody>
          <a:bodyPr wrap="square" lIns="0" tIns="0" rIns="0" bIns="0" rtlCol="0" anchor="ctr"/>
          <a:lstStyle/>
          <a:p>
            <a:pPr indent="0" marL="0">
              <a:buNone/>
            </a:pPr>
            <a:r>
              <a:rPr lang="en-US" sz="2900" b="1" dirty="0">
                <a:solidFill>
                  <a:srgbClr val="241E33"/>
                </a:solidFill>
                <a:latin typeface="Cambria" pitchFamily="34" charset="0"/>
                <a:ea typeface="Cambria" pitchFamily="34" charset="-122"/>
                <a:cs typeface="Cambria" pitchFamily="34" charset="-120"/>
              </a:rPr>
              <a:t>Mission</a:t>
            </a:r>
            <a:endParaRPr lang="en-US" sz="2900" dirty="0"/>
          </a:p>
        </p:txBody>
      </p:sp>
      <p:sp>
        <p:nvSpPr>
          <p:cNvPr id="4" name="Shape 2"/>
          <p:cNvSpPr/>
          <p:nvPr/>
        </p:nvSpPr>
        <p:spPr>
          <a:xfrm>
            <a:off x="640080" y="1417320"/>
            <a:ext cx="10607040" cy="1234440"/>
          </a:xfrm>
          <a:prstGeom prst="roundRect">
            <a:avLst>
              <a:gd name="adj" fmla="val 10370"/>
            </a:avLst>
          </a:prstGeom>
          <a:solidFill>
            <a:srgbClr val="EFEBF8"/>
          </a:solidFill>
          <a:ln/>
          <a:effectLst>
            <a:outerShdw sx="100000" sy="100000" kx="0" ky="0" algn="bl" rotWithShape="0" blurRad="127000" dist="25400" dir="5400000">
              <a:srgbClr val="241E33">
                <a:alpha val="10000"/>
              </a:srgbClr>
            </a:outerShdw>
          </a:effectLst>
        </p:spPr>
      </p:sp>
      <p:sp>
        <p:nvSpPr>
          <p:cNvPr id="5" name="Text 3"/>
          <p:cNvSpPr/>
          <p:nvPr/>
        </p:nvSpPr>
        <p:spPr>
          <a:xfrm>
            <a:off x="1024128" y="1600200"/>
            <a:ext cx="9875520" cy="868680"/>
          </a:xfrm>
          <a:prstGeom prst="rect">
            <a:avLst/>
          </a:prstGeom>
          <a:noFill/>
          <a:ln/>
        </p:spPr>
        <p:txBody>
          <a:bodyPr wrap="square" lIns="0" tIns="0" rIns="0" bIns="0" rtlCol="0" anchor="ctr"/>
          <a:lstStyle/>
          <a:p>
            <a:pPr indent="0" marL="0">
              <a:lnSpc>
                <a:spcPts val="2800"/>
              </a:lnSpc>
              <a:buNone/>
            </a:pPr>
            <a:r>
              <a:rPr lang="en-US" sz="2100" b="1" dirty="0">
                <a:solidFill>
                  <a:srgbClr val="241E33"/>
                </a:solidFill>
                <a:latin typeface="Cambria" pitchFamily="34" charset="0"/>
                <a:ea typeface="Cambria" pitchFamily="34" charset="-122"/>
                <a:cs typeface="Cambria" pitchFamily="34" charset="-120"/>
              </a:rPr>
              <a:t>To give diaspora families world-class competitive learning — starting with words — in products children actually want to open.</a:t>
            </a:r>
            <a:endParaRPr lang="en-US" sz="2100" dirty="0"/>
          </a:p>
        </p:txBody>
      </p:sp>
      <p:sp>
        <p:nvSpPr>
          <p:cNvPr id="6" name="Shape 4"/>
          <p:cNvSpPr/>
          <p:nvPr/>
        </p:nvSpPr>
        <p:spPr>
          <a:xfrm rot="5400000">
            <a:off x="640080" y="3035808"/>
            <a:ext cx="384048" cy="384048"/>
          </a:xfrm>
          <a:prstGeom prst="hexagon">
            <a:avLst/>
          </a:prstGeom>
          <a:solidFill>
            <a:srgbClr val="6C4FE0"/>
          </a:solidFill>
          <a:ln/>
        </p:spPr>
      </p:sp>
      <p:sp>
        <p:nvSpPr>
          <p:cNvPr id="7" name="Text 5"/>
          <p:cNvSpPr/>
          <p:nvPr/>
        </p:nvSpPr>
        <p:spPr>
          <a:xfrm>
            <a:off x="640080" y="30358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8" name="Text 6"/>
          <p:cNvSpPr/>
          <p:nvPr/>
        </p:nvSpPr>
        <p:spPr>
          <a:xfrm>
            <a:off x="640080" y="3584448"/>
            <a:ext cx="3291840" cy="457200"/>
          </a:xfrm>
          <a:prstGeom prst="rect">
            <a:avLst/>
          </a:prstGeom>
          <a:noFill/>
          <a:ln/>
        </p:spPr>
        <p:txBody>
          <a:bodyPr wrap="square" lIns="0" tIns="0" rIns="0" bIns="0" rtlCol="0" anchor="ctr"/>
          <a:lstStyle/>
          <a:p>
            <a:pPr indent="0" marL="0">
              <a:buNone/>
            </a:pPr>
            <a:r>
              <a:rPr lang="en-US" sz="1650" b="1" dirty="0">
                <a:solidFill>
                  <a:srgbClr val="241E33"/>
                </a:solidFill>
                <a:latin typeface="Cambria" pitchFamily="34" charset="0"/>
                <a:ea typeface="Cambria" pitchFamily="34" charset="-122"/>
                <a:cs typeface="Cambria" pitchFamily="34" charset="-120"/>
              </a:rPr>
              <a:t>Competitive, not remedial</a:t>
            </a:r>
            <a:endParaRPr lang="en-US" sz="1650" dirty="0"/>
          </a:p>
        </p:txBody>
      </p:sp>
      <p:sp>
        <p:nvSpPr>
          <p:cNvPr id="9" name="Text 7"/>
          <p:cNvSpPr/>
          <p:nvPr/>
        </p:nvSpPr>
        <p:spPr>
          <a:xfrm>
            <a:off x="640080" y="4078224"/>
            <a:ext cx="3291840" cy="1097280"/>
          </a:xfrm>
          <a:prstGeom prst="rect">
            <a:avLst/>
          </a:prstGeom>
          <a:noFill/>
          <a:ln/>
        </p:spPr>
        <p:txBody>
          <a:bodyPr wrap="square" lIns="0" tIns="0" rIns="0" bIns="0" rtlCol="0" anchor="ctr"/>
          <a:lstStyle/>
          <a:p>
            <a:pPr indent="0" marL="0">
              <a:lnSpc>
                <a:spcPts val="1800"/>
              </a:lnSpc>
              <a:buNone/>
            </a:pPr>
            <a:r>
              <a:rPr lang="en-US" sz="1300" dirty="0">
                <a:solidFill>
                  <a:srgbClr val="4A4360"/>
                </a:solidFill>
                <a:latin typeface="Calibri" pitchFamily="34" charset="0"/>
                <a:ea typeface="Calibri" pitchFamily="34" charset="-122"/>
                <a:cs typeface="Calibri" pitchFamily="34" charset="-120"/>
              </a:rPr>
              <a:t>We prepare children to win things, not to catch up. That is the register the parent is already in.</a:t>
            </a:r>
            <a:endParaRPr lang="en-US" sz="1300" dirty="0"/>
          </a:p>
        </p:txBody>
      </p:sp>
      <p:sp>
        <p:nvSpPr>
          <p:cNvPr id="10" name="Shape 8"/>
          <p:cNvSpPr/>
          <p:nvPr/>
        </p:nvSpPr>
        <p:spPr>
          <a:xfrm rot="5400000">
            <a:off x="4325112" y="3035808"/>
            <a:ext cx="384048" cy="384048"/>
          </a:xfrm>
          <a:prstGeom prst="hexagon">
            <a:avLst/>
          </a:prstGeom>
          <a:solidFill>
            <a:srgbClr val="F0B429"/>
          </a:solidFill>
          <a:ln/>
        </p:spPr>
      </p:sp>
      <p:sp>
        <p:nvSpPr>
          <p:cNvPr id="11" name="Text 9"/>
          <p:cNvSpPr/>
          <p:nvPr/>
        </p:nvSpPr>
        <p:spPr>
          <a:xfrm>
            <a:off x="4325112" y="3035808"/>
            <a:ext cx="384048" cy="384048"/>
          </a:xfrm>
          <a:prstGeom prst="rect">
            <a:avLst/>
          </a:prstGeom>
          <a:noFill/>
          <a:ln/>
        </p:spPr>
        <p:txBody>
          <a:bodyPr wrap="square" lIns="0" tIns="0" rIns="0" bIns="0" rtlCol="0" anchor="ctr"/>
          <a:lstStyle/>
          <a:p>
            <a:pPr algn="ctr" indent="0" marL="0">
              <a:buNone/>
            </a:pPr>
            <a:r>
              <a:rPr lang="en-US" sz="1300" b="1" dirty="0">
                <a:solidFill>
                  <a:srgbClr val="241E33"/>
                </a:solidFill>
                <a:latin typeface="Cambria" pitchFamily="34" charset="0"/>
                <a:ea typeface="Cambria" pitchFamily="34" charset="-122"/>
                <a:cs typeface="Cambria" pitchFamily="34" charset="-120"/>
              </a:rPr>
              <a:t>2</a:t>
            </a:r>
            <a:endParaRPr lang="en-US" sz="1300" dirty="0"/>
          </a:p>
        </p:txBody>
      </p:sp>
      <p:sp>
        <p:nvSpPr>
          <p:cNvPr id="12" name="Text 10"/>
          <p:cNvSpPr/>
          <p:nvPr/>
        </p:nvSpPr>
        <p:spPr>
          <a:xfrm>
            <a:off x="4325112" y="3584448"/>
            <a:ext cx="3291840" cy="457200"/>
          </a:xfrm>
          <a:prstGeom prst="rect">
            <a:avLst/>
          </a:prstGeom>
          <a:noFill/>
          <a:ln/>
        </p:spPr>
        <p:txBody>
          <a:bodyPr wrap="square" lIns="0" tIns="0" rIns="0" bIns="0" rtlCol="0" anchor="ctr"/>
          <a:lstStyle/>
          <a:p>
            <a:pPr indent="0" marL="0">
              <a:buNone/>
            </a:pPr>
            <a:r>
              <a:rPr lang="en-US" sz="1650" b="1" dirty="0">
                <a:solidFill>
                  <a:srgbClr val="241E33"/>
                </a:solidFill>
                <a:latin typeface="Cambria" pitchFamily="34" charset="0"/>
                <a:ea typeface="Cambria" pitchFamily="34" charset="-122"/>
                <a:cs typeface="Cambria" pitchFamily="34" charset="-120"/>
              </a:rPr>
              <a:t>Built for this family</a:t>
            </a:r>
            <a:endParaRPr lang="en-US" sz="1650" dirty="0"/>
          </a:p>
        </p:txBody>
      </p:sp>
      <p:sp>
        <p:nvSpPr>
          <p:cNvPr id="13" name="Text 11"/>
          <p:cNvSpPr/>
          <p:nvPr/>
        </p:nvSpPr>
        <p:spPr>
          <a:xfrm>
            <a:off x="4325112" y="4078224"/>
            <a:ext cx="3291840" cy="1097280"/>
          </a:xfrm>
          <a:prstGeom prst="rect">
            <a:avLst/>
          </a:prstGeom>
          <a:noFill/>
          <a:ln/>
        </p:spPr>
        <p:txBody>
          <a:bodyPr wrap="square" lIns="0" tIns="0" rIns="0" bIns="0" rtlCol="0" anchor="ctr"/>
          <a:lstStyle/>
          <a:p>
            <a:pPr indent="0" marL="0">
              <a:lnSpc>
                <a:spcPts val="1800"/>
              </a:lnSpc>
              <a:buNone/>
            </a:pPr>
            <a:r>
              <a:rPr lang="en-US" sz="1300" dirty="0">
                <a:solidFill>
                  <a:srgbClr val="4A4360"/>
                </a:solidFill>
                <a:latin typeface="Calibri" pitchFamily="34" charset="0"/>
                <a:ea typeface="Calibri" pitchFamily="34" charset="-122"/>
                <a:cs typeface="Calibri" pitchFamily="34" charset="-120"/>
              </a:rPr>
              <a:t>Heritage, language and diaspora context are first-class, not a localisation afterthought.</a:t>
            </a:r>
            <a:endParaRPr lang="en-US" sz="1300" dirty="0"/>
          </a:p>
        </p:txBody>
      </p:sp>
      <p:sp>
        <p:nvSpPr>
          <p:cNvPr id="14" name="Shape 12"/>
          <p:cNvSpPr/>
          <p:nvPr/>
        </p:nvSpPr>
        <p:spPr>
          <a:xfrm rot="5400000">
            <a:off x="8010144" y="3035808"/>
            <a:ext cx="384048" cy="384048"/>
          </a:xfrm>
          <a:prstGeom prst="hexagon">
            <a:avLst/>
          </a:prstGeom>
          <a:solidFill>
            <a:srgbClr val="6C4FE0"/>
          </a:solidFill>
          <a:ln/>
        </p:spPr>
      </p:sp>
      <p:sp>
        <p:nvSpPr>
          <p:cNvPr id="15" name="Text 13"/>
          <p:cNvSpPr/>
          <p:nvPr/>
        </p:nvSpPr>
        <p:spPr>
          <a:xfrm>
            <a:off x="8010144" y="30358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6" name="Text 14"/>
          <p:cNvSpPr/>
          <p:nvPr/>
        </p:nvSpPr>
        <p:spPr>
          <a:xfrm>
            <a:off x="8010144" y="3584448"/>
            <a:ext cx="3291840" cy="457200"/>
          </a:xfrm>
          <a:prstGeom prst="rect">
            <a:avLst/>
          </a:prstGeom>
          <a:noFill/>
          <a:ln/>
        </p:spPr>
        <p:txBody>
          <a:bodyPr wrap="square" lIns="0" tIns="0" rIns="0" bIns="0" rtlCol="0" anchor="ctr"/>
          <a:lstStyle/>
          <a:p>
            <a:pPr indent="0" marL="0">
              <a:buNone/>
            </a:pPr>
            <a:r>
              <a:rPr lang="en-US" sz="1650" b="1" dirty="0">
                <a:solidFill>
                  <a:srgbClr val="241E33"/>
                </a:solidFill>
                <a:latin typeface="Cambria" pitchFamily="34" charset="0"/>
                <a:ea typeface="Cambria" pitchFamily="34" charset="-122"/>
                <a:cs typeface="Cambria" pitchFamily="34" charset="-120"/>
              </a:rPr>
              <a:t>Fun enough to open unprompted</a:t>
            </a:r>
            <a:endParaRPr lang="en-US" sz="1650" dirty="0"/>
          </a:p>
        </p:txBody>
      </p:sp>
      <p:sp>
        <p:nvSpPr>
          <p:cNvPr id="17" name="Text 15"/>
          <p:cNvSpPr/>
          <p:nvPr/>
        </p:nvSpPr>
        <p:spPr>
          <a:xfrm>
            <a:off x="8010144" y="4078224"/>
            <a:ext cx="3291840" cy="1097280"/>
          </a:xfrm>
          <a:prstGeom prst="rect">
            <a:avLst/>
          </a:prstGeom>
          <a:noFill/>
          <a:ln/>
        </p:spPr>
        <p:txBody>
          <a:bodyPr wrap="square" lIns="0" tIns="0" rIns="0" bIns="0" rtlCol="0" anchor="ctr"/>
          <a:lstStyle/>
          <a:p>
            <a:pPr indent="0" marL="0">
              <a:lnSpc>
                <a:spcPts val="1800"/>
              </a:lnSpc>
              <a:buNone/>
            </a:pPr>
            <a:r>
              <a:rPr lang="en-US" sz="1300" dirty="0">
                <a:solidFill>
                  <a:srgbClr val="4A4360"/>
                </a:solidFill>
                <a:latin typeface="Calibri" pitchFamily="34" charset="0"/>
                <a:ea typeface="Calibri" pitchFamily="34" charset="-122"/>
                <a:cs typeface="Calibri" pitchFamily="34" charset="-120"/>
              </a:rPr>
              <a:t>A product a child opens on their own beats a better product they have to be nagged into.</a:t>
            </a:r>
            <a:endParaRPr lang="en-US" sz="1300" dirty="0"/>
          </a:p>
        </p:txBody>
      </p:sp>
      <p:sp>
        <p:nvSpPr>
          <p:cNvPr id="18" name="Text 16"/>
          <p:cNvSpPr/>
          <p:nvPr/>
        </p:nvSpPr>
        <p:spPr>
          <a:xfrm>
            <a:off x="640080" y="5532120"/>
            <a:ext cx="10607040" cy="457200"/>
          </a:xfrm>
          <a:prstGeom prst="rect">
            <a:avLst/>
          </a:prstGeom>
          <a:noFill/>
          <a:ln/>
        </p:spPr>
        <p:txBody>
          <a:bodyPr wrap="square" lIns="0" tIns="0" rIns="0" bIns="0" rtlCol="0" anchor="ctr"/>
          <a:lstStyle/>
          <a:p>
            <a:pPr indent="0" marL="0">
              <a:buNone/>
            </a:pPr>
            <a:r>
              <a:rPr lang="en-US" sz="1350" i="1" dirty="0">
                <a:solidFill>
                  <a:srgbClr val="7A7291"/>
                </a:solidFill>
                <a:latin typeface="Calibri" pitchFamily="34" charset="0"/>
                <a:ea typeface="Calibri" pitchFamily="34" charset="-122"/>
                <a:cs typeface="Calibri" pitchFamily="34" charset="-120"/>
              </a:rPr>
              <a:t>Success is a child who is measurably better at something their parent cares about — and who did the practice willingly.</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02336"/>
            <a:ext cx="7315200" cy="256032"/>
          </a:xfrm>
          <a:prstGeom prst="rect">
            <a:avLst/>
          </a:prstGeom>
          <a:noFill/>
          <a:ln/>
        </p:spPr>
        <p:txBody>
          <a:bodyPr wrap="square" lIns="0" tIns="0" rIns="0" bIns="0" rtlCol="0" anchor="ctr"/>
          <a:lstStyle/>
          <a:p>
            <a:pPr indent="0" marL="0">
              <a:buNone/>
            </a:pPr>
            <a:r>
              <a:rPr lang="en-US" sz="1150" b="1" spc="240" kern="0" dirty="0">
                <a:solidFill>
                  <a:srgbClr val="6C4FE0"/>
                </a:solidFill>
                <a:latin typeface="Calibri" pitchFamily="34" charset="0"/>
                <a:ea typeface="Calibri" pitchFamily="34" charset="-122"/>
                <a:cs typeface="Calibri" pitchFamily="34" charset="-120"/>
              </a:rPr>
              <a:t>THE THREE QUESTIONS</a:t>
            </a:r>
            <a:endParaRPr lang="en-US" sz="1150" dirty="0"/>
          </a:p>
        </p:txBody>
      </p:sp>
      <p:sp>
        <p:nvSpPr>
          <p:cNvPr id="3" name="Text 1"/>
          <p:cNvSpPr/>
          <p:nvPr/>
        </p:nvSpPr>
        <p:spPr>
          <a:xfrm>
            <a:off x="640080" y="694944"/>
            <a:ext cx="10607040" cy="749808"/>
          </a:xfrm>
          <a:prstGeom prst="rect">
            <a:avLst/>
          </a:prstGeom>
          <a:noFill/>
          <a:ln/>
        </p:spPr>
        <p:txBody>
          <a:bodyPr wrap="square" lIns="0" tIns="0" rIns="0" bIns="0" rtlCol="0" anchor="ctr"/>
          <a:lstStyle/>
          <a:p>
            <a:pPr indent="0" marL="0">
              <a:buNone/>
            </a:pPr>
            <a:r>
              <a:rPr lang="en-US" sz="2900" b="1" dirty="0">
                <a:solidFill>
                  <a:srgbClr val="241E33"/>
                </a:solidFill>
                <a:latin typeface="Cambria" pitchFamily="34" charset="0"/>
                <a:ea typeface="Cambria" pitchFamily="34" charset="-122"/>
                <a:cs typeface="Cambria" pitchFamily="34" charset="-120"/>
              </a:rPr>
              <a:t>Why, what, how</a:t>
            </a:r>
            <a:endParaRPr lang="en-US" sz="2900" dirty="0"/>
          </a:p>
        </p:txBody>
      </p:sp>
      <p:sp>
        <p:nvSpPr>
          <p:cNvPr id="4" name="Shape 2"/>
          <p:cNvSpPr/>
          <p:nvPr/>
        </p:nvSpPr>
        <p:spPr>
          <a:xfrm>
            <a:off x="640080" y="1481328"/>
            <a:ext cx="10607040" cy="1371600"/>
          </a:xfrm>
          <a:prstGeom prst="roundRect">
            <a:avLst>
              <a:gd name="adj" fmla="val 9333"/>
            </a:avLst>
          </a:prstGeom>
          <a:solidFill>
            <a:srgbClr val="EFEBF8"/>
          </a:solidFill>
          <a:ln/>
          <a:effectLst>
            <a:outerShdw sx="100000" sy="100000" kx="0" ky="0" algn="bl" rotWithShape="0" blurRad="127000" dist="25400" dir="5400000">
              <a:srgbClr val="241E33">
                <a:alpha val="10000"/>
              </a:srgbClr>
            </a:outerShdw>
          </a:effectLst>
        </p:spPr>
      </p:sp>
      <p:sp>
        <p:nvSpPr>
          <p:cNvPr id="5" name="Shape 3"/>
          <p:cNvSpPr/>
          <p:nvPr/>
        </p:nvSpPr>
        <p:spPr>
          <a:xfrm rot="5400000">
            <a:off x="960120" y="1865376"/>
            <a:ext cx="603504" cy="603504"/>
          </a:xfrm>
          <a:prstGeom prst="hexagon">
            <a:avLst/>
          </a:prstGeom>
          <a:solidFill>
            <a:srgbClr val="6C4FE0"/>
          </a:solidFill>
          <a:ln/>
        </p:spPr>
      </p:sp>
      <p:sp>
        <p:nvSpPr>
          <p:cNvPr id="6" name="Text 4"/>
          <p:cNvSpPr/>
          <p:nvPr/>
        </p:nvSpPr>
        <p:spPr>
          <a:xfrm>
            <a:off x="960120" y="1865376"/>
            <a:ext cx="603504" cy="60350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WHY</a:t>
            </a:r>
            <a:endParaRPr lang="en-US" sz="950" dirty="0"/>
          </a:p>
        </p:txBody>
      </p:sp>
      <p:sp>
        <p:nvSpPr>
          <p:cNvPr id="7" name="Text 5"/>
          <p:cNvSpPr/>
          <p:nvPr/>
        </p:nvSpPr>
        <p:spPr>
          <a:xfrm>
            <a:off x="1874520" y="1700784"/>
            <a:ext cx="9052560" cy="384048"/>
          </a:xfrm>
          <a:prstGeom prst="rect">
            <a:avLst/>
          </a:prstGeom>
          <a:noFill/>
          <a:ln/>
        </p:spPr>
        <p:txBody>
          <a:bodyPr wrap="square" lIns="0" tIns="0" rIns="0" bIns="0" rtlCol="0" anchor="ctr"/>
          <a:lstStyle/>
          <a:p>
            <a:pPr indent="0" marL="0">
              <a:buNone/>
            </a:pPr>
            <a:r>
              <a:rPr lang="en-US" sz="1850" b="1" dirty="0">
                <a:solidFill>
                  <a:srgbClr val="241E33"/>
                </a:solidFill>
                <a:latin typeface="Cambria" pitchFamily="34" charset="0"/>
                <a:ea typeface="Cambria" pitchFamily="34" charset="-122"/>
                <a:cs typeface="Cambria" pitchFamily="34" charset="-120"/>
              </a:rPr>
              <a:t>Because ability is not the constraint — access is.</a:t>
            </a:r>
            <a:endParaRPr lang="en-US" sz="1850" dirty="0"/>
          </a:p>
        </p:txBody>
      </p:sp>
      <p:sp>
        <p:nvSpPr>
          <p:cNvPr id="8" name="Text 6"/>
          <p:cNvSpPr/>
          <p:nvPr/>
        </p:nvSpPr>
        <p:spPr>
          <a:xfrm>
            <a:off x="1874520" y="2121408"/>
            <a:ext cx="9052560" cy="658368"/>
          </a:xfrm>
          <a:prstGeom prst="rect">
            <a:avLst/>
          </a:prstGeom>
          <a:noFill/>
          <a:ln/>
        </p:spPr>
        <p:txBody>
          <a:bodyPr wrap="square" lIns="0" tIns="0" rIns="0" bIns="0" rtlCol="0" anchor="ctr"/>
          <a:lstStyle/>
          <a:p>
            <a:pPr indent="0" marL="0">
              <a:lnSpc>
                <a:spcPts val="1700"/>
              </a:lnSpc>
              <a:buNone/>
            </a:pPr>
            <a:r>
              <a:rPr lang="en-US" sz="1280" dirty="0">
                <a:solidFill>
                  <a:srgbClr val="4A4360"/>
                </a:solidFill>
                <a:latin typeface="Calibri" pitchFamily="34" charset="0"/>
                <a:ea typeface="Calibri" pitchFamily="34" charset="-122"/>
                <a:cs typeface="Calibri" pitchFamily="34" charset="-120"/>
              </a:rPr>
              <a:t>These children are not short of talent or of parental will. They are short of good, affordable, culturally-fluent practice. Every hour a parent spends worrying is an hour we can convert into something the child enjoys.</a:t>
            </a:r>
            <a:endParaRPr lang="en-US" sz="1280" dirty="0"/>
          </a:p>
        </p:txBody>
      </p:sp>
      <p:sp>
        <p:nvSpPr>
          <p:cNvPr id="9" name="Shape 7"/>
          <p:cNvSpPr/>
          <p:nvPr/>
        </p:nvSpPr>
        <p:spPr>
          <a:xfrm>
            <a:off x="640080" y="3054096"/>
            <a:ext cx="10607040" cy="1371600"/>
          </a:xfrm>
          <a:prstGeom prst="roundRect">
            <a:avLst>
              <a:gd name="adj" fmla="val 9333"/>
            </a:avLst>
          </a:prstGeom>
          <a:solidFill>
            <a:srgbClr val="FFFFFF"/>
          </a:solidFill>
          <a:ln/>
          <a:effectLst>
            <a:outerShdw sx="100000" sy="100000" kx="0" ky="0" algn="bl" rotWithShape="0" blurRad="127000" dist="25400" dir="5400000">
              <a:srgbClr val="241E33">
                <a:alpha val="10000"/>
              </a:srgbClr>
            </a:outerShdw>
          </a:effectLst>
        </p:spPr>
      </p:sp>
      <p:sp>
        <p:nvSpPr>
          <p:cNvPr id="10" name="Shape 8"/>
          <p:cNvSpPr/>
          <p:nvPr/>
        </p:nvSpPr>
        <p:spPr>
          <a:xfrm rot="5400000">
            <a:off x="960120" y="3438144"/>
            <a:ext cx="603504" cy="603504"/>
          </a:xfrm>
          <a:prstGeom prst="hexagon">
            <a:avLst/>
          </a:prstGeom>
          <a:solidFill>
            <a:srgbClr val="F0B429"/>
          </a:solidFill>
          <a:ln/>
        </p:spPr>
      </p:sp>
      <p:sp>
        <p:nvSpPr>
          <p:cNvPr id="11" name="Text 9"/>
          <p:cNvSpPr/>
          <p:nvPr/>
        </p:nvSpPr>
        <p:spPr>
          <a:xfrm>
            <a:off x="960120" y="3438144"/>
            <a:ext cx="603504" cy="603504"/>
          </a:xfrm>
          <a:prstGeom prst="rect">
            <a:avLst/>
          </a:prstGeom>
          <a:noFill/>
          <a:ln/>
        </p:spPr>
        <p:txBody>
          <a:bodyPr wrap="square" lIns="0" tIns="0" rIns="0" bIns="0" rtlCol="0" anchor="ctr"/>
          <a:lstStyle/>
          <a:p>
            <a:pPr algn="ctr" indent="0" marL="0">
              <a:buNone/>
            </a:pPr>
            <a:r>
              <a:rPr lang="en-US" sz="950" b="1" dirty="0">
                <a:solidFill>
                  <a:srgbClr val="241E33"/>
                </a:solidFill>
                <a:latin typeface="Calibri" pitchFamily="34" charset="0"/>
                <a:ea typeface="Calibri" pitchFamily="34" charset="-122"/>
                <a:cs typeface="Calibri" pitchFamily="34" charset="-120"/>
              </a:rPr>
              <a:t>WHAT</a:t>
            </a:r>
            <a:endParaRPr lang="en-US" sz="950" dirty="0"/>
          </a:p>
        </p:txBody>
      </p:sp>
      <p:sp>
        <p:nvSpPr>
          <p:cNvPr id="12" name="Text 10"/>
          <p:cNvSpPr/>
          <p:nvPr/>
        </p:nvSpPr>
        <p:spPr>
          <a:xfrm>
            <a:off x="1874520" y="3273552"/>
            <a:ext cx="9052560" cy="384048"/>
          </a:xfrm>
          <a:prstGeom prst="rect">
            <a:avLst/>
          </a:prstGeom>
          <a:noFill/>
          <a:ln/>
        </p:spPr>
        <p:txBody>
          <a:bodyPr wrap="square" lIns="0" tIns="0" rIns="0" bIns="0" rtlCol="0" anchor="ctr"/>
          <a:lstStyle/>
          <a:p>
            <a:pPr indent="0" marL="0">
              <a:buNone/>
            </a:pPr>
            <a:r>
              <a:rPr lang="en-US" sz="1850" b="1" dirty="0">
                <a:solidFill>
                  <a:srgbClr val="241E33"/>
                </a:solidFill>
                <a:latin typeface="Cambria" pitchFamily="34" charset="0"/>
                <a:ea typeface="Cambria" pitchFamily="34" charset="-122"/>
                <a:cs typeface="Cambria" pitchFamily="34" charset="-120"/>
              </a:rPr>
              <a:t>A house of competitive-learning products for ages 8–15.</a:t>
            </a:r>
            <a:endParaRPr lang="en-US" sz="1850" dirty="0"/>
          </a:p>
        </p:txBody>
      </p:sp>
      <p:sp>
        <p:nvSpPr>
          <p:cNvPr id="13" name="Text 11"/>
          <p:cNvSpPr/>
          <p:nvPr/>
        </p:nvSpPr>
        <p:spPr>
          <a:xfrm>
            <a:off x="1874520" y="3694176"/>
            <a:ext cx="9052560" cy="658368"/>
          </a:xfrm>
          <a:prstGeom prst="rect">
            <a:avLst/>
          </a:prstGeom>
          <a:noFill/>
          <a:ln/>
        </p:spPr>
        <p:txBody>
          <a:bodyPr wrap="square" lIns="0" tIns="0" rIns="0" bIns="0" rtlCol="0" anchor="ctr"/>
          <a:lstStyle/>
          <a:p>
            <a:pPr indent="0" marL="0">
              <a:lnSpc>
                <a:spcPts val="1700"/>
              </a:lnSpc>
              <a:buNone/>
            </a:pPr>
            <a:r>
              <a:rPr lang="en-US" sz="1280" dirty="0">
                <a:solidFill>
                  <a:srgbClr val="4A4360"/>
                </a:solidFill>
                <a:latin typeface="Calibri" pitchFamily="34" charset="0"/>
                <a:ea typeface="Calibri" pitchFamily="34" charset="-122"/>
                <a:cs typeface="Calibri" pitchFamily="34" charset="-120"/>
              </a:rPr>
              <a:t>One engine, many subjects. Spelling first, because it is the contest this community already organises around. Then the adjacent word products, then heritage language, then numeracy.</a:t>
            </a:r>
            <a:endParaRPr lang="en-US" sz="1280" dirty="0"/>
          </a:p>
        </p:txBody>
      </p:sp>
      <p:sp>
        <p:nvSpPr>
          <p:cNvPr id="14" name="Shape 12"/>
          <p:cNvSpPr/>
          <p:nvPr/>
        </p:nvSpPr>
        <p:spPr>
          <a:xfrm>
            <a:off x="640080" y="4626864"/>
            <a:ext cx="10607040" cy="1371600"/>
          </a:xfrm>
          <a:prstGeom prst="roundRect">
            <a:avLst>
              <a:gd name="adj" fmla="val 9333"/>
            </a:avLst>
          </a:prstGeom>
          <a:solidFill>
            <a:srgbClr val="EFEBF8"/>
          </a:solidFill>
          <a:ln/>
          <a:effectLst>
            <a:outerShdw sx="100000" sy="100000" kx="0" ky="0" algn="bl" rotWithShape="0" blurRad="127000" dist="25400" dir="5400000">
              <a:srgbClr val="241E33">
                <a:alpha val="10000"/>
              </a:srgbClr>
            </a:outerShdw>
          </a:effectLst>
        </p:spPr>
      </p:sp>
      <p:sp>
        <p:nvSpPr>
          <p:cNvPr id="15" name="Shape 13"/>
          <p:cNvSpPr/>
          <p:nvPr/>
        </p:nvSpPr>
        <p:spPr>
          <a:xfrm rot="5400000">
            <a:off x="960120" y="5010912"/>
            <a:ext cx="603504" cy="603504"/>
          </a:xfrm>
          <a:prstGeom prst="hexagon">
            <a:avLst/>
          </a:prstGeom>
          <a:solidFill>
            <a:srgbClr val="178A4C"/>
          </a:solidFill>
          <a:ln/>
        </p:spPr>
      </p:sp>
      <p:sp>
        <p:nvSpPr>
          <p:cNvPr id="16" name="Text 14"/>
          <p:cNvSpPr/>
          <p:nvPr/>
        </p:nvSpPr>
        <p:spPr>
          <a:xfrm>
            <a:off x="960120" y="5010912"/>
            <a:ext cx="603504" cy="60350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HOW</a:t>
            </a:r>
            <a:endParaRPr lang="en-US" sz="950" dirty="0"/>
          </a:p>
        </p:txBody>
      </p:sp>
      <p:sp>
        <p:nvSpPr>
          <p:cNvPr id="17" name="Text 15"/>
          <p:cNvSpPr/>
          <p:nvPr/>
        </p:nvSpPr>
        <p:spPr>
          <a:xfrm>
            <a:off x="1874520" y="4846320"/>
            <a:ext cx="9052560" cy="384048"/>
          </a:xfrm>
          <a:prstGeom prst="rect">
            <a:avLst/>
          </a:prstGeom>
          <a:noFill/>
          <a:ln/>
        </p:spPr>
        <p:txBody>
          <a:bodyPr wrap="square" lIns="0" tIns="0" rIns="0" bIns="0" rtlCol="0" anchor="ctr"/>
          <a:lstStyle/>
          <a:p>
            <a:pPr indent="0" marL="0">
              <a:buNone/>
            </a:pPr>
            <a:r>
              <a:rPr lang="en-US" sz="1850" b="1" dirty="0">
                <a:solidFill>
                  <a:srgbClr val="241E33"/>
                </a:solidFill>
                <a:latin typeface="Cambria" pitchFamily="34" charset="0"/>
                <a:ea typeface="Cambria" pitchFamily="34" charset="-122"/>
                <a:cs typeface="Cambria" pitchFamily="34" charset="-120"/>
              </a:rPr>
              <a:t>AI-first, founder-run, content-owned.</a:t>
            </a:r>
            <a:endParaRPr lang="en-US" sz="1850" dirty="0"/>
          </a:p>
        </p:txBody>
      </p:sp>
      <p:sp>
        <p:nvSpPr>
          <p:cNvPr id="18" name="Text 16"/>
          <p:cNvSpPr/>
          <p:nvPr/>
        </p:nvSpPr>
        <p:spPr>
          <a:xfrm>
            <a:off x="1874520" y="5266944"/>
            <a:ext cx="9052560" cy="658368"/>
          </a:xfrm>
          <a:prstGeom prst="rect">
            <a:avLst/>
          </a:prstGeom>
          <a:noFill/>
          <a:ln/>
        </p:spPr>
        <p:txBody>
          <a:bodyPr wrap="square" lIns="0" tIns="0" rIns="0" bIns="0" rtlCol="0" anchor="ctr"/>
          <a:lstStyle/>
          <a:p>
            <a:pPr indent="0" marL="0">
              <a:lnSpc>
                <a:spcPts val="1700"/>
              </a:lnSpc>
              <a:buNone/>
            </a:pPr>
            <a:r>
              <a:rPr lang="en-US" sz="1280" dirty="0">
                <a:solidFill>
                  <a:srgbClr val="4A4360"/>
                </a:solidFill>
                <a:latin typeface="Calibri" pitchFamily="34" charset="0"/>
                <a:ea typeface="Calibri" pitchFamily="34" charset="-122"/>
                <a:cs typeface="Calibri" pitchFamily="34" charset="-120"/>
              </a:rPr>
              <a:t>Two founders and no agency. The product is built with AI coding tools, the marketing is produced with AI tools, and the content bank — which is the actual moat — is generated, verified and owned in-house.</a:t>
            </a:r>
            <a:endParaRPr lang="en-US" sz="12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41E33"/>
        </a:solidFill>
      </p:bgPr>
    </p:bg>
    <p:spTree>
      <p:nvGrpSpPr>
        <p:cNvPr id="1" name=""/>
        <p:cNvGrpSpPr/>
        <p:nvPr/>
      </p:nvGrpSpPr>
      <p:grpSpPr>
        <a:xfrm>
          <a:off x="0" y="0"/>
          <a:ext cx="0" cy="0"/>
          <a:chOff x="0" y="0"/>
          <a:chExt cx="0" cy="0"/>
        </a:xfrm>
      </p:grpSpPr>
      <p:sp>
        <p:nvSpPr>
          <p:cNvPr id="2" name="Text 0"/>
          <p:cNvSpPr/>
          <p:nvPr/>
        </p:nvSpPr>
        <p:spPr>
          <a:xfrm>
            <a:off x="640080" y="502920"/>
            <a:ext cx="5486400" cy="292608"/>
          </a:xfrm>
          <a:prstGeom prst="rect">
            <a:avLst/>
          </a:prstGeom>
          <a:noFill/>
          <a:ln/>
        </p:spPr>
        <p:txBody>
          <a:bodyPr wrap="square" lIns="0" tIns="0" rIns="0" bIns="0" rtlCol="0" anchor="ctr"/>
          <a:lstStyle/>
          <a:p>
            <a:pPr indent="0" marL="0">
              <a:buNone/>
            </a:pPr>
            <a:r>
              <a:rPr lang="en-US" sz="1200" b="1" spc="300" kern="0" dirty="0">
                <a:solidFill>
                  <a:srgbClr val="F0B429"/>
                </a:solidFill>
                <a:latin typeface="Calibri" pitchFamily="34" charset="0"/>
                <a:ea typeface="Calibri" pitchFamily="34" charset="-122"/>
                <a:cs typeface="Calibri" pitchFamily="34" charset="-120"/>
              </a:rPr>
              <a:t>STRATEGY</a:t>
            </a:r>
            <a:endParaRPr lang="en-US" sz="1200" dirty="0"/>
          </a:p>
        </p:txBody>
      </p:sp>
      <p:sp>
        <p:nvSpPr>
          <p:cNvPr id="3" name="Text 1"/>
          <p:cNvSpPr/>
          <p:nvPr/>
        </p:nvSpPr>
        <p:spPr>
          <a:xfrm>
            <a:off x="640080" y="896112"/>
            <a:ext cx="10607040" cy="731520"/>
          </a:xfrm>
          <a:prstGeom prst="rect">
            <a:avLst/>
          </a:prstGeom>
          <a:noFill/>
          <a:ln/>
        </p:spPr>
        <p:txBody>
          <a:bodyPr wrap="square" lIns="0" tIns="0" rIns="0" bIns="0" rtlCol="0" anchor="ctr"/>
          <a:lstStyle/>
          <a:p>
            <a:pPr indent="0" marL="0">
              <a:buNone/>
            </a:pPr>
            <a:r>
              <a:rPr lang="en-US" sz="2900" b="1" dirty="0">
                <a:solidFill>
                  <a:srgbClr val="FFFFFF"/>
                </a:solidFill>
                <a:latin typeface="Cambria" pitchFamily="34" charset="0"/>
                <a:ea typeface="Cambria" pitchFamily="34" charset="-122"/>
                <a:cs typeface="Cambria" pitchFamily="34" charset="-120"/>
              </a:rPr>
              <a:t>Win one contest completely, then reuse the engine.</a:t>
            </a:r>
            <a:endParaRPr lang="en-US" sz="2900" dirty="0"/>
          </a:p>
        </p:txBody>
      </p:sp>
      <p:sp>
        <p:nvSpPr>
          <p:cNvPr id="4" name="Shape 2"/>
          <p:cNvSpPr/>
          <p:nvPr/>
        </p:nvSpPr>
        <p:spPr>
          <a:xfrm>
            <a:off x="640080" y="2011680"/>
            <a:ext cx="2542032" cy="3200400"/>
          </a:xfrm>
          <a:prstGeom prst="roundRect">
            <a:avLst>
              <a:gd name="adj" fmla="val 4676"/>
            </a:avLst>
          </a:prstGeom>
          <a:solidFill>
            <a:srgbClr val="FFFFFF">
              <a:alpha val="8000"/>
            </a:srgbClr>
          </a:solidFill>
          <a:ln w="12700">
            <a:solidFill>
              <a:srgbClr val="6C4FE0"/>
            </a:solidFill>
            <a:prstDash val="solid"/>
          </a:ln>
        </p:spPr>
      </p:sp>
      <p:sp>
        <p:nvSpPr>
          <p:cNvPr id="5" name="Shape 3"/>
          <p:cNvSpPr/>
          <p:nvPr/>
        </p:nvSpPr>
        <p:spPr>
          <a:xfrm rot="5400000">
            <a:off x="896112" y="2267712"/>
            <a:ext cx="384048" cy="384048"/>
          </a:xfrm>
          <a:prstGeom prst="hexagon">
            <a:avLst/>
          </a:prstGeom>
          <a:solidFill>
            <a:srgbClr val="F0B429"/>
          </a:solidFill>
          <a:ln/>
        </p:spPr>
      </p:sp>
      <p:sp>
        <p:nvSpPr>
          <p:cNvPr id="6" name="Text 4"/>
          <p:cNvSpPr/>
          <p:nvPr/>
        </p:nvSpPr>
        <p:spPr>
          <a:xfrm>
            <a:off x="896112" y="2267712"/>
            <a:ext cx="384048" cy="384048"/>
          </a:xfrm>
          <a:prstGeom prst="rect">
            <a:avLst/>
          </a:prstGeom>
          <a:noFill/>
          <a:ln/>
        </p:spPr>
        <p:txBody>
          <a:bodyPr wrap="square" lIns="0" tIns="0" rIns="0" bIns="0" rtlCol="0" anchor="ctr"/>
          <a:lstStyle/>
          <a:p>
            <a:pPr algn="ctr" indent="0" marL="0">
              <a:buNone/>
            </a:pPr>
            <a:r>
              <a:rPr lang="en-US" sz="1300" b="1" dirty="0">
                <a:solidFill>
                  <a:srgbClr val="241E33"/>
                </a:solidFill>
                <a:latin typeface="Cambria" pitchFamily="34" charset="0"/>
                <a:ea typeface="Cambria" pitchFamily="34" charset="-122"/>
                <a:cs typeface="Cambria" pitchFamily="34" charset="-120"/>
              </a:rPr>
              <a:t>1</a:t>
            </a:r>
            <a:endParaRPr lang="en-US" sz="1300" dirty="0"/>
          </a:p>
        </p:txBody>
      </p:sp>
      <p:sp>
        <p:nvSpPr>
          <p:cNvPr id="7" name="Text 5"/>
          <p:cNvSpPr/>
          <p:nvPr/>
        </p:nvSpPr>
        <p:spPr>
          <a:xfrm>
            <a:off x="896112" y="2798064"/>
            <a:ext cx="2103120" cy="256032"/>
          </a:xfrm>
          <a:prstGeom prst="rect">
            <a:avLst/>
          </a:prstGeom>
          <a:noFill/>
          <a:ln/>
        </p:spPr>
        <p:txBody>
          <a:bodyPr wrap="square" lIns="0" tIns="0" rIns="0" bIns="0" rtlCol="0" anchor="ctr"/>
          <a:lstStyle/>
          <a:p>
            <a:pPr indent="0" marL="0">
              <a:buNone/>
            </a:pPr>
            <a:r>
              <a:rPr lang="en-US" sz="950" b="1" spc="160" kern="0" dirty="0">
                <a:solidFill>
                  <a:srgbClr val="F0B429"/>
                </a:solidFill>
                <a:latin typeface="Calibri" pitchFamily="34" charset="0"/>
                <a:ea typeface="Calibri" pitchFamily="34" charset="-122"/>
                <a:cs typeface="Calibri" pitchFamily="34" charset="-120"/>
              </a:rPr>
              <a:t>WEDGE</a:t>
            </a:r>
            <a:endParaRPr lang="en-US" sz="950" dirty="0"/>
          </a:p>
        </p:txBody>
      </p:sp>
      <p:sp>
        <p:nvSpPr>
          <p:cNvPr id="8" name="Text 6"/>
          <p:cNvSpPr/>
          <p:nvPr/>
        </p:nvSpPr>
        <p:spPr>
          <a:xfrm>
            <a:off x="896112" y="3072384"/>
            <a:ext cx="2103120" cy="56692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Spelling bee</a:t>
            </a:r>
            <a:endParaRPr lang="en-US" sz="1700" dirty="0"/>
          </a:p>
        </p:txBody>
      </p:sp>
      <p:sp>
        <p:nvSpPr>
          <p:cNvPr id="9" name="Text 7"/>
          <p:cNvSpPr/>
          <p:nvPr/>
        </p:nvSpPr>
        <p:spPr>
          <a:xfrm>
            <a:off x="896112" y="3712464"/>
            <a:ext cx="2103120" cy="1371600"/>
          </a:xfrm>
          <a:prstGeom prst="rect">
            <a:avLst/>
          </a:prstGeom>
          <a:noFill/>
          <a:ln/>
        </p:spPr>
        <p:txBody>
          <a:bodyPr wrap="square" lIns="0" tIns="0" rIns="0" bIns="0" rtlCol="0" anchor="ctr"/>
          <a:lstStyle/>
          <a:p>
            <a:pPr indent="0" marL="0">
              <a:lnSpc>
                <a:spcPts val="1500"/>
              </a:lnSpc>
              <a:buNone/>
            </a:pPr>
            <a:r>
              <a:rPr lang="en-US" sz="1150" dirty="0">
                <a:solidFill>
                  <a:srgbClr val="E3DCF2"/>
                </a:solidFill>
                <a:latin typeface="Calibri" pitchFamily="34" charset="0"/>
                <a:ea typeface="Calibri" pitchFamily="34" charset="-122"/>
                <a:cs typeface="Calibri" pitchFamily="34" charset="-120"/>
              </a:rPr>
              <a:t>The one competition this community already organises around — and dominates. We do not have to create the demand or explain the category.</a:t>
            </a:r>
            <a:endParaRPr lang="en-US" sz="1150" dirty="0"/>
          </a:p>
        </p:txBody>
      </p:sp>
      <p:sp>
        <p:nvSpPr>
          <p:cNvPr id="10" name="Shape 8"/>
          <p:cNvSpPr/>
          <p:nvPr/>
        </p:nvSpPr>
        <p:spPr>
          <a:xfrm>
            <a:off x="3401568" y="2011680"/>
            <a:ext cx="2542032" cy="3200400"/>
          </a:xfrm>
          <a:prstGeom prst="roundRect">
            <a:avLst>
              <a:gd name="adj" fmla="val 4676"/>
            </a:avLst>
          </a:prstGeom>
          <a:solidFill>
            <a:srgbClr val="FFFFFF">
              <a:alpha val="8000"/>
            </a:srgbClr>
          </a:solidFill>
          <a:ln w="12700">
            <a:solidFill>
              <a:srgbClr val="6C4FE0"/>
            </a:solidFill>
            <a:prstDash val="solid"/>
          </a:ln>
        </p:spPr>
      </p:sp>
      <p:sp>
        <p:nvSpPr>
          <p:cNvPr id="11" name="Shape 9"/>
          <p:cNvSpPr/>
          <p:nvPr/>
        </p:nvSpPr>
        <p:spPr>
          <a:xfrm rot="5400000">
            <a:off x="3657600" y="2267712"/>
            <a:ext cx="384048" cy="384048"/>
          </a:xfrm>
          <a:prstGeom prst="hexagon">
            <a:avLst/>
          </a:prstGeom>
          <a:solidFill>
            <a:srgbClr val="6C4FE0"/>
          </a:solidFill>
          <a:ln/>
        </p:spPr>
      </p:sp>
      <p:sp>
        <p:nvSpPr>
          <p:cNvPr id="12" name="Text 10"/>
          <p:cNvSpPr/>
          <p:nvPr/>
        </p:nvSpPr>
        <p:spPr>
          <a:xfrm>
            <a:off x="3657600" y="22677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3" name="Text 11"/>
          <p:cNvSpPr/>
          <p:nvPr/>
        </p:nvSpPr>
        <p:spPr>
          <a:xfrm>
            <a:off x="3657600" y="2798064"/>
            <a:ext cx="2103120" cy="256032"/>
          </a:xfrm>
          <a:prstGeom prst="rect">
            <a:avLst/>
          </a:prstGeom>
          <a:noFill/>
          <a:ln/>
        </p:spPr>
        <p:txBody>
          <a:bodyPr wrap="square" lIns="0" tIns="0" rIns="0" bIns="0" rtlCol="0" anchor="ctr"/>
          <a:lstStyle/>
          <a:p>
            <a:pPr indent="0" marL="0">
              <a:buNone/>
            </a:pPr>
            <a:r>
              <a:rPr lang="en-US" sz="950" b="1" spc="160" kern="0" dirty="0">
                <a:solidFill>
                  <a:srgbClr val="F0B429"/>
                </a:solidFill>
                <a:latin typeface="Calibri" pitchFamily="34" charset="0"/>
                <a:ea typeface="Calibri" pitchFamily="34" charset="-122"/>
                <a:cs typeface="Calibri" pitchFamily="34" charset="-120"/>
              </a:rPr>
              <a:t>EXPAND BY ENGINE REUSE</a:t>
            </a:r>
            <a:endParaRPr lang="en-US" sz="950" dirty="0"/>
          </a:p>
        </p:txBody>
      </p:sp>
      <p:sp>
        <p:nvSpPr>
          <p:cNvPr id="14" name="Text 12"/>
          <p:cNvSpPr/>
          <p:nvPr/>
        </p:nvSpPr>
        <p:spPr>
          <a:xfrm>
            <a:off x="3657600" y="3072384"/>
            <a:ext cx="2103120" cy="56692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Adjacent word products</a:t>
            </a:r>
            <a:endParaRPr lang="en-US" sz="1700" dirty="0"/>
          </a:p>
        </p:txBody>
      </p:sp>
      <p:sp>
        <p:nvSpPr>
          <p:cNvPr id="15" name="Text 13"/>
          <p:cNvSpPr/>
          <p:nvPr/>
        </p:nvSpPr>
        <p:spPr>
          <a:xfrm>
            <a:off x="3657600" y="3712464"/>
            <a:ext cx="2103120" cy="1371600"/>
          </a:xfrm>
          <a:prstGeom prst="rect">
            <a:avLst/>
          </a:prstGeom>
          <a:noFill/>
          <a:ln/>
        </p:spPr>
        <p:txBody>
          <a:bodyPr wrap="square" lIns="0" tIns="0" rIns="0" bIns="0" rtlCol="0" anchor="ctr"/>
          <a:lstStyle/>
          <a:p>
            <a:pPr indent="0" marL="0">
              <a:lnSpc>
                <a:spcPts val="1500"/>
              </a:lnSpc>
              <a:buNone/>
            </a:pPr>
            <a:r>
              <a:rPr lang="en-US" sz="1150" dirty="0">
                <a:solidFill>
                  <a:srgbClr val="E3DCF2"/>
                </a:solidFill>
                <a:latin typeface="Calibri" pitchFamily="34" charset="0"/>
                <a:ea typeface="Calibri" pitchFamily="34" charset="-122"/>
                <a:cs typeface="Calibri" pitchFamily="34" charset="-120"/>
              </a:rPr>
              <a:t>Verbal reasoning, vocabulary and test prep run on the drill engine that already exists. New revenue, near-zero new infrastructure.</a:t>
            </a:r>
            <a:endParaRPr lang="en-US" sz="1150" dirty="0"/>
          </a:p>
        </p:txBody>
      </p:sp>
      <p:sp>
        <p:nvSpPr>
          <p:cNvPr id="16" name="Shape 14"/>
          <p:cNvSpPr/>
          <p:nvPr/>
        </p:nvSpPr>
        <p:spPr>
          <a:xfrm>
            <a:off x="6163056" y="2011680"/>
            <a:ext cx="2542032" cy="3200400"/>
          </a:xfrm>
          <a:prstGeom prst="roundRect">
            <a:avLst>
              <a:gd name="adj" fmla="val 4676"/>
            </a:avLst>
          </a:prstGeom>
          <a:solidFill>
            <a:srgbClr val="FFFFFF">
              <a:alpha val="8000"/>
            </a:srgbClr>
          </a:solidFill>
          <a:ln w="12700">
            <a:solidFill>
              <a:srgbClr val="6C4FE0"/>
            </a:solidFill>
            <a:prstDash val="solid"/>
          </a:ln>
        </p:spPr>
      </p:sp>
      <p:sp>
        <p:nvSpPr>
          <p:cNvPr id="17" name="Shape 15"/>
          <p:cNvSpPr/>
          <p:nvPr/>
        </p:nvSpPr>
        <p:spPr>
          <a:xfrm rot="5400000">
            <a:off x="6419088" y="2267712"/>
            <a:ext cx="384048" cy="384048"/>
          </a:xfrm>
          <a:prstGeom prst="hexagon">
            <a:avLst/>
          </a:prstGeom>
          <a:solidFill>
            <a:srgbClr val="6C4FE0"/>
          </a:solidFill>
          <a:ln/>
        </p:spPr>
      </p:sp>
      <p:sp>
        <p:nvSpPr>
          <p:cNvPr id="18" name="Text 16"/>
          <p:cNvSpPr/>
          <p:nvPr/>
        </p:nvSpPr>
        <p:spPr>
          <a:xfrm>
            <a:off x="6419088" y="22677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9" name="Text 17"/>
          <p:cNvSpPr/>
          <p:nvPr/>
        </p:nvSpPr>
        <p:spPr>
          <a:xfrm>
            <a:off x="6419088" y="2798064"/>
            <a:ext cx="2103120" cy="256032"/>
          </a:xfrm>
          <a:prstGeom prst="rect">
            <a:avLst/>
          </a:prstGeom>
          <a:noFill/>
          <a:ln/>
        </p:spPr>
        <p:txBody>
          <a:bodyPr wrap="square" lIns="0" tIns="0" rIns="0" bIns="0" rtlCol="0" anchor="ctr"/>
          <a:lstStyle/>
          <a:p>
            <a:pPr indent="0" marL="0">
              <a:buNone/>
            </a:pPr>
            <a:r>
              <a:rPr lang="en-US" sz="950" b="1" spc="160" kern="0" dirty="0">
                <a:solidFill>
                  <a:srgbClr val="F0B429"/>
                </a:solidFill>
                <a:latin typeface="Calibri" pitchFamily="34" charset="0"/>
                <a:ea typeface="Calibri" pitchFamily="34" charset="-122"/>
                <a:cs typeface="Calibri" pitchFamily="34" charset="-120"/>
              </a:rPr>
              <a:t>DEEPEN THE MOAT</a:t>
            </a:r>
            <a:endParaRPr lang="en-US" sz="950" dirty="0"/>
          </a:p>
        </p:txBody>
      </p:sp>
      <p:sp>
        <p:nvSpPr>
          <p:cNvPr id="20" name="Text 18"/>
          <p:cNvSpPr/>
          <p:nvPr/>
        </p:nvSpPr>
        <p:spPr>
          <a:xfrm>
            <a:off x="6419088" y="3072384"/>
            <a:ext cx="2103120" cy="56692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Heritage language</a:t>
            </a:r>
            <a:endParaRPr lang="en-US" sz="1700" dirty="0"/>
          </a:p>
        </p:txBody>
      </p:sp>
      <p:sp>
        <p:nvSpPr>
          <p:cNvPr id="21" name="Text 19"/>
          <p:cNvSpPr/>
          <p:nvPr/>
        </p:nvSpPr>
        <p:spPr>
          <a:xfrm>
            <a:off x="6419088" y="3712464"/>
            <a:ext cx="2103120" cy="1371600"/>
          </a:xfrm>
          <a:prstGeom prst="rect">
            <a:avLst/>
          </a:prstGeom>
          <a:noFill/>
          <a:ln/>
        </p:spPr>
        <p:txBody>
          <a:bodyPr wrap="square" lIns="0" tIns="0" rIns="0" bIns="0" rtlCol="0" anchor="ctr"/>
          <a:lstStyle/>
          <a:p>
            <a:pPr indent="0" marL="0">
              <a:lnSpc>
                <a:spcPts val="1500"/>
              </a:lnSpc>
              <a:buNone/>
            </a:pPr>
            <a:r>
              <a:rPr lang="en-US" sz="1150" dirty="0">
                <a:solidFill>
                  <a:srgbClr val="E3DCF2"/>
                </a:solidFill>
                <a:latin typeface="Calibri" pitchFamily="34" charset="0"/>
                <a:ea typeface="Calibri" pitchFamily="34" charset="-122"/>
                <a:cs typeface="Calibri" pitchFamily="34" charset="-120"/>
              </a:rPr>
              <a:t>The only category where the diaspora is the entire market rather than a slice of it. Hardest to copy, stickiest to own.</a:t>
            </a:r>
            <a:endParaRPr lang="en-US" sz="1150" dirty="0"/>
          </a:p>
        </p:txBody>
      </p:sp>
      <p:sp>
        <p:nvSpPr>
          <p:cNvPr id="22" name="Shape 20"/>
          <p:cNvSpPr/>
          <p:nvPr/>
        </p:nvSpPr>
        <p:spPr>
          <a:xfrm>
            <a:off x="8924544" y="2011680"/>
            <a:ext cx="2542032" cy="3200400"/>
          </a:xfrm>
          <a:prstGeom prst="roundRect">
            <a:avLst>
              <a:gd name="adj" fmla="val 4676"/>
            </a:avLst>
          </a:prstGeom>
          <a:solidFill>
            <a:srgbClr val="FFFFFF">
              <a:alpha val="8000"/>
            </a:srgbClr>
          </a:solidFill>
          <a:ln w="12700">
            <a:solidFill>
              <a:srgbClr val="6C4FE0"/>
            </a:solidFill>
            <a:prstDash val="solid"/>
          </a:ln>
        </p:spPr>
      </p:sp>
      <p:sp>
        <p:nvSpPr>
          <p:cNvPr id="23" name="Shape 21"/>
          <p:cNvSpPr/>
          <p:nvPr/>
        </p:nvSpPr>
        <p:spPr>
          <a:xfrm rot="5400000">
            <a:off x="9180576" y="2267712"/>
            <a:ext cx="384048" cy="384048"/>
          </a:xfrm>
          <a:prstGeom prst="hexagon">
            <a:avLst/>
          </a:prstGeom>
          <a:solidFill>
            <a:srgbClr val="6C4FE0"/>
          </a:solidFill>
          <a:ln/>
        </p:spPr>
      </p:sp>
      <p:sp>
        <p:nvSpPr>
          <p:cNvPr id="24" name="Text 22"/>
          <p:cNvSpPr/>
          <p:nvPr/>
        </p:nvSpPr>
        <p:spPr>
          <a:xfrm>
            <a:off x="9180576" y="22677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5" name="Text 23"/>
          <p:cNvSpPr/>
          <p:nvPr/>
        </p:nvSpPr>
        <p:spPr>
          <a:xfrm>
            <a:off x="9180576" y="2798064"/>
            <a:ext cx="2103120" cy="256032"/>
          </a:xfrm>
          <a:prstGeom prst="rect">
            <a:avLst/>
          </a:prstGeom>
          <a:noFill/>
          <a:ln/>
        </p:spPr>
        <p:txBody>
          <a:bodyPr wrap="square" lIns="0" tIns="0" rIns="0" bIns="0" rtlCol="0" anchor="ctr"/>
          <a:lstStyle/>
          <a:p>
            <a:pPr indent="0" marL="0">
              <a:buNone/>
            </a:pPr>
            <a:r>
              <a:rPr lang="en-US" sz="950" b="1" spc="160" kern="0" dirty="0">
                <a:solidFill>
                  <a:srgbClr val="F0B429"/>
                </a:solidFill>
                <a:latin typeface="Calibri" pitchFamily="34" charset="0"/>
                <a:ea typeface="Calibri" pitchFamily="34" charset="-122"/>
                <a:cs typeface="Calibri" pitchFamily="34" charset="-120"/>
              </a:rPr>
              <a:t>BROADEN THE HOUSE</a:t>
            </a:r>
            <a:endParaRPr lang="en-US" sz="950" dirty="0"/>
          </a:p>
        </p:txBody>
      </p:sp>
      <p:sp>
        <p:nvSpPr>
          <p:cNvPr id="26" name="Text 24"/>
          <p:cNvSpPr/>
          <p:nvPr/>
        </p:nvSpPr>
        <p:spPr>
          <a:xfrm>
            <a:off x="9180576" y="3072384"/>
            <a:ext cx="2103120" cy="56692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Numeracy &amp; money</a:t>
            </a:r>
            <a:endParaRPr lang="en-US" sz="1700" dirty="0"/>
          </a:p>
        </p:txBody>
      </p:sp>
      <p:sp>
        <p:nvSpPr>
          <p:cNvPr id="27" name="Text 25"/>
          <p:cNvSpPr/>
          <p:nvPr/>
        </p:nvSpPr>
        <p:spPr>
          <a:xfrm>
            <a:off x="9180576" y="3712464"/>
            <a:ext cx="2103120" cy="1371600"/>
          </a:xfrm>
          <a:prstGeom prst="rect">
            <a:avLst/>
          </a:prstGeom>
          <a:noFill/>
          <a:ln/>
        </p:spPr>
        <p:txBody>
          <a:bodyPr wrap="square" lIns="0" tIns="0" rIns="0" bIns="0" rtlCol="0" anchor="ctr"/>
          <a:lstStyle/>
          <a:p>
            <a:pPr indent="0" marL="0">
              <a:lnSpc>
                <a:spcPts val="1500"/>
              </a:lnSpc>
              <a:buNone/>
            </a:pPr>
            <a:r>
              <a:rPr lang="en-US" sz="1150" dirty="0">
                <a:solidFill>
                  <a:srgbClr val="E3DCF2"/>
                </a:solidFill>
                <a:latin typeface="Calibri" pitchFamily="34" charset="0"/>
                <a:ea typeface="Calibri" pitchFamily="34" charset="-122"/>
                <a:cs typeface="Calibri" pitchFamily="34" charset="-120"/>
              </a:rPr>
              <a:t>Bizzing Finance and mental-maths extend the brand past words once the word franchise is proven.</a:t>
            </a:r>
            <a:endParaRPr lang="en-US" sz="1150" dirty="0"/>
          </a:p>
        </p:txBody>
      </p:sp>
      <p:sp>
        <p:nvSpPr>
          <p:cNvPr id="28" name="Text 26"/>
          <p:cNvSpPr/>
          <p:nvPr/>
        </p:nvSpPr>
        <p:spPr>
          <a:xfrm>
            <a:off x="640080" y="5504688"/>
            <a:ext cx="10607040" cy="731520"/>
          </a:xfrm>
          <a:prstGeom prst="rect">
            <a:avLst/>
          </a:prstGeom>
          <a:noFill/>
          <a:ln/>
        </p:spPr>
        <p:txBody>
          <a:bodyPr wrap="square" lIns="0" tIns="0" rIns="0" bIns="0" rtlCol="0" anchor="ctr"/>
          <a:lstStyle/>
          <a:p>
            <a:pPr indent="0" marL="0">
              <a:lnSpc>
                <a:spcPts val="2100"/>
              </a:lnSpc>
              <a:buNone/>
            </a:pPr>
            <a:r>
              <a:rPr lang="en-US" sz="1500" i="1" dirty="0">
                <a:solidFill>
                  <a:srgbClr val="F0B429"/>
                </a:solidFill>
                <a:latin typeface="Cambria" pitchFamily="34" charset="0"/>
                <a:ea typeface="Cambria" pitchFamily="34" charset="-122"/>
                <a:cs typeface="Cambria" pitchFamily="34" charset="-120"/>
              </a:rPr>
              <a:t>The sequencing rule: order by how much of the existing engine a product reuses — not by which market is biggest.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02336"/>
            <a:ext cx="7315200" cy="256032"/>
          </a:xfrm>
          <a:prstGeom prst="rect">
            <a:avLst/>
          </a:prstGeom>
          <a:noFill/>
          <a:ln/>
        </p:spPr>
        <p:txBody>
          <a:bodyPr wrap="square" lIns="0" tIns="0" rIns="0" bIns="0" rtlCol="0" anchor="ctr"/>
          <a:lstStyle/>
          <a:p>
            <a:pPr indent="0" marL="0">
              <a:buNone/>
            </a:pPr>
            <a:r>
              <a:rPr lang="en-US" sz="1150" b="1" spc="240" kern="0" dirty="0">
                <a:solidFill>
                  <a:srgbClr val="6C4FE0"/>
                </a:solidFill>
                <a:latin typeface="Calibri" pitchFamily="34" charset="0"/>
                <a:ea typeface="Calibri" pitchFamily="34" charset="-122"/>
                <a:cs typeface="Calibri" pitchFamily="34" charset="-120"/>
              </a:rPr>
              <a:t>THE ASSET</a:t>
            </a:r>
            <a:endParaRPr lang="en-US" sz="1150" dirty="0"/>
          </a:p>
        </p:txBody>
      </p:sp>
      <p:sp>
        <p:nvSpPr>
          <p:cNvPr id="3" name="Text 1"/>
          <p:cNvSpPr/>
          <p:nvPr/>
        </p:nvSpPr>
        <p:spPr>
          <a:xfrm>
            <a:off x="640080" y="694944"/>
            <a:ext cx="10607040" cy="749808"/>
          </a:xfrm>
          <a:prstGeom prst="rect">
            <a:avLst/>
          </a:prstGeom>
          <a:noFill/>
          <a:ln/>
        </p:spPr>
        <p:txBody>
          <a:bodyPr wrap="square" lIns="0" tIns="0" rIns="0" bIns="0" rtlCol="0" anchor="ctr"/>
          <a:lstStyle/>
          <a:p>
            <a:pPr indent="0" marL="0">
              <a:buNone/>
            </a:pPr>
            <a:r>
              <a:rPr lang="en-US" sz="2900" b="1" dirty="0">
                <a:solidFill>
                  <a:srgbClr val="241E33"/>
                </a:solidFill>
                <a:latin typeface="Cambria" pitchFamily="34" charset="0"/>
                <a:ea typeface="Cambria" pitchFamily="34" charset="-122"/>
                <a:cs typeface="Cambria" pitchFamily="34" charset="-120"/>
              </a:rPr>
              <a:t>What already exists, and transfers</a:t>
            </a:r>
            <a:endParaRPr lang="en-US" sz="2900" dirty="0"/>
          </a:p>
        </p:txBody>
      </p:sp>
      <p:sp>
        <p:nvSpPr>
          <p:cNvPr id="4" name="Text 2"/>
          <p:cNvSpPr/>
          <p:nvPr/>
        </p:nvSpPr>
        <p:spPr>
          <a:xfrm>
            <a:off x="640080" y="1444752"/>
            <a:ext cx="10607040" cy="365760"/>
          </a:xfrm>
          <a:prstGeom prst="rect">
            <a:avLst/>
          </a:prstGeom>
          <a:noFill/>
          <a:ln/>
        </p:spPr>
        <p:txBody>
          <a:bodyPr wrap="square" lIns="0" tIns="0" rIns="0" bIns="0" rtlCol="0" anchor="ctr"/>
          <a:lstStyle/>
          <a:p>
            <a:pPr indent="0" marL="0">
              <a:buNone/>
            </a:pPr>
            <a:r>
              <a:rPr lang="en-US" sz="1500" dirty="0">
                <a:solidFill>
                  <a:srgbClr val="7A7291"/>
                </a:solidFill>
                <a:latin typeface="Calibri" pitchFamily="34" charset="0"/>
                <a:ea typeface="Calibri" pitchFamily="34" charset="-122"/>
                <a:cs typeface="Calibri" pitchFamily="34" charset="-120"/>
              </a:rPr>
              <a:t>Bizzing Bee is not one app. It is a content-drill engine with a spelling skin — and the engine is the company.</a:t>
            </a:r>
            <a:endParaRPr lang="en-US" sz="1500" dirty="0"/>
          </a:p>
        </p:txBody>
      </p:sp>
      <p:sp>
        <p:nvSpPr>
          <p:cNvPr id="5" name="Shape 3"/>
          <p:cNvSpPr/>
          <p:nvPr/>
        </p:nvSpPr>
        <p:spPr>
          <a:xfrm>
            <a:off x="640080" y="2057400"/>
            <a:ext cx="2542032" cy="1600200"/>
          </a:xfrm>
          <a:prstGeom prst="roundRect">
            <a:avLst>
              <a:gd name="adj" fmla="val 8000"/>
            </a:avLst>
          </a:prstGeom>
          <a:solidFill>
            <a:srgbClr val="EFEBF8"/>
          </a:solidFill>
          <a:ln/>
          <a:effectLst>
            <a:outerShdw sx="100000" sy="100000" kx="0" ky="0" algn="bl" rotWithShape="0" blurRad="127000" dist="25400" dir="5400000">
              <a:srgbClr val="241E33">
                <a:alpha val="10000"/>
              </a:srgbClr>
            </a:outerShdw>
          </a:effectLst>
        </p:spPr>
      </p:sp>
      <p:sp>
        <p:nvSpPr>
          <p:cNvPr id="6" name="Text 4"/>
          <p:cNvSpPr/>
          <p:nvPr/>
        </p:nvSpPr>
        <p:spPr>
          <a:xfrm>
            <a:off x="822960" y="2212848"/>
            <a:ext cx="2194560" cy="713232"/>
          </a:xfrm>
          <a:prstGeom prst="rect">
            <a:avLst/>
          </a:prstGeom>
          <a:noFill/>
          <a:ln/>
        </p:spPr>
        <p:txBody>
          <a:bodyPr wrap="square" lIns="0" tIns="0" rIns="0" bIns="0" rtlCol="0" anchor="ctr"/>
          <a:lstStyle/>
          <a:p>
            <a:pPr indent="0" marL="0">
              <a:buNone/>
            </a:pPr>
            <a:r>
              <a:rPr lang="en-US" sz="3400" b="1" dirty="0">
                <a:solidFill>
                  <a:srgbClr val="6C4FE0"/>
                </a:solidFill>
                <a:latin typeface="Cambria" pitchFamily="34" charset="0"/>
                <a:ea typeface="Cambria" pitchFamily="34" charset="-122"/>
                <a:cs typeface="Cambria" pitchFamily="34" charset="-120"/>
              </a:rPr>
              <a:t>128,491</a:t>
            </a:r>
            <a:endParaRPr lang="en-US" sz="3400" dirty="0"/>
          </a:p>
        </p:txBody>
      </p:sp>
      <p:sp>
        <p:nvSpPr>
          <p:cNvPr id="7" name="Text 5"/>
          <p:cNvSpPr/>
          <p:nvPr/>
        </p:nvSpPr>
        <p:spPr>
          <a:xfrm>
            <a:off x="822960" y="2926080"/>
            <a:ext cx="2194560" cy="621792"/>
          </a:xfrm>
          <a:prstGeom prst="rect">
            <a:avLst/>
          </a:prstGeom>
          <a:noFill/>
          <a:ln/>
        </p:spPr>
        <p:txBody>
          <a:bodyPr wrap="square" lIns="0" tIns="0" rIns="0" bIns="0" rtlCol="0" anchor="ctr"/>
          <a:lstStyle/>
          <a:p>
            <a:pPr indent="0" marL="0">
              <a:lnSpc>
                <a:spcPts val="1500"/>
              </a:lnSpc>
              <a:buNone/>
            </a:pPr>
            <a:r>
              <a:rPr lang="en-US" sz="1200" dirty="0">
                <a:solidFill>
                  <a:srgbClr val="4A4360"/>
                </a:solidFill>
                <a:latin typeface="Calibri" pitchFamily="34" charset="0"/>
                <a:ea typeface="Calibri" pitchFamily="34" charset="-122"/>
                <a:cs typeface="Calibri" pitchFamily="34" charset="-120"/>
              </a:rPr>
              <a:t>words, every one</a:t>
            </a:r>
            <a:endParaRPr lang="en-US" sz="1200" dirty="0"/>
          </a:p>
          <a:p>
            <a:pPr indent="0" marL="0">
              <a:lnSpc>
                <a:spcPts val="1500"/>
              </a:lnSpc>
              <a:buNone/>
            </a:pPr>
            <a:r>
              <a:rPr lang="en-US" sz="1200" dirty="0">
                <a:solidFill>
                  <a:srgbClr val="4A4360"/>
                </a:solidFill>
                <a:latin typeface="Calibri" pitchFamily="34" charset="0"/>
                <a:ea typeface="Calibri" pitchFamily="34" charset="-122"/>
                <a:cs typeface="Calibri" pitchFamily="34" charset="-120"/>
              </a:rPr>
              <a:t>spoken aloud</a:t>
            </a:r>
            <a:endParaRPr lang="en-US" sz="1200" dirty="0"/>
          </a:p>
        </p:txBody>
      </p:sp>
      <p:sp>
        <p:nvSpPr>
          <p:cNvPr id="8" name="Shape 6"/>
          <p:cNvSpPr/>
          <p:nvPr/>
        </p:nvSpPr>
        <p:spPr>
          <a:xfrm>
            <a:off x="3401568" y="2057400"/>
            <a:ext cx="2542032" cy="1600200"/>
          </a:xfrm>
          <a:prstGeom prst="roundRect">
            <a:avLst>
              <a:gd name="adj" fmla="val 8000"/>
            </a:avLst>
          </a:prstGeom>
          <a:solidFill>
            <a:srgbClr val="EFEBF8"/>
          </a:solidFill>
          <a:ln/>
          <a:effectLst>
            <a:outerShdw sx="100000" sy="100000" kx="0" ky="0" algn="bl" rotWithShape="0" blurRad="127000" dist="25400" dir="5400000">
              <a:srgbClr val="241E33">
                <a:alpha val="10000"/>
              </a:srgbClr>
            </a:outerShdw>
          </a:effectLst>
        </p:spPr>
      </p:sp>
      <p:sp>
        <p:nvSpPr>
          <p:cNvPr id="9" name="Text 7"/>
          <p:cNvSpPr/>
          <p:nvPr/>
        </p:nvSpPr>
        <p:spPr>
          <a:xfrm>
            <a:off x="3584448" y="2212848"/>
            <a:ext cx="2194560" cy="713232"/>
          </a:xfrm>
          <a:prstGeom prst="rect">
            <a:avLst/>
          </a:prstGeom>
          <a:noFill/>
          <a:ln/>
        </p:spPr>
        <p:txBody>
          <a:bodyPr wrap="square" lIns="0" tIns="0" rIns="0" bIns="0" rtlCol="0" anchor="ctr"/>
          <a:lstStyle/>
          <a:p>
            <a:pPr indent="0" marL="0">
              <a:buNone/>
            </a:pPr>
            <a:r>
              <a:rPr lang="en-US" sz="3400" b="1" dirty="0">
                <a:solidFill>
                  <a:srgbClr val="6C4FE0"/>
                </a:solidFill>
                <a:latin typeface="Cambria" pitchFamily="34" charset="0"/>
                <a:ea typeface="Cambria" pitchFamily="34" charset="-122"/>
                <a:cs typeface="Cambria" pitchFamily="34" charset="-120"/>
              </a:rPr>
              <a:t>31,000+</a:t>
            </a:r>
            <a:endParaRPr lang="en-US" sz="3400" dirty="0"/>
          </a:p>
        </p:txBody>
      </p:sp>
      <p:sp>
        <p:nvSpPr>
          <p:cNvPr id="10" name="Text 8"/>
          <p:cNvSpPr/>
          <p:nvPr/>
        </p:nvSpPr>
        <p:spPr>
          <a:xfrm>
            <a:off x="3584448" y="2926080"/>
            <a:ext cx="2194560" cy="621792"/>
          </a:xfrm>
          <a:prstGeom prst="rect">
            <a:avLst/>
          </a:prstGeom>
          <a:noFill/>
          <a:ln/>
        </p:spPr>
        <p:txBody>
          <a:bodyPr wrap="square" lIns="0" tIns="0" rIns="0" bIns="0" rtlCol="0" anchor="ctr"/>
          <a:lstStyle/>
          <a:p>
            <a:pPr indent="0" marL="0">
              <a:lnSpc>
                <a:spcPts val="1500"/>
              </a:lnSpc>
              <a:buNone/>
            </a:pPr>
            <a:r>
              <a:rPr lang="en-US" sz="1200" dirty="0">
                <a:solidFill>
                  <a:srgbClr val="4A4360"/>
                </a:solidFill>
                <a:latin typeface="Calibri" pitchFamily="34" charset="0"/>
                <a:ea typeface="Calibri" pitchFamily="34" charset="-122"/>
                <a:cs typeface="Calibri" pitchFamily="34" charset="-120"/>
              </a:rPr>
              <a:t>trivia questions across</a:t>
            </a:r>
            <a:endParaRPr lang="en-US" sz="1200" dirty="0"/>
          </a:p>
          <a:p>
            <a:pPr indent="0" marL="0">
              <a:lnSpc>
                <a:spcPts val="1500"/>
              </a:lnSpc>
              <a:buNone/>
            </a:pPr>
            <a:r>
              <a:rPr lang="en-US" sz="1200" dirty="0">
                <a:solidFill>
                  <a:srgbClr val="4A4360"/>
                </a:solidFill>
                <a:latin typeface="Calibri" pitchFamily="34" charset="0"/>
                <a:ea typeface="Calibri" pitchFamily="34" charset="-122"/>
                <a:cs typeface="Calibri" pitchFamily="34" charset="-120"/>
              </a:rPr>
              <a:t>32 themes, 5 levels</a:t>
            </a:r>
            <a:endParaRPr lang="en-US" sz="1200" dirty="0"/>
          </a:p>
        </p:txBody>
      </p:sp>
      <p:sp>
        <p:nvSpPr>
          <p:cNvPr id="11" name="Shape 9"/>
          <p:cNvSpPr/>
          <p:nvPr/>
        </p:nvSpPr>
        <p:spPr>
          <a:xfrm>
            <a:off x="6163056" y="2057400"/>
            <a:ext cx="2542032" cy="1600200"/>
          </a:xfrm>
          <a:prstGeom prst="roundRect">
            <a:avLst>
              <a:gd name="adj" fmla="val 8000"/>
            </a:avLst>
          </a:prstGeom>
          <a:solidFill>
            <a:srgbClr val="EFEBF8"/>
          </a:solidFill>
          <a:ln/>
          <a:effectLst>
            <a:outerShdw sx="100000" sy="100000" kx="0" ky="0" algn="bl" rotWithShape="0" blurRad="127000" dist="25400" dir="5400000">
              <a:srgbClr val="241E33">
                <a:alpha val="10000"/>
              </a:srgbClr>
            </a:outerShdw>
          </a:effectLst>
        </p:spPr>
      </p:sp>
      <p:sp>
        <p:nvSpPr>
          <p:cNvPr id="12" name="Text 10"/>
          <p:cNvSpPr/>
          <p:nvPr/>
        </p:nvSpPr>
        <p:spPr>
          <a:xfrm>
            <a:off x="6345936" y="2212848"/>
            <a:ext cx="2194560" cy="713232"/>
          </a:xfrm>
          <a:prstGeom prst="rect">
            <a:avLst/>
          </a:prstGeom>
          <a:noFill/>
          <a:ln/>
        </p:spPr>
        <p:txBody>
          <a:bodyPr wrap="square" lIns="0" tIns="0" rIns="0" bIns="0" rtlCol="0" anchor="ctr"/>
          <a:lstStyle/>
          <a:p>
            <a:pPr indent="0" marL="0">
              <a:buNone/>
            </a:pPr>
            <a:r>
              <a:rPr lang="en-US" sz="3400" b="1" dirty="0">
                <a:solidFill>
                  <a:srgbClr val="6C4FE0"/>
                </a:solidFill>
                <a:latin typeface="Cambria" pitchFamily="34" charset="0"/>
                <a:ea typeface="Cambria" pitchFamily="34" charset="-122"/>
                <a:cs typeface="Cambria" pitchFamily="34" charset="-120"/>
              </a:rPr>
              <a:t>164</a:t>
            </a:r>
            <a:endParaRPr lang="en-US" sz="3400" dirty="0"/>
          </a:p>
        </p:txBody>
      </p:sp>
      <p:sp>
        <p:nvSpPr>
          <p:cNvPr id="13" name="Text 11"/>
          <p:cNvSpPr/>
          <p:nvPr/>
        </p:nvSpPr>
        <p:spPr>
          <a:xfrm>
            <a:off x="6345936" y="2926080"/>
            <a:ext cx="2194560" cy="621792"/>
          </a:xfrm>
          <a:prstGeom prst="rect">
            <a:avLst/>
          </a:prstGeom>
          <a:noFill/>
          <a:ln/>
        </p:spPr>
        <p:txBody>
          <a:bodyPr wrap="square" lIns="0" tIns="0" rIns="0" bIns="0" rtlCol="0" anchor="ctr"/>
          <a:lstStyle/>
          <a:p>
            <a:pPr indent="0" marL="0">
              <a:lnSpc>
                <a:spcPts val="1500"/>
              </a:lnSpc>
              <a:buNone/>
            </a:pPr>
            <a:r>
              <a:rPr lang="en-US" sz="1200" dirty="0">
                <a:solidFill>
                  <a:srgbClr val="4A4360"/>
                </a:solidFill>
                <a:latin typeface="Calibri" pitchFamily="34" charset="0"/>
                <a:ea typeface="Calibri" pitchFamily="34" charset="-122"/>
                <a:cs typeface="Calibri" pitchFamily="34" charset="-120"/>
              </a:rPr>
              <a:t>concept chapters,</a:t>
            </a:r>
            <a:endParaRPr lang="en-US" sz="1200" dirty="0"/>
          </a:p>
          <a:p>
            <a:pPr indent="0" marL="0">
              <a:lnSpc>
                <a:spcPts val="1500"/>
              </a:lnSpc>
              <a:buNone/>
            </a:pPr>
            <a:r>
              <a:rPr lang="en-US" sz="1200" dirty="0">
                <a:solidFill>
                  <a:srgbClr val="4A4360"/>
                </a:solidFill>
                <a:latin typeface="Calibri" pitchFamily="34" charset="0"/>
                <a:ea typeface="Calibri" pitchFamily="34" charset="-122"/>
                <a:cs typeface="Calibri" pitchFamily="34" charset="-120"/>
              </a:rPr>
              <a:t>free and advanced</a:t>
            </a:r>
            <a:endParaRPr lang="en-US" sz="1200" dirty="0"/>
          </a:p>
        </p:txBody>
      </p:sp>
      <p:sp>
        <p:nvSpPr>
          <p:cNvPr id="14" name="Shape 12"/>
          <p:cNvSpPr/>
          <p:nvPr/>
        </p:nvSpPr>
        <p:spPr>
          <a:xfrm>
            <a:off x="8924544" y="2057400"/>
            <a:ext cx="2542032" cy="1600200"/>
          </a:xfrm>
          <a:prstGeom prst="roundRect">
            <a:avLst>
              <a:gd name="adj" fmla="val 8000"/>
            </a:avLst>
          </a:prstGeom>
          <a:solidFill>
            <a:srgbClr val="EFEBF8"/>
          </a:solidFill>
          <a:ln/>
          <a:effectLst>
            <a:outerShdw sx="100000" sy="100000" kx="0" ky="0" algn="bl" rotWithShape="0" blurRad="127000" dist="25400" dir="5400000">
              <a:srgbClr val="241E33">
                <a:alpha val="10000"/>
              </a:srgbClr>
            </a:outerShdw>
          </a:effectLst>
        </p:spPr>
      </p:sp>
      <p:sp>
        <p:nvSpPr>
          <p:cNvPr id="15" name="Text 13"/>
          <p:cNvSpPr/>
          <p:nvPr/>
        </p:nvSpPr>
        <p:spPr>
          <a:xfrm>
            <a:off x="9107424" y="2212848"/>
            <a:ext cx="2194560" cy="713232"/>
          </a:xfrm>
          <a:prstGeom prst="rect">
            <a:avLst/>
          </a:prstGeom>
          <a:noFill/>
          <a:ln/>
        </p:spPr>
        <p:txBody>
          <a:bodyPr wrap="square" lIns="0" tIns="0" rIns="0" bIns="0" rtlCol="0" anchor="ctr"/>
          <a:lstStyle/>
          <a:p>
            <a:pPr indent="0" marL="0">
              <a:buNone/>
            </a:pPr>
            <a:r>
              <a:rPr lang="en-US" sz="3400" b="1" dirty="0">
                <a:solidFill>
                  <a:srgbClr val="6C4FE0"/>
                </a:solidFill>
                <a:latin typeface="Cambria" pitchFamily="34" charset="0"/>
                <a:ea typeface="Cambria" pitchFamily="34" charset="-122"/>
                <a:cs typeface="Cambria" pitchFamily="34" charset="-120"/>
              </a:rPr>
              <a:t>23</a:t>
            </a:r>
            <a:endParaRPr lang="en-US" sz="3400" dirty="0"/>
          </a:p>
        </p:txBody>
      </p:sp>
      <p:sp>
        <p:nvSpPr>
          <p:cNvPr id="16" name="Text 14"/>
          <p:cNvSpPr/>
          <p:nvPr/>
        </p:nvSpPr>
        <p:spPr>
          <a:xfrm>
            <a:off x="9107424" y="2926080"/>
            <a:ext cx="2194560" cy="621792"/>
          </a:xfrm>
          <a:prstGeom prst="rect">
            <a:avLst/>
          </a:prstGeom>
          <a:noFill/>
          <a:ln/>
        </p:spPr>
        <p:txBody>
          <a:bodyPr wrap="square" lIns="0" tIns="0" rIns="0" bIns="0" rtlCol="0" anchor="ctr"/>
          <a:lstStyle/>
          <a:p>
            <a:pPr indent="0" marL="0">
              <a:lnSpc>
                <a:spcPts val="1500"/>
              </a:lnSpc>
              <a:buNone/>
            </a:pPr>
            <a:r>
              <a:rPr lang="en-US" sz="1200" dirty="0">
                <a:solidFill>
                  <a:srgbClr val="4A4360"/>
                </a:solidFill>
                <a:latin typeface="Calibri" pitchFamily="34" charset="0"/>
                <a:ea typeface="Calibri" pitchFamily="34" charset="-122"/>
                <a:cs typeface="Calibri" pitchFamily="34" charset="-120"/>
              </a:rPr>
              <a:t>illustrated books,</a:t>
            </a:r>
            <a:endParaRPr lang="en-US" sz="1200" dirty="0"/>
          </a:p>
          <a:p>
            <a:pPr indent="0" marL="0">
              <a:lnSpc>
                <a:spcPts val="1500"/>
              </a:lnSpc>
              <a:buNone/>
            </a:pPr>
            <a:r>
              <a:rPr lang="en-US" sz="1200" dirty="0">
                <a:solidFill>
                  <a:srgbClr val="4A4360"/>
                </a:solidFill>
                <a:latin typeface="Calibri" pitchFamily="34" charset="0"/>
                <a:ea typeface="Calibri" pitchFamily="34" charset="-122"/>
                <a:cs typeface="Calibri" pitchFamily="34" charset="-120"/>
              </a:rPr>
              <a:t>1,700 pages</a:t>
            </a:r>
            <a:endParaRPr lang="en-US" sz="1200" dirty="0"/>
          </a:p>
        </p:txBody>
      </p:sp>
      <p:sp>
        <p:nvSpPr>
          <p:cNvPr id="17" name="Shape 15"/>
          <p:cNvSpPr/>
          <p:nvPr/>
        </p:nvSpPr>
        <p:spPr>
          <a:xfrm rot="5400000">
            <a:off x="640080" y="4014216"/>
            <a:ext cx="310896" cy="310896"/>
          </a:xfrm>
          <a:prstGeom prst="hexagon">
            <a:avLst/>
          </a:prstGeom>
          <a:solidFill>
            <a:srgbClr val="178A4C"/>
          </a:solidFill>
          <a:ln/>
        </p:spPr>
      </p:sp>
      <p:sp>
        <p:nvSpPr>
          <p:cNvPr id="18" name="Text 16"/>
          <p:cNvSpPr/>
          <p:nvPr/>
        </p:nvSpPr>
        <p:spPr>
          <a:xfrm>
            <a:off x="1115568" y="3977640"/>
            <a:ext cx="2651760" cy="384048"/>
          </a:xfrm>
          <a:prstGeom prst="rect">
            <a:avLst/>
          </a:prstGeom>
          <a:noFill/>
          <a:ln/>
        </p:spPr>
        <p:txBody>
          <a:bodyPr wrap="square" lIns="0" tIns="0" rIns="0" bIns="0" rtlCol="0" anchor="ctr"/>
          <a:lstStyle/>
          <a:p>
            <a:pPr indent="0" marL="0">
              <a:buNone/>
            </a:pPr>
            <a:r>
              <a:rPr lang="en-US" sz="1400" b="1" dirty="0">
                <a:solidFill>
                  <a:srgbClr val="241E33"/>
                </a:solidFill>
                <a:latin typeface="Cambria" pitchFamily="34" charset="0"/>
                <a:ea typeface="Cambria" pitchFamily="34" charset="-122"/>
                <a:cs typeface="Cambria" pitchFamily="34" charset="-120"/>
              </a:rPr>
              <a:t>Transfers as-is</a:t>
            </a:r>
            <a:endParaRPr lang="en-US" sz="1400" dirty="0"/>
          </a:p>
        </p:txBody>
      </p:sp>
      <p:sp>
        <p:nvSpPr>
          <p:cNvPr id="19" name="Text 17"/>
          <p:cNvSpPr/>
          <p:nvPr/>
        </p:nvSpPr>
        <p:spPr>
          <a:xfrm>
            <a:off x="3749040" y="3977640"/>
            <a:ext cx="7772400" cy="384048"/>
          </a:xfrm>
          <a:prstGeom prst="rect">
            <a:avLst/>
          </a:prstGeom>
          <a:noFill/>
          <a:ln/>
        </p:spPr>
        <p:txBody>
          <a:bodyPr wrap="square" lIns="0" tIns="0" rIns="0" bIns="0" rtlCol="0" anchor="ctr"/>
          <a:lstStyle/>
          <a:p>
            <a:pPr indent="0" marL="0">
              <a:buNone/>
            </a:pPr>
            <a:r>
              <a:rPr lang="en-US" sz="1250" dirty="0">
                <a:solidFill>
                  <a:srgbClr val="4A4360"/>
                </a:solidFill>
                <a:latin typeface="Calibri" pitchFamily="34" charset="0"/>
                <a:ea typeface="Calibri" pitchFamily="34" charset="-122"/>
                <a:cs typeface="Calibri" pitchFamily="34" charset="-120"/>
              </a:rPr>
              <a:t>Audio pipeline · adaptive progression · game layer · avatars &amp; rewards · offline delivery</a:t>
            </a:r>
            <a:endParaRPr lang="en-US" sz="1250" dirty="0"/>
          </a:p>
        </p:txBody>
      </p:sp>
      <p:sp>
        <p:nvSpPr>
          <p:cNvPr id="20" name="Shape 18"/>
          <p:cNvSpPr/>
          <p:nvPr/>
        </p:nvSpPr>
        <p:spPr>
          <a:xfrm rot="5400000">
            <a:off x="640080" y="4672584"/>
            <a:ext cx="310896" cy="310896"/>
          </a:xfrm>
          <a:prstGeom prst="hexagon">
            <a:avLst/>
          </a:prstGeom>
          <a:solidFill>
            <a:srgbClr val="6C4FE0"/>
          </a:solidFill>
          <a:ln/>
        </p:spPr>
      </p:sp>
      <p:sp>
        <p:nvSpPr>
          <p:cNvPr id="21" name="Text 19"/>
          <p:cNvSpPr/>
          <p:nvPr/>
        </p:nvSpPr>
        <p:spPr>
          <a:xfrm>
            <a:off x="1115568" y="4636008"/>
            <a:ext cx="2651760" cy="384048"/>
          </a:xfrm>
          <a:prstGeom prst="rect">
            <a:avLst/>
          </a:prstGeom>
          <a:noFill/>
          <a:ln/>
        </p:spPr>
        <p:txBody>
          <a:bodyPr wrap="square" lIns="0" tIns="0" rIns="0" bIns="0" rtlCol="0" anchor="ctr"/>
          <a:lstStyle/>
          <a:p>
            <a:pPr indent="0" marL="0">
              <a:buNone/>
            </a:pPr>
            <a:r>
              <a:rPr lang="en-US" sz="1400" b="1" dirty="0">
                <a:solidFill>
                  <a:srgbClr val="241E33"/>
                </a:solidFill>
                <a:latin typeface="Cambria" pitchFamily="34" charset="0"/>
                <a:ea typeface="Cambria" pitchFamily="34" charset="-122"/>
                <a:cs typeface="Cambria" pitchFamily="34" charset="-120"/>
              </a:rPr>
              <a:t>Transfers with new content</a:t>
            </a:r>
            <a:endParaRPr lang="en-US" sz="1400" dirty="0"/>
          </a:p>
        </p:txBody>
      </p:sp>
      <p:sp>
        <p:nvSpPr>
          <p:cNvPr id="22" name="Text 20"/>
          <p:cNvSpPr/>
          <p:nvPr/>
        </p:nvSpPr>
        <p:spPr>
          <a:xfrm>
            <a:off x="3749040" y="4636008"/>
            <a:ext cx="7772400" cy="384048"/>
          </a:xfrm>
          <a:prstGeom prst="rect">
            <a:avLst/>
          </a:prstGeom>
          <a:noFill/>
          <a:ln/>
        </p:spPr>
        <p:txBody>
          <a:bodyPr wrap="square" lIns="0" tIns="0" rIns="0" bIns="0" rtlCol="0" anchor="ctr"/>
          <a:lstStyle/>
          <a:p>
            <a:pPr indent="0" marL="0">
              <a:buNone/>
            </a:pPr>
            <a:r>
              <a:rPr lang="en-US" sz="1250" dirty="0">
                <a:solidFill>
                  <a:srgbClr val="4A4360"/>
                </a:solidFill>
                <a:latin typeface="Calibri" pitchFamily="34" charset="0"/>
                <a:ea typeface="Calibri" pitchFamily="34" charset="-122"/>
                <a:cs typeface="Calibri" pitchFamily="34" charset="-120"/>
              </a:rPr>
              <a:t>Verbal reasoning · heritage vocabulary · mental maths · financial literacy</a:t>
            </a:r>
            <a:endParaRPr lang="en-US" sz="1250" dirty="0"/>
          </a:p>
        </p:txBody>
      </p:sp>
      <p:sp>
        <p:nvSpPr>
          <p:cNvPr id="23" name="Shape 21"/>
          <p:cNvSpPr/>
          <p:nvPr/>
        </p:nvSpPr>
        <p:spPr>
          <a:xfrm rot="5400000">
            <a:off x="640080" y="5330952"/>
            <a:ext cx="310896" cy="310896"/>
          </a:xfrm>
          <a:prstGeom prst="hexagon">
            <a:avLst/>
          </a:prstGeom>
          <a:solidFill>
            <a:srgbClr val="C4453C"/>
          </a:solidFill>
          <a:ln/>
        </p:spPr>
      </p:sp>
      <p:sp>
        <p:nvSpPr>
          <p:cNvPr id="24" name="Text 22"/>
          <p:cNvSpPr/>
          <p:nvPr/>
        </p:nvSpPr>
        <p:spPr>
          <a:xfrm>
            <a:off x="1115568" y="5294376"/>
            <a:ext cx="2651760" cy="384048"/>
          </a:xfrm>
          <a:prstGeom prst="rect">
            <a:avLst/>
          </a:prstGeom>
          <a:noFill/>
          <a:ln/>
        </p:spPr>
        <p:txBody>
          <a:bodyPr wrap="square" lIns="0" tIns="0" rIns="0" bIns="0" rtlCol="0" anchor="ctr"/>
          <a:lstStyle/>
          <a:p>
            <a:pPr indent="0" marL="0">
              <a:buNone/>
            </a:pPr>
            <a:r>
              <a:rPr lang="en-US" sz="1400" b="1" dirty="0">
                <a:solidFill>
                  <a:srgbClr val="241E33"/>
                </a:solidFill>
                <a:latin typeface="Cambria" pitchFamily="34" charset="0"/>
                <a:ea typeface="Cambria" pitchFamily="34" charset="-122"/>
                <a:cs typeface="Cambria" pitchFamily="34" charset="-120"/>
              </a:rPr>
              <a:t>Does not transfer</a:t>
            </a:r>
            <a:endParaRPr lang="en-US" sz="1400" dirty="0"/>
          </a:p>
        </p:txBody>
      </p:sp>
      <p:sp>
        <p:nvSpPr>
          <p:cNvPr id="25" name="Text 23"/>
          <p:cNvSpPr/>
          <p:nvPr/>
        </p:nvSpPr>
        <p:spPr>
          <a:xfrm>
            <a:off x="3749040" y="5294376"/>
            <a:ext cx="7772400" cy="384048"/>
          </a:xfrm>
          <a:prstGeom prst="rect">
            <a:avLst/>
          </a:prstGeom>
          <a:noFill/>
          <a:ln/>
        </p:spPr>
        <p:txBody>
          <a:bodyPr wrap="square" lIns="0" tIns="0" rIns="0" bIns="0" rtlCol="0" anchor="ctr"/>
          <a:lstStyle/>
          <a:p>
            <a:pPr indent="0" marL="0">
              <a:buNone/>
            </a:pPr>
            <a:r>
              <a:rPr lang="en-US" sz="1250" dirty="0">
                <a:solidFill>
                  <a:srgbClr val="4A4360"/>
                </a:solidFill>
                <a:latin typeface="Calibri" pitchFamily="34" charset="0"/>
                <a:ea typeface="Calibri" pitchFamily="34" charset="-122"/>
                <a:cs typeface="Calibri" pitchFamily="34" charset="-120"/>
              </a:rPr>
              <a:t>Anything needing a solver, a rating system or a live teacher — chess, coding, music, dance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02336"/>
            <a:ext cx="7315200" cy="256032"/>
          </a:xfrm>
          <a:prstGeom prst="rect">
            <a:avLst/>
          </a:prstGeom>
          <a:noFill/>
          <a:ln/>
        </p:spPr>
        <p:txBody>
          <a:bodyPr wrap="square" lIns="0" tIns="0" rIns="0" bIns="0" rtlCol="0" anchor="ctr"/>
          <a:lstStyle/>
          <a:p>
            <a:pPr indent="0" marL="0">
              <a:buNone/>
            </a:pPr>
            <a:r>
              <a:rPr lang="en-US" sz="1150" b="1" spc="240" kern="0" dirty="0">
                <a:solidFill>
                  <a:srgbClr val="6C4FE0"/>
                </a:solidFill>
                <a:latin typeface="Calibri" pitchFamily="34" charset="0"/>
                <a:ea typeface="Calibri" pitchFamily="34" charset="-122"/>
                <a:cs typeface="Calibri" pitchFamily="34" charset="-120"/>
              </a:rPr>
              <a:t>BRAND ARCHITECTURE</a:t>
            </a:r>
            <a:endParaRPr lang="en-US" sz="1150" dirty="0"/>
          </a:p>
        </p:txBody>
      </p:sp>
      <p:sp>
        <p:nvSpPr>
          <p:cNvPr id="3" name="Text 1"/>
          <p:cNvSpPr/>
          <p:nvPr/>
        </p:nvSpPr>
        <p:spPr>
          <a:xfrm>
            <a:off x="640080" y="694944"/>
            <a:ext cx="10607040" cy="749808"/>
          </a:xfrm>
          <a:prstGeom prst="rect">
            <a:avLst/>
          </a:prstGeom>
          <a:noFill/>
          <a:ln/>
        </p:spPr>
        <p:txBody>
          <a:bodyPr wrap="square" lIns="0" tIns="0" rIns="0" bIns="0" rtlCol="0" anchor="ctr"/>
          <a:lstStyle/>
          <a:p>
            <a:pPr indent="0" marL="0">
              <a:buNone/>
            </a:pPr>
            <a:r>
              <a:rPr lang="en-US" sz="2900" b="1" dirty="0">
                <a:solidFill>
                  <a:srgbClr val="241E33"/>
                </a:solidFill>
                <a:latin typeface="Cambria" pitchFamily="34" charset="0"/>
                <a:ea typeface="Cambria" pitchFamily="34" charset="-122"/>
                <a:cs typeface="Cambria" pitchFamily="34" charset="-120"/>
              </a:rPr>
              <a:t>The house</a:t>
            </a:r>
            <a:endParaRPr lang="en-US" sz="2900" dirty="0"/>
          </a:p>
        </p:txBody>
      </p:sp>
      <p:sp>
        <p:nvSpPr>
          <p:cNvPr id="4" name="Text 2"/>
          <p:cNvSpPr/>
          <p:nvPr/>
        </p:nvSpPr>
        <p:spPr>
          <a:xfrm>
            <a:off x="640080" y="1444752"/>
            <a:ext cx="10607040" cy="512064"/>
          </a:xfrm>
          <a:prstGeom prst="rect">
            <a:avLst/>
          </a:prstGeom>
          <a:noFill/>
          <a:ln/>
        </p:spPr>
        <p:txBody>
          <a:bodyPr wrap="square" lIns="0" tIns="0" rIns="0" bIns="0" rtlCol="0" anchor="ctr"/>
          <a:lstStyle/>
          <a:p>
            <a:pPr indent="0" marL="0">
              <a:buNone/>
            </a:pPr>
            <a:r>
              <a:rPr lang="en-US" sz="1450" dirty="0">
                <a:solidFill>
                  <a:srgbClr val="7A7291"/>
                </a:solidFill>
                <a:latin typeface="Calibri" pitchFamily="34" charset="0"/>
                <a:ea typeface="Calibri" pitchFamily="34" charset="-122"/>
                <a:cs typeface="Calibri" pitchFamily="34" charset="-120"/>
              </a:rPr>
              <a:t>Three families, one engine. Geography is a hook rather than a brand — which is why India is the only place-name here, and why it is free.</a:t>
            </a:r>
            <a:endParaRPr lang="en-US" sz="1450" dirty="0"/>
          </a:p>
        </p:txBody>
      </p:sp>
      <p:sp>
        <p:nvSpPr>
          <p:cNvPr id="5" name="Shape 3"/>
          <p:cNvSpPr/>
          <p:nvPr/>
        </p:nvSpPr>
        <p:spPr>
          <a:xfrm>
            <a:off x="4937760" y="1938528"/>
            <a:ext cx="2286000" cy="585216"/>
          </a:xfrm>
          <a:prstGeom prst="roundRect">
            <a:avLst>
              <a:gd name="adj" fmla="val 20313"/>
            </a:avLst>
          </a:prstGeom>
          <a:solidFill>
            <a:srgbClr val="241E33"/>
          </a:solidFill>
          <a:ln/>
        </p:spPr>
      </p:sp>
      <p:sp>
        <p:nvSpPr>
          <p:cNvPr id="6" name="Text 4"/>
          <p:cNvSpPr/>
          <p:nvPr/>
        </p:nvSpPr>
        <p:spPr>
          <a:xfrm>
            <a:off x="4937760" y="1938528"/>
            <a:ext cx="2286000" cy="585216"/>
          </a:xfrm>
          <a:prstGeom prst="rect">
            <a:avLst/>
          </a:prstGeom>
          <a:noFill/>
          <a:ln/>
        </p:spPr>
        <p:txBody>
          <a:bodyPr wrap="square" lIns="0" tIns="0" rIns="0" bIns="0" rtlCol="0" anchor="ctr"/>
          <a:lstStyle/>
          <a:p>
            <a:pPr algn="ctr" indent="0" marL="0">
              <a:buNone/>
            </a:pPr>
            <a:r>
              <a:rPr lang="en-US" sz="2000" b="1" spc="200" kern="0" dirty="0">
                <a:solidFill>
                  <a:srgbClr val="FFFFFF"/>
                </a:solidFill>
                <a:latin typeface="Cambria" pitchFamily="34" charset="0"/>
                <a:ea typeface="Cambria" pitchFamily="34" charset="-122"/>
                <a:cs typeface="Cambria" pitchFamily="34" charset="-120"/>
              </a:rPr>
              <a:t>BIZZING</a:t>
            </a:r>
            <a:endParaRPr lang="en-US" sz="2000" dirty="0"/>
          </a:p>
        </p:txBody>
      </p:sp>
      <p:sp>
        <p:nvSpPr>
          <p:cNvPr id="7" name="Shape 5"/>
          <p:cNvSpPr/>
          <p:nvPr/>
        </p:nvSpPr>
        <p:spPr>
          <a:xfrm>
            <a:off x="6080760" y="2523744"/>
            <a:ext cx="0" cy="274320"/>
          </a:xfrm>
          <a:prstGeom prst="line">
            <a:avLst/>
          </a:prstGeom>
          <a:noFill/>
          <a:ln w="25400">
            <a:solidFill>
              <a:srgbClr val="E3DCF2"/>
            </a:solidFill>
            <a:prstDash val="solid"/>
          </a:ln>
        </p:spPr>
      </p:sp>
      <p:sp>
        <p:nvSpPr>
          <p:cNvPr id="8" name="Shape 6"/>
          <p:cNvSpPr/>
          <p:nvPr/>
        </p:nvSpPr>
        <p:spPr>
          <a:xfrm>
            <a:off x="2286000" y="2798064"/>
            <a:ext cx="7589520" cy="0"/>
          </a:xfrm>
          <a:prstGeom prst="line">
            <a:avLst/>
          </a:prstGeom>
          <a:noFill/>
          <a:ln w="25400">
            <a:solidFill>
              <a:srgbClr val="E3DCF2"/>
            </a:solidFill>
            <a:prstDash val="solid"/>
          </a:ln>
        </p:spPr>
      </p:sp>
      <p:sp>
        <p:nvSpPr>
          <p:cNvPr id="9" name="Shape 7"/>
          <p:cNvSpPr/>
          <p:nvPr/>
        </p:nvSpPr>
        <p:spPr>
          <a:xfrm>
            <a:off x="2299716" y="2798064"/>
            <a:ext cx="0" cy="274320"/>
          </a:xfrm>
          <a:prstGeom prst="line">
            <a:avLst/>
          </a:prstGeom>
          <a:noFill/>
          <a:ln w="25400">
            <a:solidFill>
              <a:srgbClr val="E3DCF2"/>
            </a:solidFill>
            <a:prstDash val="solid"/>
          </a:ln>
        </p:spPr>
      </p:sp>
      <p:sp>
        <p:nvSpPr>
          <p:cNvPr id="10" name="Shape 8"/>
          <p:cNvSpPr/>
          <p:nvPr/>
        </p:nvSpPr>
        <p:spPr>
          <a:xfrm>
            <a:off x="640080" y="3072384"/>
            <a:ext cx="3319272" cy="384048"/>
          </a:xfrm>
          <a:prstGeom prst="roundRect">
            <a:avLst>
              <a:gd name="adj" fmla="val 23810"/>
            </a:avLst>
          </a:prstGeom>
          <a:solidFill>
            <a:srgbClr val="6C4FE0"/>
          </a:solidFill>
          <a:ln/>
        </p:spPr>
      </p:sp>
      <p:sp>
        <p:nvSpPr>
          <p:cNvPr id="11" name="Text 9"/>
          <p:cNvSpPr/>
          <p:nvPr/>
        </p:nvSpPr>
        <p:spPr>
          <a:xfrm>
            <a:off x="640080" y="3072384"/>
            <a:ext cx="3319272" cy="384048"/>
          </a:xfrm>
          <a:prstGeom prst="rect">
            <a:avLst/>
          </a:prstGeom>
          <a:noFill/>
          <a:ln/>
        </p:spPr>
        <p:txBody>
          <a:bodyPr wrap="square" lIns="0" tIns="0" rIns="0" bIns="0" rtlCol="0" anchor="ctr"/>
          <a:lstStyle/>
          <a:p>
            <a:pPr algn="ctr" indent="0" marL="0">
              <a:buNone/>
            </a:pPr>
            <a:r>
              <a:rPr lang="en-US" sz="1000" b="1" spc="160" kern="0" dirty="0">
                <a:solidFill>
                  <a:srgbClr val="FFFFFF"/>
                </a:solidFill>
                <a:latin typeface="Calibri" pitchFamily="34" charset="0"/>
                <a:ea typeface="Calibri" pitchFamily="34" charset="-122"/>
                <a:cs typeface="Calibri" pitchFamily="34" charset="-120"/>
              </a:rPr>
              <a:t>WORDS</a:t>
            </a:r>
            <a:endParaRPr lang="en-US" sz="1000" dirty="0"/>
          </a:p>
        </p:txBody>
      </p:sp>
      <p:sp>
        <p:nvSpPr>
          <p:cNvPr id="12" name="Shape 10"/>
          <p:cNvSpPr/>
          <p:nvPr/>
        </p:nvSpPr>
        <p:spPr>
          <a:xfrm>
            <a:off x="640080" y="3602736"/>
            <a:ext cx="3319272" cy="347472"/>
          </a:xfrm>
          <a:prstGeom prst="roundRect">
            <a:avLst>
              <a:gd name="adj" fmla="val 23684"/>
            </a:avLst>
          </a:prstGeom>
          <a:solidFill>
            <a:srgbClr val="EFEBF8"/>
          </a:solidFill>
          <a:ln/>
        </p:spPr>
      </p:sp>
      <p:pic>
        <p:nvPicPr>
          <p:cNvPr id="13" name="Image 0" descr="preencoded.png">    </p:cNvPr>
          <p:cNvPicPr>
            <a:picLocks noChangeAspect="1"/>
          </p:cNvPicPr>
          <p:nvPr/>
        </p:nvPicPr>
        <p:blipFill>
          <a:blip r:embed="rId1"/>
          <a:stretch>
            <a:fillRect/>
          </a:stretch>
        </p:blipFill>
        <p:spPr>
          <a:xfrm>
            <a:off x="694944" y="3621024"/>
            <a:ext cx="310896" cy="310896"/>
          </a:xfrm>
          <a:prstGeom prst="rect">
            <a:avLst/>
          </a:prstGeom>
        </p:spPr>
      </p:pic>
      <p:sp>
        <p:nvSpPr>
          <p:cNvPr id="14" name="Text 11"/>
          <p:cNvSpPr/>
          <p:nvPr/>
        </p:nvSpPr>
        <p:spPr>
          <a:xfrm>
            <a:off x="1060704" y="3602736"/>
            <a:ext cx="1508760" cy="347472"/>
          </a:xfrm>
          <a:prstGeom prst="rect">
            <a:avLst/>
          </a:prstGeom>
          <a:noFill/>
          <a:ln/>
        </p:spPr>
        <p:txBody>
          <a:bodyPr wrap="square" lIns="0" tIns="0" rIns="0" bIns="0" rtlCol="0" anchor="ctr"/>
          <a:lstStyle/>
          <a:p>
            <a:pPr indent="0" marL="0">
              <a:buNone/>
            </a:pPr>
            <a:r>
              <a:rPr lang="en-US" sz="1250" b="1" dirty="0">
                <a:solidFill>
                  <a:srgbClr val="241E33"/>
                </a:solidFill>
                <a:latin typeface="Cambria" pitchFamily="34" charset="0"/>
                <a:ea typeface="Cambria" pitchFamily="34" charset="-122"/>
                <a:cs typeface="Cambria" pitchFamily="34" charset="-120"/>
              </a:rPr>
              <a:t>Bizzing Bee</a:t>
            </a:r>
            <a:endParaRPr lang="en-US" sz="1250" dirty="0"/>
          </a:p>
        </p:txBody>
      </p:sp>
      <p:sp>
        <p:nvSpPr>
          <p:cNvPr id="15" name="Text 12"/>
          <p:cNvSpPr/>
          <p:nvPr/>
        </p:nvSpPr>
        <p:spPr>
          <a:xfrm>
            <a:off x="2660904" y="3602736"/>
            <a:ext cx="1115568" cy="347472"/>
          </a:xfrm>
          <a:prstGeom prst="rect">
            <a:avLst/>
          </a:prstGeom>
          <a:noFill/>
          <a:ln/>
        </p:spPr>
        <p:txBody>
          <a:bodyPr wrap="square" lIns="0" tIns="0" rIns="0" bIns="0" rtlCol="0" anchor="ctr"/>
          <a:lstStyle/>
          <a:p>
            <a:pPr algn="r" indent="0" marL="0">
              <a:buNone/>
            </a:pPr>
            <a:r>
              <a:rPr lang="en-US" sz="900" i="1" dirty="0">
                <a:solidFill>
                  <a:srgbClr val="4A31B0"/>
                </a:solidFill>
                <a:latin typeface="Calibri" pitchFamily="34" charset="0"/>
                <a:ea typeface="Calibri" pitchFamily="34" charset="-122"/>
                <a:cs typeface="Calibri" pitchFamily="34" charset="-120"/>
              </a:rPr>
              <a:t>live</a:t>
            </a:r>
            <a:endParaRPr lang="en-US" sz="900" dirty="0"/>
          </a:p>
        </p:txBody>
      </p:sp>
      <p:sp>
        <p:nvSpPr>
          <p:cNvPr id="16" name="Shape 13"/>
          <p:cNvSpPr/>
          <p:nvPr/>
        </p:nvSpPr>
        <p:spPr>
          <a:xfrm>
            <a:off x="640080" y="4023360"/>
            <a:ext cx="3319272" cy="347472"/>
          </a:xfrm>
          <a:prstGeom prst="roundRect">
            <a:avLst>
              <a:gd name="adj" fmla="val 23684"/>
            </a:avLst>
          </a:prstGeom>
          <a:solidFill>
            <a:srgbClr val="EFEBF8"/>
          </a:solidFill>
          <a:ln/>
        </p:spPr>
      </p:sp>
      <p:pic>
        <p:nvPicPr>
          <p:cNvPr id="17" name="Image 1" descr="preencoded.png">    </p:cNvPr>
          <p:cNvPicPr>
            <a:picLocks noChangeAspect="1"/>
          </p:cNvPicPr>
          <p:nvPr/>
        </p:nvPicPr>
        <p:blipFill>
          <a:blip r:embed="rId2"/>
          <a:stretch>
            <a:fillRect/>
          </a:stretch>
        </p:blipFill>
        <p:spPr>
          <a:xfrm>
            <a:off x="694944" y="4041648"/>
            <a:ext cx="310896" cy="310896"/>
          </a:xfrm>
          <a:prstGeom prst="rect">
            <a:avLst/>
          </a:prstGeom>
        </p:spPr>
      </p:pic>
      <p:sp>
        <p:nvSpPr>
          <p:cNvPr id="18" name="Text 14"/>
          <p:cNvSpPr/>
          <p:nvPr/>
        </p:nvSpPr>
        <p:spPr>
          <a:xfrm>
            <a:off x="1060704" y="4023360"/>
            <a:ext cx="1508760" cy="347472"/>
          </a:xfrm>
          <a:prstGeom prst="rect">
            <a:avLst/>
          </a:prstGeom>
          <a:noFill/>
          <a:ln/>
        </p:spPr>
        <p:txBody>
          <a:bodyPr wrap="square" lIns="0" tIns="0" rIns="0" bIns="0" rtlCol="0" anchor="ctr"/>
          <a:lstStyle/>
          <a:p>
            <a:pPr indent="0" marL="0">
              <a:buNone/>
            </a:pPr>
            <a:r>
              <a:rPr lang="en-US" sz="1250" b="1" dirty="0">
                <a:solidFill>
                  <a:srgbClr val="241E33"/>
                </a:solidFill>
                <a:latin typeface="Cambria" pitchFamily="34" charset="0"/>
                <a:ea typeface="Cambria" pitchFamily="34" charset="-122"/>
                <a:cs typeface="Cambria" pitchFamily="34" charset="-120"/>
              </a:rPr>
              <a:t>Bizzing Eleven</a:t>
            </a:r>
            <a:endParaRPr lang="en-US" sz="1250" dirty="0"/>
          </a:p>
        </p:txBody>
      </p:sp>
      <p:sp>
        <p:nvSpPr>
          <p:cNvPr id="19" name="Text 15"/>
          <p:cNvSpPr/>
          <p:nvPr/>
        </p:nvSpPr>
        <p:spPr>
          <a:xfrm>
            <a:off x="2660904" y="4023360"/>
            <a:ext cx="1115568" cy="347472"/>
          </a:xfrm>
          <a:prstGeom prst="rect">
            <a:avLst/>
          </a:prstGeom>
          <a:noFill/>
          <a:ln/>
        </p:spPr>
        <p:txBody>
          <a:bodyPr wrap="square" lIns="0" tIns="0" rIns="0" bIns="0" rtlCol="0" anchor="ctr"/>
          <a:lstStyle/>
          <a:p>
            <a:pPr algn="r" indent="0" marL="0">
              <a:buNone/>
            </a:pPr>
            <a:r>
              <a:rPr lang="en-US" sz="900" i="1" dirty="0">
                <a:solidFill>
                  <a:srgbClr val="4A31B0"/>
                </a:solidFill>
                <a:latin typeface="Calibri" pitchFamily="34" charset="0"/>
                <a:ea typeface="Calibri" pitchFamily="34" charset="-122"/>
                <a:cs typeface="Calibri" pitchFamily="34" charset="-120"/>
              </a:rPr>
              <a:t>next</a:t>
            </a:r>
            <a:endParaRPr lang="en-US" sz="900" dirty="0"/>
          </a:p>
        </p:txBody>
      </p:sp>
      <p:sp>
        <p:nvSpPr>
          <p:cNvPr id="20" name="Shape 16"/>
          <p:cNvSpPr/>
          <p:nvPr/>
        </p:nvSpPr>
        <p:spPr>
          <a:xfrm>
            <a:off x="640080" y="4443984"/>
            <a:ext cx="3319272" cy="347472"/>
          </a:xfrm>
          <a:prstGeom prst="roundRect">
            <a:avLst>
              <a:gd name="adj" fmla="val 23684"/>
            </a:avLst>
          </a:prstGeom>
          <a:solidFill>
            <a:srgbClr val="EFEBF8"/>
          </a:solidFill>
          <a:ln/>
        </p:spPr>
      </p:sp>
      <p:pic>
        <p:nvPicPr>
          <p:cNvPr id="21" name="Image 2" descr="preencoded.png">    </p:cNvPr>
          <p:cNvPicPr>
            <a:picLocks noChangeAspect="1"/>
          </p:cNvPicPr>
          <p:nvPr/>
        </p:nvPicPr>
        <p:blipFill>
          <a:blip r:embed="rId3"/>
          <a:stretch>
            <a:fillRect/>
          </a:stretch>
        </p:blipFill>
        <p:spPr>
          <a:xfrm>
            <a:off x="694944" y="4462272"/>
            <a:ext cx="310896" cy="310896"/>
          </a:xfrm>
          <a:prstGeom prst="rect">
            <a:avLst/>
          </a:prstGeom>
        </p:spPr>
      </p:pic>
      <p:sp>
        <p:nvSpPr>
          <p:cNvPr id="22" name="Text 17"/>
          <p:cNvSpPr/>
          <p:nvPr/>
        </p:nvSpPr>
        <p:spPr>
          <a:xfrm>
            <a:off x="1060704" y="4443984"/>
            <a:ext cx="1508760" cy="347472"/>
          </a:xfrm>
          <a:prstGeom prst="rect">
            <a:avLst/>
          </a:prstGeom>
          <a:noFill/>
          <a:ln/>
        </p:spPr>
        <p:txBody>
          <a:bodyPr wrap="square" lIns="0" tIns="0" rIns="0" bIns="0" rtlCol="0" anchor="ctr"/>
          <a:lstStyle/>
          <a:p>
            <a:pPr indent="0" marL="0">
              <a:buNone/>
            </a:pPr>
            <a:r>
              <a:rPr lang="en-US" sz="1250" b="1" dirty="0">
                <a:solidFill>
                  <a:srgbClr val="241E33"/>
                </a:solidFill>
                <a:latin typeface="Cambria" pitchFamily="34" charset="0"/>
                <a:ea typeface="Cambria" pitchFamily="34" charset="-122"/>
                <a:cs typeface="Cambria" pitchFamily="34" charset="-120"/>
              </a:rPr>
              <a:t>Bizzing English</a:t>
            </a:r>
            <a:endParaRPr lang="en-US" sz="1250" dirty="0"/>
          </a:p>
        </p:txBody>
      </p:sp>
      <p:sp>
        <p:nvSpPr>
          <p:cNvPr id="23" name="Text 18"/>
          <p:cNvSpPr/>
          <p:nvPr/>
        </p:nvSpPr>
        <p:spPr>
          <a:xfrm>
            <a:off x="2660904" y="4443984"/>
            <a:ext cx="1115568" cy="347472"/>
          </a:xfrm>
          <a:prstGeom prst="rect">
            <a:avLst/>
          </a:prstGeom>
          <a:noFill/>
          <a:ln/>
        </p:spPr>
        <p:txBody>
          <a:bodyPr wrap="square" lIns="0" tIns="0" rIns="0" bIns="0" rtlCol="0" anchor="ctr"/>
          <a:lstStyle/>
          <a:p>
            <a:pPr algn="r" indent="0" marL="0">
              <a:buNone/>
            </a:pPr>
            <a:r>
              <a:rPr lang="en-US" sz="900" i="1" dirty="0">
                <a:solidFill>
                  <a:srgbClr val="4A31B0"/>
                </a:solidFill>
                <a:latin typeface="Calibri" pitchFamily="34" charset="0"/>
                <a:ea typeface="Calibri" pitchFamily="34" charset="-122"/>
                <a:cs typeface="Calibri" pitchFamily="34" charset="-120"/>
              </a:rPr>
              <a:t>planned</a:t>
            </a:r>
            <a:endParaRPr lang="en-US" sz="900" dirty="0"/>
          </a:p>
        </p:txBody>
      </p:sp>
      <p:sp>
        <p:nvSpPr>
          <p:cNvPr id="24" name="Shape 19"/>
          <p:cNvSpPr/>
          <p:nvPr/>
        </p:nvSpPr>
        <p:spPr>
          <a:xfrm>
            <a:off x="640080" y="4864608"/>
            <a:ext cx="3319272" cy="347472"/>
          </a:xfrm>
          <a:prstGeom prst="roundRect">
            <a:avLst>
              <a:gd name="adj" fmla="val 23684"/>
            </a:avLst>
          </a:prstGeom>
          <a:solidFill>
            <a:srgbClr val="EFEBF8"/>
          </a:solidFill>
          <a:ln/>
        </p:spPr>
      </p:sp>
      <p:pic>
        <p:nvPicPr>
          <p:cNvPr id="25" name="Image 3" descr="preencoded.png">    </p:cNvPr>
          <p:cNvPicPr>
            <a:picLocks noChangeAspect="1"/>
          </p:cNvPicPr>
          <p:nvPr/>
        </p:nvPicPr>
        <p:blipFill>
          <a:blip r:embed="rId4"/>
          <a:stretch>
            <a:fillRect/>
          </a:stretch>
        </p:blipFill>
        <p:spPr>
          <a:xfrm>
            <a:off x="694944" y="4882896"/>
            <a:ext cx="310896" cy="310896"/>
          </a:xfrm>
          <a:prstGeom prst="rect">
            <a:avLst/>
          </a:prstGeom>
        </p:spPr>
      </p:pic>
      <p:sp>
        <p:nvSpPr>
          <p:cNvPr id="26" name="Text 20"/>
          <p:cNvSpPr/>
          <p:nvPr/>
        </p:nvSpPr>
        <p:spPr>
          <a:xfrm>
            <a:off x="1060704" y="4864608"/>
            <a:ext cx="1508760" cy="347472"/>
          </a:xfrm>
          <a:prstGeom prst="rect">
            <a:avLst/>
          </a:prstGeom>
          <a:noFill/>
          <a:ln/>
        </p:spPr>
        <p:txBody>
          <a:bodyPr wrap="square" lIns="0" tIns="0" rIns="0" bIns="0" rtlCol="0" anchor="ctr"/>
          <a:lstStyle/>
          <a:p>
            <a:pPr indent="0" marL="0">
              <a:buNone/>
            </a:pPr>
            <a:r>
              <a:rPr lang="en-US" sz="1250" b="1" dirty="0">
                <a:solidFill>
                  <a:srgbClr val="241E33"/>
                </a:solidFill>
                <a:latin typeface="Cambria" pitchFamily="34" charset="0"/>
                <a:ea typeface="Cambria" pitchFamily="34" charset="-122"/>
                <a:cs typeface="Cambria" pitchFamily="34" charset="-120"/>
              </a:rPr>
              <a:t>Bizzing Buzz</a:t>
            </a:r>
            <a:endParaRPr lang="en-US" sz="1250" dirty="0"/>
          </a:p>
        </p:txBody>
      </p:sp>
      <p:sp>
        <p:nvSpPr>
          <p:cNvPr id="27" name="Text 21"/>
          <p:cNvSpPr/>
          <p:nvPr/>
        </p:nvSpPr>
        <p:spPr>
          <a:xfrm>
            <a:off x="2660904" y="4864608"/>
            <a:ext cx="1115568" cy="347472"/>
          </a:xfrm>
          <a:prstGeom prst="rect">
            <a:avLst/>
          </a:prstGeom>
          <a:noFill/>
          <a:ln/>
        </p:spPr>
        <p:txBody>
          <a:bodyPr wrap="square" lIns="0" tIns="0" rIns="0" bIns="0" rtlCol="0" anchor="ctr"/>
          <a:lstStyle/>
          <a:p>
            <a:pPr algn="r" indent="0" marL="0">
              <a:buNone/>
            </a:pPr>
            <a:r>
              <a:rPr lang="en-US" sz="900" i="1" dirty="0">
                <a:solidFill>
                  <a:srgbClr val="4A31B0"/>
                </a:solidFill>
                <a:latin typeface="Calibri" pitchFamily="34" charset="0"/>
                <a:ea typeface="Calibri" pitchFamily="34" charset="-122"/>
                <a:cs typeface="Calibri" pitchFamily="34" charset="-120"/>
              </a:rPr>
              <a:t>ages 4–6</a:t>
            </a:r>
            <a:endParaRPr lang="en-US" sz="900" dirty="0"/>
          </a:p>
        </p:txBody>
      </p:sp>
      <p:sp>
        <p:nvSpPr>
          <p:cNvPr id="28" name="Shape 22"/>
          <p:cNvSpPr/>
          <p:nvPr/>
        </p:nvSpPr>
        <p:spPr>
          <a:xfrm>
            <a:off x="640080" y="5285232"/>
            <a:ext cx="3319272" cy="347472"/>
          </a:xfrm>
          <a:prstGeom prst="roundRect">
            <a:avLst>
              <a:gd name="adj" fmla="val 23684"/>
            </a:avLst>
          </a:prstGeom>
          <a:solidFill>
            <a:srgbClr val="EFEBF8"/>
          </a:solidFill>
          <a:ln/>
        </p:spPr>
      </p:sp>
      <p:pic>
        <p:nvPicPr>
          <p:cNvPr id="29" name="Image 4" descr="preencoded.png">    </p:cNvPr>
          <p:cNvPicPr>
            <a:picLocks noChangeAspect="1"/>
          </p:cNvPicPr>
          <p:nvPr/>
        </p:nvPicPr>
        <p:blipFill>
          <a:blip r:embed="rId5"/>
          <a:stretch>
            <a:fillRect/>
          </a:stretch>
        </p:blipFill>
        <p:spPr>
          <a:xfrm>
            <a:off x="694944" y="5303520"/>
            <a:ext cx="310896" cy="310896"/>
          </a:xfrm>
          <a:prstGeom prst="rect">
            <a:avLst/>
          </a:prstGeom>
        </p:spPr>
      </p:pic>
      <p:sp>
        <p:nvSpPr>
          <p:cNvPr id="30" name="Text 23"/>
          <p:cNvSpPr/>
          <p:nvPr/>
        </p:nvSpPr>
        <p:spPr>
          <a:xfrm>
            <a:off x="1060704" y="5285232"/>
            <a:ext cx="1508760" cy="347472"/>
          </a:xfrm>
          <a:prstGeom prst="rect">
            <a:avLst/>
          </a:prstGeom>
          <a:noFill/>
          <a:ln/>
        </p:spPr>
        <p:txBody>
          <a:bodyPr wrap="square" lIns="0" tIns="0" rIns="0" bIns="0" rtlCol="0" anchor="ctr"/>
          <a:lstStyle/>
          <a:p>
            <a:pPr indent="0" marL="0">
              <a:buNone/>
            </a:pPr>
            <a:r>
              <a:rPr lang="en-US" sz="1250" b="1" dirty="0">
                <a:solidFill>
                  <a:srgbClr val="241E33"/>
                </a:solidFill>
                <a:latin typeface="Cambria" pitchFamily="34" charset="0"/>
                <a:ea typeface="Cambria" pitchFamily="34" charset="-122"/>
                <a:cs typeface="Cambria" pitchFamily="34" charset="-120"/>
              </a:rPr>
              <a:t>Bizzing Prep</a:t>
            </a:r>
            <a:endParaRPr lang="en-US" sz="1250" dirty="0"/>
          </a:p>
        </p:txBody>
      </p:sp>
      <p:sp>
        <p:nvSpPr>
          <p:cNvPr id="31" name="Text 24"/>
          <p:cNvSpPr/>
          <p:nvPr/>
        </p:nvSpPr>
        <p:spPr>
          <a:xfrm>
            <a:off x="2660904" y="5285232"/>
            <a:ext cx="1115568" cy="347472"/>
          </a:xfrm>
          <a:prstGeom prst="rect">
            <a:avLst/>
          </a:prstGeom>
          <a:noFill/>
          <a:ln/>
        </p:spPr>
        <p:txBody>
          <a:bodyPr wrap="square" lIns="0" tIns="0" rIns="0" bIns="0" rtlCol="0" anchor="ctr"/>
          <a:lstStyle/>
          <a:p>
            <a:pPr algn="r" indent="0" marL="0">
              <a:buNone/>
            </a:pPr>
            <a:r>
              <a:rPr lang="en-US" sz="900" i="1" dirty="0">
                <a:solidFill>
                  <a:srgbClr val="4A31B0"/>
                </a:solidFill>
                <a:latin typeface="Calibri" pitchFamily="34" charset="0"/>
                <a:ea typeface="Calibri" pitchFamily="34" charset="-122"/>
                <a:cs typeface="Calibri" pitchFamily="34" charset="-120"/>
              </a:rPr>
              <a:t>gap</a:t>
            </a:r>
            <a:endParaRPr lang="en-US" sz="900" dirty="0"/>
          </a:p>
        </p:txBody>
      </p:sp>
      <p:sp>
        <p:nvSpPr>
          <p:cNvPr id="32" name="Shape 25"/>
          <p:cNvSpPr/>
          <p:nvPr/>
        </p:nvSpPr>
        <p:spPr>
          <a:xfrm>
            <a:off x="640080" y="5705856"/>
            <a:ext cx="3319272" cy="347472"/>
          </a:xfrm>
          <a:prstGeom prst="roundRect">
            <a:avLst>
              <a:gd name="adj" fmla="val 23684"/>
            </a:avLst>
          </a:prstGeom>
          <a:solidFill>
            <a:srgbClr val="EFEBF8"/>
          </a:solidFill>
          <a:ln/>
        </p:spPr>
      </p:sp>
      <p:pic>
        <p:nvPicPr>
          <p:cNvPr id="33" name="Image 5" descr="preencoded.png">    </p:cNvPr>
          <p:cNvPicPr>
            <a:picLocks noChangeAspect="1"/>
          </p:cNvPicPr>
          <p:nvPr/>
        </p:nvPicPr>
        <p:blipFill>
          <a:blip r:embed="rId6"/>
          <a:stretch>
            <a:fillRect/>
          </a:stretch>
        </p:blipFill>
        <p:spPr>
          <a:xfrm>
            <a:off x="694944" y="5724144"/>
            <a:ext cx="310896" cy="310896"/>
          </a:xfrm>
          <a:prstGeom prst="rect">
            <a:avLst/>
          </a:prstGeom>
        </p:spPr>
      </p:pic>
      <p:sp>
        <p:nvSpPr>
          <p:cNvPr id="34" name="Text 26"/>
          <p:cNvSpPr/>
          <p:nvPr/>
        </p:nvSpPr>
        <p:spPr>
          <a:xfrm>
            <a:off x="1060704" y="5705856"/>
            <a:ext cx="1508760" cy="347472"/>
          </a:xfrm>
          <a:prstGeom prst="rect">
            <a:avLst/>
          </a:prstGeom>
          <a:noFill/>
          <a:ln/>
        </p:spPr>
        <p:txBody>
          <a:bodyPr wrap="square" lIns="0" tIns="0" rIns="0" bIns="0" rtlCol="0" anchor="ctr"/>
          <a:lstStyle/>
          <a:p>
            <a:pPr indent="0" marL="0">
              <a:buNone/>
            </a:pPr>
            <a:r>
              <a:rPr lang="en-US" sz="1250" b="1" dirty="0">
                <a:solidFill>
                  <a:srgbClr val="241E33"/>
                </a:solidFill>
                <a:latin typeface="Cambria" pitchFamily="34" charset="0"/>
                <a:ea typeface="Cambria" pitchFamily="34" charset="-122"/>
                <a:cs typeface="Cambria" pitchFamily="34" charset="-120"/>
              </a:rPr>
              <a:t>Bizzing Speak</a:t>
            </a:r>
            <a:endParaRPr lang="en-US" sz="1250" dirty="0"/>
          </a:p>
        </p:txBody>
      </p:sp>
      <p:sp>
        <p:nvSpPr>
          <p:cNvPr id="35" name="Text 27"/>
          <p:cNvSpPr/>
          <p:nvPr/>
        </p:nvSpPr>
        <p:spPr>
          <a:xfrm>
            <a:off x="2660904" y="5705856"/>
            <a:ext cx="1115568" cy="347472"/>
          </a:xfrm>
          <a:prstGeom prst="rect">
            <a:avLst/>
          </a:prstGeom>
          <a:noFill/>
          <a:ln/>
        </p:spPr>
        <p:txBody>
          <a:bodyPr wrap="square" lIns="0" tIns="0" rIns="0" bIns="0" rtlCol="0" anchor="ctr"/>
          <a:lstStyle/>
          <a:p>
            <a:pPr algn="r" indent="0" marL="0">
              <a:buNone/>
            </a:pPr>
            <a:r>
              <a:rPr lang="en-US" sz="900" i="1" dirty="0">
                <a:solidFill>
                  <a:srgbClr val="4A31B0"/>
                </a:solidFill>
                <a:latin typeface="Calibri" pitchFamily="34" charset="0"/>
                <a:ea typeface="Calibri" pitchFamily="34" charset="-122"/>
                <a:cs typeface="Calibri" pitchFamily="34" charset="-120"/>
              </a:rPr>
              <a:t>gap</a:t>
            </a:r>
            <a:endParaRPr lang="en-US" sz="900" dirty="0"/>
          </a:p>
        </p:txBody>
      </p:sp>
      <p:sp>
        <p:nvSpPr>
          <p:cNvPr id="36" name="Shape 28"/>
          <p:cNvSpPr/>
          <p:nvPr/>
        </p:nvSpPr>
        <p:spPr>
          <a:xfrm>
            <a:off x="6076188" y="2798064"/>
            <a:ext cx="0" cy="274320"/>
          </a:xfrm>
          <a:prstGeom prst="line">
            <a:avLst/>
          </a:prstGeom>
          <a:noFill/>
          <a:ln w="25400">
            <a:solidFill>
              <a:srgbClr val="E3DCF2"/>
            </a:solidFill>
            <a:prstDash val="solid"/>
          </a:ln>
        </p:spPr>
      </p:sp>
      <p:sp>
        <p:nvSpPr>
          <p:cNvPr id="37" name="Shape 29"/>
          <p:cNvSpPr/>
          <p:nvPr/>
        </p:nvSpPr>
        <p:spPr>
          <a:xfrm>
            <a:off x="4416552" y="3072384"/>
            <a:ext cx="3319272" cy="384048"/>
          </a:xfrm>
          <a:prstGeom prst="roundRect">
            <a:avLst>
              <a:gd name="adj" fmla="val 23810"/>
            </a:avLst>
          </a:prstGeom>
          <a:solidFill>
            <a:srgbClr val="F0B429"/>
          </a:solidFill>
          <a:ln/>
        </p:spPr>
      </p:sp>
      <p:sp>
        <p:nvSpPr>
          <p:cNvPr id="38" name="Text 30"/>
          <p:cNvSpPr/>
          <p:nvPr/>
        </p:nvSpPr>
        <p:spPr>
          <a:xfrm>
            <a:off x="4416552" y="3072384"/>
            <a:ext cx="3319272" cy="384048"/>
          </a:xfrm>
          <a:prstGeom prst="rect">
            <a:avLst/>
          </a:prstGeom>
          <a:noFill/>
          <a:ln/>
        </p:spPr>
        <p:txBody>
          <a:bodyPr wrap="square" lIns="0" tIns="0" rIns="0" bIns="0" rtlCol="0" anchor="ctr"/>
          <a:lstStyle/>
          <a:p>
            <a:pPr algn="ctr" indent="0" marL="0">
              <a:buNone/>
            </a:pPr>
            <a:r>
              <a:rPr lang="en-US" sz="1000" b="1" spc="160" kern="0" dirty="0">
                <a:solidFill>
                  <a:srgbClr val="241E33"/>
                </a:solidFill>
                <a:latin typeface="Calibri" pitchFamily="34" charset="0"/>
                <a:ea typeface="Calibri" pitchFamily="34" charset="-122"/>
                <a:cs typeface="Calibri" pitchFamily="34" charset="-120"/>
              </a:rPr>
              <a:t>CULTURE</a:t>
            </a:r>
            <a:endParaRPr lang="en-US" sz="1000" dirty="0"/>
          </a:p>
        </p:txBody>
      </p:sp>
      <p:sp>
        <p:nvSpPr>
          <p:cNvPr id="39" name="Shape 31"/>
          <p:cNvSpPr/>
          <p:nvPr/>
        </p:nvSpPr>
        <p:spPr>
          <a:xfrm>
            <a:off x="4416552" y="3602736"/>
            <a:ext cx="3319272" cy="347472"/>
          </a:xfrm>
          <a:prstGeom prst="roundRect">
            <a:avLst>
              <a:gd name="adj" fmla="val 23684"/>
            </a:avLst>
          </a:prstGeom>
          <a:solidFill>
            <a:srgbClr val="EFEBF8"/>
          </a:solidFill>
          <a:ln/>
        </p:spPr>
      </p:sp>
      <p:pic>
        <p:nvPicPr>
          <p:cNvPr id="40" name="Image 6" descr="preencoded.png">    </p:cNvPr>
          <p:cNvPicPr>
            <a:picLocks noChangeAspect="1"/>
          </p:cNvPicPr>
          <p:nvPr/>
        </p:nvPicPr>
        <p:blipFill>
          <a:blip r:embed="rId7"/>
          <a:stretch>
            <a:fillRect/>
          </a:stretch>
        </p:blipFill>
        <p:spPr>
          <a:xfrm>
            <a:off x="4471416" y="3621024"/>
            <a:ext cx="310896" cy="310896"/>
          </a:xfrm>
          <a:prstGeom prst="rect">
            <a:avLst/>
          </a:prstGeom>
        </p:spPr>
      </p:pic>
      <p:sp>
        <p:nvSpPr>
          <p:cNvPr id="41" name="Text 32"/>
          <p:cNvSpPr/>
          <p:nvPr/>
        </p:nvSpPr>
        <p:spPr>
          <a:xfrm>
            <a:off x="4837176" y="3602736"/>
            <a:ext cx="1508760" cy="347472"/>
          </a:xfrm>
          <a:prstGeom prst="rect">
            <a:avLst/>
          </a:prstGeom>
          <a:noFill/>
          <a:ln/>
        </p:spPr>
        <p:txBody>
          <a:bodyPr wrap="square" lIns="0" tIns="0" rIns="0" bIns="0" rtlCol="0" anchor="ctr"/>
          <a:lstStyle/>
          <a:p>
            <a:pPr indent="0" marL="0">
              <a:buNone/>
            </a:pPr>
            <a:r>
              <a:rPr lang="en-US" sz="1250" b="1" dirty="0">
                <a:solidFill>
                  <a:srgbClr val="241E33"/>
                </a:solidFill>
                <a:latin typeface="Cambria" pitchFamily="34" charset="0"/>
                <a:ea typeface="Cambria" pitchFamily="34" charset="-122"/>
                <a:cs typeface="Cambria" pitchFamily="34" charset="-120"/>
              </a:rPr>
              <a:t>Bizzing India</a:t>
            </a:r>
            <a:endParaRPr lang="en-US" sz="1250" dirty="0"/>
          </a:p>
        </p:txBody>
      </p:sp>
      <p:sp>
        <p:nvSpPr>
          <p:cNvPr id="42" name="Text 33"/>
          <p:cNvSpPr/>
          <p:nvPr/>
        </p:nvSpPr>
        <p:spPr>
          <a:xfrm>
            <a:off x="6437376" y="3602736"/>
            <a:ext cx="1115568" cy="347472"/>
          </a:xfrm>
          <a:prstGeom prst="rect">
            <a:avLst/>
          </a:prstGeom>
          <a:noFill/>
          <a:ln/>
        </p:spPr>
        <p:txBody>
          <a:bodyPr wrap="square" lIns="0" tIns="0" rIns="0" bIns="0" rtlCol="0" anchor="ctr"/>
          <a:lstStyle/>
          <a:p>
            <a:pPr algn="r" indent="0" marL="0">
              <a:buNone/>
            </a:pPr>
            <a:r>
              <a:rPr lang="en-US" sz="900" i="1" dirty="0">
                <a:solidFill>
                  <a:srgbClr val="4A31B0"/>
                </a:solidFill>
                <a:latin typeface="Calibri" pitchFamily="34" charset="0"/>
                <a:ea typeface="Calibri" pitchFamily="34" charset="-122"/>
                <a:cs typeface="Calibri" pitchFamily="34" charset="-120"/>
              </a:rPr>
              <a:t>free hook</a:t>
            </a:r>
            <a:endParaRPr lang="en-US" sz="900" dirty="0"/>
          </a:p>
        </p:txBody>
      </p:sp>
      <p:sp>
        <p:nvSpPr>
          <p:cNvPr id="43" name="Shape 34"/>
          <p:cNvSpPr/>
          <p:nvPr/>
        </p:nvSpPr>
        <p:spPr>
          <a:xfrm>
            <a:off x="4727448" y="4023360"/>
            <a:ext cx="3008376" cy="347472"/>
          </a:xfrm>
          <a:prstGeom prst="roundRect">
            <a:avLst>
              <a:gd name="adj" fmla="val 23684"/>
            </a:avLst>
          </a:prstGeom>
          <a:solidFill>
            <a:srgbClr val="EFEBF8"/>
          </a:solidFill>
          <a:ln/>
        </p:spPr>
      </p:sp>
      <p:pic>
        <p:nvPicPr>
          <p:cNvPr id="44" name="Image 7" descr="preencoded.png">    </p:cNvPr>
          <p:cNvPicPr>
            <a:picLocks noChangeAspect="1"/>
          </p:cNvPicPr>
          <p:nvPr/>
        </p:nvPicPr>
        <p:blipFill>
          <a:blip r:embed="rId8"/>
          <a:stretch>
            <a:fillRect/>
          </a:stretch>
        </p:blipFill>
        <p:spPr>
          <a:xfrm>
            <a:off x="4782312" y="4041648"/>
            <a:ext cx="310896" cy="310896"/>
          </a:xfrm>
          <a:prstGeom prst="rect">
            <a:avLst/>
          </a:prstGeom>
        </p:spPr>
      </p:pic>
      <p:sp>
        <p:nvSpPr>
          <p:cNvPr id="45" name="Text 35"/>
          <p:cNvSpPr/>
          <p:nvPr/>
        </p:nvSpPr>
        <p:spPr>
          <a:xfrm>
            <a:off x="5148072" y="4023360"/>
            <a:ext cx="1197864" cy="347472"/>
          </a:xfrm>
          <a:prstGeom prst="rect">
            <a:avLst/>
          </a:prstGeom>
          <a:noFill/>
          <a:ln/>
        </p:spPr>
        <p:txBody>
          <a:bodyPr wrap="square" lIns="0" tIns="0" rIns="0" bIns="0" rtlCol="0" anchor="ctr"/>
          <a:lstStyle/>
          <a:p>
            <a:pPr indent="0" marL="0">
              <a:buNone/>
            </a:pPr>
            <a:r>
              <a:rPr lang="en-US" sz="1250" b="1" dirty="0">
                <a:solidFill>
                  <a:srgbClr val="241E33"/>
                </a:solidFill>
                <a:latin typeface="Cambria" pitchFamily="34" charset="0"/>
                <a:ea typeface="Cambria" pitchFamily="34" charset="-122"/>
                <a:cs typeface="Cambria" pitchFamily="34" charset="-120"/>
              </a:rPr>
              <a:t>Bizzing Bhasha</a:t>
            </a:r>
            <a:endParaRPr lang="en-US" sz="1250" dirty="0"/>
          </a:p>
        </p:txBody>
      </p:sp>
      <p:sp>
        <p:nvSpPr>
          <p:cNvPr id="46" name="Text 36"/>
          <p:cNvSpPr/>
          <p:nvPr/>
        </p:nvSpPr>
        <p:spPr>
          <a:xfrm>
            <a:off x="6437376" y="4023360"/>
            <a:ext cx="1115568" cy="347472"/>
          </a:xfrm>
          <a:prstGeom prst="rect">
            <a:avLst/>
          </a:prstGeom>
          <a:noFill/>
          <a:ln/>
        </p:spPr>
        <p:txBody>
          <a:bodyPr wrap="square" lIns="0" tIns="0" rIns="0" bIns="0" rtlCol="0" anchor="ctr"/>
          <a:lstStyle/>
          <a:p>
            <a:pPr algn="r" indent="0" marL="0">
              <a:buNone/>
            </a:pPr>
            <a:r>
              <a:rPr lang="en-US" sz="900" i="1" dirty="0">
                <a:solidFill>
                  <a:srgbClr val="4A31B0"/>
                </a:solidFill>
                <a:latin typeface="Calibri" pitchFamily="34" charset="0"/>
                <a:ea typeface="Calibri" pitchFamily="34" charset="-122"/>
                <a:cs typeface="Calibri" pitchFamily="34" charset="-120"/>
              </a:rPr>
              <a:t>paid pack</a:t>
            </a:r>
            <a:endParaRPr lang="en-US" sz="900" dirty="0"/>
          </a:p>
        </p:txBody>
      </p:sp>
      <p:sp>
        <p:nvSpPr>
          <p:cNvPr id="47" name="Shape 37"/>
          <p:cNvSpPr/>
          <p:nvPr/>
        </p:nvSpPr>
        <p:spPr>
          <a:xfrm>
            <a:off x="9852660" y="2798064"/>
            <a:ext cx="0" cy="274320"/>
          </a:xfrm>
          <a:prstGeom prst="line">
            <a:avLst/>
          </a:prstGeom>
          <a:noFill/>
          <a:ln w="25400">
            <a:solidFill>
              <a:srgbClr val="E3DCF2"/>
            </a:solidFill>
            <a:prstDash val="solid"/>
          </a:ln>
        </p:spPr>
      </p:sp>
      <p:sp>
        <p:nvSpPr>
          <p:cNvPr id="48" name="Shape 38"/>
          <p:cNvSpPr/>
          <p:nvPr/>
        </p:nvSpPr>
        <p:spPr>
          <a:xfrm>
            <a:off x="8193024" y="3072384"/>
            <a:ext cx="3319272" cy="384048"/>
          </a:xfrm>
          <a:prstGeom prst="roundRect">
            <a:avLst>
              <a:gd name="adj" fmla="val 23810"/>
            </a:avLst>
          </a:prstGeom>
          <a:solidFill>
            <a:srgbClr val="178A4C"/>
          </a:solidFill>
          <a:ln/>
        </p:spPr>
      </p:sp>
      <p:sp>
        <p:nvSpPr>
          <p:cNvPr id="49" name="Text 39"/>
          <p:cNvSpPr/>
          <p:nvPr/>
        </p:nvSpPr>
        <p:spPr>
          <a:xfrm>
            <a:off x="8193024" y="3072384"/>
            <a:ext cx="3319272" cy="384048"/>
          </a:xfrm>
          <a:prstGeom prst="rect">
            <a:avLst/>
          </a:prstGeom>
          <a:noFill/>
          <a:ln/>
        </p:spPr>
        <p:txBody>
          <a:bodyPr wrap="square" lIns="0" tIns="0" rIns="0" bIns="0" rtlCol="0" anchor="ctr"/>
          <a:lstStyle/>
          <a:p>
            <a:pPr algn="ctr" indent="0" marL="0">
              <a:buNone/>
            </a:pPr>
            <a:r>
              <a:rPr lang="en-US" sz="1000" b="1" spc="160" kern="0" dirty="0">
                <a:solidFill>
                  <a:srgbClr val="FFFFFF"/>
                </a:solidFill>
                <a:latin typeface="Calibri" pitchFamily="34" charset="0"/>
                <a:ea typeface="Calibri" pitchFamily="34" charset="-122"/>
                <a:cs typeface="Calibri" pitchFamily="34" charset="-120"/>
              </a:rPr>
              <a:t>NUMBERS &amp; THE WORLD</a:t>
            </a:r>
            <a:endParaRPr lang="en-US" sz="1000" dirty="0"/>
          </a:p>
        </p:txBody>
      </p:sp>
      <p:sp>
        <p:nvSpPr>
          <p:cNvPr id="50" name="Shape 40"/>
          <p:cNvSpPr/>
          <p:nvPr/>
        </p:nvSpPr>
        <p:spPr>
          <a:xfrm>
            <a:off x="8193024" y="3602736"/>
            <a:ext cx="3319272" cy="347472"/>
          </a:xfrm>
          <a:prstGeom prst="roundRect">
            <a:avLst>
              <a:gd name="adj" fmla="val 23684"/>
            </a:avLst>
          </a:prstGeom>
          <a:solidFill>
            <a:srgbClr val="EFEBF8"/>
          </a:solidFill>
          <a:ln/>
        </p:spPr>
      </p:sp>
      <p:pic>
        <p:nvPicPr>
          <p:cNvPr id="51" name="Image 8" descr="preencoded.png">    </p:cNvPr>
          <p:cNvPicPr>
            <a:picLocks noChangeAspect="1"/>
          </p:cNvPicPr>
          <p:nvPr/>
        </p:nvPicPr>
        <p:blipFill>
          <a:blip r:embed="rId9"/>
          <a:stretch>
            <a:fillRect/>
          </a:stretch>
        </p:blipFill>
        <p:spPr>
          <a:xfrm>
            <a:off x="8247888" y="3621024"/>
            <a:ext cx="310896" cy="310896"/>
          </a:xfrm>
          <a:prstGeom prst="rect">
            <a:avLst/>
          </a:prstGeom>
        </p:spPr>
      </p:pic>
      <p:sp>
        <p:nvSpPr>
          <p:cNvPr id="52" name="Text 41"/>
          <p:cNvSpPr/>
          <p:nvPr/>
        </p:nvSpPr>
        <p:spPr>
          <a:xfrm>
            <a:off x="8613648" y="3602736"/>
            <a:ext cx="1508760" cy="347472"/>
          </a:xfrm>
          <a:prstGeom prst="rect">
            <a:avLst/>
          </a:prstGeom>
          <a:noFill/>
          <a:ln/>
        </p:spPr>
        <p:txBody>
          <a:bodyPr wrap="square" lIns="0" tIns="0" rIns="0" bIns="0" rtlCol="0" anchor="ctr"/>
          <a:lstStyle/>
          <a:p>
            <a:pPr indent="0" marL="0">
              <a:buNone/>
            </a:pPr>
            <a:r>
              <a:rPr lang="en-US" sz="1250" b="1" dirty="0">
                <a:solidFill>
                  <a:srgbClr val="241E33"/>
                </a:solidFill>
                <a:latin typeface="Cambria" pitchFamily="34" charset="0"/>
                <a:ea typeface="Cambria" pitchFamily="34" charset="-122"/>
                <a:cs typeface="Cambria" pitchFamily="34" charset="-120"/>
              </a:rPr>
              <a:t>Bizzing Maths</a:t>
            </a:r>
            <a:endParaRPr lang="en-US" sz="1250" dirty="0"/>
          </a:p>
        </p:txBody>
      </p:sp>
      <p:sp>
        <p:nvSpPr>
          <p:cNvPr id="53" name="Text 42"/>
          <p:cNvSpPr/>
          <p:nvPr/>
        </p:nvSpPr>
        <p:spPr>
          <a:xfrm>
            <a:off x="10213848" y="3602736"/>
            <a:ext cx="1115568" cy="347472"/>
          </a:xfrm>
          <a:prstGeom prst="rect">
            <a:avLst/>
          </a:prstGeom>
          <a:noFill/>
          <a:ln/>
        </p:spPr>
        <p:txBody>
          <a:bodyPr wrap="square" lIns="0" tIns="0" rIns="0" bIns="0" rtlCol="0" anchor="ctr"/>
          <a:lstStyle/>
          <a:p>
            <a:pPr algn="r" indent="0" marL="0">
              <a:buNone/>
            </a:pPr>
            <a:r>
              <a:rPr lang="en-US" sz="900" i="1" dirty="0">
                <a:solidFill>
                  <a:srgbClr val="4A31B0"/>
                </a:solidFill>
                <a:latin typeface="Calibri" pitchFamily="34" charset="0"/>
                <a:ea typeface="Calibri" pitchFamily="34" charset="-122"/>
                <a:cs typeface="Calibri" pitchFamily="34" charset="-120"/>
              </a:rPr>
              <a:t>planned</a:t>
            </a:r>
            <a:endParaRPr lang="en-US" sz="900" dirty="0"/>
          </a:p>
        </p:txBody>
      </p:sp>
      <p:sp>
        <p:nvSpPr>
          <p:cNvPr id="54" name="Shape 43"/>
          <p:cNvSpPr/>
          <p:nvPr/>
        </p:nvSpPr>
        <p:spPr>
          <a:xfrm>
            <a:off x="8193024" y="4023360"/>
            <a:ext cx="3319272" cy="347472"/>
          </a:xfrm>
          <a:prstGeom prst="roundRect">
            <a:avLst>
              <a:gd name="adj" fmla="val 23684"/>
            </a:avLst>
          </a:prstGeom>
          <a:solidFill>
            <a:srgbClr val="EFEBF8"/>
          </a:solidFill>
          <a:ln/>
        </p:spPr>
      </p:sp>
      <p:sp>
        <p:nvSpPr>
          <p:cNvPr id="55" name="Text 44"/>
          <p:cNvSpPr/>
          <p:nvPr/>
        </p:nvSpPr>
        <p:spPr>
          <a:xfrm>
            <a:off x="8613648" y="4023360"/>
            <a:ext cx="1508760" cy="347472"/>
          </a:xfrm>
          <a:prstGeom prst="rect">
            <a:avLst/>
          </a:prstGeom>
          <a:noFill/>
          <a:ln/>
        </p:spPr>
        <p:txBody>
          <a:bodyPr wrap="square" lIns="0" tIns="0" rIns="0" bIns="0" rtlCol="0" anchor="ctr"/>
          <a:lstStyle/>
          <a:p>
            <a:pPr indent="0" marL="0">
              <a:buNone/>
            </a:pPr>
            <a:r>
              <a:rPr lang="en-US" sz="1250" b="1" dirty="0">
                <a:solidFill>
                  <a:srgbClr val="241E33"/>
                </a:solidFill>
                <a:latin typeface="Cambria" pitchFamily="34" charset="0"/>
                <a:ea typeface="Cambria" pitchFamily="34" charset="-122"/>
                <a:cs typeface="Cambria" pitchFamily="34" charset="-120"/>
              </a:rPr>
              <a:t>Bizzing Finance</a:t>
            </a:r>
            <a:endParaRPr lang="en-US" sz="1250" dirty="0"/>
          </a:p>
        </p:txBody>
      </p:sp>
      <p:sp>
        <p:nvSpPr>
          <p:cNvPr id="56" name="Text 45"/>
          <p:cNvSpPr/>
          <p:nvPr/>
        </p:nvSpPr>
        <p:spPr>
          <a:xfrm>
            <a:off x="10213848" y="4023360"/>
            <a:ext cx="1115568" cy="347472"/>
          </a:xfrm>
          <a:prstGeom prst="rect">
            <a:avLst/>
          </a:prstGeom>
          <a:noFill/>
          <a:ln/>
        </p:spPr>
        <p:txBody>
          <a:bodyPr wrap="square" lIns="0" tIns="0" rIns="0" bIns="0" rtlCol="0" anchor="ctr"/>
          <a:lstStyle/>
          <a:p>
            <a:pPr algn="r" indent="0" marL="0">
              <a:buNone/>
            </a:pPr>
            <a:r>
              <a:rPr lang="en-US" sz="900" i="1" dirty="0">
                <a:solidFill>
                  <a:srgbClr val="4A31B0"/>
                </a:solidFill>
                <a:latin typeface="Calibri" pitchFamily="34" charset="0"/>
                <a:ea typeface="Calibri" pitchFamily="34" charset="-122"/>
                <a:cs typeface="Calibri" pitchFamily="34" charset="-120"/>
              </a:rPr>
              <a:t>in flight</a:t>
            </a:r>
            <a:endParaRPr lang="en-US" sz="900" dirty="0"/>
          </a:p>
        </p:txBody>
      </p:sp>
      <p:sp>
        <p:nvSpPr>
          <p:cNvPr id="57" name="Shape 46"/>
          <p:cNvSpPr/>
          <p:nvPr/>
        </p:nvSpPr>
        <p:spPr>
          <a:xfrm>
            <a:off x="8193024" y="4443984"/>
            <a:ext cx="3319272" cy="347472"/>
          </a:xfrm>
          <a:prstGeom prst="roundRect">
            <a:avLst>
              <a:gd name="adj" fmla="val 23684"/>
            </a:avLst>
          </a:prstGeom>
          <a:solidFill>
            <a:srgbClr val="EFEBF8"/>
          </a:solidFill>
          <a:ln/>
        </p:spPr>
      </p:sp>
      <p:pic>
        <p:nvPicPr>
          <p:cNvPr id="58" name="Image 9" descr="preencoded.png">    </p:cNvPr>
          <p:cNvPicPr>
            <a:picLocks noChangeAspect="1"/>
          </p:cNvPicPr>
          <p:nvPr/>
        </p:nvPicPr>
        <p:blipFill>
          <a:blip r:embed="rId10"/>
          <a:stretch>
            <a:fillRect/>
          </a:stretch>
        </p:blipFill>
        <p:spPr>
          <a:xfrm>
            <a:off x="8247888" y="4462272"/>
            <a:ext cx="310896" cy="310896"/>
          </a:xfrm>
          <a:prstGeom prst="rect">
            <a:avLst/>
          </a:prstGeom>
        </p:spPr>
      </p:pic>
      <p:sp>
        <p:nvSpPr>
          <p:cNvPr id="59" name="Text 47"/>
          <p:cNvSpPr/>
          <p:nvPr/>
        </p:nvSpPr>
        <p:spPr>
          <a:xfrm>
            <a:off x="8613648" y="4443984"/>
            <a:ext cx="1508760" cy="347472"/>
          </a:xfrm>
          <a:prstGeom prst="rect">
            <a:avLst/>
          </a:prstGeom>
          <a:noFill/>
          <a:ln/>
        </p:spPr>
        <p:txBody>
          <a:bodyPr wrap="square" lIns="0" tIns="0" rIns="0" bIns="0" rtlCol="0" anchor="ctr"/>
          <a:lstStyle/>
          <a:p>
            <a:pPr indent="0" marL="0">
              <a:buNone/>
            </a:pPr>
            <a:r>
              <a:rPr lang="en-US" sz="1250" b="1" dirty="0">
                <a:solidFill>
                  <a:srgbClr val="241E33"/>
                </a:solidFill>
                <a:latin typeface="Cambria" pitchFamily="34" charset="0"/>
                <a:ea typeface="Cambria" pitchFamily="34" charset="-122"/>
                <a:cs typeface="Cambria" pitchFamily="34" charset="-120"/>
              </a:rPr>
              <a:t>Bizzing Business</a:t>
            </a:r>
            <a:endParaRPr lang="en-US" sz="1250" dirty="0"/>
          </a:p>
        </p:txBody>
      </p:sp>
      <p:sp>
        <p:nvSpPr>
          <p:cNvPr id="60" name="Text 48"/>
          <p:cNvSpPr/>
          <p:nvPr/>
        </p:nvSpPr>
        <p:spPr>
          <a:xfrm>
            <a:off x="10213848" y="4443984"/>
            <a:ext cx="1115568" cy="347472"/>
          </a:xfrm>
          <a:prstGeom prst="rect">
            <a:avLst/>
          </a:prstGeom>
          <a:noFill/>
          <a:ln/>
        </p:spPr>
        <p:txBody>
          <a:bodyPr wrap="square" lIns="0" tIns="0" rIns="0" bIns="0" rtlCol="0" anchor="ctr"/>
          <a:lstStyle/>
          <a:p>
            <a:pPr algn="r" indent="0" marL="0">
              <a:buNone/>
            </a:pPr>
            <a:r>
              <a:rPr lang="en-US" sz="900" i="1" dirty="0">
                <a:solidFill>
                  <a:srgbClr val="4A31B0"/>
                </a:solidFill>
                <a:latin typeface="Calibri" pitchFamily="34" charset="0"/>
                <a:ea typeface="Calibri" pitchFamily="34" charset="-122"/>
                <a:cs typeface="Calibri" pitchFamily="34" charset="-120"/>
              </a:rPr>
              <a:t>committed</a:t>
            </a:r>
            <a:endParaRPr lang="en-US" sz="900" dirty="0"/>
          </a:p>
        </p:txBody>
      </p:sp>
      <p:sp>
        <p:nvSpPr>
          <p:cNvPr id="61" name="Shape 49"/>
          <p:cNvSpPr/>
          <p:nvPr/>
        </p:nvSpPr>
        <p:spPr>
          <a:xfrm>
            <a:off x="8193024" y="4864608"/>
            <a:ext cx="3319272" cy="347472"/>
          </a:xfrm>
          <a:prstGeom prst="roundRect">
            <a:avLst>
              <a:gd name="adj" fmla="val 23684"/>
            </a:avLst>
          </a:prstGeom>
          <a:solidFill>
            <a:srgbClr val="EFEBF8"/>
          </a:solidFill>
          <a:ln/>
        </p:spPr>
      </p:sp>
      <p:pic>
        <p:nvPicPr>
          <p:cNvPr id="62" name="Image 10" descr="preencoded.png">    </p:cNvPr>
          <p:cNvPicPr>
            <a:picLocks noChangeAspect="1"/>
          </p:cNvPicPr>
          <p:nvPr/>
        </p:nvPicPr>
        <p:blipFill>
          <a:blip r:embed="rId11"/>
          <a:stretch>
            <a:fillRect/>
          </a:stretch>
        </p:blipFill>
        <p:spPr>
          <a:xfrm>
            <a:off x="8247888" y="4882896"/>
            <a:ext cx="310896" cy="310896"/>
          </a:xfrm>
          <a:prstGeom prst="rect">
            <a:avLst/>
          </a:prstGeom>
        </p:spPr>
      </p:pic>
      <p:sp>
        <p:nvSpPr>
          <p:cNvPr id="63" name="Text 50"/>
          <p:cNvSpPr/>
          <p:nvPr/>
        </p:nvSpPr>
        <p:spPr>
          <a:xfrm>
            <a:off x="8613648" y="4864608"/>
            <a:ext cx="1508760" cy="347472"/>
          </a:xfrm>
          <a:prstGeom prst="rect">
            <a:avLst/>
          </a:prstGeom>
          <a:noFill/>
          <a:ln/>
        </p:spPr>
        <p:txBody>
          <a:bodyPr wrap="square" lIns="0" tIns="0" rIns="0" bIns="0" rtlCol="0" anchor="ctr"/>
          <a:lstStyle/>
          <a:p>
            <a:pPr indent="0" marL="0">
              <a:buNone/>
            </a:pPr>
            <a:r>
              <a:rPr lang="en-US" sz="1250" b="1" dirty="0">
                <a:solidFill>
                  <a:srgbClr val="241E33"/>
                </a:solidFill>
                <a:latin typeface="Cambria" pitchFamily="34" charset="0"/>
                <a:ea typeface="Cambria" pitchFamily="34" charset="-122"/>
                <a:cs typeface="Cambria" pitchFamily="34" charset="-120"/>
              </a:rPr>
              <a:t>Bizzing Quiz</a:t>
            </a:r>
            <a:endParaRPr lang="en-US" sz="1250" dirty="0"/>
          </a:p>
        </p:txBody>
      </p:sp>
      <p:sp>
        <p:nvSpPr>
          <p:cNvPr id="64" name="Text 51"/>
          <p:cNvSpPr/>
          <p:nvPr/>
        </p:nvSpPr>
        <p:spPr>
          <a:xfrm>
            <a:off x="10213848" y="4864608"/>
            <a:ext cx="1115568" cy="347472"/>
          </a:xfrm>
          <a:prstGeom prst="rect">
            <a:avLst/>
          </a:prstGeom>
          <a:noFill/>
          <a:ln/>
        </p:spPr>
        <p:txBody>
          <a:bodyPr wrap="square" lIns="0" tIns="0" rIns="0" bIns="0" rtlCol="0" anchor="ctr"/>
          <a:lstStyle/>
          <a:p>
            <a:pPr algn="r" indent="0" marL="0">
              <a:buNone/>
            </a:pPr>
            <a:r>
              <a:rPr lang="en-US" sz="900" i="1" dirty="0">
                <a:solidFill>
                  <a:srgbClr val="4A31B0"/>
                </a:solidFill>
                <a:latin typeface="Calibri" pitchFamily="34" charset="0"/>
                <a:ea typeface="Calibri" pitchFamily="34" charset="-122"/>
                <a:cs typeface="Calibri" pitchFamily="34" charset="-120"/>
              </a:rPr>
              <a:t>gap</a:t>
            </a:r>
            <a:endParaRPr lang="en-US" sz="900" dirty="0"/>
          </a:p>
        </p:txBody>
      </p:sp>
      <p:sp>
        <p:nvSpPr>
          <p:cNvPr id="65" name="Text 52"/>
          <p:cNvSpPr/>
          <p:nvPr/>
        </p:nvSpPr>
        <p:spPr>
          <a:xfrm>
            <a:off x="640080" y="6144768"/>
            <a:ext cx="10607040" cy="502920"/>
          </a:xfrm>
          <a:prstGeom prst="rect">
            <a:avLst/>
          </a:prstGeom>
          <a:noFill/>
          <a:ln/>
        </p:spPr>
        <p:txBody>
          <a:bodyPr wrap="square" lIns="0" tIns="0" rIns="0" bIns="0" rtlCol="0" anchor="ctr"/>
          <a:lstStyle/>
          <a:p>
            <a:pPr indent="0" marL="0">
              <a:lnSpc>
                <a:spcPts val="1500"/>
              </a:lnSpc>
              <a:buNone/>
            </a:pPr>
            <a:r>
              <a:rPr lang="en-US" sz="1150" i="1" dirty="0">
                <a:solidFill>
                  <a:srgbClr val="7A7291"/>
                </a:solidFill>
                <a:latin typeface="Calibri" pitchFamily="34" charset="0"/>
                <a:ea typeface="Calibri" pitchFamily="34" charset="-122"/>
                <a:cs typeface="Calibri" pitchFamily="34" charset="-120"/>
              </a:rPr>
              <a:t>Twelve products named. Three already have real content behind them — Bee, India and Quiz — and the rest are still a sentence. The naming rule: sub-brands are SUBJECTS, so there is no Bizzing UK, only a UK edition of Bizzing Eleven.</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02336"/>
            <a:ext cx="7315200" cy="256032"/>
          </a:xfrm>
          <a:prstGeom prst="rect">
            <a:avLst/>
          </a:prstGeom>
          <a:noFill/>
          <a:ln/>
        </p:spPr>
        <p:txBody>
          <a:bodyPr wrap="square" lIns="0" tIns="0" rIns="0" bIns="0" rtlCol="0" anchor="ctr"/>
          <a:lstStyle/>
          <a:p>
            <a:pPr indent="0" marL="0">
              <a:buNone/>
            </a:pPr>
            <a:r>
              <a:rPr lang="en-US" sz="1150" b="1" spc="240" kern="0" dirty="0">
                <a:solidFill>
                  <a:srgbClr val="6C4FE0"/>
                </a:solidFill>
                <a:latin typeface="Calibri" pitchFamily="34" charset="0"/>
                <a:ea typeface="Calibri" pitchFamily="34" charset="-122"/>
                <a:cs typeface="Calibri" pitchFamily="34" charset="-120"/>
              </a:rPr>
              <a:t>PRODUCT 1 OF 8</a:t>
            </a:r>
            <a:endParaRPr lang="en-US" sz="1150" dirty="0"/>
          </a:p>
        </p:txBody>
      </p:sp>
      <p:sp>
        <p:nvSpPr>
          <p:cNvPr id="3" name="Text 1"/>
          <p:cNvSpPr/>
          <p:nvPr/>
        </p:nvSpPr>
        <p:spPr>
          <a:xfrm>
            <a:off x="640080" y="694944"/>
            <a:ext cx="7863840" cy="749808"/>
          </a:xfrm>
          <a:prstGeom prst="rect">
            <a:avLst/>
          </a:prstGeom>
          <a:noFill/>
          <a:ln/>
        </p:spPr>
        <p:txBody>
          <a:bodyPr wrap="square" lIns="0" tIns="0" rIns="0" bIns="0" rtlCol="0" anchor="ctr"/>
          <a:lstStyle/>
          <a:p>
            <a:pPr indent="0" marL="0">
              <a:buNone/>
            </a:pPr>
            <a:r>
              <a:rPr lang="en-US" sz="2900" b="1" dirty="0">
                <a:solidFill>
                  <a:srgbClr val="241E33"/>
                </a:solidFill>
                <a:latin typeface="Cambria" pitchFamily="34" charset="0"/>
                <a:ea typeface="Cambria" pitchFamily="34" charset="-122"/>
                <a:cs typeface="Cambria" pitchFamily="34" charset="-120"/>
              </a:rPr>
              <a:t>Bizzing Bee</a:t>
            </a:r>
            <a:endParaRPr lang="en-US" sz="2900" dirty="0"/>
          </a:p>
        </p:txBody>
      </p:sp>
      <p:pic>
        <p:nvPicPr>
          <p:cNvPr id="4" name="Image 0" descr="preencoded.png">    </p:cNvPr>
          <p:cNvPicPr>
            <a:picLocks noChangeAspect="1"/>
          </p:cNvPicPr>
          <p:nvPr/>
        </p:nvPicPr>
        <p:blipFill>
          <a:blip r:embed="rId1"/>
          <a:stretch>
            <a:fillRect/>
          </a:stretch>
        </p:blipFill>
        <p:spPr>
          <a:xfrm>
            <a:off x="10012680" y="1298448"/>
            <a:ext cx="1234440" cy="1234440"/>
          </a:xfrm>
          <a:prstGeom prst="rect">
            <a:avLst/>
          </a:prstGeom>
        </p:spPr>
      </p:pic>
      <p:sp>
        <p:nvSpPr>
          <p:cNvPr id="5" name="Shape 2"/>
          <p:cNvSpPr/>
          <p:nvPr/>
        </p:nvSpPr>
        <p:spPr>
          <a:xfrm>
            <a:off x="8732520" y="749808"/>
            <a:ext cx="2514600" cy="384048"/>
          </a:xfrm>
          <a:prstGeom prst="roundRect">
            <a:avLst>
              <a:gd name="adj" fmla="val 50000"/>
            </a:avLst>
          </a:prstGeom>
          <a:solidFill>
            <a:srgbClr val="178A4C"/>
          </a:solidFill>
          <a:ln/>
        </p:spPr>
      </p:sp>
      <p:sp>
        <p:nvSpPr>
          <p:cNvPr id="6" name="Text 3"/>
          <p:cNvSpPr/>
          <p:nvPr/>
        </p:nvSpPr>
        <p:spPr>
          <a:xfrm>
            <a:off x="8732520" y="749808"/>
            <a:ext cx="2514600" cy="384048"/>
          </a:xfrm>
          <a:prstGeom prst="rect">
            <a:avLst/>
          </a:prstGeom>
          <a:noFill/>
          <a:ln/>
        </p:spPr>
        <p:txBody>
          <a:bodyPr wrap="square" lIns="0" tIns="0" rIns="0" bIns="0" rtlCol="0" anchor="ctr"/>
          <a:lstStyle/>
          <a:p>
            <a:pPr algn="ctr" indent="0" marL="0">
              <a:buNone/>
            </a:pPr>
            <a:r>
              <a:rPr lang="en-US" sz="1000" b="1" spc="120" kern="0" dirty="0">
                <a:solidFill>
                  <a:srgbClr val="FFFFFF"/>
                </a:solidFill>
                <a:latin typeface="Calibri" pitchFamily="34" charset="0"/>
                <a:ea typeface="Calibri" pitchFamily="34" charset="-122"/>
                <a:cs typeface="Calibri" pitchFamily="34" charset="-120"/>
              </a:rPr>
              <a:t>LIVE</a:t>
            </a:r>
            <a:endParaRPr lang="en-US" sz="1000" dirty="0"/>
          </a:p>
        </p:txBody>
      </p:sp>
      <p:sp>
        <p:nvSpPr>
          <p:cNvPr id="7" name="Text 4"/>
          <p:cNvSpPr/>
          <p:nvPr/>
        </p:nvSpPr>
        <p:spPr>
          <a:xfrm>
            <a:off x="640080" y="1444752"/>
            <a:ext cx="8778240" cy="585216"/>
          </a:xfrm>
          <a:prstGeom prst="rect">
            <a:avLst/>
          </a:prstGeom>
          <a:noFill/>
          <a:ln/>
        </p:spPr>
        <p:txBody>
          <a:bodyPr wrap="square" lIns="0" tIns="0" rIns="0" bIns="0" rtlCol="0" anchor="ctr"/>
          <a:lstStyle/>
          <a:p>
            <a:pPr indent="0" marL="0">
              <a:lnSpc>
                <a:spcPts val="2100"/>
              </a:lnSpc>
              <a:buNone/>
            </a:pPr>
            <a:r>
              <a:rPr lang="en-US" sz="1600" i="1" dirty="0">
                <a:solidFill>
                  <a:srgbClr val="6C4FE0"/>
                </a:solidFill>
                <a:latin typeface="Cambria" pitchFamily="34" charset="0"/>
                <a:ea typeface="Cambria" pitchFamily="34" charset="-122"/>
                <a:cs typeface="Cambria" pitchFamily="34" charset="-120"/>
              </a:rPr>
              <a:t>The best place in the world to prepare for a spelling bee.</a:t>
            </a:r>
            <a:endParaRPr lang="en-US" sz="1600" dirty="0"/>
          </a:p>
        </p:txBody>
      </p:sp>
      <p:sp>
        <p:nvSpPr>
          <p:cNvPr id="8" name="Shape 5"/>
          <p:cNvSpPr/>
          <p:nvPr/>
        </p:nvSpPr>
        <p:spPr>
          <a:xfrm rot="5400000">
            <a:off x="640080" y="2103120"/>
            <a:ext cx="457200" cy="457200"/>
          </a:xfrm>
          <a:prstGeom prst="hexagon">
            <a:avLst/>
          </a:prstGeom>
          <a:solidFill>
            <a:srgbClr val="6C4FE0"/>
          </a:solidFill>
          <a:ln/>
        </p:spPr>
      </p:sp>
      <p:sp>
        <p:nvSpPr>
          <p:cNvPr id="9" name="Text 6"/>
          <p:cNvSpPr/>
          <p:nvPr/>
        </p:nvSpPr>
        <p:spPr>
          <a:xfrm>
            <a:off x="640080" y="2103120"/>
            <a:ext cx="457200" cy="45720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WHY</a:t>
            </a:r>
            <a:endParaRPr lang="en-US" sz="850" dirty="0"/>
          </a:p>
        </p:txBody>
      </p:sp>
      <p:sp>
        <p:nvSpPr>
          <p:cNvPr id="10" name="Text 7"/>
          <p:cNvSpPr/>
          <p:nvPr/>
        </p:nvSpPr>
        <p:spPr>
          <a:xfrm>
            <a:off x="1261872" y="2084832"/>
            <a:ext cx="4114800" cy="1280160"/>
          </a:xfrm>
          <a:prstGeom prst="rect">
            <a:avLst/>
          </a:prstGeom>
          <a:noFill/>
          <a:ln/>
        </p:spPr>
        <p:txBody>
          <a:bodyPr wrap="square" lIns="0" tIns="0" rIns="0" bIns="0" rtlCol="0" anchor="ctr"/>
          <a:lstStyle/>
          <a:p>
            <a:pPr indent="0" marL="0">
              <a:lnSpc>
                <a:spcPts val="1550"/>
              </a:lnSpc>
              <a:buNone/>
            </a:pPr>
            <a:r>
              <a:rPr lang="en-US" sz="1150" dirty="0">
                <a:solidFill>
                  <a:srgbClr val="4A4360"/>
                </a:solidFill>
                <a:latin typeface="Calibri" pitchFamily="34" charset="0"/>
                <a:ea typeface="Calibri" pitchFamily="34" charset="-122"/>
                <a:cs typeface="Calibri" pitchFamily="34" charset="-120"/>
              </a:rPr>
              <a:t>The one competition this community already organises around, and dominates. The demand exists; we neither create it nor explain it.</a:t>
            </a:r>
            <a:endParaRPr lang="en-US" sz="1150" dirty="0"/>
          </a:p>
        </p:txBody>
      </p:sp>
      <p:sp>
        <p:nvSpPr>
          <p:cNvPr id="11" name="Shape 8"/>
          <p:cNvSpPr/>
          <p:nvPr/>
        </p:nvSpPr>
        <p:spPr>
          <a:xfrm rot="5400000">
            <a:off x="640080" y="3493008"/>
            <a:ext cx="457200" cy="457200"/>
          </a:xfrm>
          <a:prstGeom prst="hexagon">
            <a:avLst/>
          </a:prstGeom>
          <a:solidFill>
            <a:srgbClr val="F0B429"/>
          </a:solidFill>
          <a:ln/>
        </p:spPr>
      </p:sp>
      <p:sp>
        <p:nvSpPr>
          <p:cNvPr id="12" name="Text 9"/>
          <p:cNvSpPr/>
          <p:nvPr/>
        </p:nvSpPr>
        <p:spPr>
          <a:xfrm>
            <a:off x="640080" y="3493008"/>
            <a:ext cx="457200" cy="457200"/>
          </a:xfrm>
          <a:prstGeom prst="rect">
            <a:avLst/>
          </a:prstGeom>
          <a:noFill/>
          <a:ln/>
        </p:spPr>
        <p:txBody>
          <a:bodyPr wrap="square" lIns="0" tIns="0" rIns="0" bIns="0" rtlCol="0" anchor="ctr"/>
          <a:lstStyle/>
          <a:p>
            <a:pPr algn="ctr" indent="0" marL="0">
              <a:buNone/>
            </a:pPr>
            <a:r>
              <a:rPr lang="en-US" sz="850" b="1" dirty="0">
                <a:solidFill>
                  <a:srgbClr val="241E33"/>
                </a:solidFill>
                <a:latin typeface="Calibri" pitchFamily="34" charset="0"/>
                <a:ea typeface="Calibri" pitchFamily="34" charset="-122"/>
                <a:cs typeface="Calibri" pitchFamily="34" charset="-120"/>
              </a:rPr>
              <a:t>WHAT</a:t>
            </a:r>
            <a:endParaRPr lang="en-US" sz="850" dirty="0"/>
          </a:p>
        </p:txBody>
      </p:sp>
      <p:sp>
        <p:nvSpPr>
          <p:cNvPr id="13" name="Text 10"/>
          <p:cNvSpPr/>
          <p:nvPr/>
        </p:nvSpPr>
        <p:spPr>
          <a:xfrm>
            <a:off x="1261872" y="3474720"/>
            <a:ext cx="4114800" cy="1280160"/>
          </a:xfrm>
          <a:prstGeom prst="rect">
            <a:avLst/>
          </a:prstGeom>
          <a:noFill/>
          <a:ln/>
        </p:spPr>
        <p:txBody>
          <a:bodyPr wrap="square" lIns="0" tIns="0" rIns="0" bIns="0" rtlCol="0" anchor="ctr"/>
          <a:lstStyle/>
          <a:p>
            <a:pPr indent="0" marL="0">
              <a:lnSpc>
                <a:spcPts val="1550"/>
              </a:lnSpc>
              <a:buNone/>
            </a:pPr>
            <a:r>
              <a:rPr lang="en-US" sz="1150" dirty="0">
                <a:solidFill>
                  <a:srgbClr val="4A4360"/>
                </a:solidFill>
                <a:latin typeface="Calibri" pitchFamily="34" charset="0"/>
                <a:ea typeface="Calibri" pitchFamily="34" charset="-122"/>
                <a:cs typeface="Calibri" pitchFamily="34" charset="-120"/>
              </a:rPr>
              <a:t>128,491 words with every one spoken aloud, a mapped journey, 164 concept chapters, an arcade, and a mock bee against ten simulated rivals.</a:t>
            </a:r>
            <a:endParaRPr lang="en-US" sz="1150" dirty="0"/>
          </a:p>
        </p:txBody>
      </p:sp>
      <p:sp>
        <p:nvSpPr>
          <p:cNvPr id="14" name="Shape 11"/>
          <p:cNvSpPr/>
          <p:nvPr/>
        </p:nvSpPr>
        <p:spPr>
          <a:xfrm rot="5400000">
            <a:off x="640080" y="4882896"/>
            <a:ext cx="457200" cy="457200"/>
          </a:xfrm>
          <a:prstGeom prst="hexagon">
            <a:avLst/>
          </a:prstGeom>
          <a:solidFill>
            <a:srgbClr val="6C4FE0"/>
          </a:solidFill>
          <a:ln/>
        </p:spPr>
      </p:sp>
      <p:sp>
        <p:nvSpPr>
          <p:cNvPr id="15" name="Text 12"/>
          <p:cNvSpPr/>
          <p:nvPr/>
        </p:nvSpPr>
        <p:spPr>
          <a:xfrm>
            <a:off x="640080" y="4882896"/>
            <a:ext cx="457200" cy="45720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HOW</a:t>
            </a:r>
            <a:endParaRPr lang="en-US" sz="850" dirty="0"/>
          </a:p>
        </p:txBody>
      </p:sp>
      <p:sp>
        <p:nvSpPr>
          <p:cNvPr id="16" name="Text 13"/>
          <p:cNvSpPr/>
          <p:nvPr/>
        </p:nvSpPr>
        <p:spPr>
          <a:xfrm>
            <a:off x="1261872" y="4864608"/>
            <a:ext cx="4114800" cy="1280160"/>
          </a:xfrm>
          <a:prstGeom prst="rect">
            <a:avLst/>
          </a:prstGeom>
          <a:noFill/>
          <a:ln/>
        </p:spPr>
        <p:txBody>
          <a:bodyPr wrap="square" lIns="0" tIns="0" rIns="0" bIns="0" rtlCol="0" anchor="ctr"/>
          <a:lstStyle/>
          <a:p>
            <a:pPr indent="0" marL="0">
              <a:lnSpc>
                <a:spcPts val="1550"/>
              </a:lnSpc>
              <a:buNone/>
            </a:pPr>
            <a:r>
              <a:rPr lang="en-US" sz="1150" dirty="0">
                <a:solidFill>
                  <a:srgbClr val="4A4360"/>
                </a:solidFill>
                <a:latin typeface="Calibri" pitchFamily="34" charset="0"/>
                <a:ea typeface="Calibri" pitchFamily="34" charset="-122"/>
                <a:cs typeface="Calibri" pitchFamily="34" charset="-120"/>
              </a:rPr>
              <a:t>Offline-first, no build step, no accounts required to start. Difficulty ramps on how tricky a spelling is, not on how rare the word is.</a:t>
            </a:r>
            <a:endParaRPr lang="en-US" sz="1150" dirty="0"/>
          </a:p>
        </p:txBody>
      </p:sp>
      <p:sp>
        <p:nvSpPr>
          <p:cNvPr id="17" name="Shape 14"/>
          <p:cNvSpPr/>
          <p:nvPr/>
        </p:nvSpPr>
        <p:spPr>
          <a:xfrm>
            <a:off x="5577840" y="2048256"/>
            <a:ext cx="5669280" cy="2103120"/>
          </a:xfrm>
          <a:prstGeom prst="roundRect">
            <a:avLst>
              <a:gd name="adj" fmla="val 6087"/>
            </a:avLst>
          </a:prstGeom>
          <a:solidFill>
            <a:srgbClr val="E8F4EC"/>
          </a:solidFill>
          <a:ln/>
          <a:effectLst>
            <a:outerShdw sx="100000" sy="100000" kx="0" ky="0" algn="bl" rotWithShape="0" blurRad="127000" dist="25400" dir="5400000">
              <a:srgbClr val="241E33">
                <a:alpha val="10000"/>
              </a:srgbClr>
            </a:outerShdw>
          </a:effectLst>
        </p:spPr>
      </p:sp>
      <p:sp>
        <p:nvSpPr>
          <p:cNvPr id="18" name="Text 15"/>
          <p:cNvSpPr/>
          <p:nvPr/>
        </p:nvSpPr>
        <p:spPr>
          <a:xfrm>
            <a:off x="5870448" y="2194560"/>
            <a:ext cx="5120640" cy="256032"/>
          </a:xfrm>
          <a:prstGeom prst="rect">
            <a:avLst/>
          </a:prstGeom>
          <a:noFill/>
          <a:ln/>
        </p:spPr>
        <p:txBody>
          <a:bodyPr wrap="square" lIns="0" tIns="0" rIns="0" bIns="0" rtlCol="0" anchor="ctr"/>
          <a:lstStyle/>
          <a:p>
            <a:pPr indent="0" marL="0">
              <a:buNone/>
            </a:pPr>
            <a:r>
              <a:rPr lang="en-US" sz="900" b="1" spc="180" kern="0" dirty="0">
                <a:solidFill>
                  <a:srgbClr val="178A4C"/>
                </a:solidFill>
                <a:latin typeface="Calibri" pitchFamily="34" charset="0"/>
                <a:ea typeface="Calibri" pitchFamily="34" charset="-122"/>
                <a:cs typeface="Calibri" pitchFamily="34" charset="-120"/>
              </a:rPr>
              <a:t>WHAT MAKES IT DIFFERENT</a:t>
            </a:r>
            <a:endParaRPr lang="en-US" sz="900" dirty="0"/>
          </a:p>
        </p:txBody>
      </p:sp>
      <p:sp>
        <p:nvSpPr>
          <p:cNvPr id="19" name="Text 16"/>
          <p:cNvSpPr/>
          <p:nvPr/>
        </p:nvSpPr>
        <p:spPr>
          <a:xfrm>
            <a:off x="5907024" y="2487168"/>
            <a:ext cx="5074920" cy="1554480"/>
          </a:xfrm>
          <a:prstGeom prst="rect">
            <a:avLst/>
          </a:prstGeom>
          <a:noFill/>
          <a:ln/>
        </p:spPr>
        <p:txBody>
          <a:bodyPr wrap="square" lIns="0" tIns="0" rIns="0" bIns="0" rtlCol="0" anchor="ctr"/>
          <a:lstStyle/>
          <a:p>
            <a:pPr marL="342900" indent="-342900">
              <a:lnSpc>
                <a:spcPts val="1400"/>
              </a:lnSpc>
              <a:spcAft>
                <a:spcPts val="600"/>
              </a:spcAft>
              <a:buSzPct val="100000"/>
              <a:buChar char="•"/>
            </a:pPr>
            <a:r>
              <a:rPr lang="en-US" sz="1050" dirty="0">
                <a:solidFill>
                  <a:srgbClr val="1F4A33"/>
                </a:solidFill>
                <a:latin typeface="Calibri" pitchFamily="34" charset="0"/>
                <a:ea typeface="Calibri" pitchFamily="34" charset="-122"/>
                <a:cs typeface="Calibri" pitchFamily="34" charset="-120"/>
              </a:rPr>
              <a:t>Difficulty is measured by TRICKINESS, not rarity — a silent letter beats a long word. Nothing else on the market does this.</a:t>
            </a:r>
            <a:endParaRPr lang="en-US" sz="1050" dirty="0"/>
          </a:p>
          <a:p>
            <a:pPr marL="342900" indent="-342900">
              <a:lnSpc>
                <a:spcPts val="1400"/>
              </a:lnSpc>
              <a:spcAft>
                <a:spcPts val="600"/>
              </a:spcAft>
              <a:buSzPct val="100000"/>
              <a:buChar char="•"/>
            </a:pPr>
            <a:r>
              <a:rPr lang="en-US" sz="1050" dirty="0">
                <a:solidFill>
                  <a:srgbClr val="1F4A33"/>
                </a:solidFill>
                <a:latin typeface="Calibri" pitchFamily="34" charset="0"/>
                <a:ea typeface="Calibri" pitchFamily="34" charset="-122"/>
                <a:cs typeface="Calibri" pitchFamily="34" charset="-120"/>
              </a:rPr>
              <a:t>Every one of 128k words is spoken. Competitors voice a curated few hundred.</a:t>
            </a:r>
            <a:endParaRPr lang="en-US" sz="1050" dirty="0"/>
          </a:p>
          <a:p>
            <a:pPr marL="342900" indent="-342900">
              <a:lnSpc>
                <a:spcPts val="1400"/>
              </a:lnSpc>
              <a:spcAft>
                <a:spcPts val="600"/>
              </a:spcAft>
              <a:buSzPct val="100000"/>
              <a:buChar char="•"/>
            </a:pPr>
            <a:r>
              <a:rPr lang="en-US" sz="1050" dirty="0">
                <a:solidFill>
                  <a:srgbClr val="1F4A33"/>
                </a:solidFill>
                <a:latin typeface="Calibri" pitchFamily="34" charset="0"/>
                <a:ea typeface="Calibri" pitchFamily="34" charset="-122"/>
                <a:cs typeface="Calibri" pitchFamily="34" charset="-120"/>
              </a:rPr>
              <a:t>A mock bee with ten rivals who each have their own nerve, speciality and vocabulary skill.</a:t>
            </a:r>
            <a:endParaRPr lang="en-US" sz="1050" dirty="0"/>
          </a:p>
        </p:txBody>
      </p:sp>
      <p:sp>
        <p:nvSpPr>
          <p:cNvPr id="20" name="Shape 17"/>
          <p:cNvSpPr/>
          <p:nvPr/>
        </p:nvSpPr>
        <p:spPr>
          <a:xfrm>
            <a:off x="5577840" y="4315968"/>
            <a:ext cx="5669280" cy="2103120"/>
          </a:xfrm>
          <a:prstGeom prst="roundRect">
            <a:avLst>
              <a:gd name="adj" fmla="val 6087"/>
            </a:avLst>
          </a:prstGeom>
          <a:solidFill>
            <a:srgbClr val="FBF3E0"/>
          </a:solidFill>
          <a:ln/>
          <a:effectLst>
            <a:outerShdw sx="100000" sy="100000" kx="0" ky="0" algn="bl" rotWithShape="0" blurRad="127000" dist="25400" dir="5400000">
              <a:srgbClr val="241E33">
                <a:alpha val="10000"/>
              </a:srgbClr>
            </a:outerShdw>
          </a:effectLst>
        </p:spPr>
      </p:sp>
      <p:sp>
        <p:nvSpPr>
          <p:cNvPr id="21" name="Text 18"/>
          <p:cNvSpPr/>
          <p:nvPr/>
        </p:nvSpPr>
        <p:spPr>
          <a:xfrm>
            <a:off x="5870448" y="4462272"/>
            <a:ext cx="5120640" cy="256032"/>
          </a:xfrm>
          <a:prstGeom prst="rect">
            <a:avLst/>
          </a:prstGeom>
          <a:noFill/>
          <a:ln/>
        </p:spPr>
        <p:txBody>
          <a:bodyPr wrap="square" lIns="0" tIns="0" rIns="0" bIns="0" rtlCol="0" anchor="ctr"/>
          <a:lstStyle/>
          <a:p>
            <a:pPr indent="0" marL="0">
              <a:buNone/>
            </a:pPr>
            <a:r>
              <a:rPr lang="en-US" sz="900" b="1" spc="180" kern="0" dirty="0">
                <a:solidFill>
                  <a:srgbClr val="8A5B00"/>
                </a:solidFill>
                <a:latin typeface="Calibri" pitchFamily="34" charset="0"/>
                <a:ea typeface="Calibri" pitchFamily="34" charset="-122"/>
                <a:cs typeface="Calibri" pitchFamily="34" charset="-120"/>
              </a:rPr>
              <a:t>WHAT STILL HAS TO BE BUILT</a:t>
            </a:r>
            <a:endParaRPr lang="en-US" sz="900" dirty="0"/>
          </a:p>
        </p:txBody>
      </p:sp>
      <p:sp>
        <p:nvSpPr>
          <p:cNvPr id="22" name="Text 19"/>
          <p:cNvSpPr/>
          <p:nvPr/>
        </p:nvSpPr>
        <p:spPr>
          <a:xfrm>
            <a:off x="5907024" y="4754880"/>
            <a:ext cx="5074920" cy="1554480"/>
          </a:xfrm>
          <a:prstGeom prst="rect">
            <a:avLst/>
          </a:prstGeom>
          <a:noFill/>
          <a:ln/>
        </p:spPr>
        <p:txBody>
          <a:bodyPr wrap="square" lIns="0" tIns="0" rIns="0" bIns="0" rtlCol="0" anchor="ctr"/>
          <a:lstStyle/>
          <a:p>
            <a:pPr marL="342900" indent="-342900">
              <a:lnSpc>
                <a:spcPts val="1400"/>
              </a:lnSpc>
              <a:spcAft>
                <a:spcPts val="600"/>
              </a:spcAft>
              <a:buSzPct val="100000"/>
              <a:buChar char="•"/>
            </a:pPr>
            <a:r>
              <a:rPr lang="en-US" sz="1050" dirty="0">
                <a:solidFill>
                  <a:srgbClr val="8A5B00"/>
                </a:solidFill>
                <a:latin typeface="Calibri" pitchFamily="34" charset="0"/>
                <a:ea typeface="Calibri" pitchFamily="34" charset="-122"/>
                <a:cs typeface="Calibri" pitchFamily="34" charset="-120"/>
              </a:rPr>
              <a:t>A gentler on-ramp so a six-year-old is not defeated on screen one</a:t>
            </a:r>
            <a:endParaRPr lang="en-US" sz="1050" dirty="0"/>
          </a:p>
          <a:p>
            <a:pPr marL="342900" indent="-342900">
              <a:lnSpc>
                <a:spcPts val="1400"/>
              </a:lnSpc>
              <a:spcAft>
                <a:spcPts val="600"/>
              </a:spcAft>
              <a:buSzPct val="100000"/>
              <a:buChar char="•"/>
            </a:pPr>
            <a:r>
              <a:rPr lang="en-US" sz="1050" dirty="0">
                <a:solidFill>
                  <a:srgbClr val="8A5B00"/>
                </a:solidFill>
                <a:latin typeface="Calibri" pitchFamily="34" charset="0"/>
                <a:ea typeface="Calibri" pitchFamily="34" charset="-122"/>
                <a:cs typeface="Calibri" pitchFamily="34" charset="-120"/>
              </a:rPr>
              <a:t>Parent-facing progress reporting — today the parent cannot see what is happening</a:t>
            </a:r>
            <a:endParaRPr lang="en-US" sz="1050" dirty="0"/>
          </a:p>
          <a:p>
            <a:pPr marL="342900" indent="-342900">
              <a:lnSpc>
                <a:spcPts val="1400"/>
              </a:lnSpc>
              <a:spcAft>
                <a:spcPts val="600"/>
              </a:spcAft>
              <a:buSzPct val="100000"/>
              <a:buChar char="•"/>
            </a:pPr>
            <a:r>
              <a:rPr lang="en-US" sz="1050" dirty="0">
                <a:solidFill>
                  <a:srgbClr val="8A5B00"/>
                </a:solidFill>
                <a:latin typeface="Calibri" pitchFamily="34" charset="0"/>
                <a:ea typeface="Calibri" pitchFamily="34" charset="-122"/>
                <a:cs typeface="Calibri" pitchFamily="34" charset="-120"/>
              </a:rPr>
              <a:t>Live and community bee events to convert the strongest users into advocates</a:t>
            </a:r>
            <a:endParaRPr lang="en-US" sz="1050" dirty="0"/>
          </a:p>
        </p:txBody>
      </p:sp>
      <p:sp>
        <p:nvSpPr>
          <p:cNvPr id="23" name="Text 20"/>
          <p:cNvSpPr/>
          <p:nvPr/>
        </p:nvSpPr>
        <p:spPr>
          <a:xfrm>
            <a:off x="640080" y="6272784"/>
            <a:ext cx="4846320" cy="310896"/>
          </a:xfrm>
          <a:prstGeom prst="rect">
            <a:avLst/>
          </a:prstGeom>
          <a:noFill/>
          <a:ln/>
        </p:spPr>
        <p:txBody>
          <a:bodyPr wrap="square" lIns="0" tIns="0" rIns="0" bIns="0" rtlCol="0" anchor="ctr"/>
          <a:lstStyle/>
          <a:p>
            <a:pPr indent="0" marL="0">
              <a:buNone/>
            </a:pPr>
            <a:r>
              <a:rPr lang="en-US" sz="1050" b="1" dirty="0">
                <a:solidFill>
                  <a:srgbClr val="7A7291"/>
                </a:solidFill>
                <a:latin typeface="Calibri" pitchFamily="34" charset="0"/>
                <a:ea typeface="Calibri" pitchFamily="34" charset="-122"/>
                <a:cs typeface="Calibri" pitchFamily="34" charset="-120"/>
              </a:rPr>
              <a:t>Ages 8–14</a:t>
            </a:r>
            <a:pPr indent="0" marL="0">
              <a:buNone/>
            </a:pPr>
            <a:r>
              <a:rPr lang="en-US" sz="1050" dirty="0">
                <a:solidFill>
                  <a:srgbClr val="7A7291"/>
                </a:solidFill>
                <a:latin typeface="Calibri" pitchFamily="34" charset="0"/>
                <a:ea typeface="Calibri" pitchFamily="34" charset="-122"/>
                <a:cs typeface="Calibri" pitchFamily="34" charset="-120"/>
              </a:rPr>
              <a:t>   ·   engine reuse: </a:t>
            </a:r>
            <a:pPr indent="0" marL="0">
              <a:buNone/>
            </a:pPr>
            <a:r>
              <a:rPr lang="en-US" sz="1050" b="1" dirty="0">
                <a:solidFill>
                  <a:srgbClr val="7A7291"/>
                </a:solidFill>
                <a:latin typeface="Calibri" pitchFamily="34" charset="0"/>
                <a:ea typeface="Calibri" pitchFamily="34" charset="-122"/>
                <a:cs typeface="Calibri" pitchFamily="34" charset="-120"/>
              </a:rPr>
              <a:t>The engine itself</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02336"/>
            <a:ext cx="7315200" cy="256032"/>
          </a:xfrm>
          <a:prstGeom prst="rect">
            <a:avLst/>
          </a:prstGeom>
          <a:noFill/>
          <a:ln/>
        </p:spPr>
        <p:txBody>
          <a:bodyPr wrap="square" lIns="0" tIns="0" rIns="0" bIns="0" rtlCol="0" anchor="ctr"/>
          <a:lstStyle/>
          <a:p>
            <a:pPr indent="0" marL="0">
              <a:buNone/>
            </a:pPr>
            <a:r>
              <a:rPr lang="en-US" sz="1150" b="1" spc="240" kern="0" dirty="0">
                <a:solidFill>
                  <a:srgbClr val="6C4FE0"/>
                </a:solidFill>
                <a:latin typeface="Calibri" pitchFamily="34" charset="0"/>
                <a:ea typeface="Calibri" pitchFamily="34" charset="-122"/>
                <a:cs typeface="Calibri" pitchFamily="34" charset="-120"/>
              </a:rPr>
              <a:t>PRODUCT 2 OF 8</a:t>
            </a:r>
            <a:endParaRPr lang="en-US" sz="1150" dirty="0"/>
          </a:p>
        </p:txBody>
      </p:sp>
      <p:sp>
        <p:nvSpPr>
          <p:cNvPr id="3" name="Text 1"/>
          <p:cNvSpPr/>
          <p:nvPr/>
        </p:nvSpPr>
        <p:spPr>
          <a:xfrm>
            <a:off x="640080" y="694944"/>
            <a:ext cx="7863840" cy="749808"/>
          </a:xfrm>
          <a:prstGeom prst="rect">
            <a:avLst/>
          </a:prstGeom>
          <a:noFill/>
          <a:ln/>
        </p:spPr>
        <p:txBody>
          <a:bodyPr wrap="square" lIns="0" tIns="0" rIns="0" bIns="0" rtlCol="0" anchor="ctr"/>
          <a:lstStyle/>
          <a:p>
            <a:pPr indent="0" marL="0">
              <a:buNone/>
            </a:pPr>
            <a:r>
              <a:rPr lang="en-US" sz="2900" b="1" dirty="0">
                <a:solidFill>
                  <a:srgbClr val="241E33"/>
                </a:solidFill>
                <a:latin typeface="Cambria" pitchFamily="34" charset="0"/>
                <a:ea typeface="Cambria" pitchFamily="34" charset="-122"/>
                <a:cs typeface="Cambria" pitchFamily="34" charset="-120"/>
              </a:rPr>
              <a:t>Bizzing India</a:t>
            </a:r>
            <a:endParaRPr lang="en-US" sz="2900" dirty="0"/>
          </a:p>
        </p:txBody>
      </p:sp>
      <p:pic>
        <p:nvPicPr>
          <p:cNvPr id="4" name="Image 0" descr="preencoded.png">    </p:cNvPr>
          <p:cNvPicPr>
            <a:picLocks noChangeAspect="1"/>
          </p:cNvPicPr>
          <p:nvPr/>
        </p:nvPicPr>
        <p:blipFill>
          <a:blip r:embed="rId1"/>
          <a:stretch>
            <a:fillRect/>
          </a:stretch>
        </p:blipFill>
        <p:spPr>
          <a:xfrm>
            <a:off x="10012680" y="1298448"/>
            <a:ext cx="1234440" cy="1234440"/>
          </a:xfrm>
          <a:prstGeom prst="rect">
            <a:avLst/>
          </a:prstGeom>
        </p:spPr>
      </p:pic>
      <p:sp>
        <p:nvSpPr>
          <p:cNvPr id="5" name="Shape 2"/>
          <p:cNvSpPr/>
          <p:nvPr/>
        </p:nvSpPr>
        <p:spPr>
          <a:xfrm>
            <a:off x="8732520" y="749808"/>
            <a:ext cx="2514600" cy="384048"/>
          </a:xfrm>
          <a:prstGeom prst="roundRect">
            <a:avLst>
              <a:gd name="adj" fmla="val 50000"/>
            </a:avLst>
          </a:prstGeom>
          <a:solidFill>
            <a:srgbClr val="F0B429"/>
          </a:solidFill>
          <a:ln/>
        </p:spPr>
      </p:sp>
      <p:sp>
        <p:nvSpPr>
          <p:cNvPr id="6" name="Text 3"/>
          <p:cNvSpPr/>
          <p:nvPr/>
        </p:nvSpPr>
        <p:spPr>
          <a:xfrm>
            <a:off x="8732520" y="749808"/>
            <a:ext cx="2514600" cy="384048"/>
          </a:xfrm>
          <a:prstGeom prst="rect">
            <a:avLst/>
          </a:prstGeom>
          <a:noFill/>
          <a:ln/>
        </p:spPr>
        <p:txBody>
          <a:bodyPr wrap="square" lIns="0" tIns="0" rIns="0" bIns="0" rtlCol="0" anchor="ctr"/>
          <a:lstStyle/>
          <a:p>
            <a:pPr algn="ctr" indent="0" marL="0">
              <a:buNone/>
            </a:pPr>
            <a:r>
              <a:rPr lang="en-US" sz="1000" b="1" spc="120" kern="0" dirty="0">
                <a:solidFill>
                  <a:srgbClr val="241E33"/>
                </a:solidFill>
                <a:latin typeface="Calibri" pitchFamily="34" charset="0"/>
                <a:ea typeface="Calibri" pitchFamily="34" charset="-122"/>
                <a:cs typeface="Calibri" pitchFamily="34" charset="-120"/>
              </a:rPr>
              <a:t>SEEDED · FREE</a:t>
            </a:r>
            <a:endParaRPr lang="en-US" sz="1000" dirty="0"/>
          </a:p>
        </p:txBody>
      </p:sp>
      <p:sp>
        <p:nvSpPr>
          <p:cNvPr id="7" name="Text 4"/>
          <p:cNvSpPr/>
          <p:nvPr/>
        </p:nvSpPr>
        <p:spPr>
          <a:xfrm>
            <a:off x="640080" y="1444752"/>
            <a:ext cx="8778240" cy="585216"/>
          </a:xfrm>
          <a:prstGeom prst="rect">
            <a:avLst/>
          </a:prstGeom>
          <a:noFill/>
          <a:ln/>
        </p:spPr>
        <p:txBody>
          <a:bodyPr wrap="square" lIns="0" tIns="0" rIns="0" bIns="0" rtlCol="0" anchor="ctr"/>
          <a:lstStyle/>
          <a:p>
            <a:pPr indent="0" marL="0">
              <a:lnSpc>
                <a:spcPts val="2100"/>
              </a:lnSpc>
              <a:buNone/>
            </a:pPr>
            <a:r>
              <a:rPr lang="en-US" sz="1600" i="1" dirty="0">
                <a:solidFill>
                  <a:srgbClr val="6C4FE0"/>
                </a:solidFill>
                <a:latin typeface="Cambria" pitchFamily="34" charset="0"/>
                <a:ea typeface="Cambria" pitchFamily="34" charset="-122"/>
                <a:cs typeface="Cambria" pitchFamily="34" charset="-120"/>
              </a:rPr>
              <a:t>A child who knows where they came from, and finds it genuinely interesting rather than dutiful.</a:t>
            </a:r>
            <a:endParaRPr lang="en-US" sz="1600" dirty="0"/>
          </a:p>
        </p:txBody>
      </p:sp>
      <p:sp>
        <p:nvSpPr>
          <p:cNvPr id="8" name="Shape 5"/>
          <p:cNvSpPr/>
          <p:nvPr/>
        </p:nvSpPr>
        <p:spPr>
          <a:xfrm rot="5400000">
            <a:off x="640080" y="2103120"/>
            <a:ext cx="457200" cy="457200"/>
          </a:xfrm>
          <a:prstGeom prst="hexagon">
            <a:avLst/>
          </a:prstGeom>
          <a:solidFill>
            <a:srgbClr val="6C4FE0"/>
          </a:solidFill>
          <a:ln/>
        </p:spPr>
      </p:sp>
      <p:sp>
        <p:nvSpPr>
          <p:cNvPr id="9" name="Text 6"/>
          <p:cNvSpPr/>
          <p:nvPr/>
        </p:nvSpPr>
        <p:spPr>
          <a:xfrm>
            <a:off x="640080" y="2103120"/>
            <a:ext cx="457200" cy="45720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WHY</a:t>
            </a:r>
            <a:endParaRPr lang="en-US" sz="850" dirty="0"/>
          </a:p>
        </p:txBody>
      </p:sp>
      <p:sp>
        <p:nvSpPr>
          <p:cNvPr id="10" name="Text 7"/>
          <p:cNvSpPr/>
          <p:nvPr/>
        </p:nvSpPr>
        <p:spPr>
          <a:xfrm>
            <a:off x="1261872" y="2084832"/>
            <a:ext cx="4114800" cy="1280160"/>
          </a:xfrm>
          <a:prstGeom prst="rect">
            <a:avLst/>
          </a:prstGeom>
          <a:noFill/>
          <a:ln/>
        </p:spPr>
        <p:txBody>
          <a:bodyPr wrap="square" lIns="0" tIns="0" rIns="0" bIns="0" rtlCol="0" anchor="ctr"/>
          <a:lstStyle/>
          <a:p>
            <a:pPr indent="0" marL="0">
              <a:lnSpc>
                <a:spcPts val="1550"/>
              </a:lnSpc>
              <a:buNone/>
            </a:pPr>
            <a:r>
              <a:rPr lang="en-US" sz="1150" dirty="0">
                <a:solidFill>
                  <a:srgbClr val="4A4360"/>
                </a:solidFill>
                <a:latin typeface="Calibri" pitchFamily="34" charset="0"/>
                <a:ea typeface="Calibri" pitchFamily="34" charset="-122"/>
                <a:cs typeface="Calibri" pitchFamily="34" charset="-120"/>
              </a:rPr>
              <a:t>Heritage is the one hook no product built for a general audience can copy. It is also the warmest reason a family arrives, and it costs them nothing to try.</a:t>
            </a:r>
            <a:endParaRPr lang="en-US" sz="1150" dirty="0"/>
          </a:p>
        </p:txBody>
      </p:sp>
      <p:sp>
        <p:nvSpPr>
          <p:cNvPr id="11" name="Shape 8"/>
          <p:cNvSpPr/>
          <p:nvPr/>
        </p:nvSpPr>
        <p:spPr>
          <a:xfrm rot="5400000">
            <a:off x="640080" y="3493008"/>
            <a:ext cx="457200" cy="457200"/>
          </a:xfrm>
          <a:prstGeom prst="hexagon">
            <a:avLst/>
          </a:prstGeom>
          <a:solidFill>
            <a:srgbClr val="F0B429"/>
          </a:solidFill>
          <a:ln/>
        </p:spPr>
      </p:sp>
      <p:sp>
        <p:nvSpPr>
          <p:cNvPr id="12" name="Text 9"/>
          <p:cNvSpPr/>
          <p:nvPr/>
        </p:nvSpPr>
        <p:spPr>
          <a:xfrm>
            <a:off x="640080" y="3493008"/>
            <a:ext cx="457200" cy="457200"/>
          </a:xfrm>
          <a:prstGeom prst="rect">
            <a:avLst/>
          </a:prstGeom>
          <a:noFill/>
          <a:ln/>
        </p:spPr>
        <p:txBody>
          <a:bodyPr wrap="square" lIns="0" tIns="0" rIns="0" bIns="0" rtlCol="0" anchor="ctr"/>
          <a:lstStyle/>
          <a:p>
            <a:pPr algn="ctr" indent="0" marL="0">
              <a:buNone/>
            </a:pPr>
            <a:r>
              <a:rPr lang="en-US" sz="850" b="1" dirty="0">
                <a:solidFill>
                  <a:srgbClr val="241E33"/>
                </a:solidFill>
                <a:latin typeface="Calibri" pitchFamily="34" charset="0"/>
                <a:ea typeface="Calibri" pitchFamily="34" charset="-122"/>
                <a:cs typeface="Calibri" pitchFamily="34" charset="-120"/>
              </a:rPr>
              <a:t>WHAT</a:t>
            </a:r>
            <a:endParaRPr lang="en-US" sz="850" dirty="0"/>
          </a:p>
        </p:txBody>
      </p:sp>
      <p:sp>
        <p:nvSpPr>
          <p:cNvPr id="13" name="Text 10"/>
          <p:cNvSpPr/>
          <p:nvPr/>
        </p:nvSpPr>
        <p:spPr>
          <a:xfrm>
            <a:off x="1261872" y="3474720"/>
            <a:ext cx="4114800" cy="1280160"/>
          </a:xfrm>
          <a:prstGeom prst="rect">
            <a:avLst/>
          </a:prstGeom>
          <a:noFill/>
          <a:ln/>
        </p:spPr>
        <p:txBody>
          <a:bodyPr wrap="square" lIns="0" tIns="0" rIns="0" bIns="0" rtlCol="0" anchor="ctr"/>
          <a:lstStyle/>
          <a:p>
            <a:pPr indent="0" marL="0">
              <a:lnSpc>
                <a:spcPts val="1550"/>
              </a:lnSpc>
              <a:buNone/>
            </a:pPr>
            <a:r>
              <a:rPr lang="en-US" sz="1150" dirty="0">
                <a:solidFill>
                  <a:srgbClr val="4A4360"/>
                </a:solidFill>
                <a:latin typeface="Calibri" pitchFamily="34" charset="0"/>
                <a:ea typeface="Calibri" pitchFamily="34" charset="-122"/>
                <a:cs typeface="Calibri" pitchFamily="34" charset="-120"/>
              </a:rPr>
              <a:t>Culture, festivals, mythology, geography, and the words English took from India. Free, shareable, and the doorway to the paid Bhasha packs.</a:t>
            </a:r>
            <a:endParaRPr lang="en-US" sz="1150" dirty="0"/>
          </a:p>
        </p:txBody>
      </p:sp>
      <p:sp>
        <p:nvSpPr>
          <p:cNvPr id="14" name="Shape 11"/>
          <p:cNvSpPr/>
          <p:nvPr/>
        </p:nvSpPr>
        <p:spPr>
          <a:xfrm rot="5400000">
            <a:off x="640080" y="4882896"/>
            <a:ext cx="457200" cy="457200"/>
          </a:xfrm>
          <a:prstGeom prst="hexagon">
            <a:avLst/>
          </a:prstGeom>
          <a:solidFill>
            <a:srgbClr val="6C4FE0"/>
          </a:solidFill>
          <a:ln/>
        </p:spPr>
      </p:sp>
      <p:sp>
        <p:nvSpPr>
          <p:cNvPr id="15" name="Text 12"/>
          <p:cNvSpPr/>
          <p:nvPr/>
        </p:nvSpPr>
        <p:spPr>
          <a:xfrm>
            <a:off x="640080" y="4882896"/>
            <a:ext cx="457200" cy="45720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HOW</a:t>
            </a:r>
            <a:endParaRPr lang="en-US" sz="850" dirty="0"/>
          </a:p>
        </p:txBody>
      </p:sp>
      <p:sp>
        <p:nvSpPr>
          <p:cNvPr id="16" name="Text 13"/>
          <p:cNvSpPr/>
          <p:nvPr/>
        </p:nvSpPr>
        <p:spPr>
          <a:xfrm>
            <a:off x="1261872" y="4864608"/>
            <a:ext cx="4114800" cy="1280160"/>
          </a:xfrm>
          <a:prstGeom prst="rect">
            <a:avLst/>
          </a:prstGeom>
          <a:noFill/>
          <a:ln/>
        </p:spPr>
        <p:txBody>
          <a:bodyPr wrap="square" lIns="0" tIns="0" rIns="0" bIns="0" rtlCol="0" anchor="ctr"/>
          <a:lstStyle/>
          <a:p>
            <a:pPr indent="0" marL="0">
              <a:lnSpc>
                <a:spcPts val="1550"/>
              </a:lnSpc>
              <a:buNone/>
            </a:pPr>
            <a:r>
              <a:rPr lang="en-US" sz="1150" dirty="0">
                <a:solidFill>
                  <a:srgbClr val="4A4360"/>
                </a:solidFill>
                <a:latin typeface="Calibri" pitchFamily="34" charset="0"/>
                <a:ea typeface="Calibri" pitchFamily="34" charset="-122"/>
                <a:cs typeface="Calibri" pitchFamily="34" charset="-120"/>
              </a:rPr>
              <a:t>Reuses the concept-chapter and trivia engines outright. It is a content programme, not a new build.</a:t>
            </a:r>
            <a:endParaRPr lang="en-US" sz="1150" dirty="0"/>
          </a:p>
        </p:txBody>
      </p:sp>
      <p:sp>
        <p:nvSpPr>
          <p:cNvPr id="17" name="Shape 14"/>
          <p:cNvSpPr/>
          <p:nvPr/>
        </p:nvSpPr>
        <p:spPr>
          <a:xfrm>
            <a:off x="5577840" y="2048256"/>
            <a:ext cx="5669280" cy="2103120"/>
          </a:xfrm>
          <a:prstGeom prst="roundRect">
            <a:avLst>
              <a:gd name="adj" fmla="val 6087"/>
            </a:avLst>
          </a:prstGeom>
          <a:solidFill>
            <a:srgbClr val="E8F4EC"/>
          </a:solidFill>
          <a:ln/>
          <a:effectLst>
            <a:outerShdw sx="100000" sy="100000" kx="0" ky="0" algn="bl" rotWithShape="0" blurRad="127000" dist="25400" dir="5400000">
              <a:srgbClr val="241E33">
                <a:alpha val="10000"/>
              </a:srgbClr>
            </a:outerShdw>
          </a:effectLst>
        </p:spPr>
      </p:sp>
      <p:sp>
        <p:nvSpPr>
          <p:cNvPr id="18" name="Text 15"/>
          <p:cNvSpPr/>
          <p:nvPr/>
        </p:nvSpPr>
        <p:spPr>
          <a:xfrm>
            <a:off x="5870448" y="2194560"/>
            <a:ext cx="5120640" cy="256032"/>
          </a:xfrm>
          <a:prstGeom prst="rect">
            <a:avLst/>
          </a:prstGeom>
          <a:noFill/>
          <a:ln/>
        </p:spPr>
        <p:txBody>
          <a:bodyPr wrap="square" lIns="0" tIns="0" rIns="0" bIns="0" rtlCol="0" anchor="ctr"/>
          <a:lstStyle/>
          <a:p>
            <a:pPr indent="0" marL="0">
              <a:buNone/>
            </a:pPr>
            <a:r>
              <a:rPr lang="en-US" sz="900" b="1" spc="180" kern="0" dirty="0">
                <a:solidFill>
                  <a:srgbClr val="178A4C"/>
                </a:solidFill>
                <a:latin typeface="Calibri" pitchFamily="34" charset="0"/>
                <a:ea typeface="Calibri" pitchFamily="34" charset="-122"/>
                <a:cs typeface="Calibri" pitchFamily="34" charset="-120"/>
              </a:rPr>
              <a:t>WHAT MAKES IT DIFFERENT</a:t>
            </a:r>
            <a:endParaRPr lang="en-US" sz="900" dirty="0"/>
          </a:p>
        </p:txBody>
      </p:sp>
      <p:sp>
        <p:nvSpPr>
          <p:cNvPr id="19" name="Text 16"/>
          <p:cNvSpPr/>
          <p:nvPr/>
        </p:nvSpPr>
        <p:spPr>
          <a:xfrm>
            <a:off x="5907024" y="2487168"/>
            <a:ext cx="5074920" cy="1554480"/>
          </a:xfrm>
          <a:prstGeom prst="rect">
            <a:avLst/>
          </a:prstGeom>
          <a:noFill/>
          <a:ln/>
        </p:spPr>
        <p:txBody>
          <a:bodyPr wrap="square" lIns="0" tIns="0" rIns="0" bIns="0" rtlCol="0" anchor="ctr"/>
          <a:lstStyle/>
          <a:p>
            <a:pPr marL="342900" indent="-342900">
              <a:lnSpc>
                <a:spcPts val="1400"/>
              </a:lnSpc>
              <a:spcAft>
                <a:spcPts val="600"/>
              </a:spcAft>
              <a:buSzPct val="100000"/>
              <a:buChar char="•"/>
            </a:pPr>
            <a:r>
              <a:rPr lang="en-US" sz="1050" dirty="0">
                <a:solidFill>
                  <a:srgbClr val="1F4A33"/>
                </a:solidFill>
                <a:latin typeface="Calibri" pitchFamily="34" charset="0"/>
                <a:ea typeface="Calibri" pitchFamily="34" charset="-122"/>
                <a:cs typeface="Calibri" pitchFamily="34" charset="-120"/>
              </a:rPr>
              <a:t>A real seed already ships: southasia-data.js carries eleven authored chapters on South Asian words in English, live as Expedition IV of the Word Atlas and as Volume 14 of the book series.</a:t>
            </a:r>
            <a:endParaRPr lang="en-US" sz="1050" dirty="0"/>
          </a:p>
          <a:p>
            <a:pPr marL="342900" indent="-342900">
              <a:lnSpc>
                <a:spcPts val="1400"/>
              </a:lnSpc>
              <a:spcAft>
                <a:spcPts val="600"/>
              </a:spcAft>
              <a:buSzPct val="100000"/>
              <a:buChar char="•"/>
            </a:pPr>
            <a:r>
              <a:rPr lang="en-US" sz="1050" dirty="0">
                <a:solidFill>
                  <a:srgbClr val="1F4A33"/>
                </a:solidFill>
                <a:latin typeface="Calibri" pitchFamily="34" charset="0"/>
                <a:ea typeface="Calibri" pitchFamily="34" charset="-122"/>
                <a:cs typeface="Calibri" pitchFamily="34" charset="-120"/>
              </a:rPr>
              <a:t>It teaches Sanskrit, Hindi and Tamil loanwords as a bee STRATEGY — say it, spell it, trust the vowels — not as a curiosity.</a:t>
            </a:r>
            <a:endParaRPr lang="en-US" sz="1050" dirty="0"/>
          </a:p>
        </p:txBody>
      </p:sp>
      <p:sp>
        <p:nvSpPr>
          <p:cNvPr id="20" name="Shape 17"/>
          <p:cNvSpPr/>
          <p:nvPr/>
        </p:nvSpPr>
        <p:spPr>
          <a:xfrm>
            <a:off x="5577840" y="4315968"/>
            <a:ext cx="5669280" cy="2103120"/>
          </a:xfrm>
          <a:prstGeom prst="roundRect">
            <a:avLst>
              <a:gd name="adj" fmla="val 6087"/>
            </a:avLst>
          </a:prstGeom>
          <a:solidFill>
            <a:srgbClr val="FBF3E0"/>
          </a:solidFill>
          <a:ln/>
          <a:effectLst>
            <a:outerShdw sx="100000" sy="100000" kx="0" ky="0" algn="bl" rotWithShape="0" blurRad="127000" dist="25400" dir="5400000">
              <a:srgbClr val="241E33">
                <a:alpha val="10000"/>
              </a:srgbClr>
            </a:outerShdw>
          </a:effectLst>
        </p:spPr>
      </p:sp>
      <p:sp>
        <p:nvSpPr>
          <p:cNvPr id="21" name="Text 18"/>
          <p:cNvSpPr/>
          <p:nvPr/>
        </p:nvSpPr>
        <p:spPr>
          <a:xfrm>
            <a:off x="5870448" y="4462272"/>
            <a:ext cx="5120640" cy="256032"/>
          </a:xfrm>
          <a:prstGeom prst="rect">
            <a:avLst/>
          </a:prstGeom>
          <a:noFill/>
          <a:ln/>
        </p:spPr>
        <p:txBody>
          <a:bodyPr wrap="square" lIns="0" tIns="0" rIns="0" bIns="0" rtlCol="0" anchor="ctr"/>
          <a:lstStyle/>
          <a:p>
            <a:pPr indent="0" marL="0">
              <a:buNone/>
            </a:pPr>
            <a:r>
              <a:rPr lang="en-US" sz="900" b="1" spc="180" kern="0" dirty="0">
                <a:solidFill>
                  <a:srgbClr val="8A5B00"/>
                </a:solidFill>
                <a:latin typeface="Calibri" pitchFamily="34" charset="0"/>
                <a:ea typeface="Calibri" pitchFamily="34" charset="-122"/>
                <a:cs typeface="Calibri" pitchFamily="34" charset="-120"/>
              </a:rPr>
              <a:t>WHAT STILL HAS TO BE BUILT</a:t>
            </a:r>
            <a:endParaRPr lang="en-US" sz="900" dirty="0"/>
          </a:p>
        </p:txBody>
      </p:sp>
      <p:sp>
        <p:nvSpPr>
          <p:cNvPr id="22" name="Text 19"/>
          <p:cNvSpPr/>
          <p:nvPr/>
        </p:nvSpPr>
        <p:spPr>
          <a:xfrm>
            <a:off x="5907024" y="4754880"/>
            <a:ext cx="5074920" cy="1554480"/>
          </a:xfrm>
          <a:prstGeom prst="rect">
            <a:avLst/>
          </a:prstGeom>
          <a:noFill/>
          <a:ln/>
        </p:spPr>
        <p:txBody>
          <a:bodyPr wrap="square" lIns="0" tIns="0" rIns="0" bIns="0" rtlCol="0" anchor="ctr"/>
          <a:lstStyle/>
          <a:p>
            <a:pPr marL="342900" indent="-342900">
              <a:lnSpc>
                <a:spcPts val="1400"/>
              </a:lnSpc>
              <a:spcAft>
                <a:spcPts val="600"/>
              </a:spcAft>
              <a:buSzPct val="100000"/>
              <a:buChar char="•"/>
            </a:pPr>
            <a:r>
              <a:rPr lang="en-US" sz="1050" dirty="0">
                <a:solidFill>
                  <a:srgbClr val="8A5B00"/>
                </a:solidFill>
                <a:latin typeface="Calibri" pitchFamily="34" charset="0"/>
                <a:ea typeface="Calibri" pitchFamily="34" charset="-122"/>
                <a:cs typeface="Calibri" pitchFamily="34" charset="-120"/>
              </a:rPr>
              <a:t>Festival, mythology and India-GK packs on top of the language chapters</a:t>
            </a:r>
            <a:endParaRPr lang="en-US" sz="1050" dirty="0"/>
          </a:p>
          <a:p>
            <a:pPr marL="342900" indent="-342900">
              <a:lnSpc>
                <a:spcPts val="1400"/>
              </a:lnSpc>
              <a:spcAft>
                <a:spcPts val="600"/>
              </a:spcAft>
              <a:buSzPct val="100000"/>
              <a:buChar char="•"/>
            </a:pPr>
            <a:r>
              <a:rPr lang="en-US" sz="1050" dirty="0">
                <a:solidFill>
                  <a:srgbClr val="8A5B00"/>
                </a:solidFill>
                <a:latin typeface="Calibri" pitchFamily="34" charset="0"/>
                <a:ea typeface="Calibri" pitchFamily="34" charset="-122"/>
                <a:cs typeface="Calibri" pitchFamily="34" charset="-120"/>
              </a:rPr>
              <a:t>A clear free/paid line, with Bhasha as the paid pack inside the free hook</a:t>
            </a:r>
            <a:endParaRPr lang="en-US" sz="1050" dirty="0"/>
          </a:p>
          <a:p>
            <a:pPr marL="342900" indent="-342900">
              <a:lnSpc>
                <a:spcPts val="1400"/>
              </a:lnSpc>
              <a:spcAft>
                <a:spcPts val="600"/>
              </a:spcAft>
              <a:buSzPct val="100000"/>
              <a:buChar char="•"/>
            </a:pPr>
            <a:r>
              <a:rPr lang="en-US" sz="1050" dirty="0">
                <a:solidFill>
                  <a:srgbClr val="8A5B00"/>
                </a:solidFill>
                <a:latin typeface="Calibri" pitchFamily="34" charset="0"/>
                <a:ea typeface="Calibri" pitchFamily="34" charset="-122"/>
                <a:cs typeface="Calibri" pitchFamily="34" charset="-120"/>
              </a:rPr>
              <a:t>The funnel itself: what a family does next after finishing a free chapter</a:t>
            </a:r>
            <a:endParaRPr lang="en-US" sz="1050" dirty="0"/>
          </a:p>
        </p:txBody>
      </p:sp>
      <p:sp>
        <p:nvSpPr>
          <p:cNvPr id="23" name="Text 20"/>
          <p:cNvSpPr/>
          <p:nvPr/>
        </p:nvSpPr>
        <p:spPr>
          <a:xfrm>
            <a:off x="640080" y="6272784"/>
            <a:ext cx="4846320" cy="310896"/>
          </a:xfrm>
          <a:prstGeom prst="rect">
            <a:avLst/>
          </a:prstGeom>
          <a:noFill/>
          <a:ln/>
        </p:spPr>
        <p:txBody>
          <a:bodyPr wrap="square" lIns="0" tIns="0" rIns="0" bIns="0" rtlCol="0" anchor="ctr"/>
          <a:lstStyle/>
          <a:p>
            <a:pPr indent="0" marL="0">
              <a:buNone/>
            </a:pPr>
            <a:r>
              <a:rPr lang="en-US" sz="1050" b="1" dirty="0">
                <a:solidFill>
                  <a:srgbClr val="7A7291"/>
                </a:solidFill>
                <a:latin typeface="Calibri" pitchFamily="34" charset="0"/>
                <a:ea typeface="Calibri" pitchFamily="34" charset="-122"/>
                <a:cs typeface="Calibri" pitchFamily="34" charset="-120"/>
              </a:rPr>
              <a:t>Ages 6–16</a:t>
            </a:r>
            <a:pPr indent="0" marL="0">
              <a:buNone/>
            </a:pPr>
            <a:r>
              <a:rPr lang="en-US" sz="1050" dirty="0">
                <a:solidFill>
                  <a:srgbClr val="7A7291"/>
                </a:solidFill>
                <a:latin typeface="Calibri" pitchFamily="34" charset="0"/>
                <a:ea typeface="Calibri" pitchFamily="34" charset="-122"/>
                <a:cs typeface="Calibri" pitchFamily="34" charset="-120"/>
              </a:rPr>
              <a:t>   ·   engine reuse: </a:t>
            </a:r>
            <a:pPr indent="0" marL="0">
              <a:buNone/>
            </a:pPr>
            <a:r>
              <a:rPr lang="en-US" sz="1050" b="1" dirty="0">
                <a:solidFill>
                  <a:srgbClr val="7A7291"/>
                </a:solidFill>
                <a:latin typeface="Calibri" pitchFamily="34" charset="0"/>
                <a:ea typeface="Calibri" pitchFamily="34" charset="-122"/>
                <a:cs typeface="Calibri" pitchFamily="34" charset="-120"/>
              </a:rPr>
              <a:t>Concept + trivia engines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02336"/>
            <a:ext cx="7315200" cy="256032"/>
          </a:xfrm>
          <a:prstGeom prst="rect">
            <a:avLst/>
          </a:prstGeom>
          <a:noFill/>
          <a:ln/>
        </p:spPr>
        <p:txBody>
          <a:bodyPr wrap="square" lIns="0" tIns="0" rIns="0" bIns="0" rtlCol="0" anchor="ctr"/>
          <a:lstStyle/>
          <a:p>
            <a:pPr indent="0" marL="0">
              <a:buNone/>
            </a:pPr>
            <a:r>
              <a:rPr lang="en-US" sz="1150" b="1" spc="240" kern="0" dirty="0">
                <a:solidFill>
                  <a:srgbClr val="6C4FE0"/>
                </a:solidFill>
                <a:latin typeface="Calibri" pitchFamily="34" charset="0"/>
                <a:ea typeface="Calibri" pitchFamily="34" charset="-122"/>
                <a:cs typeface="Calibri" pitchFamily="34" charset="-120"/>
              </a:rPr>
              <a:t>PRODUCT 3 OF 8</a:t>
            </a:r>
            <a:endParaRPr lang="en-US" sz="1150" dirty="0"/>
          </a:p>
        </p:txBody>
      </p:sp>
      <p:sp>
        <p:nvSpPr>
          <p:cNvPr id="3" name="Text 1"/>
          <p:cNvSpPr/>
          <p:nvPr/>
        </p:nvSpPr>
        <p:spPr>
          <a:xfrm>
            <a:off x="640080" y="694944"/>
            <a:ext cx="7863840" cy="749808"/>
          </a:xfrm>
          <a:prstGeom prst="rect">
            <a:avLst/>
          </a:prstGeom>
          <a:noFill/>
          <a:ln/>
        </p:spPr>
        <p:txBody>
          <a:bodyPr wrap="square" lIns="0" tIns="0" rIns="0" bIns="0" rtlCol="0" anchor="ctr"/>
          <a:lstStyle/>
          <a:p>
            <a:pPr indent="0" marL="0">
              <a:buNone/>
            </a:pPr>
            <a:r>
              <a:rPr lang="en-US" sz="2900" b="1" dirty="0">
                <a:solidFill>
                  <a:srgbClr val="241E33"/>
                </a:solidFill>
                <a:latin typeface="Cambria" pitchFamily="34" charset="0"/>
                <a:ea typeface="Cambria" pitchFamily="34" charset="-122"/>
                <a:cs typeface="Cambria" pitchFamily="34" charset="-120"/>
              </a:rPr>
              <a:t>Bizzing Bhasha</a:t>
            </a:r>
            <a:endParaRPr lang="en-US" sz="2900" dirty="0"/>
          </a:p>
        </p:txBody>
      </p:sp>
      <p:pic>
        <p:nvPicPr>
          <p:cNvPr id="4" name="Image 0" descr="preencoded.png">    </p:cNvPr>
          <p:cNvPicPr>
            <a:picLocks noChangeAspect="1"/>
          </p:cNvPicPr>
          <p:nvPr/>
        </p:nvPicPr>
        <p:blipFill>
          <a:blip r:embed="rId1"/>
          <a:stretch>
            <a:fillRect/>
          </a:stretch>
        </p:blipFill>
        <p:spPr>
          <a:xfrm>
            <a:off x="10012680" y="1298448"/>
            <a:ext cx="1234440" cy="1234440"/>
          </a:xfrm>
          <a:prstGeom prst="rect">
            <a:avLst/>
          </a:prstGeom>
        </p:spPr>
      </p:pic>
      <p:sp>
        <p:nvSpPr>
          <p:cNvPr id="5" name="Shape 2"/>
          <p:cNvSpPr/>
          <p:nvPr/>
        </p:nvSpPr>
        <p:spPr>
          <a:xfrm>
            <a:off x="8732520" y="749808"/>
            <a:ext cx="2514600" cy="384048"/>
          </a:xfrm>
          <a:prstGeom prst="roundRect">
            <a:avLst>
              <a:gd name="adj" fmla="val 50000"/>
            </a:avLst>
          </a:prstGeom>
          <a:solidFill>
            <a:srgbClr val="6C4FE0"/>
          </a:solidFill>
          <a:ln/>
        </p:spPr>
      </p:sp>
      <p:sp>
        <p:nvSpPr>
          <p:cNvPr id="6" name="Text 3"/>
          <p:cNvSpPr/>
          <p:nvPr/>
        </p:nvSpPr>
        <p:spPr>
          <a:xfrm>
            <a:off x="8732520" y="749808"/>
            <a:ext cx="2514600" cy="384048"/>
          </a:xfrm>
          <a:prstGeom prst="rect">
            <a:avLst/>
          </a:prstGeom>
          <a:noFill/>
          <a:ln/>
        </p:spPr>
        <p:txBody>
          <a:bodyPr wrap="square" lIns="0" tIns="0" rIns="0" bIns="0" rtlCol="0" anchor="ctr"/>
          <a:lstStyle/>
          <a:p>
            <a:pPr algn="ctr" indent="0" marL="0">
              <a:buNone/>
            </a:pPr>
            <a:r>
              <a:rPr lang="en-US" sz="1000" b="1" spc="120" kern="0" dirty="0">
                <a:solidFill>
                  <a:srgbClr val="FFFFFF"/>
                </a:solidFill>
                <a:latin typeface="Calibri" pitchFamily="34" charset="0"/>
                <a:ea typeface="Calibri" pitchFamily="34" charset="-122"/>
                <a:cs typeface="Calibri" pitchFamily="34" charset="-120"/>
              </a:rPr>
              <a:t>PLANNED · PAID</a:t>
            </a:r>
            <a:endParaRPr lang="en-US" sz="1000" dirty="0"/>
          </a:p>
        </p:txBody>
      </p:sp>
      <p:sp>
        <p:nvSpPr>
          <p:cNvPr id="7" name="Text 4"/>
          <p:cNvSpPr/>
          <p:nvPr/>
        </p:nvSpPr>
        <p:spPr>
          <a:xfrm>
            <a:off x="640080" y="1444752"/>
            <a:ext cx="8778240" cy="585216"/>
          </a:xfrm>
          <a:prstGeom prst="rect">
            <a:avLst/>
          </a:prstGeom>
          <a:noFill/>
          <a:ln/>
        </p:spPr>
        <p:txBody>
          <a:bodyPr wrap="square" lIns="0" tIns="0" rIns="0" bIns="0" rtlCol="0" anchor="ctr"/>
          <a:lstStyle/>
          <a:p>
            <a:pPr indent="0" marL="0">
              <a:lnSpc>
                <a:spcPts val="2100"/>
              </a:lnSpc>
              <a:buNone/>
            </a:pPr>
            <a:r>
              <a:rPr lang="en-US" sz="1600" i="1" dirty="0">
                <a:solidFill>
                  <a:srgbClr val="6C4FE0"/>
                </a:solidFill>
                <a:latin typeface="Cambria" pitchFamily="34" charset="0"/>
                <a:ea typeface="Cambria" pitchFamily="34" charset="-122"/>
                <a:cs typeface="Cambria" pitchFamily="34" charset="-120"/>
              </a:rPr>
              <a:t>The grandparent and the grandchild can hold a conversation.</a:t>
            </a:r>
            <a:endParaRPr lang="en-US" sz="1600" dirty="0"/>
          </a:p>
        </p:txBody>
      </p:sp>
      <p:sp>
        <p:nvSpPr>
          <p:cNvPr id="8" name="Shape 5"/>
          <p:cNvSpPr/>
          <p:nvPr/>
        </p:nvSpPr>
        <p:spPr>
          <a:xfrm rot="5400000">
            <a:off x="640080" y="2103120"/>
            <a:ext cx="457200" cy="457200"/>
          </a:xfrm>
          <a:prstGeom prst="hexagon">
            <a:avLst/>
          </a:prstGeom>
          <a:solidFill>
            <a:srgbClr val="6C4FE0"/>
          </a:solidFill>
          <a:ln/>
        </p:spPr>
      </p:sp>
      <p:sp>
        <p:nvSpPr>
          <p:cNvPr id="9" name="Text 6"/>
          <p:cNvSpPr/>
          <p:nvPr/>
        </p:nvSpPr>
        <p:spPr>
          <a:xfrm>
            <a:off x="640080" y="2103120"/>
            <a:ext cx="457200" cy="45720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WHY</a:t>
            </a:r>
            <a:endParaRPr lang="en-US" sz="850" dirty="0"/>
          </a:p>
        </p:txBody>
      </p:sp>
      <p:sp>
        <p:nvSpPr>
          <p:cNvPr id="10" name="Text 7"/>
          <p:cNvSpPr/>
          <p:nvPr/>
        </p:nvSpPr>
        <p:spPr>
          <a:xfrm>
            <a:off x="1261872" y="2084832"/>
            <a:ext cx="4114800" cy="1280160"/>
          </a:xfrm>
          <a:prstGeom prst="rect">
            <a:avLst/>
          </a:prstGeom>
          <a:noFill/>
          <a:ln/>
        </p:spPr>
        <p:txBody>
          <a:bodyPr wrap="square" lIns="0" tIns="0" rIns="0" bIns="0" rtlCol="0" anchor="ctr"/>
          <a:lstStyle/>
          <a:p>
            <a:pPr indent="0" marL="0">
              <a:lnSpc>
                <a:spcPts val="1550"/>
              </a:lnSpc>
              <a:buNone/>
            </a:pPr>
            <a:r>
              <a:rPr lang="en-US" sz="1150" dirty="0">
                <a:solidFill>
                  <a:srgbClr val="4A4360"/>
                </a:solidFill>
                <a:latin typeface="Calibri" pitchFamily="34" charset="0"/>
                <a:ea typeface="Calibri" pitchFamily="34" charset="-122"/>
                <a:cs typeface="Calibri" pitchFamily="34" charset="-120"/>
              </a:rPr>
              <a:t>The deepest emotional driver in this market, and the only category where the diaspora is the entire market rather than a slice of it. Parents fear a child losing the family, not a school place.</a:t>
            </a:r>
            <a:endParaRPr lang="en-US" sz="1150" dirty="0"/>
          </a:p>
        </p:txBody>
      </p:sp>
      <p:sp>
        <p:nvSpPr>
          <p:cNvPr id="11" name="Shape 8"/>
          <p:cNvSpPr/>
          <p:nvPr/>
        </p:nvSpPr>
        <p:spPr>
          <a:xfrm rot="5400000">
            <a:off x="640080" y="3493008"/>
            <a:ext cx="457200" cy="457200"/>
          </a:xfrm>
          <a:prstGeom prst="hexagon">
            <a:avLst/>
          </a:prstGeom>
          <a:solidFill>
            <a:srgbClr val="F0B429"/>
          </a:solidFill>
          <a:ln/>
        </p:spPr>
      </p:sp>
      <p:sp>
        <p:nvSpPr>
          <p:cNvPr id="12" name="Text 9"/>
          <p:cNvSpPr/>
          <p:nvPr/>
        </p:nvSpPr>
        <p:spPr>
          <a:xfrm>
            <a:off x="640080" y="3493008"/>
            <a:ext cx="457200" cy="457200"/>
          </a:xfrm>
          <a:prstGeom prst="rect">
            <a:avLst/>
          </a:prstGeom>
          <a:noFill/>
          <a:ln/>
        </p:spPr>
        <p:txBody>
          <a:bodyPr wrap="square" lIns="0" tIns="0" rIns="0" bIns="0" rtlCol="0" anchor="ctr"/>
          <a:lstStyle/>
          <a:p>
            <a:pPr algn="ctr" indent="0" marL="0">
              <a:buNone/>
            </a:pPr>
            <a:r>
              <a:rPr lang="en-US" sz="850" b="1" dirty="0">
                <a:solidFill>
                  <a:srgbClr val="241E33"/>
                </a:solidFill>
                <a:latin typeface="Calibri" pitchFamily="34" charset="0"/>
                <a:ea typeface="Calibri" pitchFamily="34" charset="-122"/>
                <a:cs typeface="Calibri" pitchFamily="34" charset="-120"/>
              </a:rPr>
              <a:t>WHAT</a:t>
            </a:r>
            <a:endParaRPr lang="en-US" sz="850" dirty="0"/>
          </a:p>
        </p:txBody>
      </p:sp>
      <p:sp>
        <p:nvSpPr>
          <p:cNvPr id="13" name="Text 10"/>
          <p:cNvSpPr/>
          <p:nvPr/>
        </p:nvSpPr>
        <p:spPr>
          <a:xfrm>
            <a:off x="1261872" y="3474720"/>
            <a:ext cx="4114800" cy="1280160"/>
          </a:xfrm>
          <a:prstGeom prst="rect">
            <a:avLst/>
          </a:prstGeom>
          <a:noFill/>
          <a:ln/>
        </p:spPr>
        <p:txBody>
          <a:bodyPr wrap="square" lIns="0" tIns="0" rIns="0" bIns="0" rtlCol="0" anchor="ctr"/>
          <a:lstStyle/>
          <a:p>
            <a:pPr indent="0" marL="0">
              <a:lnSpc>
                <a:spcPts val="1550"/>
              </a:lnSpc>
              <a:buNone/>
            </a:pPr>
            <a:r>
              <a:rPr lang="en-US" sz="1150" dirty="0">
                <a:solidFill>
                  <a:srgbClr val="4A4360"/>
                </a:solidFill>
                <a:latin typeface="Calibri" pitchFamily="34" charset="0"/>
                <a:ea typeface="Calibri" pitchFamily="34" charset="-122"/>
                <a:cs typeface="Calibri" pitchFamily="34" charset="-120"/>
              </a:rPr>
              <a:t>Hindi first, then Tamil and Telugu. Script, vocabulary, listening and reading — sold as packs inside the free Bizzing India hook.</a:t>
            </a:r>
            <a:endParaRPr lang="en-US" sz="1150" dirty="0"/>
          </a:p>
        </p:txBody>
      </p:sp>
      <p:sp>
        <p:nvSpPr>
          <p:cNvPr id="14" name="Shape 11"/>
          <p:cNvSpPr/>
          <p:nvPr/>
        </p:nvSpPr>
        <p:spPr>
          <a:xfrm rot="5400000">
            <a:off x="640080" y="4882896"/>
            <a:ext cx="457200" cy="457200"/>
          </a:xfrm>
          <a:prstGeom prst="hexagon">
            <a:avLst/>
          </a:prstGeom>
          <a:solidFill>
            <a:srgbClr val="6C4FE0"/>
          </a:solidFill>
          <a:ln/>
        </p:spPr>
      </p:sp>
      <p:sp>
        <p:nvSpPr>
          <p:cNvPr id="15" name="Text 12"/>
          <p:cNvSpPr/>
          <p:nvPr/>
        </p:nvSpPr>
        <p:spPr>
          <a:xfrm>
            <a:off x="640080" y="4882896"/>
            <a:ext cx="457200" cy="45720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HOW</a:t>
            </a:r>
            <a:endParaRPr lang="en-US" sz="850" dirty="0"/>
          </a:p>
        </p:txBody>
      </p:sp>
      <p:sp>
        <p:nvSpPr>
          <p:cNvPr id="16" name="Text 13"/>
          <p:cNvSpPr/>
          <p:nvPr/>
        </p:nvSpPr>
        <p:spPr>
          <a:xfrm>
            <a:off x="1261872" y="4864608"/>
            <a:ext cx="4114800" cy="1280160"/>
          </a:xfrm>
          <a:prstGeom prst="rect">
            <a:avLst/>
          </a:prstGeom>
          <a:noFill/>
          <a:ln/>
        </p:spPr>
        <p:txBody>
          <a:bodyPr wrap="square" lIns="0" tIns="0" rIns="0" bIns="0" rtlCol="0" anchor="ctr"/>
          <a:lstStyle/>
          <a:p>
            <a:pPr indent="0" marL="0">
              <a:lnSpc>
                <a:spcPts val="1550"/>
              </a:lnSpc>
              <a:buNone/>
            </a:pPr>
            <a:r>
              <a:rPr lang="en-US" sz="1150" dirty="0">
                <a:solidFill>
                  <a:srgbClr val="4A4360"/>
                </a:solidFill>
                <a:latin typeface="Calibri" pitchFamily="34" charset="0"/>
                <a:ea typeface="Calibri" pitchFamily="34" charset="-122"/>
                <a:cs typeface="Calibri" pitchFamily="34" charset="-120"/>
              </a:rPr>
              <a:t>The Google TTS pipeline that voiced 128k English words does the expensive part again in another language.</a:t>
            </a:r>
            <a:endParaRPr lang="en-US" sz="1150" dirty="0"/>
          </a:p>
        </p:txBody>
      </p:sp>
      <p:sp>
        <p:nvSpPr>
          <p:cNvPr id="17" name="Shape 14"/>
          <p:cNvSpPr/>
          <p:nvPr/>
        </p:nvSpPr>
        <p:spPr>
          <a:xfrm>
            <a:off x="5577840" y="2048256"/>
            <a:ext cx="5669280" cy="2103120"/>
          </a:xfrm>
          <a:prstGeom prst="roundRect">
            <a:avLst>
              <a:gd name="adj" fmla="val 6087"/>
            </a:avLst>
          </a:prstGeom>
          <a:solidFill>
            <a:srgbClr val="E8F4EC"/>
          </a:solidFill>
          <a:ln/>
          <a:effectLst>
            <a:outerShdw sx="100000" sy="100000" kx="0" ky="0" algn="bl" rotWithShape="0" blurRad="127000" dist="25400" dir="5400000">
              <a:srgbClr val="241E33">
                <a:alpha val="10000"/>
              </a:srgbClr>
            </a:outerShdw>
          </a:effectLst>
        </p:spPr>
      </p:sp>
      <p:sp>
        <p:nvSpPr>
          <p:cNvPr id="18" name="Text 15"/>
          <p:cNvSpPr/>
          <p:nvPr/>
        </p:nvSpPr>
        <p:spPr>
          <a:xfrm>
            <a:off x="5870448" y="2194560"/>
            <a:ext cx="5120640" cy="256032"/>
          </a:xfrm>
          <a:prstGeom prst="rect">
            <a:avLst/>
          </a:prstGeom>
          <a:noFill/>
          <a:ln/>
        </p:spPr>
        <p:txBody>
          <a:bodyPr wrap="square" lIns="0" tIns="0" rIns="0" bIns="0" rtlCol="0" anchor="ctr"/>
          <a:lstStyle/>
          <a:p>
            <a:pPr indent="0" marL="0">
              <a:buNone/>
            </a:pPr>
            <a:r>
              <a:rPr lang="en-US" sz="900" b="1" spc="180" kern="0" dirty="0">
                <a:solidFill>
                  <a:srgbClr val="178A4C"/>
                </a:solidFill>
                <a:latin typeface="Calibri" pitchFamily="34" charset="0"/>
                <a:ea typeface="Calibri" pitchFamily="34" charset="-122"/>
                <a:cs typeface="Calibri" pitchFamily="34" charset="-120"/>
              </a:rPr>
              <a:t>WHAT ITS EDGE WOULD BE</a:t>
            </a:r>
            <a:endParaRPr lang="en-US" sz="900" dirty="0"/>
          </a:p>
        </p:txBody>
      </p:sp>
      <p:sp>
        <p:nvSpPr>
          <p:cNvPr id="19" name="Text 16"/>
          <p:cNvSpPr/>
          <p:nvPr/>
        </p:nvSpPr>
        <p:spPr>
          <a:xfrm>
            <a:off x="5907024" y="2487168"/>
            <a:ext cx="5074920" cy="1554480"/>
          </a:xfrm>
          <a:prstGeom prst="rect">
            <a:avLst/>
          </a:prstGeom>
          <a:noFill/>
          <a:ln/>
        </p:spPr>
        <p:txBody>
          <a:bodyPr wrap="square" lIns="0" tIns="0" rIns="0" bIns="0" rtlCol="0" anchor="ctr"/>
          <a:lstStyle/>
          <a:p>
            <a:pPr marL="342900" indent="-342900">
              <a:lnSpc>
                <a:spcPts val="1400"/>
              </a:lnSpc>
              <a:spcAft>
                <a:spcPts val="600"/>
              </a:spcAft>
              <a:buSzPct val="100000"/>
              <a:buChar char="•"/>
            </a:pPr>
            <a:r>
              <a:rPr lang="en-US" sz="1050" dirty="0">
                <a:solidFill>
                  <a:srgbClr val="1F4A33"/>
                </a:solidFill>
                <a:latin typeface="Calibri" pitchFamily="34" charset="0"/>
                <a:ea typeface="Calibri" pitchFamily="34" charset="-122"/>
                <a:cs typeface="Calibri" pitchFamily="34" charset="-120"/>
              </a:rPr>
              <a:t>Nobody serious is aiming at diaspora heritage language with a real product — the field is Saturday schools and PDF worksheets.</a:t>
            </a:r>
            <a:endParaRPr lang="en-US" sz="1050" dirty="0"/>
          </a:p>
          <a:p>
            <a:pPr marL="342900" indent="-342900">
              <a:lnSpc>
                <a:spcPts val="1400"/>
              </a:lnSpc>
              <a:spcAft>
                <a:spcPts val="600"/>
              </a:spcAft>
              <a:buSzPct val="100000"/>
              <a:buChar char="•"/>
            </a:pPr>
            <a:r>
              <a:rPr lang="en-US" sz="1050" dirty="0">
                <a:solidFill>
                  <a:srgbClr val="1F4A33"/>
                </a:solidFill>
                <a:latin typeface="Calibri" pitchFamily="34" charset="0"/>
                <a:ea typeface="Calibri" pitchFamily="34" charset="-122"/>
                <a:cs typeface="Calibri" pitchFamily="34" charset="-120"/>
              </a:rPr>
              <a:t>One brand across many Indian languages, rather than a separate app per language.</a:t>
            </a:r>
            <a:endParaRPr lang="en-US" sz="1050" dirty="0"/>
          </a:p>
        </p:txBody>
      </p:sp>
      <p:sp>
        <p:nvSpPr>
          <p:cNvPr id="20" name="Shape 17"/>
          <p:cNvSpPr/>
          <p:nvPr/>
        </p:nvSpPr>
        <p:spPr>
          <a:xfrm>
            <a:off x="5577840" y="4315968"/>
            <a:ext cx="5669280" cy="2103120"/>
          </a:xfrm>
          <a:prstGeom prst="roundRect">
            <a:avLst>
              <a:gd name="adj" fmla="val 6087"/>
            </a:avLst>
          </a:prstGeom>
          <a:solidFill>
            <a:srgbClr val="FBF3E0"/>
          </a:solidFill>
          <a:ln/>
          <a:effectLst>
            <a:outerShdw sx="100000" sy="100000" kx="0" ky="0" algn="bl" rotWithShape="0" blurRad="127000" dist="25400" dir="5400000">
              <a:srgbClr val="241E33">
                <a:alpha val="10000"/>
              </a:srgbClr>
            </a:outerShdw>
          </a:effectLst>
        </p:spPr>
      </p:sp>
      <p:sp>
        <p:nvSpPr>
          <p:cNvPr id="21" name="Text 18"/>
          <p:cNvSpPr/>
          <p:nvPr/>
        </p:nvSpPr>
        <p:spPr>
          <a:xfrm>
            <a:off x="5870448" y="4462272"/>
            <a:ext cx="5120640" cy="256032"/>
          </a:xfrm>
          <a:prstGeom prst="rect">
            <a:avLst/>
          </a:prstGeom>
          <a:noFill/>
          <a:ln/>
        </p:spPr>
        <p:txBody>
          <a:bodyPr wrap="square" lIns="0" tIns="0" rIns="0" bIns="0" rtlCol="0" anchor="ctr"/>
          <a:lstStyle/>
          <a:p>
            <a:pPr indent="0" marL="0">
              <a:buNone/>
            </a:pPr>
            <a:r>
              <a:rPr lang="en-US" sz="900" b="1" spc="180" kern="0" dirty="0">
                <a:solidFill>
                  <a:srgbClr val="8A5B00"/>
                </a:solidFill>
                <a:latin typeface="Calibri" pitchFamily="34" charset="0"/>
                <a:ea typeface="Calibri" pitchFamily="34" charset="-122"/>
                <a:cs typeface="Calibri" pitchFamily="34" charset="-120"/>
              </a:rPr>
              <a:t>WHAT STILL HAS TO BE BUILT</a:t>
            </a:r>
            <a:endParaRPr lang="en-US" sz="900" dirty="0"/>
          </a:p>
        </p:txBody>
      </p:sp>
      <p:sp>
        <p:nvSpPr>
          <p:cNvPr id="22" name="Text 19"/>
          <p:cNvSpPr/>
          <p:nvPr/>
        </p:nvSpPr>
        <p:spPr>
          <a:xfrm>
            <a:off x="5907024" y="4754880"/>
            <a:ext cx="5074920" cy="1554480"/>
          </a:xfrm>
          <a:prstGeom prst="rect">
            <a:avLst/>
          </a:prstGeom>
          <a:noFill/>
          <a:ln/>
        </p:spPr>
        <p:txBody>
          <a:bodyPr wrap="square" lIns="0" tIns="0" rIns="0" bIns="0" rtlCol="0" anchor="ctr"/>
          <a:lstStyle/>
          <a:p>
            <a:pPr marL="342900" indent="-342900">
              <a:lnSpc>
                <a:spcPts val="1400"/>
              </a:lnSpc>
              <a:spcAft>
                <a:spcPts val="600"/>
              </a:spcAft>
              <a:buSzPct val="100000"/>
              <a:buChar char="•"/>
            </a:pPr>
            <a:r>
              <a:rPr lang="en-US" sz="1050" dirty="0">
                <a:solidFill>
                  <a:srgbClr val="8A5B00"/>
                </a:solidFill>
                <a:latin typeface="Calibri" pitchFamily="34" charset="0"/>
                <a:ea typeface="Calibri" pitchFamily="34" charset="-122"/>
                <a:cs typeface="Calibri" pitchFamily="34" charset="-120"/>
              </a:rPr>
              <a:t>A per-language content build — this is the real cost, and it repeats per language</a:t>
            </a:r>
            <a:endParaRPr lang="en-US" sz="1050" dirty="0"/>
          </a:p>
          <a:p>
            <a:pPr marL="342900" indent="-342900">
              <a:lnSpc>
                <a:spcPts val="1400"/>
              </a:lnSpc>
              <a:spcAft>
                <a:spcPts val="600"/>
              </a:spcAft>
              <a:buSzPct val="100000"/>
              <a:buChar char="•"/>
            </a:pPr>
            <a:r>
              <a:rPr lang="en-US" sz="1050" dirty="0">
                <a:solidFill>
                  <a:srgbClr val="8A5B00"/>
                </a:solidFill>
                <a:latin typeface="Calibri" pitchFamily="34" charset="0"/>
                <a:ea typeface="Calibri" pitchFamily="34" charset="-122"/>
                <a:cs typeface="Calibri" pitchFamily="34" charset="-120"/>
              </a:rPr>
              <a:t>Non-Latin script rendering and input, which the app has never done</a:t>
            </a:r>
            <a:endParaRPr lang="en-US" sz="1050" dirty="0"/>
          </a:p>
          <a:p>
            <a:pPr marL="342900" indent="-342900">
              <a:lnSpc>
                <a:spcPts val="1400"/>
              </a:lnSpc>
              <a:spcAft>
                <a:spcPts val="600"/>
              </a:spcAft>
              <a:buSzPct val="100000"/>
              <a:buChar char="•"/>
            </a:pPr>
            <a:r>
              <a:rPr lang="en-US" sz="1050" dirty="0">
                <a:solidFill>
                  <a:srgbClr val="8A5B00"/>
                </a:solidFill>
                <a:latin typeface="Calibri" pitchFamily="34" charset="0"/>
                <a:ea typeface="Calibri" pitchFamily="34" charset="-122"/>
                <a:cs typeface="Calibri" pitchFamily="34" charset="-120"/>
              </a:rPr>
              <a:t>A decision on which language ships second, on family demand rather than speaker counts</a:t>
            </a:r>
            <a:endParaRPr lang="en-US" sz="1050" dirty="0"/>
          </a:p>
        </p:txBody>
      </p:sp>
      <p:sp>
        <p:nvSpPr>
          <p:cNvPr id="23" name="Text 20"/>
          <p:cNvSpPr/>
          <p:nvPr/>
        </p:nvSpPr>
        <p:spPr>
          <a:xfrm>
            <a:off x="640080" y="6272784"/>
            <a:ext cx="4846320" cy="310896"/>
          </a:xfrm>
          <a:prstGeom prst="rect">
            <a:avLst/>
          </a:prstGeom>
          <a:noFill/>
          <a:ln/>
        </p:spPr>
        <p:txBody>
          <a:bodyPr wrap="square" lIns="0" tIns="0" rIns="0" bIns="0" rtlCol="0" anchor="ctr"/>
          <a:lstStyle/>
          <a:p>
            <a:pPr indent="0" marL="0">
              <a:buNone/>
            </a:pPr>
            <a:r>
              <a:rPr lang="en-US" sz="1050" b="1" dirty="0">
                <a:solidFill>
                  <a:srgbClr val="7A7291"/>
                </a:solidFill>
                <a:latin typeface="Calibri" pitchFamily="34" charset="0"/>
                <a:ea typeface="Calibri" pitchFamily="34" charset="-122"/>
                <a:cs typeface="Calibri" pitchFamily="34" charset="-120"/>
              </a:rPr>
              <a:t>Ages 5–16</a:t>
            </a:r>
            <a:pPr indent="0" marL="0">
              <a:buNone/>
            </a:pPr>
            <a:r>
              <a:rPr lang="en-US" sz="1050" dirty="0">
                <a:solidFill>
                  <a:srgbClr val="7A7291"/>
                </a:solidFill>
                <a:latin typeface="Calibri" pitchFamily="34" charset="0"/>
                <a:ea typeface="Calibri" pitchFamily="34" charset="-122"/>
                <a:cs typeface="Calibri" pitchFamily="34" charset="-120"/>
              </a:rPr>
              <a:t>   ·   engine reuse: </a:t>
            </a:r>
            <a:pPr indent="0" marL="0">
              <a:buNone/>
            </a:pPr>
            <a:r>
              <a:rPr lang="en-US" sz="1050" b="1" dirty="0">
                <a:solidFill>
                  <a:srgbClr val="7A7291"/>
                </a:solidFill>
                <a:latin typeface="Calibri" pitchFamily="34" charset="0"/>
                <a:ea typeface="Calibri" pitchFamily="34" charset="-122"/>
                <a:cs typeface="Calibri" pitchFamily="34" charset="-120"/>
              </a:rPr>
              <a:t>Audio pipeline, drills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02336"/>
            <a:ext cx="7315200" cy="256032"/>
          </a:xfrm>
          <a:prstGeom prst="rect">
            <a:avLst/>
          </a:prstGeom>
          <a:noFill/>
          <a:ln/>
        </p:spPr>
        <p:txBody>
          <a:bodyPr wrap="square" lIns="0" tIns="0" rIns="0" bIns="0" rtlCol="0" anchor="ctr"/>
          <a:lstStyle/>
          <a:p>
            <a:pPr indent="0" marL="0">
              <a:buNone/>
            </a:pPr>
            <a:r>
              <a:rPr lang="en-US" sz="1150" b="1" spc="240" kern="0" dirty="0">
                <a:solidFill>
                  <a:srgbClr val="6C4FE0"/>
                </a:solidFill>
                <a:latin typeface="Calibri" pitchFamily="34" charset="0"/>
                <a:ea typeface="Calibri" pitchFamily="34" charset="-122"/>
                <a:cs typeface="Calibri" pitchFamily="34" charset="-120"/>
              </a:rPr>
              <a:t>PRODUCT 4 OF 8</a:t>
            </a:r>
            <a:endParaRPr lang="en-US" sz="1150" dirty="0"/>
          </a:p>
        </p:txBody>
      </p:sp>
      <p:sp>
        <p:nvSpPr>
          <p:cNvPr id="3" name="Text 1"/>
          <p:cNvSpPr/>
          <p:nvPr/>
        </p:nvSpPr>
        <p:spPr>
          <a:xfrm>
            <a:off x="640080" y="694944"/>
            <a:ext cx="7863840" cy="749808"/>
          </a:xfrm>
          <a:prstGeom prst="rect">
            <a:avLst/>
          </a:prstGeom>
          <a:noFill/>
          <a:ln/>
        </p:spPr>
        <p:txBody>
          <a:bodyPr wrap="square" lIns="0" tIns="0" rIns="0" bIns="0" rtlCol="0" anchor="ctr"/>
          <a:lstStyle/>
          <a:p>
            <a:pPr indent="0" marL="0">
              <a:buNone/>
            </a:pPr>
            <a:r>
              <a:rPr lang="en-US" sz="2900" b="1" dirty="0">
                <a:solidFill>
                  <a:srgbClr val="241E33"/>
                </a:solidFill>
                <a:latin typeface="Cambria" pitchFamily="34" charset="0"/>
                <a:ea typeface="Cambria" pitchFamily="34" charset="-122"/>
                <a:cs typeface="Cambria" pitchFamily="34" charset="-120"/>
              </a:rPr>
              <a:t>Bizzing Eleven</a:t>
            </a:r>
            <a:endParaRPr lang="en-US" sz="2900" dirty="0"/>
          </a:p>
        </p:txBody>
      </p:sp>
      <p:pic>
        <p:nvPicPr>
          <p:cNvPr id="4" name="Image 0" descr="preencoded.png">    </p:cNvPr>
          <p:cNvPicPr>
            <a:picLocks noChangeAspect="1"/>
          </p:cNvPicPr>
          <p:nvPr/>
        </p:nvPicPr>
        <p:blipFill>
          <a:blip r:embed="rId1"/>
          <a:stretch>
            <a:fillRect/>
          </a:stretch>
        </p:blipFill>
        <p:spPr>
          <a:xfrm>
            <a:off x="10012680" y="1298448"/>
            <a:ext cx="1234440" cy="1234440"/>
          </a:xfrm>
          <a:prstGeom prst="rect">
            <a:avLst/>
          </a:prstGeom>
        </p:spPr>
      </p:pic>
      <p:sp>
        <p:nvSpPr>
          <p:cNvPr id="5" name="Shape 2"/>
          <p:cNvSpPr/>
          <p:nvPr/>
        </p:nvSpPr>
        <p:spPr>
          <a:xfrm>
            <a:off x="8732520" y="749808"/>
            <a:ext cx="2514600" cy="384048"/>
          </a:xfrm>
          <a:prstGeom prst="roundRect">
            <a:avLst>
              <a:gd name="adj" fmla="val 50000"/>
            </a:avLst>
          </a:prstGeom>
          <a:solidFill>
            <a:srgbClr val="6C4FE0"/>
          </a:solidFill>
          <a:ln/>
        </p:spPr>
      </p:sp>
      <p:sp>
        <p:nvSpPr>
          <p:cNvPr id="6" name="Text 3"/>
          <p:cNvSpPr/>
          <p:nvPr/>
        </p:nvSpPr>
        <p:spPr>
          <a:xfrm>
            <a:off x="8732520" y="749808"/>
            <a:ext cx="2514600" cy="384048"/>
          </a:xfrm>
          <a:prstGeom prst="rect">
            <a:avLst/>
          </a:prstGeom>
          <a:noFill/>
          <a:ln/>
        </p:spPr>
        <p:txBody>
          <a:bodyPr wrap="square" lIns="0" tIns="0" rIns="0" bIns="0" rtlCol="0" anchor="ctr"/>
          <a:lstStyle/>
          <a:p>
            <a:pPr algn="ctr" indent="0" marL="0">
              <a:buNone/>
            </a:pPr>
            <a:r>
              <a:rPr lang="en-US" sz="1000" b="1" spc="120" kern="0" dirty="0">
                <a:solidFill>
                  <a:srgbClr val="FFFFFF"/>
                </a:solidFill>
                <a:latin typeface="Calibri" pitchFamily="34" charset="0"/>
                <a:ea typeface="Calibri" pitchFamily="34" charset="-122"/>
                <a:cs typeface="Calibri" pitchFamily="34" charset="-120"/>
              </a:rPr>
              <a:t>NEXT</a:t>
            </a:r>
            <a:endParaRPr lang="en-US" sz="1000" dirty="0"/>
          </a:p>
        </p:txBody>
      </p:sp>
      <p:sp>
        <p:nvSpPr>
          <p:cNvPr id="7" name="Text 4"/>
          <p:cNvSpPr/>
          <p:nvPr/>
        </p:nvSpPr>
        <p:spPr>
          <a:xfrm>
            <a:off x="640080" y="1444752"/>
            <a:ext cx="8778240" cy="585216"/>
          </a:xfrm>
          <a:prstGeom prst="rect">
            <a:avLst/>
          </a:prstGeom>
          <a:noFill/>
          <a:ln/>
        </p:spPr>
        <p:txBody>
          <a:bodyPr wrap="square" lIns="0" tIns="0" rIns="0" bIns="0" rtlCol="0" anchor="ctr"/>
          <a:lstStyle/>
          <a:p>
            <a:pPr indent="0" marL="0">
              <a:lnSpc>
                <a:spcPts val="2100"/>
              </a:lnSpc>
              <a:buNone/>
            </a:pPr>
            <a:r>
              <a:rPr lang="en-US" sz="1600" i="1" dirty="0">
                <a:solidFill>
                  <a:srgbClr val="6C4FE0"/>
                </a:solidFill>
                <a:latin typeface="Cambria" pitchFamily="34" charset="0"/>
                <a:ea typeface="Cambria" pitchFamily="34" charset="-122"/>
                <a:cs typeface="Cambria" pitchFamily="34" charset="-120"/>
              </a:rPr>
              <a:t>The 11+ verbal paper stops being a mystery a family has to buy tutoring to solve.</a:t>
            </a:r>
            <a:endParaRPr lang="en-US" sz="1600" dirty="0"/>
          </a:p>
        </p:txBody>
      </p:sp>
      <p:sp>
        <p:nvSpPr>
          <p:cNvPr id="8" name="Shape 5"/>
          <p:cNvSpPr/>
          <p:nvPr/>
        </p:nvSpPr>
        <p:spPr>
          <a:xfrm rot="5400000">
            <a:off x="640080" y="2103120"/>
            <a:ext cx="457200" cy="457200"/>
          </a:xfrm>
          <a:prstGeom prst="hexagon">
            <a:avLst/>
          </a:prstGeom>
          <a:solidFill>
            <a:srgbClr val="6C4FE0"/>
          </a:solidFill>
          <a:ln/>
        </p:spPr>
      </p:sp>
      <p:sp>
        <p:nvSpPr>
          <p:cNvPr id="9" name="Text 6"/>
          <p:cNvSpPr/>
          <p:nvPr/>
        </p:nvSpPr>
        <p:spPr>
          <a:xfrm>
            <a:off x="640080" y="2103120"/>
            <a:ext cx="457200" cy="45720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WHY</a:t>
            </a:r>
            <a:endParaRPr lang="en-US" sz="850" dirty="0"/>
          </a:p>
        </p:txBody>
      </p:sp>
      <p:sp>
        <p:nvSpPr>
          <p:cNvPr id="10" name="Text 7"/>
          <p:cNvSpPr/>
          <p:nvPr/>
        </p:nvSpPr>
        <p:spPr>
          <a:xfrm>
            <a:off x="1261872" y="2084832"/>
            <a:ext cx="4114800" cy="1280160"/>
          </a:xfrm>
          <a:prstGeom prst="rect">
            <a:avLst/>
          </a:prstGeom>
          <a:noFill/>
          <a:ln/>
        </p:spPr>
        <p:txBody>
          <a:bodyPr wrap="square" lIns="0" tIns="0" rIns="0" bIns="0" rtlCol="0" anchor="ctr"/>
          <a:lstStyle/>
          <a:p>
            <a:pPr indent="0" marL="0">
              <a:lnSpc>
                <a:spcPts val="1550"/>
              </a:lnSpc>
              <a:buNone/>
            </a:pPr>
            <a:r>
              <a:rPr lang="en-US" sz="1150" dirty="0">
                <a:solidFill>
                  <a:srgbClr val="4A4360"/>
                </a:solidFill>
                <a:latin typeface="Calibri" pitchFamily="34" charset="0"/>
                <a:ea typeface="Calibri" pitchFamily="34" charset="-122"/>
                <a:cs typeface="Calibri" pitchFamily="34" charset="-120"/>
              </a:rPr>
              <a:t>British Indian families spend heavily and start at eight. The incumbents are photocopied workbooks and past papers with no feedback loop.</a:t>
            </a:r>
            <a:endParaRPr lang="en-US" sz="1150" dirty="0"/>
          </a:p>
        </p:txBody>
      </p:sp>
      <p:sp>
        <p:nvSpPr>
          <p:cNvPr id="11" name="Shape 8"/>
          <p:cNvSpPr/>
          <p:nvPr/>
        </p:nvSpPr>
        <p:spPr>
          <a:xfrm rot="5400000">
            <a:off x="640080" y="3493008"/>
            <a:ext cx="457200" cy="457200"/>
          </a:xfrm>
          <a:prstGeom prst="hexagon">
            <a:avLst/>
          </a:prstGeom>
          <a:solidFill>
            <a:srgbClr val="F0B429"/>
          </a:solidFill>
          <a:ln/>
        </p:spPr>
      </p:sp>
      <p:sp>
        <p:nvSpPr>
          <p:cNvPr id="12" name="Text 9"/>
          <p:cNvSpPr/>
          <p:nvPr/>
        </p:nvSpPr>
        <p:spPr>
          <a:xfrm>
            <a:off x="640080" y="3493008"/>
            <a:ext cx="457200" cy="457200"/>
          </a:xfrm>
          <a:prstGeom prst="rect">
            <a:avLst/>
          </a:prstGeom>
          <a:noFill/>
          <a:ln/>
        </p:spPr>
        <p:txBody>
          <a:bodyPr wrap="square" lIns="0" tIns="0" rIns="0" bIns="0" rtlCol="0" anchor="ctr"/>
          <a:lstStyle/>
          <a:p>
            <a:pPr algn="ctr" indent="0" marL="0">
              <a:buNone/>
            </a:pPr>
            <a:r>
              <a:rPr lang="en-US" sz="850" b="1" dirty="0">
                <a:solidFill>
                  <a:srgbClr val="241E33"/>
                </a:solidFill>
                <a:latin typeface="Calibri" pitchFamily="34" charset="0"/>
                <a:ea typeface="Calibri" pitchFamily="34" charset="-122"/>
                <a:cs typeface="Calibri" pitchFamily="34" charset="-120"/>
              </a:rPr>
              <a:t>WHAT</a:t>
            </a:r>
            <a:endParaRPr lang="en-US" sz="850" dirty="0"/>
          </a:p>
        </p:txBody>
      </p:sp>
      <p:sp>
        <p:nvSpPr>
          <p:cNvPr id="13" name="Text 10"/>
          <p:cNvSpPr/>
          <p:nvPr/>
        </p:nvSpPr>
        <p:spPr>
          <a:xfrm>
            <a:off x="1261872" y="3474720"/>
            <a:ext cx="4114800" cy="1280160"/>
          </a:xfrm>
          <a:prstGeom prst="rect">
            <a:avLst/>
          </a:prstGeom>
          <a:noFill/>
          <a:ln/>
        </p:spPr>
        <p:txBody>
          <a:bodyPr wrap="square" lIns="0" tIns="0" rIns="0" bIns="0" rtlCol="0" anchor="ctr"/>
          <a:lstStyle/>
          <a:p>
            <a:pPr indent="0" marL="0">
              <a:lnSpc>
                <a:spcPts val="1550"/>
              </a:lnSpc>
              <a:buNone/>
            </a:pPr>
            <a:r>
              <a:rPr lang="en-US" sz="1150" dirty="0">
                <a:solidFill>
                  <a:srgbClr val="4A4360"/>
                </a:solidFill>
                <a:latin typeface="Calibri" pitchFamily="34" charset="0"/>
                <a:ea typeface="Calibri" pitchFamily="34" charset="-122"/>
                <a:cs typeface="Calibri" pitchFamily="34" charset="-120"/>
              </a:rPr>
              <a:t>Synonyms, antonyms, homophones, odd-one-out, word codes, letter manipulation and comprehension vocabulary — the verbal paper, drilled.</a:t>
            </a:r>
            <a:endParaRPr lang="en-US" sz="1150" dirty="0"/>
          </a:p>
        </p:txBody>
      </p:sp>
      <p:sp>
        <p:nvSpPr>
          <p:cNvPr id="14" name="Shape 11"/>
          <p:cNvSpPr/>
          <p:nvPr/>
        </p:nvSpPr>
        <p:spPr>
          <a:xfrm rot="5400000">
            <a:off x="640080" y="4882896"/>
            <a:ext cx="457200" cy="457200"/>
          </a:xfrm>
          <a:prstGeom prst="hexagon">
            <a:avLst/>
          </a:prstGeom>
          <a:solidFill>
            <a:srgbClr val="6C4FE0"/>
          </a:solidFill>
          <a:ln/>
        </p:spPr>
      </p:sp>
      <p:sp>
        <p:nvSpPr>
          <p:cNvPr id="15" name="Text 12"/>
          <p:cNvSpPr/>
          <p:nvPr/>
        </p:nvSpPr>
        <p:spPr>
          <a:xfrm>
            <a:off x="640080" y="4882896"/>
            <a:ext cx="457200" cy="45720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HOW</a:t>
            </a:r>
            <a:endParaRPr lang="en-US" sz="850" dirty="0"/>
          </a:p>
        </p:txBody>
      </p:sp>
      <p:sp>
        <p:nvSpPr>
          <p:cNvPr id="16" name="Text 13"/>
          <p:cNvSpPr/>
          <p:nvPr/>
        </p:nvSpPr>
        <p:spPr>
          <a:xfrm>
            <a:off x="1261872" y="4864608"/>
            <a:ext cx="4114800" cy="1280160"/>
          </a:xfrm>
          <a:prstGeom prst="rect">
            <a:avLst/>
          </a:prstGeom>
          <a:noFill/>
          <a:ln/>
        </p:spPr>
        <p:txBody>
          <a:bodyPr wrap="square" lIns="0" tIns="0" rIns="0" bIns="0" rtlCol="0" anchor="ctr"/>
          <a:lstStyle/>
          <a:p>
            <a:pPr indent="0" marL="0">
              <a:lnSpc>
                <a:spcPts val="1550"/>
              </a:lnSpc>
              <a:buNone/>
            </a:pPr>
            <a:r>
              <a:rPr lang="en-US" sz="1150" dirty="0">
                <a:solidFill>
                  <a:srgbClr val="4A4360"/>
                </a:solidFill>
                <a:latin typeface="Calibri" pitchFamily="34" charset="0"/>
                <a:ea typeface="Calibri" pitchFamily="34" charset="-122"/>
                <a:cs typeface="Calibri" pitchFamily="34" charset="-120"/>
              </a:rPr>
              <a:t>Closer to a re-skin than a new product. The homophone groups, diacritics, alternate pronunciations and the 128k library already exist.</a:t>
            </a:r>
            <a:endParaRPr lang="en-US" sz="1150" dirty="0"/>
          </a:p>
        </p:txBody>
      </p:sp>
      <p:sp>
        <p:nvSpPr>
          <p:cNvPr id="17" name="Shape 14"/>
          <p:cNvSpPr/>
          <p:nvPr/>
        </p:nvSpPr>
        <p:spPr>
          <a:xfrm>
            <a:off x="5577840" y="2048256"/>
            <a:ext cx="5669280" cy="2103120"/>
          </a:xfrm>
          <a:prstGeom prst="roundRect">
            <a:avLst>
              <a:gd name="adj" fmla="val 6087"/>
            </a:avLst>
          </a:prstGeom>
          <a:solidFill>
            <a:srgbClr val="E8F4EC"/>
          </a:solidFill>
          <a:ln/>
          <a:effectLst>
            <a:outerShdw sx="100000" sy="100000" kx="0" ky="0" algn="bl" rotWithShape="0" blurRad="127000" dist="25400" dir="5400000">
              <a:srgbClr val="241E33">
                <a:alpha val="10000"/>
              </a:srgbClr>
            </a:outerShdw>
          </a:effectLst>
        </p:spPr>
      </p:sp>
      <p:sp>
        <p:nvSpPr>
          <p:cNvPr id="18" name="Text 15"/>
          <p:cNvSpPr/>
          <p:nvPr/>
        </p:nvSpPr>
        <p:spPr>
          <a:xfrm>
            <a:off x="5870448" y="2194560"/>
            <a:ext cx="5120640" cy="256032"/>
          </a:xfrm>
          <a:prstGeom prst="rect">
            <a:avLst/>
          </a:prstGeom>
          <a:noFill/>
          <a:ln/>
        </p:spPr>
        <p:txBody>
          <a:bodyPr wrap="square" lIns="0" tIns="0" rIns="0" bIns="0" rtlCol="0" anchor="ctr"/>
          <a:lstStyle/>
          <a:p>
            <a:pPr indent="0" marL="0">
              <a:buNone/>
            </a:pPr>
            <a:r>
              <a:rPr lang="en-US" sz="900" b="1" spc="180" kern="0" dirty="0">
                <a:solidFill>
                  <a:srgbClr val="178A4C"/>
                </a:solidFill>
                <a:latin typeface="Calibri" pitchFamily="34" charset="0"/>
                <a:ea typeface="Calibri" pitchFamily="34" charset="-122"/>
                <a:cs typeface="Calibri" pitchFamily="34" charset="-120"/>
              </a:rPr>
              <a:t>WHAT ITS EDGE WOULD BE</a:t>
            </a:r>
            <a:endParaRPr lang="en-US" sz="900" dirty="0"/>
          </a:p>
        </p:txBody>
      </p:sp>
      <p:sp>
        <p:nvSpPr>
          <p:cNvPr id="19" name="Text 16"/>
          <p:cNvSpPr/>
          <p:nvPr/>
        </p:nvSpPr>
        <p:spPr>
          <a:xfrm>
            <a:off x="5907024" y="2487168"/>
            <a:ext cx="5074920" cy="1554480"/>
          </a:xfrm>
          <a:prstGeom prst="rect">
            <a:avLst/>
          </a:prstGeom>
          <a:noFill/>
          <a:ln/>
        </p:spPr>
        <p:txBody>
          <a:bodyPr wrap="square" lIns="0" tIns="0" rIns="0" bIns="0" rtlCol="0" anchor="ctr"/>
          <a:lstStyle/>
          <a:p>
            <a:pPr marL="342900" indent="-342900">
              <a:lnSpc>
                <a:spcPts val="1400"/>
              </a:lnSpc>
              <a:spcAft>
                <a:spcPts val="600"/>
              </a:spcAft>
              <a:buSzPct val="100000"/>
              <a:buChar char="•"/>
            </a:pPr>
            <a:r>
              <a:rPr lang="en-US" sz="1050" dirty="0">
                <a:solidFill>
                  <a:srgbClr val="1F4A33"/>
                </a:solidFill>
                <a:latin typeface="Calibri" pitchFamily="34" charset="0"/>
                <a:ea typeface="Calibri" pitchFamily="34" charset="-122"/>
                <a:cs typeface="Calibri" pitchFamily="34" charset="-120"/>
              </a:rPr>
              <a:t>It would be the only 11+ verbal product where every word is spoken and difficulty adapts to the child rather than to the page number.</a:t>
            </a:r>
            <a:endParaRPr lang="en-US" sz="1050" dirty="0"/>
          </a:p>
        </p:txBody>
      </p:sp>
      <p:sp>
        <p:nvSpPr>
          <p:cNvPr id="20" name="Shape 17"/>
          <p:cNvSpPr/>
          <p:nvPr/>
        </p:nvSpPr>
        <p:spPr>
          <a:xfrm>
            <a:off x="5577840" y="4315968"/>
            <a:ext cx="5669280" cy="2103120"/>
          </a:xfrm>
          <a:prstGeom prst="roundRect">
            <a:avLst>
              <a:gd name="adj" fmla="val 6087"/>
            </a:avLst>
          </a:prstGeom>
          <a:solidFill>
            <a:srgbClr val="FBF3E0"/>
          </a:solidFill>
          <a:ln/>
          <a:effectLst>
            <a:outerShdw sx="100000" sy="100000" kx="0" ky="0" algn="bl" rotWithShape="0" blurRad="127000" dist="25400" dir="5400000">
              <a:srgbClr val="241E33">
                <a:alpha val="10000"/>
              </a:srgbClr>
            </a:outerShdw>
          </a:effectLst>
        </p:spPr>
      </p:sp>
      <p:sp>
        <p:nvSpPr>
          <p:cNvPr id="21" name="Text 18"/>
          <p:cNvSpPr/>
          <p:nvPr/>
        </p:nvSpPr>
        <p:spPr>
          <a:xfrm>
            <a:off x="5870448" y="4462272"/>
            <a:ext cx="5120640" cy="256032"/>
          </a:xfrm>
          <a:prstGeom prst="rect">
            <a:avLst/>
          </a:prstGeom>
          <a:noFill/>
          <a:ln/>
        </p:spPr>
        <p:txBody>
          <a:bodyPr wrap="square" lIns="0" tIns="0" rIns="0" bIns="0" rtlCol="0" anchor="ctr"/>
          <a:lstStyle/>
          <a:p>
            <a:pPr indent="0" marL="0">
              <a:buNone/>
            </a:pPr>
            <a:r>
              <a:rPr lang="en-US" sz="900" b="1" spc="180" kern="0" dirty="0">
                <a:solidFill>
                  <a:srgbClr val="8A5B00"/>
                </a:solidFill>
                <a:latin typeface="Calibri" pitchFamily="34" charset="0"/>
                <a:ea typeface="Calibri" pitchFamily="34" charset="-122"/>
                <a:cs typeface="Calibri" pitchFamily="34" charset="-120"/>
              </a:rPr>
              <a:t>WHAT STILL HAS TO BE BUILT</a:t>
            </a:r>
            <a:endParaRPr lang="en-US" sz="900" dirty="0"/>
          </a:p>
        </p:txBody>
      </p:sp>
      <p:sp>
        <p:nvSpPr>
          <p:cNvPr id="22" name="Text 19"/>
          <p:cNvSpPr/>
          <p:nvPr/>
        </p:nvSpPr>
        <p:spPr>
          <a:xfrm>
            <a:off x="5907024" y="4754880"/>
            <a:ext cx="5074920" cy="1554480"/>
          </a:xfrm>
          <a:prstGeom prst="rect">
            <a:avLst/>
          </a:prstGeom>
          <a:noFill/>
          <a:ln/>
        </p:spPr>
        <p:txBody>
          <a:bodyPr wrap="square" lIns="0" tIns="0" rIns="0" bIns="0" rtlCol="0" anchor="ctr"/>
          <a:lstStyle/>
          <a:p>
            <a:pPr marL="342900" indent="-342900">
              <a:lnSpc>
                <a:spcPts val="1400"/>
              </a:lnSpc>
              <a:spcAft>
                <a:spcPts val="600"/>
              </a:spcAft>
              <a:buSzPct val="100000"/>
              <a:buChar char="•"/>
            </a:pPr>
            <a:r>
              <a:rPr lang="en-US" sz="1050" dirty="0">
                <a:solidFill>
                  <a:srgbClr val="8A5B00"/>
                </a:solidFill>
                <a:latin typeface="Calibri" pitchFamily="34" charset="0"/>
                <a:ea typeface="Calibri" pitchFamily="34" charset="-122"/>
                <a:cs typeface="Calibri" pitchFamily="34" charset="-120"/>
              </a:rPr>
              <a:t>The 11+ specific item types — codes, sequences, letter shifts</a:t>
            </a:r>
            <a:endParaRPr lang="en-US" sz="1050" dirty="0"/>
          </a:p>
          <a:p>
            <a:pPr marL="342900" indent="-342900">
              <a:lnSpc>
                <a:spcPts val="1400"/>
              </a:lnSpc>
              <a:spcAft>
                <a:spcPts val="600"/>
              </a:spcAft>
              <a:buSzPct val="100000"/>
              <a:buChar char="•"/>
            </a:pPr>
            <a:r>
              <a:rPr lang="en-US" sz="1050" dirty="0">
                <a:solidFill>
                  <a:srgbClr val="8A5B00"/>
                </a:solidFill>
                <a:latin typeface="Calibri" pitchFamily="34" charset="0"/>
                <a:ea typeface="Calibri" pitchFamily="34" charset="-122"/>
                <a:cs typeface="Calibri" pitchFamily="34" charset="-120"/>
              </a:rPr>
              <a:t>A timed mock-paper mode, because the exam is as much about clock as vocabulary</a:t>
            </a:r>
            <a:endParaRPr lang="en-US" sz="1050" dirty="0"/>
          </a:p>
          <a:p>
            <a:pPr marL="342900" indent="-342900">
              <a:lnSpc>
                <a:spcPts val="1400"/>
              </a:lnSpc>
              <a:spcAft>
                <a:spcPts val="600"/>
              </a:spcAft>
              <a:buSzPct val="100000"/>
              <a:buChar char="•"/>
            </a:pPr>
            <a:r>
              <a:rPr lang="en-US" sz="1050" dirty="0">
                <a:solidFill>
                  <a:srgbClr val="8A5B00"/>
                </a:solidFill>
                <a:latin typeface="Calibri" pitchFamily="34" charset="0"/>
                <a:ea typeface="Calibri" pitchFamily="34" charset="-122"/>
                <a:cs typeface="Calibri" pitchFamily="34" charset="-120"/>
              </a:rPr>
              <a:t>Mapping to what UK grammar schools actually set</a:t>
            </a:r>
            <a:endParaRPr lang="en-US" sz="1050" dirty="0"/>
          </a:p>
        </p:txBody>
      </p:sp>
      <p:sp>
        <p:nvSpPr>
          <p:cNvPr id="23" name="Text 20"/>
          <p:cNvSpPr/>
          <p:nvPr/>
        </p:nvSpPr>
        <p:spPr>
          <a:xfrm>
            <a:off x="640080" y="6272784"/>
            <a:ext cx="4846320" cy="310896"/>
          </a:xfrm>
          <a:prstGeom prst="rect">
            <a:avLst/>
          </a:prstGeom>
          <a:noFill/>
          <a:ln/>
        </p:spPr>
        <p:txBody>
          <a:bodyPr wrap="square" lIns="0" tIns="0" rIns="0" bIns="0" rtlCol="0" anchor="ctr"/>
          <a:lstStyle/>
          <a:p>
            <a:pPr indent="0" marL="0">
              <a:buNone/>
            </a:pPr>
            <a:r>
              <a:rPr lang="en-US" sz="1050" b="1" dirty="0">
                <a:solidFill>
                  <a:srgbClr val="7A7291"/>
                </a:solidFill>
                <a:latin typeface="Calibri" pitchFamily="34" charset="0"/>
                <a:ea typeface="Calibri" pitchFamily="34" charset="-122"/>
                <a:cs typeface="Calibri" pitchFamily="34" charset="-120"/>
              </a:rPr>
              <a:t>Ages 8–11</a:t>
            </a:r>
            <a:pPr indent="0" marL="0">
              <a:buNone/>
            </a:pPr>
            <a:r>
              <a:rPr lang="en-US" sz="1050" dirty="0">
                <a:solidFill>
                  <a:srgbClr val="7A7291"/>
                </a:solidFill>
                <a:latin typeface="Calibri" pitchFamily="34" charset="0"/>
                <a:ea typeface="Calibri" pitchFamily="34" charset="-122"/>
                <a:cs typeface="Calibri" pitchFamily="34" charset="-120"/>
              </a:rPr>
              <a:t>   ·   engine reuse: </a:t>
            </a:r>
            <a:pPr indent="0" marL="0">
              <a:buNone/>
            </a:pPr>
            <a:r>
              <a:rPr lang="en-US" sz="1050" b="1" dirty="0">
                <a:solidFill>
                  <a:srgbClr val="7A7291"/>
                </a:solidFill>
                <a:latin typeface="Calibri" pitchFamily="34" charset="0"/>
                <a:ea typeface="Calibri" pitchFamily="34" charset="-122"/>
                <a:cs typeface="Calibri" pitchFamily="34" charset="-120"/>
              </a:rPr>
              <a:t>Near-total</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02336"/>
            <a:ext cx="7315200" cy="256032"/>
          </a:xfrm>
          <a:prstGeom prst="rect">
            <a:avLst/>
          </a:prstGeom>
          <a:noFill/>
          <a:ln/>
        </p:spPr>
        <p:txBody>
          <a:bodyPr wrap="square" lIns="0" tIns="0" rIns="0" bIns="0" rtlCol="0" anchor="ctr"/>
          <a:lstStyle/>
          <a:p>
            <a:pPr indent="0" marL="0">
              <a:buNone/>
            </a:pPr>
            <a:r>
              <a:rPr lang="en-US" sz="1150" b="1" spc="240" kern="0" dirty="0">
                <a:solidFill>
                  <a:srgbClr val="6C4FE0"/>
                </a:solidFill>
                <a:latin typeface="Calibri" pitchFamily="34" charset="0"/>
                <a:ea typeface="Calibri" pitchFamily="34" charset="-122"/>
                <a:cs typeface="Calibri" pitchFamily="34" charset="-120"/>
              </a:rPr>
              <a:t>PRODUCT 5 OF 8</a:t>
            </a:r>
            <a:endParaRPr lang="en-US" sz="1150" dirty="0"/>
          </a:p>
        </p:txBody>
      </p:sp>
      <p:sp>
        <p:nvSpPr>
          <p:cNvPr id="3" name="Text 1"/>
          <p:cNvSpPr/>
          <p:nvPr/>
        </p:nvSpPr>
        <p:spPr>
          <a:xfrm>
            <a:off x="640080" y="694944"/>
            <a:ext cx="7863840" cy="749808"/>
          </a:xfrm>
          <a:prstGeom prst="rect">
            <a:avLst/>
          </a:prstGeom>
          <a:noFill/>
          <a:ln/>
        </p:spPr>
        <p:txBody>
          <a:bodyPr wrap="square" lIns="0" tIns="0" rIns="0" bIns="0" rtlCol="0" anchor="ctr"/>
          <a:lstStyle/>
          <a:p>
            <a:pPr indent="0" marL="0">
              <a:buNone/>
            </a:pPr>
            <a:r>
              <a:rPr lang="en-US" sz="2900" b="1" dirty="0">
                <a:solidFill>
                  <a:srgbClr val="241E33"/>
                </a:solidFill>
                <a:latin typeface="Cambria" pitchFamily="34" charset="0"/>
                <a:ea typeface="Cambria" pitchFamily="34" charset="-122"/>
                <a:cs typeface="Cambria" pitchFamily="34" charset="-120"/>
              </a:rPr>
              <a:t>Bizzing Buzz</a:t>
            </a:r>
            <a:endParaRPr lang="en-US" sz="2900" dirty="0"/>
          </a:p>
        </p:txBody>
      </p:sp>
      <p:pic>
        <p:nvPicPr>
          <p:cNvPr id="4" name="Image 0" descr="preencoded.png">    </p:cNvPr>
          <p:cNvPicPr>
            <a:picLocks noChangeAspect="1"/>
          </p:cNvPicPr>
          <p:nvPr/>
        </p:nvPicPr>
        <p:blipFill>
          <a:blip r:embed="rId1"/>
          <a:stretch>
            <a:fillRect/>
          </a:stretch>
        </p:blipFill>
        <p:spPr>
          <a:xfrm>
            <a:off x="10012680" y="1298448"/>
            <a:ext cx="1234440" cy="1234440"/>
          </a:xfrm>
          <a:prstGeom prst="rect">
            <a:avLst/>
          </a:prstGeom>
        </p:spPr>
      </p:pic>
      <p:sp>
        <p:nvSpPr>
          <p:cNvPr id="5" name="Shape 2"/>
          <p:cNvSpPr/>
          <p:nvPr/>
        </p:nvSpPr>
        <p:spPr>
          <a:xfrm>
            <a:off x="8732520" y="749808"/>
            <a:ext cx="2514600" cy="384048"/>
          </a:xfrm>
          <a:prstGeom prst="roundRect">
            <a:avLst>
              <a:gd name="adj" fmla="val 50000"/>
            </a:avLst>
          </a:prstGeom>
          <a:solidFill>
            <a:srgbClr val="C4453C"/>
          </a:solidFill>
          <a:ln/>
        </p:spPr>
      </p:sp>
      <p:sp>
        <p:nvSpPr>
          <p:cNvPr id="6" name="Text 3"/>
          <p:cNvSpPr/>
          <p:nvPr/>
        </p:nvSpPr>
        <p:spPr>
          <a:xfrm>
            <a:off x="8732520" y="749808"/>
            <a:ext cx="2514600" cy="384048"/>
          </a:xfrm>
          <a:prstGeom prst="rect">
            <a:avLst/>
          </a:prstGeom>
          <a:noFill/>
          <a:ln/>
        </p:spPr>
        <p:txBody>
          <a:bodyPr wrap="square" lIns="0" tIns="0" rIns="0" bIns="0" rtlCol="0" anchor="ctr"/>
          <a:lstStyle/>
          <a:p>
            <a:pPr algn="ctr" indent="0" marL="0">
              <a:buNone/>
            </a:pPr>
            <a:r>
              <a:rPr lang="en-US" sz="1000" b="1" spc="120" kern="0" dirty="0">
                <a:solidFill>
                  <a:srgbClr val="FFFFFF"/>
                </a:solidFill>
                <a:latin typeface="Calibri" pitchFamily="34" charset="0"/>
                <a:ea typeface="Calibri" pitchFamily="34" charset="-122"/>
                <a:cs typeface="Calibri" pitchFamily="34" charset="-120"/>
              </a:rPr>
              <a:t>WHITE SPACE</a:t>
            </a:r>
            <a:endParaRPr lang="en-US" sz="1000" dirty="0"/>
          </a:p>
        </p:txBody>
      </p:sp>
      <p:sp>
        <p:nvSpPr>
          <p:cNvPr id="7" name="Text 4"/>
          <p:cNvSpPr/>
          <p:nvPr/>
        </p:nvSpPr>
        <p:spPr>
          <a:xfrm>
            <a:off x="640080" y="1444752"/>
            <a:ext cx="8778240" cy="585216"/>
          </a:xfrm>
          <a:prstGeom prst="rect">
            <a:avLst/>
          </a:prstGeom>
          <a:noFill/>
          <a:ln/>
        </p:spPr>
        <p:txBody>
          <a:bodyPr wrap="square" lIns="0" tIns="0" rIns="0" bIns="0" rtlCol="0" anchor="ctr"/>
          <a:lstStyle/>
          <a:p>
            <a:pPr indent="0" marL="0">
              <a:lnSpc>
                <a:spcPts val="2100"/>
              </a:lnSpc>
              <a:buNone/>
            </a:pPr>
            <a:r>
              <a:rPr lang="en-US" sz="1600" i="1" dirty="0">
                <a:solidFill>
                  <a:srgbClr val="6C4FE0"/>
                </a:solidFill>
                <a:latin typeface="Cambria" pitchFamily="34" charset="0"/>
                <a:ea typeface="Cambria" pitchFamily="34" charset="-122"/>
                <a:cs typeface="Cambria" pitchFamily="34" charset="-120"/>
              </a:rPr>
              <a:t>A child who cannot read yet still plays with words every day.</a:t>
            </a:r>
            <a:endParaRPr lang="en-US" sz="1600" dirty="0"/>
          </a:p>
        </p:txBody>
      </p:sp>
      <p:sp>
        <p:nvSpPr>
          <p:cNvPr id="8" name="Shape 5"/>
          <p:cNvSpPr/>
          <p:nvPr/>
        </p:nvSpPr>
        <p:spPr>
          <a:xfrm rot="5400000">
            <a:off x="640080" y="2103120"/>
            <a:ext cx="457200" cy="457200"/>
          </a:xfrm>
          <a:prstGeom prst="hexagon">
            <a:avLst/>
          </a:prstGeom>
          <a:solidFill>
            <a:srgbClr val="6C4FE0"/>
          </a:solidFill>
          <a:ln/>
        </p:spPr>
      </p:sp>
      <p:sp>
        <p:nvSpPr>
          <p:cNvPr id="9" name="Text 6"/>
          <p:cNvSpPr/>
          <p:nvPr/>
        </p:nvSpPr>
        <p:spPr>
          <a:xfrm>
            <a:off x="640080" y="2103120"/>
            <a:ext cx="457200" cy="45720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WHY</a:t>
            </a:r>
            <a:endParaRPr lang="en-US" sz="850" dirty="0"/>
          </a:p>
        </p:txBody>
      </p:sp>
      <p:sp>
        <p:nvSpPr>
          <p:cNvPr id="10" name="Text 7"/>
          <p:cNvSpPr/>
          <p:nvPr/>
        </p:nvSpPr>
        <p:spPr>
          <a:xfrm>
            <a:off x="1261872" y="2084832"/>
            <a:ext cx="4114800" cy="1280160"/>
          </a:xfrm>
          <a:prstGeom prst="rect">
            <a:avLst/>
          </a:prstGeom>
          <a:noFill/>
          <a:ln/>
        </p:spPr>
        <p:txBody>
          <a:bodyPr wrap="square" lIns="0" tIns="0" rIns="0" bIns="0" rtlCol="0" anchor="ctr"/>
          <a:lstStyle/>
          <a:p>
            <a:pPr indent="0" marL="0">
              <a:lnSpc>
                <a:spcPts val="1550"/>
              </a:lnSpc>
              <a:buNone/>
            </a:pPr>
            <a:r>
              <a:rPr lang="en-US" sz="1150" dirty="0">
                <a:solidFill>
                  <a:srgbClr val="4A4360"/>
                </a:solidFill>
                <a:latin typeface="Calibri" pitchFamily="34" charset="0"/>
                <a:ea typeface="Calibri" pitchFamily="34" charset="-122"/>
                <a:cs typeface="Calibri" pitchFamily="34" charset="-120"/>
              </a:rPr>
              <a:t>The family arrives when the first child is four and Bizzing has nothing for them. The younger sibling is lost before they ever get to the Bee — this is the on-ramp gap on the age roadmap.</a:t>
            </a:r>
            <a:endParaRPr lang="en-US" sz="1150" dirty="0"/>
          </a:p>
        </p:txBody>
      </p:sp>
      <p:sp>
        <p:nvSpPr>
          <p:cNvPr id="11" name="Shape 8"/>
          <p:cNvSpPr/>
          <p:nvPr/>
        </p:nvSpPr>
        <p:spPr>
          <a:xfrm rot="5400000">
            <a:off x="640080" y="3493008"/>
            <a:ext cx="457200" cy="457200"/>
          </a:xfrm>
          <a:prstGeom prst="hexagon">
            <a:avLst/>
          </a:prstGeom>
          <a:solidFill>
            <a:srgbClr val="F0B429"/>
          </a:solidFill>
          <a:ln/>
        </p:spPr>
      </p:sp>
      <p:sp>
        <p:nvSpPr>
          <p:cNvPr id="12" name="Text 9"/>
          <p:cNvSpPr/>
          <p:nvPr/>
        </p:nvSpPr>
        <p:spPr>
          <a:xfrm>
            <a:off x="640080" y="3493008"/>
            <a:ext cx="457200" cy="457200"/>
          </a:xfrm>
          <a:prstGeom prst="rect">
            <a:avLst/>
          </a:prstGeom>
          <a:noFill/>
          <a:ln/>
        </p:spPr>
        <p:txBody>
          <a:bodyPr wrap="square" lIns="0" tIns="0" rIns="0" bIns="0" rtlCol="0" anchor="ctr"/>
          <a:lstStyle/>
          <a:p>
            <a:pPr algn="ctr" indent="0" marL="0">
              <a:buNone/>
            </a:pPr>
            <a:r>
              <a:rPr lang="en-US" sz="850" b="1" dirty="0">
                <a:solidFill>
                  <a:srgbClr val="241E33"/>
                </a:solidFill>
                <a:latin typeface="Calibri" pitchFamily="34" charset="0"/>
                <a:ea typeface="Calibri" pitchFamily="34" charset="-122"/>
                <a:cs typeface="Calibri" pitchFamily="34" charset="-120"/>
              </a:rPr>
              <a:t>WHAT</a:t>
            </a:r>
            <a:endParaRPr lang="en-US" sz="850" dirty="0"/>
          </a:p>
        </p:txBody>
      </p:sp>
      <p:sp>
        <p:nvSpPr>
          <p:cNvPr id="13" name="Text 10"/>
          <p:cNvSpPr/>
          <p:nvPr/>
        </p:nvSpPr>
        <p:spPr>
          <a:xfrm>
            <a:off x="1261872" y="3474720"/>
            <a:ext cx="4114800" cy="1280160"/>
          </a:xfrm>
          <a:prstGeom prst="rect">
            <a:avLst/>
          </a:prstGeom>
          <a:noFill/>
          <a:ln/>
        </p:spPr>
        <p:txBody>
          <a:bodyPr wrap="square" lIns="0" tIns="0" rIns="0" bIns="0" rtlCol="0" anchor="ctr"/>
          <a:lstStyle/>
          <a:p>
            <a:pPr indent="0" marL="0">
              <a:lnSpc>
                <a:spcPts val="1550"/>
              </a:lnSpc>
              <a:buNone/>
            </a:pPr>
            <a:r>
              <a:rPr lang="en-US" sz="1150" dirty="0">
                <a:solidFill>
                  <a:srgbClr val="4A4360"/>
                </a:solidFill>
                <a:latin typeface="Calibri" pitchFamily="34" charset="0"/>
                <a:ea typeface="Calibri" pitchFamily="34" charset="-122"/>
                <a:cs typeface="Calibri" pitchFamily="34" charset="-120"/>
              </a:rPr>
              <a:t>Letter sounds, phonics, rhyme, first words, picture-to-word matching, and Indian nursery stories read aloud.</a:t>
            </a:r>
            <a:endParaRPr lang="en-US" sz="1150" dirty="0"/>
          </a:p>
        </p:txBody>
      </p:sp>
      <p:sp>
        <p:nvSpPr>
          <p:cNvPr id="14" name="Shape 11"/>
          <p:cNvSpPr/>
          <p:nvPr/>
        </p:nvSpPr>
        <p:spPr>
          <a:xfrm rot="5400000">
            <a:off x="640080" y="4882896"/>
            <a:ext cx="457200" cy="457200"/>
          </a:xfrm>
          <a:prstGeom prst="hexagon">
            <a:avLst/>
          </a:prstGeom>
          <a:solidFill>
            <a:srgbClr val="6C4FE0"/>
          </a:solidFill>
          <a:ln/>
        </p:spPr>
      </p:sp>
      <p:sp>
        <p:nvSpPr>
          <p:cNvPr id="15" name="Text 12"/>
          <p:cNvSpPr/>
          <p:nvPr/>
        </p:nvSpPr>
        <p:spPr>
          <a:xfrm>
            <a:off x="640080" y="4882896"/>
            <a:ext cx="457200" cy="45720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HOW</a:t>
            </a:r>
            <a:endParaRPr lang="en-US" sz="850" dirty="0"/>
          </a:p>
        </p:txBody>
      </p:sp>
      <p:sp>
        <p:nvSpPr>
          <p:cNvPr id="16" name="Text 13"/>
          <p:cNvSpPr/>
          <p:nvPr/>
        </p:nvSpPr>
        <p:spPr>
          <a:xfrm>
            <a:off x="1261872" y="4864608"/>
            <a:ext cx="4114800" cy="1280160"/>
          </a:xfrm>
          <a:prstGeom prst="rect">
            <a:avLst/>
          </a:prstGeom>
          <a:noFill/>
          <a:ln/>
        </p:spPr>
        <p:txBody>
          <a:bodyPr wrap="square" lIns="0" tIns="0" rIns="0" bIns="0" rtlCol="0" anchor="ctr"/>
          <a:lstStyle/>
          <a:p>
            <a:pPr indent="0" marL="0">
              <a:lnSpc>
                <a:spcPts val="1550"/>
              </a:lnSpc>
              <a:buNone/>
            </a:pPr>
            <a:r>
              <a:rPr lang="en-US" sz="1150" dirty="0">
                <a:solidFill>
                  <a:srgbClr val="4A4360"/>
                </a:solidFill>
                <a:latin typeface="Calibri" pitchFamily="34" charset="0"/>
                <a:ea typeface="Calibri" pitchFamily="34" charset="-122"/>
                <a:cs typeface="Calibri" pitchFamily="34" charset="-120"/>
              </a:rPr>
              <a:t>Audio-first and picture-first, because the child cannot read the interface. The voice library and avatar art transfer; the reading-free UI does not exist and must be built.</a:t>
            </a:r>
            <a:endParaRPr lang="en-US" sz="1150" dirty="0"/>
          </a:p>
        </p:txBody>
      </p:sp>
      <p:sp>
        <p:nvSpPr>
          <p:cNvPr id="17" name="Shape 14"/>
          <p:cNvSpPr/>
          <p:nvPr/>
        </p:nvSpPr>
        <p:spPr>
          <a:xfrm>
            <a:off x="5577840" y="2048256"/>
            <a:ext cx="5669280" cy="2103120"/>
          </a:xfrm>
          <a:prstGeom prst="roundRect">
            <a:avLst>
              <a:gd name="adj" fmla="val 6087"/>
            </a:avLst>
          </a:prstGeom>
          <a:solidFill>
            <a:srgbClr val="E8F4EC"/>
          </a:solidFill>
          <a:ln/>
          <a:effectLst>
            <a:outerShdw sx="100000" sy="100000" kx="0" ky="0" algn="bl" rotWithShape="0" blurRad="127000" dist="25400" dir="5400000">
              <a:srgbClr val="241E33">
                <a:alpha val="10000"/>
              </a:srgbClr>
            </a:outerShdw>
          </a:effectLst>
        </p:spPr>
      </p:sp>
      <p:sp>
        <p:nvSpPr>
          <p:cNvPr id="18" name="Text 15"/>
          <p:cNvSpPr/>
          <p:nvPr/>
        </p:nvSpPr>
        <p:spPr>
          <a:xfrm>
            <a:off x="5870448" y="2194560"/>
            <a:ext cx="5120640" cy="256032"/>
          </a:xfrm>
          <a:prstGeom prst="rect">
            <a:avLst/>
          </a:prstGeom>
          <a:noFill/>
          <a:ln/>
        </p:spPr>
        <p:txBody>
          <a:bodyPr wrap="square" lIns="0" tIns="0" rIns="0" bIns="0" rtlCol="0" anchor="ctr"/>
          <a:lstStyle/>
          <a:p>
            <a:pPr indent="0" marL="0">
              <a:buNone/>
            </a:pPr>
            <a:r>
              <a:rPr lang="en-US" sz="900" b="1" spc="180" kern="0" dirty="0">
                <a:solidFill>
                  <a:srgbClr val="178A4C"/>
                </a:solidFill>
                <a:latin typeface="Calibri" pitchFamily="34" charset="0"/>
                <a:ea typeface="Calibri" pitchFamily="34" charset="-122"/>
                <a:cs typeface="Calibri" pitchFamily="34" charset="-120"/>
              </a:rPr>
              <a:t>WHAT ITS EDGE WOULD BE</a:t>
            </a:r>
            <a:endParaRPr lang="en-US" sz="900" dirty="0"/>
          </a:p>
        </p:txBody>
      </p:sp>
      <p:sp>
        <p:nvSpPr>
          <p:cNvPr id="19" name="Text 16"/>
          <p:cNvSpPr/>
          <p:nvPr/>
        </p:nvSpPr>
        <p:spPr>
          <a:xfrm>
            <a:off x="5907024" y="2487168"/>
            <a:ext cx="5074920" cy="1554480"/>
          </a:xfrm>
          <a:prstGeom prst="rect">
            <a:avLst/>
          </a:prstGeom>
          <a:noFill/>
          <a:ln/>
        </p:spPr>
        <p:txBody>
          <a:bodyPr wrap="square" lIns="0" tIns="0" rIns="0" bIns="0" rtlCol="0" anchor="ctr"/>
          <a:lstStyle/>
          <a:p>
            <a:pPr marL="342900" indent="-342900">
              <a:lnSpc>
                <a:spcPts val="1400"/>
              </a:lnSpc>
              <a:spcAft>
                <a:spcPts val="600"/>
              </a:spcAft>
              <a:buSzPct val="100000"/>
              <a:buChar char="•"/>
            </a:pPr>
            <a:r>
              <a:rPr lang="en-US" sz="1050" dirty="0">
                <a:solidFill>
                  <a:srgbClr val="1F4A33"/>
                </a:solidFill>
                <a:latin typeface="Calibri" pitchFamily="34" charset="0"/>
                <a:ea typeface="Calibri" pitchFamily="34" charset="-122"/>
                <a:cs typeface="Calibri" pitchFamily="34" charset="-120"/>
              </a:rPr>
              <a:t>The buzz before the bee. A child graduates Buzz → Bee, which is the single strongest retention story in the house.</a:t>
            </a:r>
            <a:endParaRPr lang="en-US" sz="1050" dirty="0"/>
          </a:p>
          <a:p>
            <a:pPr marL="342900" indent="-342900">
              <a:lnSpc>
                <a:spcPts val="1400"/>
              </a:lnSpc>
              <a:spcAft>
                <a:spcPts val="600"/>
              </a:spcAft>
              <a:buSzPct val="100000"/>
              <a:buChar char="•"/>
            </a:pPr>
            <a:r>
              <a:rPr lang="en-US" sz="1050" dirty="0">
                <a:solidFill>
                  <a:srgbClr val="1F4A33"/>
                </a:solidFill>
                <a:latin typeface="Calibri" pitchFamily="34" charset="0"/>
                <a:ea typeface="Calibri" pitchFamily="34" charset="-122"/>
                <a:cs typeface="Calibri" pitchFamily="34" charset="-120"/>
              </a:rPr>
              <a:t>Would be the only phonics product that is diaspora-aware from the first screen.</a:t>
            </a:r>
            <a:endParaRPr lang="en-US" sz="1050" dirty="0"/>
          </a:p>
        </p:txBody>
      </p:sp>
      <p:sp>
        <p:nvSpPr>
          <p:cNvPr id="20" name="Shape 17"/>
          <p:cNvSpPr/>
          <p:nvPr/>
        </p:nvSpPr>
        <p:spPr>
          <a:xfrm>
            <a:off x="5577840" y="4315968"/>
            <a:ext cx="5669280" cy="2103120"/>
          </a:xfrm>
          <a:prstGeom prst="roundRect">
            <a:avLst>
              <a:gd name="adj" fmla="val 6087"/>
            </a:avLst>
          </a:prstGeom>
          <a:solidFill>
            <a:srgbClr val="FBF3E0"/>
          </a:solidFill>
          <a:ln/>
          <a:effectLst>
            <a:outerShdw sx="100000" sy="100000" kx="0" ky="0" algn="bl" rotWithShape="0" blurRad="127000" dist="25400" dir="5400000">
              <a:srgbClr val="241E33">
                <a:alpha val="10000"/>
              </a:srgbClr>
            </a:outerShdw>
          </a:effectLst>
        </p:spPr>
      </p:sp>
      <p:sp>
        <p:nvSpPr>
          <p:cNvPr id="21" name="Text 18"/>
          <p:cNvSpPr/>
          <p:nvPr/>
        </p:nvSpPr>
        <p:spPr>
          <a:xfrm>
            <a:off x="5870448" y="4462272"/>
            <a:ext cx="5120640" cy="256032"/>
          </a:xfrm>
          <a:prstGeom prst="rect">
            <a:avLst/>
          </a:prstGeom>
          <a:noFill/>
          <a:ln/>
        </p:spPr>
        <p:txBody>
          <a:bodyPr wrap="square" lIns="0" tIns="0" rIns="0" bIns="0" rtlCol="0" anchor="ctr"/>
          <a:lstStyle/>
          <a:p>
            <a:pPr indent="0" marL="0">
              <a:buNone/>
            </a:pPr>
            <a:r>
              <a:rPr lang="en-US" sz="900" b="1" spc="180" kern="0" dirty="0">
                <a:solidFill>
                  <a:srgbClr val="8A5B00"/>
                </a:solidFill>
                <a:latin typeface="Calibri" pitchFamily="34" charset="0"/>
                <a:ea typeface="Calibri" pitchFamily="34" charset="-122"/>
                <a:cs typeface="Calibri" pitchFamily="34" charset="-120"/>
              </a:rPr>
              <a:t>WHAT STILL HAS TO BE BUILT</a:t>
            </a:r>
            <a:endParaRPr lang="en-US" sz="900" dirty="0"/>
          </a:p>
        </p:txBody>
      </p:sp>
      <p:sp>
        <p:nvSpPr>
          <p:cNvPr id="22" name="Text 19"/>
          <p:cNvSpPr/>
          <p:nvPr/>
        </p:nvSpPr>
        <p:spPr>
          <a:xfrm>
            <a:off x="5907024" y="4754880"/>
            <a:ext cx="5074920" cy="1554480"/>
          </a:xfrm>
          <a:prstGeom prst="rect">
            <a:avLst/>
          </a:prstGeom>
          <a:noFill/>
          <a:ln/>
        </p:spPr>
        <p:txBody>
          <a:bodyPr wrap="square" lIns="0" tIns="0" rIns="0" bIns="0" rtlCol="0" anchor="ctr"/>
          <a:lstStyle/>
          <a:p>
            <a:pPr marL="342900" indent="-342900">
              <a:lnSpc>
                <a:spcPts val="1400"/>
              </a:lnSpc>
              <a:spcAft>
                <a:spcPts val="600"/>
              </a:spcAft>
              <a:buSzPct val="100000"/>
              <a:buChar char="•"/>
            </a:pPr>
            <a:r>
              <a:rPr lang="en-US" sz="1050" dirty="0">
                <a:solidFill>
                  <a:srgbClr val="8A5B00"/>
                </a:solidFill>
                <a:latin typeface="Calibri" pitchFamily="34" charset="0"/>
                <a:ea typeface="Calibri" pitchFamily="34" charset="-122"/>
                <a:cs typeface="Calibri" pitchFamily="34" charset="-120"/>
              </a:rPr>
              <a:t>A UI a pre-reader can operate — icons, audio prompts, very large targets</a:t>
            </a:r>
            <a:endParaRPr lang="en-US" sz="1050" dirty="0"/>
          </a:p>
          <a:p>
            <a:pPr marL="342900" indent="-342900">
              <a:lnSpc>
                <a:spcPts val="1400"/>
              </a:lnSpc>
              <a:spcAft>
                <a:spcPts val="600"/>
              </a:spcAft>
              <a:buSzPct val="100000"/>
              <a:buChar char="•"/>
            </a:pPr>
            <a:r>
              <a:rPr lang="en-US" sz="1050" dirty="0">
                <a:solidFill>
                  <a:srgbClr val="8A5B00"/>
                </a:solidFill>
                <a:latin typeface="Calibri" pitchFamily="34" charset="0"/>
                <a:ea typeface="Calibri" pitchFamily="34" charset="-122"/>
                <a:cs typeface="Calibri" pitchFamily="34" charset="-120"/>
              </a:rPr>
              <a:t>A phonics curriculum, which the app has never had</a:t>
            </a:r>
            <a:endParaRPr lang="en-US" sz="1050" dirty="0"/>
          </a:p>
          <a:p>
            <a:pPr marL="342900" indent="-342900">
              <a:lnSpc>
                <a:spcPts val="1400"/>
              </a:lnSpc>
              <a:spcAft>
                <a:spcPts val="600"/>
              </a:spcAft>
              <a:buSzPct val="100000"/>
              <a:buChar char="•"/>
            </a:pPr>
            <a:r>
              <a:rPr lang="en-US" sz="1050" dirty="0">
                <a:solidFill>
                  <a:srgbClr val="8A5B00"/>
                </a:solidFill>
                <a:latin typeface="Calibri" pitchFamily="34" charset="0"/>
                <a:ea typeface="Calibri" pitchFamily="34" charset="-122"/>
                <a:cs typeface="Calibri" pitchFamily="34" charset="-120"/>
              </a:rPr>
              <a:t>A parent-alongside mode, since a four-year-old does not practise alone</a:t>
            </a:r>
            <a:endParaRPr lang="en-US" sz="1050" dirty="0"/>
          </a:p>
        </p:txBody>
      </p:sp>
      <p:sp>
        <p:nvSpPr>
          <p:cNvPr id="23" name="Text 20"/>
          <p:cNvSpPr/>
          <p:nvPr/>
        </p:nvSpPr>
        <p:spPr>
          <a:xfrm>
            <a:off x="640080" y="6272784"/>
            <a:ext cx="4846320" cy="310896"/>
          </a:xfrm>
          <a:prstGeom prst="rect">
            <a:avLst/>
          </a:prstGeom>
          <a:noFill/>
          <a:ln/>
        </p:spPr>
        <p:txBody>
          <a:bodyPr wrap="square" lIns="0" tIns="0" rIns="0" bIns="0" rtlCol="0" anchor="ctr"/>
          <a:lstStyle/>
          <a:p>
            <a:pPr indent="0" marL="0">
              <a:buNone/>
            </a:pPr>
            <a:r>
              <a:rPr lang="en-US" sz="1050" b="1" dirty="0">
                <a:solidFill>
                  <a:srgbClr val="7A7291"/>
                </a:solidFill>
                <a:latin typeface="Calibri" pitchFamily="34" charset="0"/>
                <a:ea typeface="Calibri" pitchFamily="34" charset="-122"/>
                <a:cs typeface="Calibri" pitchFamily="34" charset="-120"/>
              </a:rPr>
              <a:t>Ages 4–6</a:t>
            </a:r>
            <a:pPr indent="0" marL="0">
              <a:buNone/>
            </a:pPr>
            <a:r>
              <a:rPr lang="en-US" sz="1050" dirty="0">
                <a:solidFill>
                  <a:srgbClr val="7A7291"/>
                </a:solidFill>
                <a:latin typeface="Calibri" pitchFamily="34" charset="0"/>
                <a:ea typeface="Calibri" pitchFamily="34" charset="-122"/>
                <a:cs typeface="Calibri" pitchFamily="34" charset="-120"/>
              </a:rPr>
              <a:t>   ·   engine reuse: </a:t>
            </a:r>
            <a:pPr indent="0" marL="0">
              <a:buNone/>
            </a:pPr>
            <a:r>
              <a:rPr lang="en-US" sz="1050" b="1" dirty="0">
                <a:solidFill>
                  <a:srgbClr val="7A7291"/>
                </a:solidFill>
                <a:latin typeface="Calibri" pitchFamily="34" charset="0"/>
                <a:ea typeface="Calibri" pitchFamily="34" charset="-122"/>
                <a:cs typeface="Calibri" pitchFamily="34" charset="-120"/>
              </a:rPr>
              <a:t>Audio + art, not the UI</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02336"/>
            <a:ext cx="7315200" cy="256032"/>
          </a:xfrm>
          <a:prstGeom prst="rect">
            <a:avLst/>
          </a:prstGeom>
          <a:noFill/>
          <a:ln/>
        </p:spPr>
        <p:txBody>
          <a:bodyPr wrap="square" lIns="0" tIns="0" rIns="0" bIns="0" rtlCol="0" anchor="ctr"/>
          <a:lstStyle/>
          <a:p>
            <a:pPr indent="0" marL="0">
              <a:buNone/>
            </a:pPr>
            <a:r>
              <a:rPr lang="en-US" sz="1150" b="1" spc="240" kern="0" dirty="0">
                <a:solidFill>
                  <a:srgbClr val="6C4FE0"/>
                </a:solidFill>
                <a:latin typeface="Calibri" pitchFamily="34" charset="0"/>
                <a:ea typeface="Calibri" pitchFamily="34" charset="-122"/>
                <a:cs typeface="Calibri" pitchFamily="34" charset="-120"/>
              </a:rPr>
              <a:t>PRODUCT 6 OF 8</a:t>
            </a:r>
            <a:endParaRPr lang="en-US" sz="1150" dirty="0"/>
          </a:p>
        </p:txBody>
      </p:sp>
      <p:sp>
        <p:nvSpPr>
          <p:cNvPr id="3" name="Text 1"/>
          <p:cNvSpPr/>
          <p:nvPr/>
        </p:nvSpPr>
        <p:spPr>
          <a:xfrm>
            <a:off x="640080" y="694944"/>
            <a:ext cx="7863840" cy="749808"/>
          </a:xfrm>
          <a:prstGeom prst="rect">
            <a:avLst/>
          </a:prstGeom>
          <a:noFill/>
          <a:ln/>
        </p:spPr>
        <p:txBody>
          <a:bodyPr wrap="square" lIns="0" tIns="0" rIns="0" bIns="0" rtlCol="0" anchor="ctr"/>
          <a:lstStyle/>
          <a:p>
            <a:pPr indent="0" marL="0">
              <a:buNone/>
            </a:pPr>
            <a:r>
              <a:rPr lang="en-US" sz="2900" b="1" dirty="0">
                <a:solidFill>
                  <a:srgbClr val="241E33"/>
                </a:solidFill>
                <a:latin typeface="Cambria" pitchFamily="34" charset="0"/>
                <a:ea typeface="Cambria" pitchFamily="34" charset="-122"/>
                <a:cs typeface="Cambria" pitchFamily="34" charset="-120"/>
              </a:rPr>
              <a:t>Bizzing English</a:t>
            </a:r>
            <a:endParaRPr lang="en-US" sz="2900" dirty="0"/>
          </a:p>
        </p:txBody>
      </p:sp>
      <p:pic>
        <p:nvPicPr>
          <p:cNvPr id="4" name="Image 0" descr="preencoded.png">    </p:cNvPr>
          <p:cNvPicPr>
            <a:picLocks noChangeAspect="1"/>
          </p:cNvPicPr>
          <p:nvPr/>
        </p:nvPicPr>
        <p:blipFill>
          <a:blip r:embed="rId1"/>
          <a:stretch>
            <a:fillRect/>
          </a:stretch>
        </p:blipFill>
        <p:spPr>
          <a:xfrm>
            <a:off x="10012680" y="1298448"/>
            <a:ext cx="1234440" cy="1234440"/>
          </a:xfrm>
          <a:prstGeom prst="rect">
            <a:avLst/>
          </a:prstGeom>
        </p:spPr>
      </p:pic>
      <p:sp>
        <p:nvSpPr>
          <p:cNvPr id="5" name="Shape 2"/>
          <p:cNvSpPr/>
          <p:nvPr/>
        </p:nvSpPr>
        <p:spPr>
          <a:xfrm>
            <a:off x="8732520" y="749808"/>
            <a:ext cx="2514600" cy="384048"/>
          </a:xfrm>
          <a:prstGeom prst="roundRect">
            <a:avLst>
              <a:gd name="adj" fmla="val 50000"/>
            </a:avLst>
          </a:prstGeom>
          <a:solidFill>
            <a:srgbClr val="6C4FE0"/>
          </a:solidFill>
          <a:ln/>
        </p:spPr>
      </p:sp>
      <p:sp>
        <p:nvSpPr>
          <p:cNvPr id="6" name="Text 3"/>
          <p:cNvSpPr/>
          <p:nvPr/>
        </p:nvSpPr>
        <p:spPr>
          <a:xfrm>
            <a:off x="8732520" y="749808"/>
            <a:ext cx="2514600" cy="384048"/>
          </a:xfrm>
          <a:prstGeom prst="rect">
            <a:avLst/>
          </a:prstGeom>
          <a:noFill/>
          <a:ln/>
        </p:spPr>
        <p:txBody>
          <a:bodyPr wrap="square" lIns="0" tIns="0" rIns="0" bIns="0" rtlCol="0" anchor="ctr"/>
          <a:lstStyle/>
          <a:p>
            <a:pPr algn="ctr" indent="0" marL="0">
              <a:buNone/>
            </a:pPr>
            <a:r>
              <a:rPr lang="en-US" sz="1000" b="1" spc="120" kern="0" dirty="0">
                <a:solidFill>
                  <a:srgbClr val="FFFFFF"/>
                </a:solidFill>
                <a:latin typeface="Calibri" pitchFamily="34" charset="0"/>
                <a:ea typeface="Calibri" pitchFamily="34" charset="-122"/>
                <a:cs typeface="Calibri" pitchFamily="34" charset="-120"/>
              </a:rPr>
              <a:t>PLANNED</a:t>
            </a:r>
            <a:endParaRPr lang="en-US" sz="1000" dirty="0"/>
          </a:p>
        </p:txBody>
      </p:sp>
      <p:sp>
        <p:nvSpPr>
          <p:cNvPr id="7" name="Text 4"/>
          <p:cNvSpPr/>
          <p:nvPr/>
        </p:nvSpPr>
        <p:spPr>
          <a:xfrm>
            <a:off x="640080" y="1444752"/>
            <a:ext cx="8778240" cy="585216"/>
          </a:xfrm>
          <a:prstGeom prst="rect">
            <a:avLst/>
          </a:prstGeom>
          <a:noFill/>
          <a:ln/>
        </p:spPr>
        <p:txBody>
          <a:bodyPr wrap="square" lIns="0" tIns="0" rIns="0" bIns="0" rtlCol="0" anchor="ctr"/>
          <a:lstStyle/>
          <a:p>
            <a:pPr indent="0" marL="0">
              <a:lnSpc>
                <a:spcPts val="2100"/>
              </a:lnSpc>
              <a:buNone/>
            </a:pPr>
            <a:r>
              <a:rPr lang="en-US" sz="1600" i="1" dirty="0">
                <a:solidFill>
                  <a:srgbClr val="6C4FE0"/>
                </a:solidFill>
                <a:latin typeface="Cambria" pitchFamily="34" charset="0"/>
                <a:ea typeface="Cambria" pitchFamily="34" charset="-122"/>
                <a:cs typeface="Cambria" pitchFamily="34" charset="-120"/>
              </a:rPr>
              <a:t>A child who owns the language, rather than one who passes tests in it.</a:t>
            </a:r>
            <a:endParaRPr lang="en-US" sz="1600" dirty="0"/>
          </a:p>
        </p:txBody>
      </p:sp>
      <p:sp>
        <p:nvSpPr>
          <p:cNvPr id="8" name="Shape 5"/>
          <p:cNvSpPr/>
          <p:nvPr/>
        </p:nvSpPr>
        <p:spPr>
          <a:xfrm rot="5400000">
            <a:off x="640080" y="2103120"/>
            <a:ext cx="457200" cy="457200"/>
          </a:xfrm>
          <a:prstGeom prst="hexagon">
            <a:avLst/>
          </a:prstGeom>
          <a:solidFill>
            <a:srgbClr val="6C4FE0"/>
          </a:solidFill>
          <a:ln/>
        </p:spPr>
      </p:sp>
      <p:sp>
        <p:nvSpPr>
          <p:cNvPr id="9" name="Text 6"/>
          <p:cNvSpPr/>
          <p:nvPr/>
        </p:nvSpPr>
        <p:spPr>
          <a:xfrm>
            <a:off x="640080" y="2103120"/>
            <a:ext cx="457200" cy="45720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WHY</a:t>
            </a:r>
            <a:endParaRPr lang="en-US" sz="850" dirty="0"/>
          </a:p>
        </p:txBody>
      </p:sp>
      <p:sp>
        <p:nvSpPr>
          <p:cNvPr id="10" name="Text 7"/>
          <p:cNvSpPr/>
          <p:nvPr/>
        </p:nvSpPr>
        <p:spPr>
          <a:xfrm>
            <a:off x="1261872" y="2084832"/>
            <a:ext cx="4114800" cy="1280160"/>
          </a:xfrm>
          <a:prstGeom prst="rect">
            <a:avLst/>
          </a:prstGeom>
          <a:noFill/>
          <a:ln/>
        </p:spPr>
        <p:txBody>
          <a:bodyPr wrap="square" lIns="0" tIns="0" rIns="0" bIns="0" rtlCol="0" anchor="ctr"/>
          <a:lstStyle/>
          <a:p>
            <a:pPr indent="0" marL="0">
              <a:lnSpc>
                <a:spcPts val="1550"/>
              </a:lnSpc>
              <a:buNone/>
            </a:pPr>
            <a:r>
              <a:rPr lang="en-US" sz="1150" dirty="0">
                <a:solidFill>
                  <a:srgbClr val="4A4360"/>
                </a:solidFill>
                <a:latin typeface="Calibri" pitchFamily="34" charset="0"/>
                <a:ea typeface="Calibri" pitchFamily="34" charset="-122"/>
                <a:cs typeface="Calibri" pitchFamily="34" charset="-120"/>
              </a:rPr>
              <a:t>Spelling is a wedge into English, not the whole of it. Grammar, reading and writing are what school actually grades — and the second thing every parent asks about.</a:t>
            </a:r>
            <a:endParaRPr lang="en-US" sz="1150" dirty="0"/>
          </a:p>
        </p:txBody>
      </p:sp>
      <p:sp>
        <p:nvSpPr>
          <p:cNvPr id="11" name="Shape 8"/>
          <p:cNvSpPr/>
          <p:nvPr/>
        </p:nvSpPr>
        <p:spPr>
          <a:xfrm rot="5400000">
            <a:off x="640080" y="3493008"/>
            <a:ext cx="457200" cy="457200"/>
          </a:xfrm>
          <a:prstGeom prst="hexagon">
            <a:avLst/>
          </a:prstGeom>
          <a:solidFill>
            <a:srgbClr val="F0B429"/>
          </a:solidFill>
          <a:ln/>
        </p:spPr>
      </p:sp>
      <p:sp>
        <p:nvSpPr>
          <p:cNvPr id="12" name="Text 9"/>
          <p:cNvSpPr/>
          <p:nvPr/>
        </p:nvSpPr>
        <p:spPr>
          <a:xfrm>
            <a:off x="640080" y="3493008"/>
            <a:ext cx="457200" cy="457200"/>
          </a:xfrm>
          <a:prstGeom prst="rect">
            <a:avLst/>
          </a:prstGeom>
          <a:noFill/>
          <a:ln/>
        </p:spPr>
        <p:txBody>
          <a:bodyPr wrap="square" lIns="0" tIns="0" rIns="0" bIns="0" rtlCol="0" anchor="ctr"/>
          <a:lstStyle/>
          <a:p>
            <a:pPr algn="ctr" indent="0" marL="0">
              <a:buNone/>
            </a:pPr>
            <a:r>
              <a:rPr lang="en-US" sz="850" b="1" dirty="0">
                <a:solidFill>
                  <a:srgbClr val="241E33"/>
                </a:solidFill>
                <a:latin typeface="Calibri" pitchFamily="34" charset="0"/>
                <a:ea typeface="Calibri" pitchFamily="34" charset="-122"/>
                <a:cs typeface="Calibri" pitchFamily="34" charset="-120"/>
              </a:rPr>
              <a:t>WHAT</a:t>
            </a:r>
            <a:endParaRPr lang="en-US" sz="850" dirty="0"/>
          </a:p>
        </p:txBody>
      </p:sp>
      <p:sp>
        <p:nvSpPr>
          <p:cNvPr id="13" name="Text 10"/>
          <p:cNvSpPr/>
          <p:nvPr/>
        </p:nvSpPr>
        <p:spPr>
          <a:xfrm>
            <a:off x="1261872" y="3474720"/>
            <a:ext cx="4114800" cy="1280160"/>
          </a:xfrm>
          <a:prstGeom prst="rect">
            <a:avLst/>
          </a:prstGeom>
          <a:noFill/>
          <a:ln/>
        </p:spPr>
        <p:txBody>
          <a:bodyPr wrap="square" lIns="0" tIns="0" rIns="0" bIns="0" rtlCol="0" anchor="ctr"/>
          <a:lstStyle/>
          <a:p>
            <a:pPr indent="0" marL="0">
              <a:lnSpc>
                <a:spcPts val="1550"/>
              </a:lnSpc>
              <a:buNone/>
            </a:pPr>
            <a:r>
              <a:rPr lang="en-US" sz="1150" dirty="0">
                <a:solidFill>
                  <a:srgbClr val="4A4360"/>
                </a:solidFill>
                <a:latin typeface="Calibri" pitchFamily="34" charset="0"/>
                <a:ea typeface="Calibri" pitchFamily="34" charset="-122"/>
                <a:cs typeface="Calibri" pitchFamily="34" charset="-120"/>
              </a:rPr>
              <a:t>Grammar, punctuation, comprehension, writing structure, idiom and register, on one continuous ladder from first sentence to essay.</a:t>
            </a:r>
            <a:endParaRPr lang="en-US" sz="1150" dirty="0"/>
          </a:p>
        </p:txBody>
      </p:sp>
      <p:sp>
        <p:nvSpPr>
          <p:cNvPr id="14" name="Shape 11"/>
          <p:cNvSpPr/>
          <p:nvPr/>
        </p:nvSpPr>
        <p:spPr>
          <a:xfrm rot="5400000">
            <a:off x="640080" y="4882896"/>
            <a:ext cx="457200" cy="457200"/>
          </a:xfrm>
          <a:prstGeom prst="hexagon">
            <a:avLst/>
          </a:prstGeom>
          <a:solidFill>
            <a:srgbClr val="6C4FE0"/>
          </a:solidFill>
          <a:ln/>
        </p:spPr>
      </p:sp>
      <p:sp>
        <p:nvSpPr>
          <p:cNvPr id="15" name="Text 12"/>
          <p:cNvSpPr/>
          <p:nvPr/>
        </p:nvSpPr>
        <p:spPr>
          <a:xfrm>
            <a:off x="640080" y="4882896"/>
            <a:ext cx="457200" cy="45720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HOW</a:t>
            </a:r>
            <a:endParaRPr lang="en-US" sz="850" dirty="0"/>
          </a:p>
        </p:txBody>
      </p:sp>
      <p:sp>
        <p:nvSpPr>
          <p:cNvPr id="16" name="Text 13"/>
          <p:cNvSpPr/>
          <p:nvPr/>
        </p:nvSpPr>
        <p:spPr>
          <a:xfrm>
            <a:off x="1261872" y="4864608"/>
            <a:ext cx="4114800" cy="1280160"/>
          </a:xfrm>
          <a:prstGeom prst="rect">
            <a:avLst/>
          </a:prstGeom>
          <a:noFill/>
          <a:ln/>
        </p:spPr>
        <p:txBody>
          <a:bodyPr wrap="square" lIns="0" tIns="0" rIns="0" bIns="0" rtlCol="0" anchor="ctr"/>
          <a:lstStyle/>
          <a:p>
            <a:pPr indent="0" marL="0">
              <a:lnSpc>
                <a:spcPts val="1550"/>
              </a:lnSpc>
              <a:buNone/>
            </a:pPr>
            <a:r>
              <a:rPr lang="en-US" sz="1150" dirty="0">
                <a:solidFill>
                  <a:srgbClr val="4A4360"/>
                </a:solidFill>
                <a:latin typeface="Calibri" pitchFamily="34" charset="0"/>
                <a:ea typeface="Calibri" pitchFamily="34" charset="-122"/>
                <a:cs typeface="Calibri" pitchFamily="34" charset="-120"/>
              </a:rPr>
              <a:t>The concept-chapter engine already teaches exactly this way, and the 43 advanced chapters are the template. Writing is the exception: it needs assessment, not drills.</a:t>
            </a:r>
            <a:endParaRPr lang="en-US" sz="1150" dirty="0"/>
          </a:p>
        </p:txBody>
      </p:sp>
      <p:sp>
        <p:nvSpPr>
          <p:cNvPr id="17" name="Shape 14"/>
          <p:cNvSpPr/>
          <p:nvPr/>
        </p:nvSpPr>
        <p:spPr>
          <a:xfrm>
            <a:off x="5577840" y="2048256"/>
            <a:ext cx="5669280" cy="2103120"/>
          </a:xfrm>
          <a:prstGeom prst="roundRect">
            <a:avLst>
              <a:gd name="adj" fmla="val 6087"/>
            </a:avLst>
          </a:prstGeom>
          <a:solidFill>
            <a:srgbClr val="E8F4EC"/>
          </a:solidFill>
          <a:ln/>
          <a:effectLst>
            <a:outerShdw sx="100000" sy="100000" kx="0" ky="0" algn="bl" rotWithShape="0" blurRad="127000" dist="25400" dir="5400000">
              <a:srgbClr val="241E33">
                <a:alpha val="10000"/>
              </a:srgbClr>
            </a:outerShdw>
          </a:effectLst>
        </p:spPr>
      </p:sp>
      <p:sp>
        <p:nvSpPr>
          <p:cNvPr id="18" name="Text 15"/>
          <p:cNvSpPr/>
          <p:nvPr/>
        </p:nvSpPr>
        <p:spPr>
          <a:xfrm>
            <a:off x="5870448" y="2194560"/>
            <a:ext cx="5120640" cy="256032"/>
          </a:xfrm>
          <a:prstGeom prst="rect">
            <a:avLst/>
          </a:prstGeom>
          <a:noFill/>
          <a:ln/>
        </p:spPr>
        <p:txBody>
          <a:bodyPr wrap="square" lIns="0" tIns="0" rIns="0" bIns="0" rtlCol="0" anchor="ctr"/>
          <a:lstStyle/>
          <a:p>
            <a:pPr indent="0" marL="0">
              <a:buNone/>
            </a:pPr>
            <a:r>
              <a:rPr lang="en-US" sz="900" b="1" spc="180" kern="0" dirty="0">
                <a:solidFill>
                  <a:srgbClr val="178A4C"/>
                </a:solidFill>
                <a:latin typeface="Calibri" pitchFamily="34" charset="0"/>
                <a:ea typeface="Calibri" pitchFamily="34" charset="-122"/>
                <a:cs typeface="Calibri" pitchFamily="34" charset="-120"/>
              </a:rPr>
              <a:t>WHAT ITS EDGE WOULD BE</a:t>
            </a:r>
            <a:endParaRPr lang="en-US" sz="900" dirty="0"/>
          </a:p>
        </p:txBody>
      </p:sp>
      <p:sp>
        <p:nvSpPr>
          <p:cNvPr id="19" name="Text 16"/>
          <p:cNvSpPr/>
          <p:nvPr/>
        </p:nvSpPr>
        <p:spPr>
          <a:xfrm>
            <a:off x="5907024" y="2487168"/>
            <a:ext cx="5074920" cy="1554480"/>
          </a:xfrm>
          <a:prstGeom prst="rect">
            <a:avLst/>
          </a:prstGeom>
          <a:noFill/>
          <a:ln/>
        </p:spPr>
        <p:txBody>
          <a:bodyPr wrap="square" lIns="0" tIns="0" rIns="0" bIns="0" rtlCol="0" anchor="ctr"/>
          <a:lstStyle/>
          <a:p>
            <a:pPr marL="342900" indent="-342900">
              <a:lnSpc>
                <a:spcPts val="1400"/>
              </a:lnSpc>
              <a:spcAft>
                <a:spcPts val="600"/>
              </a:spcAft>
              <a:buSzPct val="100000"/>
              <a:buChar char="•"/>
            </a:pPr>
            <a:r>
              <a:rPr lang="en-US" sz="1050" dirty="0">
                <a:solidFill>
                  <a:srgbClr val="1F4A33"/>
                </a:solidFill>
                <a:latin typeface="Calibri" pitchFamily="34" charset="0"/>
                <a:ea typeface="Calibri" pitchFamily="34" charset="-122"/>
                <a:cs typeface="Calibri" pitchFamily="34" charset="-120"/>
              </a:rPr>
              <a:t>One continuous ladder instead of a workbook per school year — the child never restarts, and a sibling can join at their own rung.</a:t>
            </a:r>
            <a:endParaRPr lang="en-US" sz="1050" dirty="0"/>
          </a:p>
        </p:txBody>
      </p:sp>
      <p:sp>
        <p:nvSpPr>
          <p:cNvPr id="20" name="Shape 17"/>
          <p:cNvSpPr/>
          <p:nvPr/>
        </p:nvSpPr>
        <p:spPr>
          <a:xfrm>
            <a:off x="5577840" y="4315968"/>
            <a:ext cx="5669280" cy="2103120"/>
          </a:xfrm>
          <a:prstGeom prst="roundRect">
            <a:avLst>
              <a:gd name="adj" fmla="val 6087"/>
            </a:avLst>
          </a:prstGeom>
          <a:solidFill>
            <a:srgbClr val="FBF3E0"/>
          </a:solidFill>
          <a:ln/>
          <a:effectLst>
            <a:outerShdw sx="100000" sy="100000" kx="0" ky="0" algn="bl" rotWithShape="0" blurRad="127000" dist="25400" dir="5400000">
              <a:srgbClr val="241E33">
                <a:alpha val="10000"/>
              </a:srgbClr>
            </a:outerShdw>
          </a:effectLst>
        </p:spPr>
      </p:sp>
      <p:sp>
        <p:nvSpPr>
          <p:cNvPr id="21" name="Text 18"/>
          <p:cNvSpPr/>
          <p:nvPr/>
        </p:nvSpPr>
        <p:spPr>
          <a:xfrm>
            <a:off x="5870448" y="4462272"/>
            <a:ext cx="5120640" cy="256032"/>
          </a:xfrm>
          <a:prstGeom prst="rect">
            <a:avLst/>
          </a:prstGeom>
          <a:noFill/>
          <a:ln/>
        </p:spPr>
        <p:txBody>
          <a:bodyPr wrap="square" lIns="0" tIns="0" rIns="0" bIns="0" rtlCol="0" anchor="ctr"/>
          <a:lstStyle/>
          <a:p>
            <a:pPr indent="0" marL="0">
              <a:buNone/>
            </a:pPr>
            <a:r>
              <a:rPr lang="en-US" sz="900" b="1" spc="180" kern="0" dirty="0">
                <a:solidFill>
                  <a:srgbClr val="8A5B00"/>
                </a:solidFill>
                <a:latin typeface="Calibri" pitchFamily="34" charset="0"/>
                <a:ea typeface="Calibri" pitchFamily="34" charset="-122"/>
                <a:cs typeface="Calibri" pitchFamily="34" charset="-120"/>
              </a:rPr>
              <a:t>WHAT STILL HAS TO BE BUILT</a:t>
            </a:r>
            <a:endParaRPr lang="en-US" sz="900" dirty="0"/>
          </a:p>
        </p:txBody>
      </p:sp>
      <p:sp>
        <p:nvSpPr>
          <p:cNvPr id="22" name="Text 19"/>
          <p:cNvSpPr/>
          <p:nvPr/>
        </p:nvSpPr>
        <p:spPr>
          <a:xfrm>
            <a:off x="5907024" y="4754880"/>
            <a:ext cx="5074920" cy="1554480"/>
          </a:xfrm>
          <a:prstGeom prst="rect">
            <a:avLst/>
          </a:prstGeom>
          <a:noFill/>
          <a:ln/>
        </p:spPr>
        <p:txBody>
          <a:bodyPr wrap="square" lIns="0" tIns="0" rIns="0" bIns="0" rtlCol="0" anchor="ctr"/>
          <a:lstStyle/>
          <a:p>
            <a:pPr marL="342900" indent="-342900">
              <a:lnSpc>
                <a:spcPts val="1400"/>
              </a:lnSpc>
              <a:spcAft>
                <a:spcPts val="600"/>
              </a:spcAft>
              <a:buSzPct val="100000"/>
              <a:buChar char="•"/>
            </a:pPr>
            <a:r>
              <a:rPr lang="en-US" sz="1050" dirty="0">
                <a:solidFill>
                  <a:srgbClr val="8A5B00"/>
                </a:solidFill>
                <a:latin typeface="Calibri" pitchFamily="34" charset="0"/>
                <a:ea typeface="Calibri" pitchFamily="34" charset="-122"/>
                <a:cs typeface="Calibri" pitchFamily="34" charset="-120"/>
              </a:rPr>
              <a:t>A grammar and punctuation curriculum</a:t>
            </a:r>
            <a:endParaRPr lang="en-US" sz="1050" dirty="0"/>
          </a:p>
          <a:p>
            <a:pPr marL="342900" indent="-342900">
              <a:lnSpc>
                <a:spcPts val="1400"/>
              </a:lnSpc>
              <a:spcAft>
                <a:spcPts val="600"/>
              </a:spcAft>
              <a:buSzPct val="100000"/>
              <a:buChar char="•"/>
            </a:pPr>
            <a:r>
              <a:rPr lang="en-US" sz="1050" dirty="0">
                <a:solidFill>
                  <a:srgbClr val="8A5B00"/>
                </a:solidFill>
                <a:latin typeface="Calibri" pitchFamily="34" charset="0"/>
                <a:ea typeface="Calibri" pitchFamily="34" charset="-122"/>
                <a:cs typeface="Calibri" pitchFamily="34" charset="-120"/>
              </a:rPr>
              <a:t>A comprehension passage bank with questions</a:t>
            </a:r>
            <a:endParaRPr lang="en-US" sz="1050" dirty="0"/>
          </a:p>
          <a:p>
            <a:pPr marL="342900" indent="-342900">
              <a:lnSpc>
                <a:spcPts val="1400"/>
              </a:lnSpc>
              <a:spcAft>
                <a:spcPts val="600"/>
              </a:spcAft>
              <a:buSzPct val="100000"/>
              <a:buChar char="•"/>
            </a:pPr>
            <a:r>
              <a:rPr lang="en-US" sz="1050" dirty="0">
                <a:solidFill>
                  <a:srgbClr val="8A5B00"/>
                </a:solidFill>
                <a:latin typeface="Calibri" pitchFamily="34" charset="0"/>
                <a:ea typeface="Calibri" pitchFamily="34" charset="-122"/>
                <a:cs typeface="Calibri" pitchFamily="34" charset="-120"/>
              </a:rPr>
              <a:t>A writing-feedback loop — the hardest single thing in the whole house, and the one to prototype before committing</a:t>
            </a:r>
            <a:endParaRPr lang="en-US" sz="1050" dirty="0"/>
          </a:p>
        </p:txBody>
      </p:sp>
      <p:sp>
        <p:nvSpPr>
          <p:cNvPr id="23" name="Text 20"/>
          <p:cNvSpPr/>
          <p:nvPr/>
        </p:nvSpPr>
        <p:spPr>
          <a:xfrm>
            <a:off x="640080" y="6272784"/>
            <a:ext cx="4846320" cy="310896"/>
          </a:xfrm>
          <a:prstGeom prst="rect">
            <a:avLst/>
          </a:prstGeom>
          <a:noFill/>
          <a:ln/>
        </p:spPr>
        <p:txBody>
          <a:bodyPr wrap="square" lIns="0" tIns="0" rIns="0" bIns="0" rtlCol="0" anchor="ctr"/>
          <a:lstStyle/>
          <a:p>
            <a:pPr indent="0" marL="0">
              <a:buNone/>
            </a:pPr>
            <a:r>
              <a:rPr lang="en-US" sz="1050" b="1" dirty="0">
                <a:solidFill>
                  <a:srgbClr val="7A7291"/>
                </a:solidFill>
                <a:latin typeface="Calibri" pitchFamily="34" charset="0"/>
                <a:ea typeface="Calibri" pitchFamily="34" charset="-122"/>
                <a:cs typeface="Calibri" pitchFamily="34" charset="-120"/>
              </a:rPr>
              <a:t>Ages 6–16</a:t>
            </a:r>
            <a:pPr indent="0" marL="0">
              <a:buNone/>
            </a:pPr>
            <a:r>
              <a:rPr lang="en-US" sz="1050" dirty="0">
                <a:solidFill>
                  <a:srgbClr val="7A7291"/>
                </a:solidFill>
                <a:latin typeface="Calibri" pitchFamily="34" charset="0"/>
                <a:ea typeface="Calibri" pitchFamily="34" charset="-122"/>
                <a:cs typeface="Calibri" pitchFamily="34" charset="-120"/>
              </a:rPr>
              <a:t>   ·   engine reuse: </a:t>
            </a:r>
            <a:pPr indent="0" marL="0">
              <a:buNone/>
            </a:pPr>
            <a:r>
              <a:rPr lang="en-US" sz="1050" b="1" dirty="0">
                <a:solidFill>
                  <a:srgbClr val="7A7291"/>
                </a:solidFill>
                <a:latin typeface="Calibri" pitchFamily="34" charset="0"/>
                <a:ea typeface="Calibri" pitchFamily="34" charset="-122"/>
                <a:cs typeface="Calibri" pitchFamily="34" charset="-120"/>
              </a:rPr>
              <a:t>Concept engine; writing is new</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02336"/>
            <a:ext cx="7315200" cy="256032"/>
          </a:xfrm>
          <a:prstGeom prst="rect">
            <a:avLst/>
          </a:prstGeom>
          <a:noFill/>
          <a:ln/>
        </p:spPr>
        <p:txBody>
          <a:bodyPr wrap="square" lIns="0" tIns="0" rIns="0" bIns="0" rtlCol="0" anchor="ctr"/>
          <a:lstStyle/>
          <a:p>
            <a:pPr indent="0" marL="0">
              <a:buNone/>
            </a:pPr>
            <a:r>
              <a:rPr lang="en-US" sz="1150" b="1" spc="240" kern="0" dirty="0">
                <a:solidFill>
                  <a:srgbClr val="6C4FE0"/>
                </a:solidFill>
                <a:latin typeface="Calibri" pitchFamily="34" charset="0"/>
                <a:ea typeface="Calibri" pitchFamily="34" charset="-122"/>
                <a:cs typeface="Calibri" pitchFamily="34" charset="-120"/>
              </a:rPr>
              <a:t>PRODUCT 7 OF 8</a:t>
            </a:r>
            <a:endParaRPr lang="en-US" sz="1150" dirty="0"/>
          </a:p>
        </p:txBody>
      </p:sp>
      <p:sp>
        <p:nvSpPr>
          <p:cNvPr id="3" name="Text 1"/>
          <p:cNvSpPr/>
          <p:nvPr/>
        </p:nvSpPr>
        <p:spPr>
          <a:xfrm>
            <a:off x="640080" y="694944"/>
            <a:ext cx="7863840" cy="749808"/>
          </a:xfrm>
          <a:prstGeom prst="rect">
            <a:avLst/>
          </a:prstGeom>
          <a:noFill/>
          <a:ln/>
        </p:spPr>
        <p:txBody>
          <a:bodyPr wrap="square" lIns="0" tIns="0" rIns="0" bIns="0" rtlCol="0" anchor="ctr"/>
          <a:lstStyle/>
          <a:p>
            <a:pPr indent="0" marL="0">
              <a:buNone/>
            </a:pPr>
            <a:r>
              <a:rPr lang="en-US" sz="2900" b="1" dirty="0">
                <a:solidFill>
                  <a:srgbClr val="241E33"/>
                </a:solidFill>
                <a:latin typeface="Cambria" pitchFamily="34" charset="0"/>
                <a:ea typeface="Cambria" pitchFamily="34" charset="-122"/>
                <a:cs typeface="Cambria" pitchFamily="34" charset="-120"/>
              </a:rPr>
              <a:t>Bizzing Maths</a:t>
            </a:r>
            <a:endParaRPr lang="en-US" sz="2900" dirty="0"/>
          </a:p>
        </p:txBody>
      </p:sp>
      <p:pic>
        <p:nvPicPr>
          <p:cNvPr id="4" name="Image 0" descr="preencoded.png">    </p:cNvPr>
          <p:cNvPicPr>
            <a:picLocks noChangeAspect="1"/>
          </p:cNvPicPr>
          <p:nvPr/>
        </p:nvPicPr>
        <p:blipFill>
          <a:blip r:embed="rId1"/>
          <a:stretch>
            <a:fillRect/>
          </a:stretch>
        </p:blipFill>
        <p:spPr>
          <a:xfrm>
            <a:off x="10012680" y="1298448"/>
            <a:ext cx="1234440" cy="1234440"/>
          </a:xfrm>
          <a:prstGeom prst="rect">
            <a:avLst/>
          </a:prstGeom>
        </p:spPr>
      </p:pic>
      <p:sp>
        <p:nvSpPr>
          <p:cNvPr id="5" name="Shape 2"/>
          <p:cNvSpPr/>
          <p:nvPr/>
        </p:nvSpPr>
        <p:spPr>
          <a:xfrm>
            <a:off x="8732520" y="749808"/>
            <a:ext cx="2514600" cy="384048"/>
          </a:xfrm>
          <a:prstGeom prst="roundRect">
            <a:avLst>
              <a:gd name="adj" fmla="val 50000"/>
            </a:avLst>
          </a:prstGeom>
          <a:solidFill>
            <a:srgbClr val="6C4FE0"/>
          </a:solidFill>
          <a:ln/>
        </p:spPr>
      </p:sp>
      <p:sp>
        <p:nvSpPr>
          <p:cNvPr id="6" name="Text 3"/>
          <p:cNvSpPr/>
          <p:nvPr/>
        </p:nvSpPr>
        <p:spPr>
          <a:xfrm>
            <a:off x="8732520" y="749808"/>
            <a:ext cx="2514600" cy="384048"/>
          </a:xfrm>
          <a:prstGeom prst="rect">
            <a:avLst/>
          </a:prstGeom>
          <a:noFill/>
          <a:ln/>
        </p:spPr>
        <p:txBody>
          <a:bodyPr wrap="square" lIns="0" tIns="0" rIns="0" bIns="0" rtlCol="0" anchor="ctr"/>
          <a:lstStyle/>
          <a:p>
            <a:pPr algn="ctr" indent="0" marL="0">
              <a:buNone/>
            </a:pPr>
            <a:r>
              <a:rPr lang="en-US" sz="1000" b="1" spc="120" kern="0" dirty="0">
                <a:solidFill>
                  <a:srgbClr val="FFFFFF"/>
                </a:solidFill>
                <a:latin typeface="Calibri" pitchFamily="34" charset="0"/>
                <a:ea typeface="Calibri" pitchFamily="34" charset="-122"/>
                <a:cs typeface="Calibri" pitchFamily="34" charset="-120"/>
              </a:rPr>
              <a:t>PLANNED</a:t>
            </a:r>
            <a:endParaRPr lang="en-US" sz="1000" dirty="0"/>
          </a:p>
        </p:txBody>
      </p:sp>
      <p:sp>
        <p:nvSpPr>
          <p:cNvPr id="7" name="Text 4"/>
          <p:cNvSpPr/>
          <p:nvPr/>
        </p:nvSpPr>
        <p:spPr>
          <a:xfrm>
            <a:off x="640080" y="1444752"/>
            <a:ext cx="8778240" cy="585216"/>
          </a:xfrm>
          <a:prstGeom prst="rect">
            <a:avLst/>
          </a:prstGeom>
          <a:noFill/>
          <a:ln/>
        </p:spPr>
        <p:txBody>
          <a:bodyPr wrap="square" lIns="0" tIns="0" rIns="0" bIns="0" rtlCol="0" anchor="ctr"/>
          <a:lstStyle/>
          <a:p>
            <a:pPr indent="0" marL="0">
              <a:lnSpc>
                <a:spcPts val="2100"/>
              </a:lnSpc>
              <a:buNone/>
            </a:pPr>
            <a:r>
              <a:rPr lang="en-US" sz="1600" i="1" dirty="0">
                <a:solidFill>
                  <a:srgbClr val="6C4FE0"/>
                </a:solidFill>
                <a:latin typeface="Cambria" pitchFamily="34" charset="0"/>
                <a:ea typeface="Cambria" pitchFamily="34" charset="-122"/>
                <a:cs typeface="Cambria" pitchFamily="34" charset="-120"/>
              </a:rPr>
              <a:t>A child who is fast and fearless with numbers, and knows why the trick works.</a:t>
            </a:r>
            <a:endParaRPr lang="en-US" sz="1600" dirty="0"/>
          </a:p>
        </p:txBody>
      </p:sp>
      <p:sp>
        <p:nvSpPr>
          <p:cNvPr id="8" name="Shape 5"/>
          <p:cNvSpPr/>
          <p:nvPr/>
        </p:nvSpPr>
        <p:spPr>
          <a:xfrm rot="5400000">
            <a:off x="640080" y="2103120"/>
            <a:ext cx="457200" cy="457200"/>
          </a:xfrm>
          <a:prstGeom prst="hexagon">
            <a:avLst/>
          </a:prstGeom>
          <a:solidFill>
            <a:srgbClr val="6C4FE0"/>
          </a:solidFill>
          <a:ln/>
        </p:spPr>
      </p:sp>
      <p:sp>
        <p:nvSpPr>
          <p:cNvPr id="9" name="Text 6"/>
          <p:cNvSpPr/>
          <p:nvPr/>
        </p:nvSpPr>
        <p:spPr>
          <a:xfrm>
            <a:off x="640080" y="2103120"/>
            <a:ext cx="457200" cy="45720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WHY</a:t>
            </a:r>
            <a:endParaRPr lang="en-US" sz="850" dirty="0"/>
          </a:p>
        </p:txBody>
      </p:sp>
      <p:sp>
        <p:nvSpPr>
          <p:cNvPr id="10" name="Text 7"/>
          <p:cNvSpPr/>
          <p:nvPr/>
        </p:nvSpPr>
        <p:spPr>
          <a:xfrm>
            <a:off x="1261872" y="2084832"/>
            <a:ext cx="4114800" cy="1280160"/>
          </a:xfrm>
          <a:prstGeom prst="rect">
            <a:avLst/>
          </a:prstGeom>
          <a:noFill/>
          <a:ln/>
        </p:spPr>
        <p:txBody>
          <a:bodyPr wrap="square" lIns="0" tIns="0" rIns="0" bIns="0" rtlCol="0" anchor="ctr"/>
          <a:lstStyle/>
          <a:p>
            <a:pPr indent="0" marL="0">
              <a:lnSpc>
                <a:spcPts val="1550"/>
              </a:lnSpc>
              <a:buNone/>
            </a:pPr>
            <a:r>
              <a:rPr lang="en-US" sz="1150" dirty="0">
                <a:solidFill>
                  <a:srgbClr val="4A4360"/>
                </a:solidFill>
                <a:latin typeface="Calibri" pitchFamily="34" charset="0"/>
                <a:ea typeface="Calibri" pitchFamily="34" charset="-122"/>
                <a:cs typeface="Calibri" pitchFamily="34" charset="-120"/>
              </a:rPr>
              <a:t>Already named in the trademark filing. Mental maths and competition maths are the largest adjacent category to spelling in this community, and abacus and Vedic programmes already have the parents’ attention.</a:t>
            </a:r>
            <a:endParaRPr lang="en-US" sz="1150" dirty="0"/>
          </a:p>
        </p:txBody>
      </p:sp>
      <p:sp>
        <p:nvSpPr>
          <p:cNvPr id="11" name="Shape 8"/>
          <p:cNvSpPr/>
          <p:nvPr/>
        </p:nvSpPr>
        <p:spPr>
          <a:xfrm rot="5400000">
            <a:off x="640080" y="3493008"/>
            <a:ext cx="457200" cy="457200"/>
          </a:xfrm>
          <a:prstGeom prst="hexagon">
            <a:avLst/>
          </a:prstGeom>
          <a:solidFill>
            <a:srgbClr val="F0B429"/>
          </a:solidFill>
          <a:ln/>
        </p:spPr>
      </p:sp>
      <p:sp>
        <p:nvSpPr>
          <p:cNvPr id="12" name="Text 9"/>
          <p:cNvSpPr/>
          <p:nvPr/>
        </p:nvSpPr>
        <p:spPr>
          <a:xfrm>
            <a:off x="640080" y="3493008"/>
            <a:ext cx="457200" cy="457200"/>
          </a:xfrm>
          <a:prstGeom prst="rect">
            <a:avLst/>
          </a:prstGeom>
          <a:noFill/>
          <a:ln/>
        </p:spPr>
        <p:txBody>
          <a:bodyPr wrap="square" lIns="0" tIns="0" rIns="0" bIns="0" rtlCol="0" anchor="ctr"/>
          <a:lstStyle/>
          <a:p>
            <a:pPr algn="ctr" indent="0" marL="0">
              <a:buNone/>
            </a:pPr>
            <a:r>
              <a:rPr lang="en-US" sz="850" b="1" dirty="0">
                <a:solidFill>
                  <a:srgbClr val="241E33"/>
                </a:solidFill>
                <a:latin typeface="Calibri" pitchFamily="34" charset="0"/>
                <a:ea typeface="Calibri" pitchFamily="34" charset="-122"/>
                <a:cs typeface="Calibri" pitchFamily="34" charset="-120"/>
              </a:rPr>
              <a:t>WHAT</a:t>
            </a:r>
            <a:endParaRPr lang="en-US" sz="850" dirty="0"/>
          </a:p>
        </p:txBody>
      </p:sp>
      <p:sp>
        <p:nvSpPr>
          <p:cNvPr id="13" name="Text 10"/>
          <p:cNvSpPr/>
          <p:nvPr/>
        </p:nvSpPr>
        <p:spPr>
          <a:xfrm>
            <a:off x="1261872" y="3474720"/>
            <a:ext cx="4114800" cy="1280160"/>
          </a:xfrm>
          <a:prstGeom prst="rect">
            <a:avLst/>
          </a:prstGeom>
          <a:noFill/>
          <a:ln/>
        </p:spPr>
        <p:txBody>
          <a:bodyPr wrap="square" lIns="0" tIns="0" rIns="0" bIns="0" rtlCol="0" anchor="ctr"/>
          <a:lstStyle/>
          <a:p>
            <a:pPr indent="0" marL="0">
              <a:lnSpc>
                <a:spcPts val="1550"/>
              </a:lnSpc>
              <a:buNone/>
            </a:pPr>
            <a:r>
              <a:rPr lang="en-US" sz="1150" dirty="0">
                <a:solidFill>
                  <a:srgbClr val="4A4360"/>
                </a:solidFill>
                <a:latin typeface="Calibri" pitchFamily="34" charset="0"/>
                <a:ea typeface="Calibri" pitchFamily="34" charset="-122"/>
                <a:cs typeface="Calibri" pitchFamily="34" charset="-120"/>
              </a:rPr>
              <a:t>Fact fluency, mental-maths and Vedic techniques, then a decision about competition problems.</a:t>
            </a:r>
            <a:endParaRPr lang="en-US" sz="1150" dirty="0"/>
          </a:p>
        </p:txBody>
      </p:sp>
      <p:sp>
        <p:nvSpPr>
          <p:cNvPr id="14" name="Shape 11"/>
          <p:cNvSpPr/>
          <p:nvPr/>
        </p:nvSpPr>
        <p:spPr>
          <a:xfrm rot="5400000">
            <a:off x="640080" y="4882896"/>
            <a:ext cx="457200" cy="457200"/>
          </a:xfrm>
          <a:prstGeom prst="hexagon">
            <a:avLst/>
          </a:prstGeom>
          <a:solidFill>
            <a:srgbClr val="6C4FE0"/>
          </a:solidFill>
          <a:ln/>
        </p:spPr>
      </p:sp>
      <p:sp>
        <p:nvSpPr>
          <p:cNvPr id="15" name="Text 12"/>
          <p:cNvSpPr/>
          <p:nvPr/>
        </p:nvSpPr>
        <p:spPr>
          <a:xfrm>
            <a:off x="640080" y="4882896"/>
            <a:ext cx="457200" cy="45720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HOW</a:t>
            </a:r>
            <a:endParaRPr lang="en-US" sz="850" dirty="0"/>
          </a:p>
        </p:txBody>
      </p:sp>
      <p:sp>
        <p:nvSpPr>
          <p:cNvPr id="16" name="Text 13"/>
          <p:cNvSpPr/>
          <p:nvPr/>
        </p:nvSpPr>
        <p:spPr>
          <a:xfrm>
            <a:off x="1261872" y="4864608"/>
            <a:ext cx="4114800" cy="1280160"/>
          </a:xfrm>
          <a:prstGeom prst="rect">
            <a:avLst/>
          </a:prstGeom>
          <a:noFill/>
          <a:ln/>
        </p:spPr>
        <p:txBody>
          <a:bodyPr wrap="square" lIns="0" tIns="0" rIns="0" bIns="0" rtlCol="0" anchor="ctr"/>
          <a:lstStyle/>
          <a:p>
            <a:pPr indent="0" marL="0">
              <a:lnSpc>
                <a:spcPts val="1550"/>
              </a:lnSpc>
              <a:buNone/>
            </a:pPr>
            <a:r>
              <a:rPr lang="en-US" sz="1150" dirty="0">
                <a:solidFill>
                  <a:srgbClr val="4A4360"/>
                </a:solidFill>
                <a:latin typeface="Calibri" pitchFamily="34" charset="0"/>
                <a:ea typeface="Calibri" pitchFamily="34" charset="-122"/>
                <a:cs typeface="Calibri" pitchFamily="34" charset="-120"/>
              </a:rPr>
              <a:t>Fact drills reuse the engine almost exactly. Competition problems do NOT — they need worked solutions and a solver, which is a different product.</a:t>
            </a:r>
            <a:endParaRPr lang="en-US" sz="1150" dirty="0"/>
          </a:p>
        </p:txBody>
      </p:sp>
      <p:sp>
        <p:nvSpPr>
          <p:cNvPr id="17" name="Shape 14"/>
          <p:cNvSpPr/>
          <p:nvPr/>
        </p:nvSpPr>
        <p:spPr>
          <a:xfrm>
            <a:off x="5577840" y="2048256"/>
            <a:ext cx="5669280" cy="2103120"/>
          </a:xfrm>
          <a:prstGeom prst="roundRect">
            <a:avLst>
              <a:gd name="adj" fmla="val 6087"/>
            </a:avLst>
          </a:prstGeom>
          <a:solidFill>
            <a:srgbClr val="E8F4EC"/>
          </a:solidFill>
          <a:ln/>
          <a:effectLst>
            <a:outerShdw sx="100000" sy="100000" kx="0" ky="0" algn="bl" rotWithShape="0" blurRad="127000" dist="25400" dir="5400000">
              <a:srgbClr val="241E33">
                <a:alpha val="10000"/>
              </a:srgbClr>
            </a:outerShdw>
          </a:effectLst>
        </p:spPr>
      </p:sp>
      <p:sp>
        <p:nvSpPr>
          <p:cNvPr id="18" name="Text 15"/>
          <p:cNvSpPr/>
          <p:nvPr/>
        </p:nvSpPr>
        <p:spPr>
          <a:xfrm>
            <a:off x="5870448" y="2194560"/>
            <a:ext cx="5120640" cy="256032"/>
          </a:xfrm>
          <a:prstGeom prst="rect">
            <a:avLst/>
          </a:prstGeom>
          <a:noFill/>
          <a:ln/>
        </p:spPr>
        <p:txBody>
          <a:bodyPr wrap="square" lIns="0" tIns="0" rIns="0" bIns="0" rtlCol="0" anchor="ctr"/>
          <a:lstStyle/>
          <a:p>
            <a:pPr indent="0" marL="0">
              <a:buNone/>
            </a:pPr>
            <a:r>
              <a:rPr lang="en-US" sz="900" b="1" spc="180" kern="0" dirty="0">
                <a:solidFill>
                  <a:srgbClr val="178A4C"/>
                </a:solidFill>
                <a:latin typeface="Calibri" pitchFamily="34" charset="0"/>
                <a:ea typeface="Calibri" pitchFamily="34" charset="-122"/>
                <a:cs typeface="Calibri" pitchFamily="34" charset="-120"/>
              </a:rPr>
              <a:t>WHAT ITS EDGE WOULD BE</a:t>
            </a:r>
            <a:endParaRPr lang="en-US" sz="900" dirty="0"/>
          </a:p>
        </p:txBody>
      </p:sp>
      <p:sp>
        <p:nvSpPr>
          <p:cNvPr id="19" name="Text 16"/>
          <p:cNvSpPr/>
          <p:nvPr/>
        </p:nvSpPr>
        <p:spPr>
          <a:xfrm>
            <a:off x="5907024" y="2487168"/>
            <a:ext cx="5074920" cy="1554480"/>
          </a:xfrm>
          <a:prstGeom prst="rect">
            <a:avLst/>
          </a:prstGeom>
          <a:noFill/>
          <a:ln/>
        </p:spPr>
        <p:txBody>
          <a:bodyPr wrap="square" lIns="0" tIns="0" rIns="0" bIns="0" rtlCol="0" anchor="ctr"/>
          <a:lstStyle/>
          <a:p>
            <a:pPr marL="342900" indent="-342900">
              <a:lnSpc>
                <a:spcPts val="1400"/>
              </a:lnSpc>
              <a:spcAft>
                <a:spcPts val="600"/>
              </a:spcAft>
              <a:buSzPct val="100000"/>
              <a:buChar char="•"/>
            </a:pPr>
            <a:r>
              <a:rPr lang="en-US" sz="1050" dirty="0">
                <a:solidFill>
                  <a:srgbClr val="1F4A33"/>
                </a:solidFill>
                <a:latin typeface="Calibri" pitchFamily="34" charset="0"/>
                <a:ea typeface="Calibri" pitchFamily="34" charset="-122"/>
                <a:cs typeface="Calibri" pitchFamily="34" charset="-120"/>
              </a:rPr>
              <a:t>Would be the only mental-maths product that also teaches the reasoning, using the same concept-chapter model as the Bee.</a:t>
            </a:r>
            <a:endParaRPr lang="en-US" sz="1050" dirty="0"/>
          </a:p>
        </p:txBody>
      </p:sp>
      <p:sp>
        <p:nvSpPr>
          <p:cNvPr id="20" name="Shape 17"/>
          <p:cNvSpPr/>
          <p:nvPr/>
        </p:nvSpPr>
        <p:spPr>
          <a:xfrm>
            <a:off x="5577840" y="4315968"/>
            <a:ext cx="5669280" cy="2103120"/>
          </a:xfrm>
          <a:prstGeom prst="roundRect">
            <a:avLst>
              <a:gd name="adj" fmla="val 6087"/>
            </a:avLst>
          </a:prstGeom>
          <a:solidFill>
            <a:srgbClr val="FBF3E0"/>
          </a:solidFill>
          <a:ln/>
          <a:effectLst>
            <a:outerShdw sx="100000" sy="100000" kx="0" ky="0" algn="bl" rotWithShape="0" blurRad="127000" dist="25400" dir="5400000">
              <a:srgbClr val="241E33">
                <a:alpha val="10000"/>
              </a:srgbClr>
            </a:outerShdw>
          </a:effectLst>
        </p:spPr>
      </p:sp>
      <p:sp>
        <p:nvSpPr>
          <p:cNvPr id="21" name="Text 18"/>
          <p:cNvSpPr/>
          <p:nvPr/>
        </p:nvSpPr>
        <p:spPr>
          <a:xfrm>
            <a:off x="5870448" y="4462272"/>
            <a:ext cx="5120640" cy="256032"/>
          </a:xfrm>
          <a:prstGeom prst="rect">
            <a:avLst/>
          </a:prstGeom>
          <a:noFill/>
          <a:ln/>
        </p:spPr>
        <p:txBody>
          <a:bodyPr wrap="square" lIns="0" tIns="0" rIns="0" bIns="0" rtlCol="0" anchor="ctr"/>
          <a:lstStyle/>
          <a:p>
            <a:pPr indent="0" marL="0">
              <a:buNone/>
            </a:pPr>
            <a:r>
              <a:rPr lang="en-US" sz="900" b="1" spc="180" kern="0" dirty="0">
                <a:solidFill>
                  <a:srgbClr val="8A5B00"/>
                </a:solidFill>
                <a:latin typeface="Calibri" pitchFamily="34" charset="0"/>
                <a:ea typeface="Calibri" pitchFamily="34" charset="-122"/>
                <a:cs typeface="Calibri" pitchFamily="34" charset="-120"/>
              </a:rPr>
              <a:t>WHAT STILL HAS TO BE BUILT</a:t>
            </a:r>
            <a:endParaRPr lang="en-US" sz="900" dirty="0"/>
          </a:p>
        </p:txBody>
      </p:sp>
      <p:sp>
        <p:nvSpPr>
          <p:cNvPr id="22" name="Text 19"/>
          <p:cNvSpPr/>
          <p:nvPr/>
        </p:nvSpPr>
        <p:spPr>
          <a:xfrm>
            <a:off x="5907024" y="4754880"/>
            <a:ext cx="5074920" cy="1554480"/>
          </a:xfrm>
          <a:prstGeom prst="rect">
            <a:avLst/>
          </a:prstGeom>
          <a:noFill/>
          <a:ln/>
        </p:spPr>
        <p:txBody>
          <a:bodyPr wrap="square" lIns="0" tIns="0" rIns="0" bIns="0" rtlCol="0" anchor="ctr"/>
          <a:lstStyle/>
          <a:p>
            <a:pPr marL="342900" indent="-342900">
              <a:lnSpc>
                <a:spcPts val="1400"/>
              </a:lnSpc>
              <a:spcAft>
                <a:spcPts val="600"/>
              </a:spcAft>
              <a:buSzPct val="100000"/>
              <a:buChar char="•"/>
            </a:pPr>
            <a:r>
              <a:rPr lang="en-US" sz="1050" dirty="0">
                <a:solidFill>
                  <a:srgbClr val="8A5B00"/>
                </a:solidFill>
                <a:latin typeface="Calibri" pitchFamily="34" charset="0"/>
                <a:ea typeface="Calibri" pitchFamily="34" charset="-122"/>
                <a:cs typeface="Calibri" pitchFamily="34" charset="-120"/>
              </a:rPr>
              <a:t>A fact-fluency bank and a Vedic technique chapter set</a:t>
            </a:r>
            <a:endParaRPr lang="en-US" sz="1050" dirty="0"/>
          </a:p>
          <a:p>
            <a:pPr marL="342900" indent="-342900">
              <a:lnSpc>
                <a:spcPts val="1400"/>
              </a:lnSpc>
              <a:spcAft>
                <a:spcPts val="600"/>
              </a:spcAft>
              <a:buSzPct val="100000"/>
              <a:buChar char="•"/>
            </a:pPr>
            <a:r>
              <a:rPr lang="en-US" sz="1050" dirty="0">
                <a:solidFill>
                  <a:srgbClr val="8A5B00"/>
                </a:solidFill>
                <a:latin typeface="Calibri" pitchFamily="34" charset="0"/>
                <a:ea typeface="Calibri" pitchFamily="34" charset="-122"/>
                <a:cs typeface="Calibri" pitchFamily="34" charset="-120"/>
              </a:rPr>
              <a:t>An honest decision on competition maths — it is the demand, and it is the part that does not reuse anything</a:t>
            </a:r>
            <a:endParaRPr lang="en-US" sz="1050" dirty="0"/>
          </a:p>
          <a:p>
            <a:pPr marL="342900" indent="-342900">
              <a:lnSpc>
                <a:spcPts val="1400"/>
              </a:lnSpc>
              <a:spcAft>
                <a:spcPts val="600"/>
              </a:spcAft>
              <a:buSzPct val="100000"/>
              <a:buChar char="•"/>
            </a:pPr>
            <a:r>
              <a:rPr lang="en-US" sz="1050" dirty="0">
                <a:solidFill>
                  <a:srgbClr val="8A5B00"/>
                </a:solidFill>
                <a:latin typeface="Calibri" pitchFamily="34" charset="0"/>
                <a:ea typeface="Calibri" pitchFamily="34" charset="-122"/>
                <a:cs typeface="Calibri" pitchFamily="34" charset="-120"/>
              </a:rPr>
              <a:t>Numeric input and working-out capture, which the word engine has never needed</a:t>
            </a:r>
            <a:endParaRPr lang="en-US" sz="1050" dirty="0"/>
          </a:p>
        </p:txBody>
      </p:sp>
      <p:sp>
        <p:nvSpPr>
          <p:cNvPr id="23" name="Text 20"/>
          <p:cNvSpPr/>
          <p:nvPr/>
        </p:nvSpPr>
        <p:spPr>
          <a:xfrm>
            <a:off x="640080" y="6272784"/>
            <a:ext cx="4846320" cy="310896"/>
          </a:xfrm>
          <a:prstGeom prst="rect">
            <a:avLst/>
          </a:prstGeom>
          <a:noFill/>
          <a:ln/>
        </p:spPr>
        <p:txBody>
          <a:bodyPr wrap="square" lIns="0" tIns="0" rIns="0" bIns="0" rtlCol="0" anchor="ctr"/>
          <a:lstStyle/>
          <a:p>
            <a:pPr indent="0" marL="0">
              <a:buNone/>
            </a:pPr>
            <a:r>
              <a:rPr lang="en-US" sz="1050" b="1" dirty="0">
                <a:solidFill>
                  <a:srgbClr val="7A7291"/>
                </a:solidFill>
                <a:latin typeface="Calibri" pitchFamily="34" charset="0"/>
                <a:ea typeface="Calibri" pitchFamily="34" charset="-122"/>
                <a:cs typeface="Calibri" pitchFamily="34" charset="-120"/>
              </a:rPr>
              <a:t>Ages 6–14</a:t>
            </a:r>
            <a:pPr indent="0" marL="0">
              <a:buNone/>
            </a:pPr>
            <a:r>
              <a:rPr lang="en-US" sz="1050" dirty="0">
                <a:solidFill>
                  <a:srgbClr val="7A7291"/>
                </a:solidFill>
                <a:latin typeface="Calibri" pitchFamily="34" charset="0"/>
                <a:ea typeface="Calibri" pitchFamily="34" charset="-122"/>
                <a:cs typeface="Calibri" pitchFamily="34" charset="-120"/>
              </a:rPr>
              <a:t>   ·   engine reuse: </a:t>
            </a:r>
            <a:pPr indent="0" marL="0">
              <a:buNone/>
            </a:pPr>
            <a:r>
              <a:rPr lang="en-US" sz="1050" b="1" dirty="0">
                <a:solidFill>
                  <a:srgbClr val="7A7291"/>
                </a:solidFill>
                <a:latin typeface="Calibri" pitchFamily="34" charset="0"/>
                <a:ea typeface="Calibri" pitchFamily="34" charset="-122"/>
                <a:cs typeface="Calibri" pitchFamily="34" charset="-120"/>
              </a:rPr>
              <a:t>Drills yes, problems no</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02336"/>
            <a:ext cx="7315200" cy="256032"/>
          </a:xfrm>
          <a:prstGeom prst="rect">
            <a:avLst/>
          </a:prstGeom>
          <a:noFill/>
          <a:ln/>
        </p:spPr>
        <p:txBody>
          <a:bodyPr wrap="square" lIns="0" tIns="0" rIns="0" bIns="0" rtlCol="0" anchor="ctr"/>
          <a:lstStyle/>
          <a:p>
            <a:pPr indent="0" marL="0">
              <a:buNone/>
            </a:pPr>
            <a:r>
              <a:rPr lang="en-US" sz="1150" b="1" spc="240" kern="0" dirty="0">
                <a:solidFill>
                  <a:srgbClr val="6C4FE0"/>
                </a:solidFill>
                <a:latin typeface="Calibri" pitchFamily="34" charset="0"/>
                <a:ea typeface="Calibri" pitchFamily="34" charset="-122"/>
                <a:cs typeface="Calibri" pitchFamily="34" charset="-120"/>
              </a:rPr>
              <a:t>PRODUCT 8 OF 8</a:t>
            </a:r>
            <a:endParaRPr lang="en-US" sz="1150" dirty="0"/>
          </a:p>
        </p:txBody>
      </p:sp>
      <p:sp>
        <p:nvSpPr>
          <p:cNvPr id="3" name="Text 1"/>
          <p:cNvSpPr/>
          <p:nvPr/>
        </p:nvSpPr>
        <p:spPr>
          <a:xfrm>
            <a:off x="640080" y="694944"/>
            <a:ext cx="7863840" cy="749808"/>
          </a:xfrm>
          <a:prstGeom prst="rect">
            <a:avLst/>
          </a:prstGeom>
          <a:noFill/>
          <a:ln/>
        </p:spPr>
        <p:txBody>
          <a:bodyPr wrap="square" lIns="0" tIns="0" rIns="0" bIns="0" rtlCol="0" anchor="ctr"/>
          <a:lstStyle/>
          <a:p>
            <a:pPr indent="0" marL="0">
              <a:buNone/>
            </a:pPr>
            <a:r>
              <a:rPr lang="en-US" sz="2900" b="1" dirty="0">
                <a:solidFill>
                  <a:srgbClr val="241E33"/>
                </a:solidFill>
                <a:latin typeface="Cambria" pitchFamily="34" charset="0"/>
                <a:ea typeface="Cambria" pitchFamily="34" charset="-122"/>
                <a:cs typeface="Cambria" pitchFamily="34" charset="-120"/>
              </a:rPr>
              <a:t>Bizzing Business</a:t>
            </a:r>
            <a:endParaRPr lang="en-US" sz="2900" dirty="0"/>
          </a:p>
        </p:txBody>
      </p:sp>
      <p:pic>
        <p:nvPicPr>
          <p:cNvPr id="4" name="Image 0" descr="preencoded.png">    </p:cNvPr>
          <p:cNvPicPr>
            <a:picLocks noChangeAspect="1"/>
          </p:cNvPicPr>
          <p:nvPr/>
        </p:nvPicPr>
        <p:blipFill>
          <a:blip r:embed="rId1"/>
          <a:stretch>
            <a:fillRect/>
          </a:stretch>
        </p:blipFill>
        <p:spPr>
          <a:xfrm>
            <a:off x="10012680" y="1298448"/>
            <a:ext cx="1234440" cy="1234440"/>
          </a:xfrm>
          <a:prstGeom prst="rect">
            <a:avLst/>
          </a:prstGeom>
        </p:spPr>
      </p:pic>
      <p:sp>
        <p:nvSpPr>
          <p:cNvPr id="5" name="Shape 2"/>
          <p:cNvSpPr/>
          <p:nvPr/>
        </p:nvSpPr>
        <p:spPr>
          <a:xfrm>
            <a:off x="8732520" y="749808"/>
            <a:ext cx="2514600" cy="384048"/>
          </a:xfrm>
          <a:prstGeom prst="roundRect">
            <a:avLst>
              <a:gd name="adj" fmla="val 50000"/>
            </a:avLst>
          </a:prstGeom>
          <a:solidFill>
            <a:srgbClr val="6C4FE0"/>
          </a:solidFill>
          <a:ln/>
        </p:spPr>
      </p:sp>
      <p:sp>
        <p:nvSpPr>
          <p:cNvPr id="6" name="Text 3"/>
          <p:cNvSpPr/>
          <p:nvPr/>
        </p:nvSpPr>
        <p:spPr>
          <a:xfrm>
            <a:off x="8732520" y="749808"/>
            <a:ext cx="2514600" cy="384048"/>
          </a:xfrm>
          <a:prstGeom prst="rect">
            <a:avLst/>
          </a:prstGeom>
          <a:noFill/>
          <a:ln/>
        </p:spPr>
        <p:txBody>
          <a:bodyPr wrap="square" lIns="0" tIns="0" rIns="0" bIns="0" rtlCol="0" anchor="ctr"/>
          <a:lstStyle/>
          <a:p>
            <a:pPr algn="ctr" indent="0" marL="0">
              <a:buNone/>
            </a:pPr>
            <a:r>
              <a:rPr lang="en-US" sz="1000" b="1" spc="120" kern="0" dirty="0">
                <a:solidFill>
                  <a:srgbClr val="FFFFFF"/>
                </a:solidFill>
                <a:latin typeface="Calibri" pitchFamily="34" charset="0"/>
                <a:ea typeface="Calibri" pitchFamily="34" charset="-122"/>
                <a:cs typeface="Calibri" pitchFamily="34" charset="-120"/>
              </a:rPr>
              <a:t>COMMITTED</a:t>
            </a:r>
            <a:endParaRPr lang="en-US" sz="1000" dirty="0"/>
          </a:p>
        </p:txBody>
      </p:sp>
      <p:sp>
        <p:nvSpPr>
          <p:cNvPr id="7" name="Text 4"/>
          <p:cNvSpPr/>
          <p:nvPr/>
        </p:nvSpPr>
        <p:spPr>
          <a:xfrm>
            <a:off x="640080" y="1444752"/>
            <a:ext cx="8778240" cy="585216"/>
          </a:xfrm>
          <a:prstGeom prst="rect">
            <a:avLst/>
          </a:prstGeom>
          <a:noFill/>
          <a:ln/>
        </p:spPr>
        <p:txBody>
          <a:bodyPr wrap="square" lIns="0" tIns="0" rIns="0" bIns="0" rtlCol="0" anchor="ctr"/>
          <a:lstStyle/>
          <a:p>
            <a:pPr indent="0" marL="0">
              <a:lnSpc>
                <a:spcPts val="2100"/>
              </a:lnSpc>
              <a:buNone/>
            </a:pPr>
            <a:r>
              <a:rPr lang="en-US" sz="1600" i="1" dirty="0">
                <a:solidFill>
                  <a:srgbClr val="6C4FE0"/>
                </a:solidFill>
                <a:latin typeface="Cambria" pitchFamily="34" charset="0"/>
                <a:ea typeface="Cambria" pitchFamily="34" charset="-122"/>
                <a:cs typeface="Cambria" pitchFamily="34" charset="-120"/>
              </a:rPr>
              <a:t>A sixteen-year-old who has built something, pitched it to a room, and can explain why it worked or why it did not.</a:t>
            </a:r>
            <a:endParaRPr lang="en-US" sz="1600" dirty="0"/>
          </a:p>
        </p:txBody>
      </p:sp>
      <p:sp>
        <p:nvSpPr>
          <p:cNvPr id="8" name="Shape 5"/>
          <p:cNvSpPr/>
          <p:nvPr/>
        </p:nvSpPr>
        <p:spPr>
          <a:xfrm rot="5400000">
            <a:off x="640080" y="2103120"/>
            <a:ext cx="457200" cy="457200"/>
          </a:xfrm>
          <a:prstGeom prst="hexagon">
            <a:avLst/>
          </a:prstGeom>
          <a:solidFill>
            <a:srgbClr val="6C4FE0"/>
          </a:solidFill>
          <a:ln/>
        </p:spPr>
      </p:sp>
      <p:sp>
        <p:nvSpPr>
          <p:cNvPr id="9" name="Text 6"/>
          <p:cNvSpPr/>
          <p:nvPr/>
        </p:nvSpPr>
        <p:spPr>
          <a:xfrm>
            <a:off x="640080" y="2103120"/>
            <a:ext cx="457200" cy="45720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WHY</a:t>
            </a:r>
            <a:endParaRPr lang="en-US" sz="850" dirty="0"/>
          </a:p>
        </p:txBody>
      </p:sp>
      <p:sp>
        <p:nvSpPr>
          <p:cNvPr id="10" name="Text 7"/>
          <p:cNvSpPr/>
          <p:nvPr/>
        </p:nvSpPr>
        <p:spPr>
          <a:xfrm>
            <a:off x="1261872" y="2084832"/>
            <a:ext cx="4114800" cy="1280160"/>
          </a:xfrm>
          <a:prstGeom prst="rect">
            <a:avLst/>
          </a:prstGeom>
          <a:noFill/>
          <a:ln/>
        </p:spPr>
        <p:txBody>
          <a:bodyPr wrap="square" lIns="0" tIns="0" rIns="0" bIns="0" rtlCol="0" anchor="ctr"/>
          <a:lstStyle/>
          <a:p>
            <a:pPr indent="0" marL="0">
              <a:lnSpc>
                <a:spcPts val="1550"/>
              </a:lnSpc>
              <a:buNone/>
            </a:pPr>
            <a:r>
              <a:rPr lang="en-US" sz="1150" dirty="0">
                <a:solidFill>
                  <a:srgbClr val="4A4360"/>
                </a:solidFill>
                <a:latin typeface="Calibri" pitchFamily="34" charset="0"/>
                <a:ea typeface="Calibri" pitchFamily="34" charset="-122"/>
                <a:cs typeface="Calibri" pitchFamily="34" charset="-120"/>
              </a:rPr>
              <a:t>This is the conversation these families already have at the dinner table, and nothing exists for children that is not a four-figure summer camp. It lands in the twelve-to-sixteen gap where the bee ends, it is the highest price a family will pay in the whole house, and it is the product that turns Bizzing from a practice app into the place a child grew up.</a:t>
            </a:r>
            <a:endParaRPr lang="en-US" sz="1150" dirty="0"/>
          </a:p>
        </p:txBody>
      </p:sp>
      <p:sp>
        <p:nvSpPr>
          <p:cNvPr id="11" name="Shape 8"/>
          <p:cNvSpPr/>
          <p:nvPr/>
        </p:nvSpPr>
        <p:spPr>
          <a:xfrm rot="5400000">
            <a:off x="640080" y="3493008"/>
            <a:ext cx="457200" cy="457200"/>
          </a:xfrm>
          <a:prstGeom prst="hexagon">
            <a:avLst/>
          </a:prstGeom>
          <a:solidFill>
            <a:srgbClr val="F0B429"/>
          </a:solidFill>
          <a:ln/>
        </p:spPr>
      </p:sp>
      <p:sp>
        <p:nvSpPr>
          <p:cNvPr id="12" name="Text 9"/>
          <p:cNvSpPr/>
          <p:nvPr/>
        </p:nvSpPr>
        <p:spPr>
          <a:xfrm>
            <a:off x="640080" y="3493008"/>
            <a:ext cx="457200" cy="457200"/>
          </a:xfrm>
          <a:prstGeom prst="rect">
            <a:avLst/>
          </a:prstGeom>
          <a:noFill/>
          <a:ln/>
        </p:spPr>
        <p:txBody>
          <a:bodyPr wrap="square" lIns="0" tIns="0" rIns="0" bIns="0" rtlCol="0" anchor="ctr"/>
          <a:lstStyle/>
          <a:p>
            <a:pPr algn="ctr" indent="0" marL="0">
              <a:buNone/>
            </a:pPr>
            <a:r>
              <a:rPr lang="en-US" sz="850" b="1" dirty="0">
                <a:solidFill>
                  <a:srgbClr val="241E33"/>
                </a:solidFill>
                <a:latin typeface="Calibri" pitchFamily="34" charset="0"/>
                <a:ea typeface="Calibri" pitchFamily="34" charset="-122"/>
                <a:cs typeface="Calibri" pitchFamily="34" charset="-120"/>
              </a:rPr>
              <a:t>WHAT</a:t>
            </a:r>
            <a:endParaRPr lang="en-US" sz="850" dirty="0"/>
          </a:p>
        </p:txBody>
      </p:sp>
      <p:sp>
        <p:nvSpPr>
          <p:cNvPr id="13" name="Text 10"/>
          <p:cNvSpPr/>
          <p:nvPr/>
        </p:nvSpPr>
        <p:spPr>
          <a:xfrm>
            <a:off x="1261872" y="3474720"/>
            <a:ext cx="4114800" cy="1280160"/>
          </a:xfrm>
          <a:prstGeom prst="rect">
            <a:avLst/>
          </a:prstGeom>
          <a:noFill/>
          <a:ln/>
        </p:spPr>
        <p:txBody>
          <a:bodyPr wrap="square" lIns="0" tIns="0" rIns="0" bIns="0" rtlCol="0" anchor="ctr"/>
          <a:lstStyle/>
          <a:p>
            <a:pPr indent="0" marL="0">
              <a:lnSpc>
                <a:spcPts val="1550"/>
              </a:lnSpc>
              <a:buNone/>
            </a:pPr>
            <a:r>
              <a:rPr lang="en-US" sz="1150" dirty="0">
                <a:solidFill>
                  <a:srgbClr val="4A4360"/>
                </a:solidFill>
                <a:latin typeface="Calibri" pitchFamily="34" charset="0"/>
                <a:ea typeface="Calibri" pitchFamily="34" charset="-122"/>
                <a:cs typeface="Calibri" pitchFamily="34" charset="-120"/>
              </a:rPr>
              <a:t>How a business makes money, customers, pricing, competition, brand, operations and ethics — taught through real cases, worked in small teams, and finished with a capstone the child builds and pitches at a demo day.</a:t>
            </a:r>
            <a:endParaRPr lang="en-US" sz="1150" dirty="0"/>
          </a:p>
        </p:txBody>
      </p:sp>
      <p:sp>
        <p:nvSpPr>
          <p:cNvPr id="14" name="Shape 11"/>
          <p:cNvSpPr/>
          <p:nvPr/>
        </p:nvSpPr>
        <p:spPr>
          <a:xfrm rot="5400000">
            <a:off x="640080" y="4882896"/>
            <a:ext cx="457200" cy="457200"/>
          </a:xfrm>
          <a:prstGeom prst="hexagon">
            <a:avLst/>
          </a:prstGeom>
          <a:solidFill>
            <a:srgbClr val="6C4FE0"/>
          </a:solidFill>
          <a:ln/>
        </p:spPr>
      </p:sp>
      <p:sp>
        <p:nvSpPr>
          <p:cNvPr id="15" name="Text 12"/>
          <p:cNvSpPr/>
          <p:nvPr/>
        </p:nvSpPr>
        <p:spPr>
          <a:xfrm>
            <a:off x="640080" y="4882896"/>
            <a:ext cx="457200" cy="45720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HOW</a:t>
            </a:r>
            <a:endParaRPr lang="en-US" sz="850" dirty="0"/>
          </a:p>
        </p:txBody>
      </p:sp>
      <p:sp>
        <p:nvSpPr>
          <p:cNvPr id="16" name="Text 13"/>
          <p:cNvSpPr/>
          <p:nvPr/>
        </p:nvSpPr>
        <p:spPr>
          <a:xfrm>
            <a:off x="1261872" y="4864608"/>
            <a:ext cx="4114800" cy="1280160"/>
          </a:xfrm>
          <a:prstGeom prst="rect">
            <a:avLst/>
          </a:prstGeom>
          <a:noFill/>
          <a:ln/>
        </p:spPr>
        <p:txBody>
          <a:bodyPr wrap="square" lIns="0" tIns="0" rIns="0" bIns="0" rtlCol="0" anchor="ctr"/>
          <a:lstStyle/>
          <a:p>
            <a:pPr indent="0" marL="0">
              <a:lnSpc>
                <a:spcPts val="1550"/>
              </a:lnSpc>
              <a:buNone/>
            </a:pPr>
            <a:r>
              <a:rPr lang="en-US" sz="1150" dirty="0">
                <a:solidFill>
                  <a:srgbClr val="4A4360"/>
                </a:solidFill>
                <a:latin typeface="Calibri" pitchFamily="34" charset="0"/>
                <a:ea typeface="Calibri" pitchFamily="34" charset="-122"/>
                <a:cs typeface="Calibri" pitchFamily="34" charset="-120"/>
              </a:rPr>
              <a:t>Cohorts with fixed start dates, teams of three or four, a trained mentor per cohort, recorded core lessons and live sessions. Teamwork and a real teacher are FEATURES here, not obstacles — they are the reason it works and the reason it cannot be cloned by software.</a:t>
            </a:r>
            <a:endParaRPr lang="en-US" sz="1150" dirty="0"/>
          </a:p>
        </p:txBody>
      </p:sp>
      <p:sp>
        <p:nvSpPr>
          <p:cNvPr id="17" name="Shape 14"/>
          <p:cNvSpPr/>
          <p:nvPr/>
        </p:nvSpPr>
        <p:spPr>
          <a:xfrm>
            <a:off x="5577840" y="2048256"/>
            <a:ext cx="5669280" cy="2103120"/>
          </a:xfrm>
          <a:prstGeom prst="roundRect">
            <a:avLst>
              <a:gd name="adj" fmla="val 6087"/>
            </a:avLst>
          </a:prstGeom>
          <a:solidFill>
            <a:srgbClr val="E8F4EC"/>
          </a:solidFill>
          <a:ln/>
          <a:effectLst>
            <a:outerShdw sx="100000" sy="100000" kx="0" ky="0" algn="bl" rotWithShape="0" blurRad="127000" dist="25400" dir="5400000">
              <a:srgbClr val="241E33">
                <a:alpha val="10000"/>
              </a:srgbClr>
            </a:outerShdw>
          </a:effectLst>
        </p:spPr>
      </p:sp>
      <p:sp>
        <p:nvSpPr>
          <p:cNvPr id="18" name="Text 15"/>
          <p:cNvSpPr/>
          <p:nvPr/>
        </p:nvSpPr>
        <p:spPr>
          <a:xfrm>
            <a:off x="5870448" y="2194560"/>
            <a:ext cx="5120640" cy="256032"/>
          </a:xfrm>
          <a:prstGeom prst="rect">
            <a:avLst/>
          </a:prstGeom>
          <a:noFill/>
          <a:ln/>
        </p:spPr>
        <p:txBody>
          <a:bodyPr wrap="square" lIns="0" tIns="0" rIns="0" bIns="0" rtlCol="0" anchor="ctr"/>
          <a:lstStyle/>
          <a:p>
            <a:pPr indent="0" marL="0">
              <a:buNone/>
            </a:pPr>
            <a:r>
              <a:rPr lang="en-US" sz="900" b="1" spc="180" kern="0" dirty="0">
                <a:solidFill>
                  <a:srgbClr val="178A4C"/>
                </a:solidFill>
                <a:latin typeface="Calibri" pitchFamily="34" charset="0"/>
                <a:ea typeface="Calibri" pitchFamily="34" charset="-122"/>
                <a:cs typeface="Calibri" pitchFamily="34" charset="-120"/>
              </a:rPr>
              <a:t>WHAT ITS EDGE WOULD BE</a:t>
            </a:r>
            <a:endParaRPr lang="en-US" sz="900" dirty="0"/>
          </a:p>
        </p:txBody>
      </p:sp>
      <p:sp>
        <p:nvSpPr>
          <p:cNvPr id="19" name="Text 16"/>
          <p:cNvSpPr/>
          <p:nvPr/>
        </p:nvSpPr>
        <p:spPr>
          <a:xfrm>
            <a:off x="5907024" y="2487168"/>
            <a:ext cx="5074920" cy="1554480"/>
          </a:xfrm>
          <a:prstGeom prst="rect">
            <a:avLst/>
          </a:prstGeom>
          <a:noFill/>
          <a:ln/>
        </p:spPr>
        <p:txBody>
          <a:bodyPr wrap="square" lIns="0" tIns="0" rIns="0" bIns="0" rtlCol="0" anchor="ctr"/>
          <a:lstStyle/>
          <a:p>
            <a:pPr marL="342900" indent="-342900">
              <a:lnSpc>
                <a:spcPts val="1400"/>
              </a:lnSpc>
              <a:spcAft>
                <a:spcPts val="600"/>
              </a:spcAft>
              <a:buSzPct val="100000"/>
              <a:buChar char="•"/>
            </a:pPr>
            <a:r>
              <a:rPr lang="en-US" sz="1050" dirty="0">
                <a:solidFill>
                  <a:srgbClr val="1F4A33"/>
                </a:solidFill>
                <a:latin typeface="Calibri" pitchFamily="34" charset="0"/>
                <a:ea typeface="Calibri" pitchFamily="34" charset="-122"/>
                <a:cs typeface="Calibri" pitchFamily="34" charset="-120"/>
              </a:rPr>
              <a:t>A mentor network is a moat. Content can be copied in a quarter; a trained bench of coaches who know these families cannot.</a:t>
            </a:r>
            <a:endParaRPr lang="en-US" sz="1050" dirty="0"/>
          </a:p>
          <a:p>
            <a:pPr marL="342900" indent="-342900">
              <a:lnSpc>
                <a:spcPts val="1400"/>
              </a:lnSpc>
              <a:spcAft>
                <a:spcPts val="600"/>
              </a:spcAft>
              <a:buSzPct val="100000"/>
              <a:buChar char="•"/>
            </a:pPr>
            <a:r>
              <a:rPr lang="en-US" sz="1050" dirty="0">
                <a:solidFill>
                  <a:srgbClr val="1F4A33"/>
                </a:solidFill>
                <a:latin typeface="Calibri" pitchFamily="34" charset="0"/>
                <a:ea typeface="Calibri" pitchFamily="34" charset="-122"/>
                <a:cs typeface="Calibri" pitchFamily="34" charset="-120"/>
              </a:rPr>
              <a:t>The capstone: the child makes and pitches something real. It is exactly what the CKO already does with slime, clay and loom bags — the product is that instinct, given structure.</a:t>
            </a:r>
            <a:endParaRPr lang="en-US" sz="1050" dirty="0"/>
          </a:p>
          <a:p>
            <a:pPr marL="342900" indent="-342900">
              <a:lnSpc>
                <a:spcPts val="1400"/>
              </a:lnSpc>
              <a:spcAft>
                <a:spcPts val="600"/>
              </a:spcAft>
              <a:buSzPct val="100000"/>
              <a:buChar char="•"/>
            </a:pPr>
            <a:r>
              <a:rPr lang="en-US" sz="1050" dirty="0">
                <a:solidFill>
                  <a:srgbClr val="1F4A33"/>
                </a:solidFill>
                <a:latin typeface="Calibri" pitchFamily="34" charset="0"/>
                <a:ea typeface="Calibri" pitchFamily="34" charset="-122"/>
                <a:cs typeface="Calibri" pitchFamily="34" charset="-120"/>
              </a:rPr>
              <a:t>Demo day is a marketing asset as well as a lesson: parents in a room watching their own children present.</a:t>
            </a:r>
            <a:endParaRPr lang="en-US" sz="1050" dirty="0"/>
          </a:p>
        </p:txBody>
      </p:sp>
      <p:sp>
        <p:nvSpPr>
          <p:cNvPr id="20" name="Shape 17"/>
          <p:cNvSpPr/>
          <p:nvPr/>
        </p:nvSpPr>
        <p:spPr>
          <a:xfrm>
            <a:off x="5577840" y="4315968"/>
            <a:ext cx="5669280" cy="2103120"/>
          </a:xfrm>
          <a:prstGeom prst="roundRect">
            <a:avLst>
              <a:gd name="adj" fmla="val 6087"/>
            </a:avLst>
          </a:prstGeom>
          <a:solidFill>
            <a:srgbClr val="FBF3E0"/>
          </a:solidFill>
          <a:ln/>
          <a:effectLst>
            <a:outerShdw sx="100000" sy="100000" kx="0" ky="0" algn="bl" rotWithShape="0" blurRad="127000" dist="25400" dir="5400000">
              <a:srgbClr val="241E33">
                <a:alpha val="10000"/>
              </a:srgbClr>
            </a:outerShdw>
          </a:effectLst>
        </p:spPr>
      </p:sp>
      <p:sp>
        <p:nvSpPr>
          <p:cNvPr id="21" name="Text 18"/>
          <p:cNvSpPr/>
          <p:nvPr/>
        </p:nvSpPr>
        <p:spPr>
          <a:xfrm>
            <a:off x="5870448" y="4462272"/>
            <a:ext cx="5120640" cy="256032"/>
          </a:xfrm>
          <a:prstGeom prst="rect">
            <a:avLst/>
          </a:prstGeom>
          <a:noFill/>
          <a:ln/>
        </p:spPr>
        <p:txBody>
          <a:bodyPr wrap="square" lIns="0" tIns="0" rIns="0" bIns="0" rtlCol="0" anchor="ctr"/>
          <a:lstStyle/>
          <a:p>
            <a:pPr indent="0" marL="0">
              <a:buNone/>
            </a:pPr>
            <a:r>
              <a:rPr lang="en-US" sz="900" b="1" spc="180" kern="0" dirty="0">
                <a:solidFill>
                  <a:srgbClr val="8A5B00"/>
                </a:solidFill>
                <a:latin typeface="Calibri" pitchFamily="34" charset="0"/>
                <a:ea typeface="Calibri" pitchFamily="34" charset="-122"/>
                <a:cs typeface="Calibri" pitchFamily="34" charset="-120"/>
              </a:rPr>
              <a:t>WHAT STILL HAS TO BE BUILT</a:t>
            </a:r>
            <a:endParaRPr lang="en-US" sz="900" dirty="0"/>
          </a:p>
        </p:txBody>
      </p:sp>
      <p:sp>
        <p:nvSpPr>
          <p:cNvPr id="22" name="Text 19"/>
          <p:cNvSpPr/>
          <p:nvPr/>
        </p:nvSpPr>
        <p:spPr>
          <a:xfrm>
            <a:off x="5907024" y="4754880"/>
            <a:ext cx="5074920" cy="1554480"/>
          </a:xfrm>
          <a:prstGeom prst="rect">
            <a:avLst/>
          </a:prstGeom>
          <a:noFill/>
          <a:ln/>
        </p:spPr>
        <p:txBody>
          <a:bodyPr wrap="square" lIns="0" tIns="0" rIns="0" bIns="0" rtlCol="0" anchor="ctr"/>
          <a:lstStyle/>
          <a:p>
            <a:pPr marL="342900" indent="-342900">
              <a:lnSpc>
                <a:spcPts val="1400"/>
              </a:lnSpc>
              <a:spcAft>
                <a:spcPts val="600"/>
              </a:spcAft>
              <a:buSzPct val="100000"/>
              <a:buChar char="•"/>
            </a:pPr>
            <a:r>
              <a:rPr lang="en-US" sz="1050" dirty="0">
                <a:solidFill>
                  <a:srgbClr val="8A5B00"/>
                </a:solidFill>
                <a:latin typeface="Calibri" pitchFamily="34" charset="0"/>
                <a:ea typeface="Calibri" pitchFamily="34" charset="-122"/>
                <a:cs typeface="Calibri" pitchFamily="34" charset="-120"/>
              </a:rPr>
              <a:t>A case library written for eleven-year-olds, and a cohort curriculum</a:t>
            </a:r>
            <a:endParaRPr lang="en-US" sz="1050" dirty="0"/>
          </a:p>
          <a:p>
            <a:pPr marL="342900" indent="-342900">
              <a:lnSpc>
                <a:spcPts val="1400"/>
              </a:lnSpc>
              <a:spcAft>
                <a:spcPts val="600"/>
              </a:spcAft>
              <a:buSzPct val="100000"/>
              <a:buChar char="•"/>
            </a:pPr>
            <a:r>
              <a:rPr lang="en-US" sz="1050" dirty="0">
                <a:solidFill>
                  <a:srgbClr val="8A5B00"/>
                </a:solidFill>
                <a:latin typeface="Calibri" pitchFamily="34" charset="0"/>
                <a:ea typeface="Calibri" pitchFamily="34" charset="-122"/>
                <a:cs typeface="Calibri" pitchFamily="34" charset="-120"/>
              </a:rPr>
              <a:t>Teams, project submission and mentor review in the app — none of which exists today</a:t>
            </a:r>
            <a:endParaRPr lang="en-US" sz="1050" dirty="0"/>
          </a:p>
          <a:p>
            <a:pPr marL="342900" indent="-342900">
              <a:lnSpc>
                <a:spcPts val="1400"/>
              </a:lnSpc>
              <a:spcAft>
                <a:spcPts val="600"/>
              </a:spcAft>
              <a:buSzPct val="100000"/>
              <a:buChar char="•"/>
            </a:pPr>
            <a:r>
              <a:rPr lang="en-US" sz="1050" dirty="0">
                <a:solidFill>
                  <a:srgbClr val="8A5B00"/>
                </a:solidFill>
                <a:latin typeface="Calibri" pitchFamily="34" charset="0"/>
                <a:ea typeface="Calibri" pitchFamily="34" charset="-122"/>
                <a:cs typeface="Calibri" pitchFamily="34" charset="-120"/>
              </a:rPr>
              <a:t>A mentor bench: recruited, trained, paid and quality-managed. This is a hiring plan, not a feature ticket</a:t>
            </a:r>
            <a:endParaRPr lang="en-US" sz="1050" dirty="0"/>
          </a:p>
          <a:p>
            <a:pPr marL="342900" indent="-342900">
              <a:lnSpc>
                <a:spcPts val="1400"/>
              </a:lnSpc>
              <a:spcAft>
                <a:spcPts val="600"/>
              </a:spcAft>
              <a:buSzPct val="100000"/>
              <a:buChar char="•"/>
            </a:pPr>
            <a:r>
              <a:rPr lang="en-US" sz="1050" dirty="0">
                <a:solidFill>
                  <a:srgbClr val="8A5B00"/>
                </a:solidFill>
                <a:latin typeface="Calibri" pitchFamily="34" charset="0"/>
                <a:ea typeface="Calibri" pitchFamily="34" charset="-122"/>
                <a:cs typeface="Calibri" pitchFamily="34" charset="-120"/>
              </a:rPr>
              <a:t>Safeguarding for adults working with children — background checks, session recording, parent visibility</a:t>
            </a:r>
            <a:endParaRPr lang="en-US" sz="1050" dirty="0"/>
          </a:p>
        </p:txBody>
      </p:sp>
      <p:sp>
        <p:nvSpPr>
          <p:cNvPr id="23" name="Text 20"/>
          <p:cNvSpPr/>
          <p:nvPr/>
        </p:nvSpPr>
        <p:spPr>
          <a:xfrm>
            <a:off x="640080" y="6272784"/>
            <a:ext cx="4846320" cy="310896"/>
          </a:xfrm>
          <a:prstGeom prst="rect">
            <a:avLst/>
          </a:prstGeom>
          <a:noFill/>
          <a:ln/>
        </p:spPr>
        <p:txBody>
          <a:bodyPr wrap="square" lIns="0" tIns="0" rIns="0" bIns="0" rtlCol="0" anchor="ctr"/>
          <a:lstStyle/>
          <a:p>
            <a:pPr indent="0" marL="0">
              <a:buNone/>
            </a:pPr>
            <a:r>
              <a:rPr lang="en-US" sz="1050" b="1" dirty="0">
                <a:solidFill>
                  <a:srgbClr val="7A7291"/>
                </a:solidFill>
                <a:latin typeface="Calibri" pitchFamily="34" charset="0"/>
                <a:ea typeface="Calibri" pitchFamily="34" charset="-122"/>
                <a:cs typeface="Calibri" pitchFamily="34" charset="-120"/>
              </a:rPr>
              <a:t>Ages 11–16</a:t>
            </a:r>
            <a:pPr indent="0" marL="0">
              <a:buNone/>
            </a:pPr>
            <a:r>
              <a:rPr lang="en-US" sz="1050" dirty="0">
                <a:solidFill>
                  <a:srgbClr val="7A7291"/>
                </a:solidFill>
                <a:latin typeface="Calibri" pitchFamily="34" charset="0"/>
                <a:ea typeface="Calibri" pitchFamily="34" charset="-122"/>
                <a:cs typeface="Calibri" pitchFamily="34" charset="-120"/>
              </a:rPr>
              <a:t>   ·   engine reuse: </a:t>
            </a:r>
            <a:pPr indent="0" marL="0">
              <a:buNone/>
            </a:pPr>
            <a:r>
              <a:rPr lang="en-US" sz="1050" b="1" dirty="0">
                <a:solidFill>
                  <a:srgbClr val="7A7291"/>
                </a:solidFill>
                <a:latin typeface="Calibri" pitchFamily="34" charset="0"/>
                <a:ea typeface="Calibri" pitchFamily="34" charset="-122"/>
                <a:cs typeface="Calibri" pitchFamily="34" charset="-120"/>
              </a:rPr>
              <a:t>New shape, on purpose</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41E33"/>
        </a:solidFill>
      </p:bgPr>
    </p:bg>
    <p:spTree>
      <p:nvGrpSpPr>
        <p:cNvPr id="1" name=""/>
        <p:cNvGrpSpPr/>
        <p:nvPr/>
      </p:nvGrpSpPr>
      <p:grpSpPr>
        <a:xfrm>
          <a:off x="0" y="0"/>
          <a:ext cx="0" cy="0"/>
          <a:chOff x="0" y="0"/>
          <a:chExt cx="0" cy="0"/>
        </a:xfrm>
      </p:grpSpPr>
      <p:sp>
        <p:nvSpPr>
          <p:cNvPr id="2" name="Text 0"/>
          <p:cNvSpPr/>
          <p:nvPr/>
        </p:nvSpPr>
        <p:spPr>
          <a:xfrm>
            <a:off x="640080" y="530352"/>
            <a:ext cx="7315200" cy="292608"/>
          </a:xfrm>
          <a:prstGeom prst="rect">
            <a:avLst/>
          </a:prstGeom>
          <a:noFill/>
          <a:ln/>
        </p:spPr>
        <p:txBody>
          <a:bodyPr wrap="square" lIns="0" tIns="0" rIns="0" bIns="0" rtlCol="0" anchor="ctr"/>
          <a:lstStyle/>
          <a:p>
            <a:pPr indent="0" marL="0">
              <a:buNone/>
            </a:pPr>
            <a:r>
              <a:rPr lang="en-US" sz="1200" b="1" spc="300" kern="0" dirty="0">
                <a:solidFill>
                  <a:srgbClr val="F0B429"/>
                </a:solidFill>
                <a:latin typeface="Calibri" pitchFamily="34" charset="0"/>
                <a:ea typeface="Calibri" pitchFamily="34" charset="-122"/>
                <a:cs typeface="Calibri" pitchFamily="34" charset="-120"/>
              </a:rPr>
              <a:t>BIZZING BUSINESS</a:t>
            </a:r>
            <a:endParaRPr lang="en-US" sz="1200" dirty="0"/>
          </a:p>
        </p:txBody>
      </p:sp>
      <p:sp>
        <p:nvSpPr>
          <p:cNvPr id="3" name="Text 1"/>
          <p:cNvSpPr/>
          <p:nvPr/>
        </p:nvSpPr>
        <p:spPr>
          <a:xfrm>
            <a:off x="640080" y="896112"/>
            <a:ext cx="10607040" cy="68580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The one product where the people are the moat.</a:t>
            </a:r>
            <a:endParaRPr lang="en-US" sz="2800" dirty="0"/>
          </a:p>
        </p:txBody>
      </p:sp>
      <p:sp>
        <p:nvSpPr>
          <p:cNvPr id="4" name="Text 2"/>
          <p:cNvSpPr/>
          <p:nvPr/>
        </p:nvSpPr>
        <p:spPr>
          <a:xfrm>
            <a:off x="640080" y="1627632"/>
            <a:ext cx="10241280" cy="502920"/>
          </a:xfrm>
          <a:prstGeom prst="rect">
            <a:avLst/>
          </a:prstGeom>
          <a:noFill/>
          <a:ln/>
        </p:spPr>
        <p:txBody>
          <a:bodyPr wrap="square" lIns="0" tIns="0" rIns="0" bIns="0" rtlCol="0" anchor="ctr"/>
          <a:lstStyle/>
          <a:p>
            <a:pPr indent="0" marL="0">
              <a:lnSpc>
                <a:spcPts val="1700"/>
              </a:lnSpc>
              <a:buNone/>
            </a:pPr>
            <a:r>
              <a:rPr lang="en-US" sz="1300" dirty="0">
                <a:solidFill>
                  <a:srgbClr val="E3DCF2"/>
                </a:solidFill>
                <a:latin typeface="Calibri" pitchFamily="34" charset="0"/>
                <a:ea typeface="Calibri" pitchFamily="34" charset="-122"/>
                <a:cs typeface="Calibri" pitchFamily="34" charset="-120"/>
              </a:rPr>
              <a:t>Everything else in the house is software a competitor could clone in a quarter. A trained bench of mentors who know these families cannot be cloned at all — which is exactly why this one is worth the extra difficulty.</a:t>
            </a:r>
            <a:endParaRPr lang="en-US" sz="1300" dirty="0"/>
          </a:p>
        </p:txBody>
      </p:sp>
      <p:sp>
        <p:nvSpPr>
          <p:cNvPr id="5" name="Shape 3"/>
          <p:cNvSpPr/>
          <p:nvPr/>
        </p:nvSpPr>
        <p:spPr>
          <a:xfrm>
            <a:off x="640080" y="2331720"/>
            <a:ext cx="2011680" cy="2286000"/>
          </a:xfrm>
          <a:prstGeom prst="roundRect">
            <a:avLst>
              <a:gd name="adj" fmla="val 5909"/>
            </a:avLst>
          </a:prstGeom>
          <a:solidFill>
            <a:srgbClr val="FFFFFF">
              <a:alpha val="8000"/>
            </a:srgbClr>
          </a:solidFill>
          <a:ln w="12700">
            <a:solidFill>
              <a:srgbClr val="6C4FE0"/>
            </a:solidFill>
            <a:prstDash val="solid"/>
          </a:ln>
        </p:spPr>
      </p:sp>
      <p:sp>
        <p:nvSpPr>
          <p:cNvPr id="6" name="Shape 4"/>
          <p:cNvSpPr/>
          <p:nvPr/>
        </p:nvSpPr>
        <p:spPr>
          <a:xfrm rot="5400000">
            <a:off x="822960" y="2542032"/>
            <a:ext cx="384048" cy="384048"/>
          </a:xfrm>
          <a:prstGeom prst="hexagon">
            <a:avLst/>
          </a:prstGeom>
          <a:solidFill>
            <a:srgbClr val="6C4FE0"/>
          </a:solidFill>
          <a:ln/>
        </p:spPr>
      </p:sp>
      <p:sp>
        <p:nvSpPr>
          <p:cNvPr id="7" name="Text 5"/>
          <p:cNvSpPr/>
          <p:nvPr/>
        </p:nvSpPr>
        <p:spPr>
          <a:xfrm>
            <a:off x="822960" y="25420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8" name="Text 6"/>
          <p:cNvSpPr/>
          <p:nvPr/>
        </p:nvSpPr>
        <p:spPr>
          <a:xfrm>
            <a:off x="786384" y="3054096"/>
            <a:ext cx="1719072" cy="512064"/>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Cohort opens</a:t>
            </a:r>
            <a:endParaRPr lang="en-US" sz="1400" dirty="0"/>
          </a:p>
        </p:txBody>
      </p:sp>
      <p:sp>
        <p:nvSpPr>
          <p:cNvPr id="9" name="Text 7"/>
          <p:cNvSpPr/>
          <p:nvPr/>
        </p:nvSpPr>
        <p:spPr>
          <a:xfrm>
            <a:off x="786384" y="3584448"/>
            <a:ext cx="1719072" cy="914400"/>
          </a:xfrm>
          <a:prstGeom prst="rect">
            <a:avLst/>
          </a:prstGeom>
          <a:noFill/>
          <a:ln/>
        </p:spPr>
        <p:txBody>
          <a:bodyPr wrap="square" lIns="0" tIns="0" rIns="0" bIns="0" rtlCol="0" anchor="ctr"/>
          <a:lstStyle/>
          <a:p>
            <a:pPr indent="0" marL="0">
              <a:lnSpc>
                <a:spcPts val="1300"/>
              </a:lnSpc>
              <a:buNone/>
            </a:pPr>
            <a:r>
              <a:rPr lang="en-US" sz="1000" dirty="0">
                <a:solidFill>
                  <a:srgbClr val="E3DCF2"/>
                </a:solidFill>
                <a:latin typeface="Calibri" pitchFamily="34" charset="0"/>
                <a:ea typeface="Calibri" pitchFamily="34" charset="-122"/>
                <a:cs typeface="Calibri" pitchFamily="34" charset="-120"/>
              </a:rPr>
              <a:t>Fixed start dates, not always-on. Scarcity is the point: a cohort has classmates, a calendar and an ending.</a:t>
            </a:r>
            <a:endParaRPr lang="en-US" sz="1000" dirty="0"/>
          </a:p>
        </p:txBody>
      </p:sp>
      <p:sp>
        <p:nvSpPr>
          <p:cNvPr id="10" name="Text 8"/>
          <p:cNvSpPr/>
          <p:nvPr/>
        </p:nvSpPr>
        <p:spPr>
          <a:xfrm>
            <a:off x="2670048" y="3127248"/>
            <a:ext cx="182880" cy="402336"/>
          </a:xfrm>
          <a:prstGeom prst="rect">
            <a:avLst/>
          </a:prstGeom>
          <a:noFill/>
          <a:ln/>
        </p:spPr>
        <p:txBody>
          <a:bodyPr wrap="square" lIns="0" tIns="0" rIns="0" bIns="0" rtlCol="0" anchor="ctr"/>
          <a:lstStyle/>
          <a:p>
            <a:pPr algn="ctr" indent="0" marL="0">
              <a:buNone/>
            </a:pPr>
            <a:r>
              <a:rPr lang="en-US" sz="2000" b="1" dirty="0">
                <a:solidFill>
                  <a:srgbClr val="F0B429"/>
                </a:solidFill>
                <a:latin typeface="Cambria" pitchFamily="34" charset="0"/>
                <a:ea typeface="Cambria" pitchFamily="34" charset="-122"/>
                <a:cs typeface="Cambria" pitchFamily="34" charset="-120"/>
              </a:rPr>
              <a:t>›</a:t>
            </a:r>
            <a:endParaRPr lang="en-US" sz="2000" dirty="0"/>
          </a:p>
        </p:txBody>
      </p:sp>
      <p:sp>
        <p:nvSpPr>
          <p:cNvPr id="11" name="Shape 9"/>
          <p:cNvSpPr/>
          <p:nvPr/>
        </p:nvSpPr>
        <p:spPr>
          <a:xfrm>
            <a:off x="2852928" y="2331720"/>
            <a:ext cx="2011680" cy="2286000"/>
          </a:xfrm>
          <a:prstGeom prst="roundRect">
            <a:avLst>
              <a:gd name="adj" fmla="val 5909"/>
            </a:avLst>
          </a:prstGeom>
          <a:solidFill>
            <a:srgbClr val="FFFFFF">
              <a:alpha val="8000"/>
            </a:srgbClr>
          </a:solidFill>
          <a:ln w="12700">
            <a:solidFill>
              <a:srgbClr val="6C4FE0"/>
            </a:solidFill>
            <a:prstDash val="solid"/>
          </a:ln>
        </p:spPr>
      </p:sp>
      <p:sp>
        <p:nvSpPr>
          <p:cNvPr id="12" name="Shape 10"/>
          <p:cNvSpPr/>
          <p:nvPr/>
        </p:nvSpPr>
        <p:spPr>
          <a:xfrm rot="5400000">
            <a:off x="3035808" y="2542032"/>
            <a:ext cx="384048" cy="384048"/>
          </a:xfrm>
          <a:prstGeom prst="hexagon">
            <a:avLst/>
          </a:prstGeom>
          <a:solidFill>
            <a:srgbClr val="6C4FE0"/>
          </a:solidFill>
          <a:ln/>
        </p:spPr>
      </p:sp>
      <p:sp>
        <p:nvSpPr>
          <p:cNvPr id="13" name="Text 11"/>
          <p:cNvSpPr/>
          <p:nvPr/>
        </p:nvSpPr>
        <p:spPr>
          <a:xfrm>
            <a:off x="3035808" y="25420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4" name="Text 12"/>
          <p:cNvSpPr/>
          <p:nvPr/>
        </p:nvSpPr>
        <p:spPr>
          <a:xfrm>
            <a:off x="2999232" y="3054096"/>
            <a:ext cx="1719072" cy="512064"/>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Teams of three</a:t>
            </a:r>
            <a:endParaRPr lang="en-US" sz="1400" dirty="0"/>
          </a:p>
        </p:txBody>
      </p:sp>
      <p:sp>
        <p:nvSpPr>
          <p:cNvPr id="15" name="Text 13"/>
          <p:cNvSpPr/>
          <p:nvPr/>
        </p:nvSpPr>
        <p:spPr>
          <a:xfrm>
            <a:off x="2999232" y="3584448"/>
            <a:ext cx="1719072" cy="914400"/>
          </a:xfrm>
          <a:prstGeom prst="rect">
            <a:avLst/>
          </a:prstGeom>
          <a:noFill/>
          <a:ln/>
        </p:spPr>
        <p:txBody>
          <a:bodyPr wrap="square" lIns="0" tIns="0" rIns="0" bIns="0" rtlCol="0" anchor="ctr"/>
          <a:lstStyle/>
          <a:p>
            <a:pPr indent="0" marL="0">
              <a:lnSpc>
                <a:spcPts val="1300"/>
              </a:lnSpc>
              <a:buNone/>
            </a:pPr>
            <a:r>
              <a:rPr lang="en-US" sz="1000" dirty="0">
                <a:solidFill>
                  <a:srgbClr val="E3DCF2"/>
                </a:solidFill>
                <a:latin typeface="Calibri" pitchFamily="34" charset="0"/>
                <a:ea typeface="Calibri" pitchFamily="34" charset="-122"/>
                <a:cs typeface="Calibri" pitchFamily="34" charset="-120"/>
              </a:rPr>
              <a:t>The child works with others. Teamwork is a FEATURE — it is half of what a parent is buying and none of what an app usually gives.</a:t>
            </a:r>
            <a:endParaRPr lang="en-US" sz="1000" dirty="0"/>
          </a:p>
        </p:txBody>
      </p:sp>
      <p:sp>
        <p:nvSpPr>
          <p:cNvPr id="16" name="Text 14"/>
          <p:cNvSpPr/>
          <p:nvPr/>
        </p:nvSpPr>
        <p:spPr>
          <a:xfrm>
            <a:off x="4882896" y="3127248"/>
            <a:ext cx="182880" cy="402336"/>
          </a:xfrm>
          <a:prstGeom prst="rect">
            <a:avLst/>
          </a:prstGeom>
          <a:noFill/>
          <a:ln/>
        </p:spPr>
        <p:txBody>
          <a:bodyPr wrap="square" lIns="0" tIns="0" rIns="0" bIns="0" rtlCol="0" anchor="ctr"/>
          <a:lstStyle/>
          <a:p>
            <a:pPr algn="ctr" indent="0" marL="0">
              <a:buNone/>
            </a:pPr>
            <a:r>
              <a:rPr lang="en-US" sz="2000" b="1" dirty="0">
                <a:solidFill>
                  <a:srgbClr val="F0B429"/>
                </a:solidFill>
                <a:latin typeface="Cambria" pitchFamily="34" charset="0"/>
                <a:ea typeface="Cambria" pitchFamily="34" charset="-122"/>
                <a:cs typeface="Cambria" pitchFamily="34" charset="-120"/>
              </a:rPr>
              <a:t>›</a:t>
            </a:r>
            <a:endParaRPr lang="en-US" sz="2000" dirty="0"/>
          </a:p>
        </p:txBody>
      </p:sp>
      <p:sp>
        <p:nvSpPr>
          <p:cNvPr id="17" name="Shape 15"/>
          <p:cNvSpPr/>
          <p:nvPr/>
        </p:nvSpPr>
        <p:spPr>
          <a:xfrm>
            <a:off x="5065776" y="2331720"/>
            <a:ext cx="2011680" cy="2286000"/>
          </a:xfrm>
          <a:prstGeom prst="roundRect">
            <a:avLst>
              <a:gd name="adj" fmla="val 5909"/>
            </a:avLst>
          </a:prstGeom>
          <a:solidFill>
            <a:srgbClr val="FFFFFF">
              <a:alpha val="8000"/>
            </a:srgbClr>
          </a:solidFill>
          <a:ln w="12700">
            <a:solidFill>
              <a:srgbClr val="6C4FE0"/>
            </a:solidFill>
            <a:prstDash val="solid"/>
          </a:ln>
        </p:spPr>
      </p:sp>
      <p:sp>
        <p:nvSpPr>
          <p:cNvPr id="18" name="Shape 16"/>
          <p:cNvSpPr/>
          <p:nvPr/>
        </p:nvSpPr>
        <p:spPr>
          <a:xfrm rot="5400000">
            <a:off x="5248656" y="2542032"/>
            <a:ext cx="384048" cy="384048"/>
          </a:xfrm>
          <a:prstGeom prst="hexagon">
            <a:avLst/>
          </a:prstGeom>
          <a:solidFill>
            <a:srgbClr val="6C4FE0"/>
          </a:solidFill>
          <a:ln/>
        </p:spPr>
      </p:sp>
      <p:sp>
        <p:nvSpPr>
          <p:cNvPr id="19" name="Text 17"/>
          <p:cNvSpPr/>
          <p:nvPr/>
        </p:nvSpPr>
        <p:spPr>
          <a:xfrm>
            <a:off x="5248656" y="25420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0" name="Text 18"/>
          <p:cNvSpPr/>
          <p:nvPr/>
        </p:nvSpPr>
        <p:spPr>
          <a:xfrm>
            <a:off x="5212080" y="3054096"/>
            <a:ext cx="1719072" cy="512064"/>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Cases, then build</a:t>
            </a:r>
            <a:endParaRPr lang="en-US" sz="1400" dirty="0"/>
          </a:p>
        </p:txBody>
      </p:sp>
      <p:sp>
        <p:nvSpPr>
          <p:cNvPr id="21" name="Text 19"/>
          <p:cNvSpPr/>
          <p:nvPr/>
        </p:nvSpPr>
        <p:spPr>
          <a:xfrm>
            <a:off x="5212080" y="3584448"/>
            <a:ext cx="1719072" cy="914400"/>
          </a:xfrm>
          <a:prstGeom prst="rect">
            <a:avLst/>
          </a:prstGeom>
          <a:noFill/>
          <a:ln/>
        </p:spPr>
        <p:txBody>
          <a:bodyPr wrap="square" lIns="0" tIns="0" rIns="0" bIns="0" rtlCol="0" anchor="ctr"/>
          <a:lstStyle/>
          <a:p>
            <a:pPr indent="0" marL="0">
              <a:lnSpc>
                <a:spcPts val="1300"/>
              </a:lnSpc>
              <a:buNone/>
            </a:pPr>
            <a:r>
              <a:rPr lang="en-US" sz="1000" dirty="0">
                <a:solidFill>
                  <a:srgbClr val="E3DCF2"/>
                </a:solidFill>
                <a:latin typeface="Calibri" pitchFamily="34" charset="0"/>
                <a:ea typeface="Calibri" pitchFamily="34" charset="-122"/>
                <a:cs typeface="Calibri" pitchFamily="34" charset="-120"/>
              </a:rPr>
              <a:t>Recorded lessons and real cases carry the theory. The team then builds something actual — a product, a service, a plan.</a:t>
            </a:r>
            <a:endParaRPr lang="en-US" sz="1000" dirty="0"/>
          </a:p>
        </p:txBody>
      </p:sp>
      <p:sp>
        <p:nvSpPr>
          <p:cNvPr id="22" name="Text 20"/>
          <p:cNvSpPr/>
          <p:nvPr/>
        </p:nvSpPr>
        <p:spPr>
          <a:xfrm>
            <a:off x="7095744" y="3127248"/>
            <a:ext cx="182880" cy="402336"/>
          </a:xfrm>
          <a:prstGeom prst="rect">
            <a:avLst/>
          </a:prstGeom>
          <a:noFill/>
          <a:ln/>
        </p:spPr>
        <p:txBody>
          <a:bodyPr wrap="square" lIns="0" tIns="0" rIns="0" bIns="0" rtlCol="0" anchor="ctr"/>
          <a:lstStyle/>
          <a:p>
            <a:pPr algn="ctr" indent="0" marL="0">
              <a:buNone/>
            </a:pPr>
            <a:r>
              <a:rPr lang="en-US" sz="2000" b="1" dirty="0">
                <a:solidFill>
                  <a:srgbClr val="F0B429"/>
                </a:solidFill>
                <a:latin typeface="Cambria" pitchFamily="34" charset="0"/>
                <a:ea typeface="Cambria" pitchFamily="34" charset="-122"/>
                <a:cs typeface="Cambria" pitchFamily="34" charset="-120"/>
              </a:rPr>
              <a:t>›</a:t>
            </a:r>
            <a:endParaRPr lang="en-US" sz="2000" dirty="0"/>
          </a:p>
        </p:txBody>
      </p:sp>
      <p:sp>
        <p:nvSpPr>
          <p:cNvPr id="23" name="Shape 21"/>
          <p:cNvSpPr/>
          <p:nvPr/>
        </p:nvSpPr>
        <p:spPr>
          <a:xfrm>
            <a:off x="7278624" y="2331720"/>
            <a:ext cx="2011680" cy="2286000"/>
          </a:xfrm>
          <a:prstGeom prst="roundRect">
            <a:avLst>
              <a:gd name="adj" fmla="val 5909"/>
            </a:avLst>
          </a:prstGeom>
          <a:solidFill>
            <a:srgbClr val="FFFFFF">
              <a:alpha val="8000"/>
            </a:srgbClr>
          </a:solidFill>
          <a:ln w="12700">
            <a:solidFill>
              <a:srgbClr val="6C4FE0"/>
            </a:solidFill>
            <a:prstDash val="solid"/>
          </a:ln>
        </p:spPr>
      </p:sp>
      <p:sp>
        <p:nvSpPr>
          <p:cNvPr id="24" name="Shape 22"/>
          <p:cNvSpPr/>
          <p:nvPr/>
        </p:nvSpPr>
        <p:spPr>
          <a:xfrm rot="5400000">
            <a:off x="7461504" y="2542032"/>
            <a:ext cx="384048" cy="384048"/>
          </a:xfrm>
          <a:prstGeom prst="hexagon">
            <a:avLst/>
          </a:prstGeom>
          <a:solidFill>
            <a:srgbClr val="F0B429"/>
          </a:solidFill>
          <a:ln/>
        </p:spPr>
      </p:sp>
      <p:sp>
        <p:nvSpPr>
          <p:cNvPr id="25" name="Text 23"/>
          <p:cNvSpPr/>
          <p:nvPr/>
        </p:nvSpPr>
        <p:spPr>
          <a:xfrm>
            <a:off x="7461504" y="2542032"/>
            <a:ext cx="384048" cy="384048"/>
          </a:xfrm>
          <a:prstGeom prst="rect">
            <a:avLst/>
          </a:prstGeom>
          <a:noFill/>
          <a:ln/>
        </p:spPr>
        <p:txBody>
          <a:bodyPr wrap="square" lIns="0" tIns="0" rIns="0" bIns="0" rtlCol="0" anchor="ctr"/>
          <a:lstStyle/>
          <a:p>
            <a:pPr algn="ctr" indent="0" marL="0">
              <a:buNone/>
            </a:pPr>
            <a:r>
              <a:rPr lang="en-US" sz="1300" b="1" dirty="0">
                <a:solidFill>
                  <a:srgbClr val="241E33"/>
                </a:solidFill>
                <a:latin typeface="Cambria" pitchFamily="34" charset="0"/>
                <a:ea typeface="Cambria" pitchFamily="34" charset="-122"/>
                <a:cs typeface="Cambria" pitchFamily="34" charset="-120"/>
              </a:rPr>
              <a:t>4</a:t>
            </a:r>
            <a:endParaRPr lang="en-US" sz="1300" dirty="0"/>
          </a:p>
        </p:txBody>
      </p:sp>
      <p:sp>
        <p:nvSpPr>
          <p:cNvPr id="26" name="Text 24"/>
          <p:cNvSpPr/>
          <p:nvPr/>
        </p:nvSpPr>
        <p:spPr>
          <a:xfrm>
            <a:off x="7424928" y="3054096"/>
            <a:ext cx="1719072" cy="512064"/>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Mentor review</a:t>
            </a:r>
            <a:endParaRPr lang="en-US" sz="1400" dirty="0"/>
          </a:p>
        </p:txBody>
      </p:sp>
      <p:sp>
        <p:nvSpPr>
          <p:cNvPr id="27" name="Text 25"/>
          <p:cNvSpPr/>
          <p:nvPr/>
        </p:nvSpPr>
        <p:spPr>
          <a:xfrm>
            <a:off x="7424928" y="3584448"/>
            <a:ext cx="1719072" cy="914400"/>
          </a:xfrm>
          <a:prstGeom prst="rect">
            <a:avLst/>
          </a:prstGeom>
          <a:noFill/>
          <a:ln/>
        </p:spPr>
        <p:txBody>
          <a:bodyPr wrap="square" lIns="0" tIns="0" rIns="0" bIns="0" rtlCol="0" anchor="ctr"/>
          <a:lstStyle/>
          <a:p>
            <a:pPr indent="0" marL="0">
              <a:lnSpc>
                <a:spcPts val="1300"/>
              </a:lnSpc>
              <a:buNone/>
            </a:pPr>
            <a:r>
              <a:rPr lang="en-US" sz="1000" dirty="0">
                <a:solidFill>
                  <a:srgbClr val="E3DCF2"/>
                </a:solidFill>
                <a:latin typeface="Calibri" pitchFamily="34" charset="0"/>
                <a:ea typeface="Calibri" pitchFamily="34" charset="-122"/>
                <a:cs typeface="Calibri" pitchFamily="34" charset="-120"/>
              </a:rPr>
              <a:t>A trained coach reviews the work against a rubric and meets the team live. This is the paid, human, uncopyable layer.</a:t>
            </a:r>
            <a:endParaRPr lang="en-US" sz="1000" dirty="0"/>
          </a:p>
        </p:txBody>
      </p:sp>
      <p:sp>
        <p:nvSpPr>
          <p:cNvPr id="28" name="Text 26"/>
          <p:cNvSpPr/>
          <p:nvPr/>
        </p:nvSpPr>
        <p:spPr>
          <a:xfrm>
            <a:off x="9308592" y="3127248"/>
            <a:ext cx="182880" cy="402336"/>
          </a:xfrm>
          <a:prstGeom prst="rect">
            <a:avLst/>
          </a:prstGeom>
          <a:noFill/>
          <a:ln/>
        </p:spPr>
        <p:txBody>
          <a:bodyPr wrap="square" lIns="0" tIns="0" rIns="0" bIns="0" rtlCol="0" anchor="ctr"/>
          <a:lstStyle/>
          <a:p>
            <a:pPr algn="ctr" indent="0" marL="0">
              <a:buNone/>
            </a:pPr>
            <a:r>
              <a:rPr lang="en-US" sz="2000" b="1" dirty="0">
                <a:solidFill>
                  <a:srgbClr val="F0B429"/>
                </a:solidFill>
                <a:latin typeface="Cambria" pitchFamily="34" charset="0"/>
                <a:ea typeface="Cambria" pitchFamily="34" charset="-122"/>
                <a:cs typeface="Cambria" pitchFamily="34" charset="-120"/>
              </a:rPr>
              <a:t>›</a:t>
            </a:r>
            <a:endParaRPr lang="en-US" sz="2000" dirty="0"/>
          </a:p>
        </p:txBody>
      </p:sp>
      <p:sp>
        <p:nvSpPr>
          <p:cNvPr id="29" name="Shape 27"/>
          <p:cNvSpPr/>
          <p:nvPr/>
        </p:nvSpPr>
        <p:spPr>
          <a:xfrm>
            <a:off x="9491472" y="2331720"/>
            <a:ext cx="2011680" cy="2286000"/>
          </a:xfrm>
          <a:prstGeom prst="roundRect">
            <a:avLst>
              <a:gd name="adj" fmla="val 5909"/>
            </a:avLst>
          </a:prstGeom>
          <a:solidFill>
            <a:srgbClr val="FFFFFF">
              <a:alpha val="8000"/>
            </a:srgbClr>
          </a:solidFill>
          <a:ln w="12700">
            <a:solidFill>
              <a:srgbClr val="6C4FE0"/>
            </a:solidFill>
            <a:prstDash val="solid"/>
          </a:ln>
        </p:spPr>
      </p:sp>
      <p:sp>
        <p:nvSpPr>
          <p:cNvPr id="30" name="Shape 28"/>
          <p:cNvSpPr/>
          <p:nvPr/>
        </p:nvSpPr>
        <p:spPr>
          <a:xfrm rot="5400000">
            <a:off x="9674352" y="2542032"/>
            <a:ext cx="384048" cy="384048"/>
          </a:xfrm>
          <a:prstGeom prst="hexagon">
            <a:avLst/>
          </a:prstGeom>
          <a:solidFill>
            <a:srgbClr val="6C4FE0"/>
          </a:solidFill>
          <a:ln/>
        </p:spPr>
      </p:sp>
      <p:sp>
        <p:nvSpPr>
          <p:cNvPr id="31" name="Text 29"/>
          <p:cNvSpPr/>
          <p:nvPr/>
        </p:nvSpPr>
        <p:spPr>
          <a:xfrm>
            <a:off x="9674352" y="25420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32" name="Text 30"/>
          <p:cNvSpPr/>
          <p:nvPr/>
        </p:nvSpPr>
        <p:spPr>
          <a:xfrm>
            <a:off x="9637776" y="3054096"/>
            <a:ext cx="1719072" cy="512064"/>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Demo day</a:t>
            </a:r>
            <a:endParaRPr lang="en-US" sz="1400" dirty="0"/>
          </a:p>
        </p:txBody>
      </p:sp>
      <p:sp>
        <p:nvSpPr>
          <p:cNvPr id="33" name="Text 31"/>
          <p:cNvSpPr/>
          <p:nvPr/>
        </p:nvSpPr>
        <p:spPr>
          <a:xfrm>
            <a:off x="9637776" y="3584448"/>
            <a:ext cx="1719072" cy="914400"/>
          </a:xfrm>
          <a:prstGeom prst="rect">
            <a:avLst/>
          </a:prstGeom>
          <a:noFill/>
          <a:ln/>
        </p:spPr>
        <p:txBody>
          <a:bodyPr wrap="square" lIns="0" tIns="0" rIns="0" bIns="0" rtlCol="0" anchor="ctr"/>
          <a:lstStyle/>
          <a:p>
            <a:pPr indent="0" marL="0">
              <a:lnSpc>
                <a:spcPts val="1300"/>
              </a:lnSpc>
              <a:buNone/>
            </a:pPr>
            <a:r>
              <a:rPr lang="en-US" sz="1000" dirty="0">
                <a:solidFill>
                  <a:srgbClr val="E3DCF2"/>
                </a:solidFill>
                <a:latin typeface="Calibri" pitchFamily="34" charset="0"/>
                <a:ea typeface="Calibri" pitchFamily="34" charset="-122"/>
                <a:cs typeface="Calibri" pitchFamily="34" charset="-120"/>
              </a:rPr>
              <a:t>The team pitches to a room of parents. A lesson, a rite of passage, and the best marketing asset the brand will ever have.</a:t>
            </a:r>
            <a:endParaRPr lang="en-US" sz="1000" dirty="0"/>
          </a:p>
        </p:txBody>
      </p:sp>
      <p:sp>
        <p:nvSpPr>
          <p:cNvPr id="34" name="Shape 32"/>
          <p:cNvSpPr/>
          <p:nvPr/>
        </p:nvSpPr>
        <p:spPr>
          <a:xfrm>
            <a:off x="640080" y="4800600"/>
            <a:ext cx="5074920" cy="1371600"/>
          </a:xfrm>
          <a:prstGeom prst="roundRect">
            <a:avLst>
              <a:gd name="adj" fmla="val 8667"/>
            </a:avLst>
          </a:prstGeom>
          <a:solidFill>
            <a:srgbClr val="FFFFFF">
              <a:alpha val="6000"/>
            </a:srgbClr>
          </a:solidFill>
          <a:ln/>
        </p:spPr>
      </p:sp>
      <p:sp>
        <p:nvSpPr>
          <p:cNvPr id="35" name="Text 33"/>
          <p:cNvSpPr/>
          <p:nvPr/>
        </p:nvSpPr>
        <p:spPr>
          <a:xfrm>
            <a:off x="896112" y="4937760"/>
            <a:ext cx="4572000" cy="274320"/>
          </a:xfrm>
          <a:prstGeom prst="rect">
            <a:avLst/>
          </a:prstGeom>
          <a:noFill/>
          <a:ln/>
        </p:spPr>
        <p:txBody>
          <a:bodyPr wrap="square" lIns="0" tIns="0" rIns="0" bIns="0" rtlCol="0" anchor="ctr"/>
          <a:lstStyle/>
          <a:p>
            <a:pPr indent="0" marL="0">
              <a:buNone/>
            </a:pPr>
            <a:r>
              <a:rPr lang="en-US" sz="1000" b="1" spc="140" kern="0" dirty="0">
                <a:solidFill>
                  <a:srgbClr val="F0B429"/>
                </a:solidFill>
                <a:latin typeface="Calibri" pitchFamily="34" charset="0"/>
                <a:ea typeface="Calibri" pitchFamily="34" charset="-122"/>
                <a:cs typeface="Calibri" pitchFamily="34" charset="-120"/>
              </a:rPr>
              <a:t>Where the mentors come from</a:t>
            </a:r>
            <a:endParaRPr lang="en-US" sz="1000" dirty="0"/>
          </a:p>
        </p:txBody>
      </p:sp>
      <p:sp>
        <p:nvSpPr>
          <p:cNvPr id="36" name="Text 34"/>
          <p:cNvSpPr/>
          <p:nvPr/>
        </p:nvSpPr>
        <p:spPr>
          <a:xfrm>
            <a:off x="896112" y="5212080"/>
            <a:ext cx="4572000" cy="841248"/>
          </a:xfrm>
          <a:prstGeom prst="rect">
            <a:avLst/>
          </a:prstGeom>
          <a:noFill/>
          <a:ln/>
        </p:spPr>
        <p:txBody>
          <a:bodyPr wrap="square" lIns="0" tIns="0" rIns="0" bIns="0" rtlCol="0" anchor="ctr"/>
          <a:lstStyle/>
          <a:p>
            <a:pPr indent="0" marL="0">
              <a:lnSpc>
                <a:spcPts val="1350"/>
              </a:lnSpc>
              <a:buNone/>
            </a:pPr>
            <a:r>
              <a:rPr lang="en-US" sz="1050" dirty="0">
                <a:solidFill>
                  <a:srgbClr val="E3DCF2"/>
                </a:solidFill>
                <a:latin typeface="Calibri" pitchFamily="34" charset="0"/>
                <a:ea typeface="Calibri" pitchFamily="34" charset="-122"/>
                <a:cs typeface="Calibri" pitchFamily="34" charset="-120"/>
              </a:rPr>
              <a:t>This diaspora is full of MBAs, founders and operators whose own children are the target age. They will teach for status, for community, and because their kid is in the room. Recruit, train, pay, and manage quality — a hiring plan, not a feature ticket.</a:t>
            </a:r>
            <a:endParaRPr lang="en-US" sz="1050" dirty="0"/>
          </a:p>
        </p:txBody>
      </p:sp>
      <p:sp>
        <p:nvSpPr>
          <p:cNvPr id="37" name="Shape 35"/>
          <p:cNvSpPr/>
          <p:nvPr/>
        </p:nvSpPr>
        <p:spPr>
          <a:xfrm>
            <a:off x="6035040" y="4800600"/>
            <a:ext cx="5074920" cy="1371600"/>
          </a:xfrm>
          <a:prstGeom prst="roundRect">
            <a:avLst>
              <a:gd name="adj" fmla="val 8667"/>
            </a:avLst>
          </a:prstGeom>
          <a:solidFill>
            <a:srgbClr val="FFFFFF">
              <a:alpha val="6000"/>
            </a:srgbClr>
          </a:solidFill>
          <a:ln/>
        </p:spPr>
      </p:sp>
      <p:sp>
        <p:nvSpPr>
          <p:cNvPr id="38" name="Text 36"/>
          <p:cNvSpPr/>
          <p:nvPr/>
        </p:nvSpPr>
        <p:spPr>
          <a:xfrm>
            <a:off x="6291072" y="4937760"/>
            <a:ext cx="4572000" cy="274320"/>
          </a:xfrm>
          <a:prstGeom prst="rect">
            <a:avLst/>
          </a:prstGeom>
          <a:noFill/>
          <a:ln/>
        </p:spPr>
        <p:txBody>
          <a:bodyPr wrap="square" lIns="0" tIns="0" rIns="0" bIns="0" rtlCol="0" anchor="ctr"/>
          <a:lstStyle/>
          <a:p>
            <a:pPr indent="0" marL="0">
              <a:buNone/>
            </a:pPr>
            <a:r>
              <a:rPr lang="en-US" sz="1000" b="1" spc="140" kern="0" dirty="0">
                <a:solidFill>
                  <a:srgbClr val="6C4FE0"/>
                </a:solidFill>
                <a:latin typeface="Calibri" pitchFamily="34" charset="0"/>
                <a:ea typeface="Calibri" pitchFamily="34" charset="-122"/>
                <a:cs typeface="Calibri" pitchFamily="34" charset="-120"/>
              </a:rPr>
              <a:t>Why it starts earliest of the late products</a:t>
            </a:r>
            <a:endParaRPr lang="en-US" sz="1000" dirty="0"/>
          </a:p>
        </p:txBody>
      </p:sp>
      <p:sp>
        <p:nvSpPr>
          <p:cNvPr id="39" name="Text 37"/>
          <p:cNvSpPr/>
          <p:nvPr/>
        </p:nvSpPr>
        <p:spPr>
          <a:xfrm>
            <a:off x="6291072" y="5212080"/>
            <a:ext cx="4572000" cy="841248"/>
          </a:xfrm>
          <a:prstGeom prst="rect">
            <a:avLst/>
          </a:prstGeom>
          <a:noFill/>
          <a:ln/>
        </p:spPr>
        <p:txBody>
          <a:bodyPr wrap="square" lIns="0" tIns="0" rIns="0" bIns="0" rtlCol="0" anchor="ctr"/>
          <a:lstStyle/>
          <a:p>
            <a:pPr indent="0" marL="0">
              <a:lnSpc>
                <a:spcPts val="1350"/>
              </a:lnSpc>
              <a:buNone/>
            </a:pPr>
            <a:r>
              <a:rPr lang="en-US" sz="1050" dirty="0">
                <a:solidFill>
                  <a:srgbClr val="E3DCF2"/>
                </a:solidFill>
                <a:latin typeface="Calibri" pitchFamily="34" charset="0"/>
                <a:ea typeface="Calibri" pitchFamily="34" charset="-122"/>
                <a:cs typeface="Calibri" pitchFamily="34" charset="-120"/>
              </a:rPr>
              <a:t>Content can be written in weeks. A trained mentor bench and a safeguarding process cannot. Business has the longest lead time in the house, so its build begins before its launch gate — the one product where that is true.</a:t>
            </a:r>
            <a:endParaRPr lang="en-US" sz="1050" dirty="0"/>
          </a:p>
        </p:txBody>
      </p:sp>
      <p:sp>
        <p:nvSpPr>
          <p:cNvPr id="40" name="Text 38"/>
          <p:cNvSpPr/>
          <p:nvPr/>
        </p:nvSpPr>
        <p:spPr>
          <a:xfrm>
            <a:off x="640080" y="6291072"/>
            <a:ext cx="10607040" cy="411480"/>
          </a:xfrm>
          <a:prstGeom prst="rect">
            <a:avLst/>
          </a:prstGeom>
          <a:noFill/>
          <a:ln/>
        </p:spPr>
        <p:txBody>
          <a:bodyPr wrap="square" lIns="0" tIns="0" rIns="0" bIns="0" rtlCol="0" anchor="ctr"/>
          <a:lstStyle/>
          <a:p>
            <a:pPr indent="0" marL="0">
              <a:buNone/>
            </a:pPr>
            <a:r>
              <a:rPr lang="en-US" sz="1100" i="1" dirty="0">
                <a:solidFill>
                  <a:srgbClr val="7A7291"/>
                </a:solidFill>
                <a:latin typeface="Calibri" pitchFamily="34" charset="0"/>
                <a:ea typeface="Calibri" pitchFamily="34" charset="-122"/>
                <a:cs typeface="Calibri" pitchFamily="34" charset="-120"/>
              </a:rPr>
              <a:t>It is also the answer to the live-training revenue line — Business IS that line, not a separate venture. And safeguarding is not optional: adults working with children needs checks, recorded sessions and parent visibility from day one.</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41E33"/>
        </a:solidFill>
      </p:bgPr>
    </p:bg>
    <p:spTree>
      <p:nvGrpSpPr>
        <p:cNvPr id="1" name=""/>
        <p:cNvGrpSpPr/>
        <p:nvPr/>
      </p:nvGrpSpPr>
      <p:grpSpPr>
        <a:xfrm>
          <a:off x="0" y="0"/>
          <a:ext cx="0" cy="0"/>
          <a:chOff x="0" y="0"/>
          <a:chExt cx="0" cy="0"/>
        </a:xfrm>
      </p:grpSpPr>
      <p:sp>
        <p:nvSpPr>
          <p:cNvPr id="2" name="Text 0"/>
          <p:cNvSpPr/>
          <p:nvPr/>
        </p:nvSpPr>
        <p:spPr>
          <a:xfrm>
            <a:off x="640080" y="548640"/>
            <a:ext cx="7315200" cy="292608"/>
          </a:xfrm>
          <a:prstGeom prst="rect">
            <a:avLst/>
          </a:prstGeom>
          <a:noFill/>
          <a:ln/>
        </p:spPr>
        <p:txBody>
          <a:bodyPr wrap="square" lIns="0" tIns="0" rIns="0" bIns="0" rtlCol="0" anchor="ctr"/>
          <a:lstStyle/>
          <a:p>
            <a:pPr indent="0" marL="0">
              <a:buNone/>
            </a:pPr>
            <a:r>
              <a:rPr lang="en-US" sz="1200" b="1" spc="300" kern="0" dirty="0">
                <a:solidFill>
                  <a:srgbClr val="F0B429"/>
                </a:solidFill>
                <a:latin typeface="Calibri" pitchFamily="34" charset="0"/>
                <a:ea typeface="Calibri" pitchFamily="34" charset="-122"/>
                <a:cs typeface="Calibri" pitchFamily="34" charset="-120"/>
              </a:rPr>
              <a:t>THE GAPS</a:t>
            </a:r>
            <a:endParaRPr lang="en-US" sz="1200" dirty="0"/>
          </a:p>
        </p:txBody>
      </p:sp>
      <p:sp>
        <p:nvSpPr>
          <p:cNvPr id="3" name="Text 1"/>
          <p:cNvSpPr/>
          <p:nvPr/>
        </p:nvSpPr>
        <p:spPr>
          <a:xfrm>
            <a:off x="640080" y="914400"/>
            <a:ext cx="10607040" cy="68580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Three products missing, and four we should not build.</a:t>
            </a:r>
            <a:endParaRPr lang="en-US" sz="2700" dirty="0"/>
          </a:p>
        </p:txBody>
      </p:sp>
      <p:sp>
        <p:nvSpPr>
          <p:cNvPr id="4" name="Shape 2"/>
          <p:cNvSpPr/>
          <p:nvPr/>
        </p:nvSpPr>
        <p:spPr>
          <a:xfrm>
            <a:off x="640080" y="1828800"/>
            <a:ext cx="3410712" cy="2880360"/>
          </a:xfrm>
          <a:prstGeom prst="roundRect">
            <a:avLst>
              <a:gd name="adj" fmla="val 4444"/>
            </a:avLst>
          </a:prstGeom>
          <a:solidFill>
            <a:srgbClr val="FFFFFF">
              <a:alpha val="8000"/>
            </a:srgbClr>
          </a:solidFill>
          <a:ln w="12700">
            <a:solidFill>
              <a:srgbClr val="6C4FE0"/>
            </a:solidFill>
            <a:prstDash val="solid"/>
          </a:ln>
        </p:spPr>
      </p:sp>
      <p:pic>
        <p:nvPicPr>
          <p:cNvPr id="5" name="Image 0" descr="preencoded.png">    </p:cNvPr>
          <p:cNvPicPr>
            <a:picLocks noChangeAspect="1"/>
          </p:cNvPicPr>
          <p:nvPr/>
        </p:nvPicPr>
        <p:blipFill>
          <a:blip r:embed="rId1"/>
          <a:stretch>
            <a:fillRect/>
          </a:stretch>
        </p:blipFill>
        <p:spPr>
          <a:xfrm>
            <a:off x="896112" y="2011680"/>
            <a:ext cx="658368" cy="658368"/>
          </a:xfrm>
          <a:prstGeom prst="rect">
            <a:avLst/>
          </a:prstGeom>
        </p:spPr>
      </p:pic>
      <p:sp>
        <p:nvSpPr>
          <p:cNvPr id="6" name="Text 3"/>
          <p:cNvSpPr/>
          <p:nvPr/>
        </p:nvSpPr>
        <p:spPr>
          <a:xfrm>
            <a:off x="896112" y="2724912"/>
            <a:ext cx="288036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Bizzing Speak</a:t>
            </a:r>
            <a:endParaRPr lang="en-US" sz="1700" dirty="0"/>
          </a:p>
        </p:txBody>
      </p:sp>
      <p:sp>
        <p:nvSpPr>
          <p:cNvPr id="7" name="Text 4"/>
          <p:cNvSpPr/>
          <p:nvPr/>
        </p:nvSpPr>
        <p:spPr>
          <a:xfrm>
            <a:off x="896112" y="3072384"/>
            <a:ext cx="2880360" cy="292608"/>
          </a:xfrm>
          <a:prstGeom prst="rect">
            <a:avLst/>
          </a:prstGeom>
          <a:noFill/>
          <a:ln/>
        </p:spPr>
        <p:txBody>
          <a:bodyPr wrap="square" lIns="0" tIns="0" rIns="0" bIns="0" rtlCol="0" anchor="ctr"/>
          <a:lstStyle/>
          <a:p>
            <a:pPr indent="0" marL="0">
              <a:buNone/>
            </a:pPr>
            <a:r>
              <a:rPr lang="en-US" sz="1050" i="1" dirty="0">
                <a:solidFill>
                  <a:srgbClr val="F0B429"/>
                </a:solidFill>
                <a:latin typeface="Calibri" pitchFamily="34" charset="0"/>
                <a:ea typeface="Calibri" pitchFamily="34" charset="-122"/>
                <a:cs typeface="Calibri" pitchFamily="34" charset="-120"/>
              </a:rPr>
              <a:t>Public speaking, debate, spoken English</a:t>
            </a:r>
            <a:endParaRPr lang="en-US" sz="1050" dirty="0"/>
          </a:p>
        </p:txBody>
      </p:sp>
      <p:sp>
        <p:nvSpPr>
          <p:cNvPr id="8" name="Text 5"/>
          <p:cNvSpPr/>
          <p:nvPr/>
        </p:nvSpPr>
        <p:spPr>
          <a:xfrm>
            <a:off x="896112" y="3383280"/>
            <a:ext cx="2880360" cy="1225296"/>
          </a:xfrm>
          <a:prstGeom prst="rect">
            <a:avLst/>
          </a:prstGeom>
          <a:noFill/>
          <a:ln/>
        </p:spPr>
        <p:txBody>
          <a:bodyPr wrap="square" lIns="0" tIns="0" rIns="0" bIns="0" rtlCol="0" anchor="ctr"/>
          <a:lstStyle/>
          <a:p>
            <a:pPr indent="0" marL="0">
              <a:lnSpc>
                <a:spcPts val="1300"/>
              </a:lnSpc>
              <a:buNone/>
            </a:pPr>
            <a:r>
              <a:rPr lang="en-US" sz="1000" dirty="0">
                <a:solidFill>
                  <a:srgbClr val="E3DCF2"/>
                </a:solidFill>
                <a:latin typeface="Calibri" pitchFamily="34" charset="0"/>
                <a:ea typeface="Calibri" pitchFamily="34" charset="-122"/>
                <a:cs typeface="Calibri" pitchFamily="34" charset="-120"/>
              </a:rPr>
              <a:t>The strongest omission. It fills the twelve-to-sixteen cliff, it is the largest education category in India by search, and it is the same subject the YouTube channel already makes films about. The catch: doing it properly needs the app to LISTEN and score pronunciation, which is speech recognition and not in the engine.</a:t>
            </a:r>
            <a:endParaRPr lang="en-US" sz="1000" dirty="0"/>
          </a:p>
        </p:txBody>
      </p:sp>
      <p:sp>
        <p:nvSpPr>
          <p:cNvPr id="9" name="Shape 6"/>
          <p:cNvSpPr/>
          <p:nvPr/>
        </p:nvSpPr>
        <p:spPr>
          <a:xfrm>
            <a:off x="4325112" y="1828800"/>
            <a:ext cx="3410712" cy="2880360"/>
          </a:xfrm>
          <a:prstGeom prst="roundRect">
            <a:avLst>
              <a:gd name="adj" fmla="val 4444"/>
            </a:avLst>
          </a:prstGeom>
          <a:solidFill>
            <a:srgbClr val="FFFFFF">
              <a:alpha val="8000"/>
            </a:srgbClr>
          </a:solidFill>
          <a:ln w="12700">
            <a:solidFill>
              <a:srgbClr val="6C4FE0"/>
            </a:solidFill>
            <a:prstDash val="solid"/>
          </a:ln>
        </p:spPr>
      </p:sp>
      <p:pic>
        <p:nvPicPr>
          <p:cNvPr id="10" name="Image 1" descr="preencoded.png">    </p:cNvPr>
          <p:cNvPicPr>
            <a:picLocks noChangeAspect="1"/>
          </p:cNvPicPr>
          <p:nvPr/>
        </p:nvPicPr>
        <p:blipFill>
          <a:blip r:embed="rId2"/>
          <a:stretch>
            <a:fillRect/>
          </a:stretch>
        </p:blipFill>
        <p:spPr>
          <a:xfrm>
            <a:off x="4581144" y="2011680"/>
            <a:ext cx="658368" cy="658368"/>
          </a:xfrm>
          <a:prstGeom prst="rect">
            <a:avLst/>
          </a:prstGeom>
        </p:spPr>
      </p:pic>
      <p:sp>
        <p:nvSpPr>
          <p:cNvPr id="11" name="Text 7"/>
          <p:cNvSpPr/>
          <p:nvPr/>
        </p:nvSpPr>
        <p:spPr>
          <a:xfrm>
            <a:off x="4581144" y="2724912"/>
            <a:ext cx="288036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Bizzing Quiz</a:t>
            </a:r>
            <a:endParaRPr lang="en-US" sz="1700" dirty="0"/>
          </a:p>
        </p:txBody>
      </p:sp>
      <p:sp>
        <p:nvSpPr>
          <p:cNvPr id="12" name="Text 8"/>
          <p:cNvSpPr/>
          <p:nvPr/>
        </p:nvSpPr>
        <p:spPr>
          <a:xfrm>
            <a:off x="4581144" y="3072384"/>
            <a:ext cx="2880360" cy="292608"/>
          </a:xfrm>
          <a:prstGeom prst="rect">
            <a:avLst/>
          </a:prstGeom>
          <a:noFill/>
          <a:ln/>
        </p:spPr>
        <p:txBody>
          <a:bodyPr wrap="square" lIns="0" tIns="0" rIns="0" bIns="0" rtlCol="0" anchor="ctr"/>
          <a:lstStyle/>
          <a:p>
            <a:pPr indent="0" marL="0">
              <a:buNone/>
            </a:pPr>
            <a:r>
              <a:rPr lang="en-US" sz="1050" i="1" dirty="0">
                <a:solidFill>
                  <a:srgbClr val="F0B429"/>
                </a:solidFill>
                <a:latin typeface="Calibri" pitchFamily="34" charset="0"/>
                <a:ea typeface="Calibri" pitchFamily="34" charset="-122"/>
                <a:cs typeface="Calibri" pitchFamily="34" charset="-120"/>
              </a:rPr>
              <a:t>General knowledge, quiz-bowl</a:t>
            </a:r>
            <a:endParaRPr lang="en-US" sz="1050" dirty="0"/>
          </a:p>
        </p:txBody>
      </p:sp>
      <p:sp>
        <p:nvSpPr>
          <p:cNvPr id="13" name="Text 9"/>
          <p:cNvSpPr/>
          <p:nvPr/>
        </p:nvSpPr>
        <p:spPr>
          <a:xfrm>
            <a:off x="4581144" y="3383280"/>
            <a:ext cx="2880360" cy="1225296"/>
          </a:xfrm>
          <a:prstGeom prst="rect">
            <a:avLst/>
          </a:prstGeom>
          <a:noFill/>
          <a:ln/>
        </p:spPr>
        <p:txBody>
          <a:bodyPr wrap="square" lIns="0" tIns="0" rIns="0" bIns="0" rtlCol="0" anchor="ctr"/>
          <a:lstStyle/>
          <a:p>
            <a:pPr indent="0" marL="0">
              <a:lnSpc>
                <a:spcPts val="1300"/>
              </a:lnSpc>
              <a:buNone/>
            </a:pPr>
            <a:r>
              <a:rPr lang="en-US" sz="1000" dirty="0">
                <a:solidFill>
                  <a:srgbClr val="E3DCF2"/>
                </a:solidFill>
                <a:latin typeface="Calibri" pitchFamily="34" charset="0"/>
                <a:ea typeface="Calibri" pitchFamily="34" charset="-122"/>
                <a:cs typeface="Calibri" pitchFamily="34" charset="-120"/>
              </a:rPr>
              <a:t>The cheapest product in the house to launch: 31,000 questions across 32 themes and 5 levels already exist and are already sharded and levelled. It is a skin and a scoring loop, not a build.</a:t>
            </a:r>
            <a:endParaRPr lang="en-US" sz="1000" dirty="0"/>
          </a:p>
        </p:txBody>
      </p:sp>
      <p:sp>
        <p:nvSpPr>
          <p:cNvPr id="14" name="Shape 10"/>
          <p:cNvSpPr/>
          <p:nvPr/>
        </p:nvSpPr>
        <p:spPr>
          <a:xfrm>
            <a:off x="8010144" y="1828800"/>
            <a:ext cx="3410712" cy="2880360"/>
          </a:xfrm>
          <a:prstGeom prst="roundRect">
            <a:avLst>
              <a:gd name="adj" fmla="val 4444"/>
            </a:avLst>
          </a:prstGeom>
          <a:solidFill>
            <a:srgbClr val="FFFFFF">
              <a:alpha val="8000"/>
            </a:srgbClr>
          </a:solidFill>
          <a:ln w="12700">
            <a:solidFill>
              <a:srgbClr val="6C4FE0"/>
            </a:solidFill>
            <a:prstDash val="solid"/>
          </a:ln>
        </p:spPr>
      </p:sp>
      <p:pic>
        <p:nvPicPr>
          <p:cNvPr id="15" name="Image 2" descr="preencoded.png">    </p:cNvPr>
          <p:cNvPicPr>
            <a:picLocks noChangeAspect="1"/>
          </p:cNvPicPr>
          <p:nvPr/>
        </p:nvPicPr>
        <p:blipFill>
          <a:blip r:embed="rId3"/>
          <a:stretch>
            <a:fillRect/>
          </a:stretch>
        </p:blipFill>
        <p:spPr>
          <a:xfrm>
            <a:off x="8266176" y="2011680"/>
            <a:ext cx="658368" cy="658368"/>
          </a:xfrm>
          <a:prstGeom prst="rect">
            <a:avLst/>
          </a:prstGeom>
        </p:spPr>
      </p:pic>
      <p:sp>
        <p:nvSpPr>
          <p:cNvPr id="16" name="Text 11"/>
          <p:cNvSpPr/>
          <p:nvPr/>
        </p:nvSpPr>
        <p:spPr>
          <a:xfrm>
            <a:off x="8266176" y="2724912"/>
            <a:ext cx="288036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Bizzing Prep</a:t>
            </a:r>
            <a:endParaRPr lang="en-US" sz="1700" dirty="0"/>
          </a:p>
        </p:txBody>
      </p:sp>
      <p:sp>
        <p:nvSpPr>
          <p:cNvPr id="17" name="Text 12"/>
          <p:cNvSpPr/>
          <p:nvPr/>
        </p:nvSpPr>
        <p:spPr>
          <a:xfrm>
            <a:off x="8266176" y="3072384"/>
            <a:ext cx="2880360" cy="292608"/>
          </a:xfrm>
          <a:prstGeom prst="rect">
            <a:avLst/>
          </a:prstGeom>
          <a:noFill/>
          <a:ln/>
        </p:spPr>
        <p:txBody>
          <a:bodyPr wrap="square" lIns="0" tIns="0" rIns="0" bIns="0" rtlCol="0" anchor="ctr"/>
          <a:lstStyle/>
          <a:p>
            <a:pPr indent="0" marL="0">
              <a:buNone/>
            </a:pPr>
            <a:r>
              <a:rPr lang="en-US" sz="1050" i="1" dirty="0">
                <a:solidFill>
                  <a:srgbClr val="F0B429"/>
                </a:solidFill>
                <a:latin typeface="Calibri" pitchFamily="34" charset="0"/>
                <a:ea typeface="Calibri" pitchFamily="34" charset="-122"/>
                <a:cs typeface="Calibri" pitchFamily="34" charset="-120"/>
              </a:rPr>
              <a:t>US gifted and selective entry</a:t>
            </a:r>
            <a:endParaRPr lang="en-US" sz="1050" dirty="0"/>
          </a:p>
        </p:txBody>
      </p:sp>
      <p:sp>
        <p:nvSpPr>
          <p:cNvPr id="18" name="Text 13"/>
          <p:cNvSpPr/>
          <p:nvPr/>
        </p:nvSpPr>
        <p:spPr>
          <a:xfrm>
            <a:off x="8266176" y="3383280"/>
            <a:ext cx="2880360" cy="1225296"/>
          </a:xfrm>
          <a:prstGeom prst="rect">
            <a:avLst/>
          </a:prstGeom>
          <a:noFill/>
          <a:ln/>
        </p:spPr>
        <p:txBody>
          <a:bodyPr wrap="square" lIns="0" tIns="0" rIns="0" bIns="0" rtlCol="0" anchor="ctr"/>
          <a:lstStyle/>
          <a:p>
            <a:pPr indent="0" marL="0">
              <a:lnSpc>
                <a:spcPts val="1300"/>
              </a:lnSpc>
              <a:buNone/>
            </a:pPr>
            <a:r>
              <a:rPr lang="en-US" sz="1000" dirty="0">
                <a:solidFill>
                  <a:srgbClr val="E3DCF2"/>
                </a:solidFill>
                <a:latin typeface="Calibri" pitchFamily="34" charset="0"/>
                <a:ea typeface="Calibri" pitchFamily="34" charset="-122"/>
                <a:cs typeface="Calibri" pitchFamily="34" charset="-120"/>
              </a:rPr>
              <a:t>CogAT, NNAT, OLSAT verbal and SHSAT vocabulary. The highest-anxiety, highest-spend segment in the US, and the incumbent products are poor. Sits beside Eleven and shares its item types.</a:t>
            </a:r>
            <a:endParaRPr lang="en-US" sz="1000" dirty="0"/>
          </a:p>
        </p:txBody>
      </p:sp>
      <p:sp>
        <p:nvSpPr>
          <p:cNvPr id="19" name="Shape 14"/>
          <p:cNvSpPr/>
          <p:nvPr/>
        </p:nvSpPr>
        <p:spPr>
          <a:xfrm>
            <a:off x="640080" y="4956048"/>
            <a:ext cx="10607040" cy="1170432"/>
          </a:xfrm>
          <a:prstGeom prst="roundRect">
            <a:avLst>
              <a:gd name="adj" fmla="val 9375"/>
            </a:avLst>
          </a:prstGeom>
          <a:solidFill>
            <a:srgbClr val="FFFFFF">
              <a:alpha val="6000"/>
            </a:srgbClr>
          </a:solidFill>
          <a:ln/>
        </p:spPr>
      </p:sp>
      <p:sp>
        <p:nvSpPr>
          <p:cNvPr id="20" name="Text 15"/>
          <p:cNvSpPr/>
          <p:nvPr/>
        </p:nvSpPr>
        <p:spPr>
          <a:xfrm>
            <a:off x="932688" y="5084064"/>
            <a:ext cx="4572000" cy="274320"/>
          </a:xfrm>
          <a:prstGeom prst="rect">
            <a:avLst/>
          </a:prstGeom>
          <a:noFill/>
          <a:ln/>
        </p:spPr>
        <p:txBody>
          <a:bodyPr wrap="square" lIns="0" tIns="0" rIns="0" bIns="0" rtlCol="0" anchor="ctr"/>
          <a:lstStyle/>
          <a:p>
            <a:pPr indent="0" marL="0">
              <a:buNone/>
            </a:pPr>
            <a:r>
              <a:rPr lang="en-US" sz="1000" b="1" spc="180" kern="0" dirty="0">
                <a:solidFill>
                  <a:srgbClr val="E8807A"/>
                </a:solidFill>
                <a:latin typeface="Calibri" pitchFamily="34" charset="0"/>
                <a:ea typeface="Calibri" pitchFamily="34" charset="-122"/>
                <a:cs typeface="Calibri" pitchFamily="34" charset="-120"/>
              </a:rPr>
              <a:t>Deliberately NOT building</a:t>
            </a:r>
            <a:endParaRPr lang="en-US" sz="1000" dirty="0"/>
          </a:p>
        </p:txBody>
      </p:sp>
      <p:sp>
        <p:nvSpPr>
          <p:cNvPr id="21" name="Text 16"/>
          <p:cNvSpPr/>
          <p:nvPr/>
        </p:nvSpPr>
        <p:spPr>
          <a:xfrm>
            <a:off x="932688" y="5394960"/>
            <a:ext cx="10012680" cy="640080"/>
          </a:xfrm>
          <a:prstGeom prst="rect">
            <a:avLst/>
          </a:prstGeom>
          <a:noFill/>
          <a:ln/>
        </p:spPr>
        <p:txBody>
          <a:bodyPr wrap="square" lIns="0" tIns="0" rIns="0" bIns="0" rtlCol="0" anchor="ctr"/>
          <a:lstStyle/>
          <a:p>
            <a:pPr indent="0" marL="0">
              <a:lnSpc>
                <a:spcPts val="1500"/>
              </a:lnSpc>
              <a:buNone/>
            </a:pPr>
            <a:r>
              <a:rPr lang="en-US" sz="1150" dirty="0">
                <a:solidFill>
                  <a:srgbClr val="E3DCF2"/>
                </a:solidFill>
                <a:latin typeface="Calibri" pitchFamily="34" charset="0"/>
                <a:ea typeface="Calibri" pitchFamily="34" charset="-122"/>
                <a:cs typeface="Calibri" pitchFamily="34" charset="-120"/>
              </a:rPr>
              <a:t>Coding · chess · music · dance. Every one has real diaspora demand, and every one needs a solver, a rating system or a live teacher. None of them reuses a single line of what has been built, and each would be a company of its own. Chess in particular is surging right now and is still the wrong answer for this house.</a:t>
            </a:r>
            <a:endParaRPr lang="en-US" sz="1150" dirty="0"/>
          </a:p>
        </p:txBody>
      </p:sp>
      <p:sp>
        <p:nvSpPr>
          <p:cNvPr id="22" name="Text 17"/>
          <p:cNvSpPr/>
          <p:nvPr/>
        </p:nvSpPr>
        <p:spPr>
          <a:xfrm>
            <a:off x="640080" y="6254496"/>
            <a:ext cx="10607040" cy="502920"/>
          </a:xfrm>
          <a:prstGeom prst="rect">
            <a:avLst/>
          </a:prstGeom>
          <a:noFill/>
          <a:ln/>
        </p:spPr>
        <p:txBody>
          <a:bodyPr wrap="square" lIns="0" tIns="0" rIns="0" bIns="0" rtlCol="0" anchor="ctr"/>
          <a:lstStyle/>
          <a:p>
            <a:pPr indent="0" marL="0">
              <a:buNone/>
            </a:pPr>
            <a:r>
              <a:rPr lang="en-US" sz="1350" i="1" dirty="0">
                <a:solidFill>
                  <a:srgbClr val="F0B429"/>
                </a:solidFill>
                <a:latin typeface="Cambria" pitchFamily="34" charset="0"/>
                <a:ea typeface="Cambria" pitchFamily="34" charset="-122"/>
                <a:cs typeface="Cambria" pitchFamily="34" charset="-120"/>
              </a:rPr>
              <a:t>The refusals are about ENGINE FIT, not ambition. Bizzing Business also needs people, and it is being built — because there the people ARE the product.</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02336"/>
            <a:ext cx="7315200" cy="256032"/>
          </a:xfrm>
          <a:prstGeom prst="rect">
            <a:avLst/>
          </a:prstGeom>
          <a:noFill/>
          <a:ln/>
        </p:spPr>
        <p:txBody>
          <a:bodyPr wrap="square" lIns="0" tIns="0" rIns="0" bIns="0" rtlCol="0" anchor="ctr"/>
          <a:lstStyle/>
          <a:p>
            <a:pPr indent="0" marL="0">
              <a:buNone/>
            </a:pPr>
            <a:r>
              <a:rPr lang="en-US" sz="1150" b="1" spc="240" kern="0" dirty="0">
                <a:solidFill>
                  <a:srgbClr val="6C4FE0"/>
                </a:solidFill>
                <a:latin typeface="Calibri" pitchFamily="34" charset="0"/>
                <a:ea typeface="Calibri" pitchFamily="34" charset="-122"/>
                <a:cs typeface="Calibri" pitchFamily="34" charset="-120"/>
              </a:rPr>
              <a:t>SEQUENCE</a:t>
            </a:r>
            <a:endParaRPr lang="en-US" sz="1150" dirty="0"/>
          </a:p>
        </p:txBody>
      </p:sp>
      <p:sp>
        <p:nvSpPr>
          <p:cNvPr id="3" name="Text 1"/>
          <p:cNvSpPr/>
          <p:nvPr/>
        </p:nvSpPr>
        <p:spPr>
          <a:xfrm>
            <a:off x="640080" y="694944"/>
            <a:ext cx="10607040" cy="749808"/>
          </a:xfrm>
          <a:prstGeom prst="rect">
            <a:avLst/>
          </a:prstGeom>
          <a:noFill/>
          <a:ln/>
        </p:spPr>
        <p:txBody>
          <a:bodyPr wrap="square" lIns="0" tIns="0" rIns="0" bIns="0" rtlCol="0" anchor="ctr"/>
          <a:lstStyle/>
          <a:p>
            <a:pPr indent="0" marL="0">
              <a:buNone/>
            </a:pPr>
            <a:r>
              <a:rPr lang="en-US" sz="2900" b="1" dirty="0">
                <a:solidFill>
                  <a:srgbClr val="241E33"/>
                </a:solidFill>
                <a:latin typeface="Cambria" pitchFamily="34" charset="0"/>
                <a:ea typeface="Cambria" pitchFamily="34" charset="-122"/>
                <a:cs typeface="Cambria" pitchFamily="34" charset="-120"/>
              </a:rPr>
              <a:t>Roadmap, view one: by milestone</a:t>
            </a:r>
            <a:endParaRPr lang="en-US" sz="2900" dirty="0"/>
          </a:p>
        </p:txBody>
      </p:sp>
      <p:sp>
        <p:nvSpPr>
          <p:cNvPr id="4" name="Text 2"/>
          <p:cNvSpPr/>
          <p:nvPr/>
        </p:nvSpPr>
        <p:spPr>
          <a:xfrm>
            <a:off x="640080" y="1444752"/>
            <a:ext cx="10607040" cy="512064"/>
          </a:xfrm>
          <a:prstGeom prst="rect">
            <a:avLst/>
          </a:prstGeom>
          <a:noFill/>
          <a:ln/>
        </p:spPr>
        <p:txBody>
          <a:bodyPr wrap="square" lIns="0" tIns="0" rIns="0" bIns="0" rtlCol="0" anchor="ctr"/>
          <a:lstStyle/>
          <a:p>
            <a:pPr indent="0" marL="0">
              <a:buNone/>
            </a:pPr>
            <a:r>
              <a:rPr lang="en-US" sz="1450" dirty="0">
                <a:solidFill>
                  <a:srgbClr val="7A7291"/>
                </a:solidFill>
                <a:latin typeface="Calibri" pitchFamily="34" charset="0"/>
                <a:ea typeface="Calibri" pitchFamily="34" charset="-122"/>
                <a:cs typeface="Calibri" pitchFamily="34" charset="-120"/>
              </a:rPr>
              <a:t>Nothing launches on a date. Each product unlocks when the one before it has proved something specific.</a:t>
            </a:r>
            <a:endParaRPr lang="en-US" sz="1450" dirty="0"/>
          </a:p>
        </p:txBody>
      </p:sp>
      <p:sp>
        <p:nvSpPr>
          <p:cNvPr id="5" name="Shape 3"/>
          <p:cNvSpPr/>
          <p:nvPr/>
        </p:nvSpPr>
        <p:spPr>
          <a:xfrm>
            <a:off x="1901952" y="2788920"/>
            <a:ext cx="8174736" cy="0"/>
          </a:xfrm>
          <a:prstGeom prst="line">
            <a:avLst/>
          </a:prstGeom>
          <a:noFill/>
          <a:ln w="38100">
            <a:solidFill>
              <a:srgbClr val="E3DCF2"/>
            </a:solidFill>
            <a:prstDash val="solid"/>
          </a:ln>
        </p:spPr>
      </p:sp>
      <p:sp>
        <p:nvSpPr>
          <p:cNvPr id="6" name="Shape 4"/>
          <p:cNvSpPr/>
          <p:nvPr/>
        </p:nvSpPr>
        <p:spPr>
          <a:xfrm rot="5400000">
            <a:off x="1645920" y="2532888"/>
            <a:ext cx="512064" cy="512064"/>
          </a:xfrm>
          <a:prstGeom prst="hexagon">
            <a:avLst/>
          </a:prstGeom>
          <a:solidFill>
            <a:srgbClr val="178A4C"/>
          </a:solidFill>
          <a:ln w="31750">
            <a:solidFill>
              <a:srgbClr val="FFFFFF"/>
            </a:solidFill>
            <a:prstDash val="solid"/>
          </a:ln>
        </p:spPr>
      </p:sp>
      <p:sp>
        <p:nvSpPr>
          <p:cNvPr id="7" name="Text 5"/>
          <p:cNvSpPr/>
          <p:nvPr/>
        </p:nvSpPr>
        <p:spPr>
          <a:xfrm>
            <a:off x="640080" y="2103120"/>
            <a:ext cx="2523744" cy="274320"/>
          </a:xfrm>
          <a:prstGeom prst="rect">
            <a:avLst/>
          </a:prstGeom>
          <a:noFill/>
          <a:ln/>
        </p:spPr>
        <p:txBody>
          <a:bodyPr wrap="square" lIns="0" tIns="0" rIns="0" bIns="0" rtlCol="0" anchor="ctr"/>
          <a:lstStyle/>
          <a:p>
            <a:pPr algn="ctr" indent="0" marL="0">
              <a:buNone/>
            </a:pPr>
            <a:r>
              <a:rPr lang="en-US" sz="950" b="1" spc="160" kern="0" dirty="0">
                <a:solidFill>
                  <a:srgbClr val="178A4C"/>
                </a:solidFill>
                <a:latin typeface="Calibri" pitchFamily="34" charset="0"/>
                <a:ea typeface="Calibri" pitchFamily="34" charset="-122"/>
                <a:cs typeface="Calibri" pitchFamily="34" charset="-120"/>
              </a:rPr>
              <a:t>NOW</a:t>
            </a:r>
            <a:endParaRPr lang="en-US" sz="950" dirty="0"/>
          </a:p>
        </p:txBody>
      </p:sp>
      <p:sp>
        <p:nvSpPr>
          <p:cNvPr id="8" name="Shape 6"/>
          <p:cNvSpPr/>
          <p:nvPr/>
        </p:nvSpPr>
        <p:spPr>
          <a:xfrm>
            <a:off x="640080" y="3310128"/>
            <a:ext cx="2523744" cy="2340864"/>
          </a:xfrm>
          <a:prstGeom prst="roundRect">
            <a:avLst>
              <a:gd name="adj" fmla="val 5469"/>
            </a:avLst>
          </a:prstGeom>
          <a:solidFill>
            <a:srgbClr val="EFEBF8"/>
          </a:solidFill>
          <a:ln/>
          <a:effectLst>
            <a:outerShdw sx="100000" sy="100000" kx="0" ky="0" algn="bl" rotWithShape="0" blurRad="127000" dist="25400" dir="5400000">
              <a:srgbClr val="241E33">
                <a:alpha val="10000"/>
              </a:srgbClr>
            </a:outerShdw>
          </a:effectLst>
        </p:spPr>
      </p:sp>
      <p:sp>
        <p:nvSpPr>
          <p:cNvPr id="9" name="Text 7"/>
          <p:cNvSpPr/>
          <p:nvPr/>
        </p:nvSpPr>
        <p:spPr>
          <a:xfrm>
            <a:off x="841248" y="3474720"/>
            <a:ext cx="2121408" cy="548640"/>
          </a:xfrm>
          <a:prstGeom prst="rect">
            <a:avLst/>
          </a:prstGeom>
          <a:noFill/>
          <a:ln/>
        </p:spPr>
        <p:txBody>
          <a:bodyPr wrap="square" lIns="0" tIns="0" rIns="0" bIns="0" rtlCol="0" anchor="ctr"/>
          <a:lstStyle/>
          <a:p>
            <a:pPr indent="0" marL="0">
              <a:buNone/>
            </a:pPr>
            <a:r>
              <a:rPr lang="en-US" sz="1450" b="1" dirty="0">
                <a:solidFill>
                  <a:srgbClr val="241E33"/>
                </a:solidFill>
                <a:latin typeface="Cambria" pitchFamily="34" charset="0"/>
                <a:ea typeface="Cambria" pitchFamily="34" charset="-122"/>
                <a:cs typeface="Cambria" pitchFamily="34" charset="-120"/>
              </a:rPr>
              <a:t>Bizzing Bee</a:t>
            </a:r>
            <a:endParaRPr lang="en-US" sz="1450" dirty="0"/>
          </a:p>
        </p:txBody>
      </p:sp>
      <p:sp>
        <p:nvSpPr>
          <p:cNvPr id="10" name="Text 8"/>
          <p:cNvSpPr/>
          <p:nvPr/>
        </p:nvSpPr>
        <p:spPr>
          <a:xfrm>
            <a:off x="841248" y="4023360"/>
            <a:ext cx="2121408" cy="402336"/>
          </a:xfrm>
          <a:prstGeom prst="rect">
            <a:avLst/>
          </a:prstGeom>
          <a:noFill/>
          <a:ln/>
        </p:spPr>
        <p:txBody>
          <a:bodyPr wrap="square" lIns="0" tIns="0" rIns="0" bIns="0" rtlCol="0" anchor="ctr"/>
          <a:lstStyle/>
          <a:p>
            <a:pPr indent="0" marL="0">
              <a:lnSpc>
                <a:spcPts val="1200"/>
              </a:lnSpc>
              <a:buNone/>
            </a:pPr>
            <a:r>
              <a:rPr lang="en-US" sz="950" b="1" dirty="0">
                <a:solidFill>
                  <a:srgbClr val="4A31B0"/>
                </a:solidFill>
                <a:latin typeface="Calibri" pitchFamily="34" charset="0"/>
                <a:ea typeface="Calibri" pitchFamily="34" charset="-122"/>
                <a:cs typeface="Calibri" pitchFamily="34" charset="-120"/>
              </a:rPr>
              <a:t>Spelling, live</a:t>
            </a:r>
            <a:endParaRPr lang="en-US" sz="950" dirty="0"/>
          </a:p>
        </p:txBody>
      </p:sp>
      <p:sp>
        <p:nvSpPr>
          <p:cNvPr id="11" name="Text 9"/>
          <p:cNvSpPr/>
          <p:nvPr/>
        </p:nvSpPr>
        <p:spPr>
          <a:xfrm>
            <a:off x="841248" y="4425696"/>
            <a:ext cx="2121408" cy="1133856"/>
          </a:xfrm>
          <a:prstGeom prst="rect">
            <a:avLst/>
          </a:prstGeom>
          <a:noFill/>
          <a:ln/>
        </p:spPr>
        <p:txBody>
          <a:bodyPr wrap="square" lIns="0" tIns="0" rIns="0" bIns="0" rtlCol="0" anchor="ctr"/>
          <a:lstStyle/>
          <a:p>
            <a:pPr indent="0" marL="0">
              <a:lnSpc>
                <a:spcPts val="1350"/>
              </a:lnSpc>
              <a:buNone/>
            </a:pPr>
            <a:r>
              <a:rPr lang="en-US" sz="950" dirty="0">
                <a:solidFill>
                  <a:srgbClr val="4A4360"/>
                </a:solidFill>
                <a:latin typeface="Calibri" pitchFamily="34" charset="0"/>
                <a:ea typeface="Calibri" pitchFamily="34" charset="-122"/>
                <a:cs typeface="Calibri" pitchFamily="34" charset="-120"/>
              </a:rPr>
              <a:t>The wedge. Free app, paid packs, the YouTube channel feeding it.</a:t>
            </a:r>
            <a:endParaRPr lang="en-US" sz="950" dirty="0"/>
          </a:p>
        </p:txBody>
      </p:sp>
      <p:sp>
        <p:nvSpPr>
          <p:cNvPr id="12" name="Shape 10"/>
          <p:cNvSpPr/>
          <p:nvPr/>
        </p:nvSpPr>
        <p:spPr>
          <a:xfrm rot="5400000">
            <a:off x="4370832" y="2532888"/>
            <a:ext cx="512064" cy="512064"/>
          </a:xfrm>
          <a:prstGeom prst="hexagon">
            <a:avLst/>
          </a:prstGeom>
          <a:solidFill>
            <a:srgbClr val="F0B429"/>
          </a:solidFill>
          <a:ln w="31750">
            <a:solidFill>
              <a:srgbClr val="FFFFFF"/>
            </a:solidFill>
            <a:prstDash val="solid"/>
          </a:ln>
        </p:spPr>
      </p:sp>
      <p:sp>
        <p:nvSpPr>
          <p:cNvPr id="13" name="Text 11"/>
          <p:cNvSpPr/>
          <p:nvPr/>
        </p:nvSpPr>
        <p:spPr>
          <a:xfrm>
            <a:off x="3364992" y="2103120"/>
            <a:ext cx="2523744" cy="274320"/>
          </a:xfrm>
          <a:prstGeom prst="rect">
            <a:avLst/>
          </a:prstGeom>
          <a:noFill/>
          <a:ln/>
        </p:spPr>
        <p:txBody>
          <a:bodyPr wrap="square" lIns="0" tIns="0" rIns="0" bIns="0" rtlCol="0" anchor="ctr"/>
          <a:lstStyle/>
          <a:p>
            <a:pPr algn="ctr" indent="0" marL="0">
              <a:buNone/>
            </a:pPr>
            <a:r>
              <a:rPr lang="en-US" sz="950" b="1" spc="160" kern="0" dirty="0">
                <a:solidFill>
                  <a:srgbClr val="8A5B00"/>
                </a:solidFill>
                <a:latin typeface="Calibri" pitchFamily="34" charset="0"/>
                <a:ea typeface="Calibri" pitchFamily="34" charset="-122"/>
                <a:cs typeface="Calibri" pitchFamily="34" charset="-120"/>
              </a:rPr>
              <a:t>GATE 1</a:t>
            </a:r>
            <a:endParaRPr lang="en-US" sz="950" dirty="0"/>
          </a:p>
        </p:txBody>
      </p:sp>
      <p:sp>
        <p:nvSpPr>
          <p:cNvPr id="14" name="Shape 12"/>
          <p:cNvSpPr/>
          <p:nvPr/>
        </p:nvSpPr>
        <p:spPr>
          <a:xfrm>
            <a:off x="3364992" y="3310128"/>
            <a:ext cx="2523744" cy="2340864"/>
          </a:xfrm>
          <a:prstGeom prst="roundRect">
            <a:avLst>
              <a:gd name="adj" fmla="val 5469"/>
            </a:avLst>
          </a:prstGeom>
          <a:solidFill>
            <a:srgbClr val="FFFFFF"/>
          </a:solidFill>
          <a:ln/>
          <a:effectLst>
            <a:outerShdw sx="100000" sy="100000" kx="0" ky="0" algn="bl" rotWithShape="0" blurRad="127000" dist="25400" dir="5400000">
              <a:srgbClr val="241E33">
                <a:alpha val="10000"/>
              </a:srgbClr>
            </a:outerShdw>
          </a:effectLst>
        </p:spPr>
      </p:sp>
      <p:sp>
        <p:nvSpPr>
          <p:cNvPr id="15" name="Shape 13"/>
          <p:cNvSpPr/>
          <p:nvPr/>
        </p:nvSpPr>
        <p:spPr>
          <a:xfrm>
            <a:off x="3364992" y="3310128"/>
            <a:ext cx="2523744" cy="2340864"/>
          </a:xfrm>
          <a:prstGeom prst="roundRect">
            <a:avLst>
              <a:gd name="adj" fmla="val 5469"/>
            </a:avLst>
          </a:prstGeom>
          <a:solidFill>
            <a:srgbClr val="FFFFFF"/>
          </a:solidFill>
          <a:ln w="15875">
            <a:solidFill>
              <a:srgbClr val="E3DCF2"/>
            </a:solidFill>
            <a:prstDash val="solid"/>
          </a:ln>
        </p:spPr>
      </p:sp>
      <p:sp>
        <p:nvSpPr>
          <p:cNvPr id="16" name="Text 14"/>
          <p:cNvSpPr/>
          <p:nvPr/>
        </p:nvSpPr>
        <p:spPr>
          <a:xfrm>
            <a:off x="3566160" y="3474720"/>
            <a:ext cx="2121408" cy="548640"/>
          </a:xfrm>
          <a:prstGeom prst="rect">
            <a:avLst/>
          </a:prstGeom>
          <a:noFill/>
          <a:ln/>
        </p:spPr>
        <p:txBody>
          <a:bodyPr wrap="square" lIns="0" tIns="0" rIns="0" bIns="0" rtlCol="0" anchor="ctr"/>
          <a:lstStyle/>
          <a:p>
            <a:pPr indent="0" marL="0">
              <a:buNone/>
            </a:pPr>
            <a:r>
              <a:rPr lang="en-US" sz="1450" b="1" dirty="0">
                <a:solidFill>
                  <a:srgbClr val="241E33"/>
                </a:solidFill>
                <a:latin typeface="Cambria" pitchFamily="34" charset="0"/>
                <a:ea typeface="Cambria" pitchFamily="34" charset="-122"/>
                <a:cs typeface="Cambria" pitchFamily="34" charset="-120"/>
              </a:rPr>
              <a:t>India + Bhasha + Quiz</a:t>
            </a:r>
            <a:endParaRPr lang="en-US" sz="1450" dirty="0"/>
          </a:p>
        </p:txBody>
      </p:sp>
      <p:sp>
        <p:nvSpPr>
          <p:cNvPr id="17" name="Text 15"/>
          <p:cNvSpPr/>
          <p:nvPr/>
        </p:nvSpPr>
        <p:spPr>
          <a:xfrm>
            <a:off x="3566160" y="4023360"/>
            <a:ext cx="2121408" cy="402336"/>
          </a:xfrm>
          <a:prstGeom prst="rect">
            <a:avLst/>
          </a:prstGeom>
          <a:noFill/>
          <a:ln/>
        </p:spPr>
        <p:txBody>
          <a:bodyPr wrap="square" lIns="0" tIns="0" rIns="0" bIns="0" rtlCol="0" anchor="ctr"/>
          <a:lstStyle/>
          <a:p>
            <a:pPr indent="0" marL="0">
              <a:lnSpc>
                <a:spcPts val="1200"/>
              </a:lnSpc>
              <a:buNone/>
            </a:pPr>
            <a:r>
              <a:rPr lang="en-US" sz="950" b="1" dirty="0">
                <a:solidFill>
                  <a:srgbClr val="4A31B0"/>
                </a:solidFill>
                <a:latin typeface="Calibri" pitchFamily="34" charset="0"/>
                <a:ea typeface="Calibri" pitchFamily="34" charset="-122"/>
                <a:cs typeface="Calibri" pitchFamily="34" charset="-120"/>
              </a:rPr>
              <a:t>Culture free, language paid</a:t>
            </a:r>
            <a:endParaRPr lang="en-US" sz="950" dirty="0"/>
          </a:p>
        </p:txBody>
      </p:sp>
      <p:sp>
        <p:nvSpPr>
          <p:cNvPr id="18" name="Text 16"/>
          <p:cNvSpPr/>
          <p:nvPr/>
        </p:nvSpPr>
        <p:spPr>
          <a:xfrm>
            <a:off x="3566160" y="4425696"/>
            <a:ext cx="2121408" cy="1133856"/>
          </a:xfrm>
          <a:prstGeom prst="rect">
            <a:avLst/>
          </a:prstGeom>
          <a:noFill/>
          <a:ln/>
        </p:spPr>
        <p:txBody>
          <a:bodyPr wrap="square" lIns="0" tIns="0" rIns="0" bIns="0" rtlCol="0" anchor="ctr"/>
          <a:lstStyle/>
          <a:p>
            <a:pPr indent="0" marL="0">
              <a:lnSpc>
                <a:spcPts val="1350"/>
              </a:lnSpc>
              <a:buNone/>
            </a:pPr>
            <a:r>
              <a:rPr lang="en-US" sz="950" dirty="0">
                <a:solidFill>
                  <a:srgbClr val="4A4360"/>
                </a:solidFill>
                <a:latin typeface="Calibri" pitchFamily="34" charset="0"/>
                <a:ea typeface="Calibri" pitchFamily="34" charset="-122"/>
                <a:cs typeface="Calibri" pitchFamily="34" charset="-120"/>
              </a:rPr>
              <a:t>Unlocks when Bee shows a repeatable way to acquire a family and keep them past the first month. Quiz rides along — its 31k questions already exist.</a:t>
            </a:r>
            <a:endParaRPr lang="en-US" sz="950" dirty="0"/>
          </a:p>
        </p:txBody>
      </p:sp>
      <p:sp>
        <p:nvSpPr>
          <p:cNvPr id="19" name="Shape 17"/>
          <p:cNvSpPr/>
          <p:nvPr/>
        </p:nvSpPr>
        <p:spPr>
          <a:xfrm rot="5400000">
            <a:off x="7095744" y="2532888"/>
            <a:ext cx="512064" cy="512064"/>
          </a:xfrm>
          <a:prstGeom prst="hexagon">
            <a:avLst/>
          </a:prstGeom>
          <a:solidFill>
            <a:srgbClr val="6C4FE0"/>
          </a:solidFill>
          <a:ln w="31750">
            <a:solidFill>
              <a:srgbClr val="FFFFFF"/>
            </a:solidFill>
            <a:prstDash val="solid"/>
          </a:ln>
        </p:spPr>
      </p:sp>
      <p:sp>
        <p:nvSpPr>
          <p:cNvPr id="20" name="Text 18"/>
          <p:cNvSpPr/>
          <p:nvPr/>
        </p:nvSpPr>
        <p:spPr>
          <a:xfrm>
            <a:off x="6089904" y="2103120"/>
            <a:ext cx="2523744" cy="274320"/>
          </a:xfrm>
          <a:prstGeom prst="rect">
            <a:avLst/>
          </a:prstGeom>
          <a:noFill/>
          <a:ln/>
        </p:spPr>
        <p:txBody>
          <a:bodyPr wrap="square" lIns="0" tIns="0" rIns="0" bIns="0" rtlCol="0" anchor="ctr"/>
          <a:lstStyle/>
          <a:p>
            <a:pPr algn="ctr" indent="0" marL="0">
              <a:buNone/>
            </a:pPr>
            <a:r>
              <a:rPr lang="en-US" sz="950" b="1" spc="160" kern="0" dirty="0">
                <a:solidFill>
                  <a:srgbClr val="6C4FE0"/>
                </a:solidFill>
                <a:latin typeface="Calibri" pitchFamily="34" charset="0"/>
                <a:ea typeface="Calibri" pitchFamily="34" charset="-122"/>
                <a:cs typeface="Calibri" pitchFamily="34" charset="-120"/>
              </a:rPr>
              <a:t>GATE 2</a:t>
            </a:r>
            <a:endParaRPr lang="en-US" sz="950" dirty="0"/>
          </a:p>
        </p:txBody>
      </p:sp>
      <p:sp>
        <p:nvSpPr>
          <p:cNvPr id="21" name="Shape 19"/>
          <p:cNvSpPr/>
          <p:nvPr/>
        </p:nvSpPr>
        <p:spPr>
          <a:xfrm>
            <a:off x="6089904" y="3310128"/>
            <a:ext cx="2523744" cy="2340864"/>
          </a:xfrm>
          <a:prstGeom prst="roundRect">
            <a:avLst>
              <a:gd name="adj" fmla="val 5469"/>
            </a:avLst>
          </a:prstGeom>
          <a:solidFill>
            <a:srgbClr val="FFFFFF"/>
          </a:solidFill>
          <a:ln/>
          <a:effectLst>
            <a:outerShdw sx="100000" sy="100000" kx="0" ky="0" algn="bl" rotWithShape="0" blurRad="127000" dist="25400" dir="5400000">
              <a:srgbClr val="241E33">
                <a:alpha val="10000"/>
              </a:srgbClr>
            </a:outerShdw>
          </a:effectLst>
        </p:spPr>
      </p:sp>
      <p:sp>
        <p:nvSpPr>
          <p:cNvPr id="22" name="Shape 20"/>
          <p:cNvSpPr/>
          <p:nvPr/>
        </p:nvSpPr>
        <p:spPr>
          <a:xfrm>
            <a:off x="6089904" y="3310128"/>
            <a:ext cx="2523744" cy="2340864"/>
          </a:xfrm>
          <a:prstGeom prst="roundRect">
            <a:avLst>
              <a:gd name="adj" fmla="val 5469"/>
            </a:avLst>
          </a:prstGeom>
          <a:solidFill>
            <a:srgbClr val="FFFFFF"/>
          </a:solidFill>
          <a:ln w="15875">
            <a:solidFill>
              <a:srgbClr val="E3DCF2"/>
            </a:solidFill>
            <a:prstDash val="solid"/>
          </a:ln>
        </p:spPr>
      </p:sp>
      <p:sp>
        <p:nvSpPr>
          <p:cNvPr id="23" name="Text 21"/>
          <p:cNvSpPr/>
          <p:nvPr/>
        </p:nvSpPr>
        <p:spPr>
          <a:xfrm>
            <a:off x="6291072" y="3474720"/>
            <a:ext cx="2121408" cy="548640"/>
          </a:xfrm>
          <a:prstGeom prst="rect">
            <a:avLst/>
          </a:prstGeom>
          <a:noFill/>
          <a:ln/>
        </p:spPr>
        <p:txBody>
          <a:bodyPr wrap="square" lIns="0" tIns="0" rIns="0" bIns="0" rtlCol="0" anchor="ctr"/>
          <a:lstStyle/>
          <a:p>
            <a:pPr indent="0" marL="0">
              <a:buNone/>
            </a:pPr>
            <a:r>
              <a:rPr lang="en-US" sz="1450" b="1" dirty="0">
                <a:solidFill>
                  <a:srgbClr val="241E33"/>
                </a:solidFill>
                <a:latin typeface="Cambria" pitchFamily="34" charset="0"/>
                <a:ea typeface="Cambria" pitchFamily="34" charset="-122"/>
                <a:cs typeface="Cambria" pitchFamily="34" charset="-120"/>
              </a:rPr>
              <a:t>Eleven, then Prep</a:t>
            </a:r>
            <a:endParaRPr lang="en-US" sz="1450" dirty="0"/>
          </a:p>
        </p:txBody>
      </p:sp>
      <p:sp>
        <p:nvSpPr>
          <p:cNvPr id="24" name="Text 22"/>
          <p:cNvSpPr/>
          <p:nvPr/>
        </p:nvSpPr>
        <p:spPr>
          <a:xfrm>
            <a:off x="6291072" y="4023360"/>
            <a:ext cx="2121408" cy="402336"/>
          </a:xfrm>
          <a:prstGeom prst="rect">
            <a:avLst/>
          </a:prstGeom>
          <a:noFill/>
          <a:ln/>
        </p:spPr>
        <p:txBody>
          <a:bodyPr wrap="square" lIns="0" tIns="0" rIns="0" bIns="0" rtlCol="0" anchor="ctr"/>
          <a:lstStyle/>
          <a:p>
            <a:pPr indent="0" marL="0">
              <a:lnSpc>
                <a:spcPts val="1200"/>
              </a:lnSpc>
              <a:buNone/>
            </a:pPr>
            <a:r>
              <a:rPr lang="en-US" sz="950" b="1" dirty="0">
                <a:solidFill>
                  <a:srgbClr val="4A31B0"/>
                </a:solidFill>
                <a:latin typeface="Calibri" pitchFamily="34" charset="0"/>
                <a:ea typeface="Calibri" pitchFamily="34" charset="-122"/>
                <a:cs typeface="Calibri" pitchFamily="34" charset="-120"/>
              </a:rPr>
              <a:t>Exam verbal reasoning</a:t>
            </a:r>
            <a:endParaRPr lang="en-US" sz="950" dirty="0"/>
          </a:p>
        </p:txBody>
      </p:sp>
      <p:sp>
        <p:nvSpPr>
          <p:cNvPr id="25" name="Text 23"/>
          <p:cNvSpPr/>
          <p:nvPr/>
        </p:nvSpPr>
        <p:spPr>
          <a:xfrm>
            <a:off x="6291072" y="4425696"/>
            <a:ext cx="2121408" cy="1133856"/>
          </a:xfrm>
          <a:prstGeom prst="rect">
            <a:avLst/>
          </a:prstGeom>
          <a:noFill/>
          <a:ln/>
        </p:spPr>
        <p:txBody>
          <a:bodyPr wrap="square" lIns="0" tIns="0" rIns="0" bIns="0" rtlCol="0" anchor="ctr"/>
          <a:lstStyle/>
          <a:p>
            <a:pPr indent="0" marL="0">
              <a:lnSpc>
                <a:spcPts val="1350"/>
              </a:lnSpc>
              <a:buNone/>
            </a:pPr>
            <a:r>
              <a:rPr lang="en-US" sz="950" dirty="0">
                <a:solidFill>
                  <a:srgbClr val="4A4360"/>
                </a:solidFill>
                <a:latin typeface="Calibri" pitchFamily="34" charset="0"/>
                <a:ea typeface="Calibri" pitchFamily="34" charset="-122"/>
                <a:cs typeface="Calibri" pitchFamily="34" charset="-120"/>
              </a:rPr>
              <a:t>Unlocks when a second paid pack proves families will buy more than one thing from us. Near-total engine reuse, so the cost is content, not build.</a:t>
            </a:r>
            <a:endParaRPr lang="en-US" sz="950" dirty="0"/>
          </a:p>
        </p:txBody>
      </p:sp>
      <p:sp>
        <p:nvSpPr>
          <p:cNvPr id="26" name="Shape 24"/>
          <p:cNvSpPr/>
          <p:nvPr/>
        </p:nvSpPr>
        <p:spPr>
          <a:xfrm rot="5400000">
            <a:off x="9820656" y="2532888"/>
            <a:ext cx="512064" cy="512064"/>
          </a:xfrm>
          <a:prstGeom prst="hexagon">
            <a:avLst/>
          </a:prstGeom>
          <a:solidFill>
            <a:srgbClr val="6C4FE0"/>
          </a:solidFill>
          <a:ln w="31750">
            <a:solidFill>
              <a:srgbClr val="FFFFFF"/>
            </a:solidFill>
            <a:prstDash val="solid"/>
          </a:ln>
        </p:spPr>
      </p:sp>
      <p:sp>
        <p:nvSpPr>
          <p:cNvPr id="27" name="Text 25"/>
          <p:cNvSpPr/>
          <p:nvPr/>
        </p:nvSpPr>
        <p:spPr>
          <a:xfrm>
            <a:off x="8814816" y="2103120"/>
            <a:ext cx="2523744" cy="274320"/>
          </a:xfrm>
          <a:prstGeom prst="rect">
            <a:avLst/>
          </a:prstGeom>
          <a:noFill/>
          <a:ln/>
        </p:spPr>
        <p:txBody>
          <a:bodyPr wrap="square" lIns="0" tIns="0" rIns="0" bIns="0" rtlCol="0" anchor="ctr"/>
          <a:lstStyle/>
          <a:p>
            <a:pPr algn="ctr" indent="0" marL="0">
              <a:buNone/>
            </a:pPr>
            <a:r>
              <a:rPr lang="en-US" sz="950" b="1" spc="160" kern="0" dirty="0">
                <a:solidFill>
                  <a:srgbClr val="6C4FE0"/>
                </a:solidFill>
                <a:latin typeface="Calibri" pitchFamily="34" charset="0"/>
                <a:ea typeface="Calibri" pitchFamily="34" charset="-122"/>
                <a:cs typeface="Calibri" pitchFamily="34" charset="-120"/>
              </a:rPr>
              <a:t>GATE 3</a:t>
            </a:r>
            <a:endParaRPr lang="en-US" sz="950" dirty="0"/>
          </a:p>
        </p:txBody>
      </p:sp>
      <p:sp>
        <p:nvSpPr>
          <p:cNvPr id="28" name="Shape 26"/>
          <p:cNvSpPr/>
          <p:nvPr/>
        </p:nvSpPr>
        <p:spPr>
          <a:xfrm>
            <a:off x="8814816" y="3310128"/>
            <a:ext cx="2523744" cy="2340864"/>
          </a:xfrm>
          <a:prstGeom prst="roundRect">
            <a:avLst>
              <a:gd name="adj" fmla="val 5469"/>
            </a:avLst>
          </a:prstGeom>
          <a:solidFill>
            <a:srgbClr val="FFFFFF"/>
          </a:solidFill>
          <a:ln/>
          <a:effectLst>
            <a:outerShdw sx="100000" sy="100000" kx="0" ky="0" algn="bl" rotWithShape="0" blurRad="127000" dist="25400" dir="5400000">
              <a:srgbClr val="241E33">
                <a:alpha val="10000"/>
              </a:srgbClr>
            </a:outerShdw>
          </a:effectLst>
        </p:spPr>
      </p:sp>
      <p:sp>
        <p:nvSpPr>
          <p:cNvPr id="29" name="Shape 27"/>
          <p:cNvSpPr/>
          <p:nvPr/>
        </p:nvSpPr>
        <p:spPr>
          <a:xfrm>
            <a:off x="8814816" y="3310128"/>
            <a:ext cx="2523744" cy="2340864"/>
          </a:xfrm>
          <a:prstGeom prst="roundRect">
            <a:avLst>
              <a:gd name="adj" fmla="val 5469"/>
            </a:avLst>
          </a:prstGeom>
          <a:solidFill>
            <a:srgbClr val="FFFFFF"/>
          </a:solidFill>
          <a:ln w="15875">
            <a:solidFill>
              <a:srgbClr val="E3DCF2"/>
            </a:solidFill>
            <a:prstDash val="solid"/>
          </a:ln>
        </p:spPr>
      </p:sp>
      <p:sp>
        <p:nvSpPr>
          <p:cNvPr id="30" name="Text 28"/>
          <p:cNvSpPr/>
          <p:nvPr/>
        </p:nvSpPr>
        <p:spPr>
          <a:xfrm>
            <a:off x="9015984" y="3474720"/>
            <a:ext cx="2121408" cy="548640"/>
          </a:xfrm>
          <a:prstGeom prst="rect">
            <a:avLst/>
          </a:prstGeom>
          <a:noFill/>
          <a:ln/>
        </p:spPr>
        <p:txBody>
          <a:bodyPr wrap="square" lIns="0" tIns="0" rIns="0" bIns="0" rtlCol="0" anchor="ctr"/>
          <a:lstStyle/>
          <a:p>
            <a:pPr indent="0" marL="0">
              <a:buNone/>
            </a:pPr>
            <a:r>
              <a:rPr lang="en-US" sz="1450" b="1" dirty="0">
                <a:solidFill>
                  <a:srgbClr val="241E33"/>
                </a:solidFill>
                <a:latin typeface="Cambria" pitchFamily="34" charset="0"/>
                <a:ea typeface="Cambria" pitchFamily="34" charset="-122"/>
                <a:cs typeface="Cambria" pitchFamily="34" charset="-120"/>
              </a:rPr>
              <a:t>Both ends of the range</a:t>
            </a:r>
            <a:endParaRPr lang="en-US" sz="1450" dirty="0"/>
          </a:p>
        </p:txBody>
      </p:sp>
      <p:sp>
        <p:nvSpPr>
          <p:cNvPr id="31" name="Text 29"/>
          <p:cNvSpPr/>
          <p:nvPr/>
        </p:nvSpPr>
        <p:spPr>
          <a:xfrm>
            <a:off x="9015984" y="4023360"/>
            <a:ext cx="2121408" cy="402336"/>
          </a:xfrm>
          <a:prstGeom prst="rect">
            <a:avLst/>
          </a:prstGeom>
          <a:noFill/>
          <a:ln/>
        </p:spPr>
        <p:txBody>
          <a:bodyPr wrap="square" lIns="0" tIns="0" rIns="0" bIns="0" rtlCol="0" anchor="ctr"/>
          <a:lstStyle/>
          <a:p>
            <a:pPr indent="0" marL="0">
              <a:lnSpc>
                <a:spcPts val="1200"/>
              </a:lnSpc>
              <a:buNone/>
            </a:pPr>
            <a:r>
              <a:rPr lang="en-US" sz="950" b="1" dirty="0">
                <a:solidFill>
                  <a:srgbClr val="4A31B0"/>
                </a:solidFill>
                <a:latin typeface="Calibri" pitchFamily="34" charset="0"/>
                <a:ea typeface="Calibri" pitchFamily="34" charset="-122"/>
                <a:cs typeface="Calibri" pitchFamily="34" charset="-120"/>
              </a:rPr>
              <a:t>Buzz · Speak · English · Maths · Finance</a:t>
            </a:r>
            <a:endParaRPr lang="en-US" sz="950" dirty="0"/>
          </a:p>
        </p:txBody>
      </p:sp>
      <p:sp>
        <p:nvSpPr>
          <p:cNvPr id="32" name="Text 30"/>
          <p:cNvSpPr/>
          <p:nvPr/>
        </p:nvSpPr>
        <p:spPr>
          <a:xfrm>
            <a:off x="9015984" y="4425696"/>
            <a:ext cx="2121408" cy="1133856"/>
          </a:xfrm>
          <a:prstGeom prst="rect">
            <a:avLst/>
          </a:prstGeom>
          <a:noFill/>
          <a:ln/>
        </p:spPr>
        <p:txBody>
          <a:bodyPr wrap="square" lIns="0" tIns="0" rIns="0" bIns="0" rtlCol="0" anchor="ctr"/>
          <a:lstStyle/>
          <a:p>
            <a:pPr indent="0" marL="0">
              <a:lnSpc>
                <a:spcPts val="1350"/>
              </a:lnSpc>
              <a:buNone/>
            </a:pPr>
            <a:r>
              <a:rPr lang="en-US" sz="950" dirty="0">
                <a:solidFill>
                  <a:srgbClr val="4A4360"/>
                </a:solidFill>
                <a:latin typeface="Calibri" pitchFamily="34" charset="0"/>
                <a:ea typeface="Calibri" pitchFamily="34" charset="-122"/>
                <a:cs typeface="Calibri" pitchFamily="34" charset="-120"/>
              </a:rPr>
              <a:t>Closes the 4–6 and 12–16 gaps, once households run more than one product on one account. Business is the exception — its mentor bench takes so long to build that recruiting starts back at Gate 1.</a:t>
            </a:r>
            <a:endParaRPr lang="en-US" sz="950" dirty="0"/>
          </a:p>
        </p:txBody>
      </p:sp>
      <p:sp>
        <p:nvSpPr>
          <p:cNvPr id="33" name="Text 31"/>
          <p:cNvSpPr/>
          <p:nvPr/>
        </p:nvSpPr>
        <p:spPr>
          <a:xfrm>
            <a:off x="640080" y="5742432"/>
            <a:ext cx="10607040" cy="457200"/>
          </a:xfrm>
          <a:prstGeom prst="rect">
            <a:avLst/>
          </a:prstGeom>
          <a:noFill/>
          <a:ln/>
        </p:spPr>
        <p:txBody>
          <a:bodyPr wrap="square" lIns="0" tIns="0" rIns="0" bIns="0" rtlCol="0" anchor="ctr"/>
          <a:lstStyle/>
          <a:p>
            <a:pPr indent="0" marL="0">
              <a:buNone/>
            </a:pPr>
            <a:r>
              <a:rPr lang="en-US" sz="1250" i="1" dirty="0">
                <a:solidFill>
                  <a:srgbClr val="7A7291"/>
                </a:solidFill>
                <a:latin typeface="Calibri" pitchFamily="34" charset="0"/>
                <a:ea typeface="Calibri" pitchFamily="34" charset="-122"/>
                <a:cs typeface="Calibri" pitchFamily="34" charset="-120"/>
              </a:rPr>
              <a:t>Gates are written as proofs, not targets — the numbers behind each are the CMO’s. Nothing at Gate 3 starts until Gate 2 has paid for itself.</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02336"/>
            <a:ext cx="7315200" cy="256032"/>
          </a:xfrm>
          <a:prstGeom prst="rect">
            <a:avLst/>
          </a:prstGeom>
          <a:noFill/>
          <a:ln/>
        </p:spPr>
        <p:txBody>
          <a:bodyPr wrap="square" lIns="0" tIns="0" rIns="0" bIns="0" rtlCol="0" anchor="ctr"/>
          <a:lstStyle/>
          <a:p>
            <a:pPr indent="0" marL="0">
              <a:buNone/>
            </a:pPr>
            <a:r>
              <a:rPr lang="en-US" sz="1150" b="1" spc="240" kern="0" dirty="0">
                <a:solidFill>
                  <a:srgbClr val="6C4FE0"/>
                </a:solidFill>
                <a:latin typeface="Calibri" pitchFamily="34" charset="0"/>
                <a:ea typeface="Calibri" pitchFamily="34" charset="-122"/>
                <a:cs typeface="Calibri" pitchFamily="34" charset="-120"/>
              </a:rPr>
              <a:t>COVERAGE</a:t>
            </a:r>
            <a:endParaRPr lang="en-US" sz="1150" dirty="0"/>
          </a:p>
        </p:txBody>
      </p:sp>
      <p:sp>
        <p:nvSpPr>
          <p:cNvPr id="3" name="Text 1"/>
          <p:cNvSpPr/>
          <p:nvPr/>
        </p:nvSpPr>
        <p:spPr>
          <a:xfrm>
            <a:off x="640080" y="694944"/>
            <a:ext cx="10607040" cy="749808"/>
          </a:xfrm>
          <a:prstGeom prst="rect">
            <a:avLst/>
          </a:prstGeom>
          <a:noFill/>
          <a:ln/>
        </p:spPr>
        <p:txBody>
          <a:bodyPr wrap="square" lIns="0" tIns="0" rIns="0" bIns="0" rtlCol="0" anchor="ctr"/>
          <a:lstStyle/>
          <a:p>
            <a:pPr indent="0" marL="0">
              <a:buNone/>
            </a:pPr>
            <a:r>
              <a:rPr lang="en-US" sz="2900" b="1" dirty="0">
                <a:solidFill>
                  <a:srgbClr val="241E33"/>
                </a:solidFill>
                <a:latin typeface="Cambria" pitchFamily="34" charset="0"/>
                <a:ea typeface="Cambria" pitchFamily="34" charset="-122"/>
                <a:cs typeface="Cambria" pitchFamily="34" charset="-120"/>
              </a:rPr>
              <a:t>Roadmap, view two: by the age of the child</a:t>
            </a:r>
            <a:endParaRPr lang="en-US" sz="2900" dirty="0"/>
          </a:p>
        </p:txBody>
      </p:sp>
      <p:sp>
        <p:nvSpPr>
          <p:cNvPr id="4" name="Text 2"/>
          <p:cNvSpPr/>
          <p:nvPr/>
        </p:nvSpPr>
        <p:spPr>
          <a:xfrm>
            <a:off x="640080" y="1444752"/>
            <a:ext cx="10607040" cy="512064"/>
          </a:xfrm>
          <a:prstGeom prst="rect">
            <a:avLst/>
          </a:prstGeom>
          <a:noFill/>
          <a:ln/>
        </p:spPr>
        <p:txBody>
          <a:bodyPr wrap="square" lIns="0" tIns="0" rIns="0" bIns="0" rtlCol="0" anchor="ctr"/>
          <a:lstStyle/>
          <a:p>
            <a:pPr indent="0" marL="0">
              <a:buNone/>
            </a:pPr>
            <a:r>
              <a:rPr lang="en-US" sz="1450" dirty="0">
                <a:solidFill>
                  <a:srgbClr val="7A7291"/>
                </a:solidFill>
                <a:latin typeface="Calibri" pitchFamily="34" charset="0"/>
                <a:ea typeface="Calibri" pitchFamily="34" charset="-122"/>
                <a:cs typeface="Calibri" pitchFamily="34" charset="-120"/>
              </a:rPr>
              <a:t>A family with three children is with Bizzing from the first child at four to the last at sixteen. The gaps are where we hand them back.</a:t>
            </a:r>
            <a:endParaRPr lang="en-US" sz="1450" dirty="0"/>
          </a:p>
        </p:txBody>
      </p:sp>
      <p:sp>
        <p:nvSpPr>
          <p:cNvPr id="5" name="Shape 3"/>
          <p:cNvSpPr/>
          <p:nvPr/>
        </p:nvSpPr>
        <p:spPr>
          <a:xfrm>
            <a:off x="640080" y="2011680"/>
            <a:ext cx="2011680" cy="566928"/>
          </a:xfrm>
          <a:prstGeom prst="roundRect">
            <a:avLst>
              <a:gd name="adj" fmla="val 19355"/>
            </a:avLst>
          </a:prstGeom>
          <a:solidFill>
            <a:srgbClr val="241E33"/>
          </a:solidFill>
          <a:ln/>
        </p:spPr>
      </p:sp>
      <p:sp>
        <p:nvSpPr>
          <p:cNvPr id="6" name="Text 4"/>
          <p:cNvSpPr/>
          <p:nvPr/>
        </p:nvSpPr>
        <p:spPr>
          <a:xfrm>
            <a:off x="640080" y="2011680"/>
            <a:ext cx="2011680"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4–6</a:t>
            </a:r>
            <a:endParaRPr lang="en-US" sz="1900" dirty="0"/>
          </a:p>
        </p:txBody>
      </p:sp>
      <p:sp>
        <p:nvSpPr>
          <p:cNvPr id="7" name="Text 5"/>
          <p:cNvSpPr/>
          <p:nvPr/>
        </p:nvSpPr>
        <p:spPr>
          <a:xfrm>
            <a:off x="731520" y="2670048"/>
            <a:ext cx="1828800" cy="603504"/>
          </a:xfrm>
          <a:prstGeom prst="rect">
            <a:avLst/>
          </a:prstGeom>
          <a:noFill/>
          <a:ln/>
        </p:spPr>
        <p:txBody>
          <a:bodyPr wrap="square" lIns="0" tIns="0" rIns="0" bIns="0" rtlCol="0" anchor="ctr"/>
          <a:lstStyle/>
          <a:p>
            <a:pPr indent="0" marL="0">
              <a:lnSpc>
                <a:spcPts val="1400"/>
              </a:lnSpc>
              <a:buNone/>
            </a:pPr>
            <a:r>
              <a:rPr lang="en-US" sz="1150" b="1" dirty="0">
                <a:solidFill>
                  <a:srgbClr val="4A31B0"/>
                </a:solidFill>
                <a:latin typeface="Calibri" pitchFamily="34" charset="0"/>
                <a:ea typeface="Calibri" pitchFamily="34" charset="-122"/>
                <a:cs typeface="Calibri" pitchFamily="34" charset="-120"/>
              </a:rPr>
              <a:t>Letters, sounds,</a:t>
            </a:r>
            <a:endParaRPr lang="en-US" sz="1150" dirty="0"/>
          </a:p>
          <a:p>
            <a:pPr indent="0" marL="0">
              <a:lnSpc>
                <a:spcPts val="1400"/>
              </a:lnSpc>
              <a:buNone/>
            </a:pPr>
            <a:r>
              <a:rPr lang="en-US" sz="1150" b="1" dirty="0">
                <a:solidFill>
                  <a:srgbClr val="4A31B0"/>
                </a:solidFill>
                <a:latin typeface="Calibri" pitchFamily="34" charset="0"/>
                <a:ea typeface="Calibri" pitchFamily="34" charset="-122"/>
                <a:cs typeface="Calibri" pitchFamily="34" charset="-120"/>
              </a:rPr>
              <a:t>first words</a:t>
            </a:r>
            <a:endParaRPr lang="en-US" sz="1150" dirty="0"/>
          </a:p>
        </p:txBody>
      </p:sp>
      <p:sp>
        <p:nvSpPr>
          <p:cNvPr id="8" name="Shape 6"/>
          <p:cNvSpPr/>
          <p:nvPr/>
        </p:nvSpPr>
        <p:spPr>
          <a:xfrm>
            <a:off x="731520" y="3346704"/>
            <a:ext cx="1828800" cy="274320"/>
          </a:xfrm>
          <a:prstGeom prst="roundRect">
            <a:avLst>
              <a:gd name="adj" fmla="val 50000"/>
            </a:avLst>
          </a:prstGeom>
          <a:solidFill>
            <a:srgbClr val="C4453C"/>
          </a:solidFill>
          <a:ln/>
        </p:spPr>
      </p:sp>
      <p:sp>
        <p:nvSpPr>
          <p:cNvPr id="9" name="Text 7"/>
          <p:cNvSpPr/>
          <p:nvPr/>
        </p:nvSpPr>
        <p:spPr>
          <a:xfrm>
            <a:off x="731520" y="3346704"/>
            <a:ext cx="182880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GAP, NAMED</a:t>
            </a:r>
            <a:endParaRPr lang="en-US" sz="800" dirty="0"/>
          </a:p>
        </p:txBody>
      </p:sp>
      <p:sp>
        <p:nvSpPr>
          <p:cNvPr id="10" name="Text 8"/>
          <p:cNvSpPr/>
          <p:nvPr/>
        </p:nvSpPr>
        <p:spPr>
          <a:xfrm>
            <a:off x="731520" y="3675888"/>
            <a:ext cx="1828800" cy="420624"/>
          </a:xfrm>
          <a:prstGeom prst="rect">
            <a:avLst/>
          </a:prstGeom>
          <a:noFill/>
          <a:ln/>
        </p:spPr>
        <p:txBody>
          <a:bodyPr wrap="square" lIns="0" tIns="0" rIns="0" bIns="0" rtlCol="0" anchor="ctr"/>
          <a:lstStyle/>
          <a:p>
            <a:pPr indent="0" marL="0">
              <a:lnSpc>
                <a:spcPts val="1200"/>
              </a:lnSpc>
              <a:buNone/>
            </a:pPr>
            <a:r>
              <a:rPr lang="en-US" sz="1000" i="1" dirty="0">
                <a:solidFill>
                  <a:srgbClr val="7A7291"/>
                </a:solidFill>
                <a:latin typeface="Calibri" pitchFamily="34" charset="0"/>
                <a:ea typeface="Calibri" pitchFamily="34" charset="-122"/>
                <a:cs typeface="Calibri" pitchFamily="34" charset="-120"/>
              </a:rPr>
              <a:t>Buzz — to build</a:t>
            </a:r>
            <a:endParaRPr lang="en-US" sz="1000" dirty="0"/>
          </a:p>
        </p:txBody>
      </p:sp>
      <p:sp>
        <p:nvSpPr>
          <p:cNvPr id="11" name="Text 9"/>
          <p:cNvSpPr/>
          <p:nvPr/>
        </p:nvSpPr>
        <p:spPr>
          <a:xfrm>
            <a:off x="731520" y="4151376"/>
            <a:ext cx="1828800" cy="1325880"/>
          </a:xfrm>
          <a:prstGeom prst="rect">
            <a:avLst/>
          </a:prstGeom>
          <a:noFill/>
          <a:ln/>
        </p:spPr>
        <p:txBody>
          <a:bodyPr wrap="square" lIns="0" tIns="0" rIns="0" bIns="0" rtlCol="0" anchor="ctr"/>
          <a:lstStyle/>
          <a:p>
            <a:pPr indent="0" marL="0">
              <a:lnSpc>
                <a:spcPts val="1350"/>
              </a:lnSpc>
              <a:buNone/>
            </a:pPr>
            <a:r>
              <a:rPr lang="en-US" sz="1000" dirty="0">
                <a:solidFill>
                  <a:srgbClr val="4A4360"/>
                </a:solidFill>
                <a:latin typeface="Calibri" pitchFamily="34" charset="0"/>
                <a:ea typeface="Calibri" pitchFamily="34" charset="-122"/>
                <a:cs typeface="Calibri" pitchFamily="34" charset="-120"/>
              </a:rPr>
              <a:t>Bizzing Buzz. Audio and pictures, because the child cannot read the interface. The voice library transfers; the reading-free UI does not exist yet.</a:t>
            </a:r>
            <a:endParaRPr lang="en-US" sz="1000" dirty="0"/>
          </a:p>
        </p:txBody>
      </p:sp>
      <p:sp>
        <p:nvSpPr>
          <p:cNvPr id="12" name="Shape 10"/>
          <p:cNvSpPr/>
          <p:nvPr/>
        </p:nvSpPr>
        <p:spPr>
          <a:xfrm>
            <a:off x="2852928" y="2011680"/>
            <a:ext cx="2011680" cy="566928"/>
          </a:xfrm>
          <a:prstGeom prst="roundRect">
            <a:avLst>
              <a:gd name="adj" fmla="val 19355"/>
            </a:avLst>
          </a:prstGeom>
          <a:solidFill>
            <a:srgbClr val="241E33"/>
          </a:solidFill>
          <a:ln/>
        </p:spPr>
      </p:sp>
      <p:sp>
        <p:nvSpPr>
          <p:cNvPr id="13" name="Text 11"/>
          <p:cNvSpPr/>
          <p:nvPr/>
        </p:nvSpPr>
        <p:spPr>
          <a:xfrm>
            <a:off x="2852928" y="2011680"/>
            <a:ext cx="2011680"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6–8</a:t>
            </a:r>
            <a:endParaRPr lang="en-US" sz="1900" dirty="0"/>
          </a:p>
        </p:txBody>
      </p:sp>
      <p:sp>
        <p:nvSpPr>
          <p:cNvPr id="14" name="Text 12"/>
          <p:cNvSpPr/>
          <p:nvPr/>
        </p:nvSpPr>
        <p:spPr>
          <a:xfrm>
            <a:off x="2944368" y="2670048"/>
            <a:ext cx="1828800" cy="603504"/>
          </a:xfrm>
          <a:prstGeom prst="rect">
            <a:avLst/>
          </a:prstGeom>
          <a:noFill/>
          <a:ln/>
        </p:spPr>
        <p:txBody>
          <a:bodyPr wrap="square" lIns="0" tIns="0" rIns="0" bIns="0" rtlCol="0" anchor="ctr"/>
          <a:lstStyle/>
          <a:p>
            <a:pPr indent="0" marL="0">
              <a:lnSpc>
                <a:spcPts val="1400"/>
              </a:lnSpc>
              <a:buNone/>
            </a:pPr>
            <a:r>
              <a:rPr lang="en-US" sz="1150" b="1" dirty="0">
                <a:solidFill>
                  <a:srgbClr val="4A31B0"/>
                </a:solidFill>
                <a:latin typeface="Calibri" pitchFamily="34" charset="0"/>
                <a:ea typeface="Calibri" pitchFamily="34" charset="-122"/>
                <a:cs typeface="Calibri" pitchFamily="34" charset="-120"/>
              </a:rPr>
              <a:t>Reading fluency,</a:t>
            </a:r>
            <a:endParaRPr lang="en-US" sz="1150" dirty="0"/>
          </a:p>
          <a:p>
            <a:pPr indent="0" marL="0">
              <a:lnSpc>
                <a:spcPts val="1400"/>
              </a:lnSpc>
              <a:buNone/>
            </a:pPr>
            <a:r>
              <a:rPr lang="en-US" sz="1150" b="1" dirty="0">
                <a:solidFill>
                  <a:srgbClr val="4A31B0"/>
                </a:solidFill>
                <a:latin typeface="Calibri" pitchFamily="34" charset="0"/>
                <a:ea typeface="Calibri" pitchFamily="34" charset="-122"/>
                <a:cs typeface="Calibri" pitchFamily="34" charset="-120"/>
              </a:rPr>
              <a:t>first spelling</a:t>
            </a:r>
            <a:endParaRPr lang="en-US" sz="1150" dirty="0"/>
          </a:p>
        </p:txBody>
      </p:sp>
      <p:sp>
        <p:nvSpPr>
          <p:cNvPr id="15" name="Shape 13"/>
          <p:cNvSpPr/>
          <p:nvPr/>
        </p:nvSpPr>
        <p:spPr>
          <a:xfrm>
            <a:off x="2944368" y="3346704"/>
            <a:ext cx="1828800" cy="274320"/>
          </a:xfrm>
          <a:prstGeom prst="roundRect">
            <a:avLst>
              <a:gd name="adj" fmla="val 50000"/>
            </a:avLst>
          </a:prstGeom>
          <a:solidFill>
            <a:srgbClr val="F0B429"/>
          </a:solidFill>
          <a:ln/>
        </p:spPr>
      </p:sp>
      <p:sp>
        <p:nvSpPr>
          <p:cNvPr id="16" name="Text 14"/>
          <p:cNvSpPr/>
          <p:nvPr/>
        </p:nvSpPr>
        <p:spPr>
          <a:xfrm>
            <a:off x="2944368" y="3346704"/>
            <a:ext cx="1828800" cy="274320"/>
          </a:xfrm>
          <a:prstGeom prst="rect">
            <a:avLst/>
          </a:prstGeom>
          <a:noFill/>
          <a:ln/>
        </p:spPr>
        <p:txBody>
          <a:bodyPr wrap="square" lIns="0" tIns="0" rIns="0" bIns="0" rtlCol="0" anchor="ctr"/>
          <a:lstStyle/>
          <a:p>
            <a:pPr algn="ctr" indent="0" marL="0">
              <a:buNone/>
            </a:pPr>
            <a:r>
              <a:rPr lang="en-US" sz="800" b="1" dirty="0">
                <a:solidFill>
                  <a:srgbClr val="241E33"/>
                </a:solidFill>
                <a:latin typeface="Calibri" pitchFamily="34" charset="0"/>
                <a:ea typeface="Calibri" pitchFamily="34" charset="-122"/>
                <a:cs typeface="Calibri" pitchFamily="34" charset="-120"/>
              </a:rPr>
              <a:t>PARTIAL</a:t>
            </a:r>
            <a:endParaRPr lang="en-US" sz="800" dirty="0"/>
          </a:p>
        </p:txBody>
      </p:sp>
      <p:sp>
        <p:nvSpPr>
          <p:cNvPr id="17" name="Text 15"/>
          <p:cNvSpPr/>
          <p:nvPr/>
        </p:nvSpPr>
        <p:spPr>
          <a:xfrm>
            <a:off x="2944368" y="3675888"/>
            <a:ext cx="1828800" cy="420624"/>
          </a:xfrm>
          <a:prstGeom prst="rect">
            <a:avLst/>
          </a:prstGeom>
          <a:noFill/>
          <a:ln/>
        </p:spPr>
        <p:txBody>
          <a:bodyPr wrap="square" lIns="0" tIns="0" rIns="0" bIns="0" rtlCol="0" anchor="ctr"/>
          <a:lstStyle/>
          <a:p>
            <a:pPr indent="0" marL="0">
              <a:lnSpc>
                <a:spcPts val="1200"/>
              </a:lnSpc>
              <a:buNone/>
            </a:pPr>
            <a:r>
              <a:rPr lang="en-US" sz="1000" i="1" dirty="0">
                <a:solidFill>
                  <a:srgbClr val="7A7291"/>
                </a:solidFill>
                <a:latin typeface="Calibri" pitchFamily="34" charset="0"/>
                <a:ea typeface="Calibri" pitchFamily="34" charset="-122"/>
                <a:cs typeface="Calibri" pitchFamily="34" charset="-120"/>
              </a:rPr>
              <a:t>Bee entry · Buzz · English</a:t>
            </a:r>
            <a:endParaRPr lang="en-US" sz="1000" dirty="0"/>
          </a:p>
        </p:txBody>
      </p:sp>
      <p:sp>
        <p:nvSpPr>
          <p:cNvPr id="18" name="Text 16"/>
          <p:cNvSpPr/>
          <p:nvPr/>
        </p:nvSpPr>
        <p:spPr>
          <a:xfrm>
            <a:off x="2944368" y="4151376"/>
            <a:ext cx="1828800" cy="1325880"/>
          </a:xfrm>
          <a:prstGeom prst="rect">
            <a:avLst/>
          </a:prstGeom>
          <a:noFill/>
          <a:ln/>
        </p:spPr>
        <p:txBody>
          <a:bodyPr wrap="square" lIns="0" tIns="0" rIns="0" bIns="0" rtlCol="0" anchor="ctr"/>
          <a:lstStyle/>
          <a:p>
            <a:pPr indent="0" marL="0">
              <a:lnSpc>
                <a:spcPts val="1350"/>
              </a:lnSpc>
              <a:buNone/>
            </a:pPr>
            <a:r>
              <a:rPr lang="en-US" sz="1000" dirty="0">
                <a:solidFill>
                  <a:srgbClr val="4A4360"/>
                </a:solidFill>
                <a:latin typeface="Calibri" pitchFamily="34" charset="0"/>
                <a:ea typeface="Calibri" pitchFamily="34" charset="-122"/>
                <a:cs typeface="Calibri" pitchFamily="34" charset="-120"/>
              </a:rPr>
              <a:t>Bee starts too hard for most six-year-olds. Buzz→Bee is the bridge, and it is the strongest retention story in the house.</a:t>
            </a:r>
            <a:endParaRPr lang="en-US" sz="1000" dirty="0"/>
          </a:p>
        </p:txBody>
      </p:sp>
      <p:sp>
        <p:nvSpPr>
          <p:cNvPr id="19" name="Shape 17"/>
          <p:cNvSpPr/>
          <p:nvPr/>
        </p:nvSpPr>
        <p:spPr>
          <a:xfrm>
            <a:off x="5065776" y="2011680"/>
            <a:ext cx="2011680" cy="566928"/>
          </a:xfrm>
          <a:prstGeom prst="roundRect">
            <a:avLst>
              <a:gd name="adj" fmla="val 19355"/>
            </a:avLst>
          </a:prstGeom>
          <a:solidFill>
            <a:srgbClr val="241E33"/>
          </a:solidFill>
          <a:ln/>
        </p:spPr>
      </p:sp>
      <p:sp>
        <p:nvSpPr>
          <p:cNvPr id="20" name="Text 18"/>
          <p:cNvSpPr/>
          <p:nvPr/>
        </p:nvSpPr>
        <p:spPr>
          <a:xfrm>
            <a:off x="5065776" y="2011680"/>
            <a:ext cx="2011680"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8–10</a:t>
            </a:r>
            <a:endParaRPr lang="en-US" sz="1900" dirty="0"/>
          </a:p>
        </p:txBody>
      </p:sp>
      <p:sp>
        <p:nvSpPr>
          <p:cNvPr id="21" name="Text 19"/>
          <p:cNvSpPr/>
          <p:nvPr/>
        </p:nvSpPr>
        <p:spPr>
          <a:xfrm>
            <a:off x="5157216" y="2670048"/>
            <a:ext cx="1828800" cy="603504"/>
          </a:xfrm>
          <a:prstGeom prst="rect">
            <a:avLst/>
          </a:prstGeom>
          <a:noFill/>
          <a:ln/>
        </p:spPr>
        <p:txBody>
          <a:bodyPr wrap="square" lIns="0" tIns="0" rIns="0" bIns="0" rtlCol="0" anchor="ctr"/>
          <a:lstStyle/>
          <a:p>
            <a:pPr indent="0" marL="0">
              <a:lnSpc>
                <a:spcPts val="1400"/>
              </a:lnSpc>
              <a:buNone/>
            </a:pPr>
            <a:r>
              <a:rPr lang="en-US" sz="1150" b="1" dirty="0">
                <a:solidFill>
                  <a:srgbClr val="4A31B0"/>
                </a:solidFill>
                <a:latin typeface="Calibri" pitchFamily="34" charset="0"/>
                <a:ea typeface="Calibri" pitchFamily="34" charset="-122"/>
                <a:cs typeface="Calibri" pitchFamily="34" charset="-120"/>
              </a:rPr>
              <a:t>Spelling bee,</a:t>
            </a:r>
            <a:endParaRPr lang="en-US" sz="1150" dirty="0"/>
          </a:p>
          <a:p>
            <a:pPr indent="0" marL="0">
              <a:lnSpc>
                <a:spcPts val="1400"/>
              </a:lnSpc>
              <a:buNone/>
            </a:pPr>
            <a:r>
              <a:rPr lang="en-US" sz="1150" b="1" dirty="0">
                <a:solidFill>
                  <a:srgbClr val="4A31B0"/>
                </a:solidFill>
                <a:latin typeface="Calibri" pitchFamily="34" charset="0"/>
                <a:ea typeface="Calibri" pitchFamily="34" charset="-122"/>
                <a:cs typeface="Calibri" pitchFamily="34" charset="-120"/>
              </a:rPr>
              <a:t>vocabulary, GK</a:t>
            </a:r>
            <a:endParaRPr lang="en-US" sz="1150" dirty="0"/>
          </a:p>
        </p:txBody>
      </p:sp>
      <p:sp>
        <p:nvSpPr>
          <p:cNvPr id="22" name="Shape 20"/>
          <p:cNvSpPr/>
          <p:nvPr/>
        </p:nvSpPr>
        <p:spPr>
          <a:xfrm>
            <a:off x="5157216" y="3346704"/>
            <a:ext cx="1828800" cy="274320"/>
          </a:xfrm>
          <a:prstGeom prst="roundRect">
            <a:avLst>
              <a:gd name="adj" fmla="val 50000"/>
            </a:avLst>
          </a:prstGeom>
          <a:solidFill>
            <a:srgbClr val="178A4C"/>
          </a:solidFill>
          <a:ln/>
        </p:spPr>
      </p:sp>
      <p:sp>
        <p:nvSpPr>
          <p:cNvPr id="23" name="Text 21"/>
          <p:cNvSpPr/>
          <p:nvPr/>
        </p:nvSpPr>
        <p:spPr>
          <a:xfrm>
            <a:off x="5157216" y="3346704"/>
            <a:ext cx="182880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COVERED</a:t>
            </a:r>
            <a:endParaRPr lang="en-US" sz="800" dirty="0"/>
          </a:p>
        </p:txBody>
      </p:sp>
      <p:sp>
        <p:nvSpPr>
          <p:cNvPr id="24" name="Text 22"/>
          <p:cNvSpPr/>
          <p:nvPr/>
        </p:nvSpPr>
        <p:spPr>
          <a:xfrm>
            <a:off x="5157216" y="3675888"/>
            <a:ext cx="1828800" cy="420624"/>
          </a:xfrm>
          <a:prstGeom prst="rect">
            <a:avLst/>
          </a:prstGeom>
          <a:noFill/>
          <a:ln/>
        </p:spPr>
        <p:txBody>
          <a:bodyPr wrap="square" lIns="0" tIns="0" rIns="0" bIns="0" rtlCol="0" anchor="ctr"/>
          <a:lstStyle/>
          <a:p>
            <a:pPr indent="0" marL="0">
              <a:lnSpc>
                <a:spcPts val="1200"/>
              </a:lnSpc>
              <a:buNone/>
            </a:pPr>
            <a:r>
              <a:rPr lang="en-US" sz="1000" i="1" dirty="0">
                <a:solidFill>
                  <a:srgbClr val="7A7291"/>
                </a:solidFill>
                <a:latin typeface="Calibri" pitchFamily="34" charset="0"/>
                <a:ea typeface="Calibri" pitchFamily="34" charset="-122"/>
                <a:cs typeface="Calibri" pitchFamily="34" charset="-120"/>
              </a:rPr>
              <a:t>Bee · India · Quiz · Maths</a:t>
            </a:r>
            <a:endParaRPr lang="en-US" sz="1000" dirty="0"/>
          </a:p>
        </p:txBody>
      </p:sp>
      <p:sp>
        <p:nvSpPr>
          <p:cNvPr id="25" name="Text 23"/>
          <p:cNvSpPr/>
          <p:nvPr/>
        </p:nvSpPr>
        <p:spPr>
          <a:xfrm>
            <a:off x="5157216" y="4151376"/>
            <a:ext cx="1828800" cy="1325880"/>
          </a:xfrm>
          <a:prstGeom prst="rect">
            <a:avLst/>
          </a:prstGeom>
          <a:noFill/>
          <a:ln/>
        </p:spPr>
        <p:txBody>
          <a:bodyPr wrap="square" lIns="0" tIns="0" rIns="0" bIns="0" rtlCol="0" anchor="ctr"/>
          <a:lstStyle/>
          <a:p>
            <a:pPr indent="0" marL="0">
              <a:lnSpc>
                <a:spcPts val="1350"/>
              </a:lnSpc>
              <a:buNone/>
            </a:pPr>
            <a:r>
              <a:rPr lang="en-US" sz="1000" dirty="0">
                <a:solidFill>
                  <a:srgbClr val="4A4360"/>
                </a:solidFill>
                <a:latin typeface="Calibri" pitchFamily="34" charset="0"/>
                <a:ea typeface="Calibri" pitchFamily="34" charset="-122"/>
                <a:cs typeface="Calibri" pitchFamily="34" charset="-120"/>
              </a:rPr>
              <a:t>The core. Everything built so far lands squarely here, and this is where the bee community lives.</a:t>
            </a:r>
            <a:endParaRPr lang="en-US" sz="1000" dirty="0"/>
          </a:p>
        </p:txBody>
      </p:sp>
      <p:sp>
        <p:nvSpPr>
          <p:cNvPr id="26" name="Shape 24"/>
          <p:cNvSpPr/>
          <p:nvPr/>
        </p:nvSpPr>
        <p:spPr>
          <a:xfrm>
            <a:off x="7278624" y="2011680"/>
            <a:ext cx="2011680" cy="566928"/>
          </a:xfrm>
          <a:prstGeom prst="roundRect">
            <a:avLst>
              <a:gd name="adj" fmla="val 19355"/>
            </a:avLst>
          </a:prstGeom>
          <a:solidFill>
            <a:srgbClr val="241E33"/>
          </a:solidFill>
          <a:ln/>
        </p:spPr>
      </p:sp>
      <p:sp>
        <p:nvSpPr>
          <p:cNvPr id="27" name="Text 25"/>
          <p:cNvSpPr/>
          <p:nvPr/>
        </p:nvSpPr>
        <p:spPr>
          <a:xfrm>
            <a:off x="7278624" y="2011680"/>
            <a:ext cx="2011680"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10–12</a:t>
            </a:r>
            <a:endParaRPr lang="en-US" sz="1900" dirty="0"/>
          </a:p>
        </p:txBody>
      </p:sp>
      <p:sp>
        <p:nvSpPr>
          <p:cNvPr id="28" name="Text 26"/>
          <p:cNvSpPr/>
          <p:nvPr/>
        </p:nvSpPr>
        <p:spPr>
          <a:xfrm>
            <a:off x="7370064" y="2670048"/>
            <a:ext cx="1828800" cy="603504"/>
          </a:xfrm>
          <a:prstGeom prst="rect">
            <a:avLst/>
          </a:prstGeom>
          <a:noFill/>
          <a:ln/>
        </p:spPr>
        <p:txBody>
          <a:bodyPr wrap="square" lIns="0" tIns="0" rIns="0" bIns="0" rtlCol="0" anchor="ctr"/>
          <a:lstStyle/>
          <a:p>
            <a:pPr indent="0" marL="0">
              <a:lnSpc>
                <a:spcPts val="1400"/>
              </a:lnSpc>
              <a:buNone/>
            </a:pPr>
            <a:r>
              <a:rPr lang="en-US" sz="1150" b="1" dirty="0">
                <a:solidFill>
                  <a:srgbClr val="4A31B0"/>
                </a:solidFill>
                <a:latin typeface="Calibri" pitchFamily="34" charset="0"/>
                <a:ea typeface="Calibri" pitchFamily="34" charset="-122"/>
                <a:cs typeface="Calibri" pitchFamily="34" charset="-120"/>
              </a:rPr>
              <a:t>Peak bee, 11+,</a:t>
            </a:r>
            <a:endParaRPr lang="en-US" sz="1150" dirty="0"/>
          </a:p>
          <a:p>
            <a:pPr indent="0" marL="0">
              <a:lnSpc>
                <a:spcPts val="1400"/>
              </a:lnSpc>
              <a:buNone/>
            </a:pPr>
            <a:r>
              <a:rPr lang="en-US" sz="1150" b="1" dirty="0">
                <a:solidFill>
                  <a:srgbClr val="4A31B0"/>
                </a:solidFill>
                <a:latin typeface="Calibri" pitchFamily="34" charset="0"/>
                <a:ea typeface="Calibri" pitchFamily="34" charset="-122"/>
                <a:cs typeface="Calibri" pitchFamily="34" charset="-120"/>
              </a:rPr>
              <a:t>gifted testing</a:t>
            </a:r>
            <a:endParaRPr lang="en-US" sz="1150" dirty="0"/>
          </a:p>
        </p:txBody>
      </p:sp>
      <p:sp>
        <p:nvSpPr>
          <p:cNvPr id="29" name="Shape 27"/>
          <p:cNvSpPr/>
          <p:nvPr/>
        </p:nvSpPr>
        <p:spPr>
          <a:xfrm>
            <a:off x="7370064" y="3346704"/>
            <a:ext cx="1828800" cy="274320"/>
          </a:xfrm>
          <a:prstGeom prst="roundRect">
            <a:avLst>
              <a:gd name="adj" fmla="val 50000"/>
            </a:avLst>
          </a:prstGeom>
          <a:solidFill>
            <a:srgbClr val="178A4C"/>
          </a:solidFill>
          <a:ln/>
        </p:spPr>
      </p:sp>
      <p:sp>
        <p:nvSpPr>
          <p:cNvPr id="30" name="Text 28"/>
          <p:cNvSpPr/>
          <p:nvPr/>
        </p:nvSpPr>
        <p:spPr>
          <a:xfrm>
            <a:off x="7370064" y="3346704"/>
            <a:ext cx="182880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COVERED</a:t>
            </a:r>
            <a:endParaRPr lang="en-US" sz="800" dirty="0"/>
          </a:p>
        </p:txBody>
      </p:sp>
      <p:sp>
        <p:nvSpPr>
          <p:cNvPr id="31" name="Text 29"/>
          <p:cNvSpPr/>
          <p:nvPr/>
        </p:nvSpPr>
        <p:spPr>
          <a:xfrm>
            <a:off x="7370064" y="3675888"/>
            <a:ext cx="1828800" cy="420624"/>
          </a:xfrm>
          <a:prstGeom prst="rect">
            <a:avLst/>
          </a:prstGeom>
          <a:noFill/>
          <a:ln/>
        </p:spPr>
        <p:txBody>
          <a:bodyPr wrap="square" lIns="0" tIns="0" rIns="0" bIns="0" rtlCol="0" anchor="ctr"/>
          <a:lstStyle/>
          <a:p>
            <a:pPr indent="0" marL="0">
              <a:lnSpc>
                <a:spcPts val="1200"/>
              </a:lnSpc>
              <a:buNone/>
            </a:pPr>
            <a:r>
              <a:rPr lang="en-US" sz="1000" i="1" dirty="0">
                <a:solidFill>
                  <a:srgbClr val="7A7291"/>
                </a:solidFill>
                <a:latin typeface="Calibri" pitchFamily="34" charset="0"/>
                <a:ea typeface="Calibri" pitchFamily="34" charset="-122"/>
                <a:cs typeface="Calibri" pitchFamily="34" charset="-120"/>
              </a:rPr>
              <a:t>Bee · Eleven · Prep</a:t>
            </a:r>
            <a:endParaRPr lang="en-US" sz="1000" dirty="0"/>
          </a:p>
          <a:p>
            <a:pPr indent="0" marL="0">
              <a:lnSpc>
                <a:spcPts val="1200"/>
              </a:lnSpc>
              <a:buNone/>
            </a:pPr>
            <a:r>
              <a:rPr lang="en-US" sz="1000" i="1" dirty="0">
                <a:solidFill>
                  <a:srgbClr val="7A7291"/>
                </a:solidFill>
                <a:latin typeface="Calibri" pitchFamily="34" charset="0"/>
                <a:ea typeface="Calibri" pitchFamily="34" charset="-122"/>
                <a:cs typeface="Calibri" pitchFamily="34" charset="-120"/>
              </a:rPr>
              <a:t>Bhasha · English</a:t>
            </a:r>
            <a:endParaRPr lang="en-US" sz="1000" dirty="0"/>
          </a:p>
        </p:txBody>
      </p:sp>
      <p:sp>
        <p:nvSpPr>
          <p:cNvPr id="32" name="Text 30"/>
          <p:cNvSpPr/>
          <p:nvPr/>
        </p:nvSpPr>
        <p:spPr>
          <a:xfrm>
            <a:off x="7370064" y="4151376"/>
            <a:ext cx="1828800" cy="1325880"/>
          </a:xfrm>
          <a:prstGeom prst="rect">
            <a:avLst/>
          </a:prstGeom>
          <a:noFill/>
          <a:ln/>
        </p:spPr>
        <p:txBody>
          <a:bodyPr wrap="square" lIns="0" tIns="0" rIns="0" bIns="0" rtlCol="0" anchor="ctr"/>
          <a:lstStyle/>
          <a:p>
            <a:pPr indent="0" marL="0">
              <a:lnSpc>
                <a:spcPts val="1350"/>
              </a:lnSpc>
              <a:buNone/>
            </a:pPr>
            <a:r>
              <a:rPr lang="en-US" sz="1000" dirty="0">
                <a:solidFill>
                  <a:srgbClr val="4A4360"/>
                </a:solidFill>
                <a:latin typeface="Calibri" pitchFamily="34" charset="0"/>
                <a:ea typeface="Calibri" pitchFamily="34" charset="-122"/>
                <a:cs typeface="Calibri" pitchFamily="34" charset="-120"/>
              </a:rPr>
              <a:t>The highest-intent, highest-spend years. Four products can serve one child at once, on one account.</a:t>
            </a:r>
            <a:endParaRPr lang="en-US" sz="1000" dirty="0"/>
          </a:p>
        </p:txBody>
      </p:sp>
      <p:sp>
        <p:nvSpPr>
          <p:cNvPr id="33" name="Shape 31"/>
          <p:cNvSpPr/>
          <p:nvPr/>
        </p:nvSpPr>
        <p:spPr>
          <a:xfrm>
            <a:off x="9491472" y="2011680"/>
            <a:ext cx="2011680" cy="566928"/>
          </a:xfrm>
          <a:prstGeom prst="roundRect">
            <a:avLst>
              <a:gd name="adj" fmla="val 19355"/>
            </a:avLst>
          </a:prstGeom>
          <a:solidFill>
            <a:srgbClr val="241E33"/>
          </a:solidFill>
          <a:ln/>
        </p:spPr>
      </p:sp>
      <p:sp>
        <p:nvSpPr>
          <p:cNvPr id="34" name="Text 32"/>
          <p:cNvSpPr/>
          <p:nvPr/>
        </p:nvSpPr>
        <p:spPr>
          <a:xfrm>
            <a:off x="9491472" y="2011680"/>
            <a:ext cx="2011680"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12–16</a:t>
            </a:r>
            <a:endParaRPr lang="en-US" sz="1900" dirty="0"/>
          </a:p>
        </p:txBody>
      </p:sp>
      <p:sp>
        <p:nvSpPr>
          <p:cNvPr id="35" name="Text 33"/>
          <p:cNvSpPr/>
          <p:nvPr/>
        </p:nvSpPr>
        <p:spPr>
          <a:xfrm>
            <a:off x="9582912" y="2670048"/>
            <a:ext cx="1828800" cy="603504"/>
          </a:xfrm>
          <a:prstGeom prst="rect">
            <a:avLst/>
          </a:prstGeom>
          <a:noFill/>
          <a:ln/>
        </p:spPr>
        <p:txBody>
          <a:bodyPr wrap="square" lIns="0" tIns="0" rIns="0" bIns="0" rtlCol="0" anchor="ctr"/>
          <a:lstStyle/>
          <a:p>
            <a:pPr indent="0" marL="0">
              <a:lnSpc>
                <a:spcPts val="1400"/>
              </a:lnSpc>
              <a:buNone/>
            </a:pPr>
            <a:r>
              <a:rPr lang="en-US" sz="1150" b="1" dirty="0">
                <a:solidFill>
                  <a:srgbClr val="4A31B0"/>
                </a:solidFill>
                <a:latin typeface="Calibri" pitchFamily="34" charset="0"/>
                <a:ea typeface="Calibri" pitchFamily="34" charset="-122"/>
                <a:cs typeface="Calibri" pitchFamily="34" charset="-120"/>
              </a:rPr>
              <a:t>Debate, essays,</a:t>
            </a:r>
            <a:endParaRPr lang="en-US" sz="1150" dirty="0"/>
          </a:p>
          <a:p>
            <a:pPr indent="0" marL="0">
              <a:lnSpc>
                <a:spcPts val="1400"/>
              </a:lnSpc>
              <a:buNone/>
            </a:pPr>
            <a:r>
              <a:rPr lang="en-US" sz="1150" b="1" dirty="0">
                <a:solidFill>
                  <a:srgbClr val="4A31B0"/>
                </a:solidFill>
                <a:latin typeface="Calibri" pitchFamily="34" charset="0"/>
                <a:ea typeface="Calibri" pitchFamily="34" charset="-122"/>
                <a:cs typeface="Calibri" pitchFamily="34" charset="-120"/>
              </a:rPr>
              <a:t>money, business</a:t>
            </a:r>
            <a:endParaRPr lang="en-US" sz="1150" dirty="0"/>
          </a:p>
        </p:txBody>
      </p:sp>
      <p:sp>
        <p:nvSpPr>
          <p:cNvPr id="36" name="Shape 34"/>
          <p:cNvSpPr/>
          <p:nvPr/>
        </p:nvSpPr>
        <p:spPr>
          <a:xfrm>
            <a:off x="9582912" y="3346704"/>
            <a:ext cx="1828800" cy="274320"/>
          </a:xfrm>
          <a:prstGeom prst="roundRect">
            <a:avLst>
              <a:gd name="adj" fmla="val 50000"/>
            </a:avLst>
          </a:prstGeom>
          <a:solidFill>
            <a:srgbClr val="C4453C"/>
          </a:solidFill>
          <a:ln/>
        </p:spPr>
      </p:sp>
      <p:sp>
        <p:nvSpPr>
          <p:cNvPr id="37" name="Text 35"/>
          <p:cNvSpPr/>
          <p:nvPr/>
        </p:nvSpPr>
        <p:spPr>
          <a:xfrm>
            <a:off x="9582912" y="3346704"/>
            <a:ext cx="182880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GAP, NAMED</a:t>
            </a:r>
            <a:endParaRPr lang="en-US" sz="800" dirty="0"/>
          </a:p>
        </p:txBody>
      </p:sp>
      <p:sp>
        <p:nvSpPr>
          <p:cNvPr id="38" name="Text 36"/>
          <p:cNvSpPr/>
          <p:nvPr/>
        </p:nvSpPr>
        <p:spPr>
          <a:xfrm>
            <a:off x="9582912" y="3675888"/>
            <a:ext cx="1828800" cy="420624"/>
          </a:xfrm>
          <a:prstGeom prst="rect">
            <a:avLst/>
          </a:prstGeom>
          <a:noFill/>
          <a:ln/>
        </p:spPr>
        <p:txBody>
          <a:bodyPr wrap="square" lIns="0" tIns="0" rIns="0" bIns="0" rtlCol="0" anchor="ctr"/>
          <a:lstStyle/>
          <a:p>
            <a:pPr indent="0" marL="0">
              <a:lnSpc>
                <a:spcPts val="1200"/>
              </a:lnSpc>
              <a:buNone/>
            </a:pPr>
            <a:r>
              <a:rPr lang="en-US" sz="1000" i="1" dirty="0">
                <a:solidFill>
                  <a:srgbClr val="7A7291"/>
                </a:solidFill>
                <a:latin typeface="Calibri" pitchFamily="34" charset="0"/>
                <a:ea typeface="Calibri" pitchFamily="34" charset="-122"/>
                <a:cs typeface="Calibri" pitchFamily="34" charset="-120"/>
              </a:rPr>
              <a:t>Speak · Business</a:t>
            </a:r>
            <a:endParaRPr lang="en-US" sz="1000" dirty="0"/>
          </a:p>
          <a:p>
            <a:pPr indent="0" marL="0">
              <a:lnSpc>
                <a:spcPts val="1200"/>
              </a:lnSpc>
              <a:buNone/>
            </a:pPr>
            <a:r>
              <a:rPr lang="en-US" sz="1000" i="1" dirty="0">
                <a:solidFill>
                  <a:srgbClr val="7A7291"/>
                </a:solidFill>
                <a:latin typeface="Calibri" pitchFamily="34" charset="0"/>
                <a:ea typeface="Calibri" pitchFamily="34" charset="-122"/>
                <a:cs typeface="Calibri" pitchFamily="34" charset="-120"/>
              </a:rPr>
              <a:t>Finance · English</a:t>
            </a:r>
            <a:endParaRPr lang="en-US" sz="1000" dirty="0"/>
          </a:p>
        </p:txBody>
      </p:sp>
      <p:sp>
        <p:nvSpPr>
          <p:cNvPr id="39" name="Text 37"/>
          <p:cNvSpPr/>
          <p:nvPr/>
        </p:nvSpPr>
        <p:spPr>
          <a:xfrm>
            <a:off x="9582912" y="4151376"/>
            <a:ext cx="1828800" cy="1325880"/>
          </a:xfrm>
          <a:prstGeom prst="rect">
            <a:avLst/>
          </a:prstGeom>
          <a:noFill/>
          <a:ln/>
        </p:spPr>
        <p:txBody>
          <a:bodyPr wrap="square" lIns="0" tIns="0" rIns="0" bIns="0" rtlCol="0" anchor="ctr"/>
          <a:lstStyle/>
          <a:p>
            <a:pPr indent="0" marL="0">
              <a:lnSpc>
                <a:spcPts val="1350"/>
              </a:lnSpc>
              <a:buNone/>
            </a:pPr>
            <a:r>
              <a:rPr lang="en-US" sz="1000" dirty="0">
                <a:solidFill>
                  <a:srgbClr val="4A4360"/>
                </a:solidFill>
                <a:latin typeface="Calibri" pitchFamily="34" charset="0"/>
                <a:ea typeface="Calibri" pitchFamily="34" charset="-122"/>
                <a:cs typeface="Calibri" pitchFamily="34" charset="-120"/>
              </a:rPr>
              <a:t>The bee ends around fourteen and the family leaves. Four products aim here and not one of them is built. The churn cliff is still open.</a:t>
            </a:r>
            <a:endParaRPr lang="en-US" sz="1000" dirty="0"/>
          </a:p>
        </p:txBody>
      </p:sp>
      <p:sp>
        <p:nvSpPr>
          <p:cNvPr id="40" name="Shape 38"/>
          <p:cNvSpPr/>
          <p:nvPr/>
        </p:nvSpPr>
        <p:spPr>
          <a:xfrm>
            <a:off x="640080" y="5596128"/>
            <a:ext cx="10607040" cy="658368"/>
          </a:xfrm>
          <a:prstGeom prst="roundRect">
            <a:avLst>
              <a:gd name="adj" fmla="val 19444"/>
            </a:avLst>
          </a:prstGeom>
          <a:solidFill>
            <a:srgbClr val="EFEBF8"/>
          </a:solidFill>
          <a:ln/>
          <a:effectLst>
            <a:outerShdw sx="100000" sy="100000" kx="0" ky="0" algn="bl" rotWithShape="0" blurRad="127000" dist="25400" dir="5400000">
              <a:srgbClr val="241E33">
                <a:alpha val="10000"/>
              </a:srgbClr>
            </a:outerShdw>
          </a:effectLst>
        </p:spPr>
      </p:sp>
      <p:sp>
        <p:nvSpPr>
          <p:cNvPr id="41" name="Text 39"/>
          <p:cNvSpPr/>
          <p:nvPr/>
        </p:nvSpPr>
        <p:spPr>
          <a:xfrm>
            <a:off x="950976" y="5596128"/>
            <a:ext cx="9966960" cy="658368"/>
          </a:xfrm>
          <a:prstGeom prst="rect">
            <a:avLst/>
          </a:prstGeom>
          <a:noFill/>
          <a:ln/>
        </p:spPr>
        <p:txBody>
          <a:bodyPr wrap="square" lIns="0" tIns="0" rIns="0" bIns="0" rtlCol="0" anchor="ctr"/>
          <a:lstStyle/>
          <a:p>
            <a:pPr indent="0" marL="0">
              <a:lnSpc>
                <a:spcPts val="1900"/>
              </a:lnSpc>
              <a:buNone/>
            </a:pPr>
            <a:r>
              <a:rPr lang="en-US" sz="1400" i="1" dirty="0">
                <a:solidFill>
                  <a:srgbClr val="241E33"/>
                </a:solidFill>
                <a:latin typeface="Cambria" pitchFamily="34" charset="0"/>
                <a:ea typeface="Cambria" pitchFamily="34" charset="-122"/>
                <a:cs typeface="Cambria" pitchFamily="34" charset="-120"/>
              </a:rPr>
              <a:t>Bizzing’s job is never to hand a family back. Both gaps now have product names against them — but a name is not a build, and until Buzz and Speak exist the family still walks out at four and again at fourteen.</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02336"/>
            <a:ext cx="7315200" cy="256032"/>
          </a:xfrm>
          <a:prstGeom prst="rect">
            <a:avLst/>
          </a:prstGeom>
          <a:noFill/>
          <a:ln/>
        </p:spPr>
        <p:txBody>
          <a:bodyPr wrap="square" lIns="0" tIns="0" rIns="0" bIns="0" rtlCol="0" anchor="ctr"/>
          <a:lstStyle/>
          <a:p>
            <a:pPr indent="0" marL="0">
              <a:buNone/>
            </a:pPr>
            <a:r>
              <a:rPr lang="en-US" sz="1150" b="1" spc="240" kern="0" dirty="0">
                <a:solidFill>
                  <a:srgbClr val="6C4FE0"/>
                </a:solidFill>
                <a:latin typeface="Calibri" pitchFamily="34" charset="0"/>
                <a:ea typeface="Calibri" pitchFamily="34" charset="-122"/>
                <a:cs typeface="Calibri" pitchFamily="34" charset="-120"/>
              </a:rPr>
              <a:t>MONETISATION · YEARS ONE TO FIVE</a:t>
            </a:r>
            <a:endParaRPr lang="en-US" sz="1150" dirty="0"/>
          </a:p>
        </p:txBody>
      </p:sp>
      <p:sp>
        <p:nvSpPr>
          <p:cNvPr id="3" name="Text 1"/>
          <p:cNvSpPr/>
          <p:nvPr/>
        </p:nvSpPr>
        <p:spPr>
          <a:xfrm>
            <a:off x="640080" y="694944"/>
            <a:ext cx="10607040" cy="749808"/>
          </a:xfrm>
          <a:prstGeom prst="rect">
            <a:avLst/>
          </a:prstGeom>
          <a:noFill/>
          <a:ln/>
        </p:spPr>
        <p:txBody>
          <a:bodyPr wrap="square" lIns="0" tIns="0" rIns="0" bIns="0" rtlCol="0" anchor="ctr"/>
          <a:lstStyle/>
          <a:p>
            <a:pPr indent="0" marL="0">
              <a:buNone/>
            </a:pPr>
            <a:r>
              <a:rPr lang="en-US" sz="2900" b="1" dirty="0">
                <a:solidFill>
                  <a:srgbClr val="241E33"/>
                </a:solidFill>
                <a:latin typeface="Cambria" pitchFamily="34" charset="0"/>
                <a:ea typeface="Cambria" pitchFamily="34" charset="-122"/>
                <a:cs typeface="Cambria" pitchFamily="34" charset="-120"/>
              </a:rPr>
              <a:t>How Bizzing earns, and when</a:t>
            </a:r>
            <a:endParaRPr lang="en-US" sz="2900" dirty="0"/>
          </a:p>
        </p:txBody>
      </p:sp>
      <p:sp>
        <p:nvSpPr>
          <p:cNvPr id="4" name="Text 2"/>
          <p:cNvSpPr/>
          <p:nvPr/>
        </p:nvSpPr>
        <p:spPr>
          <a:xfrm>
            <a:off x="640080" y="1444752"/>
            <a:ext cx="10607040" cy="512064"/>
          </a:xfrm>
          <a:prstGeom prst="rect">
            <a:avLst/>
          </a:prstGeom>
          <a:noFill/>
          <a:ln/>
        </p:spPr>
        <p:txBody>
          <a:bodyPr wrap="square" lIns="0" tIns="0" rIns="0" bIns="0" rtlCol="0" anchor="ctr"/>
          <a:lstStyle/>
          <a:p>
            <a:pPr indent="0" marL="0">
              <a:buNone/>
            </a:pPr>
            <a:r>
              <a:rPr lang="en-US" sz="1450" dirty="0">
                <a:solidFill>
                  <a:srgbClr val="7A7291"/>
                </a:solidFill>
                <a:latin typeface="Calibri" pitchFamily="34" charset="0"/>
                <a:ea typeface="Calibri" pitchFamily="34" charset="-122"/>
                <a:cs typeface="Calibri" pitchFamily="34" charset="-120"/>
              </a:rPr>
              <a:t>Six streams. Two of them can start almost immediately because the asset already exists — the books are written and the avatar art is drawn.</a:t>
            </a:r>
            <a:endParaRPr lang="en-US" sz="1450" dirty="0"/>
          </a:p>
        </p:txBody>
      </p:sp>
      <p:sp>
        <p:nvSpPr>
          <p:cNvPr id="5" name="Text 3"/>
          <p:cNvSpPr/>
          <p:nvPr/>
        </p:nvSpPr>
        <p:spPr>
          <a:xfrm>
            <a:off x="4846320" y="1993392"/>
            <a:ext cx="2103120" cy="274320"/>
          </a:xfrm>
          <a:prstGeom prst="rect">
            <a:avLst/>
          </a:prstGeom>
          <a:noFill/>
          <a:ln/>
        </p:spPr>
        <p:txBody>
          <a:bodyPr wrap="square" lIns="0" tIns="0" rIns="0" bIns="0" rtlCol="0" anchor="ctr"/>
          <a:lstStyle/>
          <a:p>
            <a:pPr algn="ctr" indent="0" marL="0">
              <a:buNone/>
            </a:pPr>
            <a:r>
              <a:rPr lang="en-US" sz="1000" b="1" spc="180" kern="0" dirty="0">
                <a:solidFill>
                  <a:srgbClr val="4A31B0"/>
                </a:solidFill>
                <a:latin typeface="Calibri" pitchFamily="34" charset="0"/>
                <a:ea typeface="Calibri" pitchFamily="34" charset="-122"/>
                <a:cs typeface="Calibri" pitchFamily="34" charset="-120"/>
              </a:rPr>
              <a:t>YEAR 1</a:t>
            </a:r>
            <a:endParaRPr lang="en-US" sz="1000" dirty="0"/>
          </a:p>
        </p:txBody>
      </p:sp>
      <p:sp>
        <p:nvSpPr>
          <p:cNvPr id="6" name="Text 4"/>
          <p:cNvSpPr/>
          <p:nvPr/>
        </p:nvSpPr>
        <p:spPr>
          <a:xfrm>
            <a:off x="7132320" y="1993392"/>
            <a:ext cx="2103120" cy="274320"/>
          </a:xfrm>
          <a:prstGeom prst="rect">
            <a:avLst/>
          </a:prstGeom>
          <a:noFill/>
          <a:ln/>
        </p:spPr>
        <p:txBody>
          <a:bodyPr wrap="square" lIns="0" tIns="0" rIns="0" bIns="0" rtlCol="0" anchor="ctr"/>
          <a:lstStyle/>
          <a:p>
            <a:pPr algn="ctr" indent="0" marL="0">
              <a:buNone/>
            </a:pPr>
            <a:r>
              <a:rPr lang="en-US" sz="1000" b="1" spc="180" kern="0" dirty="0">
                <a:solidFill>
                  <a:srgbClr val="4A31B0"/>
                </a:solidFill>
                <a:latin typeface="Calibri" pitchFamily="34" charset="0"/>
                <a:ea typeface="Calibri" pitchFamily="34" charset="-122"/>
                <a:cs typeface="Calibri" pitchFamily="34" charset="-120"/>
              </a:rPr>
              <a:t>YEARS 2–3</a:t>
            </a:r>
            <a:endParaRPr lang="en-US" sz="1000" dirty="0"/>
          </a:p>
        </p:txBody>
      </p:sp>
      <p:sp>
        <p:nvSpPr>
          <p:cNvPr id="7" name="Text 5"/>
          <p:cNvSpPr/>
          <p:nvPr/>
        </p:nvSpPr>
        <p:spPr>
          <a:xfrm>
            <a:off x="9418320" y="1993392"/>
            <a:ext cx="2103120" cy="274320"/>
          </a:xfrm>
          <a:prstGeom prst="rect">
            <a:avLst/>
          </a:prstGeom>
          <a:noFill/>
          <a:ln/>
        </p:spPr>
        <p:txBody>
          <a:bodyPr wrap="square" lIns="0" tIns="0" rIns="0" bIns="0" rtlCol="0" anchor="ctr"/>
          <a:lstStyle/>
          <a:p>
            <a:pPr algn="ctr" indent="0" marL="0">
              <a:buNone/>
            </a:pPr>
            <a:r>
              <a:rPr lang="en-US" sz="1000" b="1" spc="180" kern="0" dirty="0">
                <a:solidFill>
                  <a:srgbClr val="4A31B0"/>
                </a:solidFill>
                <a:latin typeface="Calibri" pitchFamily="34" charset="0"/>
                <a:ea typeface="Calibri" pitchFamily="34" charset="-122"/>
                <a:cs typeface="Calibri" pitchFamily="34" charset="-120"/>
              </a:rPr>
              <a:t>YEARS 4–5</a:t>
            </a:r>
            <a:endParaRPr lang="en-US" sz="1000" dirty="0"/>
          </a:p>
        </p:txBody>
      </p:sp>
      <p:sp>
        <p:nvSpPr>
          <p:cNvPr id="8" name="Shape 6"/>
          <p:cNvSpPr/>
          <p:nvPr/>
        </p:nvSpPr>
        <p:spPr>
          <a:xfrm>
            <a:off x="512064" y="2286000"/>
            <a:ext cx="10991088" cy="576072"/>
          </a:xfrm>
          <a:prstGeom prst="roundRect">
            <a:avLst>
              <a:gd name="adj" fmla="val 15873"/>
            </a:avLst>
          </a:prstGeom>
          <a:solidFill>
            <a:srgbClr val="EFEBF8"/>
          </a:solidFill>
          <a:ln/>
        </p:spPr>
      </p:sp>
      <p:sp>
        <p:nvSpPr>
          <p:cNvPr id="9" name="Text 7"/>
          <p:cNvSpPr/>
          <p:nvPr/>
        </p:nvSpPr>
        <p:spPr>
          <a:xfrm>
            <a:off x="640080" y="2322576"/>
            <a:ext cx="4160520" cy="256032"/>
          </a:xfrm>
          <a:prstGeom prst="rect">
            <a:avLst/>
          </a:prstGeom>
          <a:noFill/>
          <a:ln/>
        </p:spPr>
        <p:txBody>
          <a:bodyPr wrap="square" lIns="0" tIns="0" rIns="0" bIns="0" rtlCol="0" anchor="ctr"/>
          <a:lstStyle/>
          <a:p>
            <a:pPr indent="0" marL="0">
              <a:buNone/>
            </a:pPr>
            <a:r>
              <a:rPr lang="en-US" sz="1350" b="1" dirty="0">
                <a:solidFill>
                  <a:srgbClr val="241E33"/>
                </a:solidFill>
                <a:latin typeface="Cambria" pitchFamily="34" charset="0"/>
                <a:ea typeface="Cambria" pitchFamily="34" charset="-122"/>
                <a:cs typeface="Cambria" pitchFamily="34" charset="-120"/>
              </a:rPr>
              <a:t>Subscription &amp; packs</a:t>
            </a:r>
            <a:endParaRPr lang="en-US" sz="1350" dirty="0"/>
          </a:p>
        </p:txBody>
      </p:sp>
      <p:sp>
        <p:nvSpPr>
          <p:cNvPr id="10" name="Text 8"/>
          <p:cNvSpPr/>
          <p:nvPr/>
        </p:nvSpPr>
        <p:spPr>
          <a:xfrm>
            <a:off x="640080" y="2569464"/>
            <a:ext cx="4160520" cy="329184"/>
          </a:xfrm>
          <a:prstGeom prst="rect">
            <a:avLst/>
          </a:prstGeom>
          <a:noFill/>
          <a:ln/>
        </p:spPr>
        <p:txBody>
          <a:bodyPr wrap="square" lIns="0" tIns="0" rIns="0" bIns="0" rtlCol="0" anchor="ctr"/>
          <a:lstStyle/>
          <a:p>
            <a:pPr indent="0" marL="0">
              <a:lnSpc>
                <a:spcPts val="1150"/>
              </a:lnSpc>
              <a:buNone/>
            </a:pPr>
            <a:r>
              <a:rPr lang="en-US" sz="950" dirty="0">
                <a:solidFill>
                  <a:srgbClr val="4A4360"/>
                </a:solidFill>
                <a:latin typeface="Calibri" pitchFamily="34" charset="0"/>
                <a:ea typeface="Calibri" pitchFamily="34" charset="-122"/>
                <a:cs typeface="Calibri" pitchFamily="34" charset="-120"/>
              </a:rPr>
              <a:t>Advanced, Bhasha, Eleven. The compounding line — everything else is a supplement to it.</a:t>
            </a:r>
            <a:endParaRPr lang="en-US" sz="950" dirty="0"/>
          </a:p>
        </p:txBody>
      </p:sp>
      <p:sp>
        <p:nvSpPr>
          <p:cNvPr id="11" name="Shape 9"/>
          <p:cNvSpPr/>
          <p:nvPr/>
        </p:nvSpPr>
        <p:spPr>
          <a:xfrm>
            <a:off x="5257800" y="2441448"/>
            <a:ext cx="1280160" cy="274320"/>
          </a:xfrm>
          <a:prstGeom prst="roundRect">
            <a:avLst>
              <a:gd name="adj" fmla="val 50000"/>
            </a:avLst>
          </a:prstGeom>
          <a:solidFill>
            <a:srgbClr val="178A4C"/>
          </a:solidFill>
          <a:ln/>
        </p:spPr>
      </p:sp>
      <p:sp>
        <p:nvSpPr>
          <p:cNvPr id="12" name="Text 10"/>
          <p:cNvSpPr/>
          <p:nvPr/>
        </p:nvSpPr>
        <p:spPr>
          <a:xfrm>
            <a:off x="5257800" y="2441448"/>
            <a:ext cx="128016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LAUNCH</a:t>
            </a:r>
            <a:endParaRPr lang="en-US" sz="800" dirty="0"/>
          </a:p>
        </p:txBody>
      </p:sp>
      <p:sp>
        <p:nvSpPr>
          <p:cNvPr id="13" name="Shape 11"/>
          <p:cNvSpPr/>
          <p:nvPr/>
        </p:nvSpPr>
        <p:spPr>
          <a:xfrm>
            <a:off x="7543800" y="2441448"/>
            <a:ext cx="1280160" cy="274320"/>
          </a:xfrm>
          <a:prstGeom prst="roundRect">
            <a:avLst>
              <a:gd name="adj" fmla="val 50000"/>
            </a:avLst>
          </a:prstGeom>
          <a:solidFill>
            <a:srgbClr val="6C4FE0"/>
          </a:solidFill>
          <a:ln/>
        </p:spPr>
      </p:sp>
      <p:sp>
        <p:nvSpPr>
          <p:cNvPr id="14" name="Text 12"/>
          <p:cNvSpPr/>
          <p:nvPr/>
        </p:nvSpPr>
        <p:spPr>
          <a:xfrm>
            <a:off x="7543800" y="2441448"/>
            <a:ext cx="128016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GROW</a:t>
            </a:r>
            <a:endParaRPr lang="en-US" sz="800" dirty="0"/>
          </a:p>
        </p:txBody>
      </p:sp>
      <p:sp>
        <p:nvSpPr>
          <p:cNvPr id="15" name="Shape 13"/>
          <p:cNvSpPr/>
          <p:nvPr/>
        </p:nvSpPr>
        <p:spPr>
          <a:xfrm>
            <a:off x="9829800" y="2441448"/>
            <a:ext cx="1280160" cy="274320"/>
          </a:xfrm>
          <a:prstGeom prst="roundRect">
            <a:avLst>
              <a:gd name="adj" fmla="val 50000"/>
            </a:avLst>
          </a:prstGeom>
          <a:solidFill>
            <a:srgbClr val="F0B429"/>
          </a:solidFill>
          <a:ln/>
        </p:spPr>
      </p:sp>
      <p:sp>
        <p:nvSpPr>
          <p:cNvPr id="16" name="Text 14"/>
          <p:cNvSpPr/>
          <p:nvPr/>
        </p:nvSpPr>
        <p:spPr>
          <a:xfrm>
            <a:off x="9829800" y="2441448"/>
            <a:ext cx="1280160" cy="274320"/>
          </a:xfrm>
          <a:prstGeom prst="rect">
            <a:avLst/>
          </a:prstGeom>
          <a:noFill/>
          <a:ln/>
        </p:spPr>
        <p:txBody>
          <a:bodyPr wrap="square" lIns="0" tIns="0" rIns="0" bIns="0" rtlCol="0" anchor="ctr"/>
          <a:lstStyle/>
          <a:p>
            <a:pPr algn="ctr" indent="0" marL="0">
              <a:buNone/>
            </a:pPr>
            <a:r>
              <a:rPr lang="en-US" sz="800" b="1" dirty="0">
                <a:solidFill>
                  <a:srgbClr val="241E33"/>
                </a:solidFill>
                <a:latin typeface="Calibri" pitchFamily="34" charset="0"/>
                <a:ea typeface="Calibri" pitchFamily="34" charset="-122"/>
                <a:cs typeface="Calibri" pitchFamily="34" charset="-120"/>
              </a:rPr>
              <a:t>SCALE</a:t>
            </a:r>
            <a:endParaRPr lang="en-US" sz="800" dirty="0"/>
          </a:p>
        </p:txBody>
      </p:sp>
      <p:sp>
        <p:nvSpPr>
          <p:cNvPr id="17" name="Text 15"/>
          <p:cNvSpPr/>
          <p:nvPr/>
        </p:nvSpPr>
        <p:spPr>
          <a:xfrm>
            <a:off x="640080" y="2953512"/>
            <a:ext cx="4160520" cy="256032"/>
          </a:xfrm>
          <a:prstGeom prst="rect">
            <a:avLst/>
          </a:prstGeom>
          <a:noFill/>
          <a:ln/>
        </p:spPr>
        <p:txBody>
          <a:bodyPr wrap="square" lIns="0" tIns="0" rIns="0" bIns="0" rtlCol="0" anchor="ctr"/>
          <a:lstStyle/>
          <a:p>
            <a:pPr indent="0" marL="0">
              <a:buNone/>
            </a:pPr>
            <a:r>
              <a:rPr lang="en-US" sz="1350" b="1" dirty="0">
                <a:solidFill>
                  <a:srgbClr val="241E33"/>
                </a:solidFill>
                <a:latin typeface="Cambria" pitchFamily="34" charset="0"/>
                <a:ea typeface="Cambria" pitchFamily="34" charset="-122"/>
                <a:cs typeface="Cambria" pitchFamily="34" charset="-120"/>
              </a:rPr>
              <a:t>Books</a:t>
            </a:r>
            <a:endParaRPr lang="en-US" sz="1350" dirty="0"/>
          </a:p>
        </p:txBody>
      </p:sp>
      <p:sp>
        <p:nvSpPr>
          <p:cNvPr id="18" name="Text 16"/>
          <p:cNvSpPr/>
          <p:nvPr/>
        </p:nvSpPr>
        <p:spPr>
          <a:xfrm>
            <a:off x="640080" y="3200400"/>
            <a:ext cx="4160520" cy="329184"/>
          </a:xfrm>
          <a:prstGeom prst="rect">
            <a:avLst/>
          </a:prstGeom>
          <a:noFill/>
          <a:ln/>
        </p:spPr>
        <p:txBody>
          <a:bodyPr wrap="square" lIns="0" tIns="0" rIns="0" bIns="0" rtlCol="0" anchor="ctr"/>
          <a:lstStyle/>
          <a:p>
            <a:pPr indent="0" marL="0">
              <a:lnSpc>
                <a:spcPts val="1150"/>
              </a:lnSpc>
              <a:buNone/>
            </a:pPr>
            <a:r>
              <a:rPr lang="en-US" sz="950" dirty="0">
                <a:solidFill>
                  <a:srgbClr val="4A4360"/>
                </a:solidFill>
                <a:latin typeface="Calibri" pitchFamily="34" charset="0"/>
                <a:ea typeface="Calibri" pitchFamily="34" charset="-122"/>
                <a:cs typeface="Calibri" pitchFamily="34" charset="-120"/>
              </a:rPr>
              <a:t>23 volumes and 1,700 pages already generated. Print-on-demand and ebook carry no inventory risk.</a:t>
            </a:r>
            <a:endParaRPr lang="en-US" sz="950" dirty="0"/>
          </a:p>
        </p:txBody>
      </p:sp>
      <p:sp>
        <p:nvSpPr>
          <p:cNvPr id="19" name="Shape 17"/>
          <p:cNvSpPr/>
          <p:nvPr/>
        </p:nvSpPr>
        <p:spPr>
          <a:xfrm>
            <a:off x="5257800" y="3072384"/>
            <a:ext cx="1280160" cy="274320"/>
          </a:xfrm>
          <a:prstGeom prst="roundRect">
            <a:avLst>
              <a:gd name="adj" fmla="val 50000"/>
            </a:avLst>
          </a:prstGeom>
          <a:solidFill>
            <a:srgbClr val="178A4C"/>
          </a:solidFill>
          <a:ln/>
        </p:spPr>
      </p:sp>
      <p:sp>
        <p:nvSpPr>
          <p:cNvPr id="20" name="Text 18"/>
          <p:cNvSpPr/>
          <p:nvPr/>
        </p:nvSpPr>
        <p:spPr>
          <a:xfrm>
            <a:off x="5257800" y="3072384"/>
            <a:ext cx="128016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LAUNCH</a:t>
            </a:r>
            <a:endParaRPr lang="en-US" sz="800" dirty="0"/>
          </a:p>
        </p:txBody>
      </p:sp>
      <p:sp>
        <p:nvSpPr>
          <p:cNvPr id="21" name="Shape 19"/>
          <p:cNvSpPr/>
          <p:nvPr/>
        </p:nvSpPr>
        <p:spPr>
          <a:xfrm>
            <a:off x="7543800" y="3072384"/>
            <a:ext cx="1280160" cy="274320"/>
          </a:xfrm>
          <a:prstGeom prst="roundRect">
            <a:avLst>
              <a:gd name="adj" fmla="val 50000"/>
            </a:avLst>
          </a:prstGeom>
          <a:solidFill>
            <a:srgbClr val="6C4FE0"/>
          </a:solidFill>
          <a:ln/>
        </p:spPr>
      </p:sp>
      <p:sp>
        <p:nvSpPr>
          <p:cNvPr id="22" name="Text 20"/>
          <p:cNvSpPr/>
          <p:nvPr/>
        </p:nvSpPr>
        <p:spPr>
          <a:xfrm>
            <a:off x="7543800" y="3072384"/>
            <a:ext cx="128016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GROW</a:t>
            </a:r>
            <a:endParaRPr lang="en-US" sz="800" dirty="0"/>
          </a:p>
        </p:txBody>
      </p:sp>
      <p:sp>
        <p:nvSpPr>
          <p:cNvPr id="23" name="Shape 21"/>
          <p:cNvSpPr/>
          <p:nvPr/>
        </p:nvSpPr>
        <p:spPr>
          <a:xfrm>
            <a:off x="9829800" y="3072384"/>
            <a:ext cx="1280160" cy="274320"/>
          </a:xfrm>
          <a:prstGeom prst="roundRect">
            <a:avLst>
              <a:gd name="adj" fmla="val 50000"/>
            </a:avLst>
          </a:prstGeom>
          <a:solidFill>
            <a:srgbClr val="F0B429"/>
          </a:solidFill>
          <a:ln/>
        </p:spPr>
      </p:sp>
      <p:sp>
        <p:nvSpPr>
          <p:cNvPr id="24" name="Text 22"/>
          <p:cNvSpPr/>
          <p:nvPr/>
        </p:nvSpPr>
        <p:spPr>
          <a:xfrm>
            <a:off x="9829800" y="3072384"/>
            <a:ext cx="1280160" cy="274320"/>
          </a:xfrm>
          <a:prstGeom prst="rect">
            <a:avLst/>
          </a:prstGeom>
          <a:noFill/>
          <a:ln/>
        </p:spPr>
        <p:txBody>
          <a:bodyPr wrap="square" lIns="0" tIns="0" rIns="0" bIns="0" rtlCol="0" anchor="ctr"/>
          <a:lstStyle/>
          <a:p>
            <a:pPr algn="ctr" indent="0" marL="0">
              <a:buNone/>
            </a:pPr>
            <a:r>
              <a:rPr lang="en-US" sz="800" b="1" dirty="0">
                <a:solidFill>
                  <a:srgbClr val="241E33"/>
                </a:solidFill>
                <a:latin typeface="Calibri" pitchFamily="34" charset="0"/>
                <a:ea typeface="Calibri" pitchFamily="34" charset="-122"/>
                <a:cs typeface="Calibri" pitchFamily="34" charset="-120"/>
              </a:rPr>
              <a:t>SCALE</a:t>
            </a:r>
            <a:endParaRPr lang="en-US" sz="800" dirty="0"/>
          </a:p>
        </p:txBody>
      </p:sp>
      <p:sp>
        <p:nvSpPr>
          <p:cNvPr id="25" name="Shape 23"/>
          <p:cNvSpPr/>
          <p:nvPr/>
        </p:nvSpPr>
        <p:spPr>
          <a:xfrm>
            <a:off x="512064" y="3547872"/>
            <a:ext cx="10991088" cy="576072"/>
          </a:xfrm>
          <a:prstGeom prst="roundRect">
            <a:avLst>
              <a:gd name="adj" fmla="val 15873"/>
            </a:avLst>
          </a:prstGeom>
          <a:solidFill>
            <a:srgbClr val="EFEBF8"/>
          </a:solidFill>
          <a:ln/>
        </p:spPr>
      </p:sp>
      <p:sp>
        <p:nvSpPr>
          <p:cNvPr id="26" name="Text 24"/>
          <p:cNvSpPr/>
          <p:nvPr/>
        </p:nvSpPr>
        <p:spPr>
          <a:xfrm>
            <a:off x="640080" y="3584448"/>
            <a:ext cx="4160520" cy="256032"/>
          </a:xfrm>
          <a:prstGeom prst="rect">
            <a:avLst/>
          </a:prstGeom>
          <a:noFill/>
          <a:ln/>
        </p:spPr>
        <p:txBody>
          <a:bodyPr wrap="square" lIns="0" tIns="0" rIns="0" bIns="0" rtlCol="0" anchor="ctr"/>
          <a:lstStyle/>
          <a:p>
            <a:pPr indent="0" marL="0">
              <a:buNone/>
            </a:pPr>
            <a:r>
              <a:rPr lang="en-US" sz="1350" b="1" dirty="0">
                <a:solidFill>
                  <a:srgbClr val="241E33"/>
                </a:solidFill>
                <a:latin typeface="Cambria" pitchFamily="34" charset="0"/>
                <a:ea typeface="Cambria" pitchFamily="34" charset="-122"/>
                <a:cs typeface="Cambria" pitchFamily="34" charset="-120"/>
              </a:rPr>
              <a:t>Playable avatar cards</a:t>
            </a:r>
            <a:endParaRPr lang="en-US" sz="1350" dirty="0"/>
          </a:p>
        </p:txBody>
      </p:sp>
      <p:sp>
        <p:nvSpPr>
          <p:cNvPr id="27" name="Text 25"/>
          <p:cNvSpPr/>
          <p:nvPr/>
        </p:nvSpPr>
        <p:spPr>
          <a:xfrm>
            <a:off x="640080" y="3831336"/>
            <a:ext cx="4160520" cy="329184"/>
          </a:xfrm>
          <a:prstGeom prst="rect">
            <a:avLst/>
          </a:prstGeom>
          <a:noFill/>
          <a:ln/>
        </p:spPr>
        <p:txBody>
          <a:bodyPr wrap="square" lIns="0" tIns="0" rIns="0" bIns="0" rtlCol="0" anchor="ctr"/>
          <a:lstStyle/>
          <a:p>
            <a:pPr indent="0" marL="0">
              <a:lnSpc>
                <a:spcPts val="1150"/>
              </a:lnSpc>
              <a:buNone/>
            </a:pPr>
            <a:r>
              <a:rPr lang="en-US" sz="950" dirty="0">
                <a:solidFill>
                  <a:srgbClr val="4A4360"/>
                </a:solidFill>
                <a:latin typeface="Calibri" pitchFamily="34" charset="0"/>
                <a:ea typeface="Calibri" pitchFamily="34" charset="-122"/>
                <a:cs typeface="Calibri" pitchFamily="34" charset="-120"/>
              </a:rPr>
              <a:t>The trump-card deck already exists in-app, and every card carries a real word fact. A physical product that still teaches.</a:t>
            </a:r>
            <a:endParaRPr lang="en-US" sz="950" dirty="0"/>
          </a:p>
        </p:txBody>
      </p:sp>
      <p:sp>
        <p:nvSpPr>
          <p:cNvPr id="28" name="Shape 26"/>
          <p:cNvSpPr/>
          <p:nvPr/>
        </p:nvSpPr>
        <p:spPr>
          <a:xfrm>
            <a:off x="7543800" y="3703320"/>
            <a:ext cx="1280160" cy="274320"/>
          </a:xfrm>
          <a:prstGeom prst="roundRect">
            <a:avLst>
              <a:gd name="adj" fmla="val 50000"/>
            </a:avLst>
          </a:prstGeom>
          <a:solidFill>
            <a:srgbClr val="178A4C"/>
          </a:solidFill>
          <a:ln/>
        </p:spPr>
      </p:sp>
      <p:sp>
        <p:nvSpPr>
          <p:cNvPr id="29" name="Text 27"/>
          <p:cNvSpPr/>
          <p:nvPr/>
        </p:nvSpPr>
        <p:spPr>
          <a:xfrm>
            <a:off x="7543800" y="3703320"/>
            <a:ext cx="128016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LAUNCH</a:t>
            </a:r>
            <a:endParaRPr lang="en-US" sz="800" dirty="0"/>
          </a:p>
        </p:txBody>
      </p:sp>
      <p:sp>
        <p:nvSpPr>
          <p:cNvPr id="30" name="Shape 28"/>
          <p:cNvSpPr/>
          <p:nvPr/>
        </p:nvSpPr>
        <p:spPr>
          <a:xfrm>
            <a:off x="9829800" y="3703320"/>
            <a:ext cx="1280160" cy="274320"/>
          </a:xfrm>
          <a:prstGeom prst="roundRect">
            <a:avLst>
              <a:gd name="adj" fmla="val 50000"/>
            </a:avLst>
          </a:prstGeom>
          <a:solidFill>
            <a:srgbClr val="6C4FE0"/>
          </a:solidFill>
          <a:ln/>
        </p:spPr>
      </p:sp>
      <p:sp>
        <p:nvSpPr>
          <p:cNvPr id="31" name="Text 29"/>
          <p:cNvSpPr/>
          <p:nvPr/>
        </p:nvSpPr>
        <p:spPr>
          <a:xfrm>
            <a:off x="9829800" y="3703320"/>
            <a:ext cx="128016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GROW</a:t>
            </a:r>
            <a:endParaRPr lang="en-US" sz="800" dirty="0"/>
          </a:p>
        </p:txBody>
      </p:sp>
      <p:sp>
        <p:nvSpPr>
          <p:cNvPr id="32" name="Text 30"/>
          <p:cNvSpPr/>
          <p:nvPr/>
        </p:nvSpPr>
        <p:spPr>
          <a:xfrm>
            <a:off x="640080" y="4215384"/>
            <a:ext cx="4160520" cy="256032"/>
          </a:xfrm>
          <a:prstGeom prst="rect">
            <a:avLst/>
          </a:prstGeom>
          <a:noFill/>
          <a:ln/>
        </p:spPr>
        <p:txBody>
          <a:bodyPr wrap="square" lIns="0" tIns="0" rIns="0" bIns="0" rtlCol="0" anchor="ctr"/>
          <a:lstStyle/>
          <a:p>
            <a:pPr indent="0" marL="0">
              <a:buNone/>
            </a:pPr>
            <a:r>
              <a:rPr lang="en-US" sz="1350" b="1" dirty="0">
                <a:solidFill>
                  <a:srgbClr val="241E33"/>
                </a:solidFill>
                <a:latin typeface="Cambria" pitchFamily="34" charset="0"/>
                <a:ea typeface="Cambria" pitchFamily="34" charset="-122"/>
                <a:cs typeface="Cambria" pitchFamily="34" charset="-120"/>
              </a:rPr>
              <a:t>Plushies, tees, goodies</a:t>
            </a:r>
            <a:endParaRPr lang="en-US" sz="1350" dirty="0"/>
          </a:p>
        </p:txBody>
      </p:sp>
      <p:sp>
        <p:nvSpPr>
          <p:cNvPr id="33" name="Text 31"/>
          <p:cNvSpPr/>
          <p:nvPr/>
        </p:nvSpPr>
        <p:spPr>
          <a:xfrm>
            <a:off x="640080" y="4462272"/>
            <a:ext cx="4160520" cy="329184"/>
          </a:xfrm>
          <a:prstGeom prst="rect">
            <a:avLst/>
          </a:prstGeom>
          <a:noFill/>
          <a:ln/>
        </p:spPr>
        <p:txBody>
          <a:bodyPr wrap="square" lIns="0" tIns="0" rIns="0" bIns="0" rtlCol="0" anchor="ctr"/>
          <a:lstStyle/>
          <a:p>
            <a:pPr indent="0" marL="0">
              <a:lnSpc>
                <a:spcPts val="1150"/>
              </a:lnSpc>
              <a:buNone/>
            </a:pPr>
            <a:r>
              <a:rPr lang="en-US" sz="950" dirty="0">
                <a:solidFill>
                  <a:srgbClr val="4A4360"/>
                </a:solidFill>
                <a:latin typeface="Calibri" pitchFamily="34" charset="0"/>
                <a:ea typeface="Calibri" pitchFamily="34" charset="-122"/>
                <a:cs typeface="Calibri" pitchFamily="34" charset="-120"/>
              </a:rPr>
              <a:t>Bizzy and the champion avatars. Print-on-demand first; stock only what has already sold.</a:t>
            </a:r>
            <a:endParaRPr lang="en-US" sz="950" dirty="0"/>
          </a:p>
        </p:txBody>
      </p:sp>
      <p:sp>
        <p:nvSpPr>
          <p:cNvPr id="34" name="Shape 32"/>
          <p:cNvSpPr/>
          <p:nvPr/>
        </p:nvSpPr>
        <p:spPr>
          <a:xfrm>
            <a:off x="7543800" y="4334256"/>
            <a:ext cx="1280160" cy="274320"/>
          </a:xfrm>
          <a:prstGeom prst="roundRect">
            <a:avLst>
              <a:gd name="adj" fmla="val 50000"/>
            </a:avLst>
          </a:prstGeom>
          <a:solidFill>
            <a:srgbClr val="178A4C"/>
          </a:solidFill>
          <a:ln/>
        </p:spPr>
      </p:sp>
      <p:sp>
        <p:nvSpPr>
          <p:cNvPr id="35" name="Text 33"/>
          <p:cNvSpPr/>
          <p:nvPr/>
        </p:nvSpPr>
        <p:spPr>
          <a:xfrm>
            <a:off x="7543800" y="4334256"/>
            <a:ext cx="128016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LAUNCH</a:t>
            </a:r>
            <a:endParaRPr lang="en-US" sz="800" dirty="0"/>
          </a:p>
        </p:txBody>
      </p:sp>
      <p:sp>
        <p:nvSpPr>
          <p:cNvPr id="36" name="Shape 34"/>
          <p:cNvSpPr/>
          <p:nvPr/>
        </p:nvSpPr>
        <p:spPr>
          <a:xfrm>
            <a:off x="9829800" y="4334256"/>
            <a:ext cx="1280160" cy="274320"/>
          </a:xfrm>
          <a:prstGeom prst="roundRect">
            <a:avLst>
              <a:gd name="adj" fmla="val 50000"/>
            </a:avLst>
          </a:prstGeom>
          <a:solidFill>
            <a:srgbClr val="6C4FE0"/>
          </a:solidFill>
          <a:ln/>
        </p:spPr>
      </p:sp>
      <p:sp>
        <p:nvSpPr>
          <p:cNvPr id="37" name="Text 35"/>
          <p:cNvSpPr/>
          <p:nvPr/>
        </p:nvSpPr>
        <p:spPr>
          <a:xfrm>
            <a:off x="9829800" y="4334256"/>
            <a:ext cx="128016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GROW</a:t>
            </a:r>
            <a:endParaRPr lang="en-US" sz="800" dirty="0"/>
          </a:p>
        </p:txBody>
      </p:sp>
      <p:sp>
        <p:nvSpPr>
          <p:cNvPr id="38" name="Shape 36"/>
          <p:cNvSpPr/>
          <p:nvPr/>
        </p:nvSpPr>
        <p:spPr>
          <a:xfrm>
            <a:off x="512064" y="4809744"/>
            <a:ext cx="10991088" cy="576072"/>
          </a:xfrm>
          <a:prstGeom prst="roundRect">
            <a:avLst>
              <a:gd name="adj" fmla="val 15873"/>
            </a:avLst>
          </a:prstGeom>
          <a:solidFill>
            <a:srgbClr val="EFEBF8"/>
          </a:solidFill>
          <a:ln/>
        </p:spPr>
      </p:sp>
      <p:sp>
        <p:nvSpPr>
          <p:cNvPr id="39" name="Text 37"/>
          <p:cNvSpPr/>
          <p:nvPr/>
        </p:nvSpPr>
        <p:spPr>
          <a:xfrm>
            <a:off x="640080" y="4846320"/>
            <a:ext cx="4160520" cy="256032"/>
          </a:xfrm>
          <a:prstGeom prst="rect">
            <a:avLst/>
          </a:prstGeom>
          <a:noFill/>
          <a:ln/>
        </p:spPr>
        <p:txBody>
          <a:bodyPr wrap="square" lIns="0" tIns="0" rIns="0" bIns="0" rtlCol="0" anchor="ctr"/>
          <a:lstStyle/>
          <a:p>
            <a:pPr indent="0" marL="0">
              <a:buNone/>
            </a:pPr>
            <a:r>
              <a:rPr lang="en-US" sz="1350" b="1" dirty="0">
                <a:solidFill>
                  <a:srgbClr val="241E33"/>
                </a:solidFill>
                <a:latin typeface="Cambria" pitchFamily="34" charset="0"/>
                <a:ea typeface="Cambria" pitchFamily="34" charset="-122"/>
                <a:cs typeface="Cambria" pitchFamily="34" charset="-120"/>
              </a:rPr>
              <a:t>YouTube</a:t>
            </a:r>
            <a:endParaRPr lang="en-US" sz="1350" dirty="0"/>
          </a:p>
        </p:txBody>
      </p:sp>
      <p:sp>
        <p:nvSpPr>
          <p:cNvPr id="40" name="Text 38"/>
          <p:cNvSpPr/>
          <p:nvPr/>
        </p:nvSpPr>
        <p:spPr>
          <a:xfrm>
            <a:off x="640080" y="5093208"/>
            <a:ext cx="4160520" cy="329184"/>
          </a:xfrm>
          <a:prstGeom prst="rect">
            <a:avLst/>
          </a:prstGeom>
          <a:noFill/>
          <a:ln/>
        </p:spPr>
        <p:txBody>
          <a:bodyPr wrap="square" lIns="0" tIns="0" rIns="0" bIns="0" rtlCol="0" anchor="ctr"/>
          <a:lstStyle/>
          <a:p>
            <a:pPr indent="0" marL="0">
              <a:lnSpc>
                <a:spcPts val="1150"/>
              </a:lnSpc>
              <a:buNone/>
            </a:pPr>
            <a:r>
              <a:rPr lang="en-US" sz="950" dirty="0">
                <a:solidFill>
                  <a:srgbClr val="4A4360"/>
                </a:solidFill>
                <a:latin typeface="Calibri" pitchFamily="34" charset="0"/>
                <a:ea typeface="Calibri" pitchFamily="34" charset="-122"/>
                <a:cs typeface="Calibri" pitchFamily="34" charset="-120"/>
              </a:rPr>
              <a:t>Ad revenue and sponsorship. Worth having, but its real return is acquisition — count it as marketing that pays for itself.</a:t>
            </a:r>
            <a:endParaRPr lang="en-US" sz="950" dirty="0"/>
          </a:p>
        </p:txBody>
      </p:sp>
      <p:sp>
        <p:nvSpPr>
          <p:cNvPr id="41" name="Shape 39"/>
          <p:cNvSpPr/>
          <p:nvPr/>
        </p:nvSpPr>
        <p:spPr>
          <a:xfrm>
            <a:off x="7543800" y="4965192"/>
            <a:ext cx="1280160" cy="274320"/>
          </a:xfrm>
          <a:prstGeom prst="roundRect">
            <a:avLst>
              <a:gd name="adj" fmla="val 50000"/>
            </a:avLst>
          </a:prstGeom>
          <a:solidFill>
            <a:srgbClr val="6C4FE0"/>
          </a:solidFill>
          <a:ln/>
        </p:spPr>
      </p:sp>
      <p:sp>
        <p:nvSpPr>
          <p:cNvPr id="42" name="Text 40"/>
          <p:cNvSpPr/>
          <p:nvPr/>
        </p:nvSpPr>
        <p:spPr>
          <a:xfrm>
            <a:off x="7543800" y="4965192"/>
            <a:ext cx="128016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GROW</a:t>
            </a:r>
            <a:endParaRPr lang="en-US" sz="800" dirty="0"/>
          </a:p>
        </p:txBody>
      </p:sp>
      <p:sp>
        <p:nvSpPr>
          <p:cNvPr id="43" name="Shape 41"/>
          <p:cNvSpPr/>
          <p:nvPr/>
        </p:nvSpPr>
        <p:spPr>
          <a:xfrm>
            <a:off x="9829800" y="4965192"/>
            <a:ext cx="1280160" cy="274320"/>
          </a:xfrm>
          <a:prstGeom prst="roundRect">
            <a:avLst>
              <a:gd name="adj" fmla="val 50000"/>
            </a:avLst>
          </a:prstGeom>
          <a:solidFill>
            <a:srgbClr val="6C4FE0"/>
          </a:solidFill>
          <a:ln/>
        </p:spPr>
      </p:sp>
      <p:sp>
        <p:nvSpPr>
          <p:cNvPr id="44" name="Text 42"/>
          <p:cNvSpPr/>
          <p:nvPr/>
        </p:nvSpPr>
        <p:spPr>
          <a:xfrm>
            <a:off x="9829800" y="4965192"/>
            <a:ext cx="128016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GROW</a:t>
            </a:r>
            <a:endParaRPr lang="en-US" sz="800" dirty="0"/>
          </a:p>
        </p:txBody>
      </p:sp>
      <p:sp>
        <p:nvSpPr>
          <p:cNvPr id="45" name="Text 43"/>
          <p:cNvSpPr/>
          <p:nvPr/>
        </p:nvSpPr>
        <p:spPr>
          <a:xfrm>
            <a:off x="640080" y="5477256"/>
            <a:ext cx="4160520" cy="256032"/>
          </a:xfrm>
          <a:prstGeom prst="rect">
            <a:avLst/>
          </a:prstGeom>
          <a:noFill/>
          <a:ln/>
        </p:spPr>
        <p:txBody>
          <a:bodyPr wrap="square" lIns="0" tIns="0" rIns="0" bIns="0" rtlCol="0" anchor="ctr"/>
          <a:lstStyle/>
          <a:p>
            <a:pPr indent="0" marL="0">
              <a:buNone/>
            </a:pPr>
            <a:r>
              <a:rPr lang="en-US" sz="1350" b="1" dirty="0">
                <a:solidFill>
                  <a:srgbClr val="241E33"/>
                </a:solidFill>
                <a:latin typeface="Cambria" pitchFamily="34" charset="0"/>
                <a:ea typeface="Cambria" pitchFamily="34" charset="-122"/>
                <a:cs typeface="Cambria" pitchFamily="34" charset="-120"/>
              </a:rPr>
              <a:t>Live training</a:t>
            </a:r>
            <a:endParaRPr lang="en-US" sz="1350" dirty="0"/>
          </a:p>
        </p:txBody>
      </p:sp>
      <p:sp>
        <p:nvSpPr>
          <p:cNvPr id="46" name="Text 44"/>
          <p:cNvSpPr/>
          <p:nvPr/>
        </p:nvSpPr>
        <p:spPr>
          <a:xfrm>
            <a:off x="640080" y="5724144"/>
            <a:ext cx="4160520" cy="329184"/>
          </a:xfrm>
          <a:prstGeom prst="rect">
            <a:avLst/>
          </a:prstGeom>
          <a:noFill/>
          <a:ln/>
        </p:spPr>
        <p:txBody>
          <a:bodyPr wrap="square" lIns="0" tIns="0" rIns="0" bIns="0" rtlCol="0" anchor="ctr"/>
          <a:lstStyle/>
          <a:p>
            <a:pPr indent="0" marL="0">
              <a:lnSpc>
                <a:spcPts val="1150"/>
              </a:lnSpc>
              <a:buNone/>
            </a:pPr>
            <a:r>
              <a:rPr lang="en-US" sz="950" dirty="0">
                <a:solidFill>
                  <a:srgbClr val="4A4360"/>
                </a:solidFill>
                <a:latin typeface="Calibri" pitchFamily="34" charset="0"/>
                <a:ea typeface="Calibri" pitchFamily="34" charset="-122"/>
                <a:cs typeface="Calibri" pitchFamily="34" charset="-120"/>
              </a:rPr>
              <a:t>Bizzing Business cohorts, bee coaching, beginner classes. Highest price per family — and Business IS this line, not a separate venture.</a:t>
            </a:r>
            <a:endParaRPr lang="en-US" sz="950" dirty="0"/>
          </a:p>
        </p:txBody>
      </p:sp>
      <p:sp>
        <p:nvSpPr>
          <p:cNvPr id="47" name="Shape 45"/>
          <p:cNvSpPr/>
          <p:nvPr/>
        </p:nvSpPr>
        <p:spPr>
          <a:xfrm>
            <a:off x="7543800" y="5596128"/>
            <a:ext cx="1280160" cy="274320"/>
          </a:xfrm>
          <a:prstGeom prst="roundRect">
            <a:avLst>
              <a:gd name="adj" fmla="val 50000"/>
            </a:avLst>
          </a:prstGeom>
          <a:solidFill>
            <a:srgbClr val="6C4FE0"/>
          </a:solidFill>
          <a:ln/>
        </p:spPr>
      </p:sp>
      <p:sp>
        <p:nvSpPr>
          <p:cNvPr id="48" name="Text 46"/>
          <p:cNvSpPr/>
          <p:nvPr/>
        </p:nvSpPr>
        <p:spPr>
          <a:xfrm>
            <a:off x="7543800" y="5596128"/>
            <a:ext cx="128016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GROW</a:t>
            </a:r>
            <a:endParaRPr lang="en-US" sz="800" dirty="0"/>
          </a:p>
        </p:txBody>
      </p:sp>
      <p:sp>
        <p:nvSpPr>
          <p:cNvPr id="49" name="Shape 47"/>
          <p:cNvSpPr/>
          <p:nvPr/>
        </p:nvSpPr>
        <p:spPr>
          <a:xfrm>
            <a:off x="9829800" y="5596128"/>
            <a:ext cx="1280160" cy="274320"/>
          </a:xfrm>
          <a:prstGeom prst="roundRect">
            <a:avLst>
              <a:gd name="adj" fmla="val 50000"/>
            </a:avLst>
          </a:prstGeom>
          <a:solidFill>
            <a:srgbClr val="178A4C"/>
          </a:solidFill>
          <a:ln/>
        </p:spPr>
      </p:sp>
      <p:sp>
        <p:nvSpPr>
          <p:cNvPr id="50" name="Text 48"/>
          <p:cNvSpPr/>
          <p:nvPr/>
        </p:nvSpPr>
        <p:spPr>
          <a:xfrm>
            <a:off x="9829800" y="5596128"/>
            <a:ext cx="128016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LAUNCH</a:t>
            </a:r>
            <a:endParaRPr lang="en-US" sz="800" dirty="0"/>
          </a:p>
        </p:txBody>
      </p:sp>
      <p:sp>
        <p:nvSpPr>
          <p:cNvPr id="51" name="Shape 49"/>
          <p:cNvSpPr/>
          <p:nvPr/>
        </p:nvSpPr>
        <p:spPr>
          <a:xfrm>
            <a:off x="640080" y="6126480"/>
            <a:ext cx="10607040" cy="566928"/>
          </a:xfrm>
          <a:prstGeom prst="roundRect">
            <a:avLst>
              <a:gd name="adj" fmla="val 19355"/>
            </a:avLst>
          </a:prstGeom>
          <a:solidFill>
            <a:srgbClr val="FBF3E0"/>
          </a:solidFill>
          <a:ln/>
        </p:spPr>
      </p:sp>
      <p:sp>
        <p:nvSpPr>
          <p:cNvPr id="52" name="Text 50"/>
          <p:cNvSpPr/>
          <p:nvPr/>
        </p:nvSpPr>
        <p:spPr>
          <a:xfrm>
            <a:off x="914400" y="6126480"/>
            <a:ext cx="10058400" cy="566928"/>
          </a:xfrm>
          <a:prstGeom prst="rect">
            <a:avLst/>
          </a:prstGeom>
          <a:noFill/>
          <a:ln/>
        </p:spPr>
        <p:txBody>
          <a:bodyPr wrap="square" lIns="0" tIns="0" rIns="0" bIns="0" rtlCol="0" anchor="ctr"/>
          <a:lstStyle/>
          <a:p>
            <a:pPr indent="0" marL="0">
              <a:lnSpc>
                <a:spcPts val="1300"/>
              </a:lnSpc>
              <a:buNone/>
            </a:pPr>
            <a:r>
              <a:rPr lang="en-US" sz="1050" b="1" dirty="0">
                <a:solidFill>
                  <a:srgbClr val="8A5B00"/>
                </a:solidFill>
                <a:latin typeface="Calibri" pitchFamily="34" charset="0"/>
                <a:ea typeface="Calibri" pitchFamily="34" charset="-122"/>
                <a:cs typeface="Calibri" pitchFamily="34" charset="-120"/>
              </a:rPr>
              <a:t>Two cautions:  </a:t>
            </a:r>
            <a:pPr indent="0" marL="0">
              <a:lnSpc>
                <a:spcPts val="1300"/>
              </a:lnSpc>
              <a:buNone/>
            </a:pPr>
            <a:r>
              <a:rPr lang="en-US" sz="1050" dirty="0">
                <a:solidFill>
                  <a:srgbClr val="8A5B00"/>
                </a:solidFill>
                <a:latin typeface="Calibri" pitchFamily="34" charset="0"/>
                <a:ea typeface="Calibri" pitchFamily="34" charset="-122"/>
                <a:cs typeface="Calibri" pitchFamily="34" charset="-120"/>
              </a:rPr>
              <a:t>merch that holds stock is a different business — cash, sizes, returns — so print-on-demand until something proves itself. And live training is capped by people, not by software, which is why the mentor bench for Bizzing Business has to start being recruited long before the product launches.</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241E33"/>
        </a:solidFill>
      </p:bgPr>
    </p:bg>
    <p:spTree>
      <p:nvGrpSpPr>
        <p:cNvPr id="1" name=""/>
        <p:cNvGrpSpPr/>
        <p:nvPr/>
      </p:nvGrpSpPr>
      <p:grpSpPr>
        <a:xfrm>
          <a:off x="0" y="0"/>
          <a:ext cx="0" cy="0"/>
          <a:chOff x="0" y="0"/>
          <a:chExt cx="0" cy="0"/>
        </a:xfrm>
      </p:grpSpPr>
      <p:sp>
        <p:nvSpPr>
          <p:cNvPr id="2" name="Text 0"/>
          <p:cNvSpPr/>
          <p:nvPr/>
        </p:nvSpPr>
        <p:spPr>
          <a:xfrm>
            <a:off x="640080" y="548640"/>
            <a:ext cx="7315200" cy="292608"/>
          </a:xfrm>
          <a:prstGeom prst="rect">
            <a:avLst/>
          </a:prstGeom>
          <a:noFill/>
          <a:ln/>
        </p:spPr>
        <p:txBody>
          <a:bodyPr wrap="square" lIns="0" tIns="0" rIns="0" bIns="0" rtlCol="0" anchor="ctr"/>
          <a:lstStyle/>
          <a:p>
            <a:pPr indent="0" marL="0">
              <a:buNone/>
            </a:pPr>
            <a:r>
              <a:rPr lang="en-US" sz="1200" b="1" spc="300" kern="0" dirty="0">
                <a:solidFill>
                  <a:srgbClr val="F0B429"/>
                </a:solidFill>
                <a:latin typeface="Calibri" pitchFamily="34" charset="0"/>
                <a:ea typeface="Calibri" pitchFamily="34" charset="-122"/>
                <a:cs typeface="Calibri" pitchFamily="34" charset="-120"/>
              </a:rPr>
              <a:t>MARKETING STRATEGY</a:t>
            </a:r>
            <a:endParaRPr lang="en-US" sz="1200" dirty="0"/>
          </a:p>
        </p:txBody>
      </p:sp>
      <p:sp>
        <p:nvSpPr>
          <p:cNvPr id="3" name="Text 1"/>
          <p:cNvSpPr/>
          <p:nvPr/>
        </p:nvSpPr>
        <p:spPr>
          <a:xfrm>
            <a:off x="640080" y="914400"/>
            <a:ext cx="10607040" cy="73152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Earn attention, prove it in person, then pay to scale it.</a:t>
            </a:r>
            <a:endParaRPr lang="en-US" sz="2700" dirty="0"/>
          </a:p>
        </p:txBody>
      </p:sp>
      <p:sp>
        <p:nvSpPr>
          <p:cNvPr id="4" name="Text 2"/>
          <p:cNvSpPr/>
          <p:nvPr/>
        </p:nvSpPr>
        <p:spPr>
          <a:xfrm>
            <a:off x="640080" y="1645920"/>
            <a:ext cx="10058400" cy="502920"/>
          </a:xfrm>
          <a:prstGeom prst="rect">
            <a:avLst/>
          </a:prstGeom>
          <a:noFill/>
          <a:ln/>
        </p:spPr>
        <p:txBody>
          <a:bodyPr wrap="square" lIns="0" tIns="0" rIns="0" bIns="0" rtlCol="0" anchor="ctr"/>
          <a:lstStyle/>
          <a:p>
            <a:pPr indent="0" marL="0">
              <a:buNone/>
            </a:pPr>
            <a:r>
              <a:rPr lang="en-US" sz="1350" dirty="0">
                <a:solidFill>
                  <a:srgbClr val="E3DCF2"/>
                </a:solidFill>
                <a:latin typeface="Calibri" pitchFamily="34" charset="0"/>
                <a:ea typeface="Calibri" pitchFamily="34" charset="-122"/>
                <a:cs typeface="Calibri" pitchFamily="34" charset="-120"/>
              </a:rPr>
              <a:t>The order matters more than the mix. Paid media applied to content nobody trusts yet is the fastest way to spend money badly.</a:t>
            </a:r>
            <a:endParaRPr lang="en-US" sz="1350" dirty="0"/>
          </a:p>
        </p:txBody>
      </p:sp>
      <p:sp>
        <p:nvSpPr>
          <p:cNvPr id="5" name="Shape 3"/>
          <p:cNvSpPr/>
          <p:nvPr/>
        </p:nvSpPr>
        <p:spPr>
          <a:xfrm rot="5400000">
            <a:off x="640080" y="2350008"/>
            <a:ext cx="384048" cy="384048"/>
          </a:xfrm>
          <a:prstGeom prst="hexagon">
            <a:avLst/>
          </a:prstGeom>
          <a:solidFill>
            <a:srgbClr val="F0B429"/>
          </a:solidFill>
          <a:ln/>
        </p:spPr>
      </p:sp>
      <p:sp>
        <p:nvSpPr>
          <p:cNvPr id="6" name="Text 4"/>
          <p:cNvSpPr/>
          <p:nvPr/>
        </p:nvSpPr>
        <p:spPr>
          <a:xfrm>
            <a:off x="640080" y="2350008"/>
            <a:ext cx="384048" cy="384048"/>
          </a:xfrm>
          <a:prstGeom prst="rect">
            <a:avLst/>
          </a:prstGeom>
          <a:noFill/>
          <a:ln/>
        </p:spPr>
        <p:txBody>
          <a:bodyPr wrap="square" lIns="0" tIns="0" rIns="0" bIns="0" rtlCol="0" anchor="ctr"/>
          <a:lstStyle/>
          <a:p>
            <a:pPr algn="ctr" indent="0" marL="0">
              <a:buNone/>
            </a:pPr>
            <a:r>
              <a:rPr lang="en-US" sz="1300" b="1" dirty="0">
                <a:solidFill>
                  <a:srgbClr val="241E33"/>
                </a:solidFill>
                <a:latin typeface="Cambria" pitchFamily="34" charset="0"/>
                <a:ea typeface="Cambria" pitchFamily="34" charset="-122"/>
                <a:cs typeface="Cambria" pitchFamily="34" charset="-120"/>
              </a:rPr>
              <a:t>1</a:t>
            </a:r>
            <a:endParaRPr lang="en-US" sz="1300" dirty="0"/>
          </a:p>
        </p:txBody>
      </p:sp>
      <p:sp>
        <p:nvSpPr>
          <p:cNvPr id="7" name="Text 5"/>
          <p:cNvSpPr/>
          <p:nvPr/>
        </p:nvSpPr>
        <p:spPr>
          <a:xfrm>
            <a:off x="1207008" y="2258568"/>
            <a:ext cx="2103120" cy="347472"/>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YouTube</a:t>
            </a:r>
            <a:endParaRPr lang="en-US" sz="1700" dirty="0"/>
          </a:p>
        </p:txBody>
      </p:sp>
      <p:sp>
        <p:nvSpPr>
          <p:cNvPr id="8" name="Text 6"/>
          <p:cNvSpPr/>
          <p:nvPr/>
        </p:nvSpPr>
        <p:spPr>
          <a:xfrm>
            <a:off x="1207008" y="2624328"/>
            <a:ext cx="2103120" cy="274320"/>
          </a:xfrm>
          <a:prstGeom prst="rect">
            <a:avLst/>
          </a:prstGeom>
          <a:noFill/>
          <a:ln/>
        </p:spPr>
        <p:txBody>
          <a:bodyPr wrap="square" lIns="0" tIns="0" rIns="0" bIns="0" rtlCol="0" anchor="ctr"/>
          <a:lstStyle/>
          <a:p>
            <a:pPr indent="0" marL="0">
              <a:buNone/>
            </a:pPr>
            <a:r>
              <a:rPr lang="en-US" sz="1050" i="1" dirty="0">
                <a:solidFill>
                  <a:srgbClr val="E3DCF2"/>
                </a:solidFill>
                <a:latin typeface="Calibri" pitchFamily="34" charset="0"/>
                <a:ea typeface="Calibri" pitchFamily="34" charset="-122"/>
                <a:cs typeface="Calibri" pitchFamily="34" charset="-120"/>
              </a:rPr>
              <a:t>Earns trust and reach</a:t>
            </a:r>
            <a:endParaRPr lang="en-US" sz="1050" dirty="0"/>
          </a:p>
        </p:txBody>
      </p:sp>
      <p:sp>
        <p:nvSpPr>
          <p:cNvPr id="9" name="Text 7"/>
          <p:cNvSpPr/>
          <p:nvPr/>
        </p:nvSpPr>
        <p:spPr>
          <a:xfrm>
            <a:off x="3520440" y="2240280"/>
            <a:ext cx="8001000" cy="822960"/>
          </a:xfrm>
          <a:prstGeom prst="rect">
            <a:avLst/>
          </a:prstGeom>
          <a:noFill/>
          <a:ln/>
        </p:spPr>
        <p:txBody>
          <a:bodyPr wrap="square" lIns="0" tIns="0" rIns="0" bIns="0" rtlCol="0" anchor="ctr"/>
          <a:lstStyle/>
          <a:p>
            <a:pPr indent="0" marL="0">
              <a:lnSpc>
                <a:spcPts val="1500"/>
              </a:lnSpc>
              <a:buNone/>
            </a:pPr>
            <a:r>
              <a:rPr lang="en-US" sz="1150" dirty="0">
                <a:solidFill>
                  <a:srgbClr val="E3DCF2"/>
                </a:solidFill>
                <a:latin typeface="Calibri" pitchFamily="34" charset="0"/>
                <a:ea typeface="Calibri" pitchFamily="34" charset="-122"/>
                <a:cs typeface="Calibri" pitchFamily="34" charset="-120"/>
              </a:rPr>
              <a:t>Long-form documentaries make a stranger believe we know words. Shorts put us in front of families no targeting could find. A video keeps working for years; an ad stops the day the card does.</a:t>
            </a:r>
            <a:endParaRPr lang="en-US" sz="1150" dirty="0"/>
          </a:p>
        </p:txBody>
      </p:sp>
      <p:sp>
        <p:nvSpPr>
          <p:cNvPr id="10" name="Shape 8"/>
          <p:cNvSpPr/>
          <p:nvPr/>
        </p:nvSpPr>
        <p:spPr>
          <a:xfrm rot="5400000">
            <a:off x="640080" y="3337560"/>
            <a:ext cx="384048" cy="384048"/>
          </a:xfrm>
          <a:prstGeom prst="hexagon">
            <a:avLst/>
          </a:prstGeom>
          <a:solidFill>
            <a:srgbClr val="6C4FE0"/>
          </a:solidFill>
          <a:ln/>
        </p:spPr>
      </p:sp>
      <p:sp>
        <p:nvSpPr>
          <p:cNvPr id="11" name="Text 9"/>
          <p:cNvSpPr/>
          <p:nvPr/>
        </p:nvSpPr>
        <p:spPr>
          <a:xfrm>
            <a:off x="640080" y="3337560"/>
            <a:ext cx="384048" cy="384048"/>
          </a:xfrm>
          <a:prstGeom prst="rect">
            <a:avLst/>
          </a:prstGeom>
          <a:noFill/>
          <a:ln/>
        </p:spPr>
        <p:txBody>
          <a:bodyPr wrap="square" lIns="0" tIns="0" rIns="0" bIns="0" rtlCol="0" anchor="ctr"/>
          <a:lstStyle/>
          <a:p>
            <a:pPr algn="ctr" indent="0" marL="0">
              <a:buNone/>
            </a:pPr>
            <a:r>
              <a:rPr lang="en-US" sz="1300" b="1" dirty="0">
                <a:solidFill>
                  <a:srgbClr val="241E33"/>
                </a:solidFill>
                <a:latin typeface="Cambria" pitchFamily="34" charset="0"/>
                <a:ea typeface="Cambria" pitchFamily="34" charset="-122"/>
                <a:cs typeface="Cambria" pitchFamily="34" charset="-120"/>
              </a:rPr>
              <a:t>2</a:t>
            </a:r>
            <a:endParaRPr lang="en-US" sz="1300" dirty="0"/>
          </a:p>
        </p:txBody>
      </p:sp>
      <p:sp>
        <p:nvSpPr>
          <p:cNvPr id="12" name="Text 10"/>
          <p:cNvSpPr/>
          <p:nvPr/>
        </p:nvSpPr>
        <p:spPr>
          <a:xfrm>
            <a:off x="1207008" y="3246120"/>
            <a:ext cx="2103120" cy="347472"/>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Events &amp; community</a:t>
            </a:r>
            <a:endParaRPr lang="en-US" sz="1700" dirty="0"/>
          </a:p>
        </p:txBody>
      </p:sp>
      <p:sp>
        <p:nvSpPr>
          <p:cNvPr id="13" name="Text 11"/>
          <p:cNvSpPr/>
          <p:nvPr/>
        </p:nvSpPr>
        <p:spPr>
          <a:xfrm>
            <a:off x="1207008" y="3611880"/>
            <a:ext cx="2103120" cy="274320"/>
          </a:xfrm>
          <a:prstGeom prst="rect">
            <a:avLst/>
          </a:prstGeom>
          <a:noFill/>
          <a:ln/>
        </p:spPr>
        <p:txBody>
          <a:bodyPr wrap="square" lIns="0" tIns="0" rIns="0" bIns="0" rtlCol="0" anchor="ctr"/>
          <a:lstStyle/>
          <a:p>
            <a:pPr indent="0" marL="0">
              <a:buNone/>
            </a:pPr>
            <a:r>
              <a:rPr lang="en-US" sz="1050" i="1" dirty="0">
                <a:solidFill>
                  <a:srgbClr val="E3DCF2"/>
                </a:solidFill>
                <a:latin typeface="Calibri" pitchFamily="34" charset="0"/>
                <a:ea typeface="Calibri" pitchFamily="34" charset="-122"/>
                <a:cs typeface="Calibri" pitchFamily="34" charset="-120"/>
              </a:rPr>
              <a:t>Turns trust into proof</a:t>
            </a:r>
            <a:endParaRPr lang="en-US" sz="1050" dirty="0"/>
          </a:p>
        </p:txBody>
      </p:sp>
      <p:sp>
        <p:nvSpPr>
          <p:cNvPr id="14" name="Text 12"/>
          <p:cNvSpPr/>
          <p:nvPr/>
        </p:nvSpPr>
        <p:spPr>
          <a:xfrm>
            <a:off x="3520440" y="3227832"/>
            <a:ext cx="8001000" cy="822960"/>
          </a:xfrm>
          <a:prstGeom prst="rect">
            <a:avLst/>
          </a:prstGeom>
          <a:noFill/>
          <a:ln/>
        </p:spPr>
        <p:txBody>
          <a:bodyPr wrap="square" lIns="0" tIns="0" rIns="0" bIns="0" rtlCol="0" anchor="ctr"/>
          <a:lstStyle/>
          <a:p>
            <a:pPr indent="0" marL="0">
              <a:lnSpc>
                <a:spcPts val="1500"/>
              </a:lnSpc>
              <a:buNone/>
            </a:pPr>
            <a:r>
              <a:rPr lang="en-US" sz="1150" dirty="0">
                <a:solidFill>
                  <a:srgbClr val="E3DCF2"/>
                </a:solidFill>
                <a:latin typeface="Calibri" pitchFamily="34" charset="0"/>
                <a:ea typeface="Calibri" pitchFamily="34" charset="-122"/>
                <a:cs typeface="Calibri" pitchFamily="34" charset="-120"/>
              </a:rPr>
              <a:t>Regional bees, cultural associations, temple and community fairs, homeschool conferences — where this diaspora already gathers. Small reach, unmatched credibility. Parent WhatsApp groups are the real distribution channel.</a:t>
            </a:r>
            <a:endParaRPr lang="en-US" sz="1150" dirty="0"/>
          </a:p>
        </p:txBody>
      </p:sp>
      <p:sp>
        <p:nvSpPr>
          <p:cNvPr id="15" name="Shape 13"/>
          <p:cNvSpPr/>
          <p:nvPr/>
        </p:nvSpPr>
        <p:spPr>
          <a:xfrm rot="5400000">
            <a:off x="640080" y="4325112"/>
            <a:ext cx="384048" cy="384048"/>
          </a:xfrm>
          <a:prstGeom prst="hexagon">
            <a:avLst/>
          </a:prstGeom>
          <a:solidFill>
            <a:srgbClr val="178A4C"/>
          </a:solidFill>
          <a:ln/>
        </p:spPr>
      </p:sp>
      <p:sp>
        <p:nvSpPr>
          <p:cNvPr id="16" name="Text 14"/>
          <p:cNvSpPr/>
          <p:nvPr/>
        </p:nvSpPr>
        <p:spPr>
          <a:xfrm>
            <a:off x="640080" y="4325112"/>
            <a:ext cx="384048" cy="384048"/>
          </a:xfrm>
          <a:prstGeom prst="rect">
            <a:avLst/>
          </a:prstGeom>
          <a:noFill/>
          <a:ln/>
        </p:spPr>
        <p:txBody>
          <a:bodyPr wrap="square" lIns="0" tIns="0" rIns="0" bIns="0" rtlCol="0" anchor="ctr"/>
          <a:lstStyle/>
          <a:p>
            <a:pPr algn="ctr" indent="0" marL="0">
              <a:buNone/>
            </a:pPr>
            <a:r>
              <a:rPr lang="en-US" sz="1300" b="1" dirty="0">
                <a:solidFill>
                  <a:srgbClr val="241E33"/>
                </a:solidFill>
                <a:latin typeface="Cambria" pitchFamily="34" charset="0"/>
                <a:ea typeface="Cambria" pitchFamily="34" charset="-122"/>
                <a:cs typeface="Cambria" pitchFamily="34" charset="-120"/>
              </a:rPr>
              <a:t>3</a:t>
            </a:r>
            <a:endParaRPr lang="en-US" sz="1300" dirty="0"/>
          </a:p>
        </p:txBody>
      </p:sp>
      <p:sp>
        <p:nvSpPr>
          <p:cNvPr id="17" name="Text 15"/>
          <p:cNvSpPr/>
          <p:nvPr/>
        </p:nvSpPr>
        <p:spPr>
          <a:xfrm>
            <a:off x="1207008" y="4233672"/>
            <a:ext cx="2103120" cy="347472"/>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Paid media</a:t>
            </a:r>
            <a:endParaRPr lang="en-US" sz="1700" dirty="0"/>
          </a:p>
        </p:txBody>
      </p:sp>
      <p:sp>
        <p:nvSpPr>
          <p:cNvPr id="18" name="Text 16"/>
          <p:cNvSpPr/>
          <p:nvPr/>
        </p:nvSpPr>
        <p:spPr>
          <a:xfrm>
            <a:off x="1207008" y="4599432"/>
            <a:ext cx="2103120" cy="274320"/>
          </a:xfrm>
          <a:prstGeom prst="rect">
            <a:avLst/>
          </a:prstGeom>
          <a:noFill/>
          <a:ln/>
        </p:spPr>
        <p:txBody>
          <a:bodyPr wrap="square" lIns="0" tIns="0" rIns="0" bIns="0" rtlCol="0" anchor="ctr"/>
          <a:lstStyle/>
          <a:p>
            <a:pPr indent="0" marL="0">
              <a:buNone/>
            </a:pPr>
            <a:r>
              <a:rPr lang="en-US" sz="1050" i="1" dirty="0">
                <a:solidFill>
                  <a:srgbClr val="E3DCF2"/>
                </a:solidFill>
                <a:latin typeface="Calibri" pitchFamily="34" charset="0"/>
                <a:ea typeface="Calibri" pitchFamily="34" charset="-122"/>
                <a:cs typeface="Calibri" pitchFamily="34" charset="-120"/>
              </a:rPr>
              <a:t>Scales what is proven</a:t>
            </a:r>
            <a:endParaRPr lang="en-US" sz="1050" dirty="0"/>
          </a:p>
        </p:txBody>
      </p:sp>
      <p:sp>
        <p:nvSpPr>
          <p:cNvPr id="19" name="Text 17"/>
          <p:cNvSpPr/>
          <p:nvPr/>
        </p:nvSpPr>
        <p:spPr>
          <a:xfrm>
            <a:off x="3520440" y="4215384"/>
            <a:ext cx="8001000" cy="822960"/>
          </a:xfrm>
          <a:prstGeom prst="rect">
            <a:avLst/>
          </a:prstGeom>
          <a:noFill/>
          <a:ln/>
        </p:spPr>
        <p:txBody>
          <a:bodyPr wrap="square" lIns="0" tIns="0" rIns="0" bIns="0" rtlCol="0" anchor="ctr"/>
          <a:lstStyle/>
          <a:p>
            <a:pPr indent="0" marL="0">
              <a:lnSpc>
                <a:spcPts val="1500"/>
              </a:lnSpc>
              <a:buNone/>
            </a:pPr>
            <a:r>
              <a:rPr lang="en-US" sz="1150" dirty="0">
                <a:solidFill>
                  <a:srgbClr val="E3DCF2"/>
                </a:solidFill>
                <a:latin typeface="Calibri" pitchFamily="34" charset="0"/>
                <a:ea typeface="Calibri" pitchFamily="34" charset="-122"/>
                <a:cs typeface="Calibri" pitchFamily="34" charset="-120"/>
              </a:rPr>
              <a:t>Harvests demand the content created and retargets the warmed. Creative comes from the channel, not from an agency. It amplifies; it does not originate.</a:t>
            </a:r>
            <a:endParaRPr lang="en-US" sz="1150" dirty="0"/>
          </a:p>
        </p:txBody>
      </p:sp>
      <p:sp>
        <p:nvSpPr>
          <p:cNvPr id="20" name="Shape 18"/>
          <p:cNvSpPr/>
          <p:nvPr/>
        </p:nvSpPr>
        <p:spPr>
          <a:xfrm rot="5400000">
            <a:off x="640080" y="5312664"/>
            <a:ext cx="384048" cy="384048"/>
          </a:xfrm>
          <a:prstGeom prst="hexagon">
            <a:avLst/>
          </a:prstGeom>
          <a:solidFill>
            <a:srgbClr val="E3B23C"/>
          </a:solidFill>
          <a:ln/>
        </p:spPr>
      </p:sp>
      <p:sp>
        <p:nvSpPr>
          <p:cNvPr id="21" name="Text 19"/>
          <p:cNvSpPr/>
          <p:nvPr/>
        </p:nvSpPr>
        <p:spPr>
          <a:xfrm>
            <a:off x="640080" y="5312664"/>
            <a:ext cx="384048" cy="384048"/>
          </a:xfrm>
          <a:prstGeom prst="rect">
            <a:avLst/>
          </a:prstGeom>
          <a:noFill/>
          <a:ln/>
        </p:spPr>
        <p:txBody>
          <a:bodyPr wrap="square" lIns="0" tIns="0" rIns="0" bIns="0" rtlCol="0" anchor="ctr"/>
          <a:lstStyle/>
          <a:p>
            <a:pPr algn="ctr" indent="0" marL="0">
              <a:buNone/>
            </a:pPr>
            <a:r>
              <a:rPr lang="en-US" sz="1300" b="1" dirty="0">
                <a:solidFill>
                  <a:srgbClr val="241E33"/>
                </a:solidFill>
                <a:latin typeface="Cambria" pitchFamily="34" charset="0"/>
                <a:ea typeface="Cambria" pitchFamily="34" charset="-122"/>
                <a:cs typeface="Cambria" pitchFamily="34" charset="-120"/>
              </a:rPr>
              <a:t>4</a:t>
            </a:r>
            <a:endParaRPr lang="en-US" sz="1300" dirty="0"/>
          </a:p>
        </p:txBody>
      </p:sp>
      <p:sp>
        <p:nvSpPr>
          <p:cNvPr id="22" name="Text 20"/>
          <p:cNvSpPr/>
          <p:nvPr/>
        </p:nvSpPr>
        <p:spPr>
          <a:xfrm>
            <a:off x="1207008" y="5221224"/>
            <a:ext cx="2103120" cy="347472"/>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The child</a:t>
            </a:r>
            <a:endParaRPr lang="en-US" sz="1700" dirty="0"/>
          </a:p>
        </p:txBody>
      </p:sp>
      <p:sp>
        <p:nvSpPr>
          <p:cNvPr id="23" name="Text 21"/>
          <p:cNvSpPr/>
          <p:nvPr/>
        </p:nvSpPr>
        <p:spPr>
          <a:xfrm>
            <a:off x="1207008" y="5586984"/>
            <a:ext cx="2103120" cy="274320"/>
          </a:xfrm>
          <a:prstGeom prst="rect">
            <a:avLst/>
          </a:prstGeom>
          <a:noFill/>
          <a:ln/>
        </p:spPr>
        <p:txBody>
          <a:bodyPr wrap="square" lIns="0" tIns="0" rIns="0" bIns="0" rtlCol="0" anchor="ctr"/>
          <a:lstStyle/>
          <a:p>
            <a:pPr indent="0" marL="0">
              <a:buNone/>
            </a:pPr>
            <a:r>
              <a:rPr lang="en-US" sz="1050" i="1" dirty="0">
                <a:solidFill>
                  <a:srgbClr val="F0B429"/>
                </a:solidFill>
                <a:latin typeface="Calibri" pitchFamily="34" charset="0"/>
                <a:ea typeface="Calibri" pitchFamily="34" charset="-122"/>
                <a:cs typeface="Calibri" pitchFamily="34" charset="-120"/>
              </a:rPr>
              <a:t>Compounds all three</a:t>
            </a:r>
            <a:endParaRPr lang="en-US" sz="1050" dirty="0"/>
          </a:p>
        </p:txBody>
      </p:sp>
      <p:sp>
        <p:nvSpPr>
          <p:cNvPr id="24" name="Text 22"/>
          <p:cNvSpPr/>
          <p:nvPr/>
        </p:nvSpPr>
        <p:spPr>
          <a:xfrm>
            <a:off x="3520440" y="5202936"/>
            <a:ext cx="8001000" cy="822960"/>
          </a:xfrm>
          <a:prstGeom prst="rect">
            <a:avLst/>
          </a:prstGeom>
          <a:noFill/>
          <a:ln/>
        </p:spPr>
        <p:txBody>
          <a:bodyPr wrap="square" lIns="0" tIns="0" rIns="0" bIns="0" rtlCol="0" anchor="ctr"/>
          <a:lstStyle/>
          <a:p>
            <a:pPr indent="0" marL="0">
              <a:lnSpc>
                <a:spcPts val="1500"/>
              </a:lnSpc>
              <a:buNone/>
            </a:pPr>
            <a:r>
              <a:rPr lang="en-US" sz="1150" dirty="0">
                <a:solidFill>
                  <a:srgbClr val="E3DCF2"/>
                </a:solidFill>
                <a:latin typeface="Calibri" pitchFamily="34" charset="0"/>
                <a:ea typeface="Calibri" pitchFamily="34" charset="-122"/>
                <a:cs typeface="Calibri" pitchFamily="34" charset="-120"/>
              </a:rPr>
              <a:t>A child who likes the app tells other children, and a champion who used it is worth more than any campaign. The CKO role exists partly for this.</a:t>
            </a:r>
            <a:endParaRPr lang="en-US" sz="1150" dirty="0"/>
          </a:p>
        </p:txBody>
      </p:sp>
      <p:sp>
        <p:nvSpPr>
          <p:cNvPr id="25" name="Text 23"/>
          <p:cNvSpPr/>
          <p:nvPr/>
        </p:nvSpPr>
        <p:spPr>
          <a:xfrm>
            <a:off x="640080" y="6263640"/>
            <a:ext cx="10607040" cy="365760"/>
          </a:xfrm>
          <a:prstGeom prst="rect">
            <a:avLst/>
          </a:prstGeom>
          <a:noFill/>
          <a:ln/>
        </p:spPr>
        <p:txBody>
          <a:bodyPr wrap="square" lIns="0" tIns="0" rIns="0" bIns="0" rtlCol="0" anchor="ctr"/>
          <a:lstStyle/>
          <a:p>
            <a:pPr indent="0" marL="0">
              <a:buNone/>
            </a:pPr>
            <a:r>
              <a:rPr lang="en-US" sz="1150" i="1" dirty="0">
                <a:solidFill>
                  <a:srgbClr val="7A7291"/>
                </a:solidFill>
                <a:latin typeface="Calibri" pitchFamily="34" charset="0"/>
                <a:ea typeface="Calibri" pitchFamily="34" charset="-122"/>
                <a:cs typeface="Calibri" pitchFamily="34" charset="-120"/>
              </a:rPr>
              <a:t>No budgets, targets or channel splits here by design — those are the CMO’s call. This slide fixes the ORDER, not the numbers.</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02336"/>
            <a:ext cx="7315200" cy="256032"/>
          </a:xfrm>
          <a:prstGeom prst="rect">
            <a:avLst/>
          </a:prstGeom>
          <a:noFill/>
          <a:ln/>
        </p:spPr>
        <p:txBody>
          <a:bodyPr wrap="square" lIns="0" tIns="0" rIns="0" bIns="0" rtlCol="0" anchor="ctr"/>
          <a:lstStyle/>
          <a:p>
            <a:pPr indent="0" marL="0">
              <a:buNone/>
            </a:pPr>
            <a:r>
              <a:rPr lang="en-US" sz="1150" b="1" spc="240" kern="0" dirty="0">
                <a:solidFill>
                  <a:srgbClr val="6C4FE0"/>
                </a:solidFill>
                <a:latin typeface="Calibri" pitchFamily="34" charset="0"/>
                <a:ea typeface="Calibri" pitchFamily="34" charset="-122"/>
                <a:cs typeface="Calibri" pitchFamily="34" charset="-120"/>
              </a:rPr>
              <a:t>CONTENT STRATEGY · 1 OF 3</a:t>
            </a:r>
            <a:endParaRPr lang="en-US" sz="1150" dirty="0"/>
          </a:p>
        </p:txBody>
      </p:sp>
      <p:sp>
        <p:nvSpPr>
          <p:cNvPr id="3" name="Text 1"/>
          <p:cNvSpPr/>
          <p:nvPr/>
        </p:nvSpPr>
        <p:spPr>
          <a:xfrm>
            <a:off x="640080" y="694944"/>
            <a:ext cx="10607040" cy="749808"/>
          </a:xfrm>
          <a:prstGeom prst="rect">
            <a:avLst/>
          </a:prstGeom>
          <a:noFill/>
          <a:ln/>
        </p:spPr>
        <p:txBody>
          <a:bodyPr wrap="square" lIns="0" tIns="0" rIns="0" bIns="0" rtlCol="0" anchor="ctr"/>
          <a:lstStyle/>
          <a:p>
            <a:pPr indent="0" marL="0">
              <a:buNone/>
            </a:pPr>
            <a:r>
              <a:rPr lang="en-US" sz="2900" b="1" dirty="0">
                <a:solidFill>
                  <a:srgbClr val="241E33"/>
                </a:solidFill>
                <a:latin typeface="Cambria" pitchFamily="34" charset="0"/>
                <a:ea typeface="Cambria" pitchFamily="34" charset="-122"/>
                <a:cs typeface="Cambria" pitchFamily="34" charset="-120"/>
              </a:rPr>
              <a:t>YouTube is not an ad channel</a:t>
            </a:r>
            <a:endParaRPr lang="en-US" sz="2900" dirty="0"/>
          </a:p>
        </p:txBody>
      </p:sp>
      <p:sp>
        <p:nvSpPr>
          <p:cNvPr id="4" name="Text 2"/>
          <p:cNvSpPr/>
          <p:nvPr/>
        </p:nvSpPr>
        <p:spPr>
          <a:xfrm>
            <a:off x="640080" y="1444752"/>
            <a:ext cx="10607040" cy="512064"/>
          </a:xfrm>
          <a:prstGeom prst="rect">
            <a:avLst/>
          </a:prstGeom>
          <a:noFill/>
          <a:ln/>
        </p:spPr>
        <p:txBody>
          <a:bodyPr wrap="square" lIns="0" tIns="0" rIns="0" bIns="0" rtlCol="0" anchor="ctr"/>
          <a:lstStyle/>
          <a:p>
            <a:pPr indent="0" marL="0">
              <a:buNone/>
            </a:pPr>
            <a:r>
              <a:rPr lang="en-US" sz="1450" dirty="0">
                <a:solidFill>
                  <a:srgbClr val="7A7291"/>
                </a:solidFill>
                <a:latin typeface="Calibri" pitchFamily="34" charset="0"/>
                <a:ea typeface="Calibri" pitchFamily="34" charset="-122"/>
                <a:cs typeface="Calibri" pitchFamily="34" charset="-120"/>
              </a:rPr>
              <a:t>It is the only asset that earns trust while we sleep — and the one place a parent decides whether Bizzing is serious.</a:t>
            </a:r>
            <a:endParaRPr lang="en-US" sz="1450" dirty="0"/>
          </a:p>
        </p:txBody>
      </p:sp>
      <p:sp>
        <p:nvSpPr>
          <p:cNvPr id="5" name="Shape 3"/>
          <p:cNvSpPr/>
          <p:nvPr/>
        </p:nvSpPr>
        <p:spPr>
          <a:xfrm>
            <a:off x="640080" y="2103120"/>
            <a:ext cx="3410712" cy="2286000"/>
          </a:xfrm>
          <a:prstGeom prst="roundRect">
            <a:avLst>
              <a:gd name="adj" fmla="val 5600"/>
            </a:avLst>
          </a:prstGeom>
          <a:solidFill>
            <a:srgbClr val="EFEBF8"/>
          </a:solidFill>
          <a:ln/>
          <a:effectLst>
            <a:outerShdw sx="100000" sy="100000" kx="0" ky="0" algn="bl" rotWithShape="0" blurRad="127000" dist="25400" dir="5400000">
              <a:srgbClr val="241E33">
                <a:alpha val="10000"/>
              </a:srgbClr>
            </a:outerShdw>
          </a:effectLst>
        </p:spPr>
      </p:sp>
      <p:sp>
        <p:nvSpPr>
          <p:cNvPr id="6" name="Shape 4"/>
          <p:cNvSpPr/>
          <p:nvPr/>
        </p:nvSpPr>
        <p:spPr>
          <a:xfrm rot="5400000">
            <a:off x="914400" y="2331720"/>
            <a:ext cx="420624" cy="420624"/>
          </a:xfrm>
          <a:prstGeom prst="hexagon">
            <a:avLst/>
          </a:prstGeom>
          <a:solidFill>
            <a:srgbClr val="6C4FE0"/>
          </a:solidFill>
          <a:ln/>
        </p:spPr>
      </p:sp>
      <p:sp>
        <p:nvSpPr>
          <p:cNvPr id="7" name="Text 5"/>
          <p:cNvSpPr/>
          <p:nvPr/>
        </p:nvSpPr>
        <p:spPr>
          <a:xfrm>
            <a:off x="914400" y="2871216"/>
            <a:ext cx="2880360" cy="402336"/>
          </a:xfrm>
          <a:prstGeom prst="rect">
            <a:avLst/>
          </a:prstGeom>
          <a:noFill/>
          <a:ln/>
        </p:spPr>
        <p:txBody>
          <a:bodyPr wrap="square" lIns="0" tIns="0" rIns="0" bIns="0" rtlCol="0" anchor="ctr"/>
          <a:lstStyle/>
          <a:p>
            <a:pPr indent="0" marL="0">
              <a:buNone/>
            </a:pPr>
            <a:r>
              <a:rPr lang="en-US" sz="1700" b="1" dirty="0">
                <a:solidFill>
                  <a:srgbClr val="241E33"/>
                </a:solidFill>
                <a:latin typeface="Cambria" pitchFamily="34" charset="0"/>
                <a:ea typeface="Cambria" pitchFamily="34" charset="-122"/>
                <a:cs typeface="Cambria" pitchFamily="34" charset="-120"/>
              </a:rPr>
              <a:t>Authority</a:t>
            </a:r>
            <a:endParaRPr lang="en-US" sz="1700" dirty="0"/>
          </a:p>
        </p:txBody>
      </p:sp>
      <p:sp>
        <p:nvSpPr>
          <p:cNvPr id="8" name="Text 6"/>
          <p:cNvSpPr/>
          <p:nvPr/>
        </p:nvSpPr>
        <p:spPr>
          <a:xfrm>
            <a:off x="914400" y="3273552"/>
            <a:ext cx="2880360" cy="1051560"/>
          </a:xfrm>
          <a:prstGeom prst="rect">
            <a:avLst/>
          </a:prstGeom>
          <a:noFill/>
          <a:ln/>
        </p:spPr>
        <p:txBody>
          <a:bodyPr wrap="square" lIns="0" tIns="0" rIns="0" bIns="0" rtlCol="0" anchor="ctr"/>
          <a:lstStyle/>
          <a:p>
            <a:pPr indent="0" marL="0">
              <a:lnSpc>
                <a:spcPts val="1500"/>
              </a:lnSpc>
              <a:buNone/>
            </a:pPr>
            <a:r>
              <a:rPr lang="en-US" sz="1150" dirty="0">
                <a:solidFill>
                  <a:srgbClr val="4A4360"/>
                </a:solidFill>
                <a:latin typeface="Calibri" pitchFamily="34" charset="0"/>
                <a:ea typeface="Calibri" pitchFamily="34" charset="-122"/>
                <a:cs typeface="Calibri" pitchFamily="34" charset="-120"/>
              </a:rPr>
              <a:t>A parent choosing where their child practises is really asking whether we know the subject. Ten minutes of well-made history about words answers that better than any landing page.</a:t>
            </a:r>
            <a:endParaRPr lang="en-US" sz="1150" dirty="0"/>
          </a:p>
        </p:txBody>
      </p:sp>
      <p:sp>
        <p:nvSpPr>
          <p:cNvPr id="9" name="Shape 7"/>
          <p:cNvSpPr/>
          <p:nvPr/>
        </p:nvSpPr>
        <p:spPr>
          <a:xfrm>
            <a:off x="4325112" y="2103120"/>
            <a:ext cx="3410712" cy="2286000"/>
          </a:xfrm>
          <a:prstGeom prst="roundRect">
            <a:avLst>
              <a:gd name="adj" fmla="val 5600"/>
            </a:avLst>
          </a:prstGeom>
          <a:solidFill>
            <a:srgbClr val="EFEBF8"/>
          </a:solidFill>
          <a:ln/>
          <a:effectLst>
            <a:outerShdw sx="100000" sy="100000" kx="0" ky="0" algn="bl" rotWithShape="0" blurRad="127000" dist="25400" dir="5400000">
              <a:srgbClr val="241E33">
                <a:alpha val="10000"/>
              </a:srgbClr>
            </a:outerShdw>
          </a:effectLst>
        </p:spPr>
      </p:sp>
      <p:sp>
        <p:nvSpPr>
          <p:cNvPr id="10" name="Shape 8"/>
          <p:cNvSpPr/>
          <p:nvPr/>
        </p:nvSpPr>
        <p:spPr>
          <a:xfrm rot="5400000">
            <a:off x="4599432" y="2331720"/>
            <a:ext cx="420624" cy="420624"/>
          </a:xfrm>
          <a:prstGeom prst="hexagon">
            <a:avLst/>
          </a:prstGeom>
          <a:solidFill>
            <a:srgbClr val="F0B429"/>
          </a:solidFill>
          <a:ln/>
        </p:spPr>
      </p:sp>
      <p:sp>
        <p:nvSpPr>
          <p:cNvPr id="11" name="Text 9"/>
          <p:cNvSpPr/>
          <p:nvPr/>
        </p:nvSpPr>
        <p:spPr>
          <a:xfrm>
            <a:off x="4599432" y="2871216"/>
            <a:ext cx="2880360" cy="402336"/>
          </a:xfrm>
          <a:prstGeom prst="rect">
            <a:avLst/>
          </a:prstGeom>
          <a:noFill/>
          <a:ln/>
        </p:spPr>
        <p:txBody>
          <a:bodyPr wrap="square" lIns="0" tIns="0" rIns="0" bIns="0" rtlCol="0" anchor="ctr"/>
          <a:lstStyle/>
          <a:p>
            <a:pPr indent="0" marL="0">
              <a:buNone/>
            </a:pPr>
            <a:r>
              <a:rPr lang="en-US" sz="1700" b="1" dirty="0">
                <a:solidFill>
                  <a:srgbClr val="241E33"/>
                </a:solidFill>
                <a:latin typeface="Cambria" pitchFamily="34" charset="0"/>
                <a:ea typeface="Cambria" pitchFamily="34" charset="-122"/>
                <a:cs typeface="Cambria" pitchFamily="34" charset="-120"/>
              </a:rPr>
              <a:t>Discovery</a:t>
            </a:r>
            <a:endParaRPr lang="en-US" sz="1700" dirty="0"/>
          </a:p>
        </p:txBody>
      </p:sp>
      <p:sp>
        <p:nvSpPr>
          <p:cNvPr id="12" name="Text 10"/>
          <p:cNvSpPr/>
          <p:nvPr/>
        </p:nvSpPr>
        <p:spPr>
          <a:xfrm>
            <a:off x="4599432" y="3273552"/>
            <a:ext cx="2880360" cy="1051560"/>
          </a:xfrm>
          <a:prstGeom prst="rect">
            <a:avLst/>
          </a:prstGeom>
          <a:noFill/>
          <a:ln/>
        </p:spPr>
        <p:txBody>
          <a:bodyPr wrap="square" lIns="0" tIns="0" rIns="0" bIns="0" rtlCol="0" anchor="ctr"/>
          <a:lstStyle/>
          <a:p>
            <a:pPr indent="0" marL="0">
              <a:lnSpc>
                <a:spcPts val="1500"/>
              </a:lnSpc>
              <a:buNone/>
            </a:pPr>
            <a:r>
              <a:rPr lang="en-US" sz="1150" dirty="0">
                <a:solidFill>
                  <a:srgbClr val="4A4360"/>
                </a:solidFill>
                <a:latin typeface="Calibri" pitchFamily="34" charset="0"/>
                <a:ea typeface="Calibri" pitchFamily="34" charset="-122"/>
                <a:cs typeface="Calibri" pitchFamily="34" charset="-120"/>
              </a:rPr>
              <a:t>The algorithm reaches families we could never target — the ones who do not yet know a product like this exists. That is reach we do not have to buy.</a:t>
            </a:r>
            <a:endParaRPr lang="en-US" sz="1150" dirty="0"/>
          </a:p>
        </p:txBody>
      </p:sp>
      <p:sp>
        <p:nvSpPr>
          <p:cNvPr id="13" name="Shape 11"/>
          <p:cNvSpPr/>
          <p:nvPr/>
        </p:nvSpPr>
        <p:spPr>
          <a:xfrm>
            <a:off x="8010144" y="2103120"/>
            <a:ext cx="3410712" cy="2286000"/>
          </a:xfrm>
          <a:prstGeom prst="roundRect">
            <a:avLst>
              <a:gd name="adj" fmla="val 5600"/>
            </a:avLst>
          </a:prstGeom>
          <a:solidFill>
            <a:srgbClr val="EFEBF8"/>
          </a:solidFill>
          <a:ln/>
          <a:effectLst>
            <a:outerShdw sx="100000" sy="100000" kx="0" ky="0" algn="bl" rotWithShape="0" blurRad="127000" dist="25400" dir="5400000">
              <a:srgbClr val="241E33">
                <a:alpha val="10000"/>
              </a:srgbClr>
            </a:outerShdw>
          </a:effectLst>
        </p:spPr>
      </p:sp>
      <p:sp>
        <p:nvSpPr>
          <p:cNvPr id="14" name="Shape 12"/>
          <p:cNvSpPr/>
          <p:nvPr/>
        </p:nvSpPr>
        <p:spPr>
          <a:xfrm rot="5400000">
            <a:off x="8284464" y="2331720"/>
            <a:ext cx="420624" cy="420624"/>
          </a:xfrm>
          <a:prstGeom prst="hexagon">
            <a:avLst/>
          </a:prstGeom>
          <a:solidFill>
            <a:srgbClr val="178A4C"/>
          </a:solidFill>
          <a:ln/>
        </p:spPr>
      </p:sp>
      <p:sp>
        <p:nvSpPr>
          <p:cNvPr id="15" name="Text 13"/>
          <p:cNvSpPr/>
          <p:nvPr/>
        </p:nvSpPr>
        <p:spPr>
          <a:xfrm>
            <a:off x="8284464" y="2871216"/>
            <a:ext cx="2880360" cy="402336"/>
          </a:xfrm>
          <a:prstGeom prst="rect">
            <a:avLst/>
          </a:prstGeom>
          <a:noFill/>
          <a:ln/>
        </p:spPr>
        <p:txBody>
          <a:bodyPr wrap="square" lIns="0" tIns="0" rIns="0" bIns="0" rtlCol="0" anchor="ctr"/>
          <a:lstStyle/>
          <a:p>
            <a:pPr indent="0" marL="0">
              <a:buNone/>
            </a:pPr>
            <a:r>
              <a:rPr lang="en-US" sz="1700" b="1" dirty="0">
                <a:solidFill>
                  <a:srgbClr val="241E33"/>
                </a:solidFill>
                <a:latin typeface="Cambria" pitchFamily="34" charset="0"/>
                <a:ea typeface="Cambria" pitchFamily="34" charset="-122"/>
                <a:cs typeface="Cambria" pitchFamily="34" charset="-120"/>
              </a:rPr>
              <a:t>An asset, not a spend</a:t>
            </a:r>
            <a:endParaRPr lang="en-US" sz="1700" dirty="0"/>
          </a:p>
        </p:txBody>
      </p:sp>
      <p:sp>
        <p:nvSpPr>
          <p:cNvPr id="16" name="Text 14"/>
          <p:cNvSpPr/>
          <p:nvPr/>
        </p:nvSpPr>
        <p:spPr>
          <a:xfrm>
            <a:off x="8284464" y="3273552"/>
            <a:ext cx="2880360" cy="1051560"/>
          </a:xfrm>
          <a:prstGeom prst="rect">
            <a:avLst/>
          </a:prstGeom>
          <a:noFill/>
          <a:ln/>
        </p:spPr>
        <p:txBody>
          <a:bodyPr wrap="square" lIns="0" tIns="0" rIns="0" bIns="0" rtlCol="0" anchor="ctr"/>
          <a:lstStyle/>
          <a:p>
            <a:pPr indent="0" marL="0">
              <a:lnSpc>
                <a:spcPts val="1500"/>
              </a:lnSpc>
              <a:buNone/>
            </a:pPr>
            <a:r>
              <a:rPr lang="en-US" sz="1150" dirty="0">
                <a:solidFill>
                  <a:srgbClr val="4A4360"/>
                </a:solidFill>
                <a:latin typeface="Calibri" pitchFamily="34" charset="0"/>
                <a:ea typeface="Calibri" pitchFamily="34" charset="-122"/>
                <a:cs typeface="Calibri" pitchFamily="34" charset="-120"/>
              </a:rPr>
              <a:t>A documentary published this year is still working in five. Paid media stops the moment the card stops. Over time the channel becomes the cheapest acquisition we own.</a:t>
            </a:r>
            <a:endParaRPr lang="en-US" sz="1150" dirty="0"/>
          </a:p>
        </p:txBody>
      </p:sp>
      <p:sp>
        <p:nvSpPr>
          <p:cNvPr id="17" name="Text 15"/>
          <p:cNvSpPr/>
          <p:nvPr/>
        </p:nvSpPr>
        <p:spPr>
          <a:xfrm>
            <a:off x="640080" y="4498848"/>
            <a:ext cx="5486400" cy="365760"/>
          </a:xfrm>
          <a:prstGeom prst="rect">
            <a:avLst/>
          </a:prstGeom>
          <a:noFill/>
          <a:ln/>
        </p:spPr>
        <p:txBody>
          <a:bodyPr wrap="square" lIns="0" tIns="0" rIns="0" bIns="0" rtlCol="0" anchor="ctr"/>
          <a:lstStyle/>
          <a:p>
            <a:pPr indent="0" marL="0">
              <a:buNone/>
            </a:pPr>
            <a:r>
              <a:rPr lang="en-US" sz="1800" b="1" dirty="0">
                <a:solidFill>
                  <a:srgbClr val="241E33"/>
                </a:solidFill>
                <a:latin typeface="Cambria" pitchFamily="34" charset="0"/>
                <a:ea typeface="Cambria" pitchFamily="34" charset="-122"/>
                <a:cs typeface="Cambria" pitchFamily="34" charset="-120"/>
              </a:rPr>
              <a:t>Two audiences, one video</a:t>
            </a:r>
            <a:endParaRPr lang="en-US" sz="1800" dirty="0"/>
          </a:p>
        </p:txBody>
      </p:sp>
      <p:sp>
        <p:nvSpPr>
          <p:cNvPr id="18" name="Shape 16"/>
          <p:cNvSpPr/>
          <p:nvPr/>
        </p:nvSpPr>
        <p:spPr>
          <a:xfrm rot="5400000">
            <a:off x="640080" y="4974336"/>
            <a:ext cx="274320" cy="274320"/>
          </a:xfrm>
          <a:prstGeom prst="hexagon">
            <a:avLst/>
          </a:prstGeom>
          <a:solidFill>
            <a:srgbClr val="6C4FE0"/>
          </a:solidFill>
          <a:ln/>
        </p:spPr>
      </p:sp>
      <p:sp>
        <p:nvSpPr>
          <p:cNvPr id="19" name="Text 17"/>
          <p:cNvSpPr/>
          <p:nvPr/>
        </p:nvSpPr>
        <p:spPr>
          <a:xfrm>
            <a:off x="1042416" y="4919472"/>
            <a:ext cx="4572000" cy="310896"/>
          </a:xfrm>
          <a:prstGeom prst="rect">
            <a:avLst/>
          </a:prstGeom>
          <a:noFill/>
          <a:ln/>
        </p:spPr>
        <p:txBody>
          <a:bodyPr wrap="square" lIns="0" tIns="0" rIns="0" bIns="0" rtlCol="0" anchor="ctr"/>
          <a:lstStyle/>
          <a:p>
            <a:pPr indent="0" marL="0">
              <a:buNone/>
            </a:pPr>
            <a:r>
              <a:rPr lang="en-US" sz="1300" b="1" dirty="0">
                <a:solidFill>
                  <a:srgbClr val="241E33"/>
                </a:solidFill>
                <a:latin typeface="Calibri" pitchFamily="34" charset="0"/>
                <a:ea typeface="Calibri" pitchFamily="34" charset="-122"/>
                <a:cs typeface="Calibri" pitchFamily="34" charset="-120"/>
              </a:rPr>
              <a:t>The parent decides.</a:t>
            </a:r>
            <a:endParaRPr lang="en-US" sz="1300" dirty="0"/>
          </a:p>
        </p:txBody>
      </p:sp>
      <p:sp>
        <p:nvSpPr>
          <p:cNvPr id="20" name="Text 18"/>
          <p:cNvSpPr/>
          <p:nvPr/>
        </p:nvSpPr>
        <p:spPr>
          <a:xfrm>
            <a:off x="1042416" y="5230368"/>
            <a:ext cx="4572000" cy="640080"/>
          </a:xfrm>
          <a:prstGeom prst="rect">
            <a:avLst/>
          </a:prstGeom>
          <a:noFill/>
          <a:ln/>
        </p:spPr>
        <p:txBody>
          <a:bodyPr wrap="square" lIns="0" tIns="0" rIns="0" bIns="0" rtlCol="0" anchor="ctr"/>
          <a:lstStyle/>
          <a:p>
            <a:pPr indent="0" marL="0">
              <a:lnSpc>
                <a:spcPts val="1500"/>
              </a:lnSpc>
              <a:buNone/>
            </a:pPr>
            <a:r>
              <a:rPr lang="en-US" sz="1150" dirty="0">
                <a:solidFill>
                  <a:srgbClr val="4A4360"/>
                </a:solidFill>
                <a:latin typeface="Calibri" pitchFamily="34" charset="0"/>
                <a:ea typeface="Calibri" pitchFamily="34" charset="-122"/>
                <a:cs typeface="Calibri" pitchFamily="34" charset="-120"/>
              </a:rPr>
              <a:t>They need to see rigour — real sources, real history, nothing that feels like a cartoon selling something.</a:t>
            </a:r>
            <a:endParaRPr lang="en-US" sz="1150" dirty="0"/>
          </a:p>
        </p:txBody>
      </p:sp>
      <p:sp>
        <p:nvSpPr>
          <p:cNvPr id="21" name="Shape 19"/>
          <p:cNvSpPr/>
          <p:nvPr/>
        </p:nvSpPr>
        <p:spPr>
          <a:xfrm rot="5400000">
            <a:off x="6035040" y="4974336"/>
            <a:ext cx="274320" cy="274320"/>
          </a:xfrm>
          <a:prstGeom prst="hexagon">
            <a:avLst/>
          </a:prstGeom>
          <a:solidFill>
            <a:srgbClr val="F0B429"/>
          </a:solidFill>
          <a:ln/>
        </p:spPr>
      </p:sp>
      <p:sp>
        <p:nvSpPr>
          <p:cNvPr id="22" name="Text 20"/>
          <p:cNvSpPr/>
          <p:nvPr/>
        </p:nvSpPr>
        <p:spPr>
          <a:xfrm>
            <a:off x="6437376" y="4919472"/>
            <a:ext cx="4572000" cy="310896"/>
          </a:xfrm>
          <a:prstGeom prst="rect">
            <a:avLst/>
          </a:prstGeom>
          <a:noFill/>
          <a:ln/>
        </p:spPr>
        <p:txBody>
          <a:bodyPr wrap="square" lIns="0" tIns="0" rIns="0" bIns="0" rtlCol="0" anchor="ctr"/>
          <a:lstStyle/>
          <a:p>
            <a:pPr indent="0" marL="0">
              <a:buNone/>
            </a:pPr>
            <a:r>
              <a:rPr lang="en-US" sz="1300" b="1" dirty="0">
                <a:solidFill>
                  <a:srgbClr val="241E33"/>
                </a:solidFill>
                <a:latin typeface="Calibri" pitchFamily="34" charset="0"/>
                <a:ea typeface="Calibri" pitchFamily="34" charset="-122"/>
                <a:cs typeface="Calibri" pitchFamily="34" charset="-120"/>
              </a:rPr>
              <a:t>The child watches.</a:t>
            </a:r>
            <a:endParaRPr lang="en-US" sz="1300" dirty="0"/>
          </a:p>
        </p:txBody>
      </p:sp>
      <p:sp>
        <p:nvSpPr>
          <p:cNvPr id="23" name="Text 21"/>
          <p:cNvSpPr/>
          <p:nvPr/>
        </p:nvSpPr>
        <p:spPr>
          <a:xfrm>
            <a:off x="6437376" y="5230368"/>
            <a:ext cx="4572000" cy="640080"/>
          </a:xfrm>
          <a:prstGeom prst="rect">
            <a:avLst/>
          </a:prstGeom>
          <a:noFill/>
          <a:ln/>
        </p:spPr>
        <p:txBody>
          <a:bodyPr wrap="square" lIns="0" tIns="0" rIns="0" bIns="0" rtlCol="0" anchor="ctr"/>
          <a:lstStyle/>
          <a:p>
            <a:pPr indent="0" marL="0">
              <a:lnSpc>
                <a:spcPts val="1500"/>
              </a:lnSpc>
              <a:buNone/>
            </a:pPr>
            <a:r>
              <a:rPr lang="en-US" sz="1150" dirty="0">
                <a:solidFill>
                  <a:srgbClr val="4A4360"/>
                </a:solidFill>
                <a:latin typeface="Calibri" pitchFamily="34" charset="0"/>
                <a:ea typeface="Calibri" pitchFamily="34" charset="-122"/>
                <a:cs typeface="Calibri" pitchFamily="34" charset="-120"/>
              </a:rPr>
              <a:t>They need story and pace. If the child is bored the parent never finishes it either.</a:t>
            </a:r>
            <a:endParaRPr lang="en-US" sz="1150" dirty="0"/>
          </a:p>
        </p:txBody>
      </p:sp>
      <p:sp>
        <p:nvSpPr>
          <p:cNvPr id="24" name="Text 22"/>
          <p:cNvSpPr/>
          <p:nvPr/>
        </p:nvSpPr>
        <p:spPr>
          <a:xfrm>
            <a:off x="640080" y="6035040"/>
            <a:ext cx="10607040" cy="365760"/>
          </a:xfrm>
          <a:prstGeom prst="rect">
            <a:avLst/>
          </a:prstGeom>
          <a:noFill/>
          <a:ln/>
        </p:spPr>
        <p:txBody>
          <a:bodyPr wrap="square" lIns="0" tIns="0" rIns="0" bIns="0" rtlCol="0" anchor="ctr"/>
          <a:lstStyle/>
          <a:p>
            <a:pPr indent="0" marL="0">
              <a:buNone/>
            </a:pPr>
            <a:r>
              <a:rPr lang="en-US" sz="1400" i="1" dirty="0">
                <a:solidFill>
                  <a:srgbClr val="6C4FE0"/>
                </a:solidFill>
                <a:latin typeface="Cambria" pitchFamily="34" charset="0"/>
                <a:ea typeface="Cambria" pitchFamily="34" charset="-122"/>
                <a:cs typeface="Cambria" pitchFamily="34" charset="-120"/>
              </a:rPr>
              <a:t>The rule that follows: the video never sells. The product is named once, at the end, and that is the whole ask.</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02336"/>
            <a:ext cx="7315200" cy="256032"/>
          </a:xfrm>
          <a:prstGeom prst="rect">
            <a:avLst/>
          </a:prstGeom>
          <a:noFill/>
          <a:ln/>
        </p:spPr>
        <p:txBody>
          <a:bodyPr wrap="square" lIns="0" tIns="0" rIns="0" bIns="0" rtlCol="0" anchor="ctr"/>
          <a:lstStyle/>
          <a:p>
            <a:pPr indent="0" marL="0">
              <a:buNone/>
            </a:pPr>
            <a:r>
              <a:rPr lang="en-US" sz="1150" b="1" spc="240" kern="0" dirty="0">
                <a:solidFill>
                  <a:srgbClr val="6C4FE0"/>
                </a:solidFill>
                <a:latin typeface="Calibri" pitchFamily="34" charset="0"/>
                <a:ea typeface="Calibri" pitchFamily="34" charset="-122"/>
                <a:cs typeface="Calibri" pitchFamily="34" charset="-120"/>
              </a:rPr>
              <a:t>CONTENT STRATEGY · 2 OF 3</a:t>
            </a:r>
            <a:endParaRPr lang="en-US" sz="1150" dirty="0"/>
          </a:p>
        </p:txBody>
      </p:sp>
      <p:sp>
        <p:nvSpPr>
          <p:cNvPr id="3" name="Text 1"/>
          <p:cNvSpPr/>
          <p:nvPr/>
        </p:nvSpPr>
        <p:spPr>
          <a:xfrm>
            <a:off x="640080" y="694944"/>
            <a:ext cx="10607040" cy="749808"/>
          </a:xfrm>
          <a:prstGeom prst="rect">
            <a:avLst/>
          </a:prstGeom>
          <a:noFill/>
          <a:ln/>
        </p:spPr>
        <p:txBody>
          <a:bodyPr wrap="square" lIns="0" tIns="0" rIns="0" bIns="0" rtlCol="0" anchor="ctr"/>
          <a:lstStyle/>
          <a:p>
            <a:pPr indent="0" marL="0">
              <a:buNone/>
            </a:pPr>
            <a:r>
              <a:rPr lang="en-US" sz="2900" b="1" dirty="0">
                <a:solidFill>
                  <a:srgbClr val="241E33"/>
                </a:solidFill>
                <a:latin typeface="Cambria" pitchFamily="34" charset="0"/>
                <a:ea typeface="Cambria" pitchFamily="34" charset="-122"/>
                <a:cs typeface="Cambria" pitchFamily="34" charset="-120"/>
              </a:rPr>
              <a:t>Four content pillars</a:t>
            </a:r>
            <a:endParaRPr lang="en-US" sz="2900" dirty="0"/>
          </a:p>
        </p:txBody>
      </p:sp>
      <p:sp>
        <p:nvSpPr>
          <p:cNvPr id="4" name="Text 2"/>
          <p:cNvSpPr/>
          <p:nvPr/>
        </p:nvSpPr>
        <p:spPr>
          <a:xfrm>
            <a:off x="640080" y="1444752"/>
            <a:ext cx="10607040" cy="512064"/>
          </a:xfrm>
          <a:prstGeom prst="rect">
            <a:avLst/>
          </a:prstGeom>
          <a:noFill/>
          <a:ln/>
        </p:spPr>
        <p:txBody>
          <a:bodyPr wrap="square" lIns="0" tIns="0" rIns="0" bIns="0" rtlCol="0" anchor="ctr"/>
          <a:lstStyle/>
          <a:p>
            <a:pPr indent="0" marL="0">
              <a:buNone/>
            </a:pPr>
            <a:r>
              <a:rPr lang="en-US" sz="1450" dirty="0">
                <a:solidFill>
                  <a:srgbClr val="7A7291"/>
                </a:solidFill>
                <a:latin typeface="Calibri" pitchFamily="34" charset="0"/>
                <a:ea typeface="Calibri" pitchFamily="34" charset="-122"/>
                <a:cs typeface="Calibri" pitchFamily="34" charset="-120"/>
              </a:rPr>
              <a:t>Each pillar does a different job in the funnel. Together they cover reach, trust and intent.</a:t>
            </a:r>
            <a:endParaRPr lang="en-US" sz="1450" dirty="0"/>
          </a:p>
        </p:txBody>
      </p:sp>
      <p:sp>
        <p:nvSpPr>
          <p:cNvPr id="5" name="Shape 3"/>
          <p:cNvSpPr/>
          <p:nvPr/>
        </p:nvSpPr>
        <p:spPr>
          <a:xfrm>
            <a:off x="640080" y="2011680"/>
            <a:ext cx="5074920" cy="1783080"/>
          </a:xfrm>
          <a:prstGeom prst="roundRect">
            <a:avLst>
              <a:gd name="adj" fmla="val 7179"/>
            </a:avLst>
          </a:prstGeom>
          <a:solidFill>
            <a:srgbClr val="EFEBF8"/>
          </a:solidFill>
          <a:ln/>
          <a:effectLst>
            <a:outerShdw sx="100000" sy="100000" kx="0" ky="0" algn="bl" rotWithShape="0" blurRad="127000" dist="25400" dir="5400000">
              <a:srgbClr val="241E33">
                <a:alpha val="10000"/>
              </a:srgbClr>
            </a:outerShdw>
          </a:effectLst>
        </p:spPr>
      </p:sp>
      <p:sp>
        <p:nvSpPr>
          <p:cNvPr id="6" name="Shape 4"/>
          <p:cNvSpPr/>
          <p:nvPr/>
        </p:nvSpPr>
        <p:spPr>
          <a:xfrm rot="5400000">
            <a:off x="877824" y="2231136"/>
            <a:ext cx="384048" cy="384048"/>
          </a:xfrm>
          <a:prstGeom prst="hexagon">
            <a:avLst/>
          </a:prstGeom>
          <a:solidFill>
            <a:srgbClr val="6C4FE0"/>
          </a:solidFill>
          <a:ln/>
        </p:spPr>
      </p:sp>
      <p:sp>
        <p:nvSpPr>
          <p:cNvPr id="7" name="Text 5"/>
          <p:cNvSpPr/>
          <p:nvPr/>
        </p:nvSpPr>
        <p:spPr>
          <a:xfrm>
            <a:off x="1408176" y="2194560"/>
            <a:ext cx="3017520" cy="365760"/>
          </a:xfrm>
          <a:prstGeom prst="rect">
            <a:avLst/>
          </a:prstGeom>
          <a:noFill/>
          <a:ln/>
        </p:spPr>
        <p:txBody>
          <a:bodyPr wrap="square" lIns="0" tIns="0" rIns="0" bIns="0" rtlCol="0" anchor="ctr"/>
          <a:lstStyle/>
          <a:p>
            <a:pPr indent="0" marL="0">
              <a:buNone/>
            </a:pPr>
            <a:r>
              <a:rPr lang="en-US" sz="1600" b="1" dirty="0">
                <a:solidFill>
                  <a:srgbClr val="241E33"/>
                </a:solidFill>
                <a:latin typeface="Cambria" pitchFamily="34" charset="0"/>
                <a:ea typeface="Cambria" pitchFamily="34" charset="-122"/>
                <a:cs typeface="Cambria" pitchFamily="34" charset="-120"/>
              </a:rPr>
              <a:t>Story documentaries</a:t>
            </a:r>
            <a:endParaRPr lang="en-US" sz="1600" dirty="0"/>
          </a:p>
        </p:txBody>
      </p:sp>
      <p:sp>
        <p:nvSpPr>
          <p:cNvPr id="8" name="Shape 6"/>
          <p:cNvSpPr/>
          <p:nvPr/>
        </p:nvSpPr>
        <p:spPr>
          <a:xfrm>
            <a:off x="4526280" y="2249424"/>
            <a:ext cx="960120" cy="256032"/>
          </a:xfrm>
          <a:prstGeom prst="roundRect">
            <a:avLst>
              <a:gd name="adj" fmla="val 50000"/>
            </a:avLst>
          </a:prstGeom>
          <a:solidFill>
            <a:srgbClr val="E3DCF2"/>
          </a:solidFill>
          <a:ln/>
        </p:spPr>
      </p:sp>
      <p:sp>
        <p:nvSpPr>
          <p:cNvPr id="9" name="Text 7"/>
          <p:cNvSpPr/>
          <p:nvPr/>
        </p:nvSpPr>
        <p:spPr>
          <a:xfrm>
            <a:off x="4526280" y="2249424"/>
            <a:ext cx="960120" cy="256032"/>
          </a:xfrm>
          <a:prstGeom prst="rect">
            <a:avLst/>
          </a:prstGeom>
          <a:noFill/>
          <a:ln/>
        </p:spPr>
        <p:txBody>
          <a:bodyPr wrap="square" lIns="0" tIns="0" rIns="0" bIns="0" rtlCol="0" anchor="ctr"/>
          <a:lstStyle/>
          <a:p>
            <a:pPr algn="ctr" indent="0" marL="0">
              <a:buNone/>
            </a:pPr>
            <a:r>
              <a:rPr lang="en-US" sz="800" b="1" dirty="0">
                <a:solidFill>
                  <a:srgbClr val="4A31B0"/>
                </a:solidFill>
                <a:latin typeface="Calibri" pitchFamily="34" charset="0"/>
                <a:ea typeface="Calibri" pitchFamily="34" charset="-122"/>
                <a:cs typeface="Calibri" pitchFamily="34" charset="-120"/>
              </a:rPr>
              <a:t>Long form</a:t>
            </a:r>
            <a:endParaRPr lang="en-US" sz="800" dirty="0"/>
          </a:p>
        </p:txBody>
      </p:sp>
      <p:sp>
        <p:nvSpPr>
          <p:cNvPr id="10" name="Text 8"/>
          <p:cNvSpPr/>
          <p:nvPr/>
        </p:nvSpPr>
        <p:spPr>
          <a:xfrm>
            <a:off x="877824" y="2633472"/>
            <a:ext cx="4617720" cy="713232"/>
          </a:xfrm>
          <a:prstGeom prst="rect">
            <a:avLst/>
          </a:prstGeom>
          <a:noFill/>
          <a:ln/>
        </p:spPr>
        <p:txBody>
          <a:bodyPr wrap="square" lIns="0" tIns="0" rIns="0" bIns="0" rtlCol="0" anchor="ctr"/>
          <a:lstStyle/>
          <a:p>
            <a:pPr indent="0" marL="0">
              <a:lnSpc>
                <a:spcPts val="1400"/>
              </a:lnSpc>
              <a:buNone/>
            </a:pPr>
            <a:r>
              <a:rPr lang="en-US" sz="1100" dirty="0">
                <a:solidFill>
                  <a:srgbClr val="4A4360"/>
                </a:solidFill>
                <a:latin typeface="Calibri" pitchFamily="34" charset="0"/>
                <a:ea typeface="Calibri" pitchFamily="34" charset="-122"/>
                <a:cs typeface="Calibri" pitchFamily="34" charset="-120"/>
              </a:rPr>
              <a:t>True stories about words and the people who used them. "Before the Bee" — the 1908 contest and the girl whose medal was never found. "The Right Word" — four times somebody reached for a word and the world changed.</a:t>
            </a:r>
            <a:endParaRPr lang="en-US" sz="1100" dirty="0"/>
          </a:p>
        </p:txBody>
      </p:sp>
      <p:sp>
        <p:nvSpPr>
          <p:cNvPr id="11" name="Text 9"/>
          <p:cNvSpPr/>
          <p:nvPr/>
        </p:nvSpPr>
        <p:spPr>
          <a:xfrm>
            <a:off x="877824" y="3364992"/>
            <a:ext cx="4617720" cy="347472"/>
          </a:xfrm>
          <a:prstGeom prst="rect">
            <a:avLst/>
          </a:prstGeom>
          <a:noFill/>
          <a:ln/>
        </p:spPr>
        <p:txBody>
          <a:bodyPr wrap="square" lIns="0" tIns="0" rIns="0" bIns="0" rtlCol="0" anchor="ctr"/>
          <a:lstStyle/>
          <a:p>
            <a:pPr indent="0" marL="0">
              <a:lnSpc>
                <a:spcPts val="1300"/>
              </a:lnSpc>
              <a:buNone/>
            </a:pPr>
            <a:r>
              <a:rPr lang="en-US" sz="1050" b="1" i="1" dirty="0">
                <a:solidFill>
                  <a:srgbClr val="4A31B0"/>
                </a:solidFill>
                <a:latin typeface="Calibri" pitchFamily="34" charset="0"/>
                <a:ea typeface="Calibri" pitchFamily="34" charset="-122"/>
                <a:cs typeface="Calibri" pitchFamily="34" charset="-120"/>
              </a:rPr>
              <a:t>Job:  </a:t>
            </a:r>
            <a:pPr indent="0" marL="0">
              <a:lnSpc>
                <a:spcPts val="1300"/>
              </a:lnSpc>
              <a:buNone/>
            </a:pPr>
            <a:r>
              <a:rPr lang="en-US" sz="1050" i="1" dirty="0">
                <a:solidFill>
                  <a:srgbClr val="4A31B0"/>
                </a:solidFill>
                <a:latin typeface="Calibri" pitchFamily="34" charset="0"/>
                <a:ea typeface="Calibri" pitchFamily="34" charset="-122"/>
                <a:cs typeface="Calibri" pitchFamily="34" charset="-120"/>
              </a:rPr>
              <a:t>Authority. The piece a parent shares with another parent.</a:t>
            </a:r>
            <a:endParaRPr lang="en-US" sz="1050" dirty="0"/>
          </a:p>
        </p:txBody>
      </p:sp>
      <p:sp>
        <p:nvSpPr>
          <p:cNvPr id="12" name="Shape 10"/>
          <p:cNvSpPr/>
          <p:nvPr/>
        </p:nvSpPr>
        <p:spPr>
          <a:xfrm>
            <a:off x="6035040" y="2011680"/>
            <a:ext cx="5074920" cy="1783080"/>
          </a:xfrm>
          <a:prstGeom prst="roundRect">
            <a:avLst>
              <a:gd name="adj" fmla="val 7179"/>
            </a:avLst>
          </a:prstGeom>
          <a:solidFill>
            <a:srgbClr val="FFFFFF"/>
          </a:solidFill>
          <a:ln/>
          <a:effectLst>
            <a:outerShdw sx="100000" sy="100000" kx="0" ky="0" algn="bl" rotWithShape="0" blurRad="127000" dist="25400" dir="5400000">
              <a:srgbClr val="241E33">
                <a:alpha val="10000"/>
              </a:srgbClr>
            </a:outerShdw>
          </a:effectLst>
        </p:spPr>
      </p:sp>
      <p:sp>
        <p:nvSpPr>
          <p:cNvPr id="13" name="Shape 11"/>
          <p:cNvSpPr/>
          <p:nvPr/>
        </p:nvSpPr>
        <p:spPr>
          <a:xfrm>
            <a:off x="6035040" y="2011680"/>
            <a:ext cx="5074920" cy="1783080"/>
          </a:xfrm>
          <a:prstGeom prst="roundRect">
            <a:avLst>
              <a:gd name="adj" fmla="val 7179"/>
            </a:avLst>
          </a:prstGeom>
          <a:solidFill>
            <a:srgbClr val="FFFFFF"/>
          </a:solidFill>
          <a:ln w="15875">
            <a:solidFill>
              <a:srgbClr val="E3DCF2"/>
            </a:solidFill>
            <a:prstDash val="solid"/>
          </a:ln>
        </p:spPr>
      </p:sp>
      <p:sp>
        <p:nvSpPr>
          <p:cNvPr id="14" name="Shape 12"/>
          <p:cNvSpPr/>
          <p:nvPr/>
        </p:nvSpPr>
        <p:spPr>
          <a:xfrm rot="5400000">
            <a:off x="6272784" y="2231136"/>
            <a:ext cx="384048" cy="384048"/>
          </a:xfrm>
          <a:prstGeom prst="hexagon">
            <a:avLst/>
          </a:prstGeom>
          <a:solidFill>
            <a:srgbClr val="F0B429"/>
          </a:solidFill>
          <a:ln/>
        </p:spPr>
      </p:sp>
      <p:sp>
        <p:nvSpPr>
          <p:cNvPr id="15" name="Text 13"/>
          <p:cNvSpPr/>
          <p:nvPr/>
        </p:nvSpPr>
        <p:spPr>
          <a:xfrm>
            <a:off x="6803136" y="2194560"/>
            <a:ext cx="3017520" cy="365760"/>
          </a:xfrm>
          <a:prstGeom prst="rect">
            <a:avLst/>
          </a:prstGeom>
          <a:noFill/>
          <a:ln/>
        </p:spPr>
        <p:txBody>
          <a:bodyPr wrap="square" lIns="0" tIns="0" rIns="0" bIns="0" rtlCol="0" anchor="ctr"/>
          <a:lstStyle/>
          <a:p>
            <a:pPr indent="0" marL="0">
              <a:buNone/>
            </a:pPr>
            <a:r>
              <a:rPr lang="en-US" sz="1600" b="1" dirty="0">
                <a:solidFill>
                  <a:srgbClr val="241E33"/>
                </a:solidFill>
                <a:latin typeface="Cambria" pitchFamily="34" charset="0"/>
                <a:ea typeface="Cambria" pitchFamily="34" charset="-122"/>
                <a:cs typeface="Cambria" pitchFamily="34" charset="-120"/>
              </a:rPr>
              <a:t>Word-origin shorts</a:t>
            </a:r>
            <a:endParaRPr lang="en-US" sz="1600" dirty="0"/>
          </a:p>
        </p:txBody>
      </p:sp>
      <p:sp>
        <p:nvSpPr>
          <p:cNvPr id="16" name="Shape 14"/>
          <p:cNvSpPr/>
          <p:nvPr/>
        </p:nvSpPr>
        <p:spPr>
          <a:xfrm>
            <a:off x="9921240" y="2249424"/>
            <a:ext cx="960120" cy="256032"/>
          </a:xfrm>
          <a:prstGeom prst="roundRect">
            <a:avLst>
              <a:gd name="adj" fmla="val 50000"/>
            </a:avLst>
          </a:prstGeom>
          <a:solidFill>
            <a:srgbClr val="E3DCF2"/>
          </a:solidFill>
          <a:ln/>
        </p:spPr>
      </p:sp>
      <p:sp>
        <p:nvSpPr>
          <p:cNvPr id="17" name="Text 15"/>
          <p:cNvSpPr/>
          <p:nvPr/>
        </p:nvSpPr>
        <p:spPr>
          <a:xfrm>
            <a:off x="9921240" y="2249424"/>
            <a:ext cx="960120" cy="256032"/>
          </a:xfrm>
          <a:prstGeom prst="rect">
            <a:avLst/>
          </a:prstGeom>
          <a:noFill/>
          <a:ln/>
        </p:spPr>
        <p:txBody>
          <a:bodyPr wrap="square" lIns="0" tIns="0" rIns="0" bIns="0" rtlCol="0" anchor="ctr"/>
          <a:lstStyle/>
          <a:p>
            <a:pPr algn="ctr" indent="0" marL="0">
              <a:buNone/>
            </a:pPr>
            <a:r>
              <a:rPr lang="en-US" sz="800" b="1" dirty="0">
                <a:solidFill>
                  <a:srgbClr val="4A31B0"/>
                </a:solidFill>
                <a:latin typeface="Calibri" pitchFamily="34" charset="0"/>
                <a:ea typeface="Calibri" pitchFamily="34" charset="-122"/>
                <a:cs typeface="Calibri" pitchFamily="34" charset="-120"/>
              </a:rPr>
              <a:t>Short form</a:t>
            </a:r>
            <a:endParaRPr lang="en-US" sz="800" dirty="0"/>
          </a:p>
        </p:txBody>
      </p:sp>
      <p:sp>
        <p:nvSpPr>
          <p:cNvPr id="18" name="Text 16"/>
          <p:cNvSpPr/>
          <p:nvPr/>
        </p:nvSpPr>
        <p:spPr>
          <a:xfrm>
            <a:off x="6272784" y="2633472"/>
            <a:ext cx="4617720" cy="713232"/>
          </a:xfrm>
          <a:prstGeom prst="rect">
            <a:avLst/>
          </a:prstGeom>
          <a:noFill/>
          <a:ln/>
        </p:spPr>
        <p:txBody>
          <a:bodyPr wrap="square" lIns="0" tIns="0" rIns="0" bIns="0" rtlCol="0" anchor="ctr"/>
          <a:lstStyle/>
          <a:p>
            <a:pPr indent="0" marL="0">
              <a:lnSpc>
                <a:spcPts val="1400"/>
              </a:lnSpc>
              <a:buNone/>
            </a:pPr>
            <a:r>
              <a:rPr lang="en-US" sz="1100" dirty="0">
                <a:solidFill>
                  <a:srgbClr val="4A4360"/>
                </a:solidFill>
                <a:latin typeface="Calibri" pitchFamily="34" charset="0"/>
                <a:ea typeface="Calibri" pitchFamily="34" charset="-122"/>
                <a:cs typeface="Calibri" pitchFamily="34" charset="-120"/>
              </a:rPr>
              <a:t>One word, one surprising origin, under a minute. Why "knight" keeps a silent K. Why the menu says beef and the field says cow. Built straight from the app’s existing etymology bank.</a:t>
            </a:r>
            <a:endParaRPr lang="en-US" sz="1100" dirty="0"/>
          </a:p>
        </p:txBody>
      </p:sp>
      <p:sp>
        <p:nvSpPr>
          <p:cNvPr id="19" name="Text 17"/>
          <p:cNvSpPr/>
          <p:nvPr/>
        </p:nvSpPr>
        <p:spPr>
          <a:xfrm>
            <a:off x="6272784" y="3364992"/>
            <a:ext cx="4617720" cy="347472"/>
          </a:xfrm>
          <a:prstGeom prst="rect">
            <a:avLst/>
          </a:prstGeom>
          <a:noFill/>
          <a:ln/>
        </p:spPr>
        <p:txBody>
          <a:bodyPr wrap="square" lIns="0" tIns="0" rIns="0" bIns="0" rtlCol="0" anchor="ctr"/>
          <a:lstStyle/>
          <a:p>
            <a:pPr indent="0" marL="0">
              <a:lnSpc>
                <a:spcPts val="1300"/>
              </a:lnSpc>
              <a:buNone/>
            </a:pPr>
            <a:r>
              <a:rPr lang="en-US" sz="1050" b="1" i="1" dirty="0">
                <a:solidFill>
                  <a:srgbClr val="4A31B0"/>
                </a:solidFill>
                <a:latin typeface="Calibri" pitchFamily="34" charset="0"/>
                <a:ea typeface="Calibri" pitchFamily="34" charset="-122"/>
                <a:cs typeface="Calibri" pitchFamily="34" charset="-120"/>
              </a:rPr>
              <a:t>Job:  </a:t>
            </a:r>
            <a:pPr indent="0" marL="0">
              <a:lnSpc>
                <a:spcPts val="1300"/>
              </a:lnSpc>
              <a:buNone/>
            </a:pPr>
            <a:r>
              <a:rPr lang="en-US" sz="1050" i="1" dirty="0">
                <a:solidFill>
                  <a:srgbClr val="4A31B0"/>
                </a:solidFill>
                <a:latin typeface="Calibri" pitchFamily="34" charset="0"/>
                <a:ea typeface="Calibri" pitchFamily="34" charset="-122"/>
                <a:cs typeface="Calibri" pitchFamily="34" charset="-120"/>
              </a:rPr>
              <a:t>Reach. Volume the algorithm can work with, at almost no marginal cost.</a:t>
            </a:r>
            <a:endParaRPr lang="en-US" sz="1050" dirty="0"/>
          </a:p>
        </p:txBody>
      </p:sp>
      <p:sp>
        <p:nvSpPr>
          <p:cNvPr id="20" name="Shape 18"/>
          <p:cNvSpPr/>
          <p:nvPr/>
        </p:nvSpPr>
        <p:spPr>
          <a:xfrm>
            <a:off x="640080" y="4023360"/>
            <a:ext cx="5074920" cy="1783080"/>
          </a:xfrm>
          <a:prstGeom prst="roundRect">
            <a:avLst>
              <a:gd name="adj" fmla="val 7179"/>
            </a:avLst>
          </a:prstGeom>
          <a:solidFill>
            <a:srgbClr val="FFFFFF"/>
          </a:solidFill>
          <a:ln/>
          <a:effectLst>
            <a:outerShdw sx="100000" sy="100000" kx="0" ky="0" algn="bl" rotWithShape="0" blurRad="127000" dist="25400" dir="5400000">
              <a:srgbClr val="241E33">
                <a:alpha val="10000"/>
              </a:srgbClr>
            </a:outerShdw>
          </a:effectLst>
        </p:spPr>
      </p:sp>
      <p:sp>
        <p:nvSpPr>
          <p:cNvPr id="21" name="Shape 19"/>
          <p:cNvSpPr/>
          <p:nvPr/>
        </p:nvSpPr>
        <p:spPr>
          <a:xfrm>
            <a:off x="640080" y="4023360"/>
            <a:ext cx="5074920" cy="1783080"/>
          </a:xfrm>
          <a:prstGeom prst="roundRect">
            <a:avLst>
              <a:gd name="adj" fmla="val 7179"/>
            </a:avLst>
          </a:prstGeom>
          <a:solidFill>
            <a:srgbClr val="FFFFFF"/>
          </a:solidFill>
          <a:ln w="15875">
            <a:solidFill>
              <a:srgbClr val="E3DCF2"/>
            </a:solidFill>
            <a:prstDash val="solid"/>
          </a:ln>
        </p:spPr>
      </p:sp>
      <p:sp>
        <p:nvSpPr>
          <p:cNvPr id="22" name="Shape 20"/>
          <p:cNvSpPr/>
          <p:nvPr/>
        </p:nvSpPr>
        <p:spPr>
          <a:xfrm rot="5400000">
            <a:off x="877824" y="4242816"/>
            <a:ext cx="384048" cy="384048"/>
          </a:xfrm>
          <a:prstGeom prst="hexagon">
            <a:avLst/>
          </a:prstGeom>
          <a:solidFill>
            <a:srgbClr val="178A4C"/>
          </a:solidFill>
          <a:ln/>
        </p:spPr>
      </p:sp>
      <p:sp>
        <p:nvSpPr>
          <p:cNvPr id="23" name="Text 21"/>
          <p:cNvSpPr/>
          <p:nvPr/>
        </p:nvSpPr>
        <p:spPr>
          <a:xfrm>
            <a:off x="1408176" y="4206240"/>
            <a:ext cx="3017520" cy="365760"/>
          </a:xfrm>
          <a:prstGeom prst="rect">
            <a:avLst/>
          </a:prstGeom>
          <a:noFill/>
          <a:ln/>
        </p:spPr>
        <p:txBody>
          <a:bodyPr wrap="square" lIns="0" tIns="0" rIns="0" bIns="0" rtlCol="0" anchor="ctr"/>
          <a:lstStyle/>
          <a:p>
            <a:pPr indent="0" marL="0">
              <a:buNone/>
            </a:pPr>
            <a:r>
              <a:rPr lang="en-US" sz="1600" b="1" dirty="0">
                <a:solidFill>
                  <a:srgbClr val="241E33"/>
                </a:solidFill>
                <a:latin typeface="Cambria" pitchFamily="34" charset="0"/>
                <a:ea typeface="Cambria" pitchFamily="34" charset="-122"/>
                <a:cs typeface="Cambria" pitchFamily="34" charset="-120"/>
              </a:rPr>
              <a:t>Bee craft</a:t>
            </a:r>
            <a:endParaRPr lang="en-US" sz="1600" dirty="0"/>
          </a:p>
        </p:txBody>
      </p:sp>
      <p:sp>
        <p:nvSpPr>
          <p:cNvPr id="24" name="Shape 22"/>
          <p:cNvSpPr/>
          <p:nvPr/>
        </p:nvSpPr>
        <p:spPr>
          <a:xfrm>
            <a:off x="4526280" y="4261104"/>
            <a:ext cx="960120" cy="256032"/>
          </a:xfrm>
          <a:prstGeom prst="roundRect">
            <a:avLst>
              <a:gd name="adj" fmla="val 50000"/>
            </a:avLst>
          </a:prstGeom>
          <a:solidFill>
            <a:srgbClr val="E3DCF2"/>
          </a:solidFill>
          <a:ln/>
        </p:spPr>
      </p:sp>
      <p:sp>
        <p:nvSpPr>
          <p:cNvPr id="25" name="Text 23"/>
          <p:cNvSpPr/>
          <p:nvPr/>
        </p:nvSpPr>
        <p:spPr>
          <a:xfrm>
            <a:off x="4526280" y="4261104"/>
            <a:ext cx="960120" cy="256032"/>
          </a:xfrm>
          <a:prstGeom prst="rect">
            <a:avLst/>
          </a:prstGeom>
          <a:noFill/>
          <a:ln/>
        </p:spPr>
        <p:txBody>
          <a:bodyPr wrap="square" lIns="0" tIns="0" rIns="0" bIns="0" rtlCol="0" anchor="ctr"/>
          <a:lstStyle/>
          <a:p>
            <a:pPr algn="ctr" indent="0" marL="0">
              <a:buNone/>
            </a:pPr>
            <a:r>
              <a:rPr lang="en-US" sz="800" b="1" dirty="0">
                <a:solidFill>
                  <a:srgbClr val="4A31B0"/>
                </a:solidFill>
                <a:latin typeface="Calibri" pitchFamily="34" charset="0"/>
                <a:ea typeface="Calibri" pitchFamily="34" charset="-122"/>
                <a:cs typeface="Calibri" pitchFamily="34" charset="-120"/>
              </a:rPr>
              <a:t>Mid form</a:t>
            </a:r>
            <a:endParaRPr lang="en-US" sz="800" dirty="0"/>
          </a:p>
        </p:txBody>
      </p:sp>
      <p:sp>
        <p:nvSpPr>
          <p:cNvPr id="26" name="Text 24"/>
          <p:cNvSpPr/>
          <p:nvPr/>
        </p:nvSpPr>
        <p:spPr>
          <a:xfrm>
            <a:off x="877824" y="4645152"/>
            <a:ext cx="4617720" cy="713232"/>
          </a:xfrm>
          <a:prstGeom prst="rect">
            <a:avLst/>
          </a:prstGeom>
          <a:noFill/>
          <a:ln/>
        </p:spPr>
        <p:txBody>
          <a:bodyPr wrap="square" lIns="0" tIns="0" rIns="0" bIns="0" rtlCol="0" anchor="ctr"/>
          <a:lstStyle/>
          <a:p>
            <a:pPr indent="0" marL="0">
              <a:lnSpc>
                <a:spcPts val="1400"/>
              </a:lnSpc>
              <a:buNone/>
            </a:pPr>
            <a:r>
              <a:rPr lang="en-US" sz="1100" dirty="0">
                <a:solidFill>
                  <a:srgbClr val="4A4360"/>
                </a:solidFill>
                <a:latin typeface="Calibri" pitchFamily="34" charset="0"/>
                <a:ea typeface="Calibri" pitchFamily="34" charset="-122"/>
                <a:cs typeface="Calibri" pitchFamily="34" charset="-120"/>
              </a:rPr>
              <a:t>How champions actually study: root patterns, language-of-origin cues, what to ask the pronouncer, how to handle a word you have never seen.</a:t>
            </a:r>
            <a:endParaRPr lang="en-US" sz="1100" dirty="0"/>
          </a:p>
        </p:txBody>
      </p:sp>
      <p:sp>
        <p:nvSpPr>
          <p:cNvPr id="27" name="Text 25"/>
          <p:cNvSpPr/>
          <p:nvPr/>
        </p:nvSpPr>
        <p:spPr>
          <a:xfrm>
            <a:off x="877824" y="5376672"/>
            <a:ext cx="4617720" cy="347472"/>
          </a:xfrm>
          <a:prstGeom prst="rect">
            <a:avLst/>
          </a:prstGeom>
          <a:noFill/>
          <a:ln/>
        </p:spPr>
        <p:txBody>
          <a:bodyPr wrap="square" lIns="0" tIns="0" rIns="0" bIns="0" rtlCol="0" anchor="ctr"/>
          <a:lstStyle/>
          <a:p>
            <a:pPr indent="0" marL="0">
              <a:lnSpc>
                <a:spcPts val="1300"/>
              </a:lnSpc>
              <a:buNone/>
            </a:pPr>
            <a:r>
              <a:rPr lang="en-US" sz="1050" b="1" i="1" dirty="0">
                <a:solidFill>
                  <a:srgbClr val="4A31B0"/>
                </a:solidFill>
                <a:latin typeface="Calibri" pitchFamily="34" charset="0"/>
                <a:ea typeface="Calibri" pitchFamily="34" charset="-122"/>
                <a:cs typeface="Calibri" pitchFamily="34" charset="-120"/>
              </a:rPr>
              <a:t>Job:  </a:t>
            </a:r>
            <a:pPr indent="0" marL="0">
              <a:lnSpc>
                <a:spcPts val="1300"/>
              </a:lnSpc>
              <a:buNone/>
            </a:pPr>
            <a:r>
              <a:rPr lang="en-US" sz="1050" i="1" dirty="0">
                <a:solidFill>
                  <a:srgbClr val="4A31B0"/>
                </a:solidFill>
                <a:latin typeface="Calibri" pitchFamily="34" charset="0"/>
                <a:ea typeface="Calibri" pitchFamily="34" charset="-122"/>
                <a:cs typeface="Calibri" pitchFamily="34" charset="-120"/>
              </a:rPr>
              <a:t>Intent. These viewers are already preparing — the shortest path to a trial.</a:t>
            </a:r>
            <a:endParaRPr lang="en-US" sz="1050" dirty="0"/>
          </a:p>
        </p:txBody>
      </p:sp>
      <p:sp>
        <p:nvSpPr>
          <p:cNvPr id="28" name="Shape 26"/>
          <p:cNvSpPr/>
          <p:nvPr/>
        </p:nvSpPr>
        <p:spPr>
          <a:xfrm>
            <a:off x="6035040" y="4023360"/>
            <a:ext cx="5074920" cy="1783080"/>
          </a:xfrm>
          <a:prstGeom prst="roundRect">
            <a:avLst>
              <a:gd name="adj" fmla="val 7179"/>
            </a:avLst>
          </a:prstGeom>
          <a:solidFill>
            <a:srgbClr val="EFEBF8"/>
          </a:solidFill>
          <a:ln/>
          <a:effectLst>
            <a:outerShdw sx="100000" sy="100000" kx="0" ky="0" algn="bl" rotWithShape="0" blurRad="127000" dist="25400" dir="5400000">
              <a:srgbClr val="241E33">
                <a:alpha val="10000"/>
              </a:srgbClr>
            </a:outerShdw>
          </a:effectLst>
        </p:spPr>
      </p:sp>
      <p:sp>
        <p:nvSpPr>
          <p:cNvPr id="29" name="Shape 27"/>
          <p:cNvSpPr/>
          <p:nvPr/>
        </p:nvSpPr>
        <p:spPr>
          <a:xfrm rot="5400000">
            <a:off x="6272784" y="4242816"/>
            <a:ext cx="384048" cy="384048"/>
          </a:xfrm>
          <a:prstGeom prst="hexagon">
            <a:avLst/>
          </a:prstGeom>
          <a:solidFill>
            <a:srgbClr val="E3B23C"/>
          </a:solidFill>
          <a:ln/>
        </p:spPr>
      </p:sp>
      <p:sp>
        <p:nvSpPr>
          <p:cNvPr id="30" name="Text 28"/>
          <p:cNvSpPr/>
          <p:nvPr/>
        </p:nvSpPr>
        <p:spPr>
          <a:xfrm>
            <a:off x="6803136" y="4206240"/>
            <a:ext cx="3017520" cy="365760"/>
          </a:xfrm>
          <a:prstGeom prst="rect">
            <a:avLst/>
          </a:prstGeom>
          <a:noFill/>
          <a:ln/>
        </p:spPr>
        <p:txBody>
          <a:bodyPr wrap="square" lIns="0" tIns="0" rIns="0" bIns="0" rtlCol="0" anchor="ctr"/>
          <a:lstStyle/>
          <a:p>
            <a:pPr indent="0" marL="0">
              <a:buNone/>
            </a:pPr>
            <a:r>
              <a:rPr lang="en-US" sz="1600" b="1" dirty="0">
                <a:solidFill>
                  <a:srgbClr val="241E33"/>
                </a:solidFill>
                <a:latin typeface="Cambria" pitchFamily="34" charset="0"/>
                <a:ea typeface="Cambria" pitchFamily="34" charset="-122"/>
                <a:cs typeface="Cambria" pitchFamily="34" charset="-120"/>
              </a:rPr>
              <a:t>Culture &amp; India</a:t>
            </a:r>
            <a:endParaRPr lang="en-US" sz="1600" dirty="0"/>
          </a:p>
        </p:txBody>
      </p:sp>
      <p:sp>
        <p:nvSpPr>
          <p:cNvPr id="31" name="Shape 29"/>
          <p:cNvSpPr/>
          <p:nvPr/>
        </p:nvSpPr>
        <p:spPr>
          <a:xfrm>
            <a:off x="9921240" y="4261104"/>
            <a:ext cx="960120" cy="256032"/>
          </a:xfrm>
          <a:prstGeom prst="roundRect">
            <a:avLst>
              <a:gd name="adj" fmla="val 50000"/>
            </a:avLst>
          </a:prstGeom>
          <a:solidFill>
            <a:srgbClr val="E3DCF2"/>
          </a:solidFill>
          <a:ln/>
        </p:spPr>
      </p:sp>
      <p:sp>
        <p:nvSpPr>
          <p:cNvPr id="32" name="Text 30"/>
          <p:cNvSpPr/>
          <p:nvPr/>
        </p:nvSpPr>
        <p:spPr>
          <a:xfrm>
            <a:off x="9921240" y="4261104"/>
            <a:ext cx="960120" cy="256032"/>
          </a:xfrm>
          <a:prstGeom prst="rect">
            <a:avLst/>
          </a:prstGeom>
          <a:noFill/>
          <a:ln/>
        </p:spPr>
        <p:txBody>
          <a:bodyPr wrap="square" lIns="0" tIns="0" rIns="0" bIns="0" rtlCol="0" anchor="ctr"/>
          <a:lstStyle/>
          <a:p>
            <a:pPr algn="ctr" indent="0" marL="0">
              <a:buNone/>
            </a:pPr>
            <a:r>
              <a:rPr lang="en-US" sz="800" b="1" dirty="0">
                <a:solidFill>
                  <a:srgbClr val="4A31B0"/>
                </a:solidFill>
                <a:latin typeface="Calibri" pitchFamily="34" charset="0"/>
                <a:ea typeface="Calibri" pitchFamily="34" charset="-122"/>
                <a:cs typeface="Calibri" pitchFamily="34" charset="-120"/>
              </a:rPr>
              <a:t>Mixed</a:t>
            </a:r>
            <a:endParaRPr lang="en-US" sz="800" dirty="0"/>
          </a:p>
        </p:txBody>
      </p:sp>
      <p:sp>
        <p:nvSpPr>
          <p:cNvPr id="33" name="Text 31"/>
          <p:cNvSpPr/>
          <p:nvPr/>
        </p:nvSpPr>
        <p:spPr>
          <a:xfrm>
            <a:off x="6272784" y="4645152"/>
            <a:ext cx="4617720" cy="713232"/>
          </a:xfrm>
          <a:prstGeom prst="rect">
            <a:avLst/>
          </a:prstGeom>
          <a:noFill/>
          <a:ln/>
        </p:spPr>
        <p:txBody>
          <a:bodyPr wrap="square" lIns="0" tIns="0" rIns="0" bIns="0" rtlCol="0" anchor="ctr"/>
          <a:lstStyle/>
          <a:p>
            <a:pPr indent="0" marL="0">
              <a:lnSpc>
                <a:spcPts val="1400"/>
              </a:lnSpc>
              <a:buNone/>
            </a:pPr>
            <a:r>
              <a:rPr lang="en-US" sz="1100" dirty="0">
                <a:solidFill>
                  <a:srgbClr val="4A4360"/>
                </a:solidFill>
                <a:latin typeface="Calibri" pitchFamily="34" charset="0"/>
                <a:ea typeface="Calibri" pitchFamily="34" charset="-122"/>
                <a:cs typeface="Calibri" pitchFamily="34" charset="-120"/>
              </a:rPr>
              <a:t>Festivals, mythology, the words English took from India, why the diaspora spells the way it does. Feeds Bizzing India directly.</a:t>
            </a:r>
            <a:endParaRPr lang="en-US" sz="1100" dirty="0"/>
          </a:p>
        </p:txBody>
      </p:sp>
      <p:sp>
        <p:nvSpPr>
          <p:cNvPr id="34" name="Text 32"/>
          <p:cNvSpPr/>
          <p:nvPr/>
        </p:nvSpPr>
        <p:spPr>
          <a:xfrm>
            <a:off x="6272784" y="5376672"/>
            <a:ext cx="4617720" cy="347472"/>
          </a:xfrm>
          <a:prstGeom prst="rect">
            <a:avLst/>
          </a:prstGeom>
          <a:noFill/>
          <a:ln/>
        </p:spPr>
        <p:txBody>
          <a:bodyPr wrap="square" lIns="0" tIns="0" rIns="0" bIns="0" rtlCol="0" anchor="ctr"/>
          <a:lstStyle/>
          <a:p>
            <a:pPr indent="0" marL="0">
              <a:lnSpc>
                <a:spcPts val="1300"/>
              </a:lnSpc>
              <a:buNone/>
            </a:pPr>
            <a:r>
              <a:rPr lang="en-US" sz="1050" b="1" i="1" dirty="0">
                <a:solidFill>
                  <a:srgbClr val="4A31B0"/>
                </a:solidFill>
                <a:latin typeface="Calibri" pitchFamily="34" charset="0"/>
                <a:ea typeface="Calibri" pitchFamily="34" charset="-122"/>
                <a:cs typeface="Calibri" pitchFamily="34" charset="-120"/>
              </a:rPr>
              <a:t>Job:  </a:t>
            </a:r>
            <a:pPr indent="0" marL="0">
              <a:lnSpc>
                <a:spcPts val="1300"/>
              </a:lnSpc>
              <a:buNone/>
            </a:pPr>
            <a:r>
              <a:rPr lang="en-US" sz="1050" i="1" dirty="0">
                <a:solidFill>
                  <a:srgbClr val="4A31B0"/>
                </a:solidFill>
                <a:latin typeface="Calibri" pitchFamily="34" charset="0"/>
                <a:ea typeface="Calibri" pitchFamily="34" charset="-122"/>
                <a:cs typeface="Calibri" pitchFamily="34" charset="-120"/>
              </a:rPr>
              <a:t>Connection. The pillar that makes this channel ours and nobody else’s.</a:t>
            </a:r>
            <a:endParaRPr lang="en-US" sz="1050" dirty="0"/>
          </a:p>
        </p:txBody>
      </p:sp>
      <p:sp>
        <p:nvSpPr>
          <p:cNvPr id="35" name="Text 33"/>
          <p:cNvSpPr/>
          <p:nvPr/>
        </p:nvSpPr>
        <p:spPr>
          <a:xfrm>
            <a:off x="640080" y="6053328"/>
            <a:ext cx="10607040" cy="365760"/>
          </a:xfrm>
          <a:prstGeom prst="rect">
            <a:avLst/>
          </a:prstGeom>
          <a:noFill/>
          <a:ln/>
        </p:spPr>
        <p:txBody>
          <a:bodyPr wrap="square" lIns="0" tIns="0" rIns="0" bIns="0" rtlCol="0" anchor="ctr"/>
          <a:lstStyle/>
          <a:p>
            <a:pPr indent="0" marL="0">
              <a:buNone/>
            </a:pPr>
            <a:r>
              <a:rPr lang="en-US" sz="1400" i="1" dirty="0">
                <a:solidFill>
                  <a:srgbClr val="6C4FE0"/>
                </a:solidFill>
                <a:latin typeface="Cambria" pitchFamily="34" charset="0"/>
                <a:ea typeface="Cambria" pitchFamily="34" charset="-122"/>
                <a:cs typeface="Cambria" pitchFamily="34" charset="-120"/>
              </a:rPr>
              <a:t>One documentary yields six to ten shorts, and a shorts run seeds a book chapter. Nothing is made once.</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02336"/>
            <a:ext cx="7315200" cy="256032"/>
          </a:xfrm>
          <a:prstGeom prst="rect">
            <a:avLst/>
          </a:prstGeom>
          <a:noFill/>
          <a:ln/>
        </p:spPr>
        <p:txBody>
          <a:bodyPr wrap="square" lIns="0" tIns="0" rIns="0" bIns="0" rtlCol="0" anchor="ctr"/>
          <a:lstStyle/>
          <a:p>
            <a:pPr indent="0" marL="0">
              <a:buNone/>
            </a:pPr>
            <a:r>
              <a:rPr lang="en-US" sz="1150" b="1" spc="240" kern="0" dirty="0">
                <a:solidFill>
                  <a:srgbClr val="6C4FE0"/>
                </a:solidFill>
                <a:latin typeface="Calibri" pitchFamily="34" charset="0"/>
                <a:ea typeface="Calibri" pitchFamily="34" charset="-122"/>
                <a:cs typeface="Calibri" pitchFamily="34" charset="-120"/>
              </a:rPr>
              <a:t>CONTENT STRATEGY · 3 OF 3</a:t>
            </a:r>
            <a:endParaRPr lang="en-US" sz="1150" dirty="0"/>
          </a:p>
        </p:txBody>
      </p:sp>
      <p:sp>
        <p:nvSpPr>
          <p:cNvPr id="3" name="Text 1"/>
          <p:cNvSpPr/>
          <p:nvPr/>
        </p:nvSpPr>
        <p:spPr>
          <a:xfrm>
            <a:off x="640080" y="694944"/>
            <a:ext cx="10607040" cy="749808"/>
          </a:xfrm>
          <a:prstGeom prst="rect">
            <a:avLst/>
          </a:prstGeom>
          <a:noFill/>
          <a:ln/>
        </p:spPr>
        <p:txBody>
          <a:bodyPr wrap="square" lIns="0" tIns="0" rIns="0" bIns="0" rtlCol="0" anchor="ctr"/>
          <a:lstStyle/>
          <a:p>
            <a:pPr indent="0" marL="0">
              <a:buNone/>
            </a:pPr>
            <a:r>
              <a:rPr lang="en-US" sz="2900" b="1" dirty="0">
                <a:solidFill>
                  <a:srgbClr val="241E33"/>
                </a:solidFill>
                <a:latin typeface="Cambria" pitchFamily="34" charset="0"/>
                <a:ea typeface="Cambria" pitchFamily="34" charset="-122"/>
                <a:cs typeface="Cambria" pitchFamily="34" charset="-120"/>
              </a:rPr>
              <a:t>How it runs, and where it lands</a:t>
            </a:r>
            <a:endParaRPr lang="en-US" sz="2900" dirty="0"/>
          </a:p>
        </p:txBody>
      </p:sp>
      <p:sp>
        <p:nvSpPr>
          <p:cNvPr id="4" name="Text 2"/>
          <p:cNvSpPr/>
          <p:nvPr/>
        </p:nvSpPr>
        <p:spPr>
          <a:xfrm>
            <a:off x="640080" y="1463040"/>
            <a:ext cx="4572000" cy="329184"/>
          </a:xfrm>
          <a:prstGeom prst="rect">
            <a:avLst/>
          </a:prstGeom>
          <a:noFill/>
          <a:ln/>
        </p:spPr>
        <p:txBody>
          <a:bodyPr wrap="square" lIns="0" tIns="0" rIns="0" bIns="0" rtlCol="0" anchor="ctr"/>
          <a:lstStyle/>
          <a:p>
            <a:pPr indent="0" marL="0">
              <a:buNone/>
            </a:pPr>
            <a:r>
              <a:rPr lang="en-US" sz="1800" b="1" dirty="0">
                <a:solidFill>
                  <a:srgbClr val="241E33"/>
                </a:solidFill>
                <a:latin typeface="Cambria" pitchFamily="34" charset="0"/>
                <a:ea typeface="Cambria" pitchFamily="34" charset="-122"/>
                <a:cs typeface="Cambria" pitchFamily="34" charset="-120"/>
              </a:rPr>
              <a:t>Production</a:t>
            </a:r>
            <a:endParaRPr lang="en-US" sz="1800" dirty="0"/>
          </a:p>
        </p:txBody>
      </p:sp>
      <p:sp>
        <p:nvSpPr>
          <p:cNvPr id="5" name="Shape 3"/>
          <p:cNvSpPr/>
          <p:nvPr/>
        </p:nvSpPr>
        <p:spPr>
          <a:xfrm rot="5400000">
            <a:off x="640080" y="1901952"/>
            <a:ext cx="384048" cy="384048"/>
          </a:xfrm>
          <a:prstGeom prst="hexagon">
            <a:avLst/>
          </a:prstGeom>
          <a:solidFill>
            <a:srgbClr val="6C4FE0"/>
          </a:solidFill>
          <a:ln/>
        </p:spPr>
      </p:sp>
      <p:sp>
        <p:nvSpPr>
          <p:cNvPr id="6" name="Text 4"/>
          <p:cNvSpPr/>
          <p:nvPr/>
        </p:nvSpPr>
        <p:spPr>
          <a:xfrm>
            <a:off x="640080" y="19019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7" name="Text 5"/>
          <p:cNvSpPr/>
          <p:nvPr/>
        </p:nvSpPr>
        <p:spPr>
          <a:xfrm>
            <a:off x="1188720" y="1901952"/>
            <a:ext cx="4663440" cy="457200"/>
          </a:xfrm>
          <a:prstGeom prst="rect">
            <a:avLst/>
          </a:prstGeom>
          <a:noFill/>
          <a:ln/>
        </p:spPr>
        <p:txBody>
          <a:bodyPr wrap="square" lIns="0" tIns="0" rIns="0" bIns="0" rtlCol="0" anchor="ctr"/>
          <a:lstStyle/>
          <a:p>
            <a:pPr indent="0" marL="0">
              <a:lnSpc>
                <a:spcPts val="1400"/>
              </a:lnSpc>
              <a:buNone/>
            </a:pPr>
            <a:r>
              <a:rPr lang="en-US" sz="1150" dirty="0">
                <a:solidFill>
                  <a:srgbClr val="4A4360"/>
                </a:solidFill>
                <a:latin typeface="Calibri" pitchFamily="34" charset="0"/>
                <a:ea typeface="Calibri" pitchFamily="34" charset="-122"/>
                <a:cs typeface="Calibri" pitchFamily="34" charset="-120"/>
              </a:rPr>
              <a:t>Script written to one message, checked against sources</a:t>
            </a:r>
            <a:endParaRPr lang="en-US" sz="1150" dirty="0"/>
          </a:p>
        </p:txBody>
      </p:sp>
      <p:sp>
        <p:nvSpPr>
          <p:cNvPr id="8" name="Shape 6"/>
          <p:cNvSpPr/>
          <p:nvPr/>
        </p:nvSpPr>
        <p:spPr>
          <a:xfrm rot="5400000">
            <a:off x="640080" y="2468880"/>
            <a:ext cx="384048" cy="384048"/>
          </a:xfrm>
          <a:prstGeom prst="hexagon">
            <a:avLst/>
          </a:prstGeom>
          <a:solidFill>
            <a:srgbClr val="6C4FE0"/>
          </a:solidFill>
          <a:ln/>
        </p:spPr>
      </p:sp>
      <p:sp>
        <p:nvSpPr>
          <p:cNvPr id="9" name="Text 7"/>
          <p:cNvSpPr/>
          <p:nvPr/>
        </p:nvSpPr>
        <p:spPr>
          <a:xfrm>
            <a:off x="640080" y="24688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0" name="Text 8"/>
          <p:cNvSpPr/>
          <p:nvPr/>
        </p:nvSpPr>
        <p:spPr>
          <a:xfrm>
            <a:off x="1188720" y="2468880"/>
            <a:ext cx="4663440" cy="457200"/>
          </a:xfrm>
          <a:prstGeom prst="rect">
            <a:avLst/>
          </a:prstGeom>
          <a:noFill/>
          <a:ln/>
        </p:spPr>
        <p:txBody>
          <a:bodyPr wrap="square" lIns="0" tIns="0" rIns="0" bIns="0" rtlCol="0" anchor="ctr"/>
          <a:lstStyle/>
          <a:p>
            <a:pPr indent="0" marL="0">
              <a:lnSpc>
                <a:spcPts val="1400"/>
              </a:lnSpc>
              <a:buNone/>
            </a:pPr>
            <a:r>
              <a:rPr lang="en-US" sz="1150" dirty="0">
                <a:solidFill>
                  <a:srgbClr val="4A4360"/>
                </a:solidFill>
                <a:latin typeface="Calibri" pitchFamily="34" charset="0"/>
                <a:ea typeface="Calibri" pitchFamily="34" charset="-122"/>
                <a:cs typeface="Calibri" pitchFamily="34" charset="-120"/>
              </a:rPr>
              <a:t>Narration generated and blind-verified for accent and words</a:t>
            </a:r>
            <a:endParaRPr lang="en-US" sz="1150" dirty="0"/>
          </a:p>
        </p:txBody>
      </p:sp>
      <p:sp>
        <p:nvSpPr>
          <p:cNvPr id="11" name="Shape 9"/>
          <p:cNvSpPr/>
          <p:nvPr/>
        </p:nvSpPr>
        <p:spPr>
          <a:xfrm rot="5400000">
            <a:off x="640080" y="3035808"/>
            <a:ext cx="384048" cy="384048"/>
          </a:xfrm>
          <a:prstGeom prst="hexagon">
            <a:avLst/>
          </a:prstGeom>
          <a:solidFill>
            <a:srgbClr val="6C4FE0"/>
          </a:solidFill>
          <a:ln/>
        </p:spPr>
      </p:sp>
      <p:sp>
        <p:nvSpPr>
          <p:cNvPr id="12" name="Text 10"/>
          <p:cNvSpPr/>
          <p:nvPr/>
        </p:nvSpPr>
        <p:spPr>
          <a:xfrm>
            <a:off x="640080" y="30358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3" name="Text 11"/>
          <p:cNvSpPr/>
          <p:nvPr/>
        </p:nvSpPr>
        <p:spPr>
          <a:xfrm>
            <a:off x="1188720" y="3035808"/>
            <a:ext cx="4663440" cy="457200"/>
          </a:xfrm>
          <a:prstGeom prst="rect">
            <a:avLst/>
          </a:prstGeom>
          <a:noFill/>
          <a:ln/>
        </p:spPr>
        <p:txBody>
          <a:bodyPr wrap="square" lIns="0" tIns="0" rIns="0" bIns="0" rtlCol="0" anchor="ctr"/>
          <a:lstStyle/>
          <a:p>
            <a:pPr indent="0" marL="0">
              <a:lnSpc>
                <a:spcPts val="1400"/>
              </a:lnSpc>
              <a:buNone/>
            </a:pPr>
            <a:r>
              <a:rPr lang="en-US" sz="1150" dirty="0">
                <a:solidFill>
                  <a:srgbClr val="4A4360"/>
                </a:solidFill>
                <a:latin typeface="Calibri" pitchFamily="34" charset="0"/>
                <a:ea typeface="Calibri" pitchFamily="34" charset="-122"/>
                <a:cs typeface="Calibri" pitchFamily="34" charset="-120"/>
              </a:rPr>
              <a:t>Plates generated; archive photographs used where a real person appears</a:t>
            </a:r>
            <a:endParaRPr lang="en-US" sz="1150" dirty="0"/>
          </a:p>
        </p:txBody>
      </p:sp>
      <p:sp>
        <p:nvSpPr>
          <p:cNvPr id="14" name="Shape 12"/>
          <p:cNvSpPr/>
          <p:nvPr/>
        </p:nvSpPr>
        <p:spPr>
          <a:xfrm rot="5400000">
            <a:off x="640080" y="3602736"/>
            <a:ext cx="384048" cy="384048"/>
          </a:xfrm>
          <a:prstGeom prst="hexagon">
            <a:avLst/>
          </a:prstGeom>
          <a:solidFill>
            <a:srgbClr val="6C4FE0"/>
          </a:solidFill>
          <a:ln/>
        </p:spPr>
      </p:sp>
      <p:sp>
        <p:nvSpPr>
          <p:cNvPr id="15" name="Text 13"/>
          <p:cNvSpPr/>
          <p:nvPr/>
        </p:nvSpPr>
        <p:spPr>
          <a:xfrm>
            <a:off x="640080" y="36027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16" name="Text 14"/>
          <p:cNvSpPr/>
          <p:nvPr/>
        </p:nvSpPr>
        <p:spPr>
          <a:xfrm>
            <a:off x="1188720" y="3602736"/>
            <a:ext cx="4663440" cy="457200"/>
          </a:xfrm>
          <a:prstGeom prst="rect">
            <a:avLst/>
          </a:prstGeom>
          <a:noFill/>
          <a:ln/>
        </p:spPr>
        <p:txBody>
          <a:bodyPr wrap="square" lIns="0" tIns="0" rIns="0" bIns="0" rtlCol="0" anchor="ctr"/>
          <a:lstStyle/>
          <a:p>
            <a:pPr indent="0" marL="0">
              <a:lnSpc>
                <a:spcPts val="1400"/>
              </a:lnSpc>
              <a:buNone/>
            </a:pPr>
            <a:r>
              <a:rPr lang="en-US" sz="1150" dirty="0">
                <a:solidFill>
                  <a:srgbClr val="4A4360"/>
                </a:solidFill>
                <a:latin typeface="Calibri" pitchFamily="34" charset="0"/>
                <a:ea typeface="Calibri" pitchFamily="34" charset="-122"/>
                <a:cs typeface="Calibri" pitchFamily="34" charset="-120"/>
              </a:rPr>
              <a:t>Assembled by the render pipeline, timed to the narration</a:t>
            </a:r>
            <a:endParaRPr lang="en-US" sz="1150" dirty="0"/>
          </a:p>
        </p:txBody>
      </p:sp>
      <p:sp>
        <p:nvSpPr>
          <p:cNvPr id="17" name="Shape 15"/>
          <p:cNvSpPr/>
          <p:nvPr/>
        </p:nvSpPr>
        <p:spPr>
          <a:xfrm>
            <a:off x="640080" y="4261104"/>
            <a:ext cx="5212080" cy="841248"/>
          </a:xfrm>
          <a:prstGeom prst="roundRect">
            <a:avLst>
              <a:gd name="adj" fmla="val 15217"/>
            </a:avLst>
          </a:prstGeom>
          <a:solidFill>
            <a:srgbClr val="EFEBF8"/>
          </a:solidFill>
          <a:ln/>
          <a:effectLst>
            <a:outerShdw sx="100000" sy="100000" kx="0" ky="0" algn="bl" rotWithShape="0" blurRad="127000" dist="25400" dir="5400000">
              <a:srgbClr val="241E33">
                <a:alpha val="10000"/>
              </a:srgbClr>
            </a:outerShdw>
          </a:effectLst>
        </p:spPr>
      </p:sp>
      <p:sp>
        <p:nvSpPr>
          <p:cNvPr id="18" name="Text 16"/>
          <p:cNvSpPr/>
          <p:nvPr/>
        </p:nvSpPr>
        <p:spPr>
          <a:xfrm>
            <a:off x="896112" y="4261104"/>
            <a:ext cx="4700016" cy="841248"/>
          </a:xfrm>
          <a:prstGeom prst="rect">
            <a:avLst/>
          </a:prstGeom>
          <a:noFill/>
          <a:ln/>
        </p:spPr>
        <p:txBody>
          <a:bodyPr wrap="square" lIns="0" tIns="0" rIns="0" bIns="0" rtlCol="0" anchor="ctr"/>
          <a:lstStyle/>
          <a:p>
            <a:pPr indent="0" marL="0">
              <a:lnSpc>
                <a:spcPts val="1500"/>
              </a:lnSpc>
              <a:buNone/>
            </a:pPr>
            <a:r>
              <a:rPr lang="en-US" sz="1150" i="1" dirty="0">
                <a:solidFill>
                  <a:srgbClr val="4A31B0"/>
                </a:solidFill>
                <a:latin typeface="Calibri" pitchFamily="34" charset="0"/>
                <a:ea typeface="Calibri" pitchFamily="34" charset="-122"/>
                <a:cs typeface="Calibri" pitchFamily="34" charset="-120"/>
              </a:rPr>
              <a:t>Two episodes are already built this way, founder-run, with no editor, agency or studio.</a:t>
            </a:r>
            <a:endParaRPr lang="en-US" sz="1150" dirty="0"/>
          </a:p>
        </p:txBody>
      </p:sp>
      <p:sp>
        <p:nvSpPr>
          <p:cNvPr id="19" name="Text 17"/>
          <p:cNvSpPr/>
          <p:nvPr/>
        </p:nvSpPr>
        <p:spPr>
          <a:xfrm>
            <a:off x="6309360" y="1463040"/>
            <a:ext cx="4937760" cy="329184"/>
          </a:xfrm>
          <a:prstGeom prst="rect">
            <a:avLst/>
          </a:prstGeom>
          <a:noFill/>
          <a:ln/>
        </p:spPr>
        <p:txBody>
          <a:bodyPr wrap="square" lIns="0" tIns="0" rIns="0" bIns="0" rtlCol="0" anchor="ctr"/>
          <a:lstStyle/>
          <a:p>
            <a:pPr indent="0" marL="0">
              <a:buNone/>
            </a:pPr>
            <a:r>
              <a:rPr lang="en-US" sz="1800" b="1" dirty="0">
                <a:solidFill>
                  <a:srgbClr val="241E33"/>
                </a:solidFill>
                <a:latin typeface="Cambria" pitchFamily="34" charset="0"/>
                <a:ea typeface="Cambria" pitchFamily="34" charset="-122"/>
                <a:cs typeface="Cambria" pitchFamily="34" charset="-120"/>
              </a:rPr>
              <a:t>The path from a video to a paying family</a:t>
            </a:r>
            <a:endParaRPr lang="en-US" sz="1800" dirty="0"/>
          </a:p>
        </p:txBody>
      </p:sp>
      <p:sp>
        <p:nvSpPr>
          <p:cNvPr id="20" name="Shape 18"/>
          <p:cNvSpPr/>
          <p:nvPr/>
        </p:nvSpPr>
        <p:spPr>
          <a:xfrm rot="5400000">
            <a:off x="6309360" y="1956816"/>
            <a:ext cx="310896" cy="310896"/>
          </a:xfrm>
          <a:prstGeom prst="hexagon">
            <a:avLst/>
          </a:prstGeom>
          <a:solidFill>
            <a:srgbClr val="6C4FE0"/>
          </a:solidFill>
          <a:ln/>
        </p:spPr>
      </p:sp>
      <p:sp>
        <p:nvSpPr>
          <p:cNvPr id="21" name="Shape 19"/>
          <p:cNvSpPr/>
          <p:nvPr/>
        </p:nvSpPr>
        <p:spPr>
          <a:xfrm>
            <a:off x="6464808" y="2286000"/>
            <a:ext cx="0" cy="274320"/>
          </a:xfrm>
          <a:prstGeom prst="line">
            <a:avLst/>
          </a:prstGeom>
          <a:noFill/>
          <a:ln w="19050">
            <a:solidFill>
              <a:srgbClr val="E3DCF2"/>
            </a:solidFill>
            <a:prstDash val="solid"/>
          </a:ln>
        </p:spPr>
      </p:sp>
      <p:sp>
        <p:nvSpPr>
          <p:cNvPr id="22" name="Text 20"/>
          <p:cNvSpPr/>
          <p:nvPr/>
        </p:nvSpPr>
        <p:spPr>
          <a:xfrm>
            <a:off x="6803136" y="1901952"/>
            <a:ext cx="1371600" cy="402336"/>
          </a:xfrm>
          <a:prstGeom prst="rect">
            <a:avLst/>
          </a:prstGeom>
          <a:noFill/>
          <a:ln/>
        </p:spPr>
        <p:txBody>
          <a:bodyPr wrap="square" lIns="0" tIns="0" rIns="0" bIns="0" rtlCol="0" anchor="ctr"/>
          <a:lstStyle/>
          <a:p>
            <a:pPr indent="0" marL="0">
              <a:buNone/>
            </a:pPr>
            <a:r>
              <a:rPr lang="en-US" sz="1200" b="1" dirty="0">
                <a:solidFill>
                  <a:srgbClr val="241E33"/>
                </a:solidFill>
                <a:latin typeface="Calibri" pitchFamily="34" charset="0"/>
                <a:ea typeface="Calibri" pitchFamily="34" charset="-122"/>
                <a:cs typeface="Calibri" pitchFamily="34" charset="-120"/>
              </a:rPr>
              <a:t>Watches</a:t>
            </a:r>
            <a:endParaRPr lang="en-US" sz="1200" dirty="0"/>
          </a:p>
        </p:txBody>
      </p:sp>
      <p:sp>
        <p:nvSpPr>
          <p:cNvPr id="23" name="Text 21"/>
          <p:cNvSpPr/>
          <p:nvPr/>
        </p:nvSpPr>
        <p:spPr>
          <a:xfrm>
            <a:off x="8183880" y="1901952"/>
            <a:ext cx="3063240" cy="457200"/>
          </a:xfrm>
          <a:prstGeom prst="rect">
            <a:avLst/>
          </a:prstGeom>
          <a:noFill/>
          <a:ln/>
        </p:spPr>
        <p:txBody>
          <a:bodyPr wrap="square" lIns="0" tIns="0" rIns="0" bIns="0" rtlCol="0" anchor="ctr"/>
          <a:lstStyle/>
          <a:p>
            <a:pPr indent="0" marL="0">
              <a:lnSpc>
                <a:spcPts val="1300"/>
              </a:lnSpc>
              <a:buNone/>
            </a:pPr>
            <a:r>
              <a:rPr lang="en-US" sz="1050" dirty="0">
                <a:solidFill>
                  <a:srgbClr val="4A4360"/>
                </a:solidFill>
                <a:latin typeface="Calibri" pitchFamily="34" charset="0"/>
                <a:ea typeface="Calibri" pitchFamily="34" charset="-122"/>
                <a:cs typeface="Calibri" pitchFamily="34" charset="-120"/>
              </a:rPr>
              <a:t>A story worth ten minutes, or a short worth sixty seconds</a:t>
            </a:r>
            <a:endParaRPr lang="en-US" sz="1050" dirty="0"/>
          </a:p>
        </p:txBody>
      </p:sp>
      <p:sp>
        <p:nvSpPr>
          <p:cNvPr id="24" name="Shape 22"/>
          <p:cNvSpPr/>
          <p:nvPr/>
        </p:nvSpPr>
        <p:spPr>
          <a:xfrm rot="5400000">
            <a:off x="6309360" y="2615184"/>
            <a:ext cx="310896" cy="310896"/>
          </a:xfrm>
          <a:prstGeom prst="hexagon">
            <a:avLst/>
          </a:prstGeom>
          <a:solidFill>
            <a:srgbClr val="6C4FE0"/>
          </a:solidFill>
          <a:ln/>
        </p:spPr>
      </p:sp>
      <p:sp>
        <p:nvSpPr>
          <p:cNvPr id="25" name="Shape 23"/>
          <p:cNvSpPr/>
          <p:nvPr/>
        </p:nvSpPr>
        <p:spPr>
          <a:xfrm>
            <a:off x="6464808" y="2944368"/>
            <a:ext cx="0" cy="274320"/>
          </a:xfrm>
          <a:prstGeom prst="line">
            <a:avLst/>
          </a:prstGeom>
          <a:noFill/>
          <a:ln w="19050">
            <a:solidFill>
              <a:srgbClr val="E3DCF2"/>
            </a:solidFill>
            <a:prstDash val="solid"/>
          </a:ln>
        </p:spPr>
      </p:sp>
      <p:sp>
        <p:nvSpPr>
          <p:cNvPr id="26" name="Text 24"/>
          <p:cNvSpPr/>
          <p:nvPr/>
        </p:nvSpPr>
        <p:spPr>
          <a:xfrm>
            <a:off x="6803136" y="2560320"/>
            <a:ext cx="1371600" cy="402336"/>
          </a:xfrm>
          <a:prstGeom prst="rect">
            <a:avLst/>
          </a:prstGeom>
          <a:noFill/>
          <a:ln/>
        </p:spPr>
        <p:txBody>
          <a:bodyPr wrap="square" lIns="0" tIns="0" rIns="0" bIns="0" rtlCol="0" anchor="ctr"/>
          <a:lstStyle/>
          <a:p>
            <a:pPr indent="0" marL="0">
              <a:buNone/>
            </a:pPr>
            <a:r>
              <a:rPr lang="en-US" sz="1200" b="1" dirty="0">
                <a:solidFill>
                  <a:srgbClr val="241E33"/>
                </a:solidFill>
                <a:latin typeface="Calibri" pitchFamily="34" charset="0"/>
                <a:ea typeface="Calibri" pitchFamily="34" charset="-122"/>
                <a:cs typeface="Calibri" pitchFamily="34" charset="-120"/>
              </a:rPr>
              <a:t>Trusts</a:t>
            </a:r>
            <a:endParaRPr lang="en-US" sz="1200" dirty="0"/>
          </a:p>
        </p:txBody>
      </p:sp>
      <p:sp>
        <p:nvSpPr>
          <p:cNvPr id="27" name="Text 25"/>
          <p:cNvSpPr/>
          <p:nvPr/>
        </p:nvSpPr>
        <p:spPr>
          <a:xfrm>
            <a:off x="8183880" y="2560320"/>
            <a:ext cx="3063240" cy="457200"/>
          </a:xfrm>
          <a:prstGeom prst="rect">
            <a:avLst/>
          </a:prstGeom>
          <a:noFill/>
          <a:ln/>
        </p:spPr>
        <p:txBody>
          <a:bodyPr wrap="square" lIns="0" tIns="0" rIns="0" bIns="0" rtlCol="0" anchor="ctr"/>
          <a:lstStyle/>
          <a:p>
            <a:pPr indent="0" marL="0">
              <a:lnSpc>
                <a:spcPts val="1300"/>
              </a:lnSpc>
              <a:buNone/>
            </a:pPr>
            <a:r>
              <a:rPr lang="en-US" sz="1050" dirty="0">
                <a:solidFill>
                  <a:srgbClr val="4A4360"/>
                </a:solidFill>
                <a:latin typeface="Calibri" pitchFamily="34" charset="0"/>
                <a:ea typeface="Calibri" pitchFamily="34" charset="-122"/>
                <a:cs typeface="Calibri" pitchFamily="34" charset="-120"/>
              </a:rPr>
              <a:t>Sources on screen; nothing oversold; no pitch inside the film</a:t>
            </a:r>
            <a:endParaRPr lang="en-US" sz="1050" dirty="0"/>
          </a:p>
        </p:txBody>
      </p:sp>
      <p:sp>
        <p:nvSpPr>
          <p:cNvPr id="28" name="Shape 26"/>
          <p:cNvSpPr/>
          <p:nvPr/>
        </p:nvSpPr>
        <p:spPr>
          <a:xfrm rot="5400000">
            <a:off x="6309360" y="3273552"/>
            <a:ext cx="310896" cy="310896"/>
          </a:xfrm>
          <a:prstGeom prst="hexagon">
            <a:avLst/>
          </a:prstGeom>
          <a:solidFill>
            <a:srgbClr val="F0B429"/>
          </a:solidFill>
          <a:ln/>
        </p:spPr>
      </p:sp>
      <p:sp>
        <p:nvSpPr>
          <p:cNvPr id="29" name="Shape 27"/>
          <p:cNvSpPr/>
          <p:nvPr/>
        </p:nvSpPr>
        <p:spPr>
          <a:xfrm>
            <a:off x="6464808" y="3602736"/>
            <a:ext cx="0" cy="274320"/>
          </a:xfrm>
          <a:prstGeom prst="line">
            <a:avLst/>
          </a:prstGeom>
          <a:noFill/>
          <a:ln w="19050">
            <a:solidFill>
              <a:srgbClr val="E3DCF2"/>
            </a:solidFill>
            <a:prstDash val="solid"/>
          </a:ln>
        </p:spPr>
      </p:sp>
      <p:sp>
        <p:nvSpPr>
          <p:cNvPr id="30" name="Text 28"/>
          <p:cNvSpPr/>
          <p:nvPr/>
        </p:nvSpPr>
        <p:spPr>
          <a:xfrm>
            <a:off x="6803136" y="3218688"/>
            <a:ext cx="1371600" cy="402336"/>
          </a:xfrm>
          <a:prstGeom prst="rect">
            <a:avLst/>
          </a:prstGeom>
          <a:noFill/>
          <a:ln/>
        </p:spPr>
        <p:txBody>
          <a:bodyPr wrap="square" lIns="0" tIns="0" rIns="0" bIns="0" rtlCol="0" anchor="ctr"/>
          <a:lstStyle/>
          <a:p>
            <a:pPr indent="0" marL="0">
              <a:buNone/>
            </a:pPr>
            <a:r>
              <a:rPr lang="en-US" sz="1200" b="1" dirty="0">
                <a:solidFill>
                  <a:srgbClr val="241E33"/>
                </a:solidFill>
                <a:latin typeface="Calibri" pitchFamily="34" charset="0"/>
                <a:ea typeface="Calibri" pitchFamily="34" charset="-122"/>
                <a:cs typeface="Calibri" pitchFamily="34" charset="-120"/>
              </a:rPr>
              <a:t>Opens the app</a:t>
            </a:r>
            <a:endParaRPr lang="en-US" sz="1200" dirty="0"/>
          </a:p>
        </p:txBody>
      </p:sp>
      <p:sp>
        <p:nvSpPr>
          <p:cNvPr id="31" name="Text 29"/>
          <p:cNvSpPr/>
          <p:nvPr/>
        </p:nvSpPr>
        <p:spPr>
          <a:xfrm>
            <a:off x="8183880" y="3218688"/>
            <a:ext cx="3063240" cy="457200"/>
          </a:xfrm>
          <a:prstGeom prst="rect">
            <a:avLst/>
          </a:prstGeom>
          <a:noFill/>
          <a:ln/>
        </p:spPr>
        <p:txBody>
          <a:bodyPr wrap="square" lIns="0" tIns="0" rIns="0" bIns="0" rtlCol="0" anchor="ctr"/>
          <a:lstStyle/>
          <a:p>
            <a:pPr indent="0" marL="0">
              <a:lnSpc>
                <a:spcPts val="1300"/>
              </a:lnSpc>
              <a:buNone/>
            </a:pPr>
            <a:r>
              <a:rPr lang="en-US" sz="1050" dirty="0">
                <a:solidFill>
                  <a:srgbClr val="4A4360"/>
                </a:solidFill>
                <a:latin typeface="Calibri" pitchFamily="34" charset="0"/>
                <a:ea typeface="Calibri" pitchFamily="34" charset="-122"/>
                <a:cs typeface="Calibri" pitchFamily="34" charset="-120"/>
              </a:rPr>
              <a:t>One link in the description, free and instant — no signup wall</a:t>
            </a:r>
            <a:endParaRPr lang="en-US" sz="1050" dirty="0"/>
          </a:p>
        </p:txBody>
      </p:sp>
      <p:sp>
        <p:nvSpPr>
          <p:cNvPr id="32" name="Shape 30"/>
          <p:cNvSpPr/>
          <p:nvPr/>
        </p:nvSpPr>
        <p:spPr>
          <a:xfrm rot="5400000">
            <a:off x="6309360" y="3931920"/>
            <a:ext cx="310896" cy="310896"/>
          </a:xfrm>
          <a:prstGeom prst="hexagon">
            <a:avLst/>
          </a:prstGeom>
          <a:solidFill>
            <a:srgbClr val="F0B429"/>
          </a:solidFill>
          <a:ln/>
        </p:spPr>
      </p:sp>
      <p:sp>
        <p:nvSpPr>
          <p:cNvPr id="33" name="Shape 31"/>
          <p:cNvSpPr/>
          <p:nvPr/>
        </p:nvSpPr>
        <p:spPr>
          <a:xfrm>
            <a:off x="6464808" y="4261104"/>
            <a:ext cx="0" cy="274320"/>
          </a:xfrm>
          <a:prstGeom prst="line">
            <a:avLst/>
          </a:prstGeom>
          <a:noFill/>
          <a:ln w="19050">
            <a:solidFill>
              <a:srgbClr val="E3DCF2"/>
            </a:solidFill>
            <a:prstDash val="solid"/>
          </a:ln>
        </p:spPr>
      </p:sp>
      <p:sp>
        <p:nvSpPr>
          <p:cNvPr id="34" name="Text 32"/>
          <p:cNvSpPr/>
          <p:nvPr/>
        </p:nvSpPr>
        <p:spPr>
          <a:xfrm>
            <a:off x="6803136" y="3877056"/>
            <a:ext cx="1371600" cy="402336"/>
          </a:xfrm>
          <a:prstGeom prst="rect">
            <a:avLst/>
          </a:prstGeom>
          <a:noFill/>
          <a:ln/>
        </p:spPr>
        <p:txBody>
          <a:bodyPr wrap="square" lIns="0" tIns="0" rIns="0" bIns="0" rtlCol="0" anchor="ctr"/>
          <a:lstStyle/>
          <a:p>
            <a:pPr indent="0" marL="0">
              <a:buNone/>
            </a:pPr>
            <a:r>
              <a:rPr lang="en-US" sz="1200" b="1" dirty="0">
                <a:solidFill>
                  <a:srgbClr val="241E33"/>
                </a:solidFill>
                <a:latin typeface="Calibri" pitchFamily="34" charset="0"/>
                <a:ea typeface="Calibri" pitchFamily="34" charset="-122"/>
                <a:cs typeface="Calibri" pitchFamily="34" charset="-120"/>
              </a:rPr>
              <a:t>Makes an account</a:t>
            </a:r>
            <a:endParaRPr lang="en-US" sz="1200" dirty="0"/>
          </a:p>
        </p:txBody>
      </p:sp>
      <p:sp>
        <p:nvSpPr>
          <p:cNvPr id="35" name="Text 33"/>
          <p:cNvSpPr/>
          <p:nvPr/>
        </p:nvSpPr>
        <p:spPr>
          <a:xfrm>
            <a:off x="8183880" y="3877056"/>
            <a:ext cx="3063240" cy="457200"/>
          </a:xfrm>
          <a:prstGeom prst="rect">
            <a:avLst/>
          </a:prstGeom>
          <a:noFill/>
          <a:ln/>
        </p:spPr>
        <p:txBody>
          <a:bodyPr wrap="square" lIns="0" tIns="0" rIns="0" bIns="0" rtlCol="0" anchor="ctr"/>
          <a:lstStyle/>
          <a:p>
            <a:pPr indent="0" marL="0">
              <a:lnSpc>
                <a:spcPts val="1300"/>
              </a:lnSpc>
              <a:buNone/>
            </a:pPr>
            <a:r>
              <a:rPr lang="en-US" sz="1050" dirty="0">
                <a:solidFill>
                  <a:srgbClr val="4A4360"/>
                </a:solidFill>
                <a:latin typeface="Calibri" pitchFamily="34" charset="0"/>
                <a:ea typeface="Calibri" pitchFamily="34" charset="-122"/>
                <a:cs typeface="Calibri" pitchFamily="34" charset="-120"/>
              </a:rPr>
              <a:t>Progress worth keeping is the reason, not a gate</a:t>
            </a:r>
            <a:endParaRPr lang="en-US" sz="1050" dirty="0"/>
          </a:p>
        </p:txBody>
      </p:sp>
      <p:sp>
        <p:nvSpPr>
          <p:cNvPr id="36" name="Shape 34"/>
          <p:cNvSpPr/>
          <p:nvPr/>
        </p:nvSpPr>
        <p:spPr>
          <a:xfrm rot="5400000">
            <a:off x="6309360" y="4590288"/>
            <a:ext cx="310896" cy="310896"/>
          </a:xfrm>
          <a:prstGeom prst="hexagon">
            <a:avLst/>
          </a:prstGeom>
          <a:solidFill>
            <a:srgbClr val="178A4C"/>
          </a:solidFill>
          <a:ln/>
        </p:spPr>
      </p:sp>
      <p:sp>
        <p:nvSpPr>
          <p:cNvPr id="37" name="Text 35"/>
          <p:cNvSpPr/>
          <p:nvPr/>
        </p:nvSpPr>
        <p:spPr>
          <a:xfrm>
            <a:off x="6803136" y="4535424"/>
            <a:ext cx="1371600" cy="402336"/>
          </a:xfrm>
          <a:prstGeom prst="rect">
            <a:avLst/>
          </a:prstGeom>
          <a:noFill/>
          <a:ln/>
        </p:spPr>
        <p:txBody>
          <a:bodyPr wrap="square" lIns="0" tIns="0" rIns="0" bIns="0" rtlCol="0" anchor="ctr"/>
          <a:lstStyle/>
          <a:p>
            <a:pPr indent="0" marL="0">
              <a:buNone/>
            </a:pPr>
            <a:r>
              <a:rPr lang="en-US" sz="1200" b="1" dirty="0">
                <a:solidFill>
                  <a:srgbClr val="241E33"/>
                </a:solidFill>
                <a:latin typeface="Calibri" pitchFamily="34" charset="0"/>
                <a:ea typeface="Calibri" pitchFamily="34" charset="-122"/>
                <a:cs typeface="Calibri" pitchFamily="34" charset="-120"/>
              </a:rPr>
              <a:t>Buys a pack</a:t>
            </a:r>
            <a:endParaRPr lang="en-US" sz="1200" dirty="0"/>
          </a:p>
        </p:txBody>
      </p:sp>
      <p:sp>
        <p:nvSpPr>
          <p:cNvPr id="38" name="Text 36"/>
          <p:cNvSpPr/>
          <p:nvPr/>
        </p:nvSpPr>
        <p:spPr>
          <a:xfrm>
            <a:off x="8183880" y="4535424"/>
            <a:ext cx="3063240" cy="457200"/>
          </a:xfrm>
          <a:prstGeom prst="rect">
            <a:avLst/>
          </a:prstGeom>
          <a:noFill/>
          <a:ln/>
        </p:spPr>
        <p:txBody>
          <a:bodyPr wrap="square" lIns="0" tIns="0" rIns="0" bIns="0" rtlCol="0" anchor="ctr"/>
          <a:lstStyle/>
          <a:p>
            <a:pPr indent="0" marL="0">
              <a:lnSpc>
                <a:spcPts val="1300"/>
              </a:lnSpc>
              <a:buNone/>
            </a:pPr>
            <a:r>
              <a:rPr lang="en-US" sz="1050" dirty="0">
                <a:solidFill>
                  <a:srgbClr val="4A4360"/>
                </a:solidFill>
                <a:latin typeface="Calibri" pitchFamily="34" charset="0"/>
                <a:ea typeface="Calibri" pitchFamily="34" charset="-122"/>
                <a:cs typeface="Calibri" pitchFamily="34" charset="-120"/>
              </a:rPr>
              <a:t>Bhasha, Eleven, or Advanced — bought because the free part worked</a:t>
            </a:r>
            <a:endParaRPr lang="en-US" sz="1050" dirty="0"/>
          </a:p>
        </p:txBody>
      </p:sp>
      <p:sp>
        <p:nvSpPr>
          <p:cNvPr id="39" name="Shape 37"/>
          <p:cNvSpPr/>
          <p:nvPr/>
        </p:nvSpPr>
        <p:spPr>
          <a:xfrm>
            <a:off x="640080" y="5376672"/>
            <a:ext cx="10607040" cy="914400"/>
          </a:xfrm>
          <a:prstGeom prst="roundRect">
            <a:avLst>
              <a:gd name="adj" fmla="val 12000"/>
            </a:avLst>
          </a:prstGeom>
          <a:solidFill>
            <a:srgbClr val="FBF3E0"/>
          </a:solidFill>
          <a:ln/>
        </p:spPr>
      </p:sp>
      <p:sp>
        <p:nvSpPr>
          <p:cNvPr id="40" name="Text 38"/>
          <p:cNvSpPr/>
          <p:nvPr/>
        </p:nvSpPr>
        <p:spPr>
          <a:xfrm>
            <a:off x="914400" y="5376672"/>
            <a:ext cx="10058400" cy="914400"/>
          </a:xfrm>
          <a:prstGeom prst="rect">
            <a:avLst/>
          </a:prstGeom>
          <a:noFill/>
          <a:ln/>
        </p:spPr>
        <p:txBody>
          <a:bodyPr wrap="square" lIns="0" tIns="0" rIns="0" bIns="0" rtlCol="0" anchor="ctr"/>
          <a:lstStyle/>
          <a:p>
            <a:pPr indent="0" marL="0">
              <a:lnSpc>
                <a:spcPts val="1500"/>
              </a:lnSpc>
              <a:buNone/>
            </a:pPr>
            <a:r>
              <a:rPr lang="en-US" sz="1150" b="1" dirty="0">
                <a:solidFill>
                  <a:srgbClr val="8A5B00"/>
                </a:solidFill>
                <a:latin typeface="Calibri" pitchFamily="34" charset="0"/>
                <a:ea typeface="Calibri" pitchFamily="34" charset="-122"/>
                <a:cs typeface="Calibri" pitchFamily="34" charset="-120"/>
              </a:rPr>
              <a:t>Standing rules:  </a:t>
            </a:r>
            <a:pPr indent="0" marL="0">
              <a:lnSpc>
                <a:spcPts val="1500"/>
              </a:lnSpc>
              <a:buNone/>
            </a:pPr>
            <a:r>
              <a:rPr lang="en-US" sz="1150" dirty="0">
                <a:solidFill>
                  <a:srgbClr val="8A5B00"/>
                </a:solidFill>
                <a:latin typeface="Calibri" pitchFamily="34" charset="0"/>
                <a:ea typeface="Calibri" pitchFamily="34" charset="-122"/>
                <a:cs typeface="Calibri" pitchFamily="34" charset="-120"/>
              </a:rPr>
              <a:t>never sell inside a film · disclose what is generated and what is archive · name sources on screen · verify every claim before it is narrated · publish nothing that would embarrass the brand in front of a bee community that will recognise every error.</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02336"/>
            <a:ext cx="7315200" cy="256032"/>
          </a:xfrm>
          <a:prstGeom prst="rect">
            <a:avLst/>
          </a:prstGeom>
          <a:noFill/>
          <a:ln/>
        </p:spPr>
        <p:txBody>
          <a:bodyPr wrap="square" lIns="0" tIns="0" rIns="0" bIns="0" rtlCol="0" anchor="ctr"/>
          <a:lstStyle/>
          <a:p>
            <a:pPr indent="0" marL="0">
              <a:buNone/>
            </a:pPr>
            <a:r>
              <a:rPr lang="en-US" sz="1150" b="1" spc="240" kern="0" dirty="0">
                <a:solidFill>
                  <a:srgbClr val="6C4FE0"/>
                </a:solidFill>
                <a:latin typeface="Calibri" pitchFamily="34" charset="0"/>
                <a:ea typeface="Calibri" pitchFamily="34" charset="-122"/>
                <a:cs typeface="Calibri" pitchFamily="34" charset="-120"/>
              </a:rPr>
              <a:t>HOW THE TEAM IS BUILT</a:t>
            </a:r>
            <a:endParaRPr lang="en-US" sz="1150" dirty="0"/>
          </a:p>
        </p:txBody>
      </p:sp>
      <p:sp>
        <p:nvSpPr>
          <p:cNvPr id="3" name="Text 1"/>
          <p:cNvSpPr/>
          <p:nvPr/>
        </p:nvSpPr>
        <p:spPr>
          <a:xfrm>
            <a:off x="640080" y="694944"/>
            <a:ext cx="10607040" cy="749808"/>
          </a:xfrm>
          <a:prstGeom prst="rect">
            <a:avLst/>
          </a:prstGeom>
          <a:noFill/>
          <a:ln/>
        </p:spPr>
        <p:txBody>
          <a:bodyPr wrap="square" lIns="0" tIns="0" rIns="0" bIns="0" rtlCol="0" anchor="ctr"/>
          <a:lstStyle/>
          <a:p>
            <a:pPr indent="0" marL="0">
              <a:buNone/>
            </a:pPr>
            <a:r>
              <a:rPr lang="en-US" sz="2900" b="1" dirty="0">
                <a:solidFill>
                  <a:srgbClr val="241E33"/>
                </a:solidFill>
                <a:latin typeface="Cambria" pitchFamily="34" charset="0"/>
                <a:ea typeface="Cambria" pitchFamily="34" charset="-122"/>
                <a:cs typeface="Cambria" pitchFamily="34" charset="-120"/>
              </a:rPr>
              <a:t>Organisation</a:t>
            </a:r>
            <a:endParaRPr lang="en-US" sz="2900" dirty="0"/>
          </a:p>
        </p:txBody>
      </p:sp>
      <p:sp>
        <p:nvSpPr>
          <p:cNvPr id="4" name="Text 2"/>
          <p:cNvSpPr/>
          <p:nvPr/>
        </p:nvSpPr>
        <p:spPr>
          <a:xfrm>
            <a:off x="640080" y="1417320"/>
            <a:ext cx="10607040" cy="566928"/>
          </a:xfrm>
          <a:prstGeom prst="rect">
            <a:avLst/>
          </a:prstGeom>
          <a:noFill/>
          <a:ln/>
        </p:spPr>
        <p:txBody>
          <a:bodyPr wrap="square" lIns="0" tIns="0" rIns="0" bIns="0" rtlCol="0" anchor="ctr"/>
          <a:lstStyle/>
          <a:p>
            <a:pPr indent="0" marL="0">
              <a:lnSpc>
                <a:spcPts val="1900"/>
              </a:lnSpc>
              <a:buNone/>
            </a:pPr>
            <a:r>
              <a:rPr lang="en-US" sz="1400" dirty="0">
                <a:solidFill>
                  <a:srgbClr val="7A7291"/>
                </a:solidFill>
                <a:latin typeface="Calibri" pitchFamily="34" charset="0"/>
                <a:ea typeface="Calibri" pitchFamily="34" charset="-122"/>
                <a:cs typeface="Calibri" pitchFamily="34" charset="-120"/>
              </a:rPr>
              <a:t>Two co-founders run separate, clearly-owned lanes. Joint decisions are made at founder level. The third role is advisory and sits on top as a brand asset, not an operating function.</a:t>
            </a:r>
            <a:endParaRPr lang="en-US" sz="1400" dirty="0"/>
          </a:p>
        </p:txBody>
      </p:sp>
      <p:sp>
        <p:nvSpPr>
          <p:cNvPr id="5" name="Shape 3"/>
          <p:cNvSpPr/>
          <p:nvPr/>
        </p:nvSpPr>
        <p:spPr>
          <a:xfrm>
            <a:off x="4480560" y="2148840"/>
            <a:ext cx="3200400" cy="658368"/>
          </a:xfrm>
          <a:prstGeom prst="roundRect">
            <a:avLst>
              <a:gd name="adj" fmla="val 19444"/>
            </a:avLst>
          </a:prstGeom>
          <a:solidFill>
            <a:srgbClr val="241E33"/>
          </a:solidFill>
          <a:ln/>
        </p:spPr>
      </p:sp>
      <p:sp>
        <p:nvSpPr>
          <p:cNvPr id="6" name="Text 4"/>
          <p:cNvSpPr/>
          <p:nvPr/>
        </p:nvSpPr>
        <p:spPr>
          <a:xfrm>
            <a:off x="4480560" y="2148840"/>
            <a:ext cx="3200400" cy="658368"/>
          </a:xfrm>
          <a:prstGeom prst="rect">
            <a:avLst/>
          </a:prstGeom>
          <a:noFill/>
          <a:ln/>
        </p:spPr>
        <p:txBody>
          <a:bodyPr wrap="square" lIns="0" tIns="0" rIns="0" bIns="0" rtlCol="0" anchor="ctr"/>
          <a:lstStyle/>
          <a:p>
            <a:pPr algn="ctr" indent="0" marL="0">
              <a:buNone/>
            </a:pPr>
            <a:r>
              <a:rPr lang="en-US" sz="1500" b="1" spc="140" kern="0" dirty="0">
                <a:solidFill>
                  <a:srgbClr val="FFFFFF"/>
                </a:solidFill>
                <a:latin typeface="Cambria" pitchFamily="34" charset="0"/>
                <a:ea typeface="Cambria" pitchFamily="34" charset="-122"/>
                <a:cs typeface="Cambria" pitchFamily="34" charset="-120"/>
              </a:rPr>
              <a:t>FOUNDER GROUP</a:t>
            </a:r>
            <a:endParaRPr lang="en-US" sz="1500" dirty="0"/>
          </a:p>
        </p:txBody>
      </p:sp>
      <p:sp>
        <p:nvSpPr>
          <p:cNvPr id="7" name="Text 5"/>
          <p:cNvSpPr/>
          <p:nvPr/>
        </p:nvSpPr>
        <p:spPr>
          <a:xfrm>
            <a:off x="4480560" y="2834640"/>
            <a:ext cx="3200400" cy="256032"/>
          </a:xfrm>
          <a:prstGeom prst="rect">
            <a:avLst/>
          </a:prstGeom>
          <a:noFill/>
          <a:ln/>
        </p:spPr>
        <p:txBody>
          <a:bodyPr wrap="square" lIns="0" tIns="0" rIns="0" bIns="0" rtlCol="0" anchor="ctr"/>
          <a:lstStyle/>
          <a:p>
            <a:pPr algn="ctr" indent="0" marL="0">
              <a:buNone/>
            </a:pPr>
            <a:r>
              <a:rPr lang="en-US" sz="1050" i="1" dirty="0">
                <a:solidFill>
                  <a:srgbClr val="7A7291"/>
                </a:solidFill>
                <a:latin typeface="Calibri" pitchFamily="34" charset="0"/>
                <a:ea typeface="Calibri" pitchFamily="34" charset="-122"/>
                <a:cs typeface="Calibri" pitchFamily="34" charset="-120"/>
              </a:rPr>
              <a:t>strategy · budget · brand direction</a:t>
            </a:r>
            <a:endParaRPr lang="en-US" sz="1050" dirty="0"/>
          </a:p>
        </p:txBody>
      </p:sp>
      <p:sp>
        <p:nvSpPr>
          <p:cNvPr id="8" name="Shape 6"/>
          <p:cNvSpPr/>
          <p:nvPr/>
        </p:nvSpPr>
        <p:spPr>
          <a:xfrm>
            <a:off x="6080760" y="3127248"/>
            <a:ext cx="0" cy="329184"/>
          </a:xfrm>
          <a:prstGeom prst="line">
            <a:avLst/>
          </a:prstGeom>
          <a:noFill/>
          <a:ln w="25400">
            <a:solidFill>
              <a:srgbClr val="E3DCF2"/>
            </a:solidFill>
            <a:prstDash val="solid"/>
          </a:ln>
        </p:spPr>
      </p:sp>
      <p:sp>
        <p:nvSpPr>
          <p:cNvPr id="9" name="Shape 7"/>
          <p:cNvSpPr/>
          <p:nvPr/>
        </p:nvSpPr>
        <p:spPr>
          <a:xfrm>
            <a:off x="2743200" y="3456432"/>
            <a:ext cx="6675120" cy="0"/>
          </a:xfrm>
          <a:prstGeom prst="line">
            <a:avLst/>
          </a:prstGeom>
          <a:noFill/>
          <a:ln w="25400">
            <a:solidFill>
              <a:srgbClr val="E3DCF2"/>
            </a:solidFill>
            <a:prstDash val="solid"/>
          </a:ln>
        </p:spPr>
      </p:sp>
      <p:sp>
        <p:nvSpPr>
          <p:cNvPr id="10" name="Shape 8"/>
          <p:cNvSpPr/>
          <p:nvPr/>
        </p:nvSpPr>
        <p:spPr>
          <a:xfrm>
            <a:off x="2743200" y="3456432"/>
            <a:ext cx="0" cy="310896"/>
          </a:xfrm>
          <a:prstGeom prst="line">
            <a:avLst/>
          </a:prstGeom>
          <a:noFill/>
          <a:ln w="25400">
            <a:solidFill>
              <a:srgbClr val="E3DCF2"/>
            </a:solidFill>
            <a:prstDash val="solid"/>
          </a:ln>
        </p:spPr>
      </p:sp>
      <p:sp>
        <p:nvSpPr>
          <p:cNvPr id="11" name="Shape 9"/>
          <p:cNvSpPr/>
          <p:nvPr/>
        </p:nvSpPr>
        <p:spPr>
          <a:xfrm>
            <a:off x="1874520" y="3767328"/>
            <a:ext cx="1737360" cy="1691640"/>
          </a:xfrm>
          <a:prstGeom prst="roundRect">
            <a:avLst>
              <a:gd name="adj" fmla="val 7568"/>
            </a:avLst>
          </a:prstGeom>
          <a:solidFill>
            <a:srgbClr val="EFEBF8"/>
          </a:solidFill>
          <a:ln/>
          <a:effectLst>
            <a:outerShdw sx="100000" sy="100000" kx="0" ky="0" algn="bl" rotWithShape="0" blurRad="127000" dist="25400" dir="5400000">
              <a:srgbClr val="241E33">
                <a:alpha val="10000"/>
              </a:srgbClr>
            </a:outerShdw>
          </a:effectLst>
        </p:spPr>
      </p:sp>
      <p:sp>
        <p:nvSpPr>
          <p:cNvPr id="12" name="Shape 10"/>
          <p:cNvSpPr/>
          <p:nvPr/>
        </p:nvSpPr>
        <p:spPr>
          <a:xfrm rot="5400000">
            <a:off x="2020824" y="3931920"/>
            <a:ext cx="402336" cy="402336"/>
          </a:xfrm>
          <a:prstGeom prst="hexagon">
            <a:avLst/>
          </a:prstGeom>
          <a:solidFill>
            <a:srgbClr val="6C4FE0"/>
          </a:solidFill>
          <a:ln/>
        </p:spPr>
      </p:sp>
      <p:sp>
        <p:nvSpPr>
          <p:cNvPr id="13" name="Text 11"/>
          <p:cNvSpPr/>
          <p:nvPr/>
        </p:nvSpPr>
        <p:spPr>
          <a:xfrm>
            <a:off x="2514600" y="3931920"/>
            <a:ext cx="1005840" cy="402336"/>
          </a:xfrm>
          <a:prstGeom prst="rect">
            <a:avLst/>
          </a:prstGeom>
          <a:noFill/>
          <a:ln/>
        </p:spPr>
        <p:txBody>
          <a:bodyPr wrap="square" lIns="0" tIns="0" rIns="0" bIns="0" rtlCol="0" anchor="ctr"/>
          <a:lstStyle/>
          <a:p>
            <a:pPr indent="0" marL="0">
              <a:buNone/>
            </a:pPr>
            <a:r>
              <a:rPr lang="en-US" sz="1700" b="1" dirty="0">
                <a:solidFill>
                  <a:srgbClr val="241E33"/>
                </a:solidFill>
                <a:latin typeface="Cambria" pitchFamily="34" charset="0"/>
                <a:ea typeface="Cambria" pitchFamily="34" charset="-122"/>
                <a:cs typeface="Cambria" pitchFamily="34" charset="-120"/>
              </a:rPr>
              <a:t>Aayush</a:t>
            </a:r>
            <a:endParaRPr lang="en-US" sz="1700" dirty="0"/>
          </a:p>
        </p:txBody>
      </p:sp>
      <p:sp>
        <p:nvSpPr>
          <p:cNvPr id="14" name="Text 12"/>
          <p:cNvSpPr/>
          <p:nvPr/>
        </p:nvSpPr>
        <p:spPr>
          <a:xfrm>
            <a:off x="2020824" y="4443984"/>
            <a:ext cx="1481328" cy="457200"/>
          </a:xfrm>
          <a:prstGeom prst="rect">
            <a:avLst/>
          </a:prstGeom>
          <a:noFill/>
          <a:ln/>
        </p:spPr>
        <p:txBody>
          <a:bodyPr wrap="square" lIns="0" tIns="0" rIns="0" bIns="0" rtlCol="0" anchor="ctr"/>
          <a:lstStyle/>
          <a:p>
            <a:pPr indent="0" marL="0">
              <a:buNone/>
            </a:pPr>
            <a:r>
              <a:rPr lang="en-US" sz="1100" b="1" dirty="0">
                <a:solidFill>
                  <a:srgbClr val="4A31B0"/>
                </a:solidFill>
                <a:latin typeface="Calibri" pitchFamily="34" charset="0"/>
                <a:ea typeface="Calibri" pitchFamily="34" charset="-122"/>
                <a:cs typeface="Calibri" pitchFamily="34" charset="-120"/>
              </a:rPr>
              <a:t>Co-Founder &amp; CPTO</a:t>
            </a:r>
            <a:endParaRPr lang="en-US" sz="1100" dirty="0"/>
          </a:p>
        </p:txBody>
      </p:sp>
      <p:sp>
        <p:nvSpPr>
          <p:cNvPr id="15" name="Text 13"/>
          <p:cNvSpPr/>
          <p:nvPr/>
        </p:nvSpPr>
        <p:spPr>
          <a:xfrm>
            <a:off x="2020824" y="4846320"/>
            <a:ext cx="1481328" cy="548640"/>
          </a:xfrm>
          <a:prstGeom prst="rect">
            <a:avLst/>
          </a:prstGeom>
          <a:noFill/>
          <a:ln/>
        </p:spPr>
        <p:txBody>
          <a:bodyPr wrap="square" lIns="0" tIns="0" rIns="0" bIns="0" rtlCol="0" anchor="ctr"/>
          <a:lstStyle/>
          <a:p>
            <a:pPr indent="0" marL="0">
              <a:lnSpc>
                <a:spcPts val="1300"/>
              </a:lnSpc>
              <a:buNone/>
            </a:pPr>
            <a:r>
              <a:rPr lang="en-US" sz="1000" dirty="0">
                <a:solidFill>
                  <a:srgbClr val="4A4360"/>
                </a:solidFill>
                <a:latin typeface="Calibri" pitchFamily="34" charset="0"/>
                <a:ea typeface="Calibri" pitchFamily="34" charset="-122"/>
                <a:cs typeface="Calibri" pitchFamily="34" charset="-120"/>
              </a:rPr>
              <a:t>Product · engineering · architecture · roadmap</a:t>
            </a:r>
            <a:endParaRPr lang="en-US" sz="1000" dirty="0"/>
          </a:p>
        </p:txBody>
      </p:sp>
      <p:sp>
        <p:nvSpPr>
          <p:cNvPr id="16" name="Shape 14"/>
          <p:cNvSpPr/>
          <p:nvPr/>
        </p:nvSpPr>
        <p:spPr>
          <a:xfrm>
            <a:off x="6263640" y="3456432"/>
            <a:ext cx="0" cy="310896"/>
          </a:xfrm>
          <a:prstGeom prst="line">
            <a:avLst/>
          </a:prstGeom>
          <a:noFill/>
          <a:ln w="25400">
            <a:solidFill>
              <a:srgbClr val="E3DCF2"/>
            </a:solidFill>
            <a:prstDash val="solid"/>
          </a:ln>
        </p:spPr>
      </p:sp>
      <p:sp>
        <p:nvSpPr>
          <p:cNvPr id="17" name="Shape 15"/>
          <p:cNvSpPr/>
          <p:nvPr/>
        </p:nvSpPr>
        <p:spPr>
          <a:xfrm>
            <a:off x="5394960" y="3767328"/>
            <a:ext cx="1737360" cy="1691640"/>
          </a:xfrm>
          <a:prstGeom prst="roundRect">
            <a:avLst>
              <a:gd name="adj" fmla="val 7568"/>
            </a:avLst>
          </a:prstGeom>
          <a:solidFill>
            <a:srgbClr val="EFEBF8"/>
          </a:solidFill>
          <a:ln/>
          <a:effectLst>
            <a:outerShdw sx="100000" sy="100000" kx="0" ky="0" algn="bl" rotWithShape="0" blurRad="127000" dist="25400" dir="5400000">
              <a:srgbClr val="241E33">
                <a:alpha val="10000"/>
              </a:srgbClr>
            </a:outerShdw>
          </a:effectLst>
        </p:spPr>
      </p:sp>
      <p:sp>
        <p:nvSpPr>
          <p:cNvPr id="18" name="Shape 16"/>
          <p:cNvSpPr/>
          <p:nvPr/>
        </p:nvSpPr>
        <p:spPr>
          <a:xfrm rot="5400000">
            <a:off x="5541264" y="3931920"/>
            <a:ext cx="402336" cy="402336"/>
          </a:xfrm>
          <a:prstGeom prst="hexagon">
            <a:avLst/>
          </a:prstGeom>
          <a:solidFill>
            <a:srgbClr val="F0B429"/>
          </a:solidFill>
          <a:ln/>
        </p:spPr>
      </p:sp>
      <p:sp>
        <p:nvSpPr>
          <p:cNvPr id="19" name="Text 17"/>
          <p:cNvSpPr/>
          <p:nvPr/>
        </p:nvSpPr>
        <p:spPr>
          <a:xfrm>
            <a:off x="6035040" y="3931920"/>
            <a:ext cx="1005840" cy="402336"/>
          </a:xfrm>
          <a:prstGeom prst="rect">
            <a:avLst/>
          </a:prstGeom>
          <a:noFill/>
          <a:ln/>
        </p:spPr>
        <p:txBody>
          <a:bodyPr wrap="square" lIns="0" tIns="0" rIns="0" bIns="0" rtlCol="0" anchor="ctr"/>
          <a:lstStyle/>
          <a:p>
            <a:pPr indent="0" marL="0">
              <a:buNone/>
            </a:pPr>
            <a:r>
              <a:rPr lang="en-US" sz="1700" b="1" dirty="0">
                <a:solidFill>
                  <a:srgbClr val="241E33"/>
                </a:solidFill>
                <a:latin typeface="Cambria" pitchFamily="34" charset="0"/>
                <a:ea typeface="Cambria" pitchFamily="34" charset="-122"/>
                <a:cs typeface="Cambria" pitchFamily="34" charset="-120"/>
              </a:rPr>
              <a:t>Amrita</a:t>
            </a:r>
            <a:endParaRPr lang="en-US" sz="1700" dirty="0"/>
          </a:p>
        </p:txBody>
      </p:sp>
      <p:sp>
        <p:nvSpPr>
          <p:cNvPr id="20" name="Text 18"/>
          <p:cNvSpPr/>
          <p:nvPr/>
        </p:nvSpPr>
        <p:spPr>
          <a:xfrm>
            <a:off x="5541264" y="4443984"/>
            <a:ext cx="1481328" cy="457200"/>
          </a:xfrm>
          <a:prstGeom prst="rect">
            <a:avLst/>
          </a:prstGeom>
          <a:noFill/>
          <a:ln/>
        </p:spPr>
        <p:txBody>
          <a:bodyPr wrap="square" lIns="0" tIns="0" rIns="0" bIns="0" rtlCol="0" anchor="ctr"/>
          <a:lstStyle/>
          <a:p>
            <a:pPr indent="0" marL="0">
              <a:buNone/>
            </a:pPr>
            <a:r>
              <a:rPr lang="en-US" sz="1100" b="1" dirty="0">
                <a:solidFill>
                  <a:srgbClr val="4A31B0"/>
                </a:solidFill>
                <a:latin typeface="Calibri" pitchFamily="34" charset="0"/>
                <a:ea typeface="Calibri" pitchFamily="34" charset="-122"/>
                <a:cs typeface="Calibri" pitchFamily="34" charset="-120"/>
              </a:rPr>
              <a:t>Co-Founder &amp; CMO</a:t>
            </a:r>
            <a:endParaRPr lang="en-US" sz="1100" dirty="0"/>
          </a:p>
        </p:txBody>
      </p:sp>
      <p:sp>
        <p:nvSpPr>
          <p:cNvPr id="21" name="Text 19"/>
          <p:cNvSpPr/>
          <p:nvPr/>
        </p:nvSpPr>
        <p:spPr>
          <a:xfrm>
            <a:off x="5541264" y="4846320"/>
            <a:ext cx="1481328" cy="548640"/>
          </a:xfrm>
          <a:prstGeom prst="rect">
            <a:avLst/>
          </a:prstGeom>
          <a:noFill/>
          <a:ln/>
        </p:spPr>
        <p:txBody>
          <a:bodyPr wrap="square" lIns="0" tIns="0" rIns="0" bIns="0" rtlCol="0" anchor="ctr"/>
          <a:lstStyle/>
          <a:p>
            <a:pPr indent="0" marL="0">
              <a:lnSpc>
                <a:spcPts val="1300"/>
              </a:lnSpc>
              <a:buNone/>
            </a:pPr>
            <a:r>
              <a:rPr lang="en-US" sz="1000" dirty="0">
                <a:solidFill>
                  <a:srgbClr val="4A4360"/>
                </a:solidFill>
                <a:latin typeface="Calibri" pitchFamily="34" charset="0"/>
                <a:ea typeface="Calibri" pitchFamily="34" charset="-122"/>
                <a:cs typeface="Calibri" pitchFamily="34" charset="-120"/>
              </a:rPr>
              <a:t>Brand · growth · pricing · merch · voice of customer</a:t>
            </a:r>
            <a:endParaRPr lang="en-US" sz="1000" dirty="0"/>
          </a:p>
        </p:txBody>
      </p:sp>
      <p:sp>
        <p:nvSpPr>
          <p:cNvPr id="22" name="Shape 20"/>
          <p:cNvSpPr/>
          <p:nvPr/>
        </p:nvSpPr>
        <p:spPr>
          <a:xfrm>
            <a:off x="9784080" y="3456432"/>
            <a:ext cx="0" cy="310896"/>
          </a:xfrm>
          <a:prstGeom prst="line">
            <a:avLst/>
          </a:prstGeom>
          <a:noFill/>
          <a:ln w="25400">
            <a:solidFill>
              <a:srgbClr val="E3DCF2"/>
            </a:solidFill>
            <a:prstDash val="solid"/>
          </a:ln>
        </p:spPr>
      </p:sp>
      <p:sp>
        <p:nvSpPr>
          <p:cNvPr id="23" name="Shape 21"/>
          <p:cNvSpPr/>
          <p:nvPr/>
        </p:nvSpPr>
        <p:spPr>
          <a:xfrm>
            <a:off x="8915400" y="3767328"/>
            <a:ext cx="1737360" cy="1691640"/>
          </a:xfrm>
          <a:prstGeom prst="roundRect">
            <a:avLst>
              <a:gd name="adj" fmla="val 7568"/>
            </a:avLst>
          </a:prstGeom>
          <a:solidFill>
            <a:srgbClr val="EFEBF8"/>
          </a:solidFill>
          <a:ln/>
          <a:effectLst>
            <a:outerShdw sx="100000" sy="100000" kx="0" ky="0" algn="bl" rotWithShape="0" blurRad="127000" dist="25400" dir="5400000">
              <a:srgbClr val="241E33">
                <a:alpha val="10000"/>
              </a:srgbClr>
            </a:outerShdw>
          </a:effectLst>
        </p:spPr>
      </p:sp>
      <p:sp>
        <p:nvSpPr>
          <p:cNvPr id="24" name="Shape 22"/>
          <p:cNvSpPr/>
          <p:nvPr/>
        </p:nvSpPr>
        <p:spPr>
          <a:xfrm rot="5400000">
            <a:off x="9061704" y="3931920"/>
            <a:ext cx="402336" cy="402336"/>
          </a:xfrm>
          <a:prstGeom prst="hexagon">
            <a:avLst/>
          </a:prstGeom>
          <a:solidFill>
            <a:srgbClr val="178A4C"/>
          </a:solidFill>
          <a:ln/>
        </p:spPr>
      </p:sp>
      <p:sp>
        <p:nvSpPr>
          <p:cNvPr id="25" name="Text 23"/>
          <p:cNvSpPr/>
          <p:nvPr/>
        </p:nvSpPr>
        <p:spPr>
          <a:xfrm>
            <a:off x="9555480" y="3931920"/>
            <a:ext cx="1005840" cy="402336"/>
          </a:xfrm>
          <a:prstGeom prst="rect">
            <a:avLst/>
          </a:prstGeom>
          <a:noFill/>
          <a:ln/>
        </p:spPr>
        <p:txBody>
          <a:bodyPr wrap="square" lIns="0" tIns="0" rIns="0" bIns="0" rtlCol="0" anchor="ctr"/>
          <a:lstStyle/>
          <a:p>
            <a:pPr indent="0" marL="0">
              <a:buNone/>
            </a:pPr>
            <a:r>
              <a:rPr lang="en-US" sz="1700" b="1" dirty="0">
                <a:solidFill>
                  <a:srgbClr val="241E33"/>
                </a:solidFill>
                <a:latin typeface="Cambria" pitchFamily="34" charset="0"/>
                <a:ea typeface="Cambria" pitchFamily="34" charset="-122"/>
                <a:cs typeface="Cambria" pitchFamily="34" charset="-120"/>
              </a:rPr>
              <a:t>Ahana</a:t>
            </a:r>
            <a:endParaRPr lang="en-US" sz="1700" dirty="0"/>
          </a:p>
        </p:txBody>
      </p:sp>
      <p:sp>
        <p:nvSpPr>
          <p:cNvPr id="26" name="Text 24"/>
          <p:cNvSpPr/>
          <p:nvPr/>
        </p:nvSpPr>
        <p:spPr>
          <a:xfrm>
            <a:off x="9061704" y="4443984"/>
            <a:ext cx="1481328" cy="457200"/>
          </a:xfrm>
          <a:prstGeom prst="rect">
            <a:avLst/>
          </a:prstGeom>
          <a:noFill/>
          <a:ln/>
        </p:spPr>
        <p:txBody>
          <a:bodyPr wrap="square" lIns="0" tIns="0" rIns="0" bIns="0" rtlCol="0" anchor="ctr"/>
          <a:lstStyle/>
          <a:p>
            <a:pPr indent="0" marL="0">
              <a:buNone/>
            </a:pPr>
            <a:r>
              <a:rPr lang="en-US" sz="1100" b="1" dirty="0">
                <a:solidFill>
                  <a:srgbClr val="4A31B0"/>
                </a:solidFill>
                <a:latin typeface="Calibri" pitchFamily="34" charset="0"/>
                <a:ea typeface="Calibri" pitchFamily="34" charset="-122"/>
                <a:cs typeface="Calibri" pitchFamily="34" charset="-120"/>
              </a:rPr>
              <a:t>Chief Kid Officer</a:t>
            </a:r>
            <a:endParaRPr lang="en-US" sz="1100" dirty="0"/>
          </a:p>
        </p:txBody>
      </p:sp>
      <p:sp>
        <p:nvSpPr>
          <p:cNvPr id="27" name="Text 25"/>
          <p:cNvSpPr/>
          <p:nvPr/>
        </p:nvSpPr>
        <p:spPr>
          <a:xfrm>
            <a:off x="9061704" y="4846320"/>
            <a:ext cx="1481328" cy="548640"/>
          </a:xfrm>
          <a:prstGeom prst="rect">
            <a:avLst/>
          </a:prstGeom>
          <a:noFill/>
          <a:ln/>
        </p:spPr>
        <p:txBody>
          <a:bodyPr wrap="square" lIns="0" tIns="0" rIns="0" bIns="0" rtlCol="0" anchor="ctr"/>
          <a:lstStyle/>
          <a:p>
            <a:pPr indent="0" marL="0">
              <a:lnSpc>
                <a:spcPts val="1300"/>
              </a:lnSpc>
              <a:buNone/>
            </a:pPr>
            <a:r>
              <a:rPr lang="en-US" sz="1000" dirty="0">
                <a:solidFill>
                  <a:srgbClr val="4A4360"/>
                </a:solidFill>
                <a:latin typeface="Calibri" pitchFamily="34" charset="0"/>
                <a:ea typeface="Calibri" pitchFamily="34" charset="-122"/>
                <a:cs typeface="Calibri" pitchFamily="34" charset="-120"/>
              </a:rPr>
              <a:t>End user · usability · ambassador (advisory)</a:t>
            </a:r>
            <a:endParaRPr lang="en-US" sz="1000" dirty="0"/>
          </a:p>
        </p:txBody>
      </p:sp>
      <p:sp>
        <p:nvSpPr>
          <p:cNvPr id="28" name="Text 26"/>
          <p:cNvSpPr/>
          <p:nvPr/>
        </p:nvSpPr>
        <p:spPr>
          <a:xfrm>
            <a:off x="640080" y="5806440"/>
            <a:ext cx="10607040" cy="502920"/>
          </a:xfrm>
          <a:prstGeom prst="rect">
            <a:avLst/>
          </a:prstGeom>
          <a:noFill/>
          <a:ln/>
        </p:spPr>
        <p:txBody>
          <a:bodyPr wrap="square" lIns="0" tIns="0" rIns="0" bIns="0" rtlCol="0" anchor="ctr"/>
          <a:lstStyle/>
          <a:p>
            <a:pPr indent="0" marL="0">
              <a:lnSpc>
                <a:spcPts val="1700"/>
              </a:lnSpc>
              <a:buNone/>
            </a:pPr>
            <a:r>
              <a:rPr lang="en-US" sz="1250" i="1" dirty="0">
                <a:solidFill>
                  <a:srgbClr val="7A7291"/>
                </a:solidFill>
                <a:latin typeface="Calibri" pitchFamily="34" charset="0"/>
                <a:ea typeface="Calibri" pitchFamily="34" charset="-122"/>
                <a:cs typeface="Calibri" pitchFamily="34" charset="-120"/>
              </a:rPr>
              <a:t>The operating principle: each lane decides independently inside its own scope. Product decisions do not route through marketing, and brand decisions do not route through engineering.</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02336"/>
            <a:ext cx="7315200" cy="256032"/>
          </a:xfrm>
          <a:prstGeom prst="rect">
            <a:avLst/>
          </a:prstGeom>
          <a:noFill/>
          <a:ln/>
        </p:spPr>
        <p:txBody>
          <a:bodyPr wrap="square" lIns="0" tIns="0" rIns="0" bIns="0" rtlCol="0" anchor="ctr"/>
          <a:lstStyle/>
          <a:p>
            <a:pPr indent="0" marL="0">
              <a:buNone/>
            </a:pPr>
            <a:r>
              <a:rPr lang="en-US" sz="1150" b="1" spc="240" kern="0" dirty="0">
                <a:solidFill>
                  <a:srgbClr val="6C4FE0"/>
                </a:solidFill>
                <a:latin typeface="Calibri" pitchFamily="34" charset="0"/>
                <a:ea typeface="Calibri" pitchFamily="34" charset="-122"/>
                <a:cs typeface="Calibri" pitchFamily="34" charset="-120"/>
              </a:rPr>
              <a:t>ROLE</a:t>
            </a:r>
            <a:endParaRPr lang="en-US" sz="1150" dirty="0"/>
          </a:p>
        </p:txBody>
      </p:sp>
      <p:sp>
        <p:nvSpPr>
          <p:cNvPr id="3" name="Text 1"/>
          <p:cNvSpPr/>
          <p:nvPr/>
        </p:nvSpPr>
        <p:spPr>
          <a:xfrm>
            <a:off x="640080" y="694944"/>
            <a:ext cx="10607040" cy="749808"/>
          </a:xfrm>
          <a:prstGeom prst="rect">
            <a:avLst/>
          </a:prstGeom>
          <a:noFill/>
          <a:ln/>
        </p:spPr>
        <p:txBody>
          <a:bodyPr wrap="square" lIns="0" tIns="0" rIns="0" bIns="0" rtlCol="0" anchor="ctr"/>
          <a:lstStyle/>
          <a:p>
            <a:pPr indent="0" marL="0">
              <a:buNone/>
            </a:pPr>
            <a:r>
              <a:rPr lang="en-US" sz="2900" b="1" dirty="0">
                <a:solidFill>
                  <a:srgbClr val="241E33"/>
                </a:solidFill>
                <a:latin typeface="Cambria" pitchFamily="34" charset="0"/>
                <a:ea typeface="Cambria" pitchFamily="34" charset="-122"/>
                <a:cs typeface="Cambria" pitchFamily="34" charset="-120"/>
              </a:rPr>
              <a:t>Aayush</a:t>
            </a:r>
            <a:endParaRPr lang="en-US" sz="2900" dirty="0"/>
          </a:p>
        </p:txBody>
      </p:sp>
      <p:sp>
        <p:nvSpPr>
          <p:cNvPr id="4" name="Text 2"/>
          <p:cNvSpPr/>
          <p:nvPr/>
        </p:nvSpPr>
        <p:spPr>
          <a:xfrm>
            <a:off x="640080" y="1371600"/>
            <a:ext cx="10607040" cy="329184"/>
          </a:xfrm>
          <a:prstGeom prst="rect">
            <a:avLst/>
          </a:prstGeom>
          <a:noFill/>
          <a:ln/>
        </p:spPr>
        <p:txBody>
          <a:bodyPr wrap="square" lIns="0" tIns="0" rIns="0" bIns="0" rtlCol="0" anchor="ctr"/>
          <a:lstStyle/>
          <a:p>
            <a:pPr indent="0" marL="0">
              <a:buNone/>
            </a:pPr>
            <a:r>
              <a:rPr lang="en-US" sz="1450" b="1" dirty="0">
                <a:solidFill>
                  <a:srgbClr val="6C4FE0"/>
                </a:solidFill>
                <a:latin typeface="Calibri" pitchFamily="34" charset="0"/>
                <a:ea typeface="Calibri" pitchFamily="34" charset="-122"/>
                <a:cs typeface="Calibri" pitchFamily="34" charset="-120"/>
              </a:rPr>
              <a:t>Co-Founder &amp; Chief Product and Technology Officer</a:t>
            </a:r>
            <a:endParaRPr lang="en-US" sz="1450" dirty="0"/>
          </a:p>
        </p:txBody>
      </p:sp>
      <p:sp>
        <p:nvSpPr>
          <p:cNvPr id="5" name="Shape 3"/>
          <p:cNvSpPr/>
          <p:nvPr/>
        </p:nvSpPr>
        <p:spPr>
          <a:xfrm>
            <a:off x="640080" y="1810512"/>
            <a:ext cx="10607040" cy="960120"/>
          </a:xfrm>
          <a:prstGeom prst="roundRect">
            <a:avLst>
              <a:gd name="adj" fmla="val 13333"/>
            </a:avLst>
          </a:prstGeom>
          <a:solidFill>
            <a:srgbClr val="EFEBF8"/>
          </a:solidFill>
          <a:ln/>
          <a:effectLst>
            <a:outerShdw sx="100000" sy="100000" kx="0" ky="0" algn="bl" rotWithShape="0" blurRad="127000" dist="25400" dir="5400000">
              <a:srgbClr val="241E33">
                <a:alpha val="10000"/>
              </a:srgbClr>
            </a:outerShdw>
          </a:effectLst>
        </p:spPr>
      </p:sp>
      <p:sp>
        <p:nvSpPr>
          <p:cNvPr id="6" name="Text 4"/>
          <p:cNvSpPr/>
          <p:nvPr/>
        </p:nvSpPr>
        <p:spPr>
          <a:xfrm>
            <a:off x="950976" y="1956816"/>
            <a:ext cx="9966960" cy="713232"/>
          </a:xfrm>
          <a:prstGeom prst="rect">
            <a:avLst/>
          </a:prstGeom>
          <a:noFill/>
          <a:ln/>
        </p:spPr>
        <p:txBody>
          <a:bodyPr wrap="square" lIns="0" tIns="0" rIns="0" bIns="0" rtlCol="0" anchor="ctr"/>
          <a:lstStyle/>
          <a:p>
            <a:pPr indent="0" marL="0">
              <a:lnSpc>
                <a:spcPts val="1800"/>
              </a:lnSpc>
              <a:buNone/>
            </a:pPr>
            <a:r>
              <a:rPr lang="en-US" sz="1350" dirty="0">
                <a:solidFill>
                  <a:srgbClr val="3A3352"/>
                </a:solidFill>
                <a:latin typeface="Calibri" pitchFamily="34" charset="0"/>
                <a:ea typeface="Calibri" pitchFamily="34" charset="-122"/>
                <a:cs typeface="Calibri" pitchFamily="34" charset="-120"/>
              </a:rPr>
              <a:t>Owns what Bizzing is, how it is built, and what ships next. Built the full web app AI-first — directing AI coding tools rather than hand-writing code — and runs product and engineering the same way.</a:t>
            </a:r>
            <a:endParaRPr lang="en-US" sz="1350" dirty="0"/>
          </a:p>
        </p:txBody>
      </p:sp>
      <p:sp>
        <p:nvSpPr>
          <p:cNvPr id="7" name="Text 5"/>
          <p:cNvSpPr/>
          <p:nvPr/>
        </p:nvSpPr>
        <p:spPr>
          <a:xfrm>
            <a:off x="640080" y="2999232"/>
            <a:ext cx="3657600" cy="256032"/>
          </a:xfrm>
          <a:prstGeom prst="rect">
            <a:avLst/>
          </a:prstGeom>
          <a:noFill/>
          <a:ln/>
        </p:spPr>
        <p:txBody>
          <a:bodyPr wrap="square" lIns="0" tIns="0" rIns="0" bIns="0" rtlCol="0" anchor="ctr"/>
          <a:lstStyle/>
          <a:p>
            <a:pPr indent="0" marL="0">
              <a:buNone/>
            </a:pPr>
            <a:r>
              <a:rPr lang="en-US" sz="1050" b="1" spc="200" kern="0" dirty="0">
                <a:solidFill>
                  <a:srgbClr val="6C4FE0"/>
                </a:solidFill>
                <a:latin typeface="Calibri" pitchFamily="34" charset="0"/>
                <a:ea typeface="Calibri" pitchFamily="34" charset="-122"/>
                <a:cs typeface="Calibri" pitchFamily="34" charset="-120"/>
              </a:rPr>
              <a:t>OWNS</a:t>
            </a:r>
            <a:endParaRPr lang="en-US" sz="1050" dirty="0"/>
          </a:p>
        </p:txBody>
      </p:sp>
      <p:sp>
        <p:nvSpPr>
          <p:cNvPr id="8" name="Text 6"/>
          <p:cNvSpPr/>
          <p:nvPr/>
        </p:nvSpPr>
        <p:spPr>
          <a:xfrm>
            <a:off x="685800" y="3310128"/>
            <a:ext cx="6035040" cy="2103120"/>
          </a:xfrm>
          <a:prstGeom prst="rect">
            <a:avLst/>
          </a:prstGeom>
          <a:noFill/>
          <a:ln/>
        </p:spPr>
        <p:txBody>
          <a:bodyPr wrap="square" lIns="0" tIns="0" rIns="0" bIns="0" rtlCol="0" anchor="ctr"/>
          <a:lstStyle/>
          <a:p>
            <a:pPr marL="342900" indent="-342900">
              <a:lnSpc>
                <a:spcPts val="1600"/>
              </a:lnSpc>
              <a:spcAft>
                <a:spcPts val="700"/>
              </a:spcAft>
              <a:buSzPct val="100000"/>
              <a:buChar char="•"/>
            </a:pPr>
            <a:r>
              <a:rPr lang="en-US" sz="1250" dirty="0">
                <a:solidFill>
                  <a:srgbClr val="4A4360"/>
                </a:solidFill>
                <a:latin typeface="Calibri" pitchFamily="34" charset="0"/>
                <a:ea typeface="Calibri" pitchFamily="34" charset="-122"/>
                <a:cs typeface="Calibri" pitchFamily="34" charset="-120"/>
              </a:rPr>
              <a:t>Product roadmap and prioritisation across every Bizzing product</a:t>
            </a:r>
            <a:endParaRPr lang="en-US" sz="1250" dirty="0"/>
          </a:p>
          <a:p>
            <a:pPr marL="342900" indent="-342900">
              <a:lnSpc>
                <a:spcPts val="1600"/>
              </a:lnSpc>
              <a:spcAft>
                <a:spcPts val="700"/>
              </a:spcAft>
              <a:buSzPct val="100000"/>
              <a:buChar char="•"/>
            </a:pPr>
            <a:r>
              <a:rPr lang="en-US" sz="1250" dirty="0">
                <a:solidFill>
                  <a:srgbClr val="4A4360"/>
                </a:solidFill>
                <a:latin typeface="Calibri" pitchFamily="34" charset="0"/>
                <a:ea typeface="Calibri" pitchFamily="34" charset="-122"/>
                <a:cs typeface="Calibri" pitchFamily="34" charset="-120"/>
              </a:rPr>
              <a:t>App architecture, infrastructure, technical quality and security</a:t>
            </a:r>
            <a:endParaRPr lang="en-US" sz="1250" dirty="0"/>
          </a:p>
          <a:p>
            <a:pPr marL="342900" indent="-342900">
              <a:lnSpc>
                <a:spcPts val="1600"/>
              </a:lnSpc>
              <a:spcAft>
                <a:spcPts val="700"/>
              </a:spcAft>
              <a:buSzPct val="100000"/>
              <a:buChar char="•"/>
            </a:pPr>
            <a:r>
              <a:rPr lang="en-US" sz="1250" dirty="0">
                <a:solidFill>
                  <a:srgbClr val="4A4360"/>
                </a:solidFill>
                <a:latin typeface="Calibri" pitchFamily="34" charset="0"/>
                <a:ea typeface="Calibri" pitchFamily="34" charset="-122"/>
                <a:cs typeface="Calibri" pitchFamily="34" charset="-120"/>
              </a:rPr>
              <a:t>Turning user feedback into shipped improvements</a:t>
            </a:r>
            <a:endParaRPr lang="en-US" sz="1250" dirty="0"/>
          </a:p>
          <a:p>
            <a:pPr marL="342900" indent="-342900">
              <a:lnSpc>
                <a:spcPts val="1600"/>
              </a:lnSpc>
              <a:spcAft>
                <a:spcPts val="700"/>
              </a:spcAft>
              <a:buSzPct val="100000"/>
              <a:buChar char="•"/>
            </a:pPr>
            <a:r>
              <a:rPr lang="en-US" sz="1250" dirty="0">
                <a:solidFill>
                  <a:srgbClr val="4A4360"/>
                </a:solidFill>
                <a:latin typeface="Calibri" pitchFamily="34" charset="0"/>
                <a:ea typeface="Calibri" pitchFamily="34" charset="-122"/>
                <a:cs typeface="Calibri" pitchFamily="34" charset="-120"/>
              </a:rPr>
              <a:t>Evaluating and adopting AI tooling that improves build speed or quality</a:t>
            </a:r>
            <a:endParaRPr lang="en-US" sz="1250" dirty="0"/>
          </a:p>
          <a:p>
            <a:pPr marL="342900" indent="-342900">
              <a:lnSpc>
                <a:spcPts val="1600"/>
              </a:lnSpc>
              <a:spcAft>
                <a:spcPts val="700"/>
              </a:spcAft>
              <a:buSzPct val="100000"/>
              <a:buChar char="•"/>
            </a:pPr>
            <a:r>
              <a:rPr lang="en-US" sz="1250" dirty="0">
                <a:solidFill>
                  <a:srgbClr val="4A4360"/>
                </a:solidFill>
                <a:latin typeface="Calibri" pitchFamily="34" charset="0"/>
                <a:ea typeface="Calibri" pitchFamily="34" charset="-122"/>
                <a:cs typeface="Calibri" pitchFamily="34" charset="-120"/>
              </a:rPr>
              <a:t>Content generation pipelines — the word bank, question bank and audio</a:t>
            </a:r>
            <a:endParaRPr lang="en-US" sz="1250" dirty="0"/>
          </a:p>
        </p:txBody>
      </p:sp>
      <p:sp>
        <p:nvSpPr>
          <p:cNvPr id="9" name="Text 7"/>
          <p:cNvSpPr/>
          <p:nvPr/>
        </p:nvSpPr>
        <p:spPr>
          <a:xfrm>
            <a:off x="6949440" y="2999232"/>
            <a:ext cx="4297680" cy="256032"/>
          </a:xfrm>
          <a:prstGeom prst="rect">
            <a:avLst/>
          </a:prstGeom>
          <a:noFill/>
          <a:ln/>
        </p:spPr>
        <p:txBody>
          <a:bodyPr wrap="square" lIns="0" tIns="0" rIns="0" bIns="0" rtlCol="0" anchor="ctr"/>
          <a:lstStyle/>
          <a:p>
            <a:pPr indent="0" marL="0">
              <a:buNone/>
            </a:pPr>
            <a:r>
              <a:rPr lang="en-US" sz="1050" b="1" spc="200" kern="0" dirty="0">
                <a:solidFill>
                  <a:srgbClr val="6C4FE0"/>
                </a:solidFill>
                <a:latin typeface="Calibri" pitchFamily="34" charset="0"/>
                <a:ea typeface="Calibri" pitchFamily="34" charset="-122"/>
                <a:cs typeface="Calibri" pitchFamily="34" charset="-120"/>
              </a:rPr>
              <a:t>SUCCESS METRICS</a:t>
            </a:r>
            <a:endParaRPr lang="en-US" sz="1050" dirty="0"/>
          </a:p>
        </p:txBody>
      </p:sp>
      <p:sp>
        <p:nvSpPr>
          <p:cNvPr id="10" name="Shape 8"/>
          <p:cNvSpPr/>
          <p:nvPr/>
        </p:nvSpPr>
        <p:spPr>
          <a:xfrm rot="5400000">
            <a:off x="6949440" y="3355848"/>
            <a:ext cx="256032" cy="256032"/>
          </a:xfrm>
          <a:prstGeom prst="hexagon">
            <a:avLst/>
          </a:prstGeom>
          <a:solidFill>
            <a:srgbClr val="6C4FE0"/>
          </a:solidFill>
          <a:ln/>
        </p:spPr>
      </p:sp>
      <p:sp>
        <p:nvSpPr>
          <p:cNvPr id="11" name="Text 9"/>
          <p:cNvSpPr/>
          <p:nvPr/>
        </p:nvSpPr>
        <p:spPr>
          <a:xfrm>
            <a:off x="7315200" y="3310128"/>
            <a:ext cx="1417320" cy="329184"/>
          </a:xfrm>
          <a:prstGeom prst="rect">
            <a:avLst/>
          </a:prstGeom>
          <a:noFill/>
          <a:ln/>
        </p:spPr>
        <p:txBody>
          <a:bodyPr wrap="square" lIns="0" tIns="0" rIns="0" bIns="0" rtlCol="0" anchor="ctr"/>
          <a:lstStyle/>
          <a:p>
            <a:pPr indent="0" marL="0">
              <a:buNone/>
            </a:pPr>
            <a:r>
              <a:rPr lang="en-US" sz="1150" b="1" dirty="0">
                <a:solidFill>
                  <a:srgbClr val="241E33"/>
                </a:solidFill>
                <a:latin typeface="Calibri" pitchFamily="34" charset="0"/>
                <a:ea typeface="Calibri" pitchFamily="34" charset="-122"/>
                <a:cs typeface="Calibri" pitchFamily="34" charset="-120"/>
              </a:rPr>
              <a:t>Ship rate</a:t>
            </a:r>
            <a:endParaRPr lang="en-US" sz="1150" dirty="0"/>
          </a:p>
        </p:txBody>
      </p:sp>
      <p:sp>
        <p:nvSpPr>
          <p:cNvPr id="12" name="Text 10"/>
          <p:cNvSpPr/>
          <p:nvPr/>
        </p:nvSpPr>
        <p:spPr>
          <a:xfrm>
            <a:off x="8778240" y="3310128"/>
            <a:ext cx="2743200" cy="384048"/>
          </a:xfrm>
          <a:prstGeom prst="rect">
            <a:avLst/>
          </a:prstGeom>
          <a:noFill/>
          <a:ln/>
        </p:spPr>
        <p:txBody>
          <a:bodyPr wrap="square" lIns="0" tIns="0" rIns="0" bIns="0" rtlCol="0" anchor="ctr"/>
          <a:lstStyle/>
          <a:p>
            <a:pPr indent="0" marL="0">
              <a:lnSpc>
                <a:spcPts val="1400"/>
              </a:lnSpc>
              <a:buNone/>
            </a:pPr>
            <a:r>
              <a:rPr lang="en-US" sz="1100" dirty="0">
                <a:solidFill>
                  <a:srgbClr val="4A4360"/>
                </a:solidFill>
                <a:latin typeface="Calibri" pitchFamily="34" charset="0"/>
                <a:ea typeface="Calibri" pitchFamily="34" charset="-122"/>
                <a:cs typeface="Calibri" pitchFamily="34" charset="-120"/>
              </a:rPr>
              <a:t>Features shipped per month against roadmap</a:t>
            </a:r>
            <a:endParaRPr lang="en-US" sz="1100" dirty="0"/>
          </a:p>
        </p:txBody>
      </p:sp>
      <p:sp>
        <p:nvSpPr>
          <p:cNvPr id="13" name="Shape 11"/>
          <p:cNvSpPr/>
          <p:nvPr/>
        </p:nvSpPr>
        <p:spPr>
          <a:xfrm rot="5400000">
            <a:off x="6949440" y="3922776"/>
            <a:ext cx="256032" cy="256032"/>
          </a:xfrm>
          <a:prstGeom prst="hexagon">
            <a:avLst/>
          </a:prstGeom>
          <a:solidFill>
            <a:srgbClr val="6C4FE0"/>
          </a:solidFill>
          <a:ln/>
        </p:spPr>
      </p:sp>
      <p:sp>
        <p:nvSpPr>
          <p:cNvPr id="14" name="Text 12"/>
          <p:cNvSpPr/>
          <p:nvPr/>
        </p:nvSpPr>
        <p:spPr>
          <a:xfrm>
            <a:off x="7315200" y="3877056"/>
            <a:ext cx="1417320" cy="329184"/>
          </a:xfrm>
          <a:prstGeom prst="rect">
            <a:avLst/>
          </a:prstGeom>
          <a:noFill/>
          <a:ln/>
        </p:spPr>
        <p:txBody>
          <a:bodyPr wrap="square" lIns="0" tIns="0" rIns="0" bIns="0" rtlCol="0" anchor="ctr"/>
          <a:lstStyle/>
          <a:p>
            <a:pPr indent="0" marL="0">
              <a:buNone/>
            </a:pPr>
            <a:r>
              <a:rPr lang="en-US" sz="1150" b="1" dirty="0">
                <a:solidFill>
                  <a:srgbClr val="241E33"/>
                </a:solidFill>
                <a:latin typeface="Calibri" pitchFamily="34" charset="0"/>
                <a:ea typeface="Calibri" pitchFamily="34" charset="-122"/>
                <a:cs typeface="Calibri" pitchFamily="34" charset="-120"/>
              </a:rPr>
              <a:t>Quality</a:t>
            </a:r>
            <a:endParaRPr lang="en-US" sz="1150" dirty="0"/>
          </a:p>
        </p:txBody>
      </p:sp>
      <p:sp>
        <p:nvSpPr>
          <p:cNvPr id="15" name="Text 13"/>
          <p:cNvSpPr/>
          <p:nvPr/>
        </p:nvSpPr>
        <p:spPr>
          <a:xfrm>
            <a:off x="8778240" y="3877056"/>
            <a:ext cx="2743200" cy="384048"/>
          </a:xfrm>
          <a:prstGeom prst="rect">
            <a:avLst/>
          </a:prstGeom>
          <a:noFill/>
          <a:ln/>
        </p:spPr>
        <p:txBody>
          <a:bodyPr wrap="square" lIns="0" tIns="0" rIns="0" bIns="0" rtlCol="0" anchor="ctr"/>
          <a:lstStyle/>
          <a:p>
            <a:pPr indent="0" marL="0">
              <a:lnSpc>
                <a:spcPts val="1400"/>
              </a:lnSpc>
              <a:buNone/>
            </a:pPr>
            <a:r>
              <a:rPr lang="en-US" sz="1100" dirty="0">
                <a:solidFill>
                  <a:srgbClr val="4A4360"/>
                </a:solidFill>
                <a:latin typeface="Calibri" pitchFamily="34" charset="0"/>
                <a:ea typeface="Calibri" pitchFamily="34" charset="-122"/>
                <a:cs typeface="Calibri" pitchFamily="34" charset="-120"/>
              </a:rPr>
              <a:t>Crash-free sessions; boot time held under target</a:t>
            </a:r>
            <a:endParaRPr lang="en-US" sz="1100" dirty="0"/>
          </a:p>
        </p:txBody>
      </p:sp>
      <p:sp>
        <p:nvSpPr>
          <p:cNvPr id="16" name="Shape 14"/>
          <p:cNvSpPr/>
          <p:nvPr/>
        </p:nvSpPr>
        <p:spPr>
          <a:xfrm rot="5400000">
            <a:off x="6949440" y="4489704"/>
            <a:ext cx="256032" cy="256032"/>
          </a:xfrm>
          <a:prstGeom prst="hexagon">
            <a:avLst/>
          </a:prstGeom>
          <a:solidFill>
            <a:srgbClr val="6C4FE0"/>
          </a:solidFill>
          <a:ln/>
        </p:spPr>
      </p:sp>
      <p:sp>
        <p:nvSpPr>
          <p:cNvPr id="17" name="Text 15"/>
          <p:cNvSpPr/>
          <p:nvPr/>
        </p:nvSpPr>
        <p:spPr>
          <a:xfrm>
            <a:off x="7315200" y="4443984"/>
            <a:ext cx="1417320" cy="329184"/>
          </a:xfrm>
          <a:prstGeom prst="rect">
            <a:avLst/>
          </a:prstGeom>
          <a:noFill/>
          <a:ln/>
        </p:spPr>
        <p:txBody>
          <a:bodyPr wrap="square" lIns="0" tIns="0" rIns="0" bIns="0" rtlCol="0" anchor="ctr"/>
          <a:lstStyle/>
          <a:p>
            <a:pPr indent="0" marL="0">
              <a:buNone/>
            </a:pPr>
            <a:r>
              <a:rPr lang="en-US" sz="1150" b="1" dirty="0">
                <a:solidFill>
                  <a:srgbClr val="241E33"/>
                </a:solidFill>
                <a:latin typeface="Calibri" pitchFamily="34" charset="0"/>
                <a:ea typeface="Calibri" pitchFamily="34" charset="-122"/>
                <a:cs typeface="Calibri" pitchFamily="34" charset="-120"/>
              </a:rPr>
              <a:t>Engine reuse</a:t>
            </a:r>
            <a:endParaRPr lang="en-US" sz="1150" dirty="0"/>
          </a:p>
        </p:txBody>
      </p:sp>
      <p:sp>
        <p:nvSpPr>
          <p:cNvPr id="18" name="Text 16"/>
          <p:cNvSpPr/>
          <p:nvPr/>
        </p:nvSpPr>
        <p:spPr>
          <a:xfrm>
            <a:off x="8778240" y="4443984"/>
            <a:ext cx="2743200" cy="384048"/>
          </a:xfrm>
          <a:prstGeom prst="rect">
            <a:avLst/>
          </a:prstGeom>
          <a:noFill/>
          <a:ln/>
        </p:spPr>
        <p:txBody>
          <a:bodyPr wrap="square" lIns="0" tIns="0" rIns="0" bIns="0" rtlCol="0" anchor="ctr"/>
          <a:lstStyle/>
          <a:p>
            <a:pPr indent="0" marL="0">
              <a:lnSpc>
                <a:spcPts val="1400"/>
              </a:lnSpc>
              <a:buNone/>
            </a:pPr>
            <a:r>
              <a:rPr lang="en-US" sz="1100" dirty="0">
                <a:solidFill>
                  <a:srgbClr val="4A4360"/>
                </a:solidFill>
                <a:latin typeface="Calibri" pitchFamily="34" charset="0"/>
                <a:ea typeface="Calibri" pitchFamily="34" charset="-122"/>
                <a:cs typeface="Calibri" pitchFamily="34" charset="-120"/>
              </a:rPr>
              <a:t>% of a new product built from existing components</a:t>
            </a:r>
            <a:endParaRPr lang="en-US" sz="1100" dirty="0"/>
          </a:p>
        </p:txBody>
      </p:sp>
      <p:sp>
        <p:nvSpPr>
          <p:cNvPr id="19" name="Shape 17"/>
          <p:cNvSpPr/>
          <p:nvPr/>
        </p:nvSpPr>
        <p:spPr>
          <a:xfrm rot="5400000">
            <a:off x="6949440" y="5056632"/>
            <a:ext cx="256032" cy="256032"/>
          </a:xfrm>
          <a:prstGeom prst="hexagon">
            <a:avLst/>
          </a:prstGeom>
          <a:solidFill>
            <a:srgbClr val="6C4FE0"/>
          </a:solidFill>
          <a:ln/>
        </p:spPr>
      </p:sp>
      <p:sp>
        <p:nvSpPr>
          <p:cNvPr id="20" name="Text 18"/>
          <p:cNvSpPr/>
          <p:nvPr/>
        </p:nvSpPr>
        <p:spPr>
          <a:xfrm>
            <a:off x="7315200" y="5010912"/>
            <a:ext cx="1417320" cy="329184"/>
          </a:xfrm>
          <a:prstGeom prst="rect">
            <a:avLst/>
          </a:prstGeom>
          <a:noFill/>
          <a:ln/>
        </p:spPr>
        <p:txBody>
          <a:bodyPr wrap="square" lIns="0" tIns="0" rIns="0" bIns="0" rtlCol="0" anchor="ctr"/>
          <a:lstStyle/>
          <a:p>
            <a:pPr indent="0" marL="0">
              <a:buNone/>
            </a:pPr>
            <a:r>
              <a:rPr lang="en-US" sz="1150" b="1" dirty="0">
                <a:solidFill>
                  <a:srgbClr val="241E33"/>
                </a:solidFill>
                <a:latin typeface="Calibri" pitchFamily="34" charset="0"/>
                <a:ea typeface="Calibri" pitchFamily="34" charset="-122"/>
                <a:cs typeface="Calibri" pitchFamily="34" charset="-120"/>
              </a:rPr>
              <a:t>Feedback loop</a:t>
            </a:r>
            <a:endParaRPr lang="en-US" sz="1150" dirty="0"/>
          </a:p>
        </p:txBody>
      </p:sp>
      <p:sp>
        <p:nvSpPr>
          <p:cNvPr id="21" name="Text 19"/>
          <p:cNvSpPr/>
          <p:nvPr/>
        </p:nvSpPr>
        <p:spPr>
          <a:xfrm>
            <a:off x="8778240" y="5010912"/>
            <a:ext cx="2743200" cy="384048"/>
          </a:xfrm>
          <a:prstGeom prst="rect">
            <a:avLst/>
          </a:prstGeom>
          <a:noFill/>
          <a:ln/>
        </p:spPr>
        <p:txBody>
          <a:bodyPr wrap="square" lIns="0" tIns="0" rIns="0" bIns="0" rtlCol="0" anchor="ctr"/>
          <a:lstStyle/>
          <a:p>
            <a:pPr indent="0" marL="0">
              <a:lnSpc>
                <a:spcPts val="1400"/>
              </a:lnSpc>
              <a:buNone/>
            </a:pPr>
            <a:r>
              <a:rPr lang="en-US" sz="1100" dirty="0">
                <a:solidFill>
                  <a:srgbClr val="4A4360"/>
                </a:solidFill>
                <a:latin typeface="Calibri" pitchFamily="34" charset="0"/>
                <a:ea typeface="Calibri" pitchFamily="34" charset="-122"/>
                <a:cs typeface="Calibri" pitchFamily="34" charset="-120"/>
              </a:rPr>
              <a:t>% of usability findings actioned</a:t>
            </a:r>
            <a:endParaRPr lang="en-US" sz="1100" dirty="0"/>
          </a:p>
        </p:txBody>
      </p:sp>
      <p:sp>
        <p:nvSpPr>
          <p:cNvPr id="22" name="Shape 20"/>
          <p:cNvSpPr/>
          <p:nvPr/>
        </p:nvSpPr>
        <p:spPr>
          <a:xfrm>
            <a:off x="640080" y="5623560"/>
            <a:ext cx="10607040" cy="566928"/>
          </a:xfrm>
          <a:prstGeom prst="roundRect">
            <a:avLst>
              <a:gd name="adj" fmla="val 19355"/>
            </a:avLst>
          </a:prstGeom>
          <a:solidFill>
            <a:srgbClr val="FBF3E0"/>
          </a:solidFill>
          <a:ln/>
        </p:spPr>
      </p:sp>
      <p:sp>
        <p:nvSpPr>
          <p:cNvPr id="23" name="Text 21"/>
          <p:cNvSpPr/>
          <p:nvPr/>
        </p:nvSpPr>
        <p:spPr>
          <a:xfrm>
            <a:off x="914400" y="5623560"/>
            <a:ext cx="10058400" cy="566928"/>
          </a:xfrm>
          <a:prstGeom prst="rect">
            <a:avLst/>
          </a:prstGeom>
          <a:noFill/>
          <a:ln/>
        </p:spPr>
        <p:txBody>
          <a:bodyPr wrap="square" lIns="0" tIns="0" rIns="0" bIns="0" rtlCol="0" anchor="ctr"/>
          <a:lstStyle/>
          <a:p>
            <a:pPr indent="0" marL="0">
              <a:buNone/>
            </a:pPr>
            <a:r>
              <a:rPr lang="en-US" sz="1200" b="1" dirty="0">
                <a:solidFill>
                  <a:srgbClr val="8A5B00"/>
                </a:solidFill>
                <a:latin typeface="Calibri" pitchFamily="34" charset="0"/>
                <a:ea typeface="Calibri" pitchFamily="34" charset="-122"/>
                <a:cs typeface="Calibri" pitchFamily="34" charset="-120"/>
              </a:rPr>
              <a:t>Does not own:  </a:t>
            </a:r>
            <a:pPr indent="0" marL="0">
              <a:buNone/>
            </a:pPr>
            <a:r>
              <a:rPr lang="en-US" sz="1200" dirty="0">
                <a:solidFill>
                  <a:srgbClr val="8A5B00"/>
                </a:solidFill>
                <a:latin typeface="Calibri" pitchFamily="34" charset="0"/>
                <a:ea typeface="Calibri" pitchFamily="34" charset="-122"/>
                <a:cs typeface="Calibri" pitchFamily="34" charset="-120"/>
              </a:rPr>
              <a:t>Brand, pricing and channel decisions route through the CMO.</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02336"/>
            <a:ext cx="7315200" cy="256032"/>
          </a:xfrm>
          <a:prstGeom prst="rect">
            <a:avLst/>
          </a:prstGeom>
          <a:noFill/>
          <a:ln/>
        </p:spPr>
        <p:txBody>
          <a:bodyPr wrap="square" lIns="0" tIns="0" rIns="0" bIns="0" rtlCol="0" anchor="ctr"/>
          <a:lstStyle/>
          <a:p>
            <a:pPr indent="0" marL="0">
              <a:buNone/>
            </a:pPr>
            <a:r>
              <a:rPr lang="en-US" sz="1150" b="1" spc="240" kern="0" dirty="0">
                <a:solidFill>
                  <a:srgbClr val="6C4FE0"/>
                </a:solidFill>
                <a:latin typeface="Calibri" pitchFamily="34" charset="0"/>
                <a:ea typeface="Calibri" pitchFamily="34" charset="-122"/>
                <a:cs typeface="Calibri" pitchFamily="34" charset="-120"/>
              </a:rPr>
              <a:t>ROLE</a:t>
            </a:r>
            <a:endParaRPr lang="en-US" sz="1150" dirty="0"/>
          </a:p>
        </p:txBody>
      </p:sp>
      <p:sp>
        <p:nvSpPr>
          <p:cNvPr id="3" name="Text 1"/>
          <p:cNvSpPr/>
          <p:nvPr/>
        </p:nvSpPr>
        <p:spPr>
          <a:xfrm>
            <a:off x="640080" y="694944"/>
            <a:ext cx="10607040" cy="749808"/>
          </a:xfrm>
          <a:prstGeom prst="rect">
            <a:avLst/>
          </a:prstGeom>
          <a:noFill/>
          <a:ln/>
        </p:spPr>
        <p:txBody>
          <a:bodyPr wrap="square" lIns="0" tIns="0" rIns="0" bIns="0" rtlCol="0" anchor="ctr"/>
          <a:lstStyle/>
          <a:p>
            <a:pPr indent="0" marL="0">
              <a:buNone/>
            </a:pPr>
            <a:r>
              <a:rPr lang="en-US" sz="2900" b="1" dirty="0">
                <a:solidFill>
                  <a:srgbClr val="241E33"/>
                </a:solidFill>
                <a:latin typeface="Cambria" pitchFamily="34" charset="0"/>
                <a:ea typeface="Cambria" pitchFamily="34" charset="-122"/>
                <a:cs typeface="Cambria" pitchFamily="34" charset="-120"/>
              </a:rPr>
              <a:t>Amrita</a:t>
            </a:r>
            <a:endParaRPr lang="en-US" sz="2900" dirty="0"/>
          </a:p>
        </p:txBody>
      </p:sp>
      <p:sp>
        <p:nvSpPr>
          <p:cNvPr id="4" name="Text 2"/>
          <p:cNvSpPr/>
          <p:nvPr/>
        </p:nvSpPr>
        <p:spPr>
          <a:xfrm>
            <a:off x="640080" y="1371600"/>
            <a:ext cx="10607040" cy="329184"/>
          </a:xfrm>
          <a:prstGeom prst="rect">
            <a:avLst/>
          </a:prstGeom>
          <a:noFill/>
          <a:ln/>
        </p:spPr>
        <p:txBody>
          <a:bodyPr wrap="square" lIns="0" tIns="0" rIns="0" bIns="0" rtlCol="0" anchor="ctr"/>
          <a:lstStyle/>
          <a:p>
            <a:pPr indent="0" marL="0">
              <a:buNone/>
            </a:pPr>
            <a:r>
              <a:rPr lang="en-US" sz="1450" b="1" dirty="0">
                <a:solidFill>
                  <a:srgbClr val="8A5B00"/>
                </a:solidFill>
                <a:latin typeface="Calibri" pitchFamily="34" charset="0"/>
                <a:ea typeface="Calibri" pitchFamily="34" charset="-122"/>
                <a:cs typeface="Calibri" pitchFamily="34" charset="-120"/>
              </a:rPr>
              <a:t>Co-Founder &amp; Chief Marketing and Growth Officer</a:t>
            </a:r>
            <a:endParaRPr lang="en-US" sz="1450" dirty="0"/>
          </a:p>
        </p:txBody>
      </p:sp>
      <p:sp>
        <p:nvSpPr>
          <p:cNvPr id="5" name="Shape 3"/>
          <p:cNvSpPr/>
          <p:nvPr/>
        </p:nvSpPr>
        <p:spPr>
          <a:xfrm>
            <a:off x="640080" y="1810512"/>
            <a:ext cx="10607040" cy="960120"/>
          </a:xfrm>
          <a:prstGeom prst="roundRect">
            <a:avLst>
              <a:gd name="adj" fmla="val 13333"/>
            </a:avLst>
          </a:prstGeom>
          <a:solidFill>
            <a:srgbClr val="EFEBF8"/>
          </a:solidFill>
          <a:ln/>
          <a:effectLst>
            <a:outerShdw sx="100000" sy="100000" kx="0" ky="0" algn="bl" rotWithShape="0" blurRad="127000" dist="25400" dir="5400000">
              <a:srgbClr val="241E33">
                <a:alpha val="10000"/>
              </a:srgbClr>
            </a:outerShdw>
          </a:effectLst>
        </p:spPr>
      </p:sp>
      <p:sp>
        <p:nvSpPr>
          <p:cNvPr id="6" name="Text 4"/>
          <p:cNvSpPr/>
          <p:nvPr/>
        </p:nvSpPr>
        <p:spPr>
          <a:xfrm>
            <a:off x="950976" y="1956816"/>
            <a:ext cx="9966960" cy="713232"/>
          </a:xfrm>
          <a:prstGeom prst="rect">
            <a:avLst/>
          </a:prstGeom>
          <a:noFill/>
          <a:ln/>
        </p:spPr>
        <p:txBody>
          <a:bodyPr wrap="square" lIns="0" tIns="0" rIns="0" bIns="0" rtlCol="0" anchor="ctr"/>
          <a:lstStyle/>
          <a:p>
            <a:pPr indent="0" marL="0">
              <a:lnSpc>
                <a:spcPts val="1800"/>
              </a:lnSpc>
              <a:buNone/>
            </a:pPr>
            <a:r>
              <a:rPr lang="en-US" sz="1350" dirty="0">
                <a:solidFill>
                  <a:srgbClr val="3A3352"/>
                </a:solidFill>
                <a:latin typeface="Calibri" pitchFamily="34" charset="0"/>
                <a:ea typeface="Calibri" pitchFamily="34" charset="-122"/>
                <a:cs typeface="Calibri" pitchFamily="34" charset="-120"/>
              </a:rPr>
              <a:t>Owns everything that gets a family to discover Bizzing, decide to trust it, and want to buy something with the logo on it. Run AI-first and deliberately lean: no agency, no editorial headcount.</a:t>
            </a:r>
            <a:endParaRPr lang="en-US" sz="1350" dirty="0"/>
          </a:p>
        </p:txBody>
      </p:sp>
      <p:sp>
        <p:nvSpPr>
          <p:cNvPr id="7" name="Text 5"/>
          <p:cNvSpPr/>
          <p:nvPr/>
        </p:nvSpPr>
        <p:spPr>
          <a:xfrm>
            <a:off x="640080" y="2999232"/>
            <a:ext cx="3657600" cy="256032"/>
          </a:xfrm>
          <a:prstGeom prst="rect">
            <a:avLst/>
          </a:prstGeom>
          <a:noFill/>
          <a:ln/>
        </p:spPr>
        <p:txBody>
          <a:bodyPr wrap="square" lIns="0" tIns="0" rIns="0" bIns="0" rtlCol="0" anchor="ctr"/>
          <a:lstStyle/>
          <a:p>
            <a:pPr indent="0" marL="0">
              <a:buNone/>
            </a:pPr>
            <a:r>
              <a:rPr lang="en-US" sz="1050" b="1" spc="200" kern="0" dirty="0">
                <a:solidFill>
                  <a:srgbClr val="6C4FE0"/>
                </a:solidFill>
                <a:latin typeface="Calibri" pitchFamily="34" charset="0"/>
                <a:ea typeface="Calibri" pitchFamily="34" charset="-122"/>
                <a:cs typeface="Calibri" pitchFamily="34" charset="-120"/>
              </a:rPr>
              <a:t>OWNS</a:t>
            </a:r>
            <a:endParaRPr lang="en-US" sz="1050" dirty="0"/>
          </a:p>
        </p:txBody>
      </p:sp>
      <p:sp>
        <p:nvSpPr>
          <p:cNvPr id="8" name="Text 6"/>
          <p:cNvSpPr/>
          <p:nvPr/>
        </p:nvSpPr>
        <p:spPr>
          <a:xfrm>
            <a:off x="685800" y="3310128"/>
            <a:ext cx="6035040" cy="2103120"/>
          </a:xfrm>
          <a:prstGeom prst="rect">
            <a:avLst/>
          </a:prstGeom>
          <a:noFill/>
          <a:ln/>
        </p:spPr>
        <p:txBody>
          <a:bodyPr wrap="square" lIns="0" tIns="0" rIns="0" bIns="0" rtlCol="0" anchor="ctr"/>
          <a:lstStyle/>
          <a:p>
            <a:pPr marL="342900" indent="-342900">
              <a:lnSpc>
                <a:spcPts val="1600"/>
              </a:lnSpc>
              <a:spcAft>
                <a:spcPts val="700"/>
              </a:spcAft>
              <a:buSzPct val="100000"/>
              <a:buChar char="•"/>
            </a:pPr>
            <a:r>
              <a:rPr lang="en-US" sz="1250" dirty="0">
                <a:solidFill>
                  <a:srgbClr val="4A4360"/>
                </a:solidFill>
                <a:latin typeface="Calibri" pitchFamily="34" charset="0"/>
                <a:ea typeface="Calibri" pitchFamily="34" charset="-122"/>
                <a:cs typeface="Calibri" pitchFamily="34" charset="-120"/>
              </a:rPr>
              <a:t>Brand strategy — positioning, voice, visual identity, messaging</a:t>
            </a:r>
            <a:endParaRPr lang="en-US" sz="1250" dirty="0"/>
          </a:p>
          <a:p>
            <a:pPr marL="342900" indent="-342900">
              <a:lnSpc>
                <a:spcPts val="1600"/>
              </a:lnSpc>
              <a:spcAft>
                <a:spcPts val="700"/>
              </a:spcAft>
              <a:buSzPct val="100000"/>
              <a:buChar char="•"/>
            </a:pPr>
            <a:r>
              <a:rPr lang="en-US" sz="1250" dirty="0">
                <a:solidFill>
                  <a:srgbClr val="4A4360"/>
                </a:solidFill>
                <a:latin typeface="Calibri" pitchFamily="34" charset="0"/>
                <a:ea typeface="Calibri" pitchFamily="34" charset="-122"/>
                <a:cs typeface="Calibri" pitchFamily="34" charset="-120"/>
              </a:rPr>
              <a:t>Performance marketing — Meta and Google; owns CAC, ROAS and budget</a:t>
            </a:r>
            <a:endParaRPr lang="en-US" sz="1250" dirty="0"/>
          </a:p>
          <a:p>
            <a:pPr marL="342900" indent="-342900">
              <a:lnSpc>
                <a:spcPts val="1600"/>
              </a:lnSpc>
              <a:spcAft>
                <a:spcPts val="700"/>
              </a:spcAft>
              <a:buSzPct val="100000"/>
              <a:buChar char="•"/>
            </a:pPr>
            <a:r>
              <a:rPr lang="en-US" sz="1250" dirty="0">
                <a:solidFill>
                  <a:srgbClr val="4A4360"/>
                </a:solidFill>
                <a:latin typeface="Calibri" pitchFamily="34" charset="0"/>
                <a:ea typeface="Calibri" pitchFamily="34" charset="-122"/>
                <a:cs typeface="Calibri" pitchFamily="34" charset="-120"/>
              </a:rPr>
              <a:t>Marketing analytics — AI-built dashboards for funnel, cohort and channel</a:t>
            </a:r>
            <a:endParaRPr lang="en-US" sz="1250" dirty="0"/>
          </a:p>
          <a:p>
            <a:pPr marL="342900" indent="-342900">
              <a:lnSpc>
                <a:spcPts val="1600"/>
              </a:lnSpc>
              <a:spcAft>
                <a:spcPts val="700"/>
              </a:spcAft>
              <a:buSzPct val="100000"/>
              <a:buChar char="•"/>
            </a:pPr>
            <a:r>
              <a:rPr lang="en-US" sz="1250" dirty="0">
                <a:solidFill>
                  <a:srgbClr val="4A4360"/>
                </a:solidFill>
                <a:latin typeface="Calibri" pitchFamily="34" charset="0"/>
                <a:ea typeface="Calibri" pitchFamily="34" charset="-122"/>
                <a:cs typeface="Calibri" pitchFamily="34" charset="-120"/>
              </a:rPr>
              <a:t>Content and video, produced in-house with AI tools</a:t>
            </a:r>
            <a:endParaRPr lang="en-US" sz="1250" dirty="0"/>
          </a:p>
          <a:p>
            <a:pPr marL="342900" indent="-342900">
              <a:lnSpc>
                <a:spcPts val="1600"/>
              </a:lnSpc>
              <a:spcAft>
                <a:spcPts val="700"/>
              </a:spcAft>
              <a:buSzPct val="100000"/>
              <a:buChar char="•"/>
            </a:pPr>
            <a:r>
              <a:rPr lang="en-US" sz="1250" dirty="0">
                <a:solidFill>
                  <a:srgbClr val="4A4360"/>
                </a:solidFill>
                <a:latin typeface="Calibri" pitchFamily="34" charset="0"/>
                <a:ea typeface="Calibri" pitchFamily="34" charset="-122"/>
                <a:cs typeface="Calibri" pitchFamily="34" charset="-120"/>
              </a:rPr>
              <a:t>Pricing, merch, events, influencer partnerships</a:t>
            </a:r>
            <a:endParaRPr lang="en-US" sz="1250" dirty="0"/>
          </a:p>
          <a:p>
            <a:pPr marL="342900" indent="-342900">
              <a:lnSpc>
                <a:spcPts val="1600"/>
              </a:lnSpc>
              <a:spcAft>
                <a:spcPts val="700"/>
              </a:spcAft>
              <a:buSzPct val="100000"/>
              <a:buChar char="•"/>
            </a:pPr>
            <a:r>
              <a:rPr lang="en-US" sz="1250" dirty="0">
                <a:solidFill>
                  <a:srgbClr val="4A4360"/>
                </a:solidFill>
                <a:latin typeface="Calibri" pitchFamily="34" charset="0"/>
                <a:ea typeface="Calibri" pitchFamily="34" charset="-122"/>
                <a:cs typeface="Calibri" pitchFamily="34" charset="-120"/>
              </a:rPr>
              <a:t>Voice of customer — structured feedback and usability sessions</a:t>
            </a:r>
            <a:endParaRPr lang="en-US" sz="1250" dirty="0"/>
          </a:p>
        </p:txBody>
      </p:sp>
      <p:sp>
        <p:nvSpPr>
          <p:cNvPr id="9" name="Text 7"/>
          <p:cNvSpPr/>
          <p:nvPr/>
        </p:nvSpPr>
        <p:spPr>
          <a:xfrm>
            <a:off x="6949440" y="2999232"/>
            <a:ext cx="4297680" cy="256032"/>
          </a:xfrm>
          <a:prstGeom prst="rect">
            <a:avLst/>
          </a:prstGeom>
          <a:noFill/>
          <a:ln/>
        </p:spPr>
        <p:txBody>
          <a:bodyPr wrap="square" lIns="0" tIns="0" rIns="0" bIns="0" rtlCol="0" anchor="ctr"/>
          <a:lstStyle/>
          <a:p>
            <a:pPr indent="0" marL="0">
              <a:buNone/>
            </a:pPr>
            <a:r>
              <a:rPr lang="en-US" sz="1050" b="1" spc="200" kern="0" dirty="0">
                <a:solidFill>
                  <a:srgbClr val="6C4FE0"/>
                </a:solidFill>
                <a:latin typeface="Calibri" pitchFamily="34" charset="0"/>
                <a:ea typeface="Calibri" pitchFamily="34" charset="-122"/>
                <a:cs typeface="Calibri" pitchFamily="34" charset="-120"/>
              </a:rPr>
              <a:t>SUCCESS METRICS</a:t>
            </a:r>
            <a:endParaRPr lang="en-US" sz="1050" dirty="0"/>
          </a:p>
        </p:txBody>
      </p:sp>
      <p:sp>
        <p:nvSpPr>
          <p:cNvPr id="10" name="Shape 8"/>
          <p:cNvSpPr/>
          <p:nvPr/>
        </p:nvSpPr>
        <p:spPr>
          <a:xfrm rot="5400000">
            <a:off x="6949440" y="3355848"/>
            <a:ext cx="256032" cy="256032"/>
          </a:xfrm>
          <a:prstGeom prst="hexagon">
            <a:avLst/>
          </a:prstGeom>
          <a:solidFill>
            <a:srgbClr val="F0B429"/>
          </a:solidFill>
          <a:ln/>
        </p:spPr>
      </p:sp>
      <p:sp>
        <p:nvSpPr>
          <p:cNvPr id="11" name="Text 9"/>
          <p:cNvSpPr/>
          <p:nvPr/>
        </p:nvSpPr>
        <p:spPr>
          <a:xfrm>
            <a:off x="7315200" y="3310128"/>
            <a:ext cx="1417320" cy="329184"/>
          </a:xfrm>
          <a:prstGeom prst="rect">
            <a:avLst/>
          </a:prstGeom>
          <a:noFill/>
          <a:ln/>
        </p:spPr>
        <p:txBody>
          <a:bodyPr wrap="square" lIns="0" tIns="0" rIns="0" bIns="0" rtlCol="0" anchor="ctr"/>
          <a:lstStyle/>
          <a:p>
            <a:pPr indent="0" marL="0">
              <a:buNone/>
            </a:pPr>
            <a:r>
              <a:rPr lang="en-US" sz="1150" b="1" dirty="0">
                <a:solidFill>
                  <a:srgbClr val="241E33"/>
                </a:solidFill>
                <a:latin typeface="Calibri" pitchFamily="34" charset="0"/>
                <a:ea typeface="Calibri" pitchFamily="34" charset="-122"/>
                <a:cs typeface="Calibri" pitchFamily="34" charset="-120"/>
              </a:rPr>
              <a:t>Acquisition</a:t>
            </a:r>
            <a:endParaRPr lang="en-US" sz="1150" dirty="0"/>
          </a:p>
        </p:txBody>
      </p:sp>
      <p:sp>
        <p:nvSpPr>
          <p:cNvPr id="12" name="Text 10"/>
          <p:cNvSpPr/>
          <p:nvPr/>
        </p:nvSpPr>
        <p:spPr>
          <a:xfrm>
            <a:off x="8778240" y="3310128"/>
            <a:ext cx="2743200" cy="384048"/>
          </a:xfrm>
          <a:prstGeom prst="rect">
            <a:avLst/>
          </a:prstGeom>
          <a:noFill/>
          <a:ln/>
        </p:spPr>
        <p:txBody>
          <a:bodyPr wrap="square" lIns="0" tIns="0" rIns="0" bIns="0" rtlCol="0" anchor="ctr"/>
          <a:lstStyle/>
          <a:p>
            <a:pPr indent="0" marL="0">
              <a:lnSpc>
                <a:spcPts val="1400"/>
              </a:lnSpc>
              <a:buNone/>
            </a:pPr>
            <a:r>
              <a:rPr lang="en-US" sz="1100" dirty="0">
                <a:solidFill>
                  <a:srgbClr val="4A4360"/>
                </a:solidFill>
                <a:latin typeface="Calibri" pitchFamily="34" charset="0"/>
                <a:ea typeface="Calibri" pitchFamily="34" charset="-122"/>
                <a:cs typeface="Calibri" pitchFamily="34" charset="-120"/>
              </a:rPr>
              <a:t>MoM qualified traffic growth; CAC down per channel</a:t>
            </a:r>
            <a:endParaRPr lang="en-US" sz="1100" dirty="0"/>
          </a:p>
        </p:txBody>
      </p:sp>
      <p:sp>
        <p:nvSpPr>
          <p:cNvPr id="13" name="Shape 11"/>
          <p:cNvSpPr/>
          <p:nvPr/>
        </p:nvSpPr>
        <p:spPr>
          <a:xfrm rot="5400000">
            <a:off x="6949440" y="3922776"/>
            <a:ext cx="256032" cy="256032"/>
          </a:xfrm>
          <a:prstGeom prst="hexagon">
            <a:avLst/>
          </a:prstGeom>
          <a:solidFill>
            <a:srgbClr val="F0B429"/>
          </a:solidFill>
          <a:ln/>
        </p:spPr>
      </p:sp>
      <p:sp>
        <p:nvSpPr>
          <p:cNvPr id="14" name="Text 12"/>
          <p:cNvSpPr/>
          <p:nvPr/>
        </p:nvSpPr>
        <p:spPr>
          <a:xfrm>
            <a:off x="7315200" y="3877056"/>
            <a:ext cx="1417320" cy="329184"/>
          </a:xfrm>
          <a:prstGeom prst="rect">
            <a:avLst/>
          </a:prstGeom>
          <a:noFill/>
          <a:ln/>
        </p:spPr>
        <p:txBody>
          <a:bodyPr wrap="square" lIns="0" tIns="0" rIns="0" bIns="0" rtlCol="0" anchor="ctr"/>
          <a:lstStyle/>
          <a:p>
            <a:pPr indent="0" marL="0">
              <a:buNone/>
            </a:pPr>
            <a:r>
              <a:rPr lang="en-US" sz="1150" b="1" dirty="0">
                <a:solidFill>
                  <a:srgbClr val="241E33"/>
                </a:solidFill>
                <a:latin typeface="Calibri" pitchFamily="34" charset="0"/>
                <a:ea typeface="Calibri" pitchFamily="34" charset="-122"/>
                <a:cs typeface="Calibri" pitchFamily="34" charset="-120"/>
              </a:rPr>
              <a:t>Paid efficiency</a:t>
            </a:r>
            <a:endParaRPr lang="en-US" sz="1150" dirty="0"/>
          </a:p>
        </p:txBody>
      </p:sp>
      <p:sp>
        <p:nvSpPr>
          <p:cNvPr id="15" name="Text 13"/>
          <p:cNvSpPr/>
          <p:nvPr/>
        </p:nvSpPr>
        <p:spPr>
          <a:xfrm>
            <a:off x="8778240" y="3877056"/>
            <a:ext cx="2743200" cy="384048"/>
          </a:xfrm>
          <a:prstGeom prst="rect">
            <a:avLst/>
          </a:prstGeom>
          <a:noFill/>
          <a:ln/>
        </p:spPr>
        <p:txBody>
          <a:bodyPr wrap="square" lIns="0" tIns="0" rIns="0" bIns="0" rtlCol="0" anchor="ctr"/>
          <a:lstStyle/>
          <a:p>
            <a:pPr indent="0" marL="0">
              <a:lnSpc>
                <a:spcPts val="1400"/>
              </a:lnSpc>
              <a:buNone/>
            </a:pPr>
            <a:r>
              <a:rPr lang="en-US" sz="1100" dirty="0">
                <a:solidFill>
                  <a:srgbClr val="4A4360"/>
                </a:solidFill>
                <a:latin typeface="Calibri" pitchFamily="34" charset="0"/>
                <a:ea typeface="Calibri" pitchFamily="34" charset="-122"/>
                <a:cs typeface="Calibri" pitchFamily="34" charset="-120"/>
              </a:rPr>
              <a:t>ROAS target per platform; spend within budget</a:t>
            </a:r>
            <a:endParaRPr lang="en-US" sz="1100" dirty="0"/>
          </a:p>
        </p:txBody>
      </p:sp>
      <p:sp>
        <p:nvSpPr>
          <p:cNvPr id="16" name="Shape 14"/>
          <p:cNvSpPr/>
          <p:nvPr/>
        </p:nvSpPr>
        <p:spPr>
          <a:xfrm rot="5400000">
            <a:off x="6949440" y="4489704"/>
            <a:ext cx="256032" cy="256032"/>
          </a:xfrm>
          <a:prstGeom prst="hexagon">
            <a:avLst/>
          </a:prstGeom>
          <a:solidFill>
            <a:srgbClr val="F0B429"/>
          </a:solidFill>
          <a:ln/>
        </p:spPr>
      </p:sp>
      <p:sp>
        <p:nvSpPr>
          <p:cNvPr id="17" name="Text 15"/>
          <p:cNvSpPr/>
          <p:nvPr/>
        </p:nvSpPr>
        <p:spPr>
          <a:xfrm>
            <a:off x="7315200" y="4443984"/>
            <a:ext cx="1417320" cy="329184"/>
          </a:xfrm>
          <a:prstGeom prst="rect">
            <a:avLst/>
          </a:prstGeom>
          <a:noFill/>
          <a:ln/>
        </p:spPr>
        <p:txBody>
          <a:bodyPr wrap="square" lIns="0" tIns="0" rIns="0" bIns="0" rtlCol="0" anchor="ctr"/>
          <a:lstStyle/>
          <a:p>
            <a:pPr indent="0" marL="0">
              <a:buNone/>
            </a:pPr>
            <a:r>
              <a:rPr lang="en-US" sz="1150" b="1" dirty="0">
                <a:solidFill>
                  <a:srgbClr val="241E33"/>
                </a:solidFill>
                <a:latin typeface="Calibri" pitchFamily="34" charset="0"/>
                <a:ea typeface="Calibri" pitchFamily="34" charset="-122"/>
                <a:cs typeface="Calibri" pitchFamily="34" charset="-120"/>
              </a:rPr>
              <a:t>Conversion</a:t>
            </a:r>
            <a:endParaRPr lang="en-US" sz="1150" dirty="0"/>
          </a:p>
        </p:txBody>
      </p:sp>
      <p:sp>
        <p:nvSpPr>
          <p:cNvPr id="18" name="Text 16"/>
          <p:cNvSpPr/>
          <p:nvPr/>
        </p:nvSpPr>
        <p:spPr>
          <a:xfrm>
            <a:off x="8778240" y="4443984"/>
            <a:ext cx="2743200" cy="384048"/>
          </a:xfrm>
          <a:prstGeom prst="rect">
            <a:avLst/>
          </a:prstGeom>
          <a:noFill/>
          <a:ln/>
        </p:spPr>
        <p:txBody>
          <a:bodyPr wrap="square" lIns="0" tIns="0" rIns="0" bIns="0" rtlCol="0" anchor="ctr"/>
          <a:lstStyle/>
          <a:p>
            <a:pPr indent="0" marL="0">
              <a:lnSpc>
                <a:spcPts val="1400"/>
              </a:lnSpc>
              <a:buNone/>
            </a:pPr>
            <a:r>
              <a:rPr lang="en-US" sz="1100" dirty="0">
                <a:solidFill>
                  <a:srgbClr val="4A4360"/>
                </a:solidFill>
                <a:latin typeface="Calibri" pitchFamily="34" charset="0"/>
                <a:ea typeface="Calibri" pitchFamily="34" charset="-122"/>
                <a:cs typeface="Calibri" pitchFamily="34" charset="-120"/>
              </a:rPr>
              <a:t>Free-to-paid rate; merch attach rate</a:t>
            </a:r>
            <a:endParaRPr lang="en-US" sz="1100" dirty="0"/>
          </a:p>
        </p:txBody>
      </p:sp>
      <p:sp>
        <p:nvSpPr>
          <p:cNvPr id="19" name="Shape 17"/>
          <p:cNvSpPr/>
          <p:nvPr/>
        </p:nvSpPr>
        <p:spPr>
          <a:xfrm rot="5400000">
            <a:off x="6949440" y="5056632"/>
            <a:ext cx="256032" cy="256032"/>
          </a:xfrm>
          <a:prstGeom prst="hexagon">
            <a:avLst/>
          </a:prstGeom>
          <a:solidFill>
            <a:srgbClr val="F0B429"/>
          </a:solidFill>
          <a:ln/>
        </p:spPr>
      </p:sp>
      <p:sp>
        <p:nvSpPr>
          <p:cNvPr id="20" name="Text 18"/>
          <p:cNvSpPr/>
          <p:nvPr/>
        </p:nvSpPr>
        <p:spPr>
          <a:xfrm>
            <a:off x="7315200" y="5010912"/>
            <a:ext cx="1417320" cy="329184"/>
          </a:xfrm>
          <a:prstGeom prst="rect">
            <a:avLst/>
          </a:prstGeom>
          <a:noFill/>
          <a:ln/>
        </p:spPr>
        <p:txBody>
          <a:bodyPr wrap="square" lIns="0" tIns="0" rIns="0" bIns="0" rtlCol="0" anchor="ctr"/>
          <a:lstStyle/>
          <a:p>
            <a:pPr indent="0" marL="0">
              <a:buNone/>
            </a:pPr>
            <a:r>
              <a:rPr lang="en-US" sz="1150" b="1" dirty="0">
                <a:solidFill>
                  <a:srgbClr val="241E33"/>
                </a:solidFill>
                <a:latin typeface="Calibri" pitchFamily="34" charset="0"/>
                <a:ea typeface="Calibri" pitchFamily="34" charset="-122"/>
                <a:cs typeface="Calibri" pitchFamily="34" charset="-120"/>
              </a:rPr>
              <a:t>Content</a:t>
            </a:r>
            <a:endParaRPr lang="en-US" sz="1150" dirty="0"/>
          </a:p>
        </p:txBody>
      </p:sp>
      <p:sp>
        <p:nvSpPr>
          <p:cNvPr id="21" name="Text 19"/>
          <p:cNvSpPr/>
          <p:nvPr/>
        </p:nvSpPr>
        <p:spPr>
          <a:xfrm>
            <a:off x="8778240" y="5010912"/>
            <a:ext cx="2743200" cy="384048"/>
          </a:xfrm>
          <a:prstGeom prst="rect">
            <a:avLst/>
          </a:prstGeom>
          <a:noFill/>
          <a:ln/>
        </p:spPr>
        <p:txBody>
          <a:bodyPr wrap="square" lIns="0" tIns="0" rIns="0" bIns="0" rtlCol="0" anchor="ctr"/>
          <a:lstStyle/>
          <a:p>
            <a:pPr indent="0" marL="0">
              <a:lnSpc>
                <a:spcPts val="1400"/>
              </a:lnSpc>
              <a:buNone/>
            </a:pPr>
            <a:r>
              <a:rPr lang="en-US" sz="1100" dirty="0">
                <a:solidFill>
                  <a:srgbClr val="4A4360"/>
                </a:solidFill>
                <a:latin typeface="Calibri" pitchFamily="34" charset="0"/>
                <a:ea typeface="Calibri" pitchFamily="34" charset="-122"/>
                <a:cs typeface="Calibri" pitchFamily="34" charset="-120"/>
              </a:rPr>
              <a:t>Volume produced in-house; $0 on external editors</a:t>
            </a:r>
            <a:endParaRPr lang="en-US" sz="1100" dirty="0"/>
          </a:p>
        </p:txBody>
      </p:sp>
      <p:sp>
        <p:nvSpPr>
          <p:cNvPr id="22" name="Shape 20"/>
          <p:cNvSpPr/>
          <p:nvPr/>
        </p:nvSpPr>
        <p:spPr>
          <a:xfrm>
            <a:off x="640080" y="5623560"/>
            <a:ext cx="10607040" cy="566928"/>
          </a:xfrm>
          <a:prstGeom prst="roundRect">
            <a:avLst>
              <a:gd name="adj" fmla="val 19355"/>
            </a:avLst>
          </a:prstGeom>
          <a:solidFill>
            <a:srgbClr val="FBF3E0"/>
          </a:solidFill>
          <a:ln/>
        </p:spPr>
      </p:sp>
      <p:sp>
        <p:nvSpPr>
          <p:cNvPr id="23" name="Text 21"/>
          <p:cNvSpPr/>
          <p:nvPr/>
        </p:nvSpPr>
        <p:spPr>
          <a:xfrm>
            <a:off x="914400" y="5623560"/>
            <a:ext cx="10058400" cy="566928"/>
          </a:xfrm>
          <a:prstGeom prst="rect">
            <a:avLst/>
          </a:prstGeom>
          <a:noFill/>
          <a:ln/>
        </p:spPr>
        <p:txBody>
          <a:bodyPr wrap="square" lIns="0" tIns="0" rIns="0" bIns="0" rtlCol="0" anchor="ctr"/>
          <a:lstStyle/>
          <a:p>
            <a:pPr indent="0" marL="0">
              <a:buNone/>
            </a:pPr>
            <a:r>
              <a:rPr lang="en-US" sz="1200" b="1" dirty="0">
                <a:solidFill>
                  <a:srgbClr val="8A5B00"/>
                </a:solidFill>
                <a:latin typeface="Calibri" pitchFamily="34" charset="0"/>
                <a:ea typeface="Calibri" pitchFamily="34" charset="-122"/>
                <a:cs typeface="Calibri" pitchFamily="34" charset="-120"/>
              </a:rPr>
              <a:t>Does not own:  </a:t>
            </a:r>
            <a:pPr indent="0" marL="0">
              <a:buNone/>
            </a:pPr>
            <a:r>
              <a:rPr lang="en-US" sz="1200" dirty="0">
                <a:solidFill>
                  <a:srgbClr val="8A5B00"/>
                </a:solidFill>
                <a:latin typeface="Calibri" pitchFamily="34" charset="0"/>
                <a:ea typeface="Calibri" pitchFamily="34" charset="-122"/>
                <a:cs typeface="Calibri" pitchFamily="34" charset="-120"/>
              </a:rPr>
              <a:t>Architecture, engineering roadmap and final call on features sit with the CPTO.</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02336"/>
            <a:ext cx="7315200" cy="256032"/>
          </a:xfrm>
          <a:prstGeom prst="rect">
            <a:avLst/>
          </a:prstGeom>
          <a:noFill/>
          <a:ln/>
        </p:spPr>
        <p:txBody>
          <a:bodyPr wrap="square" lIns="0" tIns="0" rIns="0" bIns="0" rtlCol="0" anchor="ctr"/>
          <a:lstStyle/>
          <a:p>
            <a:pPr indent="0" marL="0">
              <a:buNone/>
            </a:pPr>
            <a:r>
              <a:rPr lang="en-US" sz="1150" b="1" spc="240" kern="0" dirty="0">
                <a:solidFill>
                  <a:srgbClr val="6C4FE0"/>
                </a:solidFill>
                <a:latin typeface="Calibri" pitchFamily="34" charset="0"/>
                <a:ea typeface="Calibri" pitchFamily="34" charset="-122"/>
                <a:cs typeface="Calibri" pitchFamily="34" charset="-120"/>
              </a:rPr>
              <a:t>ROLE</a:t>
            </a:r>
            <a:endParaRPr lang="en-US" sz="1150" dirty="0"/>
          </a:p>
        </p:txBody>
      </p:sp>
      <p:sp>
        <p:nvSpPr>
          <p:cNvPr id="3" name="Text 1"/>
          <p:cNvSpPr/>
          <p:nvPr/>
        </p:nvSpPr>
        <p:spPr>
          <a:xfrm>
            <a:off x="640080" y="694944"/>
            <a:ext cx="10607040" cy="749808"/>
          </a:xfrm>
          <a:prstGeom prst="rect">
            <a:avLst/>
          </a:prstGeom>
          <a:noFill/>
          <a:ln/>
        </p:spPr>
        <p:txBody>
          <a:bodyPr wrap="square" lIns="0" tIns="0" rIns="0" bIns="0" rtlCol="0" anchor="ctr"/>
          <a:lstStyle/>
          <a:p>
            <a:pPr indent="0" marL="0">
              <a:buNone/>
            </a:pPr>
            <a:r>
              <a:rPr lang="en-US" sz="2900" b="1" dirty="0">
                <a:solidFill>
                  <a:srgbClr val="241E33"/>
                </a:solidFill>
                <a:latin typeface="Cambria" pitchFamily="34" charset="0"/>
                <a:ea typeface="Cambria" pitchFamily="34" charset="-122"/>
                <a:cs typeface="Cambria" pitchFamily="34" charset="-120"/>
              </a:rPr>
              <a:t>Ahana</a:t>
            </a:r>
            <a:endParaRPr lang="en-US" sz="2900" dirty="0"/>
          </a:p>
        </p:txBody>
      </p:sp>
      <p:sp>
        <p:nvSpPr>
          <p:cNvPr id="4" name="Text 2"/>
          <p:cNvSpPr/>
          <p:nvPr/>
        </p:nvSpPr>
        <p:spPr>
          <a:xfrm>
            <a:off x="640080" y="1371600"/>
            <a:ext cx="10607040" cy="329184"/>
          </a:xfrm>
          <a:prstGeom prst="rect">
            <a:avLst/>
          </a:prstGeom>
          <a:noFill/>
          <a:ln/>
        </p:spPr>
        <p:txBody>
          <a:bodyPr wrap="square" lIns="0" tIns="0" rIns="0" bIns="0" rtlCol="0" anchor="ctr"/>
          <a:lstStyle/>
          <a:p>
            <a:pPr indent="0" marL="0">
              <a:buNone/>
            </a:pPr>
            <a:r>
              <a:rPr lang="en-US" sz="1450" b="1" dirty="0">
                <a:solidFill>
                  <a:srgbClr val="178A4C"/>
                </a:solidFill>
                <a:latin typeface="Calibri" pitchFamily="34" charset="0"/>
                <a:ea typeface="Calibri" pitchFamily="34" charset="-122"/>
                <a:cs typeface="Calibri" pitchFamily="34" charset="-120"/>
              </a:rPr>
              <a:t>Chief Kid Officer — honorary and advisory</a:t>
            </a:r>
            <a:endParaRPr lang="en-US" sz="1450" dirty="0"/>
          </a:p>
        </p:txBody>
      </p:sp>
      <p:sp>
        <p:nvSpPr>
          <p:cNvPr id="5" name="Shape 3"/>
          <p:cNvSpPr/>
          <p:nvPr/>
        </p:nvSpPr>
        <p:spPr>
          <a:xfrm>
            <a:off x="640080" y="1810512"/>
            <a:ext cx="10607040" cy="960120"/>
          </a:xfrm>
          <a:prstGeom prst="roundRect">
            <a:avLst>
              <a:gd name="adj" fmla="val 13333"/>
            </a:avLst>
          </a:prstGeom>
          <a:solidFill>
            <a:srgbClr val="EFEBF8"/>
          </a:solidFill>
          <a:ln/>
          <a:effectLst>
            <a:outerShdw sx="100000" sy="100000" kx="0" ky="0" algn="bl" rotWithShape="0" blurRad="127000" dist="25400" dir="5400000">
              <a:srgbClr val="241E33">
                <a:alpha val="10000"/>
              </a:srgbClr>
            </a:outerShdw>
          </a:effectLst>
        </p:spPr>
      </p:sp>
      <p:sp>
        <p:nvSpPr>
          <p:cNvPr id="6" name="Text 4"/>
          <p:cNvSpPr/>
          <p:nvPr/>
        </p:nvSpPr>
        <p:spPr>
          <a:xfrm>
            <a:off x="950976" y="1956816"/>
            <a:ext cx="9966960" cy="713232"/>
          </a:xfrm>
          <a:prstGeom prst="rect">
            <a:avLst/>
          </a:prstGeom>
          <a:noFill/>
          <a:ln/>
        </p:spPr>
        <p:txBody>
          <a:bodyPr wrap="square" lIns="0" tIns="0" rIns="0" bIns="0" rtlCol="0" anchor="ctr"/>
          <a:lstStyle/>
          <a:p>
            <a:pPr indent="0" marL="0">
              <a:lnSpc>
                <a:spcPts val="1800"/>
              </a:lnSpc>
              <a:buNone/>
            </a:pPr>
            <a:r>
              <a:rPr lang="en-US" sz="1350" dirty="0">
                <a:solidFill>
                  <a:srgbClr val="3A3352"/>
                </a:solidFill>
                <a:latin typeface="Calibri" pitchFamily="34" charset="0"/>
                <a:ea typeface="Calibri" pitchFamily="34" charset="-122"/>
                <a:cs typeface="Calibri" pitchFamily="34" charset="-120"/>
              </a:rPr>
              <a:t>The reason Bizzing exists and its most credible voice. Represents the real end user: tests the app as part of her own bee preparation, says plainly what is fun, boring, confusing or broken.</a:t>
            </a:r>
            <a:endParaRPr lang="en-US" sz="1350" dirty="0"/>
          </a:p>
        </p:txBody>
      </p:sp>
      <p:sp>
        <p:nvSpPr>
          <p:cNvPr id="7" name="Text 5"/>
          <p:cNvSpPr/>
          <p:nvPr/>
        </p:nvSpPr>
        <p:spPr>
          <a:xfrm>
            <a:off x="640080" y="2999232"/>
            <a:ext cx="3657600" cy="256032"/>
          </a:xfrm>
          <a:prstGeom prst="rect">
            <a:avLst/>
          </a:prstGeom>
          <a:noFill/>
          <a:ln/>
        </p:spPr>
        <p:txBody>
          <a:bodyPr wrap="square" lIns="0" tIns="0" rIns="0" bIns="0" rtlCol="0" anchor="ctr"/>
          <a:lstStyle/>
          <a:p>
            <a:pPr indent="0" marL="0">
              <a:buNone/>
            </a:pPr>
            <a:r>
              <a:rPr lang="en-US" sz="1050" b="1" spc="200" kern="0" dirty="0">
                <a:solidFill>
                  <a:srgbClr val="6C4FE0"/>
                </a:solidFill>
                <a:latin typeface="Calibri" pitchFamily="34" charset="0"/>
                <a:ea typeface="Calibri" pitchFamily="34" charset="-122"/>
                <a:cs typeface="Calibri" pitchFamily="34" charset="-120"/>
              </a:rPr>
              <a:t>OWNS</a:t>
            </a:r>
            <a:endParaRPr lang="en-US" sz="1050" dirty="0"/>
          </a:p>
        </p:txBody>
      </p:sp>
      <p:sp>
        <p:nvSpPr>
          <p:cNvPr id="8" name="Text 6"/>
          <p:cNvSpPr/>
          <p:nvPr/>
        </p:nvSpPr>
        <p:spPr>
          <a:xfrm>
            <a:off x="685800" y="3310128"/>
            <a:ext cx="6035040" cy="2103120"/>
          </a:xfrm>
          <a:prstGeom prst="rect">
            <a:avLst/>
          </a:prstGeom>
          <a:noFill/>
          <a:ln/>
        </p:spPr>
        <p:txBody>
          <a:bodyPr wrap="square" lIns="0" tIns="0" rIns="0" bIns="0" rtlCol="0" anchor="ctr"/>
          <a:lstStyle/>
          <a:p>
            <a:pPr marL="342900" indent="-342900">
              <a:lnSpc>
                <a:spcPts val="1600"/>
              </a:lnSpc>
              <a:spcAft>
                <a:spcPts val="700"/>
              </a:spcAft>
              <a:buSzPct val="100000"/>
              <a:buChar char="•"/>
            </a:pPr>
            <a:r>
              <a:rPr lang="en-US" sz="1250" dirty="0">
                <a:solidFill>
                  <a:srgbClr val="4A4360"/>
                </a:solidFill>
                <a:latin typeface="Calibri" pitchFamily="34" charset="0"/>
                <a:ea typeface="Calibri" pitchFamily="34" charset="-122"/>
                <a:cs typeface="Calibri" pitchFamily="34" charset="-120"/>
              </a:rPr>
              <a:t>Uses the app for her own spelling preparation and gives honest feedback</a:t>
            </a:r>
            <a:endParaRPr lang="en-US" sz="1250" dirty="0"/>
          </a:p>
          <a:p>
            <a:pPr marL="342900" indent="-342900">
              <a:lnSpc>
                <a:spcPts val="1600"/>
              </a:lnSpc>
              <a:spcAft>
                <a:spcPts val="700"/>
              </a:spcAft>
              <a:buSzPct val="100000"/>
              <a:buChar char="•"/>
            </a:pPr>
            <a:r>
              <a:rPr lang="en-US" sz="1250" dirty="0">
                <a:solidFill>
                  <a:srgbClr val="4A4360"/>
                </a:solidFill>
                <a:latin typeface="Calibri" pitchFamily="34" charset="0"/>
                <a:ea typeface="Calibri" pitchFamily="34" charset="-122"/>
                <a:cs typeface="Calibri" pitchFamily="34" charset="-120"/>
              </a:rPr>
              <a:t>Tries new features first in usability sessions and reacts candidly</a:t>
            </a:r>
            <a:endParaRPr lang="en-US" sz="1250" dirty="0"/>
          </a:p>
          <a:p>
            <a:pPr marL="342900" indent="-342900">
              <a:lnSpc>
                <a:spcPts val="1600"/>
              </a:lnSpc>
              <a:spcAft>
                <a:spcPts val="700"/>
              </a:spcAft>
              <a:buSzPct val="100000"/>
              <a:buChar char="•"/>
            </a:pPr>
            <a:r>
              <a:rPr lang="en-US" sz="1250" dirty="0">
                <a:solidFill>
                  <a:srgbClr val="4A4360"/>
                </a:solidFill>
                <a:latin typeface="Calibri" pitchFamily="34" charset="0"/>
                <a:ea typeface="Calibri" pitchFamily="34" charset="-122"/>
                <a:cs typeface="Calibri" pitchFamily="34" charset="-120"/>
              </a:rPr>
              <a:t>Appears in kid-appropriate marketing, always with a parent involved</a:t>
            </a:r>
            <a:endParaRPr lang="en-US" sz="1250" dirty="0"/>
          </a:p>
          <a:p>
            <a:pPr marL="342900" indent="-342900">
              <a:lnSpc>
                <a:spcPts val="1600"/>
              </a:lnSpc>
              <a:spcAft>
                <a:spcPts val="700"/>
              </a:spcAft>
              <a:buSzPct val="100000"/>
              <a:buChar char="•"/>
            </a:pPr>
            <a:r>
              <a:rPr lang="en-US" sz="1250" dirty="0">
                <a:solidFill>
                  <a:srgbClr val="4A4360"/>
                </a:solidFill>
                <a:latin typeface="Calibri" pitchFamily="34" charset="0"/>
                <a:ea typeface="Calibri" pitchFamily="34" charset="-122"/>
                <a:cs typeface="Calibri" pitchFamily="34" charset="-120"/>
              </a:rPr>
              <a:t>Longer term: hosts beginner spelling sessions to build community</a:t>
            </a:r>
            <a:endParaRPr lang="en-US" sz="1250" dirty="0"/>
          </a:p>
        </p:txBody>
      </p:sp>
      <p:sp>
        <p:nvSpPr>
          <p:cNvPr id="9" name="Text 7"/>
          <p:cNvSpPr/>
          <p:nvPr/>
        </p:nvSpPr>
        <p:spPr>
          <a:xfrm>
            <a:off x="6949440" y="2999232"/>
            <a:ext cx="4297680" cy="256032"/>
          </a:xfrm>
          <a:prstGeom prst="rect">
            <a:avLst/>
          </a:prstGeom>
          <a:noFill/>
          <a:ln/>
        </p:spPr>
        <p:txBody>
          <a:bodyPr wrap="square" lIns="0" tIns="0" rIns="0" bIns="0" rtlCol="0" anchor="ctr"/>
          <a:lstStyle/>
          <a:p>
            <a:pPr indent="0" marL="0">
              <a:buNone/>
            </a:pPr>
            <a:r>
              <a:rPr lang="en-US" sz="1050" b="1" spc="200" kern="0" dirty="0">
                <a:solidFill>
                  <a:srgbClr val="6C4FE0"/>
                </a:solidFill>
                <a:latin typeface="Calibri" pitchFamily="34" charset="0"/>
                <a:ea typeface="Calibri" pitchFamily="34" charset="-122"/>
                <a:cs typeface="Calibri" pitchFamily="34" charset="-120"/>
              </a:rPr>
              <a:t>SUCCESS METRICS</a:t>
            </a:r>
            <a:endParaRPr lang="en-US" sz="1050" dirty="0"/>
          </a:p>
        </p:txBody>
      </p:sp>
      <p:sp>
        <p:nvSpPr>
          <p:cNvPr id="10" name="Shape 8"/>
          <p:cNvSpPr/>
          <p:nvPr/>
        </p:nvSpPr>
        <p:spPr>
          <a:xfrm rot="5400000">
            <a:off x="6949440" y="3355848"/>
            <a:ext cx="256032" cy="256032"/>
          </a:xfrm>
          <a:prstGeom prst="hexagon">
            <a:avLst/>
          </a:prstGeom>
          <a:solidFill>
            <a:srgbClr val="178A4C"/>
          </a:solidFill>
          <a:ln/>
        </p:spPr>
      </p:sp>
      <p:sp>
        <p:nvSpPr>
          <p:cNvPr id="11" name="Text 9"/>
          <p:cNvSpPr/>
          <p:nvPr/>
        </p:nvSpPr>
        <p:spPr>
          <a:xfrm>
            <a:off x="7315200" y="3310128"/>
            <a:ext cx="1417320" cy="329184"/>
          </a:xfrm>
          <a:prstGeom prst="rect">
            <a:avLst/>
          </a:prstGeom>
          <a:noFill/>
          <a:ln/>
        </p:spPr>
        <p:txBody>
          <a:bodyPr wrap="square" lIns="0" tIns="0" rIns="0" bIns="0" rtlCol="0" anchor="ctr"/>
          <a:lstStyle/>
          <a:p>
            <a:pPr indent="0" marL="0">
              <a:buNone/>
            </a:pPr>
            <a:r>
              <a:rPr lang="en-US" sz="1150" b="1" dirty="0">
                <a:solidFill>
                  <a:srgbClr val="241E33"/>
                </a:solidFill>
                <a:latin typeface="Calibri" pitchFamily="34" charset="0"/>
                <a:ea typeface="Calibri" pitchFamily="34" charset="-122"/>
                <a:cs typeface="Calibri" pitchFamily="34" charset="-120"/>
              </a:rPr>
              <a:t>Feedback quality</a:t>
            </a:r>
            <a:endParaRPr lang="en-US" sz="1150" dirty="0"/>
          </a:p>
        </p:txBody>
      </p:sp>
      <p:sp>
        <p:nvSpPr>
          <p:cNvPr id="12" name="Text 10"/>
          <p:cNvSpPr/>
          <p:nvPr/>
        </p:nvSpPr>
        <p:spPr>
          <a:xfrm>
            <a:off x="8778240" y="3310128"/>
            <a:ext cx="2743200" cy="384048"/>
          </a:xfrm>
          <a:prstGeom prst="rect">
            <a:avLst/>
          </a:prstGeom>
          <a:noFill/>
          <a:ln/>
        </p:spPr>
        <p:txBody>
          <a:bodyPr wrap="square" lIns="0" tIns="0" rIns="0" bIns="0" rtlCol="0" anchor="ctr"/>
          <a:lstStyle/>
          <a:p>
            <a:pPr indent="0" marL="0">
              <a:lnSpc>
                <a:spcPts val="1400"/>
              </a:lnSpc>
              <a:buNone/>
            </a:pPr>
            <a:r>
              <a:rPr lang="en-US" sz="1100" dirty="0">
                <a:solidFill>
                  <a:srgbClr val="4A4360"/>
                </a:solidFill>
                <a:latin typeface="Calibri" pitchFamily="34" charset="0"/>
                <a:ea typeface="Calibri" pitchFamily="34" charset="-122"/>
                <a:cs typeface="Calibri" pitchFamily="34" charset="-120"/>
              </a:rPr>
              <a:t>Specific usable notes, not "it’s good"</a:t>
            </a:r>
            <a:endParaRPr lang="en-US" sz="1100" dirty="0"/>
          </a:p>
        </p:txBody>
      </p:sp>
      <p:sp>
        <p:nvSpPr>
          <p:cNvPr id="13" name="Shape 11"/>
          <p:cNvSpPr/>
          <p:nvPr/>
        </p:nvSpPr>
        <p:spPr>
          <a:xfrm rot="5400000">
            <a:off x="6949440" y="3922776"/>
            <a:ext cx="256032" cy="256032"/>
          </a:xfrm>
          <a:prstGeom prst="hexagon">
            <a:avLst/>
          </a:prstGeom>
          <a:solidFill>
            <a:srgbClr val="178A4C"/>
          </a:solidFill>
          <a:ln/>
        </p:spPr>
      </p:sp>
      <p:sp>
        <p:nvSpPr>
          <p:cNvPr id="14" name="Text 12"/>
          <p:cNvSpPr/>
          <p:nvPr/>
        </p:nvSpPr>
        <p:spPr>
          <a:xfrm>
            <a:off x="7315200" y="3877056"/>
            <a:ext cx="1417320" cy="329184"/>
          </a:xfrm>
          <a:prstGeom prst="rect">
            <a:avLst/>
          </a:prstGeom>
          <a:noFill/>
          <a:ln/>
        </p:spPr>
        <p:txBody>
          <a:bodyPr wrap="square" lIns="0" tIns="0" rIns="0" bIns="0" rtlCol="0" anchor="ctr"/>
          <a:lstStyle/>
          <a:p>
            <a:pPr indent="0" marL="0">
              <a:buNone/>
            </a:pPr>
            <a:r>
              <a:rPr lang="en-US" sz="1150" b="1" dirty="0">
                <a:solidFill>
                  <a:srgbClr val="241E33"/>
                </a:solidFill>
                <a:latin typeface="Calibri" pitchFamily="34" charset="0"/>
                <a:ea typeface="Calibri" pitchFamily="34" charset="-122"/>
                <a:cs typeface="Calibri" pitchFamily="34" charset="-120"/>
              </a:rPr>
              <a:t>Ambassador content</a:t>
            </a:r>
            <a:endParaRPr lang="en-US" sz="1150" dirty="0"/>
          </a:p>
        </p:txBody>
      </p:sp>
      <p:sp>
        <p:nvSpPr>
          <p:cNvPr id="15" name="Text 13"/>
          <p:cNvSpPr/>
          <p:nvPr/>
        </p:nvSpPr>
        <p:spPr>
          <a:xfrm>
            <a:off x="8778240" y="3877056"/>
            <a:ext cx="2743200" cy="384048"/>
          </a:xfrm>
          <a:prstGeom prst="rect">
            <a:avLst/>
          </a:prstGeom>
          <a:noFill/>
          <a:ln/>
        </p:spPr>
        <p:txBody>
          <a:bodyPr wrap="square" lIns="0" tIns="0" rIns="0" bIns="0" rtlCol="0" anchor="ctr"/>
          <a:lstStyle/>
          <a:p>
            <a:pPr indent="0" marL="0">
              <a:lnSpc>
                <a:spcPts val="1400"/>
              </a:lnSpc>
              <a:buNone/>
            </a:pPr>
            <a:r>
              <a:rPr lang="en-US" sz="1100" dirty="0">
                <a:solidFill>
                  <a:srgbClr val="4A4360"/>
                </a:solidFill>
                <a:latin typeface="Calibri" pitchFamily="34" charset="0"/>
                <a:ea typeface="Calibri" pitchFamily="34" charset="-122"/>
                <a:cs typeface="Calibri" pitchFamily="34" charset="-120"/>
              </a:rPr>
              <a:t>Genuine, comfortable approved appearances</a:t>
            </a:r>
            <a:endParaRPr lang="en-US" sz="1100" dirty="0"/>
          </a:p>
        </p:txBody>
      </p:sp>
      <p:sp>
        <p:nvSpPr>
          <p:cNvPr id="16" name="Shape 14"/>
          <p:cNvSpPr/>
          <p:nvPr/>
        </p:nvSpPr>
        <p:spPr>
          <a:xfrm rot="5400000">
            <a:off x="6949440" y="4489704"/>
            <a:ext cx="256032" cy="256032"/>
          </a:xfrm>
          <a:prstGeom prst="hexagon">
            <a:avLst/>
          </a:prstGeom>
          <a:solidFill>
            <a:srgbClr val="178A4C"/>
          </a:solidFill>
          <a:ln/>
        </p:spPr>
      </p:sp>
      <p:sp>
        <p:nvSpPr>
          <p:cNvPr id="17" name="Text 15"/>
          <p:cNvSpPr/>
          <p:nvPr/>
        </p:nvSpPr>
        <p:spPr>
          <a:xfrm>
            <a:off x="7315200" y="4443984"/>
            <a:ext cx="1417320" cy="329184"/>
          </a:xfrm>
          <a:prstGeom prst="rect">
            <a:avLst/>
          </a:prstGeom>
          <a:noFill/>
          <a:ln/>
        </p:spPr>
        <p:txBody>
          <a:bodyPr wrap="square" lIns="0" tIns="0" rIns="0" bIns="0" rtlCol="0" anchor="ctr"/>
          <a:lstStyle/>
          <a:p>
            <a:pPr indent="0" marL="0">
              <a:buNone/>
            </a:pPr>
            <a:r>
              <a:rPr lang="en-US" sz="1150" b="1" dirty="0">
                <a:solidFill>
                  <a:srgbClr val="241E33"/>
                </a:solidFill>
                <a:latin typeface="Calibri" pitchFamily="34" charset="0"/>
                <a:ea typeface="Calibri" pitchFamily="34" charset="-122"/>
                <a:cs typeface="Calibri" pitchFamily="34" charset="-120"/>
              </a:rPr>
              <a:t>Community</a:t>
            </a:r>
            <a:endParaRPr lang="en-US" sz="1150" dirty="0"/>
          </a:p>
        </p:txBody>
      </p:sp>
      <p:sp>
        <p:nvSpPr>
          <p:cNvPr id="18" name="Text 16"/>
          <p:cNvSpPr/>
          <p:nvPr/>
        </p:nvSpPr>
        <p:spPr>
          <a:xfrm>
            <a:off x="8778240" y="4443984"/>
            <a:ext cx="2743200" cy="384048"/>
          </a:xfrm>
          <a:prstGeom prst="rect">
            <a:avLst/>
          </a:prstGeom>
          <a:noFill/>
          <a:ln/>
        </p:spPr>
        <p:txBody>
          <a:bodyPr wrap="square" lIns="0" tIns="0" rIns="0" bIns="0" rtlCol="0" anchor="ctr"/>
          <a:lstStyle/>
          <a:p>
            <a:pPr indent="0" marL="0">
              <a:lnSpc>
                <a:spcPts val="1400"/>
              </a:lnSpc>
              <a:buNone/>
            </a:pPr>
            <a:r>
              <a:rPr lang="en-US" sz="1100" dirty="0">
                <a:solidFill>
                  <a:srgbClr val="4A4360"/>
                </a:solidFill>
                <a:latin typeface="Calibri" pitchFamily="34" charset="0"/>
                <a:ea typeface="Calibri" pitchFamily="34" charset="-122"/>
                <a:cs typeface="Calibri" pitchFamily="34" charset="-120"/>
              </a:rPr>
              <a:t>Interest generated by beginner sessions</a:t>
            </a:r>
            <a:endParaRPr lang="en-US" sz="1100" dirty="0"/>
          </a:p>
        </p:txBody>
      </p:sp>
      <p:sp>
        <p:nvSpPr>
          <p:cNvPr id="19" name="Shape 17"/>
          <p:cNvSpPr/>
          <p:nvPr/>
        </p:nvSpPr>
        <p:spPr>
          <a:xfrm>
            <a:off x="640080" y="5623560"/>
            <a:ext cx="10607040" cy="566928"/>
          </a:xfrm>
          <a:prstGeom prst="roundRect">
            <a:avLst>
              <a:gd name="adj" fmla="val 19355"/>
            </a:avLst>
          </a:prstGeom>
          <a:solidFill>
            <a:srgbClr val="FBF3E0"/>
          </a:solidFill>
          <a:ln/>
        </p:spPr>
      </p:sp>
      <p:sp>
        <p:nvSpPr>
          <p:cNvPr id="20" name="Text 18"/>
          <p:cNvSpPr/>
          <p:nvPr/>
        </p:nvSpPr>
        <p:spPr>
          <a:xfrm>
            <a:off x="914400" y="5623560"/>
            <a:ext cx="10058400" cy="566928"/>
          </a:xfrm>
          <a:prstGeom prst="rect">
            <a:avLst/>
          </a:prstGeom>
          <a:noFill/>
          <a:ln/>
        </p:spPr>
        <p:txBody>
          <a:bodyPr wrap="square" lIns="0" tIns="0" rIns="0" bIns="0" rtlCol="0" anchor="ctr"/>
          <a:lstStyle/>
          <a:p>
            <a:pPr indent="0" marL="0">
              <a:buNone/>
            </a:pPr>
            <a:r>
              <a:rPr lang="en-US" sz="1200" b="1" dirty="0">
                <a:solidFill>
                  <a:srgbClr val="8A5B00"/>
                </a:solidFill>
                <a:latin typeface="Calibri" pitchFamily="34" charset="0"/>
                <a:ea typeface="Calibri" pitchFamily="34" charset="-122"/>
                <a:cs typeface="Calibri" pitchFamily="34" charset="-120"/>
              </a:rPr>
              <a:t>Does not own:  </a:t>
            </a:r>
            <a:pPr indent="0" marL="0">
              <a:buNone/>
            </a:pPr>
            <a:r>
              <a:rPr lang="en-US" sz="1200" dirty="0">
                <a:solidFill>
                  <a:srgbClr val="8A5B00"/>
                </a:solidFill>
                <a:latin typeface="Calibri" pitchFamily="34" charset="0"/>
                <a:ea typeface="Calibri" pitchFamily="34" charset="-122"/>
                <a:cs typeface="Calibri" pitchFamily="34" charset="-120"/>
              </a:rPr>
              <a:t>Not an employment position. Schoolwork, her own bee prep and her own projects take priority.</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241E3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058400" y="457200"/>
            <a:ext cx="1417320" cy="1417320"/>
          </a:xfrm>
          <a:prstGeom prst="rect">
            <a:avLst/>
          </a:prstGeom>
        </p:spPr>
      </p:pic>
      <p:sp>
        <p:nvSpPr>
          <p:cNvPr id="3" name="Text 0"/>
          <p:cNvSpPr/>
          <p:nvPr/>
        </p:nvSpPr>
        <p:spPr>
          <a:xfrm>
            <a:off x="640080" y="548640"/>
            <a:ext cx="7315200" cy="292608"/>
          </a:xfrm>
          <a:prstGeom prst="rect">
            <a:avLst/>
          </a:prstGeom>
          <a:noFill/>
          <a:ln/>
        </p:spPr>
        <p:txBody>
          <a:bodyPr wrap="square" lIns="0" tIns="0" rIns="0" bIns="0" rtlCol="0" anchor="ctr"/>
          <a:lstStyle/>
          <a:p>
            <a:pPr indent="0" marL="0">
              <a:buNone/>
            </a:pPr>
            <a:r>
              <a:rPr lang="en-US" sz="1200" b="1" spc="300" kern="0" dirty="0">
                <a:solidFill>
                  <a:srgbClr val="F0B429"/>
                </a:solidFill>
                <a:latin typeface="Calibri" pitchFamily="34" charset="0"/>
                <a:ea typeface="Calibri" pitchFamily="34" charset="-122"/>
                <a:cs typeface="Calibri" pitchFamily="34" charset="-120"/>
              </a:rPr>
              <a:t>THE BUSINESS MODEL</a:t>
            </a:r>
            <a:endParaRPr lang="en-US" sz="1200" dirty="0"/>
          </a:p>
        </p:txBody>
      </p:sp>
      <p:sp>
        <p:nvSpPr>
          <p:cNvPr id="4" name="Text 1"/>
          <p:cNvSpPr/>
          <p:nvPr/>
        </p:nvSpPr>
        <p:spPr>
          <a:xfrm>
            <a:off x="640080" y="914400"/>
            <a:ext cx="9692640" cy="8686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Free to arrive. Paid to go deep. Human where it matters.</a:t>
            </a:r>
            <a:endParaRPr lang="en-US" sz="2800" dirty="0"/>
          </a:p>
        </p:txBody>
      </p:sp>
      <p:sp>
        <p:nvSpPr>
          <p:cNvPr id="5" name="Text 2"/>
          <p:cNvSpPr/>
          <p:nvPr/>
        </p:nvSpPr>
        <p:spPr>
          <a:xfrm>
            <a:off x="640080" y="1828800"/>
            <a:ext cx="9692640" cy="658368"/>
          </a:xfrm>
          <a:prstGeom prst="rect">
            <a:avLst/>
          </a:prstGeom>
          <a:noFill/>
          <a:ln/>
        </p:spPr>
        <p:txBody>
          <a:bodyPr wrap="square" lIns="0" tIns="0" rIns="0" bIns="0" rtlCol="0" anchor="ctr"/>
          <a:lstStyle/>
          <a:p>
            <a:pPr indent="0" marL="0">
              <a:lnSpc>
                <a:spcPts val="1600"/>
              </a:lnSpc>
              <a:buNone/>
            </a:pPr>
            <a:r>
              <a:rPr lang="en-US" sz="1250" dirty="0">
                <a:solidFill>
                  <a:srgbClr val="E3DCF2"/>
                </a:solidFill>
                <a:latin typeface="Calibri" pitchFamily="34" charset="0"/>
                <a:ea typeface="Calibri" pitchFamily="34" charset="-122"/>
                <a:cs typeface="Calibri" pitchFamily="34" charset="-120"/>
              </a:rPr>
              <a:t>The unit is the HOUSEHOLD, not the child, and the competitor is the tutor, not the app. A family with three children buys once and stays twelve years — which is why every price is a family price, and why the age gaps cost more than any conversion rate.</a:t>
            </a:r>
            <a:endParaRPr lang="en-US" sz="1250" dirty="0"/>
          </a:p>
        </p:txBody>
      </p:sp>
      <p:sp>
        <p:nvSpPr>
          <p:cNvPr id="6" name="Shape 3"/>
          <p:cNvSpPr/>
          <p:nvPr/>
        </p:nvSpPr>
        <p:spPr>
          <a:xfrm>
            <a:off x="640080" y="2542032"/>
            <a:ext cx="2194560" cy="804672"/>
          </a:xfrm>
          <a:prstGeom prst="roundRect">
            <a:avLst>
              <a:gd name="adj" fmla="val 12500"/>
            </a:avLst>
          </a:prstGeom>
          <a:solidFill>
            <a:srgbClr val="F0B429"/>
          </a:solidFill>
          <a:ln/>
        </p:spPr>
      </p:sp>
      <p:sp>
        <p:nvSpPr>
          <p:cNvPr id="7" name="Text 4"/>
          <p:cNvSpPr/>
          <p:nvPr/>
        </p:nvSpPr>
        <p:spPr>
          <a:xfrm>
            <a:off x="640080" y="2651760"/>
            <a:ext cx="2194560" cy="274320"/>
          </a:xfrm>
          <a:prstGeom prst="rect">
            <a:avLst/>
          </a:prstGeom>
          <a:noFill/>
          <a:ln/>
        </p:spPr>
        <p:txBody>
          <a:bodyPr wrap="square" lIns="0" tIns="0" rIns="0" bIns="0" rtlCol="0" anchor="ctr"/>
          <a:lstStyle/>
          <a:p>
            <a:pPr algn="ctr" indent="0" marL="0">
              <a:buNone/>
            </a:pPr>
            <a:r>
              <a:rPr lang="en-US" sz="950" b="1" spc="140" kern="0" dirty="0">
                <a:solidFill>
                  <a:srgbClr val="241E33"/>
                </a:solidFill>
                <a:latin typeface="Calibri" pitchFamily="34" charset="0"/>
                <a:ea typeface="Calibri" pitchFamily="34" charset="-122"/>
                <a:cs typeface="Calibri" pitchFamily="34" charset="-120"/>
              </a:rPr>
              <a:t>FREE</a:t>
            </a:r>
            <a:endParaRPr lang="en-US" sz="950" dirty="0"/>
          </a:p>
        </p:txBody>
      </p:sp>
      <p:sp>
        <p:nvSpPr>
          <p:cNvPr id="8" name="Text 5"/>
          <p:cNvSpPr/>
          <p:nvPr/>
        </p:nvSpPr>
        <p:spPr>
          <a:xfrm>
            <a:off x="640080" y="2935224"/>
            <a:ext cx="2194560" cy="310896"/>
          </a:xfrm>
          <a:prstGeom prst="rect">
            <a:avLst/>
          </a:prstGeom>
          <a:noFill/>
          <a:ln/>
        </p:spPr>
        <p:txBody>
          <a:bodyPr wrap="square" lIns="0" tIns="0" rIns="0" bIns="0" rtlCol="0" anchor="ctr"/>
          <a:lstStyle/>
          <a:p>
            <a:pPr algn="ctr" indent="0" marL="0">
              <a:buNone/>
            </a:pPr>
            <a:r>
              <a:rPr lang="en-US" sz="1500" b="1" dirty="0">
                <a:solidFill>
                  <a:srgbClr val="241E33"/>
                </a:solidFill>
                <a:latin typeface="Cambria" pitchFamily="34" charset="0"/>
                <a:ea typeface="Cambria" pitchFamily="34" charset="-122"/>
                <a:cs typeface="Cambria" pitchFamily="34" charset="-120"/>
              </a:rPr>
              <a:t>Arrive</a:t>
            </a:r>
            <a:endParaRPr lang="en-US" sz="1500" dirty="0"/>
          </a:p>
        </p:txBody>
      </p:sp>
      <p:sp>
        <p:nvSpPr>
          <p:cNvPr id="9" name="Text 6"/>
          <p:cNvSpPr/>
          <p:nvPr/>
        </p:nvSpPr>
        <p:spPr>
          <a:xfrm>
            <a:off x="3127248" y="2578608"/>
            <a:ext cx="8229600" cy="731520"/>
          </a:xfrm>
          <a:prstGeom prst="rect">
            <a:avLst/>
          </a:prstGeom>
          <a:noFill/>
          <a:ln/>
        </p:spPr>
        <p:txBody>
          <a:bodyPr wrap="square" lIns="0" tIns="0" rIns="0" bIns="0" rtlCol="0" anchor="ctr"/>
          <a:lstStyle/>
          <a:p>
            <a:pPr indent="0" marL="0">
              <a:lnSpc>
                <a:spcPts val="1600"/>
              </a:lnSpc>
              <a:buNone/>
            </a:pPr>
            <a:r>
              <a:rPr lang="en-US" sz="1200" dirty="0">
                <a:solidFill>
                  <a:srgbClr val="E3DCF2"/>
                </a:solidFill>
                <a:latin typeface="Calibri" pitchFamily="34" charset="0"/>
                <a:ea typeface="Calibri" pitchFamily="34" charset="-122"/>
                <a:cs typeface="Calibri" pitchFamily="34" charset="-120"/>
              </a:rPr>
              <a:t>Bizzing Bee core · Bizzing India culture · the YouTube channel. No card, no signup wall. This layer exists to be shared.</a:t>
            </a:r>
            <a:endParaRPr lang="en-US" sz="1200" dirty="0"/>
          </a:p>
        </p:txBody>
      </p:sp>
      <p:sp>
        <p:nvSpPr>
          <p:cNvPr id="10" name="Shape 7"/>
          <p:cNvSpPr/>
          <p:nvPr/>
        </p:nvSpPr>
        <p:spPr>
          <a:xfrm>
            <a:off x="640080" y="3456432"/>
            <a:ext cx="2194560" cy="804672"/>
          </a:xfrm>
          <a:prstGeom prst="roundRect">
            <a:avLst>
              <a:gd name="adj" fmla="val 12500"/>
            </a:avLst>
          </a:prstGeom>
          <a:solidFill>
            <a:srgbClr val="6C4FE0"/>
          </a:solidFill>
          <a:ln/>
        </p:spPr>
      </p:sp>
      <p:sp>
        <p:nvSpPr>
          <p:cNvPr id="11" name="Text 8"/>
          <p:cNvSpPr/>
          <p:nvPr/>
        </p:nvSpPr>
        <p:spPr>
          <a:xfrm>
            <a:off x="640080" y="3566160"/>
            <a:ext cx="2194560" cy="274320"/>
          </a:xfrm>
          <a:prstGeom prst="rect">
            <a:avLst/>
          </a:prstGeom>
          <a:noFill/>
          <a:ln/>
        </p:spPr>
        <p:txBody>
          <a:bodyPr wrap="square" lIns="0" tIns="0" rIns="0" bIns="0" rtlCol="0" anchor="ctr"/>
          <a:lstStyle/>
          <a:p>
            <a:pPr algn="ctr" indent="0" marL="0">
              <a:buNone/>
            </a:pPr>
            <a:r>
              <a:rPr lang="en-US" sz="950" b="1" spc="140" kern="0" dirty="0">
                <a:solidFill>
                  <a:srgbClr val="FFFFFF"/>
                </a:solidFill>
                <a:latin typeface="Calibri" pitchFamily="34" charset="0"/>
                <a:ea typeface="Calibri" pitchFamily="34" charset="-122"/>
                <a:cs typeface="Calibri" pitchFamily="34" charset="-120"/>
              </a:rPr>
              <a:t>SUBSCRIPTION</a:t>
            </a:r>
            <a:endParaRPr lang="en-US" sz="950" dirty="0"/>
          </a:p>
        </p:txBody>
      </p:sp>
      <p:sp>
        <p:nvSpPr>
          <p:cNvPr id="12" name="Text 9"/>
          <p:cNvSpPr/>
          <p:nvPr/>
        </p:nvSpPr>
        <p:spPr>
          <a:xfrm>
            <a:off x="640080" y="3849624"/>
            <a:ext cx="2194560"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Go deep</a:t>
            </a:r>
            <a:endParaRPr lang="en-US" sz="1500" dirty="0"/>
          </a:p>
        </p:txBody>
      </p:sp>
      <p:sp>
        <p:nvSpPr>
          <p:cNvPr id="13" name="Text 10"/>
          <p:cNvSpPr/>
          <p:nvPr/>
        </p:nvSpPr>
        <p:spPr>
          <a:xfrm>
            <a:off x="3127248" y="3493008"/>
            <a:ext cx="8229600" cy="731520"/>
          </a:xfrm>
          <a:prstGeom prst="rect">
            <a:avLst/>
          </a:prstGeom>
          <a:noFill/>
          <a:ln/>
        </p:spPr>
        <p:txBody>
          <a:bodyPr wrap="square" lIns="0" tIns="0" rIns="0" bIns="0" rtlCol="0" anchor="ctr"/>
          <a:lstStyle/>
          <a:p>
            <a:pPr indent="0" marL="0">
              <a:lnSpc>
                <a:spcPts val="1600"/>
              </a:lnSpc>
              <a:buNone/>
            </a:pPr>
            <a:r>
              <a:rPr lang="en-US" sz="1200" dirty="0">
                <a:solidFill>
                  <a:srgbClr val="E3DCF2"/>
                </a:solidFill>
                <a:latin typeface="Calibri" pitchFamily="34" charset="0"/>
                <a:ea typeface="Calibri" pitchFamily="34" charset="-122"/>
                <a:cs typeface="Calibri" pitchFamily="34" charset="-120"/>
              </a:rPr>
              <a:t>Per-product packs, or one family plan across the house. Billed annually up front — the decision that makes week one cash-positive.</a:t>
            </a:r>
            <a:endParaRPr lang="en-US" sz="1200" dirty="0"/>
          </a:p>
        </p:txBody>
      </p:sp>
      <p:sp>
        <p:nvSpPr>
          <p:cNvPr id="14" name="Shape 11"/>
          <p:cNvSpPr/>
          <p:nvPr/>
        </p:nvSpPr>
        <p:spPr>
          <a:xfrm>
            <a:off x="640080" y="4370832"/>
            <a:ext cx="2194560" cy="804672"/>
          </a:xfrm>
          <a:prstGeom prst="roundRect">
            <a:avLst>
              <a:gd name="adj" fmla="val 12500"/>
            </a:avLst>
          </a:prstGeom>
          <a:solidFill>
            <a:srgbClr val="178A4C"/>
          </a:solidFill>
          <a:ln/>
        </p:spPr>
      </p:sp>
      <p:sp>
        <p:nvSpPr>
          <p:cNvPr id="15" name="Text 12"/>
          <p:cNvSpPr/>
          <p:nvPr/>
        </p:nvSpPr>
        <p:spPr>
          <a:xfrm>
            <a:off x="640080" y="4480560"/>
            <a:ext cx="2194560" cy="274320"/>
          </a:xfrm>
          <a:prstGeom prst="rect">
            <a:avLst/>
          </a:prstGeom>
          <a:noFill/>
          <a:ln/>
        </p:spPr>
        <p:txBody>
          <a:bodyPr wrap="square" lIns="0" tIns="0" rIns="0" bIns="0" rtlCol="0" anchor="ctr"/>
          <a:lstStyle/>
          <a:p>
            <a:pPr algn="ctr" indent="0" marL="0">
              <a:buNone/>
            </a:pPr>
            <a:r>
              <a:rPr lang="en-US" sz="950" b="1" spc="140" kern="0" dirty="0">
                <a:solidFill>
                  <a:srgbClr val="FFFFFF"/>
                </a:solidFill>
                <a:latin typeface="Calibri" pitchFamily="34" charset="0"/>
                <a:ea typeface="Calibri" pitchFamily="34" charset="-122"/>
                <a:cs typeface="Calibri" pitchFamily="34" charset="-120"/>
              </a:rPr>
              <a:t>COHORT</a:t>
            </a:r>
            <a:endParaRPr lang="en-US" sz="950" dirty="0"/>
          </a:p>
        </p:txBody>
      </p:sp>
      <p:sp>
        <p:nvSpPr>
          <p:cNvPr id="16" name="Text 13"/>
          <p:cNvSpPr/>
          <p:nvPr/>
        </p:nvSpPr>
        <p:spPr>
          <a:xfrm>
            <a:off x="640080" y="4764024"/>
            <a:ext cx="2194560"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Be taught</a:t>
            </a:r>
            <a:endParaRPr lang="en-US" sz="1500" dirty="0"/>
          </a:p>
        </p:txBody>
      </p:sp>
      <p:sp>
        <p:nvSpPr>
          <p:cNvPr id="17" name="Text 14"/>
          <p:cNvSpPr/>
          <p:nvPr/>
        </p:nvSpPr>
        <p:spPr>
          <a:xfrm>
            <a:off x="3127248" y="4407408"/>
            <a:ext cx="8229600" cy="731520"/>
          </a:xfrm>
          <a:prstGeom prst="rect">
            <a:avLst/>
          </a:prstGeom>
          <a:noFill/>
          <a:ln/>
        </p:spPr>
        <p:txBody>
          <a:bodyPr wrap="square" lIns="0" tIns="0" rIns="0" bIns="0" rtlCol="0" anchor="ctr"/>
          <a:lstStyle/>
          <a:p>
            <a:pPr indent="0" marL="0">
              <a:lnSpc>
                <a:spcPts val="1600"/>
              </a:lnSpc>
              <a:buNone/>
            </a:pPr>
            <a:r>
              <a:rPr lang="en-US" sz="1200" dirty="0">
                <a:solidFill>
                  <a:srgbClr val="E3DCF2"/>
                </a:solidFill>
                <a:latin typeface="Calibri" pitchFamily="34" charset="0"/>
                <a:ea typeface="Calibri" pitchFamily="34" charset="-122"/>
                <a:cs typeface="Calibri" pitchFamily="34" charset="-120"/>
              </a:rPr>
              <a:t>Bizzing Business, bee coaching, beginner classes. Highest price per family, capped by people rather than by servers.</a:t>
            </a:r>
            <a:endParaRPr lang="en-US" sz="1200" dirty="0"/>
          </a:p>
        </p:txBody>
      </p:sp>
      <p:sp>
        <p:nvSpPr>
          <p:cNvPr id="18" name="Shape 15"/>
          <p:cNvSpPr/>
          <p:nvPr/>
        </p:nvSpPr>
        <p:spPr>
          <a:xfrm>
            <a:off x="640080" y="5285232"/>
            <a:ext cx="2194560" cy="804672"/>
          </a:xfrm>
          <a:prstGeom prst="roundRect">
            <a:avLst>
              <a:gd name="adj" fmla="val 12500"/>
            </a:avLst>
          </a:prstGeom>
          <a:solidFill>
            <a:srgbClr val="E3B23C"/>
          </a:solidFill>
          <a:ln/>
        </p:spPr>
      </p:sp>
      <p:sp>
        <p:nvSpPr>
          <p:cNvPr id="19" name="Text 16"/>
          <p:cNvSpPr/>
          <p:nvPr/>
        </p:nvSpPr>
        <p:spPr>
          <a:xfrm>
            <a:off x="640080" y="5394960"/>
            <a:ext cx="2194560" cy="274320"/>
          </a:xfrm>
          <a:prstGeom prst="rect">
            <a:avLst/>
          </a:prstGeom>
          <a:noFill/>
          <a:ln/>
        </p:spPr>
        <p:txBody>
          <a:bodyPr wrap="square" lIns="0" tIns="0" rIns="0" bIns="0" rtlCol="0" anchor="ctr"/>
          <a:lstStyle/>
          <a:p>
            <a:pPr algn="ctr" indent="0" marL="0">
              <a:buNone/>
            </a:pPr>
            <a:r>
              <a:rPr lang="en-US" sz="950" b="1" spc="140" kern="0" dirty="0">
                <a:solidFill>
                  <a:srgbClr val="241E33"/>
                </a:solidFill>
                <a:latin typeface="Calibri" pitchFamily="34" charset="0"/>
                <a:ea typeface="Calibri" pitchFamily="34" charset="-122"/>
                <a:cs typeface="Calibri" pitchFamily="34" charset="-120"/>
              </a:rPr>
              <a:t>PHYSICAL &amp; MEDIA</a:t>
            </a:r>
            <a:endParaRPr lang="en-US" sz="950" dirty="0"/>
          </a:p>
        </p:txBody>
      </p:sp>
      <p:sp>
        <p:nvSpPr>
          <p:cNvPr id="20" name="Text 17"/>
          <p:cNvSpPr/>
          <p:nvPr/>
        </p:nvSpPr>
        <p:spPr>
          <a:xfrm>
            <a:off x="640080" y="5678424"/>
            <a:ext cx="2194560" cy="310896"/>
          </a:xfrm>
          <a:prstGeom prst="rect">
            <a:avLst/>
          </a:prstGeom>
          <a:noFill/>
          <a:ln/>
        </p:spPr>
        <p:txBody>
          <a:bodyPr wrap="square" lIns="0" tIns="0" rIns="0" bIns="0" rtlCol="0" anchor="ctr"/>
          <a:lstStyle/>
          <a:p>
            <a:pPr algn="ctr" indent="0" marL="0">
              <a:buNone/>
            </a:pPr>
            <a:r>
              <a:rPr lang="en-US" sz="1500" b="1" dirty="0">
                <a:solidFill>
                  <a:srgbClr val="241E33"/>
                </a:solidFill>
                <a:latin typeface="Cambria" pitchFamily="34" charset="0"/>
                <a:ea typeface="Cambria" pitchFamily="34" charset="-122"/>
                <a:cs typeface="Cambria" pitchFamily="34" charset="-120"/>
              </a:rPr>
              <a:t>Take it home</a:t>
            </a:r>
            <a:endParaRPr lang="en-US" sz="1500" dirty="0"/>
          </a:p>
        </p:txBody>
      </p:sp>
      <p:sp>
        <p:nvSpPr>
          <p:cNvPr id="21" name="Text 18"/>
          <p:cNvSpPr/>
          <p:nvPr/>
        </p:nvSpPr>
        <p:spPr>
          <a:xfrm>
            <a:off x="3127248" y="5321808"/>
            <a:ext cx="8229600" cy="731520"/>
          </a:xfrm>
          <a:prstGeom prst="rect">
            <a:avLst/>
          </a:prstGeom>
          <a:noFill/>
          <a:ln/>
        </p:spPr>
        <p:txBody>
          <a:bodyPr wrap="square" lIns="0" tIns="0" rIns="0" bIns="0" rtlCol="0" anchor="ctr"/>
          <a:lstStyle/>
          <a:p>
            <a:pPr indent="0" marL="0">
              <a:lnSpc>
                <a:spcPts val="1600"/>
              </a:lnSpc>
              <a:buNone/>
            </a:pPr>
            <a:r>
              <a:rPr lang="en-US" sz="1200" dirty="0">
                <a:solidFill>
                  <a:srgbClr val="E3DCF2"/>
                </a:solidFill>
                <a:latin typeface="Calibri" pitchFamily="34" charset="0"/>
                <a:ea typeface="Calibri" pitchFamily="34" charset="-122"/>
                <a:cs typeface="Calibri" pitchFamily="34" charset="-120"/>
              </a:rPr>
              <a:t>Books, avatar cards, plushies and tees; YouTube ad and sponsorship. Margin support, and a brand a child can hold.</a:t>
            </a:r>
            <a:endParaRPr lang="en-US" sz="1200" dirty="0"/>
          </a:p>
        </p:txBody>
      </p:sp>
      <p:sp>
        <p:nvSpPr>
          <p:cNvPr id="22" name="Text 19"/>
          <p:cNvSpPr/>
          <p:nvPr/>
        </p:nvSpPr>
        <p:spPr>
          <a:xfrm>
            <a:off x="640080" y="6272784"/>
            <a:ext cx="10607040" cy="365760"/>
          </a:xfrm>
          <a:prstGeom prst="rect">
            <a:avLst/>
          </a:prstGeom>
          <a:noFill/>
          <a:ln/>
        </p:spPr>
        <p:txBody>
          <a:bodyPr wrap="square" lIns="0" tIns="0" rIns="0" bIns="0" rtlCol="0" anchor="ctr"/>
          <a:lstStyle/>
          <a:p>
            <a:pPr indent="0" marL="0">
              <a:buNone/>
            </a:pPr>
            <a:r>
              <a:rPr lang="en-US" sz="1100" i="1" dirty="0">
                <a:solidFill>
                  <a:srgbClr val="7A7291"/>
                </a:solidFill>
                <a:latin typeface="Calibri" pitchFamily="34" charset="0"/>
                <a:ea typeface="Calibri" pitchFamily="34" charset="-122"/>
                <a:cs typeface="Calibri" pitchFamily="34" charset="-120"/>
              </a:rPr>
              <a:t>Everything after this slide derives from one assumption block, printed in full at the end — so any number can be argued with by changing an input rather than by disbelieving a chart.</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241E33"/>
        </a:solidFill>
      </p:bgPr>
    </p:bg>
    <p:spTree>
      <p:nvGrpSpPr>
        <p:cNvPr id="1" name=""/>
        <p:cNvGrpSpPr/>
        <p:nvPr/>
      </p:nvGrpSpPr>
      <p:grpSpPr>
        <a:xfrm>
          <a:off x="0" y="0"/>
          <a:ext cx="0" cy="0"/>
          <a:chOff x="0" y="0"/>
          <a:chExt cx="0" cy="0"/>
        </a:xfrm>
      </p:grpSpPr>
      <p:sp>
        <p:nvSpPr>
          <p:cNvPr id="2" name="Shape 0"/>
          <p:cNvSpPr/>
          <p:nvPr/>
        </p:nvSpPr>
        <p:spPr>
          <a:xfrm rot="5400000">
            <a:off x="9966960" y="5029200"/>
            <a:ext cx="640080" cy="640080"/>
          </a:xfrm>
          <a:prstGeom prst="hexagon">
            <a:avLst/>
          </a:prstGeom>
          <a:solidFill>
            <a:srgbClr val="178A4C">
              <a:alpha val="18000"/>
            </a:srgbClr>
          </a:solidFill>
          <a:ln/>
        </p:spPr>
      </p:sp>
      <p:sp>
        <p:nvSpPr>
          <p:cNvPr id="3" name="Shape 1"/>
          <p:cNvSpPr/>
          <p:nvPr/>
        </p:nvSpPr>
        <p:spPr>
          <a:xfrm rot="5400000">
            <a:off x="10771632" y="5029200"/>
            <a:ext cx="640080" cy="640080"/>
          </a:xfrm>
          <a:prstGeom prst="hexagon">
            <a:avLst/>
          </a:prstGeom>
          <a:solidFill>
            <a:srgbClr val="178A4C">
              <a:alpha val="18000"/>
            </a:srgbClr>
          </a:solidFill>
          <a:ln/>
        </p:spPr>
      </p:sp>
      <p:sp>
        <p:nvSpPr>
          <p:cNvPr id="4" name="Shape 2"/>
          <p:cNvSpPr/>
          <p:nvPr/>
        </p:nvSpPr>
        <p:spPr>
          <a:xfrm rot="5400000">
            <a:off x="11576304" y="5029200"/>
            <a:ext cx="640080" cy="640080"/>
          </a:xfrm>
          <a:prstGeom prst="hexagon">
            <a:avLst/>
          </a:prstGeom>
          <a:solidFill>
            <a:srgbClr val="178A4C">
              <a:alpha val="18000"/>
            </a:srgbClr>
          </a:solidFill>
          <a:ln/>
        </p:spPr>
      </p:sp>
      <p:sp>
        <p:nvSpPr>
          <p:cNvPr id="5" name="Text 3"/>
          <p:cNvSpPr/>
          <p:nvPr/>
        </p:nvSpPr>
        <p:spPr>
          <a:xfrm>
            <a:off x="640080" y="502920"/>
            <a:ext cx="7315200" cy="274320"/>
          </a:xfrm>
          <a:prstGeom prst="rect">
            <a:avLst/>
          </a:prstGeom>
          <a:noFill/>
          <a:ln/>
        </p:spPr>
        <p:txBody>
          <a:bodyPr wrap="square" lIns="0" tIns="0" rIns="0" bIns="0" rtlCol="0" anchor="ctr"/>
          <a:lstStyle/>
          <a:p>
            <a:pPr indent="0" marL="0">
              <a:buNone/>
            </a:pPr>
            <a:r>
              <a:rPr lang="en-US" sz="1200" b="1" spc="300" kern="0" dirty="0">
                <a:solidFill>
                  <a:srgbClr val="F0B429"/>
                </a:solidFill>
                <a:latin typeface="Calibri" pitchFamily="34" charset="0"/>
                <a:ea typeface="Calibri" pitchFamily="34" charset="-122"/>
                <a:cs typeface="Calibri" pitchFamily="34" charset="-120"/>
              </a:rPr>
              <a:t>THE CONSTRAINT</a:t>
            </a:r>
            <a:endParaRPr lang="en-US" sz="1200" dirty="0"/>
          </a:p>
        </p:txBody>
      </p:sp>
      <p:sp>
        <p:nvSpPr>
          <p:cNvPr id="6" name="Text 4"/>
          <p:cNvSpPr/>
          <p:nvPr/>
        </p:nvSpPr>
        <p:spPr>
          <a:xfrm>
            <a:off x="640080" y="841248"/>
            <a:ext cx="1042416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Profitable in week one. No outside cash, in any year.</a:t>
            </a:r>
            <a:endParaRPr lang="en-US" sz="3000" dirty="0"/>
          </a:p>
        </p:txBody>
      </p:sp>
      <p:sp>
        <p:nvSpPr>
          <p:cNvPr id="7" name="Text 5"/>
          <p:cNvSpPr/>
          <p:nvPr/>
        </p:nvSpPr>
        <p:spPr>
          <a:xfrm>
            <a:off x="640080" y="1682496"/>
            <a:ext cx="10424160" cy="329184"/>
          </a:xfrm>
          <a:prstGeom prst="rect">
            <a:avLst/>
          </a:prstGeom>
          <a:noFill/>
          <a:ln/>
        </p:spPr>
        <p:txBody>
          <a:bodyPr wrap="square" lIns="0" tIns="0" rIns="0" bIns="0" rtlCol="0" anchor="ctr"/>
          <a:lstStyle/>
          <a:p>
            <a:pPr indent="0" marL="0">
              <a:buNone/>
            </a:pPr>
            <a:r>
              <a:rPr lang="en-US" sz="1300" dirty="0">
                <a:solidFill>
                  <a:srgbClr val="E3DCF2"/>
                </a:solidFill>
                <a:latin typeface="Calibri" pitchFamily="34" charset="0"/>
                <a:ea typeface="Calibri" pitchFamily="34" charset="-122"/>
                <a:cs typeface="Calibri" pitchFamily="34" charset="-120"/>
              </a:rPr>
              <a:t>This is not a forecast that happens to turn positive. It is a cost structure built so that it cannot turn negative.</a:t>
            </a:r>
            <a:endParaRPr lang="en-US" sz="1300" dirty="0"/>
          </a:p>
        </p:txBody>
      </p:sp>
      <p:sp>
        <p:nvSpPr>
          <p:cNvPr id="8" name="Shape 6"/>
          <p:cNvSpPr/>
          <p:nvPr/>
        </p:nvSpPr>
        <p:spPr>
          <a:xfrm>
            <a:off x="640080" y="2157984"/>
            <a:ext cx="4754880" cy="2487168"/>
          </a:xfrm>
          <a:prstGeom prst="roundRect">
            <a:avLst>
              <a:gd name="adj" fmla="val 5147"/>
            </a:avLst>
          </a:prstGeom>
          <a:solidFill>
            <a:srgbClr val="FFFFFF">
              <a:alpha val="8000"/>
            </a:srgbClr>
          </a:solidFill>
          <a:ln/>
        </p:spPr>
      </p:sp>
      <p:sp>
        <p:nvSpPr>
          <p:cNvPr id="9" name="Text 7"/>
          <p:cNvSpPr/>
          <p:nvPr/>
        </p:nvSpPr>
        <p:spPr>
          <a:xfrm>
            <a:off x="896112" y="2286000"/>
            <a:ext cx="4206240" cy="256032"/>
          </a:xfrm>
          <a:prstGeom prst="rect">
            <a:avLst/>
          </a:prstGeom>
          <a:noFill/>
          <a:ln/>
        </p:spPr>
        <p:txBody>
          <a:bodyPr wrap="square" lIns="0" tIns="0" rIns="0" bIns="0" rtlCol="0" anchor="ctr"/>
          <a:lstStyle/>
          <a:p>
            <a:pPr indent="0" marL="0">
              <a:buNone/>
            </a:pPr>
            <a:r>
              <a:rPr lang="en-US" sz="950" b="1" spc="180" kern="0" dirty="0">
                <a:solidFill>
                  <a:srgbClr val="F0B429"/>
                </a:solidFill>
                <a:latin typeface="Calibri" pitchFamily="34" charset="0"/>
                <a:ea typeface="Calibri" pitchFamily="34" charset="-122"/>
                <a:cs typeface="Calibri" pitchFamily="34" charset="-120"/>
              </a:rPr>
              <a:t>WEEK ONE, IN FULL</a:t>
            </a:r>
            <a:endParaRPr lang="en-US" sz="950" dirty="0"/>
          </a:p>
        </p:txBody>
      </p:sp>
      <p:sp>
        <p:nvSpPr>
          <p:cNvPr id="10" name="Text 8"/>
          <p:cNvSpPr/>
          <p:nvPr/>
        </p:nvSpPr>
        <p:spPr>
          <a:xfrm>
            <a:off x="896112" y="2615184"/>
            <a:ext cx="3200400" cy="256032"/>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4 households × $250, billed annually</a:t>
            </a:r>
            <a:endParaRPr lang="en-US" sz="1000" dirty="0"/>
          </a:p>
        </p:txBody>
      </p:sp>
      <p:sp>
        <p:nvSpPr>
          <p:cNvPr id="11" name="Text 9"/>
          <p:cNvSpPr/>
          <p:nvPr/>
        </p:nvSpPr>
        <p:spPr>
          <a:xfrm>
            <a:off x="4023360" y="2615184"/>
            <a:ext cx="1097280" cy="256032"/>
          </a:xfrm>
          <a:prstGeom prst="rect">
            <a:avLst/>
          </a:prstGeom>
          <a:noFill/>
          <a:ln/>
        </p:spPr>
        <p:txBody>
          <a:bodyPr wrap="square" lIns="0" tIns="0" rIns="0" bIns="0" rtlCol="0" anchor="ctr"/>
          <a:lstStyle/>
          <a:p>
            <a:pPr algn="r" indent="0" marL="0">
              <a:buNone/>
            </a:pPr>
            <a:r>
              <a:rPr lang="en-US" sz="1050" b="1" dirty="0">
                <a:solidFill>
                  <a:srgbClr val="178A4C"/>
                </a:solidFill>
                <a:latin typeface="Calibri" pitchFamily="34" charset="0"/>
                <a:ea typeface="Calibri" pitchFamily="34" charset="-122"/>
                <a:cs typeface="Calibri" pitchFamily="34" charset="-120"/>
              </a:rPr>
              <a:t>+$1,000</a:t>
            </a:r>
            <a:endParaRPr lang="en-US" sz="1050" dirty="0"/>
          </a:p>
        </p:txBody>
      </p:sp>
      <p:sp>
        <p:nvSpPr>
          <p:cNvPr id="12" name="Text 10"/>
          <p:cNvSpPr/>
          <p:nvPr/>
        </p:nvSpPr>
        <p:spPr>
          <a:xfrm>
            <a:off x="896112" y="2898648"/>
            <a:ext cx="3200400" cy="256032"/>
          </a:xfrm>
          <a:prstGeom prst="rect">
            <a:avLst/>
          </a:prstGeom>
          <a:noFill/>
          <a:ln/>
        </p:spPr>
        <p:txBody>
          <a:bodyPr wrap="square" lIns="0" tIns="0" rIns="0" bIns="0" rtlCol="0" anchor="ctr"/>
          <a:lstStyle/>
          <a:p>
            <a:pPr indent="0" marL="0">
              <a:buNone/>
            </a:pPr>
            <a:r>
              <a:rPr lang="en-US" sz="1000" dirty="0">
                <a:solidFill>
                  <a:srgbClr val="E3DCF2"/>
                </a:solidFill>
                <a:latin typeface="Calibri" pitchFamily="34" charset="0"/>
                <a:ea typeface="Calibri" pitchFamily="34" charset="-122"/>
                <a:cs typeface="Calibri" pitchFamily="34" charset="-120"/>
              </a:rPr>
              <a:t>Paid media — 18% of that revenue</a:t>
            </a:r>
            <a:endParaRPr lang="en-US" sz="1000" dirty="0"/>
          </a:p>
        </p:txBody>
      </p:sp>
      <p:sp>
        <p:nvSpPr>
          <p:cNvPr id="13" name="Text 11"/>
          <p:cNvSpPr/>
          <p:nvPr/>
        </p:nvSpPr>
        <p:spPr>
          <a:xfrm>
            <a:off x="4023360" y="2898648"/>
            <a:ext cx="1097280" cy="256032"/>
          </a:xfrm>
          <a:prstGeom prst="rect">
            <a:avLst/>
          </a:prstGeom>
          <a:noFill/>
          <a:ln/>
        </p:spPr>
        <p:txBody>
          <a:bodyPr wrap="square" lIns="0" tIns="0" rIns="0" bIns="0" rtlCol="0" anchor="ctr"/>
          <a:lstStyle/>
          <a:p>
            <a:pPr algn="r" indent="0" marL="0">
              <a:buNone/>
            </a:pPr>
            <a:r>
              <a:rPr lang="en-US" sz="1050" b="1" dirty="0">
                <a:solidFill>
                  <a:srgbClr val="E3DCF2"/>
                </a:solidFill>
                <a:latin typeface="Calibri" pitchFamily="34" charset="0"/>
                <a:ea typeface="Calibri" pitchFamily="34" charset="-122"/>
                <a:cs typeface="Calibri" pitchFamily="34" charset="-120"/>
              </a:rPr>
              <a:t>−$180</a:t>
            </a:r>
            <a:endParaRPr lang="en-US" sz="1050" dirty="0"/>
          </a:p>
        </p:txBody>
      </p:sp>
      <p:sp>
        <p:nvSpPr>
          <p:cNvPr id="14" name="Text 12"/>
          <p:cNvSpPr/>
          <p:nvPr/>
        </p:nvSpPr>
        <p:spPr>
          <a:xfrm>
            <a:off x="896112" y="3182112"/>
            <a:ext cx="3200400" cy="256032"/>
          </a:xfrm>
          <a:prstGeom prst="rect">
            <a:avLst/>
          </a:prstGeom>
          <a:noFill/>
          <a:ln/>
        </p:spPr>
        <p:txBody>
          <a:bodyPr wrap="square" lIns="0" tIns="0" rIns="0" bIns="0" rtlCol="0" anchor="ctr"/>
          <a:lstStyle/>
          <a:p>
            <a:pPr indent="0" marL="0">
              <a:buNone/>
            </a:pPr>
            <a:r>
              <a:rPr lang="en-US" sz="1000" dirty="0">
                <a:solidFill>
                  <a:srgbClr val="E3DCF2"/>
                </a:solidFill>
                <a:latin typeface="Calibri" pitchFamily="34" charset="0"/>
                <a:ea typeface="Calibri" pitchFamily="34" charset="-122"/>
                <a:cs typeface="Calibri" pitchFamily="34" charset="-120"/>
              </a:rPr>
              <a:t>Content &amp; tools — weekly share</a:t>
            </a:r>
            <a:endParaRPr lang="en-US" sz="1000" dirty="0"/>
          </a:p>
        </p:txBody>
      </p:sp>
      <p:sp>
        <p:nvSpPr>
          <p:cNvPr id="15" name="Text 13"/>
          <p:cNvSpPr/>
          <p:nvPr/>
        </p:nvSpPr>
        <p:spPr>
          <a:xfrm>
            <a:off x="4023360" y="3182112"/>
            <a:ext cx="1097280" cy="256032"/>
          </a:xfrm>
          <a:prstGeom prst="rect">
            <a:avLst/>
          </a:prstGeom>
          <a:noFill/>
          <a:ln/>
        </p:spPr>
        <p:txBody>
          <a:bodyPr wrap="square" lIns="0" tIns="0" rIns="0" bIns="0" rtlCol="0" anchor="ctr"/>
          <a:lstStyle/>
          <a:p>
            <a:pPr algn="r" indent="0" marL="0">
              <a:buNone/>
            </a:pPr>
            <a:r>
              <a:rPr lang="en-US" sz="1050" b="1" dirty="0">
                <a:solidFill>
                  <a:srgbClr val="E3DCF2"/>
                </a:solidFill>
                <a:latin typeface="Calibri" pitchFamily="34" charset="0"/>
                <a:ea typeface="Calibri" pitchFamily="34" charset="-122"/>
                <a:cs typeface="Calibri" pitchFamily="34" charset="-120"/>
              </a:rPr>
              <a:t>−$208</a:t>
            </a:r>
            <a:endParaRPr lang="en-US" sz="1050" dirty="0"/>
          </a:p>
        </p:txBody>
      </p:sp>
      <p:sp>
        <p:nvSpPr>
          <p:cNvPr id="16" name="Text 14"/>
          <p:cNvSpPr/>
          <p:nvPr/>
        </p:nvSpPr>
        <p:spPr>
          <a:xfrm>
            <a:off x="896112" y="3465576"/>
            <a:ext cx="3200400" cy="256032"/>
          </a:xfrm>
          <a:prstGeom prst="rect">
            <a:avLst/>
          </a:prstGeom>
          <a:noFill/>
          <a:ln/>
        </p:spPr>
        <p:txBody>
          <a:bodyPr wrap="square" lIns="0" tIns="0" rIns="0" bIns="0" rtlCol="0" anchor="ctr"/>
          <a:lstStyle/>
          <a:p>
            <a:pPr indent="0" marL="0">
              <a:buNone/>
            </a:pPr>
            <a:r>
              <a:rPr lang="en-US" sz="1000" dirty="0">
                <a:solidFill>
                  <a:srgbClr val="E3DCF2"/>
                </a:solidFill>
                <a:latin typeface="Calibri" pitchFamily="34" charset="0"/>
                <a:ea typeface="Calibri" pitchFamily="34" charset="-122"/>
                <a:cs typeface="Calibri" pitchFamily="34" charset="-120"/>
              </a:rPr>
              <a:t>Payment fees — 3.5%</a:t>
            </a:r>
            <a:endParaRPr lang="en-US" sz="1000" dirty="0"/>
          </a:p>
        </p:txBody>
      </p:sp>
      <p:sp>
        <p:nvSpPr>
          <p:cNvPr id="17" name="Text 15"/>
          <p:cNvSpPr/>
          <p:nvPr/>
        </p:nvSpPr>
        <p:spPr>
          <a:xfrm>
            <a:off x="4023360" y="3465576"/>
            <a:ext cx="1097280" cy="256032"/>
          </a:xfrm>
          <a:prstGeom prst="rect">
            <a:avLst/>
          </a:prstGeom>
          <a:noFill/>
          <a:ln/>
        </p:spPr>
        <p:txBody>
          <a:bodyPr wrap="square" lIns="0" tIns="0" rIns="0" bIns="0" rtlCol="0" anchor="ctr"/>
          <a:lstStyle/>
          <a:p>
            <a:pPr algn="r" indent="0" marL="0">
              <a:buNone/>
            </a:pPr>
            <a:r>
              <a:rPr lang="en-US" sz="1050" b="1" dirty="0">
                <a:solidFill>
                  <a:srgbClr val="E3DCF2"/>
                </a:solidFill>
                <a:latin typeface="Calibri" pitchFamily="34" charset="0"/>
                <a:ea typeface="Calibri" pitchFamily="34" charset="-122"/>
                <a:cs typeface="Calibri" pitchFamily="34" charset="-120"/>
              </a:rPr>
              <a:t>−$35</a:t>
            </a:r>
            <a:endParaRPr lang="en-US" sz="1050" dirty="0"/>
          </a:p>
        </p:txBody>
      </p:sp>
      <p:sp>
        <p:nvSpPr>
          <p:cNvPr id="18" name="Text 16"/>
          <p:cNvSpPr/>
          <p:nvPr/>
        </p:nvSpPr>
        <p:spPr>
          <a:xfrm>
            <a:off x="896112" y="3749040"/>
            <a:ext cx="3200400" cy="256032"/>
          </a:xfrm>
          <a:prstGeom prst="rect">
            <a:avLst/>
          </a:prstGeom>
          <a:noFill/>
          <a:ln/>
        </p:spPr>
        <p:txBody>
          <a:bodyPr wrap="square" lIns="0" tIns="0" rIns="0" bIns="0" rtlCol="0" anchor="ctr"/>
          <a:lstStyle/>
          <a:p>
            <a:pPr indent="0" marL="0">
              <a:buNone/>
            </a:pPr>
            <a:r>
              <a:rPr lang="en-US" sz="1000" dirty="0">
                <a:solidFill>
                  <a:srgbClr val="E3DCF2"/>
                </a:solidFill>
                <a:latin typeface="Calibri" pitchFamily="34" charset="0"/>
                <a:ea typeface="Calibri" pitchFamily="34" charset="-122"/>
                <a:cs typeface="Calibri" pitchFamily="34" charset="-120"/>
              </a:rPr>
              <a:t>Hosting</a:t>
            </a:r>
            <a:endParaRPr lang="en-US" sz="1000" dirty="0"/>
          </a:p>
        </p:txBody>
      </p:sp>
      <p:sp>
        <p:nvSpPr>
          <p:cNvPr id="19" name="Text 17"/>
          <p:cNvSpPr/>
          <p:nvPr/>
        </p:nvSpPr>
        <p:spPr>
          <a:xfrm>
            <a:off x="4023360" y="3749040"/>
            <a:ext cx="1097280" cy="256032"/>
          </a:xfrm>
          <a:prstGeom prst="rect">
            <a:avLst/>
          </a:prstGeom>
          <a:noFill/>
          <a:ln/>
        </p:spPr>
        <p:txBody>
          <a:bodyPr wrap="square" lIns="0" tIns="0" rIns="0" bIns="0" rtlCol="0" anchor="ctr"/>
          <a:lstStyle/>
          <a:p>
            <a:pPr algn="r" indent="0" marL="0">
              <a:buNone/>
            </a:pPr>
            <a:r>
              <a:rPr lang="en-US" sz="1050" b="1" dirty="0">
                <a:solidFill>
                  <a:srgbClr val="E3DCF2"/>
                </a:solidFill>
                <a:latin typeface="Calibri" pitchFamily="34" charset="0"/>
                <a:ea typeface="Calibri" pitchFamily="34" charset="-122"/>
                <a:cs typeface="Calibri" pitchFamily="34" charset="-120"/>
              </a:rPr>
              <a:t>−$4</a:t>
            </a:r>
            <a:endParaRPr lang="en-US" sz="1050" dirty="0"/>
          </a:p>
        </p:txBody>
      </p:sp>
      <p:sp>
        <p:nvSpPr>
          <p:cNvPr id="20" name="Text 18"/>
          <p:cNvSpPr/>
          <p:nvPr/>
        </p:nvSpPr>
        <p:spPr>
          <a:xfrm>
            <a:off x="896112" y="4032504"/>
            <a:ext cx="3200400" cy="256032"/>
          </a:xfrm>
          <a:prstGeom prst="rect">
            <a:avLst/>
          </a:prstGeom>
          <a:noFill/>
          <a:ln/>
        </p:spPr>
        <p:txBody>
          <a:bodyPr wrap="square" lIns="0" tIns="0" rIns="0" bIns="0" rtlCol="0" anchor="ctr"/>
          <a:lstStyle/>
          <a:p>
            <a:pPr indent="0" marL="0">
              <a:buNone/>
            </a:pPr>
            <a:r>
              <a:rPr lang="en-US" sz="1000" dirty="0">
                <a:solidFill>
                  <a:srgbClr val="E3DCF2"/>
                </a:solidFill>
                <a:latin typeface="Calibri" pitchFamily="34" charset="0"/>
                <a:ea typeface="Calibri" pitchFamily="34" charset="-122"/>
                <a:cs typeface="Calibri" pitchFamily="34" charset="-120"/>
              </a:rPr>
              <a:t>G&amp;A — weekly share</a:t>
            </a:r>
            <a:endParaRPr lang="en-US" sz="1000" dirty="0"/>
          </a:p>
        </p:txBody>
      </p:sp>
      <p:sp>
        <p:nvSpPr>
          <p:cNvPr id="21" name="Text 19"/>
          <p:cNvSpPr/>
          <p:nvPr/>
        </p:nvSpPr>
        <p:spPr>
          <a:xfrm>
            <a:off x="4023360" y="4032504"/>
            <a:ext cx="1097280" cy="256032"/>
          </a:xfrm>
          <a:prstGeom prst="rect">
            <a:avLst/>
          </a:prstGeom>
          <a:noFill/>
          <a:ln/>
        </p:spPr>
        <p:txBody>
          <a:bodyPr wrap="square" lIns="0" tIns="0" rIns="0" bIns="0" rtlCol="0" anchor="ctr"/>
          <a:lstStyle/>
          <a:p>
            <a:pPr algn="r" indent="0" marL="0">
              <a:buNone/>
            </a:pPr>
            <a:r>
              <a:rPr lang="en-US" sz="1050" b="1" dirty="0">
                <a:solidFill>
                  <a:srgbClr val="E3DCF2"/>
                </a:solidFill>
                <a:latin typeface="Calibri" pitchFamily="34" charset="0"/>
                <a:ea typeface="Calibri" pitchFamily="34" charset="-122"/>
                <a:cs typeface="Calibri" pitchFamily="34" charset="-120"/>
              </a:rPr>
              <a:t>−$40</a:t>
            </a:r>
            <a:endParaRPr lang="en-US" sz="1050" dirty="0"/>
          </a:p>
        </p:txBody>
      </p:sp>
      <p:sp>
        <p:nvSpPr>
          <p:cNvPr id="22" name="Shape 20"/>
          <p:cNvSpPr/>
          <p:nvPr/>
        </p:nvSpPr>
        <p:spPr>
          <a:xfrm>
            <a:off x="896112" y="4352544"/>
            <a:ext cx="4224528" cy="0"/>
          </a:xfrm>
          <a:prstGeom prst="line">
            <a:avLst/>
          </a:prstGeom>
          <a:noFill/>
          <a:ln w="12700">
            <a:solidFill>
              <a:srgbClr val="FFFFFF">
                <a:alpha val="40000"/>
              </a:srgbClr>
            </a:solidFill>
            <a:prstDash val="solid"/>
          </a:ln>
        </p:spPr>
      </p:sp>
      <p:sp>
        <p:nvSpPr>
          <p:cNvPr id="23" name="Text 21"/>
          <p:cNvSpPr/>
          <p:nvPr/>
        </p:nvSpPr>
        <p:spPr>
          <a:xfrm>
            <a:off x="896112" y="4407408"/>
            <a:ext cx="2743200" cy="310896"/>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Week-one profit</a:t>
            </a:r>
            <a:endParaRPr lang="en-US" sz="1300" dirty="0"/>
          </a:p>
        </p:txBody>
      </p:sp>
      <p:sp>
        <p:nvSpPr>
          <p:cNvPr id="24" name="Text 22"/>
          <p:cNvSpPr/>
          <p:nvPr/>
        </p:nvSpPr>
        <p:spPr>
          <a:xfrm>
            <a:off x="3566160" y="4389120"/>
            <a:ext cx="1554480" cy="329184"/>
          </a:xfrm>
          <a:prstGeom prst="rect">
            <a:avLst/>
          </a:prstGeom>
          <a:noFill/>
          <a:ln/>
        </p:spPr>
        <p:txBody>
          <a:bodyPr wrap="square" lIns="0" tIns="0" rIns="0" bIns="0" rtlCol="0" anchor="ctr"/>
          <a:lstStyle/>
          <a:p>
            <a:pPr algn="r" indent="0" marL="0">
              <a:buNone/>
            </a:pPr>
            <a:r>
              <a:rPr lang="en-US" sz="2100" b="1" dirty="0">
                <a:solidFill>
                  <a:srgbClr val="178A4C"/>
                </a:solidFill>
                <a:latin typeface="Cambria" pitchFamily="34" charset="0"/>
                <a:ea typeface="Cambria" pitchFamily="34" charset="-122"/>
                <a:cs typeface="Cambria" pitchFamily="34" charset="-120"/>
              </a:rPr>
              <a:t>+$533</a:t>
            </a:r>
            <a:endParaRPr lang="en-US" sz="2100" dirty="0"/>
          </a:p>
        </p:txBody>
      </p:sp>
      <p:sp>
        <p:nvSpPr>
          <p:cNvPr id="25" name="Text 23"/>
          <p:cNvSpPr/>
          <p:nvPr/>
        </p:nvSpPr>
        <p:spPr>
          <a:xfrm>
            <a:off x="5852160" y="2286000"/>
            <a:ext cx="5486400" cy="256032"/>
          </a:xfrm>
          <a:prstGeom prst="rect">
            <a:avLst/>
          </a:prstGeom>
          <a:noFill/>
          <a:ln/>
        </p:spPr>
        <p:txBody>
          <a:bodyPr wrap="square" lIns="0" tIns="0" rIns="0" bIns="0" rtlCol="0" anchor="ctr"/>
          <a:lstStyle/>
          <a:p>
            <a:pPr indent="0" marL="0">
              <a:buNone/>
            </a:pPr>
            <a:r>
              <a:rPr lang="en-US" sz="950" b="1" spc="180" kern="0" dirty="0">
                <a:solidFill>
                  <a:srgbClr val="F0B429"/>
                </a:solidFill>
                <a:latin typeface="Calibri" pitchFamily="34" charset="0"/>
                <a:ea typeface="Calibri" pitchFamily="34" charset="-122"/>
                <a:cs typeface="Calibri" pitchFamily="34" charset="-120"/>
              </a:rPr>
              <a:t>THE THREE RULES</a:t>
            </a:r>
            <a:endParaRPr lang="en-US" sz="950" dirty="0"/>
          </a:p>
        </p:txBody>
      </p:sp>
      <p:sp>
        <p:nvSpPr>
          <p:cNvPr id="26" name="Shape 24"/>
          <p:cNvSpPr/>
          <p:nvPr/>
        </p:nvSpPr>
        <p:spPr>
          <a:xfrm rot="5400000">
            <a:off x="5852160" y="2615184"/>
            <a:ext cx="384048" cy="384048"/>
          </a:xfrm>
          <a:prstGeom prst="hexagon">
            <a:avLst/>
          </a:prstGeom>
          <a:solidFill>
            <a:srgbClr val="6C4FE0"/>
          </a:solidFill>
          <a:ln/>
        </p:spPr>
      </p:sp>
      <p:sp>
        <p:nvSpPr>
          <p:cNvPr id="27" name="Text 25"/>
          <p:cNvSpPr/>
          <p:nvPr/>
        </p:nvSpPr>
        <p:spPr>
          <a:xfrm>
            <a:off x="5852160" y="26151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28" name="Text 26"/>
          <p:cNvSpPr/>
          <p:nvPr/>
        </p:nvSpPr>
        <p:spPr>
          <a:xfrm>
            <a:off x="6382512" y="2587752"/>
            <a:ext cx="5120640" cy="256032"/>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Bill the year up front</a:t>
            </a:r>
            <a:endParaRPr lang="en-US" sz="1300" dirty="0"/>
          </a:p>
        </p:txBody>
      </p:sp>
      <p:sp>
        <p:nvSpPr>
          <p:cNvPr id="29" name="Text 27"/>
          <p:cNvSpPr/>
          <p:nvPr/>
        </p:nvSpPr>
        <p:spPr>
          <a:xfrm>
            <a:off x="6382512" y="2825496"/>
            <a:ext cx="5120640" cy="457200"/>
          </a:xfrm>
          <a:prstGeom prst="rect">
            <a:avLst/>
          </a:prstGeom>
          <a:noFill/>
          <a:ln/>
        </p:spPr>
        <p:txBody>
          <a:bodyPr wrap="square" lIns="0" tIns="0" rIns="0" bIns="0" rtlCol="0" anchor="ctr"/>
          <a:lstStyle/>
          <a:p>
            <a:pPr indent="0" marL="0">
              <a:lnSpc>
                <a:spcPts val="1150"/>
              </a:lnSpc>
              <a:buNone/>
            </a:pPr>
            <a:r>
              <a:rPr lang="en-US" sz="950" dirty="0">
                <a:solidFill>
                  <a:srgbClr val="E3DCF2"/>
                </a:solidFill>
                <a:latin typeface="Calibri" pitchFamily="34" charset="0"/>
                <a:ea typeface="Calibri" pitchFamily="34" charset="-122"/>
                <a:cs typeface="Calibri" pitchFamily="34" charset="-120"/>
              </a:rPr>
              <a:t>Cash arrives before the service is delivered. A household that joins in January funds twelve months of its own cost on the day it joins.</a:t>
            </a:r>
            <a:endParaRPr lang="en-US" sz="950" dirty="0"/>
          </a:p>
        </p:txBody>
      </p:sp>
      <p:sp>
        <p:nvSpPr>
          <p:cNvPr id="30" name="Shape 28"/>
          <p:cNvSpPr/>
          <p:nvPr/>
        </p:nvSpPr>
        <p:spPr>
          <a:xfrm rot="5400000">
            <a:off x="5852160" y="3310128"/>
            <a:ext cx="384048" cy="384048"/>
          </a:xfrm>
          <a:prstGeom prst="hexagon">
            <a:avLst/>
          </a:prstGeom>
          <a:solidFill>
            <a:srgbClr val="F0B429"/>
          </a:solidFill>
          <a:ln/>
        </p:spPr>
      </p:sp>
      <p:sp>
        <p:nvSpPr>
          <p:cNvPr id="31" name="Text 29"/>
          <p:cNvSpPr/>
          <p:nvPr/>
        </p:nvSpPr>
        <p:spPr>
          <a:xfrm>
            <a:off x="5852160" y="3310128"/>
            <a:ext cx="384048" cy="384048"/>
          </a:xfrm>
          <a:prstGeom prst="rect">
            <a:avLst/>
          </a:prstGeom>
          <a:noFill/>
          <a:ln/>
        </p:spPr>
        <p:txBody>
          <a:bodyPr wrap="square" lIns="0" tIns="0" rIns="0" bIns="0" rtlCol="0" anchor="ctr"/>
          <a:lstStyle/>
          <a:p>
            <a:pPr algn="ctr" indent="0" marL="0">
              <a:buNone/>
            </a:pPr>
            <a:r>
              <a:rPr lang="en-US" sz="1300" b="1" dirty="0">
                <a:solidFill>
                  <a:srgbClr val="241E33"/>
                </a:solidFill>
                <a:latin typeface="Cambria" pitchFamily="34" charset="0"/>
                <a:ea typeface="Cambria" pitchFamily="34" charset="-122"/>
                <a:cs typeface="Cambria" pitchFamily="34" charset="-120"/>
              </a:rPr>
              <a:t>2</a:t>
            </a:r>
            <a:endParaRPr lang="en-US" sz="1300" dirty="0"/>
          </a:p>
        </p:txBody>
      </p:sp>
      <p:sp>
        <p:nvSpPr>
          <p:cNvPr id="32" name="Text 30"/>
          <p:cNvSpPr/>
          <p:nvPr/>
        </p:nvSpPr>
        <p:spPr>
          <a:xfrm>
            <a:off x="6382512" y="3282696"/>
            <a:ext cx="5120640" cy="256032"/>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Every discretionary cost is a % of revenue</a:t>
            </a:r>
            <a:endParaRPr lang="en-US" sz="1300" dirty="0"/>
          </a:p>
        </p:txBody>
      </p:sp>
      <p:sp>
        <p:nvSpPr>
          <p:cNvPr id="33" name="Text 31"/>
          <p:cNvSpPr/>
          <p:nvPr/>
        </p:nvSpPr>
        <p:spPr>
          <a:xfrm>
            <a:off x="6382512" y="3520440"/>
            <a:ext cx="5120640" cy="457200"/>
          </a:xfrm>
          <a:prstGeom prst="rect">
            <a:avLst/>
          </a:prstGeom>
          <a:noFill/>
          <a:ln/>
        </p:spPr>
        <p:txBody>
          <a:bodyPr wrap="square" lIns="0" tIns="0" rIns="0" bIns="0" rtlCol="0" anchor="ctr"/>
          <a:lstStyle/>
          <a:p>
            <a:pPr indent="0" marL="0">
              <a:lnSpc>
                <a:spcPts val="1150"/>
              </a:lnSpc>
              <a:buNone/>
            </a:pPr>
            <a:r>
              <a:rPr lang="en-US" sz="950" dirty="0">
                <a:solidFill>
                  <a:srgbClr val="E3DCF2"/>
                </a:solidFill>
                <a:latin typeface="Calibri" pitchFamily="34" charset="0"/>
                <a:ea typeface="Calibri" pitchFamily="34" charset="-122"/>
                <a:cs typeface="Calibri" pitchFamily="34" charset="-120"/>
              </a:rPr>
              <a:t>Paid media 18%. Content and tools 12%. Mentors 50% of cohort revenue only. COGS 55% of physical revenue only. These are not budgets — they are fractions, and a fraction of income cannot exceed income.</a:t>
            </a:r>
            <a:endParaRPr lang="en-US" sz="950" dirty="0"/>
          </a:p>
        </p:txBody>
      </p:sp>
      <p:sp>
        <p:nvSpPr>
          <p:cNvPr id="34" name="Shape 32"/>
          <p:cNvSpPr/>
          <p:nvPr/>
        </p:nvSpPr>
        <p:spPr>
          <a:xfrm rot="5400000">
            <a:off x="5852160" y="4005072"/>
            <a:ext cx="384048" cy="384048"/>
          </a:xfrm>
          <a:prstGeom prst="hexagon">
            <a:avLst/>
          </a:prstGeom>
          <a:solidFill>
            <a:srgbClr val="6C4FE0"/>
          </a:solidFill>
          <a:ln/>
        </p:spPr>
      </p:sp>
      <p:sp>
        <p:nvSpPr>
          <p:cNvPr id="35" name="Text 33"/>
          <p:cNvSpPr/>
          <p:nvPr/>
        </p:nvSpPr>
        <p:spPr>
          <a:xfrm>
            <a:off x="5852160" y="40050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36" name="Text 34"/>
          <p:cNvSpPr/>
          <p:nvPr/>
        </p:nvSpPr>
        <p:spPr>
          <a:xfrm>
            <a:off x="6382512" y="3977640"/>
            <a:ext cx="5120640" cy="256032"/>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Fixed cost stays smaller than one week of sales</a:t>
            </a:r>
            <a:endParaRPr lang="en-US" sz="1300" dirty="0"/>
          </a:p>
        </p:txBody>
      </p:sp>
      <p:sp>
        <p:nvSpPr>
          <p:cNvPr id="37" name="Text 35"/>
          <p:cNvSpPr/>
          <p:nvPr/>
        </p:nvSpPr>
        <p:spPr>
          <a:xfrm>
            <a:off x="6382512" y="4215384"/>
            <a:ext cx="5120640" cy="457200"/>
          </a:xfrm>
          <a:prstGeom prst="rect">
            <a:avLst/>
          </a:prstGeom>
          <a:noFill/>
          <a:ln/>
        </p:spPr>
        <p:txBody>
          <a:bodyPr wrap="square" lIns="0" tIns="0" rIns="0" bIns="0" rtlCol="0" anchor="ctr"/>
          <a:lstStyle/>
          <a:p>
            <a:pPr indent="0" marL="0">
              <a:lnSpc>
                <a:spcPts val="1150"/>
              </a:lnSpc>
              <a:buNone/>
            </a:pPr>
            <a:r>
              <a:rPr lang="en-US" sz="950" dirty="0">
                <a:solidFill>
                  <a:srgbClr val="E3DCF2"/>
                </a:solidFill>
                <a:latin typeface="Calibri" pitchFamily="34" charset="0"/>
                <a:ea typeface="Calibri" pitchFamily="34" charset="-122"/>
                <a:cs typeface="Calibri" pitchFamily="34" charset="-120"/>
              </a:rPr>
              <a:t>G&amp;A and hosting total $2.1k in Year 1 — $40 a week against $1,000 of weekly revenue. Nothing else is fixed.</a:t>
            </a:r>
            <a:endParaRPr lang="en-US" sz="950" dirty="0"/>
          </a:p>
        </p:txBody>
      </p:sp>
      <p:sp>
        <p:nvSpPr>
          <p:cNvPr id="38" name="Text 36"/>
          <p:cNvSpPr/>
          <p:nvPr/>
        </p:nvSpPr>
        <p:spPr>
          <a:xfrm>
            <a:off x="640080" y="4846320"/>
            <a:ext cx="4572000" cy="274320"/>
          </a:xfrm>
          <a:prstGeom prst="rect">
            <a:avLst/>
          </a:prstGeom>
          <a:noFill/>
          <a:ln/>
        </p:spPr>
        <p:txBody>
          <a:bodyPr wrap="square" lIns="0" tIns="0" rIns="0" bIns="0" rtlCol="0" anchor="ctr"/>
          <a:lstStyle/>
          <a:p>
            <a:pPr indent="0" marL="0">
              <a:buNone/>
            </a:pPr>
            <a:r>
              <a:rPr lang="en-US" sz="950" b="1" spc="160" kern="0" dirty="0">
                <a:solidFill>
                  <a:srgbClr val="F0B429"/>
                </a:solidFill>
                <a:latin typeface="Calibri" pitchFamily="34" charset="0"/>
                <a:ea typeface="Calibri" pitchFamily="34" charset="-122"/>
                <a:cs typeface="Calibri" pitchFamily="34" charset="-120"/>
              </a:rPr>
              <a:t>EBITDA, every year, base case</a:t>
            </a:r>
            <a:endParaRPr lang="en-US" sz="950" dirty="0"/>
          </a:p>
        </p:txBody>
      </p:sp>
      <p:sp>
        <p:nvSpPr>
          <p:cNvPr id="39" name="Shape 37"/>
          <p:cNvSpPr/>
          <p:nvPr/>
        </p:nvSpPr>
        <p:spPr>
          <a:xfrm>
            <a:off x="640080" y="5138928"/>
            <a:ext cx="1965960" cy="566928"/>
          </a:xfrm>
          <a:prstGeom prst="roundRect">
            <a:avLst>
              <a:gd name="adj" fmla="val 16129"/>
            </a:avLst>
          </a:prstGeom>
          <a:solidFill>
            <a:srgbClr val="178A4C">
              <a:alpha val="24000"/>
            </a:srgbClr>
          </a:solidFill>
          <a:ln/>
        </p:spPr>
      </p:sp>
      <p:sp>
        <p:nvSpPr>
          <p:cNvPr id="40" name="Text 38"/>
          <p:cNvSpPr/>
          <p:nvPr/>
        </p:nvSpPr>
        <p:spPr>
          <a:xfrm>
            <a:off x="786384" y="5212080"/>
            <a:ext cx="329184" cy="420624"/>
          </a:xfrm>
          <a:prstGeom prst="rect">
            <a:avLst/>
          </a:prstGeom>
          <a:noFill/>
          <a:ln/>
        </p:spPr>
        <p:txBody>
          <a:bodyPr wrap="square" lIns="0" tIns="0" rIns="0" bIns="0" rtlCol="0" anchor="ctr"/>
          <a:lstStyle/>
          <a:p>
            <a:pPr indent="0" marL="0">
              <a:buNone/>
            </a:pPr>
            <a:r>
              <a:rPr lang="en-US" sz="950" b="1" dirty="0">
                <a:solidFill>
                  <a:srgbClr val="E3DCF2"/>
                </a:solidFill>
                <a:latin typeface="Calibri" pitchFamily="34" charset="0"/>
                <a:ea typeface="Calibri" pitchFamily="34" charset="-122"/>
                <a:cs typeface="Calibri" pitchFamily="34" charset="-120"/>
              </a:rPr>
              <a:t>Y1</a:t>
            </a:r>
            <a:endParaRPr lang="en-US" sz="950" dirty="0"/>
          </a:p>
        </p:txBody>
      </p:sp>
      <p:sp>
        <p:nvSpPr>
          <p:cNvPr id="41" name="Text 39"/>
          <p:cNvSpPr/>
          <p:nvPr/>
        </p:nvSpPr>
        <p:spPr>
          <a:xfrm>
            <a:off x="1143000" y="5212080"/>
            <a:ext cx="1316736" cy="420624"/>
          </a:xfrm>
          <a:prstGeom prst="rect">
            <a:avLst/>
          </a:prstGeom>
          <a:noFill/>
          <a:ln/>
        </p:spPr>
        <p:txBody>
          <a:bodyPr wrap="square" lIns="0" tIns="0" rIns="0" bIns="0" rtlCol="0" anchor="ctr"/>
          <a:lstStyle/>
          <a:p>
            <a:pPr algn="r" indent="0" marL="0">
              <a:buNone/>
            </a:pPr>
            <a:r>
              <a:rPr lang="en-US" sz="1600" b="1" dirty="0">
                <a:solidFill>
                  <a:srgbClr val="FFFFFF"/>
                </a:solidFill>
                <a:latin typeface="Cambria" pitchFamily="34" charset="0"/>
                <a:ea typeface="Cambria" pitchFamily="34" charset="-122"/>
                <a:cs typeface="Cambria" pitchFamily="34" charset="-120"/>
              </a:rPr>
              <a:t>+$7k</a:t>
            </a:r>
            <a:endParaRPr lang="en-US" sz="1600" dirty="0"/>
          </a:p>
        </p:txBody>
      </p:sp>
      <p:sp>
        <p:nvSpPr>
          <p:cNvPr id="42" name="Shape 40"/>
          <p:cNvSpPr/>
          <p:nvPr/>
        </p:nvSpPr>
        <p:spPr>
          <a:xfrm>
            <a:off x="2788920" y="5138928"/>
            <a:ext cx="1965960" cy="566928"/>
          </a:xfrm>
          <a:prstGeom prst="roundRect">
            <a:avLst>
              <a:gd name="adj" fmla="val 16129"/>
            </a:avLst>
          </a:prstGeom>
          <a:solidFill>
            <a:srgbClr val="178A4C">
              <a:alpha val="24000"/>
            </a:srgbClr>
          </a:solidFill>
          <a:ln/>
        </p:spPr>
      </p:sp>
      <p:sp>
        <p:nvSpPr>
          <p:cNvPr id="43" name="Text 41"/>
          <p:cNvSpPr/>
          <p:nvPr/>
        </p:nvSpPr>
        <p:spPr>
          <a:xfrm>
            <a:off x="2935224" y="5212080"/>
            <a:ext cx="329184" cy="420624"/>
          </a:xfrm>
          <a:prstGeom prst="rect">
            <a:avLst/>
          </a:prstGeom>
          <a:noFill/>
          <a:ln/>
        </p:spPr>
        <p:txBody>
          <a:bodyPr wrap="square" lIns="0" tIns="0" rIns="0" bIns="0" rtlCol="0" anchor="ctr"/>
          <a:lstStyle/>
          <a:p>
            <a:pPr indent="0" marL="0">
              <a:buNone/>
            </a:pPr>
            <a:r>
              <a:rPr lang="en-US" sz="950" b="1" dirty="0">
                <a:solidFill>
                  <a:srgbClr val="E3DCF2"/>
                </a:solidFill>
                <a:latin typeface="Calibri" pitchFamily="34" charset="0"/>
                <a:ea typeface="Calibri" pitchFamily="34" charset="-122"/>
                <a:cs typeface="Calibri" pitchFamily="34" charset="-120"/>
              </a:rPr>
              <a:t>Y2</a:t>
            </a:r>
            <a:endParaRPr lang="en-US" sz="950" dirty="0"/>
          </a:p>
        </p:txBody>
      </p:sp>
      <p:sp>
        <p:nvSpPr>
          <p:cNvPr id="44" name="Text 42"/>
          <p:cNvSpPr/>
          <p:nvPr/>
        </p:nvSpPr>
        <p:spPr>
          <a:xfrm>
            <a:off x="3291840" y="5212080"/>
            <a:ext cx="1316736" cy="420624"/>
          </a:xfrm>
          <a:prstGeom prst="rect">
            <a:avLst/>
          </a:prstGeom>
          <a:noFill/>
          <a:ln/>
        </p:spPr>
        <p:txBody>
          <a:bodyPr wrap="square" lIns="0" tIns="0" rIns="0" bIns="0" rtlCol="0" anchor="ctr"/>
          <a:lstStyle/>
          <a:p>
            <a:pPr algn="r" indent="0" marL="0">
              <a:buNone/>
            </a:pPr>
            <a:r>
              <a:rPr lang="en-US" sz="1600" b="1" dirty="0">
                <a:solidFill>
                  <a:srgbClr val="FFFFFF"/>
                </a:solidFill>
                <a:latin typeface="Cambria" pitchFamily="34" charset="0"/>
                <a:ea typeface="Cambria" pitchFamily="34" charset="-122"/>
                <a:cs typeface="Cambria" pitchFamily="34" charset="-120"/>
              </a:rPr>
              <a:t>+$52k</a:t>
            </a:r>
            <a:endParaRPr lang="en-US" sz="1600" dirty="0"/>
          </a:p>
        </p:txBody>
      </p:sp>
      <p:sp>
        <p:nvSpPr>
          <p:cNvPr id="45" name="Shape 43"/>
          <p:cNvSpPr/>
          <p:nvPr/>
        </p:nvSpPr>
        <p:spPr>
          <a:xfrm>
            <a:off x="4937760" y="5138928"/>
            <a:ext cx="1965960" cy="566928"/>
          </a:xfrm>
          <a:prstGeom prst="roundRect">
            <a:avLst>
              <a:gd name="adj" fmla="val 16129"/>
            </a:avLst>
          </a:prstGeom>
          <a:solidFill>
            <a:srgbClr val="178A4C">
              <a:alpha val="24000"/>
            </a:srgbClr>
          </a:solidFill>
          <a:ln/>
        </p:spPr>
      </p:sp>
      <p:sp>
        <p:nvSpPr>
          <p:cNvPr id="46" name="Text 44"/>
          <p:cNvSpPr/>
          <p:nvPr/>
        </p:nvSpPr>
        <p:spPr>
          <a:xfrm>
            <a:off x="5084064" y="5212080"/>
            <a:ext cx="329184" cy="420624"/>
          </a:xfrm>
          <a:prstGeom prst="rect">
            <a:avLst/>
          </a:prstGeom>
          <a:noFill/>
          <a:ln/>
        </p:spPr>
        <p:txBody>
          <a:bodyPr wrap="square" lIns="0" tIns="0" rIns="0" bIns="0" rtlCol="0" anchor="ctr"/>
          <a:lstStyle/>
          <a:p>
            <a:pPr indent="0" marL="0">
              <a:buNone/>
            </a:pPr>
            <a:r>
              <a:rPr lang="en-US" sz="950" b="1" dirty="0">
                <a:solidFill>
                  <a:srgbClr val="E3DCF2"/>
                </a:solidFill>
                <a:latin typeface="Calibri" pitchFamily="34" charset="0"/>
                <a:ea typeface="Calibri" pitchFamily="34" charset="-122"/>
                <a:cs typeface="Calibri" pitchFamily="34" charset="-120"/>
              </a:rPr>
              <a:t>Y3</a:t>
            </a:r>
            <a:endParaRPr lang="en-US" sz="950" dirty="0"/>
          </a:p>
        </p:txBody>
      </p:sp>
      <p:sp>
        <p:nvSpPr>
          <p:cNvPr id="47" name="Text 45"/>
          <p:cNvSpPr/>
          <p:nvPr/>
        </p:nvSpPr>
        <p:spPr>
          <a:xfrm>
            <a:off x="5440680" y="5212080"/>
            <a:ext cx="1316736" cy="420624"/>
          </a:xfrm>
          <a:prstGeom prst="rect">
            <a:avLst/>
          </a:prstGeom>
          <a:noFill/>
          <a:ln/>
        </p:spPr>
        <p:txBody>
          <a:bodyPr wrap="square" lIns="0" tIns="0" rIns="0" bIns="0" rtlCol="0" anchor="ctr"/>
          <a:lstStyle/>
          <a:p>
            <a:pPr algn="r" indent="0" marL="0">
              <a:buNone/>
            </a:pPr>
            <a:r>
              <a:rPr lang="en-US" sz="1600" b="1" dirty="0">
                <a:solidFill>
                  <a:srgbClr val="FFFFFF"/>
                </a:solidFill>
                <a:latin typeface="Cambria" pitchFamily="34" charset="0"/>
                <a:ea typeface="Cambria" pitchFamily="34" charset="-122"/>
                <a:cs typeface="Cambria" pitchFamily="34" charset="-120"/>
              </a:rPr>
              <a:t>+$210k</a:t>
            </a:r>
            <a:endParaRPr lang="en-US" sz="1600" dirty="0"/>
          </a:p>
        </p:txBody>
      </p:sp>
      <p:sp>
        <p:nvSpPr>
          <p:cNvPr id="48" name="Shape 46"/>
          <p:cNvSpPr/>
          <p:nvPr/>
        </p:nvSpPr>
        <p:spPr>
          <a:xfrm>
            <a:off x="7086600" y="5138928"/>
            <a:ext cx="1965960" cy="566928"/>
          </a:xfrm>
          <a:prstGeom prst="roundRect">
            <a:avLst>
              <a:gd name="adj" fmla="val 16129"/>
            </a:avLst>
          </a:prstGeom>
          <a:solidFill>
            <a:srgbClr val="178A4C">
              <a:alpha val="24000"/>
            </a:srgbClr>
          </a:solidFill>
          <a:ln/>
        </p:spPr>
      </p:sp>
      <p:sp>
        <p:nvSpPr>
          <p:cNvPr id="49" name="Text 47"/>
          <p:cNvSpPr/>
          <p:nvPr/>
        </p:nvSpPr>
        <p:spPr>
          <a:xfrm>
            <a:off x="7232904" y="5212080"/>
            <a:ext cx="329184" cy="420624"/>
          </a:xfrm>
          <a:prstGeom prst="rect">
            <a:avLst/>
          </a:prstGeom>
          <a:noFill/>
          <a:ln/>
        </p:spPr>
        <p:txBody>
          <a:bodyPr wrap="square" lIns="0" tIns="0" rIns="0" bIns="0" rtlCol="0" anchor="ctr"/>
          <a:lstStyle/>
          <a:p>
            <a:pPr indent="0" marL="0">
              <a:buNone/>
            </a:pPr>
            <a:r>
              <a:rPr lang="en-US" sz="950" b="1" dirty="0">
                <a:solidFill>
                  <a:srgbClr val="E3DCF2"/>
                </a:solidFill>
                <a:latin typeface="Calibri" pitchFamily="34" charset="0"/>
                <a:ea typeface="Calibri" pitchFamily="34" charset="-122"/>
                <a:cs typeface="Calibri" pitchFamily="34" charset="-120"/>
              </a:rPr>
              <a:t>Y4</a:t>
            </a:r>
            <a:endParaRPr lang="en-US" sz="950" dirty="0"/>
          </a:p>
        </p:txBody>
      </p:sp>
      <p:sp>
        <p:nvSpPr>
          <p:cNvPr id="50" name="Text 48"/>
          <p:cNvSpPr/>
          <p:nvPr/>
        </p:nvSpPr>
        <p:spPr>
          <a:xfrm>
            <a:off x="7589520" y="5212080"/>
            <a:ext cx="1316736" cy="420624"/>
          </a:xfrm>
          <a:prstGeom prst="rect">
            <a:avLst/>
          </a:prstGeom>
          <a:noFill/>
          <a:ln/>
        </p:spPr>
        <p:txBody>
          <a:bodyPr wrap="square" lIns="0" tIns="0" rIns="0" bIns="0" rtlCol="0" anchor="ctr"/>
          <a:lstStyle/>
          <a:p>
            <a:pPr algn="r" indent="0" marL="0">
              <a:buNone/>
            </a:pPr>
            <a:r>
              <a:rPr lang="en-US" sz="1600" b="1" dirty="0">
                <a:solidFill>
                  <a:srgbClr val="FFFFFF"/>
                </a:solidFill>
                <a:latin typeface="Cambria" pitchFamily="34" charset="0"/>
                <a:ea typeface="Cambria" pitchFamily="34" charset="-122"/>
                <a:cs typeface="Cambria" pitchFamily="34" charset="-120"/>
              </a:rPr>
              <a:t>+$450k</a:t>
            </a:r>
            <a:endParaRPr lang="en-US" sz="1600" dirty="0"/>
          </a:p>
        </p:txBody>
      </p:sp>
      <p:sp>
        <p:nvSpPr>
          <p:cNvPr id="51" name="Shape 49"/>
          <p:cNvSpPr/>
          <p:nvPr/>
        </p:nvSpPr>
        <p:spPr>
          <a:xfrm>
            <a:off x="9235440" y="5138928"/>
            <a:ext cx="1965960" cy="566928"/>
          </a:xfrm>
          <a:prstGeom prst="roundRect">
            <a:avLst>
              <a:gd name="adj" fmla="val 16129"/>
            </a:avLst>
          </a:prstGeom>
          <a:solidFill>
            <a:srgbClr val="178A4C">
              <a:alpha val="24000"/>
            </a:srgbClr>
          </a:solidFill>
          <a:ln/>
        </p:spPr>
      </p:sp>
      <p:sp>
        <p:nvSpPr>
          <p:cNvPr id="52" name="Text 50"/>
          <p:cNvSpPr/>
          <p:nvPr/>
        </p:nvSpPr>
        <p:spPr>
          <a:xfrm>
            <a:off x="9381744" y="5212080"/>
            <a:ext cx="329184" cy="420624"/>
          </a:xfrm>
          <a:prstGeom prst="rect">
            <a:avLst/>
          </a:prstGeom>
          <a:noFill/>
          <a:ln/>
        </p:spPr>
        <p:txBody>
          <a:bodyPr wrap="square" lIns="0" tIns="0" rIns="0" bIns="0" rtlCol="0" anchor="ctr"/>
          <a:lstStyle/>
          <a:p>
            <a:pPr indent="0" marL="0">
              <a:buNone/>
            </a:pPr>
            <a:r>
              <a:rPr lang="en-US" sz="950" b="1" dirty="0">
                <a:solidFill>
                  <a:srgbClr val="E3DCF2"/>
                </a:solidFill>
                <a:latin typeface="Calibri" pitchFamily="34" charset="0"/>
                <a:ea typeface="Calibri" pitchFamily="34" charset="-122"/>
                <a:cs typeface="Calibri" pitchFamily="34" charset="-120"/>
              </a:rPr>
              <a:t>Y5</a:t>
            </a:r>
            <a:endParaRPr lang="en-US" sz="950" dirty="0"/>
          </a:p>
        </p:txBody>
      </p:sp>
      <p:sp>
        <p:nvSpPr>
          <p:cNvPr id="53" name="Text 51"/>
          <p:cNvSpPr/>
          <p:nvPr/>
        </p:nvSpPr>
        <p:spPr>
          <a:xfrm>
            <a:off x="9738360" y="5212080"/>
            <a:ext cx="1316736" cy="420624"/>
          </a:xfrm>
          <a:prstGeom prst="rect">
            <a:avLst/>
          </a:prstGeom>
          <a:noFill/>
          <a:ln/>
        </p:spPr>
        <p:txBody>
          <a:bodyPr wrap="square" lIns="0" tIns="0" rIns="0" bIns="0" rtlCol="0" anchor="ctr"/>
          <a:lstStyle/>
          <a:p>
            <a:pPr algn="r" indent="0" marL="0">
              <a:buNone/>
            </a:pPr>
            <a:r>
              <a:rPr lang="en-US" sz="1600" b="1" dirty="0">
                <a:solidFill>
                  <a:srgbClr val="FFFFFF"/>
                </a:solidFill>
                <a:latin typeface="Cambria" pitchFamily="34" charset="0"/>
                <a:ea typeface="Cambria" pitchFamily="34" charset="-122"/>
                <a:cs typeface="Cambria" pitchFamily="34" charset="-120"/>
              </a:rPr>
              <a:t>+$829k</a:t>
            </a:r>
            <a:endParaRPr lang="en-US" sz="1600" dirty="0"/>
          </a:p>
        </p:txBody>
      </p:sp>
      <p:sp>
        <p:nvSpPr>
          <p:cNvPr id="54" name="Shape 52"/>
          <p:cNvSpPr/>
          <p:nvPr/>
        </p:nvSpPr>
        <p:spPr>
          <a:xfrm>
            <a:off x="640080" y="5833872"/>
            <a:ext cx="10607040" cy="896112"/>
          </a:xfrm>
          <a:prstGeom prst="roundRect">
            <a:avLst>
              <a:gd name="adj" fmla="val 12245"/>
            </a:avLst>
          </a:prstGeom>
          <a:solidFill>
            <a:srgbClr val="F0B429">
              <a:alpha val="16000"/>
            </a:srgbClr>
          </a:solidFill>
          <a:ln/>
        </p:spPr>
      </p:sp>
      <p:sp>
        <p:nvSpPr>
          <p:cNvPr id="55" name="Text 53"/>
          <p:cNvSpPr/>
          <p:nvPr/>
        </p:nvSpPr>
        <p:spPr>
          <a:xfrm>
            <a:off x="914400" y="5907024"/>
            <a:ext cx="4572000" cy="237744"/>
          </a:xfrm>
          <a:prstGeom prst="rect">
            <a:avLst/>
          </a:prstGeom>
          <a:noFill/>
          <a:ln/>
        </p:spPr>
        <p:txBody>
          <a:bodyPr wrap="square" lIns="0" tIns="0" rIns="0" bIns="0" rtlCol="0" anchor="ctr"/>
          <a:lstStyle/>
          <a:p>
            <a:pPr indent="0" marL="0">
              <a:buNone/>
            </a:pPr>
            <a:r>
              <a:rPr lang="en-US" sz="950" b="1" spc="140" kern="0" dirty="0">
                <a:solidFill>
                  <a:srgbClr val="F0B429"/>
                </a:solidFill>
                <a:latin typeface="Calibri" pitchFamily="34" charset="0"/>
                <a:ea typeface="Calibri" pitchFamily="34" charset="-122"/>
                <a:cs typeface="Calibri" pitchFamily="34" charset="-120"/>
              </a:rPr>
              <a:t>Two things this claim does NOT mean</a:t>
            </a:r>
            <a:endParaRPr lang="en-US" sz="950" dirty="0"/>
          </a:p>
        </p:txBody>
      </p:sp>
      <p:sp>
        <p:nvSpPr>
          <p:cNvPr id="56" name="Text 54"/>
          <p:cNvSpPr/>
          <p:nvPr/>
        </p:nvSpPr>
        <p:spPr>
          <a:xfrm>
            <a:off x="914400" y="6126480"/>
            <a:ext cx="10058400" cy="548640"/>
          </a:xfrm>
          <a:prstGeom prst="rect">
            <a:avLst/>
          </a:prstGeom>
          <a:noFill/>
          <a:ln/>
        </p:spPr>
        <p:txBody>
          <a:bodyPr wrap="square" lIns="0" tIns="0" rIns="0" bIns="0" rtlCol="0" anchor="ctr"/>
          <a:lstStyle/>
          <a:p>
            <a:pPr indent="0" marL="0">
              <a:lnSpc>
                <a:spcPts val="1250"/>
              </a:lnSpc>
              <a:buNone/>
            </a:pPr>
            <a:r>
              <a:rPr lang="en-US" sz="1000" b="1" dirty="0">
                <a:solidFill>
                  <a:srgbClr val="FFFFFF"/>
                </a:solidFill>
                <a:latin typeface="Calibri" pitchFamily="34" charset="0"/>
                <a:ea typeface="Calibri" pitchFamily="34" charset="-122"/>
                <a:cs typeface="Calibri" pitchFamily="34" charset="-120"/>
              </a:rPr>
              <a:t>It is cash profit, not economic profit. </a:t>
            </a:r>
            <a:pPr indent="0" marL="0">
              <a:lnSpc>
                <a:spcPts val="1250"/>
              </a:lnSpc>
              <a:buNone/>
            </a:pPr>
            <a:r>
              <a:rPr lang="en-US" sz="1000" dirty="0">
                <a:solidFill>
                  <a:srgbClr val="E3DCF2"/>
                </a:solidFill>
                <a:latin typeface="Calibri" pitchFamily="34" charset="0"/>
                <a:ea typeface="Calibri" pitchFamily="34" charset="-122"/>
                <a:cs typeface="Calibri" pitchFamily="34" charset="-120"/>
              </a:rPr>
              <a:t>Founders draw no salary until Year 3 — until then EBITDA IS founder pay, and in Year 1 that is $7.4k between two people. That is the real price of a four-a-week start.   </a:t>
            </a:r>
            <a:pPr indent="0" marL="0">
              <a:lnSpc>
                <a:spcPts val="1250"/>
              </a:lnSpc>
              <a:buNone/>
            </a:pPr>
            <a:r>
              <a:rPr lang="en-US" sz="1000" b="1" dirty="0">
                <a:solidFill>
                  <a:srgbClr val="FFFFFF"/>
                </a:solidFill>
                <a:latin typeface="Calibri" pitchFamily="34" charset="0"/>
                <a:ea typeface="Calibri" pitchFamily="34" charset="-122"/>
                <a:cs typeface="Calibri" pitchFamily="34" charset="-120"/>
              </a:rPr>
              <a:t>And accounting profit lags cash, </a:t>
            </a:r>
            <a:pPr indent="0" marL="0">
              <a:lnSpc>
                <a:spcPts val="1250"/>
              </a:lnSpc>
              <a:buNone/>
            </a:pPr>
            <a:r>
              <a:rPr lang="en-US" sz="1000" dirty="0">
                <a:solidFill>
                  <a:srgbClr val="E3DCF2"/>
                </a:solidFill>
                <a:latin typeface="Calibri" pitchFamily="34" charset="0"/>
                <a:ea typeface="Calibri" pitchFamily="34" charset="-122"/>
                <a:cs typeface="Calibri" pitchFamily="34" charset="-120"/>
              </a:rPr>
              <a:t>because annual billing creates deferred revenue: the bank balance is right, the P&amp;L recognises it over twelve months.</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694944"/>
            <a:ext cx="10607040" cy="749808"/>
          </a:xfrm>
          <a:prstGeom prst="rect">
            <a:avLst/>
          </a:prstGeom>
          <a:noFill/>
          <a:ln/>
        </p:spPr>
        <p:txBody>
          <a:bodyPr wrap="square" lIns="0" tIns="0" rIns="0" bIns="0" rtlCol="0" anchor="ctr"/>
          <a:lstStyle/>
          <a:p>
            <a:pPr indent="0" marL="0">
              <a:buNone/>
            </a:pPr>
            <a:r>
              <a:rPr lang="en-US" sz="2900" b="1" dirty="0">
                <a:solidFill>
                  <a:srgbClr val="241E33"/>
                </a:solidFill>
                <a:latin typeface="Cambria" pitchFamily="34" charset="0"/>
                <a:ea typeface="Cambria" pitchFamily="34" charset="-122"/>
                <a:cs typeface="Cambria" pitchFamily="34" charset="-120"/>
              </a:rPr>
              <a:t>We are priced against the tutor, not the app</a:t>
            </a:r>
            <a:endParaRPr lang="en-US" sz="2900" dirty="0"/>
          </a:p>
        </p:txBody>
      </p:sp>
      <p:sp>
        <p:nvSpPr>
          <p:cNvPr id="3" name="Text 1"/>
          <p:cNvSpPr/>
          <p:nvPr/>
        </p:nvSpPr>
        <p:spPr>
          <a:xfrm>
            <a:off x="640080" y="402336"/>
            <a:ext cx="7315200" cy="256032"/>
          </a:xfrm>
          <a:prstGeom prst="rect">
            <a:avLst/>
          </a:prstGeom>
          <a:noFill/>
          <a:ln/>
        </p:spPr>
        <p:txBody>
          <a:bodyPr wrap="square" lIns="0" tIns="0" rIns="0" bIns="0" rtlCol="0" anchor="ctr"/>
          <a:lstStyle/>
          <a:p>
            <a:pPr indent="0" marL="0">
              <a:buNone/>
            </a:pPr>
            <a:r>
              <a:rPr lang="en-US" sz="1150" b="1" spc="240" kern="0" dirty="0">
                <a:solidFill>
                  <a:srgbClr val="6C4FE0"/>
                </a:solidFill>
                <a:latin typeface="Calibri" pitchFamily="34" charset="0"/>
                <a:ea typeface="Calibri" pitchFamily="34" charset="-122"/>
                <a:cs typeface="Calibri" pitchFamily="34" charset="-120"/>
              </a:rPr>
              <a:t>COMPETITIVE BENCHMARK</a:t>
            </a:r>
            <a:endParaRPr lang="en-US" sz="1150" dirty="0"/>
          </a:p>
        </p:txBody>
      </p:sp>
      <p:sp>
        <p:nvSpPr>
          <p:cNvPr id="4" name="Text 2"/>
          <p:cNvSpPr/>
          <p:nvPr/>
        </p:nvSpPr>
        <p:spPr>
          <a:xfrm>
            <a:off x="640080" y="1444752"/>
            <a:ext cx="10607040" cy="475488"/>
          </a:xfrm>
          <a:prstGeom prst="rect">
            <a:avLst/>
          </a:prstGeom>
          <a:noFill/>
          <a:ln/>
        </p:spPr>
        <p:txBody>
          <a:bodyPr wrap="square" lIns="0" tIns="0" rIns="0" bIns="0" rtlCol="0" anchor="ctr"/>
          <a:lstStyle/>
          <a:p>
            <a:pPr indent="0" marL="0">
              <a:buNone/>
            </a:pPr>
            <a:r>
              <a:rPr lang="en-US" sz="1450" dirty="0">
                <a:solidFill>
                  <a:srgbClr val="7A7291"/>
                </a:solidFill>
                <a:latin typeface="Calibri" pitchFamily="34" charset="0"/>
                <a:ea typeface="Calibri" pitchFamily="34" charset="-122"/>
                <a:cs typeface="Calibri" pitchFamily="34" charset="-120"/>
              </a:rPr>
              <a:t>A family preparing a child for a bee is already paying somebody by the hour. That is the alternative we actually replace — and against it, $149 is inexpensive.</a:t>
            </a:r>
            <a:endParaRPr lang="en-US" sz="1450" dirty="0"/>
          </a:p>
        </p:txBody>
      </p:sp>
      <p:sp>
        <p:nvSpPr>
          <p:cNvPr id="5" name="Text 3"/>
          <p:cNvSpPr/>
          <p:nvPr/>
        </p:nvSpPr>
        <p:spPr>
          <a:xfrm>
            <a:off x="640080" y="2011680"/>
            <a:ext cx="4206240" cy="274320"/>
          </a:xfrm>
          <a:prstGeom prst="rect">
            <a:avLst/>
          </a:prstGeom>
          <a:noFill/>
          <a:ln/>
        </p:spPr>
        <p:txBody>
          <a:bodyPr wrap="square" lIns="0" tIns="0" rIns="0" bIns="0" rtlCol="0" anchor="ctr"/>
          <a:lstStyle/>
          <a:p>
            <a:pPr indent="0" marL="0">
              <a:buNone/>
            </a:pPr>
            <a:r>
              <a:rPr lang="en-US" sz="1000" dirty="0">
                <a:solidFill>
                  <a:srgbClr val="4A4360"/>
                </a:solidFill>
                <a:latin typeface="Calibri" pitchFamily="34" charset="0"/>
                <a:ea typeface="Calibri" pitchFamily="34" charset="-122"/>
                <a:cs typeface="Calibri" pitchFamily="34" charset="-120"/>
              </a:rPr>
              <a:t>Scripps Word Club (official bee app)</a:t>
            </a:r>
            <a:endParaRPr lang="en-US" sz="1000" dirty="0"/>
          </a:p>
        </p:txBody>
      </p:sp>
      <p:sp>
        <p:nvSpPr>
          <p:cNvPr id="6" name="Shape 4"/>
          <p:cNvSpPr/>
          <p:nvPr/>
        </p:nvSpPr>
        <p:spPr>
          <a:xfrm>
            <a:off x="5029200" y="2075688"/>
            <a:ext cx="668979" cy="155448"/>
          </a:xfrm>
          <a:prstGeom prst="roundRect">
            <a:avLst>
              <a:gd name="adj" fmla="val 50000"/>
            </a:avLst>
          </a:prstGeom>
          <a:solidFill>
            <a:srgbClr val="C4453C"/>
          </a:solidFill>
          <a:ln/>
        </p:spPr>
      </p:sp>
      <p:sp>
        <p:nvSpPr>
          <p:cNvPr id="7" name="Text 5"/>
          <p:cNvSpPr/>
          <p:nvPr/>
        </p:nvSpPr>
        <p:spPr>
          <a:xfrm>
            <a:off x="5771331" y="2011680"/>
            <a:ext cx="960120" cy="274320"/>
          </a:xfrm>
          <a:prstGeom prst="rect">
            <a:avLst/>
          </a:prstGeom>
          <a:noFill/>
          <a:ln/>
        </p:spPr>
        <p:txBody>
          <a:bodyPr wrap="square" lIns="0" tIns="0" rIns="0" bIns="0" rtlCol="0" anchor="ctr"/>
          <a:lstStyle/>
          <a:p>
            <a:pPr indent="0" marL="0">
              <a:buNone/>
            </a:pPr>
            <a:r>
              <a:rPr lang="en-US" sz="950" dirty="0">
                <a:solidFill>
                  <a:srgbClr val="7A7291"/>
                </a:solidFill>
                <a:latin typeface="Calibri" pitchFamily="34" charset="0"/>
                <a:ea typeface="Calibri" pitchFamily="34" charset="-122"/>
                <a:cs typeface="Calibri" pitchFamily="34" charset="-120"/>
              </a:rPr>
              <a:t>$30</a:t>
            </a:r>
            <a:endParaRPr lang="en-US" sz="950" dirty="0"/>
          </a:p>
        </p:txBody>
      </p:sp>
      <p:sp>
        <p:nvSpPr>
          <p:cNvPr id="8" name="Text 6"/>
          <p:cNvSpPr/>
          <p:nvPr/>
        </p:nvSpPr>
        <p:spPr>
          <a:xfrm>
            <a:off x="640080" y="2313432"/>
            <a:ext cx="4206240" cy="274320"/>
          </a:xfrm>
          <a:prstGeom prst="rect">
            <a:avLst/>
          </a:prstGeom>
          <a:noFill/>
          <a:ln/>
        </p:spPr>
        <p:txBody>
          <a:bodyPr wrap="square" lIns="0" tIns="0" rIns="0" bIns="0" rtlCol="0" anchor="ctr"/>
          <a:lstStyle/>
          <a:p>
            <a:pPr indent="0" marL="0">
              <a:buNone/>
            </a:pPr>
            <a:r>
              <a:rPr lang="en-US" sz="1000" dirty="0">
                <a:solidFill>
                  <a:srgbClr val="4A4360"/>
                </a:solidFill>
                <a:latin typeface="Calibri" pitchFamily="34" charset="0"/>
                <a:ea typeface="Calibri" pitchFamily="34" charset="-122"/>
                <a:cs typeface="Calibri" pitchFamily="34" charset="-120"/>
              </a:rPr>
              <a:t>SpellingCity / bee practice apps</a:t>
            </a:r>
            <a:endParaRPr lang="en-US" sz="1000" dirty="0"/>
          </a:p>
        </p:txBody>
      </p:sp>
      <p:sp>
        <p:nvSpPr>
          <p:cNvPr id="9" name="Shape 7"/>
          <p:cNvSpPr/>
          <p:nvPr/>
        </p:nvSpPr>
        <p:spPr>
          <a:xfrm>
            <a:off x="5029200" y="2377440"/>
            <a:ext cx="895045" cy="155448"/>
          </a:xfrm>
          <a:prstGeom prst="roundRect">
            <a:avLst>
              <a:gd name="adj" fmla="val 50000"/>
            </a:avLst>
          </a:prstGeom>
          <a:solidFill>
            <a:srgbClr val="C4453C"/>
          </a:solidFill>
          <a:ln/>
        </p:spPr>
      </p:sp>
      <p:sp>
        <p:nvSpPr>
          <p:cNvPr id="10" name="Text 8"/>
          <p:cNvSpPr/>
          <p:nvPr/>
        </p:nvSpPr>
        <p:spPr>
          <a:xfrm>
            <a:off x="5997397" y="2313432"/>
            <a:ext cx="960120" cy="274320"/>
          </a:xfrm>
          <a:prstGeom prst="rect">
            <a:avLst/>
          </a:prstGeom>
          <a:noFill/>
          <a:ln/>
        </p:spPr>
        <p:txBody>
          <a:bodyPr wrap="square" lIns="0" tIns="0" rIns="0" bIns="0" rtlCol="0" anchor="ctr"/>
          <a:lstStyle/>
          <a:p>
            <a:pPr indent="0" marL="0">
              <a:buNone/>
            </a:pPr>
            <a:r>
              <a:rPr lang="en-US" sz="950" dirty="0">
                <a:solidFill>
                  <a:srgbClr val="7A7291"/>
                </a:solidFill>
                <a:latin typeface="Calibri" pitchFamily="34" charset="0"/>
                <a:ea typeface="Calibri" pitchFamily="34" charset="-122"/>
                <a:cs typeface="Calibri" pitchFamily="34" charset="-120"/>
              </a:rPr>
              <a:t>$60</a:t>
            </a:r>
            <a:endParaRPr lang="en-US" sz="950" dirty="0"/>
          </a:p>
        </p:txBody>
      </p:sp>
      <p:sp>
        <p:nvSpPr>
          <p:cNvPr id="11" name="Text 9"/>
          <p:cNvSpPr/>
          <p:nvPr/>
        </p:nvSpPr>
        <p:spPr>
          <a:xfrm>
            <a:off x="640080" y="2615184"/>
            <a:ext cx="4206240" cy="274320"/>
          </a:xfrm>
          <a:prstGeom prst="rect">
            <a:avLst/>
          </a:prstGeom>
          <a:noFill/>
          <a:ln/>
        </p:spPr>
        <p:txBody>
          <a:bodyPr wrap="square" lIns="0" tIns="0" rIns="0" bIns="0" rtlCol="0" anchor="ctr"/>
          <a:lstStyle/>
          <a:p>
            <a:pPr indent="0" marL="0">
              <a:buNone/>
            </a:pPr>
            <a:r>
              <a:rPr lang="en-US" sz="1000" dirty="0">
                <a:solidFill>
                  <a:srgbClr val="4A4360"/>
                </a:solidFill>
                <a:latin typeface="Calibri" pitchFamily="34" charset="0"/>
                <a:ea typeface="Calibri" pitchFamily="34" charset="-122"/>
                <a:cs typeface="Calibri" pitchFamily="34" charset="-120"/>
              </a:rPr>
              <a:t>Duolingo Super — family</a:t>
            </a:r>
            <a:endParaRPr lang="en-US" sz="1000" dirty="0"/>
          </a:p>
        </p:txBody>
      </p:sp>
      <p:sp>
        <p:nvSpPr>
          <p:cNvPr id="12" name="Shape 10"/>
          <p:cNvSpPr/>
          <p:nvPr/>
        </p:nvSpPr>
        <p:spPr>
          <a:xfrm>
            <a:off x="5029200" y="2679192"/>
            <a:ext cx="1197506" cy="155448"/>
          </a:xfrm>
          <a:prstGeom prst="roundRect">
            <a:avLst>
              <a:gd name="adj" fmla="val 50000"/>
            </a:avLst>
          </a:prstGeom>
          <a:solidFill>
            <a:srgbClr val="C4453C"/>
          </a:solidFill>
          <a:ln/>
        </p:spPr>
      </p:sp>
      <p:sp>
        <p:nvSpPr>
          <p:cNvPr id="13" name="Text 11"/>
          <p:cNvSpPr/>
          <p:nvPr/>
        </p:nvSpPr>
        <p:spPr>
          <a:xfrm>
            <a:off x="6299858" y="2615184"/>
            <a:ext cx="960120" cy="274320"/>
          </a:xfrm>
          <a:prstGeom prst="rect">
            <a:avLst/>
          </a:prstGeom>
          <a:noFill/>
          <a:ln/>
        </p:spPr>
        <p:txBody>
          <a:bodyPr wrap="square" lIns="0" tIns="0" rIns="0" bIns="0" rtlCol="0" anchor="ctr"/>
          <a:lstStyle/>
          <a:p>
            <a:pPr indent="0" marL="0">
              <a:buNone/>
            </a:pPr>
            <a:r>
              <a:rPr lang="en-US" sz="950" dirty="0">
                <a:solidFill>
                  <a:srgbClr val="7A7291"/>
                </a:solidFill>
                <a:latin typeface="Calibri" pitchFamily="34" charset="0"/>
                <a:ea typeface="Calibri" pitchFamily="34" charset="-122"/>
                <a:cs typeface="Calibri" pitchFamily="34" charset="-120"/>
              </a:rPr>
              <a:t>$120</a:t>
            </a:r>
            <a:endParaRPr lang="en-US" sz="950" dirty="0"/>
          </a:p>
        </p:txBody>
      </p:sp>
      <p:sp>
        <p:nvSpPr>
          <p:cNvPr id="14" name="Shape 12"/>
          <p:cNvSpPr/>
          <p:nvPr/>
        </p:nvSpPr>
        <p:spPr>
          <a:xfrm>
            <a:off x="530352" y="2916936"/>
            <a:ext cx="10515600" cy="274320"/>
          </a:xfrm>
          <a:prstGeom prst="roundRect">
            <a:avLst>
              <a:gd name="adj" fmla="val 23333"/>
            </a:avLst>
          </a:prstGeom>
          <a:solidFill>
            <a:srgbClr val="EFEBF8"/>
          </a:solidFill>
          <a:ln/>
        </p:spPr>
      </p:sp>
      <p:sp>
        <p:nvSpPr>
          <p:cNvPr id="15" name="Text 13"/>
          <p:cNvSpPr/>
          <p:nvPr/>
        </p:nvSpPr>
        <p:spPr>
          <a:xfrm>
            <a:off x="640080" y="2916936"/>
            <a:ext cx="4206240" cy="274320"/>
          </a:xfrm>
          <a:prstGeom prst="rect">
            <a:avLst/>
          </a:prstGeom>
          <a:noFill/>
          <a:ln/>
        </p:spPr>
        <p:txBody>
          <a:bodyPr wrap="square" lIns="0" tIns="0" rIns="0" bIns="0" rtlCol="0" anchor="ctr"/>
          <a:lstStyle/>
          <a:p>
            <a:pPr indent="0" marL="0">
              <a:buNone/>
            </a:pPr>
            <a:r>
              <a:rPr lang="en-US" sz="1100" b="1" dirty="0">
                <a:solidFill>
                  <a:srgbClr val="6C4FE0"/>
                </a:solidFill>
                <a:latin typeface="Cambria" pitchFamily="34" charset="0"/>
                <a:ea typeface="Cambria" pitchFamily="34" charset="-122"/>
                <a:cs typeface="Cambria" pitchFamily="34" charset="-120"/>
              </a:rPr>
              <a:t>Bizzing Bee Plus</a:t>
            </a:r>
            <a:endParaRPr lang="en-US" sz="1100" dirty="0"/>
          </a:p>
        </p:txBody>
      </p:sp>
      <p:sp>
        <p:nvSpPr>
          <p:cNvPr id="16" name="Shape 14"/>
          <p:cNvSpPr/>
          <p:nvPr/>
        </p:nvSpPr>
        <p:spPr>
          <a:xfrm>
            <a:off x="5029200" y="2980944"/>
            <a:ext cx="1311474" cy="155448"/>
          </a:xfrm>
          <a:prstGeom prst="roundRect">
            <a:avLst>
              <a:gd name="adj" fmla="val 50000"/>
            </a:avLst>
          </a:prstGeom>
          <a:solidFill>
            <a:srgbClr val="6C4FE0"/>
          </a:solidFill>
          <a:ln/>
        </p:spPr>
      </p:sp>
      <p:sp>
        <p:nvSpPr>
          <p:cNvPr id="17" name="Text 15"/>
          <p:cNvSpPr/>
          <p:nvPr/>
        </p:nvSpPr>
        <p:spPr>
          <a:xfrm>
            <a:off x="6413826" y="2916936"/>
            <a:ext cx="960120" cy="274320"/>
          </a:xfrm>
          <a:prstGeom prst="rect">
            <a:avLst/>
          </a:prstGeom>
          <a:noFill/>
          <a:ln/>
        </p:spPr>
        <p:txBody>
          <a:bodyPr wrap="square" lIns="0" tIns="0" rIns="0" bIns="0" rtlCol="0" anchor="ctr"/>
          <a:lstStyle/>
          <a:p>
            <a:pPr indent="0" marL="0">
              <a:buNone/>
            </a:pPr>
            <a:r>
              <a:rPr lang="en-US" sz="950" b="1" dirty="0">
                <a:solidFill>
                  <a:srgbClr val="6C4FE0"/>
                </a:solidFill>
                <a:latin typeface="Calibri" pitchFamily="34" charset="0"/>
                <a:ea typeface="Calibri" pitchFamily="34" charset="-122"/>
                <a:cs typeface="Calibri" pitchFamily="34" charset="-120"/>
              </a:rPr>
              <a:t>$149</a:t>
            </a:r>
            <a:endParaRPr lang="en-US" sz="950" dirty="0"/>
          </a:p>
        </p:txBody>
      </p:sp>
      <p:sp>
        <p:nvSpPr>
          <p:cNvPr id="18" name="Text 16"/>
          <p:cNvSpPr/>
          <p:nvPr/>
        </p:nvSpPr>
        <p:spPr>
          <a:xfrm>
            <a:off x="640080" y="3218688"/>
            <a:ext cx="4206240" cy="274320"/>
          </a:xfrm>
          <a:prstGeom prst="rect">
            <a:avLst/>
          </a:prstGeom>
          <a:noFill/>
          <a:ln/>
        </p:spPr>
        <p:txBody>
          <a:bodyPr wrap="square" lIns="0" tIns="0" rIns="0" bIns="0" rtlCol="0" anchor="ctr"/>
          <a:lstStyle/>
          <a:p>
            <a:pPr indent="0" marL="0">
              <a:buNone/>
            </a:pPr>
            <a:r>
              <a:rPr lang="en-US" sz="1000" dirty="0">
                <a:solidFill>
                  <a:srgbClr val="4A4360"/>
                </a:solidFill>
                <a:latin typeface="Calibri" pitchFamily="34" charset="0"/>
                <a:ea typeface="Calibri" pitchFamily="34" charset="-122"/>
                <a:cs typeface="Calibri" pitchFamily="34" charset="-120"/>
              </a:rPr>
              <a:t>IXL family plan</a:t>
            </a:r>
            <a:endParaRPr lang="en-US" sz="1000" dirty="0"/>
          </a:p>
        </p:txBody>
      </p:sp>
      <p:sp>
        <p:nvSpPr>
          <p:cNvPr id="19" name="Shape 17"/>
          <p:cNvSpPr/>
          <p:nvPr/>
        </p:nvSpPr>
        <p:spPr>
          <a:xfrm>
            <a:off x="5029200" y="3282696"/>
            <a:ext cx="1602176" cy="155448"/>
          </a:xfrm>
          <a:prstGeom prst="roundRect">
            <a:avLst>
              <a:gd name="adj" fmla="val 50000"/>
            </a:avLst>
          </a:prstGeom>
          <a:solidFill>
            <a:srgbClr val="C4453C"/>
          </a:solidFill>
          <a:ln/>
        </p:spPr>
      </p:sp>
      <p:sp>
        <p:nvSpPr>
          <p:cNvPr id="20" name="Text 18"/>
          <p:cNvSpPr/>
          <p:nvPr/>
        </p:nvSpPr>
        <p:spPr>
          <a:xfrm>
            <a:off x="6704528" y="3218688"/>
            <a:ext cx="960120" cy="274320"/>
          </a:xfrm>
          <a:prstGeom prst="rect">
            <a:avLst/>
          </a:prstGeom>
          <a:noFill/>
          <a:ln/>
        </p:spPr>
        <p:txBody>
          <a:bodyPr wrap="square" lIns="0" tIns="0" rIns="0" bIns="0" rtlCol="0" anchor="ctr"/>
          <a:lstStyle/>
          <a:p>
            <a:pPr indent="0" marL="0">
              <a:buNone/>
            </a:pPr>
            <a:r>
              <a:rPr lang="en-US" sz="950" dirty="0">
                <a:solidFill>
                  <a:srgbClr val="7A7291"/>
                </a:solidFill>
                <a:latin typeface="Calibri" pitchFamily="34" charset="0"/>
                <a:ea typeface="Calibri" pitchFamily="34" charset="-122"/>
                <a:cs typeface="Calibri" pitchFamily="34" charset="-120"/>
              </a:rPr>
              <a:t>$240</a:t>
            </a:r>
            <a:endParaRPr lang="en-US" sz="950" dirty="0"/>
          </a:p>
        </p:txBody>
      </p:sp>
      <p:sp>
        <p:nvSpPr>
          <p:cNvPr id="21" name="Shape 19"/>
          <p:cNvSpPr/>
          <p:nvPr/>
        </p:nvSpPr>
        <p:spPr>
          <a:xfrm>
            <a:off x="530352" y="3520440"/>
            <a:ext cx="10515600" cy="274320"/>
          </a:xfrm>
          <a:prstGeom prst="roundRect">
            <a:avLst>
              <a:gd name="adj" fmla="val 23333"/>
            </a:avLst>
          </a:prstGeom>
          <a:solidFill>
            <a:srgbClr val="EFEBF8"/>
          </a:solidFill>
          <a:ln/>
        </p:spPr>
      </p:sp>
      <p:sp>
        <p:nvSpPr>
          <p:cNvPr id="22" name="Text 20"/>
          <p:cNvSpPr/>
          <p:nvPr/>
        </p:nvSpPr>
        <p:spPr>
          <a:xfrm>
            <a:off x="640080" y="3520440"/>
            <a:ext cx="4206240" cy="274320"/>
          </a:xfrm>
          <a:prstGeom prst="rect">
            <a:avLst/>
          </a:prstGeom>
          <a:noFill/>
          <a:ln/>
        </p:spPr>
        <p:txBody>
          <a:bodyPr wrap="square" lIns="0" tIns="0" rIns="0" bIns="0" rtlCol="0" anchor="ctr"/>
          <a:lstStyle/>
          <a:p>
            <a:pPr indent="0" marL="0">
              <a:buNone/>
            </a:pPr>
            <a:r>
              <a:rPr lang="en-US" sz="1100" b="1" dirty="0">
                <a:solidFill>
                  <a:srgbClr val="6C4FE0"/>
                </a:solidFill>
                <a:latin typeface="Cambria" pitchFamily="34" charset="0"/>
                <a:ea typeface="Cambria" pitchFamily="34" charset="-122"/>
                <a:cs typeface="Cambria" pitchFamily="34" charset="-120"/>
              </a:rPr>
              <a:t>Bizzing Advanced Pack</a:t>
            </a:r>
            <a:endParaRPr lang="en-US" sz="1100" dirty="0"/>
          </a:p>
        </p:txBody>
      </p:sp>
      <p:sp>
        <p:nvSpPr>
          <p:cNvPr id="23" name="Shape 21"/>
          <p:cNvSpPr/>
          <p:nvPr/>
        </p:nvSpPr>
        <p:spPr>
          <a:xfrm>
            <a:off x="5029200" y="3584448"/>
            <a:ext cx="1983490" cy="155448"/>
          </a:xfrm>
          <a:prstGeom prst="roundRect">
            <a:avLst>
              <a:gd name="adj" fmla="val 50000"/>
            </a:avLst>
          </a:prstGeom>
          <a:solidFill>
            <a:srgbClr val="6C4FE0"/>
          </a:solidFill>
          <a:ln/>
        </p:spPr>
      </p:sp>
      <p:sp>
        <p:nvSpPr>
          <p:cNvPr id="24" name="Text 22"/>
          <p:cNvSpPr/>
          <p:nvPr/>
        </p:nvSpPr>
        <p:spPr>
          <a:xfrm>
            <a:off x="7085842" y="3520440"/>
            <a:ext cx="960120" cy="274320"/>
          </a:xfrm>
          <a:prstGeom prst="rect">
            <a:avLst/>
          </a:prstGeom>
          <a:noFill/>
          <a:ln/>
        </p:spPr>
        <p:txBody>
          <a:bodyPr wrap="square" lIns="0" tIns="0" rIns="0" bIns="0" rtlCol="0" anchor="ctr"/>
          <a:lstStyle/>
          <a:p>
            <a:pPr indent="0" marL="0">
              <a:buNone/>
            </a:pPr>
            <a:r>
              <a:rPr lang="en-US" sz="950" b="1" dirty="0">
                <a:solidFill>
                  <a:srgbClr val="6C4FE0"/>
                </a:solidFill>
                <a:latin typeface="Calibri" pitchFamily="34" charset="0"/>
                <a:ea typeface="Calibri" pitchFamily="34" charset="-122"/>
                <a:cs typeface="Calibri" pitchFamily="34" charset="-120"/>
              </a:rPr>
              <a:t>$399</a:t>
            </a:r>
            <a:endParaRPr lang="en-US" sz="950" dirty="0"/>
          </a:p>
        </p:txBody>
      </p:sp>
      <p:sp>
        <p:nvSpPr>
          <p:cNvPr id="25" name="Text 23"/>
          <p:cNvSpPr/>
          <p:nvPr/>
        </p:nvSpPr>
        <p:spPr>
          <a:xfrm>
            <a:off x="640080" y="3822192"/>
            <a:ext cx="4206240" cy="274320"/>
          </a:xfrm>
          <a:prstGeom prst="rect">
            <a:avLst/>
          </a:prstGeom>
          <a:noFill/>
          <a:ln/>
        </p:spPr>
        <p:txBody>
          <a:bodyPr wrap="square" lIns="0" tIns="0" rIns="0" bIns="0" rtlCol="0" anchor="ctr"/>
          <a:lstStyle/>
          <a:p>
            <a:pPr indent="0" marL="0">
              <a:buNone/>
            </a:pPr>
            <a:r>
              <a:rPr lang="en-US" sz="1000" dirty="0">
                <a:solidFill>
                  <a:srgbClr val="4A4360"/>
                </a:solidFill>
                <a:latin typeface="Calibri" pitchFamily="34" charset="0"/>
                <a:ea typeface="Calibri" pitchFamily="34" charset="-122"/>
                <a:cs typeface="Calibri" pitchFamily="34" charset="-120"/>
              </a:rPr>
              <a:t>Atom Learning (UK 11+)</a:t>
            </a:r>
            <a:endParaRPr lang="en-US" sz="1000" dirty="0"/>
          </a:p>
        </p:txBody>
      </p:sp>
      <p:sp>
        <p:nvSpPr>
          <p:cNvPr id="26" name="Shape 24"/>
          <p:cNvSpPr/>
          <p:nvPr/>
        </p:nvSpPr>
        <p:spPr>
          <a:xfrm>
            <a:off x="5029200" y="3886200"/>
            <a:ext cx="1985576" cy="155448"/>
          </a:xfrm>
          <a:prstGeom prst="roundRect">
            <a:avLst>
              <a:gd name="adj" fmla="val 50000"/>
            </a:avLst>
          </a:prstGeom>
          <a:solidFill>
            <a:srgbClr val="C4453C"/>
          </a:solidFill>
          <a:ln/>
        </p:spPr>
      </p:sp>
      <p:sp>
        <p:nvSpPr>
          <p:cNvPr id="27" name="Text 25"/>
          <p:cNvSpPr/>
          <p:nvPr/>
        </p:nvSpPr>
        <p:spPr>
          <a:xfrm>
            <a:off x="7087928" y="3822192"/>
            <a:ext cx="960120" cy="274320"/>
          </a:xfrm>
          <a:prstGeom prst="rect">
            <a:avLst/>
          </a:prstGeom>
          <a:noFill/>
          <a:ln/>
        </p:spPr>
        <p:txBody>
          <a:bodyPr wrap="square" lIns="0" tIns="0" rIns="0" bIns="0" rtlCol="0" anchor="ctr"/>
          <a:lstStyle/>
          <a:p>
            <a:pPr indent="0" marL="0">
              <a:buNone/>
            </a:pPr>
            <a:r>
              <a:rPr lang="en-US" sz="950" dirty="0">
                <a:solidFill>
                  <a:srgbClr val="7A7291"/>
                </a:solidFill>
                <a:latin typeface="Calibri" pitchFamily="34" charset="0"/>
                <a:ea typeface="Calibri" pitchFamily="34" charset="-122"/>
                <a:cs typeface="Calibri" pitchFamily="34" charset="-120"/>
              </a:rPr>
              <a:t>$400</a:t>
            </a:r>
            <a:endParaRPr lang="en-US" sz="950" dirty="0"/>
          </a:p>
        </p:txBody>
      </p:sp>
      <p:sp>
        <p:nvSpPr>
          <p:cNvPr id="28" name="Shape 26"/>
          <p:cNvSpPr/>
          <p:nvPr/>
        </p:nvSpPr>
        <p:spPr>
          <a:xfrm>
            <a:off x="530352" y="4123944"/>
            <a:ext cx="10515600" cy="274320"/>
          </a:xfrm>
          <a:prstGeom prst="roundRect">
            <a:avLst>
              <a:gd name="adj" fmla="val 23333"/>
            </a:avLst>
          </a:prstGeom>
          <a:solidFill>
            <a:srgbClr val="EFEBF8"/>
          </a:solidFill>
          <a:ln/>
        </p:spPr>
      </p:sp>
      <p:sp>
        <p:nvSpPr>
          <p:cNvPr id="29" name="Text 27"/>
          <p:cNvSpPr/>
          <p:nvPr/>
        </p:nvSpPr>
        <p:spPr>
          <a:xfrm>
            <a:off x="640080" y="4123944"/>
            <a:ext cx="4206240" cy="274320"/>
          </a:xfrm>
          <a:prstGeom prst="rect">
            <a:avLst/>
          </a:prstGeom>
          <a:noFill/>
          <a:ln/>
        </p:spPr>
        <p:txBody>
          <a:bodyPr wrap="square" lIns="0" tIns="0" rIns="0" bIns="0" rtlCol="0" anchor="ctr"/>
          <a:lstStyle/>
          <a:p>
            <a:pPr indent="0" marL="0">
              <a:buNone/>
            </a:pPr>
            <a:r>
              <a:rPr lang="en-US" sz="1100" b="1" dirty="0">
                <a:solidFill>
                  <a:srgbClr val="6C4FE0"/>
                </a:solidFill>
                <a:latin typeface="Cambria" pitchFamily="34" charset="0"/>
                <a:ea typeface="Cambria" pitchFamily="34" charset="-122"/>
                <a:cs typeface="Cambria" pitchFamily="34" charset="-120"/>
              </a:rPr>
              <a:t>Bizzing Family (whole house)</a:t>
            </a:r>
            <a:endParaRPr lang="en-US" sz="1100" dirty="0"/>
          </a:p>
        </p:txBody>
      </p:sp>
      <p:sp>
        <p:nvSpPr>
          <p:cNvPr id="30" name="Shape 28"/>
          <p:cNvSpPr/>
          <p:nvPr/>
        </p:nvSpPr>
        <p:spPr>
          <a:xfrm>
            <a:off x="5029200" y="4187952"/>
            <a:ext cx="2178831" cy="155448"/>
          </a:xfrm>
          <a:prstGeom prst="roundRect">
            <a:avLst>
              <a:gd name="adj" fmla="val 50000"/>
            </a:avLst>
          </a:prstGeom>
          <a:solidFill>
            <a:srgbClr val="6C4FE0"/>
          </a:solidFill>
          <a:ln/>
        </p:spPr>
      </p:sp>
      <p:sp>
        <p:nvSpPr>
          <p:cNvPr id="31" name="Text 29"/>
          <p:cNvSpPr/>
          <p:nvPr/>
        </p:nvSpPr>
        <p:spPr>
          <a:xfrm>
            <a:off x="7281183" y="4123944"/>
            <a:ext cx="960120" cy="274320"/>
          </a:xfrm>
          <a:prstGeom prst="rect">
            <a:avLst/>
          </a:prstGeom>
          <a:noFill/>
          <a:ln/>
        </p:spPr>
        <p:txBody>
          <a:bodyPr wrap="square" lIns="0" tIns="0" rIns="0" bIns="0" rtlCol="0" anchor="ctr"/>
          <a:lstStyle/>
          <a:p>
            <a:pPr indent="0" marL="0">
              <a:buNone/>
            </a:pPr>
            <a:r>
              <a:rPr lang="en-US" sz="950" b="1" dirty="0">
                <a:solidFill>
                  <a:srgbClr val="6C4FE0"/>
                </a:solidFill>
                <a:latin typeface="Calibri" pitchFamily="34" charset="0"/>
                <a:ea typeface="Calibri" pitchFamily="34" charset="-122"/>
                <a:cs typeface="Calibri" pitchFamily="34" charset="-120"/>
              </a:rPr>
              <a:t>$499</a:t>
            </a:r>
            <a:endParaRPr lang="en-US" sz="950" dirty="0"/>
          </a:p>
        </p:txBody>
      </p:sp>
      <p:sp>
        <p:nvSpPr>
          <p:cNvPr id="32" name="Text 30"/>
          <p:cNvSpPr/>
          <p:nvPr/>
        </p:nvSpPr>
        <p:spPr>
          <a:xfrm>
            <a:off x="640080" y="4425696"/>
            <a:ext cx="4206240" cy="274320"/>
          </a:xfrm>
          <a:prstGeom prst="rect">
            <a:avLst/>
          </a:prstGeom>
          <a:noFill/>
          <a:ln/>
        </p:spPr>
        <p:txBody>
          <a:bodyPr wrap="square" lIns="0" tIns="0" rIns="0" bIns="0" rtlCol="0" anchor="ctr"/>
          <a:lstStyle/>
          <a:p>
            <a:pPr indent="0" marL="0">
              <a:buNone/>
            </a:pPr>
            <a:r>
              <a:rPr lang="en-US" sz="1000" dirty="0">
                <a:solidFill>
                  <a:srgbClr val="4A4360"/>
                </a:solidFill>
                <a:latin typeface="Calibri" pitchFamily="34" charset="0"/>
                <a:ea typeface="Calibri" pitchFamily="34" charset="-122"/>
                <a:cs typeface="Calibri" pitchFamily="34" charset="-120"/>
              </a:rPr>
              <a:t>Hexco bee study packages</a:t>
            </a:r>
            <a:endParaRPr lang="en-US" sz="1000" dirty="0"/>
          </a:p>
        </p:txBody>
      </p:sp>
      <p:sp>
        <p:nvSpPr>
          <p:cNvPr id="33" name="Shape 31"/>
          <p:cNvSpPr/>
          <p:nvPr/>
        </p:nvSpPr>
        <p:spPr>
          <a:xfrm>
            <a:off x="5029200" y="4489704"/>
            <a:ext cx="2511670" cy="155448"/>
          </a:xfrm>
          <a:prstGeom prst="roundRect">
            <a:avLst>
              <a:gd name="adj" fmla="val 50000"/>
            </a:avLst>
          </a:prstGeom>
          <a:solidFill>
            <a:srgbClr val="178A4C"/>
          </a:solidFill>
          <a:ln/>
        </p:spPr>
      </p:sp>
      <p:sp>
        <p:nvSpPr>
          <p:cNvPr id="34" name="Text 32"/>
          <p:cNvSpPr/>
          <p:nvPr/>
        </p:nvSpPr>
        <p:spPr>
          <a:xfrm>
            <a:off x="7614022" y="4425696"/>
            <a:ext cx="960120" cy="274320"/>
          </a:xfrm>
          <a:prstGeom prst="rect">
            <a:avLst/>
          </a:prstGeom>
          <a:noFill/>
          <a:ln/>
        </p:spPr>
        <p:txBody>
          <a:bodyPr wrap="square" lIns="0" tIns="0" rIns="0" bIns="0" rtlCol="0" anchor="ctr"/>
          <a:lstStyle/>
          <a:p>
            <a:pPr indent="0" marL="0">
              <a:buNone/>
            </a:pPr>
            <a:r>
              <a:rPr lang="en-US" sz="950" dirty="0">
                <a:solidFill>
                  <a:srgbClr val="7A7291"/>
                </a:solidFill>
                <a:latin typeface="Calibri" pitchFamily="34" charset="0"/>
                <a:ea typeface="Calibri" pitchFamily="34" charset="-122"/>
                <a:cs typeface="Calibri" pitchFamily="34" charset="-120"/>
              </a:rPr>
              <a:t>$700</a:t>
            </a:r>
            <a:endParaRPr lang="en-US" sz="950" dirty="0"/>
          </a:p>
        </p:txBody>
      </p:sp>
      <p:sp>
        <p:nvSpPr>
          <p:cNvPr id="35" name="Shape 33"/>
          <p:cNvSpPr/>
          <p:nvPr/>
        </p:nvSpPr>
        <p:spPr>
          <a:xfrm>
            <a:off x="530352" y="4727448"/>
            <a:ext cx="10515600" cy="274320"/>
          </a:xfrm>
          <a:prstGeom prst="roundRect">
            <a:avLst>
              <a:gd name="adj" fmla="val 23333"/>
            </a:avLst>
          </a:prstGeom>
          <a:solidFill>
            <a:srgbClr val="EFEBF8"/>
          </a:solidFill>
          <a:ln/>
        </p:spPr>
      </p:sp>
      <p:sp>
        <p:nvSpPr>
          <p:cNvPr id="36" name="Text 34"/>
          <p:cNvSpPr/>
          <p:nvPr/>
        </p:nvSpPr>
        <p:spPr>
          <a:xfrm>
            <a:off x="640080" y="4727448"/>
            <a:ext cx="4206240" cy="274320"/>
          </a:xfrm>
          <a:prstGeom prst="rect">
            <a:avLst/>
          </a:prstGeom>
          <a:noFill/>
          <a:ln/>
        </p:spPr>
        <p:txBody>
          <a:bodyPr wrap="square" lIns="0" tIns="0" rIns="0" bIns="0" rtlCol="0" anchor="ctr"/>
          <a:lstStyle/>
          <a:p>
            <a:pPr indent="0" marL="0">
              <a:buNone/>
            </a:pPr>
            <a:r>
              <a:rPr lang="en-US" sz="1100" b="1" dirty="0">
                <a:solidFill>
                  <a:srgbClr val="6C4FE0"/>
                </a:solidFill>
                <a:latin typeface="Cambria" pitchFamily="34" charset="0"/>
                <a:ea typeface="Cambria" pitchFamily="34" charset="-122"/>
                <a:cs typeface="Cambria" pitchFamily="34" charset="-120"/>
              </a:rPr>
              <a:t>Bizzing Business cohort</a:t>
            </a:r>
            <a:endParaRPr lang="en-US" sz="1100" dirty="0"/>
          </a:p>
        </p:txBody>
      </p:sp>
      <p:sp>
        <p:nvSpPr>
          <p:cNvPr id="37" name="Shape 35"/>
          <p:cNvSpPr/>
          <p:nvPr/>
        </p:nvSpPr>
        <p:spPr>
          <a:xfrm>
            <a:off x="5029200" y="4791456"/>
            <a:ext cx="2916345" cy="155448"/>
          </a:xfrm>
          <a:prstGeom prst="roundRect">
            <a:avLst>
              <a:gd name="adj" fmla="val 50000"/>
            </a:avLst>
          </a:prstGeom>
          <a:solidFill>
            <a:srgbClr val="6C4FE0"/>
          </a:solidFill>
          <a:ln/>
        </p:spPr>
      </p:sp>
      <p:sp>
        <p:nvSpPr>
          <p:cNvPr id="38" name="Text 36"/>
          <p:cNvSpPr/>
          <p:nvPr/>
        </p:nvSpPr>
        <p:spPr>
          <a:xfrm>
            <a:off x="8018697" y="4727448"/>
            <a:ext cx="960120" cy="274320"/>
          </a:xfrm>
          <a:prstGeom prst="rect">
            <a:avLst/>
          </a:prstGeom>
          <a:noFill/>
          <a:ln/>
        </p:spPr>
        <p:txBody>
          <a:bodyPr wrap="square" lIns="0" tIns="0" rIns="0" bIns="0" rtlCol="0" anchor="ctr"/>
          <a:lstStyle/>
          <a:p>
            <a:pPr indent="0" marL="0">
              <a:buNone/>
            </a:pPr>
            <a:r>
              <a:rPr lang="en-US" sz="950" b="1" dirty="0">
                <a:solidFill>
                  <a:srgbClr val="6C4FE0"/>
                </a:solidFill>
                <a:latin typeface="Calibri" pitchFamily="34" charset="0"/>
                <a:ea typeface="Calibri" pitchFamily="34" charset="-122"/>
                <a:cs typeface="Calibri" pitchFamily="34" charset="-120"/>
              </a:rPr>
              <a:t>$999</a:t>
            </a:r>
            <a:endParaRPr lang="en-US" sz="950" dirty="0"/>
          </a:p>
        </p:txBody>
      </p:sp>
      <p:sp>
        <p:nvSpPr>
          <p:cNvPr id="39" name="Text 37"/>
          <p:cNvSpPr/>
          <p:nvPr/>
        </p:nvSpPr>
        <p:spPr>
          <a:xfrm>
            <a:off x="640080" y="5029200"/>
            <a:ext cx="4206240" cy="274320"/>
          </a:xfrm>
          <a:prstGeom prst="rect">
            <a:avLst/>
          </a:prstGeom>
          <a:noFill/>
          <a:ln/>
        </p:spPr>
        <p:txBody>
          <a:bodyPr wrap="square" lIns="0" tIns="0" rIns="0" bIns="0" rtlCol="0" anchor="ctr"/>
          <a:lstStyle/>
          <a:p>
            <a:pPr indent="0" marL="0">
              <a:buNone/>
            </a:pPr>
            <a:r>
              <a:rPr lang="en-US" sz="1000" dirty="0">
                <a:solidFill>
                  <a:srgbClr val="4A4360"/>
                </a:solidFill>
                <a:latin typeface="Calibri" pitchFamily="34" charset="0"/>
                <a:ea typeface="Calibri" pitchFamily="34" charset="-122"/>
                <a:cs typeface="Calibri" pitchFamily="34" charset="-120"/>
              </a:rPr>
              <a:t>Kumon, one subject</a:t>
            </a:r>
            <a:endParaRPr lang="en-US" sz="1000" dirty="0"/>
          </a:p>
        </p:txBody>
      </p:sp>
      <p:sp>
        <p:nvSpPr>
          <p:cNvPr id="40" name="Shape 38"/>
          <p:cNvSpPr/>
          <p:nvPr/>
        </p:nvSpPr>
        <p:spPr>
          <a:xfrm>
            <a:off x="5029200" y="5093208"/>
            <a:ext cx="3903498" cy="155448"/>
          </a:xfrm>
          <a:prstGeom prst="roundRect">
            <a:avLst>
              <a:gd name="adj" fmla="val 50000"/>
            </a:avLst>
          </a:prstGeom>
          <a:solidFill>
            <a:srgbClr val="178A4C"/>
          </a:solidFill>
          <a:ln/>
        </p:spPr>
      </p:sp>
      <p:sp>
        <p:nvSpPr>
          <p:cNvPr id="41" name="Text 39"/>
          <p:cNvSpPr/>
          <p:nvPr/>
        </p:nvSpPr>
        <p:spPr>
          <a:xfrm>
            <a:off x="9005850" y="5029200"/>
            <a:ext cx="960120" cy="274320"/>
          </a:xfrm>
          <a:prstGeom prst="rect">
            <a:avLst/>
          </a:prstGeom>
          <a:noFill/>
          <a:ln/>
        </p:spPr>
        <p:txBody>
          <a:bodyPr wrap="square" lIns="0" tIns="0" rIns="0" bIns="0" rtlCol="0" anchor="ctr"/>
          <a:lstStyle/>
          <a:p>
            <a:pPr indent="0" marL="0">
              <a:buNone/>
            </a:pPr>
            <a:r>
              <a:rPr lang="en-US" sz="950" dirty="0">
                <a:solidFill>
                  <a:srgbClr val="7A7291"/>
                </a:solidFill>
                <a:latin typeface="Calibri" pitchFamily="34" charset="0"/>
                <a:ea typeface="Calibri" pitchFamily="34" charset="-122"/>
                <a:cs typeface="Calibri" pitchFamily="34" charset="-120"/>
              </a:rPr>
              <a:t>$2,000</a:t>
            </a:r>
            <a:endParaRPr lang="en-US" sz="950" dirty="0"/>
          </a:p>
        </p:txBody>
      </p:sp>
      <p:sp>
        <p:nvSpPr>
          <p:cNvPr id="42" name="Text 40"/>
          <p:cNvSpPr/>
          <p:nvPr/>
        </p:nvSpPr>
        <p:spPr>
          <a:xfrm>
            <a:off x="640080" y="5330952"/>
            <a:ext cx="4206240" cy="274320"/>
          </a:xfrm>
          <a:prstGeom prst="rect">
            <a:avLst/>
          </a:prstGeom>
          <a:noFill/>
          <a:ln/>
        </p:spPr>
        <p:txBody>
          <a:bodyPr wrap="square" lIns="0" tIns="0" rIns="0" bIns="0" rtlCol="0" anchor="ctr"/>
          <a:lstStyle/>
          <a:p>
            <a:pPr indent="0" marL="0">
              <a:buNone/>
            </a:pPr>
            <a:r>
              <a:rPr lang="en-US" sz="1000" dirty="0">
                <a:solidFill>
                  <a:srgbClr val="4A4360"/>
                </a:solidFill>
                <a:latin typeface="Calibri" pitchFamily="34" charset="0"/>
                <a:ea typeface="Calibri" pitchFamily="34" charset="-122"/>
                <a:cs typeface="Calibri" pitchFamily="34" charset="-120"/>
              </a:rPr>
              <a:t>Summer business camp, one week</a:t>
            </a:r>
            <a:endParaRPr lang="en-US" sz="1000" dirty="0"/>
          </a:p>
        </p:txBody>
      </p:sp>
      <p:sp>
        <p:nvSpPr>
          <p:cNvPr id="43" name="Shape 41"/>
          <p:cNvSpPr/>
          <p:nvPr/>
        </p:nvSpPr>
        <p:spPr>
          <a:xfrm>
            <a:off x="5029200" y="5394960"/>
            <a:ext cx="4062926" cy="155448"/>
          </a:xfrm>
          <a:prstGeom prst="roundRect">
            <a:avLst>
              <a:gd name="adj" fmla="val 50000"/>
            </a:avLst>
          </a:prstGeom>
          <a:solidFill>
            <a:srgbClr val="178A4C"/>
          </a:solidFill>
          <a:ln/>
        </p:spPr>
      </p:sp>
      <p:sp>
        <p:nvSpPr>
          <p:cNvPr id="44" name="Text 42"/>
          <p:cNvSpPr/>
          <p:nvPr/>
        </p:nvSpPr>
        <p:spPr>
          <a:xfrm>
            <a:off x="9165278" y="5330952"/>
            <a:ext cx="960120" cy="274320"/>
          </a:xfrm>
          <a:prstGeom prst="rect">
            <a:avLst/>
          </a:prstGeom>
          <a:noFill/>
          <a:ln/>
        </p:spPr>
        <p:txBody>
          <a:bodyPr wrap="square" lIns="0" tIns="0" rIns="0" bIns="0" rtlCol="0" anchor="ctr"/>
          <a:lstStyle/>
          <a:p>
            <a:pPr indent="0" marL="0">
              <a:buNone/>
            </a:pPr>
            <a:r>
              <a:rPr lang="en-US" sz="950" dirty="0">
                <a:solidFill>
                  <a:srgbClr val="7A7291"/>
                </a:solidFill>
                <a:latin typeface="Calibri" pitchFamily="34" charset="0"/>
                <a:ea typeface="Calibri" pitchFamily="34" charset="-122"/>
                <a:cs typeface="Calibri" pitchFamily="34" charset="-120"/>
              </a:rPr>
              <a:t>$2,200</a:t>
            </a:r>
            <a:endParaRPr lang="en-US" sz="950" dirty="0"/>
          </a:p>
        </p:txBody>
      </p:sp>
      <p:sp>
        <p:nvSpPr>
          <p:cNvPr id="45" name="Text 43"/>
          <p:cNvSpPr/>
          <p:nvPr/>
        </p:nvSpPr>
        <p:spPr>
          <a:xfrm>
            <a:off x="640080" y="5632704"/>
            <a:ext cx="4206240" cy="274320"/>
          </a:xfrm>
          <a:prstGeom prst="rect">
            <a:avLst/>
          </a:prstGeom>
          <a:noFill/>
          <a:ln/>
        </p:spPr>
        <p:txBody>
          <a:bodyPr wrap="square" lIns="0" tIns="0" rIns="0" bIns="0" rtlCol="0" anchor="ctr"/>
          <a:lstStyle/>
          <a:p>
            <a:pPr indent="0" marL="0">
              <a:buNone/>
            </a:pPr>
            <a:r>
              <a:rPr lang="en-US" sz="1000" dirty="0">
                <a:solidFill>
                  <a:srgbClr val="4A4360"/>
                </a:solidFill>
                <a:latin typeface="Calibri" pitchFamily="34" charset="0"/>
                <a:ea typeface="Calibri" pitchFamily="34" charset="-122"/>
                <a:cs typeface="Calibri" pitchFamily="34" charset="-120"/>
              </a:rPr>
              <a:t>UK 11+ tutoring, exam year</a:t>
            </a:r>
            <a:endParaRPr lang="en-US" sz="1000" dirty="0"/>
          </a:p>
        </p:txBody>
      </p:sp>
      <p:sp>
        <p:nvSpPr>
          <p:cNvPr id="46" name="Shape 44"/>
          <p:cNvSpPr/>
          <p:nvPr/>
        </p:nvSpPr>
        <p:spPr>
          <a:xfrm>
            <a:off x="5029200" y="5696712"/>
            <a:ext cx="4628202" cy="155448"/>
          </a:xfrm>
          <a:prstGeom prst="roundRect">
            <a:avLst>
              <a:gd name="adj" fmla="val 50000"/>
            </a:avLst>
          </a:prstGeom>
          <a:solidFill>
            <a:srgbClr val="178A4C"/>
          </a:solidFill>
          <a:ln/>
        </p:spPr>
      </p:sp>
      <p:sp>
        <p:nvSpPr>
          <p:cNvPr id="47" name="Text 45"/>
          <p:cNvSpPr/>
          <p:nvPr/>
        </p:nvSpPr>
        <p:spPr>
          <a:xfrm>
            <a:off x="9730554" y="5632704"/>
            <a:ext cx="960120" cy="274320"/>
          </a:xfrm>
          <a:prstGeom prst="rect">
            <a:avLst/>
          </a:prstGeom>
          <a:noFill/>
          <a:ln/>
        </p:spPr>
        <p:txBody>
          <a:bodyPr wrap="square" lIns="0" tIns="0" rIns="0" bIns="0" rtlCol="0" anchor="ctr"/>
          <a:lstStyle/>
          <a:p>
            <a:pPr indent="0" marL="0">
              <a:buNone/>
            </a:pPr>
            <a:r>
              <a:rPr lang="en-US" sz="950" dirty="0">
                <a:solidFill>
                  <a:srgbClr val="7A7291"/>
                </a:solidFill>
                <a:latin typeface="Calibri" pitchFamily="34" charset="0"/>
                <a:ea typeface="Calibri" pitchFamily="34" charset="-122"/>
                <a:cs typeface="Calibri" pitchFamily="34" charset="-120"/>
              </a:rPr>
              <a:t>$3,000</a:t>
            </a:r>
            <a:endParaRPr lang="en-US" sz="950" dirty="0"/>
          </a:p>
        </p:txBody>
      </p:sp>
      <p:sp>
        <p:nvSpPr>
          <p:cNvPr id="48" name="Text 46"/>
          <p:cNvSpPr/>
          <p:nvPr/>
        </p:nvSpPr>
        <p:spPr>
          <a:xfrm>
            <a:off x="640080" y="5934456"/>
            <a:ext cx="4206240" cy="274320"/>
          </a:xfrm>
          <a:prstGeom prst="rect">
            <a:avLst/>
          </a:prstGeom>
          <a:noFill/>
          <a:ln/>
        </p:spPr>
        <p:txBody>
          <a:bodyPr wrap="square" lIns="0" tIns="0" rIns="0" bIns="0" rtlCol="0" anchor="ctr"/>
          <a:lstStyle/>
          <a:p>
            <a:pPr indent="0" marL="0">
              <a:buNone/>
            </a:pPr>
            <a:r>
              <a:rPr lang="en-US" sz="1000" dirty="0">
                <a:solidFill>
                  <a:srgbClr val="4A4360"/>
                </a:solidFill>
                <a:latin typeface="Calibri" pitchFamily="34" charset="0"/>
                <a:ea typeface="Calibri" pitchFamily="34" charset="-122"/>
                <a:cs typeface="Calibri" pitchFamily="34" charset="-120"/>
              </a:rPr>
              <a:t>Bee coach — weekly, one hour</a:t>
            </a:r>
            <a:endParaRPr lang="en-US" sz="1000" dirty="0"/>
          </a:p>
        </p:txBody>
      </p:sp>
      <p:sp>
        <p:nvSpPr>
          <p:cNvPr id="49" name="Shape 47"/>
          <p:cNvSpPr/>
          <p:nvPr/>
        </p:nvSpPr>
        <p:spPr>
          <a:xfrm>
            <a:off x="5029200" y="5998464"/>
            <a:ext cx="4937760" cy="155448"/>
          </a:xfrm>
          <a:prstGeom prst="roundRect">
            <a:avLst>
              <a:gd name="adj" fmla="val 50000"/>
            </a:avLst>
          </a:prstGeom>
          <a:solidFill>
            <a:srgbClr val="178A4C"/>
          </a:solidFill>
          <a:ln/>
        </p:spPr>
      </p:sp>
      <p:sp>
        <p:nvSpPr>
          <p:cNvPr id="50" name="Text 48"/>
          <p:cNvSpPr/>
          <p:nvPr/>
        </p:nvSpPr>
        <p:spPr>
          <a:xfrm>
            <a:off x="10040112" y="5934456"/>
            <a:ext cx="960120" cy="274320"/>
          </a:xfrm>
          <a:prstGeom prst="rect">
            <a:avLst/>
          </a:prstGeom>
          <a:noFill/>
          <a:ln/>
        </p:spPr>
        <p:txBody>
          <a:bodyPr wrap="square" lIns="0" tIns="0" rIns="0" bIns="0" rtlCol="0" anchor="ctr"/>
          <a:lstStyle/>
          <a:p>
            <a:pPr indent="0" marL="0">
              <a:buNone/>
            </a:pPr>
            <a:r>
              <a:rPr lang="en-US" sz="950" dirty="0">
                <a:solidFill>
                  <a:srgbClr val="7A7291"/>
                </a:solidFill>
                <a:latin typeface="Calibri" pitchFamily="34" charset="0"/>
                <a:ea typeface="Calibri" pitchFamily="34" charset="-122"/>
                <a:cs typeface="Calibri" pitchFamily="34" charset="-120"/>
              </a:rPr>
              <a:t>$3,500</a:t>
            </a:r>
            <a:endParaRPr lang="en-US" sz="950" dirty="0"/>
          </a:p>
        </p:txBody>
      </p:sp>
      <p:sp>
        <p:nvSpPr>
          <p:cNvPr id="51" name="Shape 49"/>
          <p:cNvSpPr/>
          <p:nvPr/>
        </p:nvSpPr>
        <p:spPr>
          <a:xfrm>
            <a:off x="10351008" y="2084832"/>
            <a:ext cx="1170432" cy="274320"/>
          </a:xfrm>
          <a:prstGeom prst="roundRect">
            <a:avLst>
              <a:gd name="adj" fmla="val 50000"/>
            </a:avLst>
          </a:prstGeom>
          <a:solidFill>
            <a:srgbClr val="C4453C"/>
          </a:solidFill>
          <a:ln/>
        </p:spPr>
      </p:sp>
      <p:sp>
        <p:nvSpPr>
          <p:cNvPr id="52" name="Text 50"/>
          <p:cNvSpPr/>
          <p:nvPr/>
        </p:nvSpPr>
        <p:spPr>
          <a:xfrm>
            <a:off x="10351008" y="2084832"/>
            <a:ext cx="1170432"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APPS</a:t>
            </a:r>
            <a:endParaRPr lang="en-US" sz="800" dirty="0"/>
          </a:p>
        </p:txBody>
      </p:sp>
      <p:sp>
        <p:nvSpPr>
          <p:cNvPr id="53" name="Shape 51"/>
          <p:cNvSpPr/>
          <p:nvPr/>
        </p:nvSpPr>
        <p:spPr>
          <a:xfrm>
            <a:off x="10351008" y="2450592"/>
            <a:ext cx="1170432" cy="274320"/>
          </a:xfrm>
          <a:prstGeom prst="roundRect">
            <a:avLst>
              <a:gd name="adj" fmla="val 50000"/>
            </a:avLst>
          </a:prstGeom>
          <a:solidFill>
            <a:srgbClr val="6C4FE0"/>
          </a:solidFill>
          <a:ln/>
        </p:spPr>
      </p:sp>
      <p:sp>
        <p:nvSpPr>
          <p:cNvPr id="54" name="Text 52"/>
          <p:cNvSpPr/>
          <p:nvPr/>
        </p:nvSpPr>
        <p:spPr>
          <a:xfrm>
            <a:off x="10351008" y="2450592"/>
            <a:ext cx="1170432"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BIZZING</a:t>
            </a:r>
            <a:endParaRPr lang="en-US" sz="800" dirty="0"/>
          </a:p>
        </p:txBody>
      </p:sp>
      <p:sp>
        <p:nvSpPr>
          <p:cNvPr id="55" name="Shape 53"/>
          <p:cNvSpPr/>
          <p:nvPr/>
        </p:nvSpPr>
        <p:spPr>
          <a:xfrm>
            <a:off x="10351008" y="2816352"/>
            <a:ext cx="1170432" cy="274320"/>
          </a:xfrm>
          <a:prstGeom prst="roundRect">
            <a:avLst>
              <a:gd name="adj" fmla="val 50000"/>
            </a:avLst>
          </a:prstGeom>
          <a:solidFill>
            <a:srgbClr val="178A4C"/>
          </a:solidFill>
          <a:ln/>
        </p:spPr>
      </p:sp>
      <p:sp>
        <p:nvSpPr>
          <p:cNvPr id="56" name="Text 54"/>
          <p:cNvSpPr/>
          <p:nvPr/>
        </p:nvSpPr>
        <p:spPr>
          <a:xfrm>
            <a:off x="10351008" y="2816352"/>
            <a:ext cx="1170432"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TUTORING</a:t>
            </a:r>
            <a:endParaRPr lang="en-US" sz="800" dirty="0"/>
          </a:p>
        </p:txBody>
      </p:sp>
      <p:sp>
        <p:nvSpPr>
          <p:cNvPr id="57" name="Text 55"/>
          <p:cNvSpPr/>
          <p:nvPr/>
        </p:nvSpPr>
        <p:spPr>
          <a:xfrm>
            <a:off x="10332720" y="3310128"/>
            <a:ext cx="1417320" cy="822960"/>
          </a:xfrm>
          <a:prstGeom prst="rect">
            <a:avLst/>
          </a:prstGeom>
          <a:noFill/>
          <a:ln/>
        </p:spPr>
        <p:txBody>
          <a:bodyPr wrap="square" lIns="0" tIns="0" rIns="0" bIns="0" rtlCol="0" anchor="ctr"/>
          <a:lstStyle/>
          <a:p>
            <a:pPr indent="0" marL="0">
              <a:lnSpc>
                <a:spcPts val="950"/>
              </a:lnSpc>
              <a:buNone/>
            </a:pPr>
            <a:r>
              <a:rPr lang="en-US" sz="750" i="1" dirty="0">
                <a:solidFill>
                  <a:srgbClr val="7A7291"/>
                </a:solidFill>
                <a:latin typeface="Calibri" pitchFamily="34" charset="0"/>
                <a:ea typeface="Calibri" pitchFamily="34" charset="-122"/>
                <a:cs typeface="Calibri" pitchFamily="34" charset="-120"/>
              </a:rPr>
              <a:t>Annual cost, US dollars.</a:t>
            </a:r>
            <a:endParaRPr lang="en-US" sz="750" dirty="0"/>
          </a:p>
          <a:p>
            <a:pPr indent="0" marL="0">
              <a:lnSpc>
                <a:spcPts val="950"/>
              </a:lnSpc>
              <a:buNone/>
            </a:pPr>
            <a:r>
              <a:rPr lang="en-US" sz="750" i="1" dirty="0">
                <a:solidFill>
                  <a:srgbClr val="7A7291"/>
                </a:solidFill>
                <a:latin typeface="Calibri" pitchFamily="34" charset="0"/>
                <a:ea typeface="Calibri" pitchFamily="34" charset="-122"/>
                <a:cs typeface="Calibri" pitchFamily="34" charset="-120"/>
              </a:rPr>
              <a:t>Log-ish scale so a $30 app</a:t>
            </a:r>
            <a:endParaRPr lang="en-US" sz="750" dirty="0"/>
          </a:p>
          <a:p>
            <a:pPr indent="0" marL="0">
              <a:lnSpc>
                <a:spcPts val="950"/>
              </a:lnSpc>
              <a:buNone/>
            </a:pPr>
            <a:r>
              <a:rPr lang="en-US" sz="750" i="1" dirty="0">
                <a:solidFill>
                  <a:srgbClr val="7A7291"/>
                </a:solidFill>
                <a:latin typeface="Calibri" pitchFamily="34" charset="0"/>
                <a:ea typeface="Calibri" pitchFamily="34" charset="-122"/>
                <a:cs typeface="Calibri" pitchFamily="34" charset="-120"/>
              </a:rPr>
              <a:t>and a $3,500 coach share</a:t>
            </a:r>
            <a:endParaRPr lang="en-US" sz="750" dirty="0"/>
          </a:p>
          <a:p>
            <a:pPr indent="0" marL="0">
              <a:lnSpc>
                <a:spcPts val="950"/>
              </a:lnSpc>
              <a:buNone/>
            </a:pPr>
            <a:r>
              <a:rPr lang="en-US" sz="750" i="1" dirty="0">
                <a:solidFill>
                  <a:srgbClr val="7A7291"/>
                </a:solidFill>
                <a:latin typeface="Calibri" pitchFamily="34" charset="0"/>
                <a:ea typeface="Calibri" pitchFamily="34" charset="-122"/>
                <a:cs typeface="Calibri" pitchFamily="34" charset="-120"/>
              </a:rPr>
              <a:t>one axis.</a:t>
            </a:r>
            <a:endParaRPr lang="en-US" sz="750" dirty="0"/>
          </a:p>
        </p:txBody>
      </p:sp>
      <p:sp>
        <p:nvSpPr>
          <p:cNvPr id="58" name="Shape 56"/>
          <p:cNvSpPr/>
          <p:nvPr/>
        </p:nvSpPr>
        <p:spPr>
          <a:xfrm>
            <a:off x="640080" y="6364224"/>
            <a:ext cx="10607040" cy="365760"/>
          </a:xfrm>
          <a:prstGeom prst="roundRect">
            <a:avLst>
              <a:gd name="adj" fmla="val 25000"/>
            </a:avLst>
          </a:prstGeom>
          <a:solidFill>
            <a:srgbClr val="FBF3E0"/>
          </a:solidFill>
          <a:ln/>
        </p:spPr>
      </p:sp>
      <p:sp>
        <p:nvSpPr>
          <p:cNvPr id="59" name="Text 57"/>
          <p:cNvSpPr/>
          <p:nvPr/>
        </p:nvSpPr>
        <p:spPr>
          <a:xfrm>
            <a:off x="859536" y="6364224"/>
            <a:ext cx="10149840" cy="365760"/>
          </a:xfrm>
          <a:prstGeom prst="rect">
            <a:avLst/>
          </a:prstGeom>
          <a:noFill/>
          <a:ln/>
        </p:spPr>
        <p:txBody>
          <a:bodyPr wrap="square" lIns="0" tIns="0" rIns="0" bIns="0" rtlCol="0" anchor="ctr"/>
          <a:lstStyle/>
          <a:p>
            <a:pPr indent="0" marL="0">
              <a:buNone/>
            </a:pPr>
            <a:r>
              <a:rPr lang="en-US" sz="950" b="1" dirty="0">
                <a:solidFill>
                  <a:srgbClr val="8A5B00"/>
                </a:solidFill>
                <a:latin typeface="Calibri" pitchFamily="34" charset="0"/>
                <a:ea typeface="Calibri" pitchFamily="34" charset="-122"/>
                <a:cs typeface="Calibri" pitchFamily="34" charset="-120"/>
              </a:rPr>
              <a:t>⚠ Verify before showing externally:  </a:t>
            </a:r>
            <a:pPr indent="0" marL="0">
              <a:buNone/>
            </a:pPr>
            <a:r>
              <a:rPr lang="en-US" sz="950" dirty="0">
                <a:solidFill>
                  <a:srgbClr val="8A5B00"/>
                </a:solidFill>
                <a:latin typeface="Calibri" pitchFamily="34" charset="0"/>
                <a:ea typeface="Calibri" pitchFamily="34" charset="-122"/>
                <a:cs typeface="Calibri" pitchFamily="34" charset="-120"/>
              </a:rPr>
              <a:t>these benchmark prices are from working knowledge, not from live pricing pages pulled today. Atom and Kumon in particular vary by region and change often. Check each before this slide leaves the building.</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02336"/>
            <a:ext cx="7315200" cy="256032"/>
          </a:xfrm>
          <a:prstGeom prst="rect">
            <a:avLst/>
          </a:prstGeom>
          <a:noFill/>
          <a:ln/>
        </p:spPr>
        <p:txBody>
          <a:bodyPr wrap="square" lIns="0" tIns="0" rIns="0" bIns="0" rtlCol="0" anchor="ctr"/>
          <a:lstStyle/>
          <a:p>
            <a:pPr indent="0" marL="0">
              <a:buNone/>
            </a:pPr>
            <a:r>
              <a:rPr lang="en-US" sz="1150" b="1" spc="240" kern="0" dirty="0">
                <a:solidFill>
                  <a:srgbClr val="6C4FE0"/>
                </a:solidFill>
                <a:latin typeface="Calibri" pitchFamily="34" charset="0"/>
                <a:ea typeface="Calibri" pitchFamily="34" charset="-122"/>
                <a:cs typeface="Calibri" pitchFamily="34" charset="-120"/>
              </a:rPr>
              <a:t>SUBSCRIPTION MODELS</a:t>
            </a:r>
            <a:endParaRPr lang="en-US" sz="1150" dirty="0"/>
          </a:p>
        </p:txBody>
      </p:sp>
      <p:sp>
        <p:nvSpPr>
          <p:cNvPr id="3" name="Text 1"/>
          <p:cNvSpPr/>
          <p:nvPr/>
        </p:nvSpPr>
        <p:spPr>
          <a:xfrm>
            <a:off x="640080" y="694944"/>
            <a:ext cx="10607040" cy="749808"/>
          </a:xfrm>
          <a:prstGeom prst="rect">
            <a:avLst/>
          </a:prstGeom>
          <a:noFill/>
          <a:ln/>
        </p:spPr>
        <p:txBody>
          <a:bodyPr wrap="square" lIns="0" tIns="0" rIns="0" bIns="0" rtlCol="0" anchor="ctr"/>
          <a:lstStyle/>
          <a:p>
            <a:pPr indent="0" marL="0">
              <a:buNone/>
            </a:pPr>
            <a:r>
              <a:rPr lang="en-US" sz="2900" b="1" dirty="0">
                <a:solidFill>
                  <a:srgbClr val="241E33"/>
                </a:solidFill>
                <a:latin typeface="Cambria" pitchFamily="34" charset="0"/>
                <a:ea typeface="Cambria" pitchFamily="34" charset="-122"/>
                <a:cs typeface="Cambria" pitchFamily="34" charset="-120"/>
              </a:rPr>
              <a:t>What each product charges</a:t>
            </a:r>
            <a:endParaRPr lang="en-US" sz="2900" dirty="0"/>
          </a:p>
        </p:txBody>
      </p:sp>
      <p:sp>
        <p:nvSpPr>
          <p:cNvPr id="4" name="Text 2"/>
          <p:cNvSpPr/>
          <p:nvPr/>
        </p:nvSpPr>
        <p:spPr>
          <a:xfrm>
            <a:off x="640080" y="1444752"/>
            <a:ext cx="10607040" cy="475488"/>
          </a:xfrm>
          <a:prstGeom prst="rect">
            <a:avLst/>
          </a:prstGeom>
          <a:noFill/>
          <a:ln/>
        </p:spPr>
        <p:txBody>
          <a:bodyPr wrap="square" lIns="0" tIns="0" rIns="0" bIns="0" rtlCol="0" anchor="ctr"/>
          <a:lstStyle/>
          <a:p>
            <a:pPr indent="0" marL="0">
              <a:buNone/>
            </a:pPr>
            <a:r>
              <a:rPr lang="en-US" sz="1450" dirty="0">
                <a:solidFill>
                  <a:srgbClr val="7A7291"/>
                </a:solidFill>
                <a:latin typeface="Calibri" pitchFamily="34" charset="0"/>
                <a:ea typeface="Calibri" pitchFamily="34" charset="-122"/>
                <a:cs typeface="Calibri" pitchFamily="34" charset="-120"/>
              </a:rPr>
              <a:t>Every price is annual and billed up front. That single billing choice is what puts the cash in before the cost goes out.</a:t>
            </a:r>
            <a:endParaRPr lang="en-US" sz="1450" dirty="0"/>
          </a:p>
        </p:txBody>
      </p:sp>
      <p:sp>
        <p:nvSpPr>
          <p:cNvPr id="5" name="Shape 3"/>
          <p:cNvSpPr/>
          <p:nvPr/>
        </p:nvSpPr>
        <p:spPr>
          <a:xfrm>
            <a:off x="512064" y="2029968"/>
            <a:ext cx="10954512" cy="448056"/>
          </a:xfrm>
          <a:prstGeom prst="roundRect">
            <a:avLst>
              <a:gd name="adj" fmla="val 18367"/>
            </a:avLst>
          </a:prstGeom>
          <a:solidFill>
            <a:srgbClr val="EFEBF8"/>
          </a:solidFill>
          <a:ln/>
        </p:spPr>
      </p:sp>
      <p:sp>
        <p:nvSpPr>
          <p:cNvPr id="6" name="Text 4"/>
          <p:cNvSpPr/>
          <p:nvPr/>
        </p:nvSpPr>
        <p:spPr>
          <a:xfrm>
            <a:off x="640080" y="2066544"/>
            <a:ext cx="2240280" cy="384048"/>
          </a:xfrm>
          <a:prstGeom prst="rect">
            <a:avLst/>
          </a:prstGeom>
          <a:noFill/>
          <a:ln/>
        </p:spPr>
        <p:txBody>
          <a:bodyPr wrap="square" lIns="0" tIns="0" rIns="0" bIns="0" rtlCol="0" anchor="ctr"/>
          <a:lstStyle/>
          <a:p>
            <a:pPr indent="0" marL="0">
              <a:buNone/>
            </a:pPr>
            <a:r>
              <a:rPr lang="en-US" sz="1200" b="1" dirty="0">
                <a:solidFill>
                  <a:srgbClr val="241E33"/>
                </a:solidFill>
                <a:latin typeface="Cambria" pitchFamily="34" charset="0"/>
                <a:ea typeface="Cambria" pitchFamily="34" charset="-122"/>
                <a:cs typeface="Cambria" pitchFamily="34" charset="-120"/>
              </a:rPr>
              <a:t>Bizzing Bee</a:t>
            </a:r>
            <a:endParaRPr lang="en-US" sz="1200" dirty="0"/>
          </a:p>
        </p:txBody>
      </p:sp>
      <p:sp>
        <p:nvSpPr>
          <p:cNvPr id="7" name="Text 5"/>
          <p:cNvSpPr/>
          <p:nvPr/>
        </p:nvSpPr>
        <p:spPr>
          <a:xfrm>
            <a:off x="2926080" y="2066544"/>
            <a:ext cx="1371600" cy="384048"/>
          </a:xfrm>
          <a:prstGeom prst="rect">
            <a:avLst/>
          </a:prstGeom>
          <a:noFill/>
          <a:ln/>
        </p:spPr>
        <p:txBody>
          <a:bodyPr wrap="square" lIns="0" tIns="0" rIns="0" bIns="0" rtlCol="0" anchor="ctr"/>
          <a:lstStyle/>
          <a:p>
            <a:pPr indent="0" marL="0">
              <a:buNone/>
            </a:pPr>
            <a:r>
              <a:rPr lang="en-US" sz="950" i="1" dirty="0">
                <a:solidFill>
                  <a:srgbClr val="7A7291"/>
                </a:solidFill>
                <a:latin typeface="Calibri" pitchFamily="34" charset="0"/>
                <a:ea typeface="Calibri" pitchFamily="34" charset="-122"/>
                <a:cs typeface="Calibri" pitchFamily="34" charset="-120"/>
              </a:rPr>
              <a:t>Free</a:t>
            </a:r>
            <a:endParaRPr lang="en-US" sz="950" dirty="0"/>
          </a:p>
        </p:txBody>
      </p:sp>
      <p:sp>
        <p:nvSpPr>
          <p:cNvPr id="8" name="Text 6"/>
          <p:cNvSpPr/>
          <p:nvPr/>
        </p:nvSpPr>
        <p:spPr>
          <a:xfrm>
            <a:off x="4343400" y="2066544"/>
            <a:ext cx="1280160" cy="384048"/>
          </a:xfrm>
          <a:prstGeom prst="rect">
            <a:avLst/>
          </a:prstGeom>
          <a:noFill/>
          <a:ln/>
        </p:spPr>
        <p:txBody>
          <a:bodyPr wrap="square" lIns="0" tIns="0" rIns="0" bIns="0" rtlCol="0" anchor="ctr"/>
          <a:lstStyle/>
          <a:p>
            <a:pPr algn="r" indent="0" marL="0">
              <a:buNone/>
            </a:pPr>
            <a:r>
              <a:rPr lang="en-US" sz="1200" b="1" dirty="0">
                <a:solidFill>
                  <a:srgbClr val="8A5B00"/>
                </a:solidFill>
                <a:latin typeface="Calibri" pitchFamily="34" charset="0"/>
                <a:ea typeface="Calibri" pitchFamily="34" charset="-122"/>
                <a:cs typeface="Calibri" pitchFamily="34" charset="-120"/>
              </a:rPr>
              <a:t>$0</a:t>
            </a:r>
            <a:endParaRPr lang="en-US" sz="1200" dirty="0"/>
          </a:p>
        </p:txBody>
      </p:sp>
      <p:sp>
        <p:nvSpPr>
          <p:cNvPr id="9" name="Text 7"/>
          <p:cNvSpPr/>
          <p:nvPr/>
        </p:nvSpPr>
        <p:spPr>
          <a:xfrm>
            <a:off x="5852160" y="2066544"/>
            <a:ext cx="5303520" cy="384048"/>
          </a:xfrm>
          <a:prstGeom prst="rect">
            <a:avLst/>
          </a:prstGeom>
          <a:noFill/>
          <a:ln/>
        </p:spPr>
        <p:txBody>
          <a:bodyPr wrap="square" lIns="0" tIns="0" rIns="0" bIns="0" rtlCol="0" anchor="ctr"/>
          <a:lstStyle/>
          <a:p>
            <a:pPr indent="0" marL="0">
              <a:buNone/>
            </a:pPr>
            <a:r>
              <a:rPr lang="en-US" sz="950" dirty="0">
                <a:solidFill>
                  <a:srgbClr val="4A4360"/>
                </a:solidFill>
                <a:latin typeface="Calibri" pitchFamily="34" charset="0"/>
                <a:ea typeface="Calibri" pitchFamily="34" charset="-122"/>
                <a:cs typeface="Calibri" pitchFamily="34" charset="-120"/>
              </a:rPr>
              <a:t>Full library, journey, arcade. Most families never pay — and that is what makes them trust us.</a:t>
            </a:r>
            <a:endParaRPr lang="en-US" sz="950" dirty="0"/>
          </a:p>
        </p:txBody>
      </p:sp>
      <p:sp>
        <p:nvSpPr>
          <p:cNvPr id="10" name="Text 8"/>
          <p:cNvSpPr/>
          <p:nvPr/>
        </p:nvSpPr>
        <p:spPr>
          <a:xfrm>
            <a:off x="640080" y="2542032"/>
            <a:ext cx="2240280" cy="384048"/>
          </a:xfrm>
          <a:prstGeom prst="rect">
            <a:avLst/>
          </a:prstGeom>
          <a:noFill/>
          <a:ln/>
        </p:spPr>
        <p:txBody>
          <a:bodyPr wrap="square" lIns="0" tIns="0" rIns="0" bIns="0" rtlCol="0" anchor="ctr"/>
          <a:lstStyle/>
          <a:p>
            <a:pPr indent="0" marL="0">
              <a:buNone/>
            </a:pPr>
            <a:r>
              <a:rPr lang="en-US" sz="1200" b="1" dirty="0">
                <a:solidFill>
                  <a:srgbClr val="6C4FE0"/>
                </a:solidFill>
                <a:latin typeface="Cambria" pitchFamily="34" charset="0"/>
                <a:ea typeface="Cambria" pitchFamily="34" charset="-122"/>
                <a:cs typeface="Cambria" pitchFamily="34" charset="-120"/>
              </a:rPr>
              <a:t>Bee Plus</a:t>
            </a:r>
            <a:endParaRPr lang="en-US" sz="1200" dirty="0"/>
          </a:p>
        </p:txBody>
      </p:sp>
      <p:sp>
        <p:nvSpPr>
          <p:cNvPr id="11" name="Text 9"/>
          <p:cNvSpPr/>
          <p:nvPr/>
        </p:nvSpPr>
        <p:spPr>
          <a:xfrm>
            <a:off x="2926080" y="2542032"/>
            <a:ext cx="1371600" cy="384048"/>
          </a:xfrm>
          <a:prstGeom prst="rect">
            <a:avLst/>
          </a:prstGeom>
          <a:noFill/>
          <a:ln/>
        </p:spPr>
        <p:txBody>
          <a:bodyPr wrap="square" lIns="0" tIns="0" rIns="0" bIns="0" rtlCol="0" anchor="ctr"/>
          <a:lstStyle/>
          <a:p>
            <a:pPr indent="0" marL="0">
              <a:buNone/>
            </a:pPr>
            <a:r>
              <a:rPr lang="en-US" sz="950" i="1" dirty="0">
                <a:solidFill>
                  <a:srgbClr val="7A7291"/>
                </a:solidFill>
                <a:latin typeface="Calibri" pitchFamily="34" charset="0"/>
                <a:ea typeface="Calibri" pitchFamily="34" charset="-122"/>
                <a:cs typeface="Calibri" pitchFamily="34" charset="-120"/>
              </a:rPr>
              <a:t>Subscription</a:t>
            </a:r>
            <a:endParaRPr lang="en-US" sz="950" dirty="0"/>
          </a:p>
        </p:txBody>
      </p:sp>
      <p:sp>
        <p:nvSpPr>
          <p:cNvPr id="12" name="Text 10"/>
          <p:cNvSpPr/>
          <p:nvPr/>
        </p:nvSpPr>
        <p:spPr>
          <a:xfrm>
            <a:off x="4343400" y="2542032"/>
            <a:ext cx="1280160" cy="384048"/>
          </a:xfrm>
          <a:prstGeom prst="rect">
            <a:avLst/>
          </a:prstGeom>
          <a:noFill/>
          <a:ln/>
        </p:spPr>
        <p:txBody>
          <a:bodyPr wrap="square" lIns="0" tIns="0" rIns="0" bIns="0" rtlCol="0" anchor="ctr"/>
          <a:lstStyle/>
          <a:p>
            <a:pPr algn="r" indent="0" marL="0">
              <a:buNone/>
            </a:pPr>
            <a:r>
              <a:rPr lang="en-US" sz="1200" b="1" dirty="0">
                <a:solidFill>
                  <a:srgbClr val="6C4FE0"/>
                </a:solidFill>
                <a:latin typeface="Calibri" pitchFamily="34" charset="0"/>
                <a:ea typeface="Calibri" pitchFamily="34" charset="-122"/>
                <a:cs typeface="Calibri" pitchFamily="34" charset="-120"/>
              </a:rPr>
              <a:t>$149 / yr</a:t>
            </a:r>
            <a:endParaRPr lang="en-US" sz="1200" dirty="0"/>
          </a:p>
        </p:txBody>
      </p:sp>
      <p:sp>
        <p:nvSpPr>
          <p:cNvPr id="13" name="Text 11"/>
          <p:cNvSpPr/>
          <p:nvPr/>
        </p:nvSpPr>
        <p:spPr>
          <a:xfrm>
            <a:off x="5852160" y="2542032"/>
            <a:ext cx="5303520" cy="384048"/>
          </a:xfrm>
          <a:prstGeom prst="rect">
            <a:avLst/>
          </a:prstGeom>
          <a:noFill/>
          <a:ln/>
        </p:spPr>
        <p:txBody>
          <a:bodyPr wrap="square" lIns="0" tIns="0" rIns="0" bIns="0" rtlCol="0" anchor="ctr"/>
          <a:lstStyle/>
          <a:p>
            <a:pPr indent="0" marL="0">
              <a:buNone/>
            </a:pPr>
            <a:r>
              <a:rPr lang="en-US" sz="950" dirty="0">
                <a:solidFill>
                  <a:srgbClr val="4A4360"/>
                </a:solidFill>
                <a:latin typeface="Calibri" pitchFamily="34" charset="0"/>
                <a:ea typeface="Calibri" pitchFamily="34" charset="-122"/>
                <a:cs typeface="Calibri" pitchFamily="34" charset="-120"/>
              </a:rPr>
              <a:t>One twenty-third of a weekly bee coach. The default upgrade.</a:t>
            </a:r>
            <a:endParaRPr lang="en-US" sz="950" dirty="0"/>
          </a:p>
        </p:txBody>
      </p:sp>
      <p:sp>
        <p:nvSpPr>
          <p:cNvPr id="14" name="Shape 12"/>
          <p:cNvSpPr/>
          <p:nvPr/>
        </p:nvSpPr>
        <p:spPr>
          <a:xfrm>
            <a:off x="512064" y="2980944"/>
            <a:ext cx="10954512" cy="448056"/>
          </a:xfrm>
          <a:prstGeom prst="roundRect">
            <a:avLst>
              <a:gd name="adj" fmla="val 18367"/>
            </a:avLst>
          </a:prstGeom>
          <a:solidFill>
            <a:srgbClr val="EFEBF8"/>
          </a:solidFill>
          <a:ln/>
        </p:spPr>
      </p:sp>
      <p:sp>
        <p:nvSpPr>
          <p:cNvPr id="15" name="Text 13"/>
          <p:cNvSpPr/>
          <p:nvPr/>
        </p:nvSpPr>
        <p:spPr>
          <a:xfrm>
            <a:off x="640080" y="3017520"/>
            <a:ext cx="2240280" cy="384048"/>
          </a:xfrm>
          <a:prstGeom prst="rect">
            <a:avLst/>
          </a:prstGeom>
          <a:noFill/>
          <a:ln/>
        </p:spPr>
        <p:txBody>
          <a:bodyPr wrap="square" lIns="0" tIns="0" rIns="0" bIns="0" rtlCol="0" anchor="ctr"/>
          <a:lstStyle/>
          <a:p>
            <a:pPr indent="0" marL="0">
              <a:buNone/>
            </a:pPr>
            <a:r>
              <a:rPr lang="en-US" sz="1200" b="1" dirty="0">
                <a:solidFill>
                  <a:srgbClr val="6C4FE0"/>
                </a:solidFill>
                <a:latin typeface="Cambria" pitchFamily="34" charset="0"/>
                <a:ea typeface="Cambria" pitchFamily="34" charset="-122"/>
                <a:cs typeface="Cambria" pitchFamily="34" charset="-120"/>
              </a:rPr>
              <a:t>Advanced Pack</a:t>
            </a:r>
            <a:endParaRPr lang="en-US" sz="1200" dirty="0"/>
          </a:p>
        </p:txBody>
      </p:sp>
      <p:sp>
        <p:nvSpPr>
          <p:cNvPr id="16" name="Text 14"/>
          <p:cNvSpPr/>
          <p:nvPr/>
        </p:nvSpPr>
        <p:spPr>
          <a:xfrm>
            <a:off x="2926080" y="3017520"/>
            <a:ext cx="1371600" cy="384048"/>
          </a:xfrm>
          <a:prstGeom prst="rect">
            <a:avLst/>
          </a:prstGeom>
          <a:noFill/>
          <a:ln/>
        </p:spPr>
        <p:txBody>
          <a:bodyPr wrap="square" lIns="0" tIns="0" rIns="0" bIns="0" rtlCol="0" anchor="ctr"/>
          <a:lstStyle/>
          <a:p>
            <a:pPr indent="0" marL="0">
              <a:buNone/>
            </a:pPr>
            <a:r>
              <a:rPr lang="en-US" sz="950" i="1" dirty="0">
                <a:solidFill>
                  <a:srgbClr val="7A7291"/>
                </a:solidFill>
                <a:latin typeface="Calibri" pitchFamily="34" charset="0"/>
                <a:ea typeface="Calibri" pitchFamily="34" charset="-122"/>
                <a:cs typeface="Calibri" pitchFamily="34" charset="-120"/>
              </a:rPr>
              <a:t>Subscription</a:t>
            </a:r>
            <a:endParaRPr lang="en-US" sz="950" dirty="0"/>
          </a:p>
        </p:txBody>
      </p:sp>
      <p:sp>
        <p:nvSpPr>
          <p:cNvPr id="17" name="Text 15"/>
          <p:cNvSpPr/>
          <p:nvPr/>
        </p:nvSpPr>
        <p:spPr>
          <a:xfrm>
            <a:off x="4343400" y="3017520"/>
            <a:ext cx="1280160" cy="384048"/>
          </a:xfrm>
          <a:prstGeom prst="rect">
            <a:avLst/>
          </a:prstGeom>
          <a:noFill/>
          <a:ln/>
        </p:spPr>
        <p:txBody>
          <a:bodyPr wrap="square" lIns="0" tIns="0" rIns="0" bIns="0" rtlCol="0" anchor="ctr"/>
          <a:lstStyle/>
          <a:p>
            <a:pPr algn="r" indent="0" marL="0">
              <a:buNone/>
            </a:pPr>
            <a:r>
              <a:rPr lang="en-US" sz="1200" b="1" dirty="0">
                <a:solidFill>
                  <a:srgbClr val="6C4FE0"/>
                </a:solidFill>
                <a:latin typeface="Calibri" pitchFamily="34" charset="0"/>
                <a:ea typeface="Calibri" pitchFamily="34" charset="-122"/>
                <a:cs typeface="Calibri" pitchFamily="34" charset="-120"/>
              </a:rPr>
              <a:t>$399 / yr</a:t>
            </a:r>
            <a:endParaRPr lang="en-US" sz="1200" dirty="0"/>
          </a:p>
        </p:txBody>
      </p:sp>
      <p:sp>
        <p:nvSpPr>
          <p:cNvPr id="18" name="Text 16"/>
          <p:cNvSpPr/>
          <p:nvPr/>
        </p:nvSpPr>
        <p:spPr>
          <a:xfrm>
            <a:off x="5852160" y="3017520"/>
            <a:ext cx="5303520" cy="384048"/>
          </a:xfrm>
          <a:prstGeom prst="rect">
            <a:avLst/>
          </a:prstGeom>
          <a:noFill/>
          <a:ln/>
        </p:spPr>
        <p:txBody>
          <a:bodyPr wrap="square" lIns="0" tIns="0" rIns="0" bIns="0" rtlCol="0" anchor="ctr"/>
          <a:lstStyle/>
          <a:p>
            <a:pPr indent="0" marL="0">
              <a:buNone/>
            </a:pPr>
            <a:r>
              <a:rPr lang="en-US" sz="950" dirty="0">
                <a:solidFill>
                  <a:srgbClr val="4A4360"/>
                </a:solidFill>
                <a:latin typeface="Calibri" pitchFamily="34" charset="0"/>
                <a:ea typeface="Calibri" pitchFamily="34" charset="-122"/>
                <a:cs typeface="Calibri" pitchFamily="34" charset="-120"/>
              </a:rPr>
              <a:t>The champion track. Sits against Hexco packages and coaching, not against apps.</a:t>
            </a:r>
            <a:endParaRPr lang="en-US" sz="950" dirty="0"/>
          </a:p>
        </p:txBody>
      </p:sp>
      <p:sp>
        <p:nvSpPr>
          <p:cNvPr id="19" name="Text 17"/>
          <p:cNvSpPr/>
          <p:nvPr/>
        </p:nvSpPr>
        <p:spPr>
          <a:xfrm>
            <a:off x="640080" y="3493008"/>
            <a:ext cx="2240280" cy="384048"/>
          </a:xfrm>
          <a:prstGeom prst="rect">
            <a:avLst/>
          </a:prstGeom>
          <a:noFill/>
          <a:ln/>
        </p:spPr>
        <p:txBody>
          <a:bodyPr wrap="square" lIns="0" tIns="0" rIns="0" bIns="0" rtlCol="0" anchor="ctr"/>
          <a:lstStyle/>
          <a:p>
            <a:pPr indent="0" marL="0">
              <a:buNone/>
            </a:pPr>
            <a:r>
              <a:rPr lang="en-US" sz="1200" b="1" dirty="0">
                <a:solidFill>
                  <a:srgbClr val="241E33"/>
                </a:solidFill>
                <a:latin typeface="Cambria" pitchFamily="34" charset="0"/>
                <a:ea typeface="Cambria" pitchFamily="34" charset="-122"/>
                <a:cs typeface="Cambria" pitchFamily="34" charset="-120"/>
              </a:rPr>
              <a:t>Bizzing Eleven</a:t>
            </a:r>
            <a:endParaRPr lang="en-US" sz="1200" dirty="0"/>
          </a:p>
        </p:txBody>
      </p:sp>
      <p:sp>
        <p:nvSpPr>
          <p:cNvPr id="20" name="Text 18"/>
          <p:cNvSpPr/>
          <p:nvPr/>
        </p:nvSpPr>
        <p:spPr>
          <a:xfrm>
            <a:off x="2926080" y="3493008"/>
            <a:ext cx="1371600" cy="384048"/>
          </a:xfrm>
          <a:prstGeom prst="rect">
            <a:avLst/>
          </a:prstGeom>
          <a:noFill/>
          <a:ln/>
        </p:spPr>
        <p:txBody>
          <a:bodyPr wrap="square" lIns="0" tIns="0" rIns="0" bIns="0" rtlCol="0" anchor="ctr"/>
          <a:lstStyle/>
          <a:p>
            <a:pPr indent="0" marL="0">
              <a:buNone/>
            </a:pPr>
            <a:r>
              <a:rPr lang="en-US" sz="950" i="1" dirty="0">
                <a:solidFill>
                  <a:srgbClr val="7A7291"/>
                </a:solidFill>
                <a:latin typeface="Calibri" pitchFamily="34" charset="0"/>
                <a:ea typeface="Calibri" pitchFamily="34" charset="-122"/>
                <a:cs typeface="Calibri" pitchFamily="34" charset="-120"/>
              </a:rPr>
              <a:t>Exam year</a:t>
            </a:r>
            <a:endParaRPr lang="en-US" sz="950" dirty="0"/>
          </a:p>
        </p:txBody>
      </p:sp>
      <p:sp>
        <p:nvSpPr>
          <p:cNvPr id="21" name="Text 19"/>
          <p:cNvSpPr/>
          <p:nvPr/>
        </p:nvSpPr>
        <p:spPr>
          <a:xfrm>
            <a:off x="4343400" y="3493008"/>
            <a:ext cx="1280160" cy="384048"/>
          </a:xfrm>
          <a:prstGeom prst="rect">
            <a:avLst/>
          </a:prstGeom>
          <a:noFill/>
          <a:ln/>
        </p:spPr>
        <p:txBody>
          <a:bodyPr wrap="square" lIns="0" tIns="0" rIns="0" bIns="0" rtlCol="0" anchor="ctr"/>
          <a:lstStyle/>
          <a:p>
            <a:pPr algn="r" indent="0" marL="0">
              <a:buNone/>
            </a:pPr>
            <a:r>
              <a:rPr lang="en-US" sz="1200" b="1" dirty="0">
                <a:solidFill>
                  <a:srgbClr val="8A5B00"/>
                </a:solidFill>
                <a:latin typeface="Calibri" pitchFamily="34" charset="0"/>
                <a:ea typeface="Calibri" pitchFamily="34" charset="-122"/>
                <a:cs typeface="Calibri" pitchFamily="34" charset="-120"/>
              </a:rPr>
              <a:t>$349 / yr</a:t>
            </a:r>
            <a:endParaRPr lang="en-US" sz="1200" dirty="0"/>
          </a:p>
        </p:txBody>
      </p:sp>
      <p:sp>
        <p:nvSpPr>
          <p:cNvPr id="22" name="Text 20"/>
          <p:cNvSpPr/>
          <p:nvPr/>
        </p:nvSpPr>
        <p:spPr>
          <a:xfrm>
            <a:off x="5852160" y="3493008"/>
            <a:ext cx="5303520" cy="384048"/>
          </a:xfrm>
          <a:prstGeom prst="rect">
            <a:avLst/>
          </a:prstGeom>
          <a:noFill/>
          <a:ln/>
        </p:spPr>
        <p:txBody>
          <a:bodyPr wrap="square" lIns="0" tIns="0" rIns="0" bIns="0" rtlCol="0" anchor="ctr"/>
          <a:lstStyle/>
          <a:p>
            <a:pPr indent="0" marL="0">
              <a:buNone/>
            </a:pPr>
            <a:r>
              <a:rPr lang="en-US" sz="950" dirty="0">
                <a:solidFill>
                  <a:srgbClr val="4A4360"/>
                </a:solidFill>
                <a:latin typeface="Calibri" pitchFamily="34" charset="0"/>
                <a:ea typeface="Calibri" pitchFamily="34" charset="-122"/>
                <a:cs typeface="Calibri" pitchFamily="34" charset="-120"/>
              </a:rPr>
              <a:t>Atom Learning is ~$400 and does not speak every word. 11+ tutoring is ten times this.</a:t>
            </a:r>
            <a:endParaRPr lang="en-US" sz="950" dirty="0"/>
          </a:p>
        </p:txBody>
      </p:sp>
      <p:sp>
        <p:nvSpPr>
          <p:cNvPr id="23" name="Shape 21"/>
          <p:cNvSpPr/>
          <p:nvPr/>
        </p:nvSpPr>
        <p:spPr>
          <a:xfrm>
            <a:off x="512064" y="3931920"/>
            <a:ext cx="10954512" cy="448056"/>
          </a:xfrm>
          <a:prstGeom prst="roundRect">
            <a:avLst>
              <a:gd name="adj" fmla="val 18367"/>
            </a:avLst>
          </a:prstGeom>
          <a:solidFill>
            <a:srgbClr val="EFEBF8"/>
          </a:solidFill>
          <a:ln/>
        </p:spPr>
      </p:sp>
      <p:sp>
        <p:nvSpPr>
          <p:cNvPr id="24" name="Text 22"/>
          <p:cNvSpPr/>
          <p:nvPr/>
        </p:nvSpPr>
        <p:spPr>
          <a:xfrm>
            <a:off x="640080" y="3968496"/>
            <a:ext cx="2240280" cy="384048"/>
          </a:xfrm>
          <a:prstGeom prst="rect">
            <a:avLst/>
          </a:prstGeom>
          <a:noFill/>
          <a:ln/>
        </p:spPr>
        <p:txBody>
          <a:bodyPr wrap="square" lIns="0" tIns="0" rIns="0" bIns="0" rtlCol="0" anchor="ctr"/>
          <a:lstStyle/>
          <a:p>
            <a:pPr indent="0" marL="0">
              <a:buNone/>
            </a:pPr>
            <a:r>
              <a:rPr lang="en-US" sz="1200" b="1" dirty="0">
                <a:solidFill>
                  <a:srgbClr val="241E33"/>
                </a:solidFill>
                <a:latin typeface="Cambria" pitchFamily="34" charset="0"/>
                <a:ea typeface="Cambria" pitchFamily="34" charset="-122"/>
                <a:cs typeface="Cambria" pitchFamily="34" charset="-120"/>
              </a:rPr>
              <a:t>Bizzing Bhasha</a:t>
            </a:r>
            <a:endParaRPr lang="en-US" sz="1200" dirty="0"/>
          </a:p>
        </p:txBody>
      </p:sp>
      <p:sp>
        <p:nvSpPr>
          <p:cNvPr id="25" name="Text 23"/>
          <p:cNvSpPr/>
          <p:nvPr/>
        </p:nvSpPr>
        <p:spPr>
          <a:xfrm>
            <a:off x="2926080" y="3968496"/>
            <a:ext cx="1371600" cy="384048"/>
          </a:xfrm>
          <a:prstGeom prst="rect">
            <a:avLst/>
          </a:prstGeom>
          <a:noFill/>
          <a:ln/>
        </p:spPr>
        <p:txBody>
          <a:bodyPr wrap="square" lIns="0" tIns="0" rIns="0" bIns="0" rtlCol="0" anchor="ctr"/>
          <a:lstStyle/>
          <a:p>
            <a:pPr indent="0" marL="0">
              <a:buNone/>
            </a:pPr>
            <a:r>
              <a:rPr lang="en-US" sz="950" i="1" dirty="0">
                <a:solidFill>
                  <a:srgbClr val="7A7291"/>
                </a:solidFill>
                <a:latin typeface="Calibri" pitchFamily="34" charset="0"/>
                <a:ea typeface="Calibri" pitchFamily="34" charset="-122"/>
                <a:cs typeface="Calibri" pitchFamily="34" charset="-120"/>
              </a:rPr>
              <a:t>Per language</a:t>
            </a:r>
            <a:endParaRPr lang="en-US" sz="950" dirty="0"/>
          </a:p>
        </p:txBody>
      </p:sp>
      <p:sp>
        <p:nvSpPr>
          <p:cNvPr id="26" name="Text 24"/>
          <p:cNvSpPr/>
          <p:nvPr/>
        </p:nvSpPr>
        <p:spPr>
          <a:xfrm>
            <a:off x="4343400" y="3968496"/>
            <a:ext cx="1280160" cy="384048"/>
          </a:xfrm>
          <a:prstGeom prst="rect">
            <a:avLst/>
          </a:prstGeom>
          <a:noFill/>
          <a:ln/>
        </p:spPr>
        <p:txBody>
          <a:bodyPr wrap="square" lIns="0" tIns="0" rIns="0" bIns="0" rtlCol="0" anchor="ctr"/>
          <a:lstStyle/>
          <a:p>
            <a:pPr algn="r" indent="0" marL="0">
              <a:buNone/>
            </a:pPr>
            <a:r>
              <a:rPr lang="en-US" sz="1200" b="1" dirty="0">
                <a:solidFill>
                  <a:srgbClr val="8A5B00"/>
                </a:solidFill>
                <a:latin typeface="Calibri" pitchFamily="34" charset="0"/>
                <a:ea typeface="Calibri" pitchFamily="34" charset="-122"/>
                <a:cs typeface="Calibri" pitchFamily="34" charset="-120"/>
              </a:rPr>
              <a:t>$199 / yr</a:t>
            </a:r>
            <a:endParaRPr lang="en-US" sz="1200" dirty="0"/>
          </a:p>
        </p:txBody>
      </p:sp>
      <p:sp>
        <p:nvSpPr>
          <p:cNvPr id="27" name="Text 25"/>
          <p:cNvSpPr/>
          <p:nvPr/>
        </p:nvSpPr>
        <p:spPr>
          <a:xfrm>
            <a:off x="5852160" y="3968496"/>
            <a:ext cx="5303520" cy="384048"/>
          </a:xfrm>
          <a:prstGeom prst="rect">
            <a:avLst/>
          </a:prstGeom>
          <a:noFill/>
          <a:ln/>
        </p:spPr>
        <p:txBody>
          <a:bodyPr wrap="square" lIns="0" tIns="0" rIns="0" bIns="0" rtlCol="0" anchor="ctr"/>
          <a:lstStyle/>
          <a:p>
            <a:pPr indent="0" marL="0">
              <a:buNone/>
            </a:pPr>
            <a:r>
              <a:rPr lang="en-US" sz="950" dirty="0">
                <a:solidFill>
                  <a:srgbClr val="4A4360"/>
                </a:solidFill>
                <a:latin typeface="Calibri" pitchFamily="34" charset="0"/>
                <a:ea typeface="Calibri" pitchFamily="34" charset="-122"/>
                <a:cs typeface="Calibri" pitchFamily="34" charset="-120"/>
              </a:rPr>
              <a:t>Heritage-language tutoring runs $40–60 an hour. Nothing comparable exists as software.</a:t>
            </a:r>
            <a:endParaRPr lang="en-US" sz="950" dirty="0"/>
          </a:p>
        </p:txBody>
      </p:sp>
      <p:sp>
        <p:nvSpPr>
          <p:cNvPr id="28" name="Text 26"/>
          <p:cNvSpPr/>
          <p:nvPr/>
        </p:nvSpPr>
        <p:spPr>
          <a:xfrm>
            <a:off x="640080" y="4443984"/>
            <a:ext cx="2240280" cy="384048"/>
          </a:xfrm>
          <a:prstGeom prst="rect">
            <a:avLst/>
          </a:prstGeom>
          <a:noFill/>
          <a:ln/>
        </p:spPr>
        <p:txBody>
          <a:bodyPr wrap="square" lIns="0" tIns="0" rIns="0" bIns="0" rtlCol="0" anchor="ctr"/>
          <a:lstStyle/>
          <a:p>
            <a:pPr indent="0" marL="0">
              <a:buNone/>
            </a:pPr>
            <a:r>
              <a:rPr lang="en-US" sz="1200" b="1" dirty="0">
                <a:solidFill>
                  <a:srgbClr val="241E33"/>
                </a:solidFill>
                <a:latin typeface="Cambria" pitchFamily="34" charset="0"/>
                <a:ea typeface="Cambria" pitchFamily="34" charset="-122"/>
                <a:cs typeface="Cambria" pitchFamily="34" charset="-120"/>
              </a:rPr>
              <a:t>Maths · English · Finance</a:t>
            </a:r>
            <a:endParaRPr lang="en-US" sz="1200" dirty="0"/>
          </a:p>
        </p:txBody>
      </p:sp>
      <p:sp>
        <p:nvSpPr>
          <p:cNvPr id="29" name="Text 27"/>
          <p:cNvSpPr/>
          <p:nvPr/>
        </p:nvSpPr>
        <p:spPr>
          <a:xfrm>
            <a:off x="2926080" y="4443984"/>
            <a:ext cx="1371600" cy="384048"/>
          </a:xfrm>
          <a:prstGeom prst="rect">
            <a:avLst/>
          </a:prstGeom>
          <a:noFill/>
          <a:ln/>
        </p:spPr>
        <p:txBody>
          <a:bodyPr wrap="square" lIns="0" tIns="0" rIns="0" bIns="0" rtlCol="0" anchor="ctr"/>
          <a:lstStyle/>
          <a:p>
            <a:pPr indent="0" marL="0">
              <a:buNone/>
            </a:pPr>
            <a:r>
              <a:rPr lang="en-US" sz="950" i="1" dirty="0">
                <a:solidFill>
                  <a:srgbClr val="7A7291"/>
                </a:solidFill>
                <a:latin typeface="Calibri" pitchFamily="34" charset="0"/>
                <a:ea typeface="Calibri" pitchFamily="34" charset="-122"/>
                <a:cs typeface="Calibri" pitchFamily="34" charset="-120"/>
              </a:rPr>
              <a:t>Subscription</a:t>
            </a:r>
            <a:endParaRPr lang="en-US" sz="950" dirty="0"/>
          </a:p>
        </p:txBody>
      </p:sp>
      <p:sp>
        <p:nvSpPr>
          <p:cNvPr id="30" name="Text 28"/>
          <p:cNvSpPr/>
          <p:nvPr/>
        </p:nvSpPr>
        <p:spPr>
          <a:xfrm>
            <a:off x="4343400" y="4443984"/>
            <a:ext cx="1280160" cy="384048"/>
          </a:xfrm>
          <a:prstGeom prst="rect">
            <a:avLst/>
          </a:prstGeom>
          <a:noFill/>
          <a:ln/>
        </p:spPr>
        <p:txBody>
          <a:bodyPr wrap="square" lIns="0" tIns="0" rIns="0" bIns="0" rtlCol="0" anchor="ctr"/>
          <a:lstStyle/>
          <a:p>
            <a:pPr algn="r" indent="0" marL="0">
              <a:buNone/>
            </a:pPr>
            <a:r>
              <a:rPr lang="en-US" sz="1200" b="1" dirty="0">
                <a:solidFill>
                  <a:srgbClr val="8A5B00"/>
                </a:solidFill>
                <a:latin typeface="Calibri" pitchFamily="34" charset="0"/>
                <a:ea typeface="Calibri" pitchFamily="34" charset="-122"/>
                <a:cs typeface="Calibri" pitchFamily="34" charset="-120"/>
              </a:rPr>
              <a:t>$149 / yr</a:t>
            </a:r>
            <a:endParaRPr lang="en-US" sz="1200" dirty="0"/>
          </a:p>
        </p:txBody>
      </p:sp>
      <p:sp>
        <p:nvSpPr>
          <p:cNvPr id="31" name="Text 29"/>
          <p:cNvSpPr/>
          <p:nvPr/>
        </p:nvSpPr>
        <p:spPr>
          <a:xfrm>
            <a:off x="5852160" y="4443984"/>
            <a:ext cx="5303520" cy="384048"/>
          </a:xfrm>
          <a:prstGeom prst="rect">
            <a:avLst/>
          </a:prstGeom>
          <a:noFill/>
          <a:ln/>
        </p:spPr>
        <p:txBody>
          <a:bodyPr wrap="square" lIns="0" tIns="0" rIns="0" bIns="0" rtlCol="0" anchor="ctr"/>
          <a:lstStyle/>
          <a:p>
            <a:pPr indent="0" marL="0">
              <a:buNone/>
            </a:pPr>
            <a:r>
              <a:rPr lang="en-US" sz="950" dirty="0">
                <a:solidFill>
                  <a:srgbClr val="4A4360"/>
                </a:solidFill>
                <a:latin typeface="Calibri" pitchFamily="34" charset="0"/>
                <a:ea typeface="Calibri" pitchFamily="34" charset="-122"/>
                <a:cs typeface="Calibri" pitchFamily="34" charset="-120"/>
              </a:rPr>
              <a:t>Priced to be added without a family meeting.</a:t>
            </a:r>
            <a:endParaRPr lang="en-US" sz="950" dirty="0"/>
          </a:p>
        </p:txBody>
      </p:sp>
      <p:sp>
        <p:nvSpPr>
          <p:cNvPr id="32" name="Shape 30"/>
          <p:cNvSpPr/>
          <p:nvPr/>
        </p:nvSpPr>
        <p:spPr>
          <a:xfrm>
            <a:off x="512064" y="4882896"/>
            <a:ext cx="10954512" cy="448056"/>
          </a:xfrm>
          <a:prstGeom prst="roundRect">
            <a:avLst>
              <a:gd name="adj" fmla="val 18367"/>
            </a:avLst>
          </a:prstGeom>
          <a:solidFill>
            <a:srgbClr val="EFEBF8"/>
          </a:solidFill>
          <a:ln/>
        </p:spPr>
      </p:sp>
      <p:sp>
        <p:nvSpPr>
          <p:cNvPr id="33" name="Text 31"/>
          <p:cNvSpPr/>
          <p:nvPr/>
        </p:nvSpPr>
        <p:spPr>
          <a:xfrm>
            <a:off x="640080" y="4919472"/>
            <a:ext cx="2240280" cy="384048"/>
          </a:xfrm>
          <a:prstGeom prst="rect">
            <a:avLst/>
          </a:prstGeom>
          <a:noFill/>
          <a:ln/>
        </p:spPr>
        <p:txBody>
          <a:bodyPr wrap="square" lIns="0" tIns="0" rIns="0" bIns="0" rtlCol="0" anchor="ctr"/>
          <a:lstStyle/>
          <a:p>
            <a:pPr indent="0" marL="0">
              <a:buNone/>
            </a:pPr>
            <a:r>
              <a:rPr lang="en-US" sz="1200" b="1" dirty="0">
                <a:solidFill>
                  <a:srgbClr val="6C4FE0"/>
                </a:solidFill>
                <a:latin typeface="Cambria" pitchFamily="34" charset="0"/>
                <a:ea typeface="Cambria" pitchFamily="34" charset="-122"/>
                <a:cs typeface="Cambria" pitchFamily="34" charset="-120"/>
              </a:rPr>
              <a:t>Bizzing Family</a:t>
            </a:r>
            <a:endParaRPr lang="en-US" sz="1200" dirty="0"/>
          </a:p>
        </p:txBody>
      </p:sp>
      <p:sp>
        <p:nvSpPr>
          <p:cNvPr id="34" name="Text 32"/>
          <p:cNvSpPr/>
          <p:nvPr/>
        </p:nvSpPr>
        <p:spPr>
          <a:xfrm>
            <a:off x="2926080" y="4919472"/>
            <a:ext cx="1371600" cy="384048"/>
          </a:xfrm>
          <a:prstGeom prst="rect">
            <a:avLst/>
          </a:prstGeom>
          <a:noFill/>
          <a:ln/>
        </p:spPr>
        <p:txBody>
          <a:bodyPr wrap="square" lIns="0" tIns="0" rIns="0" bIns="0" rtlCol="0" anchor="ctr"/>
          <a:lstStyle/>
          <a:p>
            <a:pPr indent="0" marL="0">
              <a:buNone/>
            </a:pPr>
            <a:r>
              <a:rPr lang="en-US" sz="950" i="1" dirty="0">
                <a:solidFill>
                  <a:srgbClr val="7A7291"/>
                </a:solidFill>
                <a:latin typeface="Calibri" pitchFamily="34" charset="0"/>
                <a:ea typeface="Calibri" pitchFamily="34" charset="-122"/>
                <a:cs typeface="Calibri" pitchFamily="34" charset="-120"/>
              </a:rPr>
              <a:t>Everything</a:t>
            </a:r>
            <a:endParaRPr lang="en-US" sz="950" dirty="0"/>
          </a:p>
        </p:txBody>
      </p:sp>
      <p:sp>
        <p:nvSpPr>
          <p:cNvPr id="35" name="Text 33"/>
          <p:cNvSpPr/>
          <p:nvPr/>
        </p:nvSpPr>
        <p:spPr>
          <a:xfrm>
            <a:off x="4343400" y="4919472"/>
            <a:ext cx="1280160" cy="384048"/>
          </a:xfrm>
          <a:prstGeom prst="rect">
            <a:avLst/>
          </a:prstGeom>
          <a:noFill/>
          <a:ln/>
        </p:spPr>
        <p:txBody>
          <a:bodyPr wrap="square" lIns="0" tIns="0" rIns="0" bIns="0" rtlCol="0" anchor="ctr"/>
          <a:lstStyle/>
          <a:p>
            <a:pPr algn="r" indent="0" marL="0">
              <a:buNone/>
            </a:pPr>
            <a:r>
              <a:rPr lang="en-US" sz="1200" b="1" dirty="0">
                <a:solidFill>
                  <a:srgbClr val="6C4FE0"/>
                </a:solidFill>
                <a:latin typeface="Calibri" pitchFamily="34" charset="0"/>
                <a:ea typeface="Calibri" pitchFamily="34" charset="-122"/>
                <a:cs typeface="Calibri" pitchFamily="34" charset="-120"/>
              </a:rPr>
              <a:t>$499 / yr</a:t>
            </a:r>
            <a:endParaRPr lang="en-US" sz="1200" dirty="0"/>
          </a:p>
        </p:txBody>
      </p:sp>
      <p:sp>
        <p:nvSpPr>
          <p:cNvPr id="36" name="Text 34"/>
          <p:cNvSpPr/>
          <p:nvPr/>
        </p:nvSpPr>
        <p:spPr>
          <a:xfrm>
            <a:off x="5852160" y="4919472"/>
            <a:ext cx="5303520" cy="384048"/>
          </a:xfrm>
          <a:prstGeom prst="rect">
            <a:avLst/>
          </a:prstGeom>
          <a:noFill/>
          <a:ln/>
        </p:spPr>
        <p:txBody>
          <a:bodyPr wrap="square" lIns="0" tIns="0" rIns="0" bIns="0" rtlCol="0" anchor="ctr"/>
          <a:lstStyle/>
          <a:p>
            <a:pPr indent="0" marL="0">
              <a:buNone/>
            </a:pPr>
            <a:r>
              <a:rPr lang="en-US" sz="950" dirty="0">
                <a:solidFill>
                  <a:srgbClr val="4A4360"/>
                </a:solidFill>
                <a:latin typeface="Calibri" pitchFamily="34" charset="0"/>
                <a:ea typeface="Calibri" pitchFamily="34" charset="-122"/>
                <a:cs typeface="Calibri" pitchFamily="34" charset="-120"/>
              </a:rPr>
              <a:t>Whole house, up to four children. Cheaper than any three packs — the SKU that makes a twelve-year household real.</a:t>
            </a:r>
            <a:endParaRPr lang="en-US" sz="950" dirty="0"/>
          </a:p>
        </p:txBody>
      </p:sp>
      <p:sp>
        <p:nvSpPr>
          <p:cNvPr id="37" name="Text 35"/>
          <p:cNvSpPr/>
          <p:nvPr/>
        </p:nvSpPr>
        <p:spPr>
          <a:xfrm>
            <a:off x="640080" y="5394960"/>
            <a:ext cx="2240280" cy="384048"/>
          </a:xfrm>
          <a:prstGeom prst="rect">
            <a:avLst/>
          </a:prstGeom>
          <a:noFill/>
          <a:ln/>
        </p:spPr>
        <p:txBody>
          <a:bodyPr wrap="square" lIns="0" tIns="0" rIns="0" bIns="0" rtlCol="0" anchor="ctr"/>
          <a:lstStyle/>
          <a:p>
            <a:pPr indent="0" marL="0">
              <a:buNone/>
            </a:pPr>
            <a:r>
              <a:rPr lang="en-US" sz="1200" b="1" dirty="0">
                <a:solidFill>
                  <a:srgbClr val="241E33"/>
                </a:solidFill>
                <a:latin typeface="Cambria" pitchFamily="34" charset="0"/>
                <a:ea typeface="Cambria" pitchFamily="34" charset="-122"/>
                <a:cs typeface="Cambria" pitchFamily="34" charset="-120"/>
              </a:rPr>
              <a:t>Bizzing Business</a:t>
            </a:r>
            <a:endParaRPr lang="en-US" sz="1200" dirty="0"/>
          </a:p>
        </p:txBody>
      </p:sp>
      <p:sp>
        <p:nvSpPr>
          <p:cNvPr id="38" name="Text 36"/>
          <p:cNvSpPr/>
          <p:nvPr/>
        </p:nvSpPr>
        <p:spPr>
          <a:xfrm>
            <a:off x="2926080" y="5394960"/>
            <a:ext cx="1371600" cy="384048"/>
          </a:xfrm>
          <a:prstGeom prst="rect">
            <a:avLst/>
          </a:prstGeom>
          <a:noFill/>
          <a:ln/>
        </p:spPr>
        <p:txBody>
          <a:bodyPr wrap="square" lIns="0" tIns="0" rIns="0" bIns="0" rtlCol="0" anchor="ctr"/>
          <a:lstStyle/>
          <a:p>
            <a:pPr indent="0" marL="0">
              <a:buNone/>
            </a:pPr>
            <a:r>
              <a:rPr lang="en-US" sz="950" i="1" dirty="0">
                <a:solidFill>
                  <a:srgbClr val="7A7291"/>
                </a:solidFill>
                <a:latin typeface="Calibri" pitchFamily="34" charset="0"/>
                <a:ea typeface="Calibri" pitchFamily="34" charset="-122"/>
                <a:cs typeface="Calibri" pitchFamily="34" charset="-120"/>
              </a:rPr>
              <a:t>Cohort</a:t>
            </a:r>
            <a:endParaRPr lang="en-US" sz="950" dirty="0"/>
          </a:p>
        </p:txBody>
      </p:sp>
      <p:sp>
        <p:nvSpPr>
          <p:cNvPr id="39" name="Text 37"/>
          <p:cNvSpPr/>
          <p:nvPr/>
        </p:nvSpPr>
        <p:spPr>
          <a:xfrm>
            <a:off x="4343400" y="5394960"/>
            <a:ext cx="1280160" cy="384048"/>
          </a:xfrm>
          <a:prstGeom prst="rect">
            <a:avLst/>
          </a:prstGeom>
          <a:noFill/>
          <a:ln/>
        </p:spPr>
        <p:txBody>
          <a:bodyPr wrap="square" lIns="0" tIns="0" rIns="0" bIns="0" rtlCol="0" anchor="ctr"/>
          <a:lstStyle/>
          <a:p>
            <a:pPr algn="r" indent="0" marL="0">
              <a:buNone/>
            </a:pPr>
            <a:r>
              <a:rPr lang="en-US" sz="1200" b="1" dirty="0">
                <a:solidFill>
                  <a:srgbClr val="8A5B00"/>
                </a:solidFill>
                <a:latin typeface="Calibri" pitchFamily="34" charset="0"/>
                <a:ea typeface="Calibri" pitchFamily="34" charset="-122"/>
                <a:cs typeface="Calibri" pitchFamily="34" charset="-120"/>
              </a:rPr>
              <a:t>$999</a:t>
            </a:r>
            <a:endParaRPr lang="en-US" sz="1200" dirty="0"/>
          </a:p>
        </p:txBody>
      </p:sp>
      <p:sp>
        <p:nvSpPr>
          <p:cNvPr id="40" name="Text 38"/>
          <p:cNvSpPr/>
          <p:nvPr/>
        </p:nvSpPr>
        <p:spPr>
          <a:xfrm>
            <a:off x="5852160" y="5394960"/>
            <a:ext cx="5303520" cy="384048"/>
          </a:xfrm>
          <a:prstGeom prst="rect">
            <a:avLst/>
          </a:prstGeom>
          <a:noFill/>
          <a:ln/>
        </p:spPr>
        <p:txBody>
          <a:bodyPr wrap="square" lIns="0" tIns="0" rIns="0" bIns="0" rtlCol="0" anchor="ctr"/>
          <a:lstStyle/>
          <a:p>
            <a:pPr indent="0" marL="0">
              <a:buNone/>
            </a:pPr>
            <a:r>
              <a:rPr lang="en-US" sz="950" dirty="0">
                <a:solidFill>
                  <a:srgbClr val="4A4360"/>
                </a:solidFill>
                <a:latin typeface="Calibri" pitchFamily="34" charset="0"/>
                <a:ea typeface="Calibri" pitchFamily="34" charset="-122"/>
                <a:cs typeface="Calibri" pitchFamily="34" charset="-120"/>
              </a:rPr>
              <a:t>Eight weeks, a team, a mentor, a demo day. A one-week summer camp is $2,200.</a:t>
            </a:r>
            <a:endParaRPr lang="en-US" sz="950" dirty="0"/>
          </a:p>
        </p:txBody>
      </p:sp>
      <p:sp>
        <p:nvSpPr>
          <p:cNvPr id="41" name="Shape 39"/>
          <p:cNvSpPr/>
          <p:nvPr/>
        </p:nvSpPr>
        <p:spPr>
          <a:xfrm>
            <a:off x="512064" y="5833872"/>
            <a:ext cx="10954512" cy="448056"/>
          </a:xfrm>
          <a:prstGeom prst="roundRect">
            <a:avLst>
              <a:gd name="adj" fmla="val 18367"/>
            </a:avLst>
          </a:prstGeom>
          <a:solidFill>
            <a:srgbClr val="EFEBF8"/>
          </a:solidFill>
          <a:ln/>
        </p:spPr>
      </p:sp>
      <p:sp>
        <p:nvSpPr>
          <p:cNvPr id="42" name="Text 40"/>
          <p:cNvSpPr/>
          <p:nvPr/>
        </p:nvSpPr>
        <p:spPr>
          <a:xfrm>
            <a:off x="640080" y="5870448"/>
            <a:ext cx="2240280" cy="384048"/>
          </a:xfrm>
          <a:prstGeom prst="rect">
            <a:avLst/>
          </a:prstGeom>
          <a:noFill/>
          <a:ln/>
        </p:spPr>
        <p:txBody>
          <a:bodyPr wrap="square" lIns="0" tIns="0" rIns="0" bIns="0" rtlCol="0" anchor="ctr"/>
          <a:lstStyle/>
          <a:p>
            <a:pPr indent="0" marL="0">
              <a:buNone/>
            </a:pPr>
            <a:r>
              <a:rPr lang="en-US" sz="1200" b="1" dirty="0">
                <a:solidFill>
                  <a:srgbClr val="241E33"/>
                </a:solidFill>
                <a:latin typeface="Cambria" pitchFamily="34" charset="0"/>
                <a:ea typeface="Cambria" pitchFamily="34" charset="-122"/>
                <a:cs typeface="Cambria" pitchFamily="34" charset="-120"/>
              </a:rPr>
              <a:t>India edition</a:t>
            </a:r>
            <a:endParaRPr lang="en-US" sz="1200" dirty="0"/>
          </a:p>
        </p:txBody>
      </p:sp>
      <p:sp>
        <p:nvSpPr>
          <p:cNvPr id="43" name="Text 41"/>
          <p:cNvSpPr/>
          <p:nvPr/>
        </p:nvSpPr>
        <p:spPr>
          <a:xfrm>
            <a:off x="2926080" y="5870448"/>
            <a:ext cx="1371600" cy="384048"/>
          </a:xfrm>
          <a:prstGeom prst="rect">
            <a:avLst/>
          </a:prstGeom>
          <a:noFill/>
          <a:ln/>
        </p:spPr>
        <p:txBody>
          <a:bodyPr wrap="square" lIns="0" tIns="0" rIns="0" bIns="0" rtlCol="0" anchor="ctr"/>
          <a:lstStyle/>
          <a:p>
            <a:pPr indent="0" marL="0">
              <a:buNone/>
            </a:pPr>
            <a:r>
              <a:rPr lang="en-US" sz="950" i="1" dirty="0">
                <a:solidFill>
                  <a:srgbClr val="7A7291"/>
                </a:solidFill>
                <a:latin typeface="Calibri" pitchFamily="34" charset="0"/>
                <a:ea typeface="Calibri" pitchFamily="34" charset="-122"/>
                <a:cs typeface="Calibri" pitchFamily="34" charset="-120"/>
              </a:rPr>
              <a:t>All products</a:t>
            </a:r>
            <a:endParaRPr lang="en-US" sz="950" dirty="0"/>
          </a:p>
        </p:txBody>
      </p:sp>
      <p:sp>
        <p:nvSpPr>
          <p:cNvPr id="44" name="Text 42"/>
          <p:cNvSpPr/>
          <p:nvPr/>
        </p:nvSpPr>
        <p:spPr>
          <a:xfrm>
            <a:off x="4343400" y="5870448"/>
            <a:ext cx="1280160" cy="384048"/>
          </a:xfrm>
          <a:prstGeom prst="rect">
            <a:avLst/>
          </a:prstGeom>
          <a:noFill/>
          <a:ln/>
        </p:spPr>
        <p:txBody>
          <a:bodyPr wrap="square" lIns="0" tIns="0" rIns="0" bIns="0" rtlCol="0" anchor="ctr"/>
          <a:lstStyle/>
          <a:p>
            <a:pPr algn="r" indent="0" marL="0">
              <a:buNone/>
            </a:pPr>
            <a:r>
              <a:rPr lang="en-US" sz="1200" b="1" dirty="0">
                <a:solidFill>
                  <a:srgbClr val="8A5B00"/>
                </a:solidFill>
                <a:latin typeface="Calibri" pitchFamily="34" charset="0"/>
                <a:ea typeface="Calibri" pitchFamily="34" charset="-122"/>
                <a:cs typeface="Calibri" pitchFamily="34" charset="-120"/>
              </a:rPr>
              <a:t>≈ $49 / yr</a:t>
            </a:r>
            <a:endParaRPr lang="en-US" sz="1200" dirty="0"/>
          </a:p>
        </p:txBody>
      </p:sp>
      <p:sp>
        <p:nvSpPr>
          <p:cNvPr id="45" name="Text 43"/>
          <p:cNvSpPr/>
          <p:nvPr/>
        </p:nvSpPr>
        <p:spPr>
          <a:xfrm>
            <a:off x="5852160" y="5870448"/>
            <a:ext cx="5303520" cy="384048"/>
          </a:xfrm>
          <a:prstGeom prst="rect">
            <a:avLst/>
          </a:prstGeom>
          <a:noFill/>
          <a:ln/>
        </p:spPr>
        <p:txBody>
          <a:bodyPr wrap="square" lIns="0" tIns="0" rIns="0" bIns="0" rtlCol="0" anchor="ctr"/>
          <a:lstStyle/>
          <a:p>
            <a:pPr indent="0" marL="0">
              <a:buNone/>
            </a:pPr>
            <a:r>
              <a:rPr lang="en-US" sz="950" dirty="0">
                <a:solidFill>
                  <a:srgbClr val="4A4360"/>
                </a:solidFill>
                <a:latin typeface="Calibri" pitchFamily="34" charset="0"/>
                <a:ea typeface="Calibri" pitchFamily="34" charset="-122"/>
                <a:cs typeface="Calibri" pitchFamily="34" charset="-120"/>
              </a:rPr>
              <a:t>Roughly ₹3,999. A different market at a different price, not a discount.</a:t>
            </a:r>
            <a:endParaRPr lang="en-US" sz="950" dirty="0"/>
          </a:p>
        </p:txBody>
      </p:sp>
      <p:sp>
        <p:nvSpPr>
          <p:cNvPr id="46" name="Shape 44"/>
          <p:cNvSpPr/>
          <p:nvPr/>
        </p:nvSpPr>
        <p:spPr>
          <a:xfrm>
            <a:off x="640080" y="6382512"/>
            <a:ext cx="10607040" cy="365760"/>
          </a:xfrm>
          <a:prstGeom prst="roundRect">
            <a:avLst>
              <a:gd name="adj" fmla="val 25000"/>
            </a:avLst>
          </a:prstGeom>
          <a:solidFill>
            <a:srgbClr val="EFEBF8"/>
          </a:solidFill>
          <a:ln/>
        </p:spPr>
      </p:sp>
      <p:sp>
        <p:nvSpPr>
          <p:cNvPr id="47" name="Text 45"/>
          <p:cNvSpPr/>
          <p:nvPr/>
        </p:nvSpPr>
        <p:spPr>
          <a:xfrm>
            <a:off x="877824" y="6382512"/>
            <a:ext cx="10149840" cy="365760"/>
          </a:xfrm>
          <a:prstGeom prst="rect">
            <a:avLst/>
          </a:prstGeom>
          <a:noFill/>
          <a:ln/>
        </p:spPr>
        <p:txBody>
          <a:bodyPr wrap="square" lIns="0" tIns="0" rIns="0" bIns="0" rtlCol="0" anchor="ctr"/>
          <a:lstStyle/>
          <a:p>
            <a:pPr indent="0" marL="0">
              <a:buNone/>
            </a:pPr>
            <a:r>
              <a:rPr lang="en-US" sz="950" b="1" dirty="0">
                <a:solidFill>
                  <a:srgbClr val="4A4360"/>
                </a:solidFill>
                <a:latin typeface="Calibri" pitchFamily="34" charset="0"/>
                <a:ea typeface="Calibri" pitchFamily="34" charset="-122"/>
                <a:cs typeface="Calibri" pitchFamily="34" charset="-120"/>
              </a:rPr>
              <a:t>Blended ARPU used throughout:  </a:t>
            </a:r>
            <a:pPr indent="0" marL="0">
              <a:buNone/>
            </a:pPr>
            <a:r>
              <a:rPr lang="en-US" sz="950" dirty="0">
                <a:solidFill>
                  <a:srgbClr val="4A4360"/>
                </a:solidFill>
                <a:latin typeface="Calibri" pitchFamily="34" charset="0"/>
                <a:ea typeface="Calibri" pitchFamily="34" charset="-122"/>
                <a:cs typeface="Calibri" pitchFamily="34" charset="-120"/>
              </a:rPr>
              <a:t>$250 diaspora (55% Bee Plus, 12% Advanced, 20% another single pack, 13% Family) and $45 India. The blended figure FALLS from $250 to $172 across five years as India grows into a third of the base — that dilution is in the model, not assumed away.</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02336"/>
            <a:ext cx="7315200" cy="256032"/>
          </a:xfrm>
          <a:prstGeom prst="rect">
            <a:avLst/>
          </a:prstGeom>
          <a:noFill/>
          <a:ln/>
        </p:spPr>
        <p:txBody>
          <a:bodyPr wrap="square" lIns="0" tIns="0" rIns="0" bIns="0" rtlCol="0" anchor="ctr"/>
          <a:lstStyle/>
          <a:p>
            <a:pPr indent="0" marL="0">
              <a:buNone/>
            </a:pPr>
            <a:r>
              <a:rPr lang="en-US" sz="1150" b="1" spc="240" kern="0" dirty="0">
                <a:solidFill>
                  <a:srgbClr val="6C4FE0"/>
                </a:solidFill>
                <a:latin typeface="Calibri" pitchFamily="34" charset="0"/>
                <a:ea typeface="Calibri" pitchFamily="34" charset="-122"/>
                <a:cs typeface="Calibri" pitchFamily="34" charset="-120"/>
              </a:rPr>
              <a:t>CUSTOMER ACQUISITION STRATEGY</a:t>
            </a:r>
            <a:endParaRPr lang="en-US" sz="1150" dirty="0"/>
          </a:p>
        </p:txBody>
      </p:sp>
      <p:sp>
        <p:nvSpPr>
          <p:cNvPr id="3" name="Text 1"/>
          <p:cNvSpPr/>
          <p:nvPr/>
        </p:nvSpPr>
        <p:spPr>
          <a:xfrm>
            <a:off x="640080" y="694944"/>
            <a:ext cx="10607040" cy="749808"/>
          </a:xfrm>
          <a:prstGeom prst="rect">
            <a:avLst/>
          </a:prstGeom>
          <a:noFill/>
          <a:ln/>
        </p:spPr>
        <p:txBody>
          <a:bodyPr wrap="square" lIns="0" tIns="0" rIns="0" bIns="0" rtlCol="0" anchor="ctr"/>
          <a:lstStyle/>
          <a:p>
            <a:pPr indent="0" marL="0">
              <a:buNone/>
            </a:pPr>
            <a:r>
              <a:rPr lang="en-US" sz="2900" b="1" dirty="0">
                <a:solidFill>
                  <a:srgbClr val="241E33"/>
                </a:solidFill>
                <a:latin typeface="Cambria" pitchFamily="34" charset="0"/>
                <a:ea typeface="Cambria" pitchFamily="34" charset="-122"/>
                <a:cs typeface="Cambria" pitchFamily="34" charset="-120"/>
              </a:rPr>
              <a:t>How a household actually arrives</a:t>
            </a:r>
            <a:endParaRPr lang="en-US" sz="2900" dirty="0"/>
          </a:p>
        </p:txBody>
      </p:sp>
      <p:sp>
        <p:nvSpPr>
          <p:cNvPr id="4" name="Text 2"/>
          <p:cNvSpPr/>
          <p:nvPr/>
        </p:nvSpPr>
        <p:spPr>
          <a:xfrm>
            <a:off x="640080" y="1426464"/>
            <a:ext cx="10607040" cy="475488"/>
          </a:xfrm>
          <a:prstGeom prst="rect">
            <a:avLst/>
          </a:prstGeom>
          <a:noFill/>
          <a:ln/>
        </p:spPr>
        <p:txBody>
          <a:bodyPr wrap="square" lIns="0" tIns="0" rIns="0" bIns="0" rtlCol="0" anchor="ctr"/>
          <a:lstStyle/>
          <a:p>
            <a:pPr indent="0" marL="0">
              <a:buNone/>
            </a:pPr>
            <a:r>
              <a:rPr lang="en-US" sz="1400" dirty="0">
                <a:solidFill>
                  <a:srgbClr val="7A7291"/>
                </a:solidFill>
                <a:latin typeface="Calibri" pitchFamily="34" charset="0"/>
                <a:ea typeface="Calibri" pitchFamily="34" charset="-122"/>
                <a:cs typeface="Calibri" pitchFamily="34" charset="-120"/>
              </a:rPr>
              <a:t>Capping paid media at 18% of revenue has a consequence we should say out loud: growth cannot be bought. Between 83% of Year 1 and 58% of Year 5, households have to be earned. This slide is how.</a:t>
            </a:r>
            <a:endParaRPr lang="en-US" sz="1400" dirty="0"/>
          </a:p>
        </p:txBody>
      </p:sp>
      <p:sp>
        <p:nvSpPr>
          <p:cNvPr id="5" name="Shape 3"/>
          <p:cNvSpPr/>
          <p:nvPr/>
        </p:nvSpPr>
        <p:spPr>
          <a:xfrm>
            <a:off x="640080" y="2048256"/>
            <a:ext cx="2514600" cy="1481328"/>
          </a:xfrm>
          <a:prstGeom prst="roundRect">
            <a:avLst>
              <a:gd name="adj" fmla="val 7407"/>
            </a:avLst>
          </a:prstGeom>
          <a:solidFill>
            <a:srgbClr val="EFEBF8"/>
          </a:solidFill>
          <a:ln/>
        </p:spPr>
      </p:sp>
      <p:sp>
        <p:nvSpPr>
          <p:cNvPr id="6" name="Shape 4"/>
          <p:cNvSpPr/>
          <p:nvPr/>
        </p:nvSpPr>
        <p:spPr>
          <a:xfrm>
            <a:off x="640080" y="2048256"/>
            <a:ext cx="2514600" cy="256032"/>
          </a:xfrm>
          <a:prstGeom prst="roundRect">
            <a:avLst>
              <a:gd name="adj" fmla="val 42857"/>
            </a:avLst>
          </a:prstGeom>
          <a:solidFill>
            <a:srgbClr val="F0B429"/>
          </a:solidFill>
          <a:ln/>
        </p:spPr>
      </p:sp>
      <p:sp>
        <p:nvSpPr>
          <p:cNvPr id="7" name="Text 5"/>
          <p:cNvSpPr/>
          <p:nvPr/>
        </p:nvSpPr>
        <p:spPr>
          <a:xfrm>
            <a:off x="640080" y="2048256"/>
            <a:ext cx="2514600" cy="256032"/>
          </a:xfrm>
          <a:prstGeom prst="rect">
            <a:avLst/>
          </a:prstGeom>
          <a:noFill/>
          <a:ln/>
        </p:spPr>
        <p:txBody>
          <a:bodyPr wrap="square" lIns="0" tIns="0" rIns="0" bIns="0" rtlCol="0" anchor="ctr"/>
          <a:lstStyle/>
          <a:p>
            <a:pPr algn="ctr" indent="0" marL="0">
              <a:buNone/>
            </a:pPr>
            <a:r>
              <a:rPr lang="en-US" sz="900" b="1" spc="160" kern="0" dirty="0">
                <a:solidFill>
                  <a:srgbClr val="241E33"/>
                </a:solidFill>
                <a:latin typeface="Calibri" pitchFamily="34" charset="0"/>
                <a:ea typeface="Calibri" pitchFamily="34" charset="-122"/>
                <a:cs typeface="Calibri" pitchFamily="34" charset="-120"/>
              </a:rPr>
              <a:t>FIND</a:t>
            </a:r>
            <a:endParaRPr lang="en-US" sz="900" dirty="0"/>
          </a:p>
        </p:txBody>
      </p:sp>
      <p:sp>
        <p:nvSpPr>
          <p:cNvPr id="8" name="Text 6"/>
          <p:cNvSpPr/>
          <p:nvPr/>
        </p:nvSpPr>
        <p:spPr>
          <a:xfrm>
            <a:off x="804672" y="2377440"/>
            <a:ext cx="2194560" cy="402336"/>
          </a:xfrm>
          <a:prstGeom prst="rect">
            <a:avLst/>
          </a:prstGeom>
          <a:noFill/>
          <a:ln/>
        </p:spPr>
        <p:txBody>
          <a:bodyPr wrap="square" lIns="0" tIns="0" rIns="0" bIns="0" rtlCol="0" anchor="ctr"/>
          <a:lstStyle/>
          <a:p>
            <a:pPr indent="0" marL="0">
              <a:lnSpc>
                <a:spcPts val="1300"/>
              </a:lnSpc>
              <a:buNone/>
            </a:pPr>
            <a:r>
              <a:rPr lang="en-US" sz="1150" b="1" dirty="0">
                <a:solidFill>
                  <a:srgbClr val="241E33"/>
                </a:solidFill>
                <a:latin typeface="Cambria" pitchFamily="34" charset="0"/>
                <a:ea typeface="Cambria" pitchFamily="34" charset="-122"/>
                <a:cs typeface="Cambria" pitchFamily="34" charset="-120"/>
              </a:rPr>
              <a:t>A parent searches, or a video finds them</a:t>
            </a:r>
            <a:endParaRPr lang="en-US" sz="1150" dirty="0"/>
          </a:p>
        </p:txBody>
      </p:sp>
      <p:sp>
        <p:nvSpPr>
          <p:cNvPr id="9" name="Text 7"/>
          <p:cNvSpPr/>
          <p:nvPr/>
        </p:nvSpPr>
        <p:spPr>
          <a:xfrm>
            <a:off x="804672" y="2798064"/>
            <a:ext cx="2194560" cy="676656"/>
          </a:xfrm>
          <a:prstGeom prst="rect">
            <a:avLst/>
          </a:prstGeom>
          <a:noFill/>
          <a:ln/>
        </p:spPr>
        <p:txBody>
          <a:bodyPr wrap="square" lIns="0" tIns="0" rIns="0" bIns="0" rtlCol="0" anchor="ctr"/>
          <a:lstStyle/>
          <a:p>
            <a:pPr indent="0" marL="0">
              <a:lnSpc>
                <a:spcPts val="1050"/>
              </a:lnSpc>
              <a:buNone/>
            </a:pPr>
            <a:r>
              <a:rPr lang="en-US" sz="850" dirty="0">
                <a:solidFill>
                  <a:srgbClr val="4A4360"/>
                </a:solidFill>
                <a:latin typeface="Calibri" pitchFamily="34" charset="0"/>
                <a:ea typeface="Calibri" pitchFamily="34" charset="-122"/>
                <a:cs typeface="Calibri" pitchFamily="34" charset="-120"/>
              </a:rPr>
              <a:t>YouTube and search are where a bee parent already is. The free product means there is nothing between the click and the child playing.</a:t>
            </a:r>
            <a:endParaRPr lang="en-US" sz="850" dirty="0"/>
          </a:p>
        </p:txBody>
      </p:sp>
      <p:sp>
        <p:nvSpPr>
          <p:cNvPr id="10" name="Text 8"/>
          <p:cNvSpPr/>
          <p:nvPr/>
        </p:nvSpPr>
        <p:spPr>
          <a:xfrm>
            <a:off x="3163824" y="2596896"/>
            <a:ext cx="182880" cy="365760"/>
          </a:xfrm>
          <a:prstGeom prst="rect">
            <a:avLst/>
          </a:prstGeom>
          <a:noFill/>
          <a:ln/>
        </p:spPr>
        <p:txBody>
          <a:bodyPr wrap="square" lIns="0" tIns="0" rIns="0" bIns="0" rtlCol="0" anchor="ctr"/>
          <a:lstStyle/>
          <a:p>
            <a:pPr algn="ctr" indent="0" marL="0">
              <a:buNone/>
            </a:pPr>
            <a:r>
              <a:rPr lang="en-US" sz="1500" dirty="0">
                <a:solidFill>
                  <a:srgbClr val="7A7291"/>
                </a:solidFill>
                <a:latin typeface="Calibri" pitchFamily="34" charset="0"/>
                <a:ea typeface="Calibri" pitchFamily="34" charset="-122"/>
                <a:cs typeface="Calibri" pitchFamily="34" charset="-120"/>
              </a:rPr>
              <a:t>→</a:t>
            </a:r>
            <a:endParaRPr lang="en-US" sz="1500" dirty="0"/>
          </a:p>
        </p:txBody>
      </p:sp>
      <p:sp>
        <p:nvSpPr>
          <p:cNvPr id="11" name="Shape 9"/>
          <p:cNvSpPr/>
          <p:nvPr/>
        </p:nvSpPr>
        <p:spPr>
          <a:xfrm>
            <a:off x="3337560" y="2048256"/>
            <a:ext cx="2514600" cy="1481328"/>
          </a:xfrm>
          <a:prstGeom prst="roundRect">
            <a:avLst>
              <a:gd name="adj" fmla="val 7407"/>
            </a:avLst>
          </a:prstGeom>
          <a:solidFill>
            <a:srgbClr val="EFEBF8"/>
          </a:solidFill>
          <a:ln/>
        </p:spPr>
      </p:sp>
      <p:sp>
        <p:nvSpPr>
          <p:cNvPr id="12" name="Shape 10"/>
          <p:cNvSpPr/>
          <p:nvPr/>
        </p:nvSpPr>
        <p:spPr>
          <a:xfrm>
            <a:off x="3337560" y="2048256"/>
            <a:ext cx="2514600" cy="256032"/>
          </a:xfrm>
          <a:prstGeom prst="roundRect">
            <a:avLst>
              <a:gd name="adj" fmla="val 42857"/>
            </a:avLst>
          </a:prstGeom>
          <a:solidFill>
            <a:srgbClr val="6C4FE0"/>
          </a:solidFill>
          <a:ln/>
        </p:spPr>
      </p:sp>
      <p:sp>
        <p:nvSpPr>
          <p:cNvPr id="13" name="Text 11"/>
          <p:cNvSpPr/>
          <p:nvPr/>
        </p:nvSpPr>
        <p:spPr>
          <a:xfrm>
            <a:off x="3337560" y="2048256"/>
            <a:ext cx="2514600" cy="256032"/>
          </a:xfrm>
          <a:prstGeom prst="rect">
            <a:avLst/>
          </a:prstGeom>
          <a:noFill/>
          <a:ln/>
        </p:spPr>
        <p:txBody>
          <a:bodyPr wrap="square" lIns="0" tIns="0" rIns="0" bIns="0" rtlCol="0" anchor="ctr"/>
          <a:lstStyle/>
          <a:p>
            <a:pPr algn="ctr" indent="0" marL="0">
              <a:buNone/>
            </a:pPr>
            <a:r>
              <a:rPr lang="en-US" sz="900" b="1" spc="160" kern="0" dirty="0">
                <a:solidFill>
                  <a:srgbClr val="FFFFFF"/>
                </a:solidFill>
                <a:latin typeface="Calibri" pitchFamily="34" charset="0"/>
                <a:ea typeface="Calibri" pitchFamily="34" charset="-122"/>
                <a:cs typeface="Calibri" pitchFamily="34" charset="-120"/>
              </a:rPr>
              <a:t>PROVE</a:t>
            </a:r>
            <a:endParaRPr lang="en-US" sz="900" dirty="0"/>
          </a:p>
        </p:txBody>
      </p:sp>
      <p:sp>
        <p:nvSpPr>
          <p:cNvPr id="14" name="Text 12"/>
          <p:cNvSpPr/>
          <p:nvPr/>
        </p:nvSpPr>
        <p:spPr>
          <a:xfrm>
            <a:off x="3502152" y="2377440"/>
            <a:ext cx="2194560" cy="402336"/>
          </a:xfrm>
          <a:prstGeom prst="rect">
            <a:avLst/>
          </a:prstGeom>
          <a:noFill/>
          <a:ln/>
        </p:spPr>
        <p:txBody>
          <a:bodyPr wrap="square" lIns="0" tIns="0" rIns="0" bIns="0" rtlCol="0" anchor="ctr"/>
          <a:lstStyle/>
          <a:p>
            <a:pPr indent="0" marL="0">
              <a:lnSpc>
                <a:spcPts val="1300"/>
              </a:lnSpc>
              <a:buNone/>
            </a:pPr>
            <a:r>
              <a:rPr lang="en-US" sz="1150" b="1" dirty="0">
                <a:solidFill>
                  <a:srgbClr val="241E33"/>
                </a:solidFill>
                <a:latin typeface="Cambria" pitchFamily="34" charset="0"/>
                <a:ea typeface="Cambria" pitchFamily="34" charset="-122"/>
                <a:cs typeface="Cambria" pitchFamily="34" charset="-120"/>
              </a:rPr>
              <a:t>The child comes back without being asked</a:t>
            </a:r>
            <a:endParaRPr lang="en-US" sz="1150" dirty="0"/>
          </a:p>
        </p:txBody>
      </p:sp>
      <p:sp>
        <p:nvSpPr>
          <p:cNvPr id="15" name="Text 13"/>
          <p:cNvSpPr/>
          <p:nvPr/>
        </p:nvSpPr>
        <p:spPr>
          <a:xfrm>
            <a:off x="3502152" y="2798064"/>
            <a:ext cx="2194560" cy="676656"/>
          </a:xfrm>
          <a:prstGeom prst="rect">
            <a:avLst/>
          </a:prstGeom>
          <a:noFill/>
          <a:ln/>
        </p:spPr>
        <p:txBody>
          <a:bodyPr wrap="square" lIns="0" tIns="0" rIns="0" bIns="0" rtlCol="0" anchor="ctr"/>
          <a:lstStyle/>
          <a:p>
            <a:pPr indent="0" marL="0">
              <a:lnSpc>
                <a:spcPts val="1050"/>
              </a:lnSpc>
              <a:buNone/>
            </a:pPr>
            <a:r>
              <a:rPr lang="en-US" sz="850" dirty="0">
                <a:solidFill>
                  <a:srgbClr val="4A4360"/>
                </a:solidFill>
                <a:latin typeface="Calibri" pitchFamily="34" charset="0"/>
                <a:ea typeface="Calibri" pitchFamily="34" charset="-122"/>
                <a:cs typeface="Calibri" pitchFamily="34" charset="-120"/>
              </a:rPr>
              <a:t>The only honest signal. We watch week-two return rate, not signups — a family that returns is a family that will pay.</a:t>
            </a:r>
            <a:endParaRPr lang="en-US" sz="850" dirty="0"/>
          </a:p>
        </p:txBody>
      </p:sp>
      <p:sp>
        <p:nvSpPr>
          <p:cNvPr id="16" name="Text 14"/>
          <p:cNvSpPr/>
          <p:nvPr/>
        </p:nvSpPr>
        <p:spPr>
          <a:xfrm>
            <a:off x="5861304" y="2596896"/>
            <a:ext cx="182880" cy="365760"/>
          </a:xfrm>
          <a:prstGeom prst="rect">
            <a:avLst/>
          </a:prstGeom>
          <a:noFill/>
          <a:ln/>
        </p:spPr>
        <p:txBody>
          <a:bodyPr wrap="square" lIns="0" tIns="0" rIns="0" bIns="0" rtlCol="0" anchor="ctr"/>
          <a:lstStyle/>
          <a:p>
            <a:pPr algn="ctr" indent="0" marL="0">
              <a:buNone/>
            </a:pPr>
            <a:r>
              <a:rPr lang="en-US" sz="1500" dirty="0">
                <a:solidFill>
                  <a:srgbClr val="7A7291"/>
                </a:solidFill>
                <a:latin typeface="Calibri" pitchFamily="34" charset="0"/>
                <a:ea typeface="Calibri" pitchFamily="34" charset="-122"/>
                <a:cs typeface="Calibri" pitchFamily="34" charset="-120"/>
              </a:rPr>
              <a:t>→</a:t>
            </a:r>
            <a:endParaRPr lang="en-US" sz="1500" dirty="0"/>
          </a:p>
        </p:txBody>
      </p:sp>
      <p:sp>
        <p:nvSpPr>
          <p:cNvPr id="17" name="Shape 15"/>
          <p:cNvSpPr/>
          <p:nvPr/>
        </p:nvSpPr>
        <p:spPr>
          <a:xfrm>
            <a:off x="6035040" y="2048256"/>
            <a:ext cx="2514600" cy="1481328"/>
          </a:xfrm>
          <a:prstGeom prst="roundRect">
            <a:avLst>
              <a:gd name="adj" fmla="val 7407"/>
            </a:avLst>
          </a:prstGeom>
          <a:solidFill>
            <a:srgbClr val="EFEBF8"/>
          </a:solidFill>
          <a:ln/>
        </p:spPr>
      </p:sp>
      <p:sp>
        <p:nvSpPr>
          <p:cNvPr id="18" name="Shape 16"/>
          <p:cNvSpPr/>
          <p:nvPr/>
        </p:nvSpPr>
        <p:spPr>
          <a:xfrm>
            <a:off x="6035040" y="2048256"/>
            <a:ext cx="2514600" cy="256032"/>
          </a:xfrm>
          <a:prstGeom prst="roundRect">
            <a:avLst>
              <a:gd name="adj" fmla="val 42857"/>
            </a:avLst>
          </a:prstGeom>
          <a:solidFill>
            <a:srgbClr val="178A4C"/>
          </a:solidFill>
          <a:ln/>
        </p:spPr>
      </p:sp>
      <p:sp>
        <p:nvSpPr>
          <p:cNvPr id="19" name="Text 17"/>
          <p:cNvSpPr/>
          <p:nvPr/>
        </p:nvSpPr>
        <p:spPr>
          <a:xfrm>
            <a:off x="6035040" y="2048256"/>
            <a:ext cx="2514600" cy="256032"/>
          </a:xfrm>
          <a:prstGeom prst="rect">
            <a:avLst/>
          </a:prstGeom>
          <a:noFill/>
          <a:ln/>
        </p:spPr>
        <p:txBody>
          <a:bodyPr wrap="square" lIns="0" tIns="0" rIns="0" bIns="0" rtlCol="0" anchor="ctr"/>
          <a:lstStyle/>
          <a:p>
            <a:pPr algn="ctr" indent="0" marL="0">
              <a:buNone/>
            </a:pPr>
            <a:r>
              <a:rPr lang="en-US" sz="900" b="1" spc="160" kern="0" dirty="0">
                <a:solidFill>
                  <a:srgbClr val="FFFFFF"/>
                </a:solidFill>
                <a:latin typeface="Calibri" pitchFamily="34" charset="0"/>
                <a:ea typeface="Calibri" pitchFamily="34" charset="-122"/>
                <a:cs typeface="Calibri" pitchFamily="34" charset="-120"/>
              </a:rPr>
              <a:t>ASK</a:t>
            </a:r>
            <a:endParaRPr lang="en-US" sz="900" dirty="0"/>
          </a:p>
        </p:txBody>
      </p:sp>
      <p:sp>
        <p:nvSpPr>
          <p:cNvPr id="20" name="Text 18"/>
          <p:cNvSpPr/>
          <p:nvPr/>
        </p:nvSpPr>
        <p:spPr>
          <a:xfrm>
            <a:off x="6199632" y="2377440"/>
            <a:ext cx="2194560" cy="402336"/>
          </a:xfrm>
          <a:prstGeom prst="rect">
            <a:avLst/>
          </a:prstGeom>
          <a:noFill/>
          <a:ln/>
        </p:spPr>
        <p:txBody>
          <a:bodyPr wrap="square" lIns="0" tIns="0" rIns="0" bIns="0" rtlCol="0" anchor="ctr"/>
          <a:lstStyle/>
          <a:p>
            <a:pPr indent="0" marL="0">
              <a:lnSpc>
                <a:spcPts val="1300"/>
              </a:lnSpc>
              <a:buNone/>
            </a:pPr>
            <a:r>
              <a:rPr lang="en-US" sz="1150" b="1" dirty="0">
                <a:solidFill>
                  <a:srgbClr val="241E33"/>
                </a:solidFill>
                <a:latin typeface="Cambria" pitchFamily="34" charset="0"/>
                <a:ea typeface="Cambria" pitchFamily="34" charset="-122"/>
                <a:cs typeface="Cambria" pitchFamily="34" charset="-120"/>
              </a:rPr>
              <a:t>Upgrade at the moment of ambition</a:t>
            </a:r>
            <a:endParaRPr lang="en-US" sz="1150" dirty="0"/>
          </a:p>
        </p:txBody>
      </p:sp>
      <p:sp>
        <p:nvSpPr>
          <p:cNvPr id="21" name="Text 19"/>
          <p:cNvSpPr/>
          <p:nvPr/>
        </p:nvSpPr>
        <p:spPr>
          <a:xfrm>
            <a:off x="6199632" y="2798064"/>
            <a:ext cx="2194560" cy="676656"/>
          </a:xfrm>
          <a:prstGeom prst="rect">
            <a:avLst/>
          </a:prstGeom>
          <a:noFill/>
          <a:ln/>
        </p:spPr>
        <p:txBody>
          <a:bodyPr wrap="square" lIns="0" tIns="0" rIns="0" bIns="0" rtlCol="0" anchor="ctr"/>
          <a:lstStyle/>
          <a:p>
            <a:pPr indent="0" marL="0">
              <a:lnSpc>
                <a:spcPts val="1050"/>
              </a:lnSpc>
              <a:buNone/>
            </a:pPr>
            <a:r>
              <a:rPr lang="en-US" sz="850" dirty="0">
                <a:solidFill>
                  <a:srgbClr val="4A4360"/>
                </a:solidFill>
                <a:latin typeface="Calibri" pitchFamily="34" charset="0"/>
                <a:ea typeface="Calibri" pitchFamily="34" charset="-122"/>
                <a:cs typeface="Calibri" pitchFamily="34" charset="-120"/>
              </a:rPr>
              <a:t>Not on day one. At the point the child hits the wall the free tier stops at — a regional list, a harder root, a real bee date.</a:t>
            </a:r>
            <a:endParaRPr lang="en-US" sz="850" dirty="0"/>
          </a:p>
        </p:txBody>
      </p:sp>
      <p:sp>
        <p:nvSpPr>
          <p:cNvPr id="22" name="Text 20"/>
          <p:cNvSpPr/>
          <p:nvPr/>
        </p:nvSpPr>
        <p:spPr>
          <a:xfrm>
            <a:off x="8558784" y="2596896"/>
            <a:ext cx="182880" cy="365760"/>
          </a:xfrm>
          <a:prstGeom prst="rect">
            <a:avLst/>
          </a:prstGeom>
          <a:noFill/>
          <a:ln/>
        </p:spPr>
        <p:txBody>
          <a:bodyPr wrap="square" lIns="0" tIns="0" rIns="0" bIns="0" rtlCol="0" anchor="ctr"/>
          <a:lstStyle/>
          <a:p>
            <a:pPr algn="ctr" indent="0" marL="0">
              <a:buNone/>
            </a:pPr>
            <a:r>
              <a:rPr lang="en-US" sz="1500" dirty="0">
                <a:solidFill>
                  <a:srgbClr val="7A7291"/>
                </a:solidFill>
                <a:latin typeface="Calibri" pitchFamily="34" charset="0"/>
                <a:ea typeface="Calibri" pitchFamily="34" charset="-122"/>
                <a:cs typeface="Calibri" pitchFamily="34" charset="-120"/>
              </a:rPr>
              <a:t>→</a:t>
            </a:r>
            <a:endParaRPr lang="en-US" sz="1500" dirty="0"/>
          </a:p>
        </p:txBody>
      </p:sp>
      <p:sp>
        <p:nvSpPr>
          <p:cNvPr id="23" name="Shape 21"/>
          <p:cNvSpPr/>
          <p:nvPr/>
        </p:nvSpPr>
        <p:spPr>
          <a:xfrm>
            <a:off x="8732520" y="2048256"/>
            <a:ext cx="2514600" cy="1481328"/>
          </a:xfrm>
          <a:prstGeom prst="roundRect">
            <a:avLst>
              <a:gd name="adj" fmla="val 7407"/>
            </a:avLst>
          </a:prstGeom>
          <a:solidFill>
            <a:srgbClr val="EFEBF8"/>
          </a:solidFill>
          <a:ln/>
        </p:spPr>
      </p:sp>
      <p:sp>
        <p:nvSpPr>
          <p:cNvPr id="24" name="Shape 22"/>
          <p:cNvSpPr/>
          <p:nvPr/>
        </p:nvSpPr>
        <p:spPr>
          <a:xfrm>
            <a:off x="8732520" y="2048256"/>
            <a:ext cx="2514600" cy="256032"/>
          </a:xfrm>
          <a:prstGeom prst="roundRect">
            <a:avLst>
              <a:gd name="adj" fmla="val 42857"/>
            </a:avLst>
          </a:prstGeom>
          <a:solidFill>
            <a:srgbClr val="E3B23C"/>
          </a:solidFill>
          <a:ln/>
        </p:spPr>
      </p:sp>
      <p:sp>
        <p:nvSpPr>
          <p:cNvPr id="25" name="Text 23"/>
          <p:cNvSpPr/>
          <p:nvPr/>
        </p:nvSpPr>
        <p:spPr>
          <a:xfrm>
            <a:off x="8732520" y="2048256"/>
            <a:ext cx="2514600" cy="256032"/>
          </a:xfrm>
          <a:prstGeom prst="rect">
            <a:avLst/>
          </a:prstGeom>
          <a:noFill/>
          <a:ln/>
        </p:spPr>
        <p:txBody>
          <a:bodyPr wrap="square" lIns="0" tIns="0" rIns="0" bIns="0" rtlCol="0" anchor="ctr"/>
          <a:lstStyle/>
          <a:p>
            <a:pPr algn="ctr" indent="0" marL="0">
              <a:buNone/>
            </a:pPr>
            <a:r>
              <a:rPr lang="en-US" sz="900" b="1" spc="160" kern="0" dirty="0">
                <a:solidFill>
                  <a:srgbClr val="241E33"/>
                </a:solidFill>
                <a:latin typeface="Calibri" pitchFamily="34" charset="0"/>
                <a:ea typeface="Calibri" pitchFamily="34" charset="-122"/>
                <a:cs typeface="Calibri" pitchFamily="34" charset="-120"/>
              </a:rPr>
              <a:t>SPREAD</a:t>
            </a:r>
            <a:endParaRPr lang="en-US" sz="900" dirty="0"/>
          </a:p>
        </p:txBody>
      </p:sp>
      <p:sp>
        <p:nvSpPr>
          <p:cNvPr id="26" name="Text 24"/>
          <p:cNvSpPr/>
          <p:nvPr/>
        </p:nvSpPr>
        <p:spPr>
          <a:xfrm>
            <a:off x="8897112" y="2377440"/>
            <a:ext cx="2194560" cy="402336"/>
          </a:xfrm>
          <a:prstGeom prst="rect">
            <a:avLst/>
          </a:prstGeom>
          <a:noFill/>
          <a:ln/>
        </p:spPr>
        <p:txBody>
          <a:bodyPr wrap="square" lIns="0" tIns="0" rIns="0" bIns="0" rtlCol="0" anchor="ctr"/>
          <a:lstStyle/>
          <a:p>
            <a:pPr indent="0" marL="0">
              <a:lnSpc>
                <a:spcPts val="1300"/>
              </a:lnSpc>
              <a:buNone/>
            </a:pPr>
            <a:r>
              <a:rPr lang="en-US" sz="1150" b="1" dirty="0">
                <a:solidFill>
                  <a:srgbClr val="241E33"/>
                </a:solidFill>
                <a:latin typeface="Cambria" pitchFamily="34" charset="0"/>
                <a:ea typeface="Cambria" pitchFamily="34" charset="-122"/>
                <a:cs typeface="Cambria" pitchFamily="34" charset="-120"/>
              </a:rPr>
              <a:t>One family tells four</a:t>
            </a:r>
            <a:endParaRPr lang="en-US" sz="1150" dirty="0"/>
          </a:p>
        </p:txBody>
      </p:sp>
      <p:sp>
        <p:nvSpPr>
          <p:cNvPr id="27" name="Text 25"/>
          <p:cNvSpPr/>
          <p:nvPr/>
        </p:nvSpPr>
        <p:spPr>
          <a:xfrm>
            <a:off x="8897112" y="2798064"/>
            <a:ext cx="2194560" cy="676656"/>
          </a:xfrm>
          <a:prstGeom prst="rect">
            <a:avLst/>
          </a:prstGeom>
          <a:noFill/>
          <a:ln/>
        </p:spPr>
        <p:txBody>
          <a:bodyPr wrap="square" lIns="0" tIns="0" rIns="0" bIns="0" rtlCol="0" anchor="ctr"/>
          <a:lstStyle/>
          <a:p>
            <a:pPr indent="0" marL="0">
              <a:lnSpc>
                <a:spcPts val="1050"/>
              </a:lnSpc>
              <a:buNone/>
            </a:pPr>
            <a:r>
              <a:rPr lang="en-US" sz="850" dirty="0">
                <a:solidFill>
                  <a:srgbClr val="4A4360"/>
                </a:solidFill>
                <a:latin typeface="Calibri" pitchFamily="34" charset="0"/>
                <a:ea typeface="Calibri" pitchFamily="34" charset="-122"/>
                <a:cs typeface="Calibri" pitchFamily="34" charset="-120"/>
              </a:rPr>
              <a:t>The diaspora channel is a WhatsApp group, a temple hall, a school corridor. It cannot be bought. It can be deserved, and it compounds.</a:t>
            </a:r>
            <a:endParaRPr lang="en-US" sz="850" dirty="0"/>
          </a:p>
        </p:txBody>
      </p:sp>
      <p:sp>
        <p:nvSpPr>
          <p:cNvPr id="28" name="Text 26"/>
          <p:cNvSpPr/>
          <p:nvPr/>
        </p:nvSpPr>
        <p:spPr>
          <a:xfrm>
            <a:off x="640080" y="3675888"/>
            <a:ext cx="4572000" cy="274320"/>
          </a:xfrm>
          <a:prstGeom prst="rect">
            <a:avLst/>
          </a:prstGeom>
          <a:noFill/>
          <a:ln/>
        </p:spPr>
        <p:txBody>
          <a:bodyPr wrap="square" lIns="0" tIns="0" rIns="0" bIns="0" rtlCol="0" anchor="ctr"/>
          <a:lstStyle/>
          <a:p>
            <a:pPr indent="0" marL="0">
              <a:buNone/>
            </a:pPr>
            <a:r>
              <a:rPr lang="en-US" sz="1500" b="1" dirty="0">
                <a:solidFill>
                  <a:srgbClr val="241E33"/>
                </a:solidFill>
                <a:latin typeface="Cambria" pitchFamily="34" charset="0"/>
                <a:ea typeface="Cambria" pitchFamily="34" charset="-122"/>
                <a:cs typeface="Cambria" pitchFamily="34" charset="-120"/>
              </a:rPr>
              <a:t>What each channel is for</a:t>
            </a:r>
            <a:endParaRPr lang="en-US" sz="1500" dirty="0"/>
          </a:p>
        </p:txBody>
      </p:sp>
      <p:sp>
        <p:nvSpPr>
          <p:cNvPr id="29" name="Text 27"/>
          <p:cNvSpPr/>
          <p:nvPr/>
        </p:nvSpPr>
        <p:spPr>
          <a:xfrm>
            <a:off x="3977640" y="4005072"/>
            <a:ext cx="1600200" cy="237744"/>
          </a:xfrm>
          <a:prstGeom prst="rect">
            <a:avLst/>
          </a:prstGeom>
          <a:noFill/>
          <a:ln/>
        </p:spPr>
        <p:txBody>
          <a:bodyPr wrap="square" lIns="0" tIns="0" rIns="0" bIns="0" rtlCol="0" anchor="ctr"/>
          <a:lstStyle/>
          <a:p>
            <a:pPr indent="0" marL="0">
              <a:buNone/>
            </a:pPr>
            <a:r>
              <a:rPr lang="en-US" sz="800" b="1" spc="120" kern="0" dirty="0">
                <a:solidFill>
                  <a:srgbClr val="4A31B0"/>
                </a:solidFill>
                <a:latin typeface="Calibri" pitchFamily="34" charset="0"/>
                <a:ea typeface="Calibri" pitchFamily="34" charset="-122"/>
                <a:cs typeface="Calibri" pitchFamily="34" charset="-120"/>
              </a:rPr>
              <a:t>ROLE</a:t>
            </a:r>
            <a:endParaRPr lang="en-US" sz="800" dirty="0"/>
          </a:p>
        </p:txBody>
      </p:sp>
      <p:sp>
        <p:nvSpPr>
          <p:cNvPr id="30" name="Text 28"/>
          <p:cNvSpPr/>
          <p:nvPr/>
        </p:nvSpPr>
        <p:spPr>
          <a:xfrm>
            <a:off x="5623560" y="4005072"/>
            <a:ext cx="1600200" cy="237744"/>
          </a:xfrm>
          <a:prstGeom prst="rect">
            <a:avLst/>
          </a:prstGeom>
          <a:noFill/>
          <a:ln/>
        </p:spPr>
        <p:txBody>
          <a:bodyPr wrap="square" lIns="0" tIns="0" rIns="0" bIns="0" rtlCol="0" anchor="ctr"/>
          <a:lstStyle/>
          <a:p>
            <a:pPr indent="0" marL="0">
              <a:buNone/>
            </a:pPr>
            <a:r>
              <a:rPr lang="en-US" sz="800" b="1" spc="120" kern="0" dirty="0">
                <a:solidFill>
                  <a:srgbClr val="4A31B0"/>
                </a:solidFill>
                <a:latin typeface="Calibri" pitchFamily="34" charset="0"/>
                <a:ea typeface="Calibri" pitchFamily="34" charset="-122"/>
                <a:cs typeface="Calibri" pitchFamily="34" charset="-120"/>
              </a:rPr>
              <a:t>SWITCHES ON</a:t>
            </a:r>
            <a:endParaRPr lang="en-US" sz="800" dirty="0"/>
          </a:p>
        </p:txBody>
      </p:sp>
      <p:sp>
        <p:nvSpPr>
          <p:cNvPr id="31" name="Text 29"/>
          <p:cNvSpPr/>
          <p:nvPr/>
        </p:nvSpPr>
        <p:spPr>
          <a:xfrm>
            <a:off x="7360920" y="4005072"/>
            <a:ext cx="3886200" cy="237744"/>
          </a:xfrm>
          <a:prstGeom prst="rect">
            <a:avLst/>
          </a:prstGeom>
          <a:noFill/>
          <a:ln/>
        </p:spPr>
        <p:txBody>
          <a:bodyPr wrap="square" lIns="0" tIns="0" rIns="0" bIns="0" rtlCol="0" anchor="ctr"/>
          <a:lstStyle/>
          <a:p>
            <a:pPr indent="0" marL="0">
              <a:buNone/>
            </a:pPr>
            <a:r>
              <a:rPr lang="en-US" sz="800" b="1" spc="120" kern="0" dirty="0">
                <a:solidFill>
                  <a:srgbClr val="4A31B0"/>
                </a:solidFill>
                <a:latin typeface="Calibri" pitchFamily="34" charset="0"/>
                <a:ea typeface="Calibri" pitchFamily="34" charset="-122"/>
                <a:cs typeface="Calibri" pitchFamily="34" charset="-120"/>
              </a:rPr>
              <a:t>THE NUMBER WE WATCH</a:t>
            </a:r>
            <a:endParaRPr lang="en-US" sz="800" dirty="0"/>
          </a:p>
        </p:txBody>
      </p:sp>
      <p:sp>
        <p:nvSpPr>
          <p:cNvPr id="32" name="Shape 30"/>
          <p:cNvSpPr/>
          <p:nvPr/>
        </p:nvSpPr>
        <p:spPr>
          <a:xfrm>
            <a:off x="512064" y="4251960"/>
            <a:ext cx="10954512" cy="347472"/>
          </a:xfrm>
          <a:prstGeom prst="roundRect">
            <a:avLst>
              <a:gd name="adj" fmla="val 21053"/>
            </a:avLst>
          </a:prstGeom>
          <a:solidFill>
            <a:srgbClr val="EFEBF8"/>
          </a:solidFill>
          <a:ln/>
        </p:spPr>
      </p:sp>
      <p:sp>
        <p:nvSpPr>
          <p:cNvPr id="33" name="Shape 31"/>
          <p:cNvSpPr/>
          <p:nvPr/>
        </p:nvSpPr>
        <p:spPr>
          <a:xfrm rot="5400000">
            <a:off x="640080" y="4315968"/>
            <a:ext cx="219456" cy="219456"/>
          </a:xfrm>
          <a:prstGeom prst="hexagon">
            <a:avLst/>
          </a:prstGeom>
          <a:solidFill>
            <a:srgbClr val="178A4C"/>
          </a:solidFill>
          <a:ln/>
        </p:spPr>
      </p:sp>
      <p:sp>
        <p:nvSpPr>
          <p:cNvPr id="34" name="Text 32"/>
          <p:cNvSpPr/>
          <p:nvPr/>
        </p:nvSpPr>
        <p:spPr>
          <a:xfrm>
            <a:off x="950976" y="4261104"/>
            <a:ext cx="3017520" cy="329184"/>
          </a:xfrm>
          <a:prstGeom prst="rect">
            <a:avLst/>
          </a:prstGeom>
          <a:noFill/>
          <a:ln/>
        </p:spPr>
        <p:txBody>
          <a:bodyPr wrap="square" lIns="0" tIns="0" rIns="0" bIns="0" rtlCol="0" anchor="ctr"/>
          <a:lstStyle/>
          <a:p>
            <a:pPr indent="0" marL="0">
              <a:buNone/>
            </a:pPr>
            <a:r>
              <a:rPr lang="en-US" sz="1100" b="1" dirty="0">
                <a:solidFill>
                  <a:srgbClr val="241E33"/>
                </a:solidFill>
                <a:latin typeface="Cambria" pitchFamily="34" charset="0"/>
                <a:ea typeface="Cambria" pitchFamily="34" charset="-122"/>
                <a:cs typeface="Cambria" pitchFamily="34" charset="-120"/>
              </a:rPr>
              <a:t>The free product itself</a:t>
            </a:r>
            <a:endParaRPr lang="en-US" sz="1100" dirty="0"/>
          </a:p>
        </p:txBody>
      </p:sp>
      <p:sp>
        <p:nvSpPr>
          <p:cNvPr id="35" name="Text 33"/>
          <p:cNvSpPr/>
          <p:nvPr/>
        </p:nvSpPr>
        <p:spPr>
          <a:xfrm>
            <a:off x="3977640" y="4261104"/>
            <a:ext cx="1600200" cy="329184"/>
          </a:xfrm>
          <a:prstGeom prst="rect">
            <a:avLst/>
          </a:prstGeom>
          <a:noFill/>
          <a:ln/>
        </p:spPr>
        <p:txBody>
          <a:bodyPr wrap="square" lIns="0" tIns="0" rIns="0" bIns="0" rtlCol="0" anchor="ctr"/>
          <a:lstStyle/>
          <a:p>
            <a:pPr indent="0" marL="0">
              <a:buNone/>
            </a:pPr>
            <a:r>
              <a:rPr lang="en-US" sz="950" i="1" dirty="0">
                <a:solidFill>
                  <a:srgbClr val="178A4C"/>
                </a:solidFill>
                <a:latin typeface="Calibri" pitchFamily="34" charset="0"/>
                <a:ea typeface="Calibri" pitchFamily="34" charset="-122"/>
                <a:cs typeface="Calibri" pitchFamily="34" charset="-120"/>
              </a:rPr>
              <a:t>Converts</a:t>
            </a:r>
            <a:endParaRPr lang="en-US" sz="950" dirty="0"/>
          </a:p>
        </p:txBody>
      </p:sp>
      <p:sp>
        <p:nvSpPr>
          <p:cNvPr id="36" name="Text 34"/>
          <p:cNvSpPr/>
          <p:nvPr/>
        </p:nvSpPr>
        <p:spPr>
          <a:xfrm>
            <a:off x="5623560" y="4261104"/>
            <a:ext cx="1600200" cy="329184"/>
          </a:xfrm>
          <a:prstGeom prst="rect">
            <a:avLst/>
          </a:prstGeom>
          <a:noFill/>
          <a:ln/>
        </p:spPr>
        <p:txBody>
          <a:bodyPr wrap="square" lIns="0" tIns="0" rIns="0" bIns="0" rtlCol="0" anchor="ctr"/>
          <a:lstStyle/>
          <a:p>
            <a:pPr indent="0" marL="0">
              <a:buNone/>
            </a:pPr>
            <a:r>
              <a:rPr lang="en-US" sz="950" b="1" dirty="0">
                <a:solidFill>
                  <a:srgbClr val="4A4360"/>
                </a:solidFill>
                <a:latin typeface="Calibri" pitchFamily="34" charset="0"/>
                <a:ea typeface="Calibri" pitchFamily="34" charset="-122"/>
                <a:cs typeface="Calibri" pitchFamily="34" charset="-120"/>
              </a:rPr>
              <a:t>Week 1</a:t>
            </a:r>
            <a:endParaRPr lang="en-US" sz="950" dirty="0"/>
          </a:p>
        </p:txBody>
      </p:sp>
      <p:sp>
        <p:nvSpPr>
          <p:cNvPr id="37" name="Text 35"/>
          <p:cNvSpPr/>
          <p:nvPr/>
        </p:nvSpPr>
        <p:spPr>
          <a:xfrm>
            <a:off x="7360920" y="4261104"/>
            <a:ext cx="3886200" cy="329184"/>
          </a:xfrm>
          <a:prstGeom prst="rect">
            <a:avLst/>
          </a:prstGeom>
          <a:noFill/>
          <a:ln/>
        </p:spPr>
        <p:txBody>
          <a:bodyPr wrap="square" lIns="0" tIns="0" rIns="0" bIns="0" rtlCol="0" anchor="ctr"/>
          <a:lstStyle/>
          <a:p>
            <a:pPr indent="0" marL="0">
              <a:buNone/>
            </a:pPr>
            <a:r>
              <a:rPr lang="en-US" sz="900" dirty="0">
                <a:solidFill>
                  <a:srgbClr val="4A4360"/>
                </a:solidFill>
                <a:latin typeface="Calibri" pitchFamily="34" charset="0"/>
                <a:ea typeface="Calibri" pitchFamily="34" charset="-122"/>
                <a:cs typeface="Calibri" pitchFamily="34" charset="-120"/>
              </a:rPr>
              <a:t>Week-two return rate — everything downstream is a function of it</a:t>
            </a:r>
            <a:endParaRPr lang="en-US" sz="900" dirty="0"/>
          </a:p>
        </p:txBody>
      </p:sp>
      <p:sp>
        <p:nvSpPr>
          <p:cNvPr id="38" name="Shape 36"/>
          <p:cNvSpPr/>
          <p:nvPr/>
        </p:nvSpPr>
        <p:spPr>
          <a:xfrm rot="5400000">
            <a:off x="640080" y="4681728"/>
            <a:ext cx="219456" cy="219456"/>
          </a:xfrm>
          <a:prstGeom prst="hexagon">
            <a:avLst/>
          </a:prstGeom>
          <a:solidFill>
            <a:srgbClr val="F0B429"/>
          </a:solidFill>
          <a:ln/>
        </p:spPr>
      </p:sp>
      <p:sp>
        <p:nvSpPr>
          <p:cNvPr id="39" name="Text 37"/>
          <p:cNvSpPr/>
          <p:nvPr/>
        </p:nvSpPr>
        <p:spPr>
          <a:xfrm>
            <a:off x="950976" y="4626864"/>
            <a:ext cx="3017520" cy="329184"/>
          </a:xfrm>
          <a:prstGeom prst="rect">
            <a:avLst/>
          </a:prstGeom>
          <a:noFill/>
          <a:ln/>
        </p:spPr>
        <p:txBody>
          <a:bodyPr wrap="square" lIns="0" tIns="0" rIns="0" bIns="0" rtlCol="0" anchor="ctr"/>
          <a:lstStyle/>
          <a:p>
            <a:pPr indent="0" marL="0">
              <a:buNone/>
            </a:pPr>
            <a:r>
              <a:rPr lang="en-US" sz="1100" b="1" dirty="0">
                <a:solidFill>
                  <a:srgbClr val="241E33"/>
                </a:solidFill>
                <a:latin typeface="Cambria" pitchFamily="34" charset="0"/>
                <a:ea typeface="Cambria" pitchFamily="34" charset="-122"/>
                <a:cs typeface="Cambria" pitchFamily="34" charset="-120"/>
              </a:rPr>
              <a:t>YouTube back catalogue</a:t>
            </a:r>
            <a:endParaRPr lang="en-US" sz="1100" dirty="0"/>
          </a:p>
        </p:txBody>
      </p:sp>
      <p:sp>
        <p:nvSpPr>
          <p:cNvPr id="40" name="Text 38"/>
          <p:cNvSpPr/>
          <p:nvPr/>
        </p:nvSpPr>
        <p:spPr>
          <a:xfrm>
            <a:off x="3977640" y="4626864"/>
            <a:ext cx="1600200" cy="329184"/>
          </a:xfrm>
          <a:prstGeom prst="rect">
            <a:avLst/>
          </a:prstGeom>
          <a:noFill/>
          <a:ln/>
        </p:spPr>
        <p:txBody>
          <a:bodyPr wrap="square" lIns="0" tIns="0" rIns="0" bIns="0" rtlCol="0" anchor="ctr"/>
          <a:lstStyle/>
          <a:p>
            <a:pPr indent="0" marL="0">
              <a:buNone/>
            </a:pPr>
            <a:r>
              <a:rPr lang="en-US" sz="950" i="1" dirty="0">
                <a:solidFill>
                  <a:srgbClr val="F0B429"/>
                </a:solidFill>
                <a:latin typeface="Calibri" pitchFamily="34" charset="0"/>
                <a:ea typeface="Calibri" pitchFamily="34" charset="-122"/>
                <a:cs typeface="Calibri" pitchFamily="34" charset="-120"/>
              </a:rPr>
              <a:t>Finds</a:t>
            </a:r>
            <a:endParaRPr lang="en-US" sz="950" dirty="0"/>
          </a:p>
        </p:txBody>
      </p:sp>
      <p:sp>
        <p:nvSpPr>
          <p:cNvPr id="41" name="Text 39"/>
          <p:cNvSpPr/>
          <p:nvPr/>
        </p:nvSpPr>
        <p:spPr>
          <a:xfrm>
            <a:off x="5623560" y="4626864"/>
            <a:ext cx="1600200" cy="329184"/>
          </a:xfrm>
          <a:prstGeom prst="rect">
            <a:avLst/>
          </a:prstGeom>
          <a:noFill/>
          <a:ln/>
        </p:spPr>
        <p:txBody>
          <a:bodyPr wrap="square" lIns="0" tIns="0" rIns="0" bIns="0" rtlCol="0" anchor="ctr"/>
          <a:lstStyle/>
          <a:p>
            <a:pPr indent="0" marL="0">
              <a:buNone/>
            </a:pPr>
            <a:r>
              <a:rPr lang="en-US" sz="950" b="1" dirty="0">
                <a:solidFill>
                  <a:srgbClr val="4A4360"/>
                </a:solidFill>
                <a:latin typeface="Calibri" pitchFamily="34" charset="0"/>
                <a:ea typeface="Calibri" pitchFamily="34" charset="-122"/>
                <a:cs typeface="Calibri" pitchFamily="34" charset="-120"/>
              </a:rPr>
              <a:t>Week 1</a:t>
            </a:r>
            <a:endParaRPr lang="en-US" sz="950" dirty="0"/>
          </a:p>
        </p:txBody>
      </p:sp>
      <p:sp>
        <p:nvSpPr>
          <p:cNvPr id="42" name="Text 40"/>
          <p:cNvSpPr/>
          <p:nvPr/>
        </p:nvSpPr>
        <p:spPr>
          <a:xfrm>
            <a:off x="7360920" y="4626864"/>
            <a:ext cx="3886200" cy="329184"/>
          </a:xfrm>
          <a:prstGeom prst="rect">
            <a:avLst/>
          </a:prstGeom>
          <a:noFill/>
          <a:ln/>
        </p:spPr>
        <p:txBody>
          <a:bodyPr wrap="square" lIns="0" tIns="0" rIns="0" bIns="0" rtlCol="0" anchor="ctr"/>
          <a:lstStyle/>
          <a:p>
            <a:pPr indent="0" marL="0">
              <a:buNone/>
            </a:pPr>
            <a:r>
              <a:rPr lang="en-US" sz="900" dirty="0">
                <a:solidFill>
                  <a:srgbClr val="4A4360"/>
                </a:solidFill>
                <a:latin typeface="Calibri" pitchFamily="34" charset="0"/>
                <a:ea typeface="Calibri" pitchFamily="34" charset="-122"/>
                <a:cs typeface="Calibri" pitchFamily="34" charset="-120"/>
              </a:rPr>
              <a:t>Views per video after 90 days, not on launch day</a:t>
            </a:r>
            <a:endParaRPr lang="en-US" sz="900" dirty="0"/>
          </a:p>
        </p:txBody>
      </p:sp>
      <p:sp>
        <p:nvSpPr>
          <p:cNvPr id="43" name="Shape 41"/>
          <p:cNvSpPr/>
          <p:nvPr/>
        </p:nvSpPr>
        <p:spPr>
          <a:xfrm>
            <a:off x="512064" y="4983480"/>
            <a:ext cx="10954512" cy="347472"/>
          </a:xfrm>
          <a:prstGeom prst="roundRect">
            <a:avLst>
              <a:gd name="adj" fmla="val 21053"/>
            </a:avLst>
          </a:prstGeom>
          <a:solidFill>
            <a:srgbClr val="EFEBF8"/>
          </a:solidFill>
          <a:ln/>
        </p:spPr>
      </p:sp>
      <p:sp>
        <p:nvSpPr>
          <p:cNvPr id="44" name="Shape 42"/>
          <p:cNvSpPr/>
          <p:nvPr/>
        </p:nvSpPr>
        <p:spPr>
          <a:xfrm rot="5400000">
            <a:off x="640080" y="5047488"/>
            <a:ext cx="219456" cy="219456"/>
          </a:xfrm>
          <a:prstGeom prst="hexagon">
            <a:avLst/>
          </a:prstGeom>
          <a:solidFill>
            <a:srgbClr val="178A4C"/>
          </a:solidFill>
          <a:ln/>
        </p:spPr>
      </p:sp>
      <p:sp>
        <p:nvSpPr>
          <p:cNvPr id="45" name="Text 43"/>
          <p:cNvSpPr/>
          <p:nvPr/>
        </p:nvSpPr>
        <p:spPr>
          <a:xfrm>
            <a:off x="950976" y="4992624"/>
            <a:ext cx="3017520" cy="329184"/>
          </a:xfrm>
          <a:prstGeom prst="rect">
            <a:avLst/>
          </a:prstGeom>
          <a:noFill/>
          <a:ln/>
        </p:spPr>
        <p:txBody>
          <a:bodyPr wrap="square" lIns="0" tIns="0" rIns="0" bIns="0" rtlCol="0" anchor="ctr"/>
          <a:lstStyle/>
          <a:p>
            <a:pPr indent="0" marL="0">
              <a:buNone/>
            </a:pPr>
            <a:r>
              <a:rPr lang="en-US" sz="1100" b="1" dirty="0">
                <a:solidFill>
                  <a:srgbClr val="241E33"/>
                </a:solidFill>
                <a:latin typeface="Cambria" pitchFamily="34" charset="0"/>
                <a:ea typeface="Cambria" pitchFamily="34" charset="-122"/>
                <a:cs typeface="Cambria" pitchFamily="34" charset="-120"/>
              </a:rPr>
              <a:t>Referral &amp; WhatsApp</a:t>
            </a:r>
            <a:endParaRPr lang="en-US" sz="1100" dirty="0"/>
          </a:p>
        </p:txBody>
      </p:sp>
      <p:sp>
        <p:nvSpPr>
          <p:cNvPr id="46" name="Text 44"/>
          <p:cNvSpPr/>
          <p:nvPr/>
        </p:nvSpPr>
        <p:spPr>
          <a:xfrm>
            <a:off x="3977640" y="4992624"/>
            <a:ext cx="1600200" cy="329184"/>
          </a:xfrm>
          <a:prstGeom prst="rect">
            <a:avLst/>
          </a:prstGeom>
          <a:noFill/>
          <a:ln/>
        </p:spPr>
        <p:txBody>
          <a:bodyPr wrap="square" lIns="0" tIns="0" rIns="0" bIns="0" rtlCol="0" anchor="ctr"/>
          <a:lstStyle/>
          <a:p>
            <a:pPr indent="0" marL="0">
              <a:buNone/>
            </a:pPr>
            <a:r>
              <a:rPr lang="en-US" sz="950" i="1" dirty="0">
                <a:solidFill>
                  <a:srgbClr val="178A4C"/>
                </a:solidFill>
                <a:latin typeface="Calibri" pitchFamily="34" charset="0"/>
                <a:ea typeface="Calibri" pitchFamily="34" charset="-122"/>
                <a:cs typeface="Calibri" pitchFamily="34" charset="-120"/>
              </a:rPr>
              <a:t>Multiplies</a:t>
            </a:r>
            <a:endParaRPr lang="en-US" sz="950" dirty="0"/>
          </a:p>
        </p:txBody>
      </p:sp>
      <p:sp>
        <p:nvSpPr>
          <p:cNvPr id="47" name="Text 45"/>
          <p:cNvSpPr/>
          <p:nvPr/>
        </p:nvSpPr>
        <p:spPr>
          <a:xfrm>
            <a:off x="5623560" y="4992624"/>
            <a:ext cx="1600200" cy="329184"/>
          </a:xfrm>
          <a:prstGeom prst="rect">
            <a:avLst/>
          </a:prstGeom>
          <a:noFill/>
          <a:ln/>
        </p:spPr>
        <p:txBody>
          <a:bodyPr wrap="square" lIns="0" tIns="0" rIns="0" bIns="0" rtlCol="0" anchor="ctr"/>
          <a:lstStyle/>
          <a:p>
            <a:pPr indent="0" marL="0">
              <a:buNone/>
            </a:pPr>
            <a:r>
              <a:rPr lang="en-US" sz="950" b="1" dirty="0">
                <a:solidFill>
                  <a:srgbClr val="4A4360"/>
                </a:solidFill>
                <a:latin typeface="Calibri" pitchFamily="34" charset="0"/>
                <a:ea typeface="Calibri" pitchFamily="34" charset="-122"/>
                <a:cs typeface="Calibri" pitchFamily="34" charset="-120"/>
              </a:rPr>
              <a:t>Month 3</a:t>
            </a:r>
            <a:endParaRPr lang="en-US" sz="950" dirty="0"/>
          </a:p>
        </p:txBody>
      </p:sp>
      <p:sp>
        <p:nvSpPr>
          <p:cNvPr id="48" name="Text 46"/>
          <p:cNvSpPr/>
          <p:nvPr/>
        </p:nvSpPr>
        <p:spPr>
          <a:xfrm>
            <a:off x="7360920" y="4992624"/>
            <a:ext cx="3886200" cy="329184"/>
          </a:xfrm>
          <a:prstGeom prst="rect">
            <a:avLst/>
          </a:prstGeom>
          <a:noFill/>
          <a:ln/>
        </p:spPr>
        <p:txBody>
          <a:bodyPr wrap="square" lIns="0" tIns="0" rIns="0" bIns="0" rtlCol="0" anchor="ctr"/>
          <a:lstStyle/>
          <a:p>
            <a:pPr indent="0" marL="0">
              <a:buNone/>
            </a:pPr>
            <a:r>
              <a:rPr lang="en-US" sz="900" dirty="0">
                <a:solidFill>
                  <a:srgbClr val="4A4360"/>
                </a:solidFill>
                <a:latin typeface="Calibri" pitchFamily="34" charset="0"/>
                <a:ea typeface="Calibri" pitchFamily="34" charset="-122"/>
                <a:cs typeface="Calibri" pitchFamily="34" charset="-120"/>
              </a:rPr>
              <a:t>Invites sent per paying household per year — target 2+</a:t>
            </a:r>
            <a:endParaRPr lang="en-US" sz="900" dirty="0"/>
          </a:p>
        </p:txBody>
      </p:sp>
      <p:sp>
        <p:nvSpPr>
          <p:cNvPr id="49" name="Shape 47"/>
          <p:cNvSpPr/>
          <p:nvPr/>
        </p:nvSpPr>
        <p:spPr>
          <a:xfrm rot="5400000">
            <a:off x="640080" y="5413248"/>
            <a:ext cx="219456" cy="219456"/>
          </a:xfrm>
          <a:prstGeom prst="hexagon">
            <a:avLst/>
          </a:prstGeom>
          <a:solidFill>
            <a:srgbClr val="E3B23C"/>
          </a:solidFill>
          <a:ln/>
        </p:spPr>
      </p:sp>
      <p:sp>
        <p:nvSpPr>
          <p:cNvPr id="50" name="Text 48"/>
          <p:cNvSpPr/>
          <p:nvPr/>
        </p:nvSpPr>
        <p:spPr>
          <a:xfrm>
            <a:off x="950976" y="5358384"/>
            <a:ext cx="3017520" cy="329184"/>
          </a:xfrm>
          <a:prstGeom prst="rect">
            <a:avLst/>
          </a:prstGeom>
          <a:noFill/>
          <a:ln/>
        </p:spPr>
        <p:txBody>
          <a:bodyPr wrap="square" lIns="0" tIns="0" rIns="0" bIns="0" rtlCol="0" anchor="ctr"/>
          <a:lstStyle/>
          <a:p>
            <a:pPr indent="0" marL="0">
              <a:buNone/>
            </a:pPr>
            <a:r>
              <a:rPr lang="en-US" sz="1100" b="1" dirty="0">
                <a:solidFill>
                  <a:srgbClr val="241E33"/>
                </a:solidFill>
                <a:latin typeface="Cambria" pitchFamily="34" charset="0"/>
                <a:ea typeface="Cambria" pitchFamily="34" charset="-122"/>
                <a:cs typeface="Cambria" pitchFamily="34" charset="-120"/>
              </a:rPr>
              <a:t>Community &amp; events</a:t>
            </a:r>
            <a:endParaRPr lang="en-US" sz="1100" dirty="0"/>
          </a:p>
        </p:txBody>
      </p:sp>
      <p:sp>
        <p:nvSpPr>
          <p:cNvPr id="51" name="Text 49"/>
          <p:cNvSpPr/>
          <p:nvPr/>
        </p:nvSpPr>
        <p:spPr>
          <a:xfrm>
            <a:off x="3977640" y="5358384"/>
            <a:ext cx="1600200" cy="329184"/>
          </a:xfrm>
          <a:prstGeom prst="rect">
            <a:avLst/>
          </a:prstGeom>
          <a:noFill/>
          <a:ln/>
        </p:spPr>
        <p:txBody>
          <a:bodyPr wrap="square" lIns="0" tIns="0" rIns="0" bIns="0" rtlCol="0" anchor="ctr"/>
          <a:lstStyle/>
          <a:p>
            <a:pPr indent="0" marL="0">
              <a:buNone/>
            </a:pPr>
            <a:r>
              <a:rPr lang="en-US" sz="950" i="1" dirty="0">
                <a:solidFill>
                  <a:srgbClr val="E3B23C"/>
                </a:solidFill>
                <a:latin typeface="Calibri" pitchFamily="34" charset="0"/>
                <a:ea typeface="Calibri" pitchFamily="34" charset="-122"/>
                <a:cs typeface="Calibri" pitchFamily="34" charset="-120"/>
              </a:rPr>
              <a:t>Converts hardest</a:t>
            </a:r>
            <a:endParaRPr lang="en-US" sz="950" dirty="0"/>
          </a:p>
        </p:txBody>
      </p:sp>
      <p:sp>
        <p:nvSpPr>
          <p:cNvPr id="52" name="Text 50"/>
          <p:cNvSpPr/>
          <p:nvPr/>
        </p:nvSpPr>
        <p:spPr>
          <a:xfrm>
            <a:off x="5623560" y="5358384"/>
            <a:ext cx="1600200" cy="329184"/>
          </a:xfrm>
          <a:prstGeom prst="rect">
            <a:avLst/>
          </a:prstGeom>
          <a:noFill/>
          <a:ln/>
        </p:spPr>
        <p:txBody>
          <a:bodyPr wrap="square" lIns="0" tIns="0" rIns="0" bIns="0" rtlCol="0" anchor="ctr"/>
          <a:lstStyle/>
          <a:p>
            <a:pPr indent="0" marL="0">
              <a:buNone/>
            </a:pPr>
            <a:r>
              <a:rPr lang="en-US" sz="950" b="1" dirty="0">
                <a:solidFill>
                  <a:srgbClr val="4A4360"/>
                </a:solidFill>
                <a:latin typeface="Calibri" pitchFamily="34" charset="0"/>
                <a:ea typeface="Calibri" pitchFamily="34" charset="-122"/>
                <a:cs typeface="Calibri" pitchFamily="34" charset="-120"/>
              </a:rPr>
              <a:t>Month 6</a:t>
            </a:r>
            <a:endParaRPr lang="en-US" sz="950" dirty="0"/>
          </a:p>
        </p:txBody>
      </p:sp>
      <p:sp>
        <p:nvSpPr>
          <p:cNvPr id="53" name="Text 51"/>
          <p:cNvSpPr/>
          <p:nvPr/>
        </p:nvSpPr>
        <p:spPr>
          <a:xfrm>
            <a:off x="7360920" y="5358384"/>
            <a:ext cx="3886200" cy="329184"/>
          </a:xfrm>
          <a:prstGeom prst="rect">
            <a:avLst/>
          </a:prstGeom>
          <a:noFill/>
          <a:ln/>
        </p:spPr>
        <p:txBody>
          <a:bodyPr wrap="square" lIns="0" tIns="0" rIns="0" bIns="0" rtlCol="0" anchor="ctr"/>
          <a:lstStyle/>
          <a:p>
            <a:pPr indent="0" marL="0">
              <a:buNone/>
            </a:pPr>
            <a:r>
              <a:rPr lang="en-US" sz="900" dirty="0">
                <a:solidFill>
                  <a:srgbClr val="4A4360"/>
                </a:solidFill>
                <a:latin typeface="Calibri" pitchFamily="34" charset="0"/>
                <a:ea typeface="Calibri" pitchFamily="34" charset="-122"/>
                <a:cs typeface="Calibri" pitchFamily="34" charset="-120"/>
              </a:rPr>
              <a:t>Cost per household at a regional bee, versus $130 paid</a:t>
            </a:r>
            <a:endParaRPr lang="en-US" sz="900" dirty="0"/>
          </a:p>
        </p:txBody>
      </p:sp>
      <p:sp>
        <p:nvSpPr>
          <p:cNvPr id="54" name="Shape 52"/>
          <p:cNvSpPr/>
          <p:nvPr/>
        </p:nvSpPr>
        <p:spPr>
          <a:xfrm>
            <a:off x="512064" y="5715000"/>
            <a:ext cx="10954512" cy="347472"/>
          </a:xfrm>
          <a:prstGeom prst="roundRect">
            <a:avLst>
              <a:gd name="adj" fmla="val 21053"/>
            </a:avLst>
          </a:prstGeom>
          <a:solidFill>
            <a:srgbClr val="EFEBF8"/>
          </a:solidFill>
          <a:ln/>
        </p:spPr>
      </p:sp>
      <p:sp>
        <p:nvSpPr>
          <p:cNvPr id="55" name="Shape 53"/>
          <p:cNvSpPr/>
          <p:nvPr/>
        </p:nvSpPr>
        <p:spPr>
          <a:xfrm rot="5400000">
            <a:off x="640080" y="5779008"/>
            <a:ext cx="219456" cy="219456"/>
          </a:xfrm>
          <a:prstGeom prst="hexagon">
            <a:avLst/>
          </a:prstGeom>
          <a:solidFill>
            <a:srgbClr val="6C4FE0"/>
          </a:solidFill>
          <a:ln/>
        </p:spPr>
      </p:sp>
      <p:sp>
        <p:nvSpPr>
          <p:cNvPr id="56" name="Text 54"/>
          <p:cNvSpPr/>
          <p:nvPr/>
        </p:nvSpPr>
        <p:spPr>
          <a:xfrm>
            <a:off x="950976" y="5724144"/>
            <a:ext cx="3017520" cy="329184"/>
          </a:xfrm>
          <a:prstGeom prst="rect">
            <a:avLst/>
          </a:prstGeom>
          <a:noFill/>
          <a:ln/>
        </p:spPr>
        <p:txBody>
          <a:bodyPr wrap="square" lIns="0" tIns="0" rIns="0" bIns="0" rtlCol="0" anchor="ctr"/>
          <a:lstStyle/>
          <a:p>
            <a:pPr indent="0" marL="0">
              <a:buNone/>
            </a:pPr>
            <a:r>
              <a:rPr lang="en-US" sz="1100" b="1" dirty="0">
                <a:solidFill>
                  <a:srgbClr val="241E33"/>
                </a:solidFill>
                <a:latin typeface="Cambria" pitchFamily="34" charset="0"/>
                <a:ea typeface="Cambria" pitchFamily="34" charset="-122"/>
                <a:cs typeface="Cambria" pitchFamily="34" charset="-120"/>
              </a:rPr>
              <a:t>Search &amp; Meta</a:t>
            </a:r>
            <a:endParaRPr lang="en-US" sz="1100" dirty="0"/>
          </a:p>
        </p:txBody>
      </p:sp>
      <p:sp>
        <p:nvSpPr>
          <p:cNvPr id="57" name="Text 55"/>
          <p:cNvSpPr/>
          <p:nvPr/>
        </p:nvSpPr>
        <p:spPr>
          <a:xfrm>
            <a:off x="3977640" y="5724144"/>
            <a:ext cx="1600200" cy="329184"/>
          </a:xfrm>
          <a:prstGeom prst="rect">
            <a:avLst/>
          </a:prstGeom>
          <a:noFill/>
          <a:ln/>
        </p:spPr>
        <p:txBody>
          <a:bodyPr wrap="square" lIns="0" tIns="0" rIns="0" bIns="0" rtlCol="0" anchor="ctr"/>
          <a:lstStyle/>
          <a:p>
            <a:pPr indent="0" marL="0">
              <a:buNone/>
            </a:pPr>
            <a:r>
              <a:rPr lang="en-US" sz="950" i="1" dirty="0">
                <a:solidFill>
                  <a:srgbClr val="6C4FE0"/>
                </a:solidFill>
                <a:latin typeface="Calibri" pitchFamily="34" charset="0"/>
                <a:ea typeface="Calibri" pitchFamily="34" charset="-122"/>
                <a:cs typeface="Calibri" pitchFamily="34" charset="-120"/>
              </a:rPr>
              <a:t>Amplifies</a:t>
            </a:r>
            <a:endParaRPr lang="en-US" sz="950" dirty="0"/>
          </a:p>
        </p:txBody>
      </p:sp>
      <p:sp>
        <p:nvSpPr>
          <p:cNvPr id="58" name="Text 56"/>
          <p:cNvSpPr/>
          <p:nvPr/>
        </p:nvSpPr>
        <p:spPr>
          <a:xfrm>
            <a:off x="5623560" y="5724144"/>
            <a:ext cx="1600200" cy="329184"/>
          </a:xfrm>
          <a:prstGeom prst="rect">
            <a:avLst/>
          </a:prstGeom>
          <a:noFill/>
          <a:ln/>
        </p:spPr>
        <p:txBody>
          <a:bodyPr wrap="square" lIns="0" tIns="0" rIns="0" bIns="0" rtlCol="0" anchor="ctr"/>
          <a:lstStyle/>
          <a:p>
            <a:pPr indent="0" marL="0">
              <a:buNone/>
            </a:pPr>
            <a:r>
              <a:rPr lang="en-US" sz="950" b="1" dirty="0">
                <a:solidFill>
                  <a:srgbClr val="4A4360"/>
                </a:solidFill>
                <a:latin typeface="Calibri" pitchFamily="34" charset="0"/>
                <a:ea typeface="Calibri" pitchFamily="34" charset="-122"/>
                <a:cs typeface="Calibri" pitchFamily="34" charset="-120"/>
              </a:rPr>
              <a:t>When funded</a:t>
            </a:r>
            <a:endParaRPr lang="en-US" sz="950" dirty="0"/>
          </a:p>
        </p:txBody>
      </p:sp>
      <p:sp>
        <p:nvSpPr>
          <p:cNvPr id="59" name="Text 57"/>
          <p:cNvSpPr/>
          <p:nvPr/>
        </p:nvSpPr>
        <p:spPr>
          <a:xfrm>
            <a:off x="7360920" y="5724144"/>
            <a:ext cx="3886200" cy="329184"/>
          </a:xfrm>
          <a:prstGeom prst="rect">
            <a:avLst/>
          </a:prstGeom>
          <a:noFill/>
          <a:ln/>
        </p:spPr>
        <p:txBody>
          <a:bodyPr wrap="square" lIns="0" tIns="0" rIns="0" bIns="0" rtlCol="0" anchor="ctr"/>
          <a:lstStyle/>
          <a:p>
            <a:pPr indent="0" marL="0">
              <a:buNone/>
            </a:pPr>
            <a:r>
              <a:rPr lang="en-US" sz="900" dirty="0">
                <a:solidFill>
                  <a:srgbClr val="4A4360"/>
                </a:solidFill>
                <a:latin typeface="Calibri" pitchFamily="34" charset="0"/>
                <a:ea typeface="Calibri" pitchFamily="34" charset="-122"/>
                <a:cs typeface="Calibri" pitchFamily="34" charset="-120"/>
              </a:rPr>
              <a:t>Only ever 18% of trailing revenue — never a fixed budget</a:t>
            </a:r>
            <a:endParaRPr lang="en-US" sz="900" dirty="0"/>
          </a:p>
        </p:txBody>
      </p:sp>
      <p:sp>
        <p:nvSpPr>
          <p:cNvPr id="60" name="Shape 58"/>
          <p:cNvSpPr/>
          <p:nvPr/>
        </p:nvSpPr>
        <p:spPr>
          <a:xfrm rot="5400000">
            <a:off x="640080" y="6144768"/>
            <a:ext cx="219456" cy="219456"/>
          </a:xfrm>
          <a:prstGeom prst="hexagon">
            <a:avLst/>
          </a:prstGeom>
          <a:solidFill>
            <a:srgbClr val="6C4FE0"/>
          </a:solidFill>
          <a:ln/>
        </p:spPr>
      </p:sp>
      <p:sp>
        <p:nvSpPr>
          <p:cNvPr id="61" name="Text 59"/>
          <p:cNvSpPr/>
          <p:nvPr/>
        </p:nvSpPr>
        <p:spPr>
          <a:xfrm>
            <a:off x="950976" y="6089904"/>
            <a:ext cx="3017520" cy="329184"/>
          </a:xfrm>
          <a:prstGeom prst="rect">
            <a:avLst/>
          </a:prstGeom>
          <a:noFill/>
          <a:ln/>
        </p:spPr>
        <p:txBody>
          <a:bodyPr wrap="square" lIns="0" tIns="0" rIns="0" bIns="0" rtlCol="0" anchor="ctr"/>
          <a:lstStyle/>
          <a:p>
            <a:pPr indent="0" marL="0">
              <a:buNone/>
            </a:pPr>
            <a:r>
              <a:rPr lang="en-US" sz="1100" b="1" dirty="0">
                <a:solidFill>
                  <a:srgbClr val="241E33"/>
                </a:solidFill>
                <a:latin typeface="Cambria" pitchFamily="34" charset="0"/>
                <a:ea typeface="Cambria" pitchFamily="34" charset="-122"/>
                <a:cs typeface="Cambria" pitchFamily="34" charset="-120"/>
              </a:rPr>
              <a:t>School &amp; club partnerships</a:t>
            </a:r>
            <a:endParaRPr lang="en-US" sz="1100" dirty="0"/>
          </a:p>
        </p:txBody>
      </p:sp>
      <p:sp>
        <p:nvSpPr>
          <p:cNvPr id="62" name="Text 60"/>
          <p:cNvSpPr/>
          <p:nvPr/>
        </p:nvSpPr>
        <p:spPr>
          <a:xfrm>
            <a:off x="3977640" y="6089904"/>
            <a:ext cx="1600200" cy="329184"/>
          </a:xfrm>
          <a:prstGeom prst="rect">
            <a:avLst/>
          </a:prstGeom>
          <a:noFill/>
          <a:ln/>
        </p:spPr>
        <p:txBody>
          <a:bodyPr wrap="square" lIns="0" tIns="0" rIns="0" bIns="0" rtlCol="0" anchor="ctr"/>
          <a:lstStyle/>
          <a:p>
            <a:pPr indent="0" marL="0">
              <a:buNone/>
            </a:pPr>
            <a:r>
              <a:rPr lang="en-US" sz="950" i="1" dirty="0">
                <a:solidFill>
                  <a:srgbClr val="6C4FE0"/>
                </a:solidFill>
                <a:latin typeface="Calibri" pitchFamily="34" charset="0"/>
                <a:ea typeface="Calibri" pitchFamily="34" charset="-122"/>
                <a:cs typeface="Calibri" pitchFamily="34" charset="-120"/>
              </a:rPr>
              <a:t>Reaches at scale</a:t>
            </a:r>
            <a:endParaRPr lang="en-US" sz="950" dirty="0"/>
          </a:p>
        </p:txBody>
      </p:sp>
      <p:sp>
        <p:nvSpPr>
          <p:cNvPr id="63" name="Text 61"/>
          <p:cNvSpPr/>
          <p:nvPr/>
        </p:nvSpPr>
        <p:spPr>
          <a:xfrm>
            <a:off x="5623560" y="6089904"/>
            <a:ext cx="1600200" cy="329184"/>
          </a:xfrm>
          <a:prstGeom prst="rect">
            <a:avLst/>
          </a:prstGeom>
          <a:noFill/>
          <a:ln/>
        </p:spPr>
        <p:txBody>
          <a:bodyPr wrap="square" lIns="0" tIns="0" rIns="0" bIns="0" rtlCol="0" anchor="ctr"/>
          <a:lstStyle/>
          <a:p>
            <a:pPr indent="0" marL="0">
              <a:buNone/>
            </a:pPr>
            <a:r>
              <a:rPr lang="en-US" sz="950" b="1" dirty="0">
                <a:solidFill>
                  <a:srgbClr val="4A4360"/>
                </a:solidFill>
                <a:latin typeface="Calibri" pitchFamily="34" charset="0"/>
                <a:ea typeface="Calibri" pitchFamily="34" charset="-122"/>
                <a:cs typeface="Calibri" pitchFamily="34" charset="-120"/>
              </a:rPr>
              <a:t>Year 2</a:t>
            </a:r>
            <a:endParaRPr lang="en-US" sz="950" dirty="0"/>
          </a:p>
        </p:txBody>
      </p:sp>
      <p:sp>
        <p:nvSpPr>
          <p:cNvPr id="64" name="Text 62"/>
          <p:cNvSpPr/>
          <p:nvPr/>
        </p:nvSpPr>
        <p:spPr>
          <a:xfrm>
            <a:off x="7360920" y="6089904"/>
            <a:ext cx="3886200" cy="329184"/>
          </a:xfrm>
          <a:prstGeom prst="rect">
            <a:avLst/>
          </a:prstGeom>
          <a:noFill/>
          <a:ln/>
        </p:spPr>
        <p:txBody>
          <a:bodyPr wrap="square" lIns="0" tIns="0" rIns="0" bIns="0" rtlCol="0" anchor="ctr"/>
          <a:lstStyle/>
          <a:p>
            <a:pPr indent="0" marL="0">
              <a:buNone/>
            </a:pPr>
            <a:r>
              <a:rPr lang="en-US" sz="900" dirty="0">
                <a:solidFill>
                  <a:srgbClr val="4A4360"/>
                </a:solidFill>
                <a:latin typeface="Calibri" pitchFamily="34" charset="0"/>
                <a:ea typeface="Calibri" pitchFamily="34" charset="-122"/>
                <a:cs typeface="Calibri" pitchFamily="34" charset="-120"/>
              </a:rPr>
              <a:t>Households per partnership; one club is worth ~40</a:t>
            </a:r>
            <a:endParaRPr lang="en-US" sz="900" dirty="0"/>
          </a:p>
        </p:txBody>
      </p:sp>
      <p:sp>
        <p:nvSpPr>
          <p:cNvPr id="65" name="Shape 63"/>
          <p:cNvSpPr/>
          <p:nvPr/>
        </p:nvSpPr>
        <p:spPr>
          <a:xfrm>
            <a:off x="640080" y="6455664"/>
            <a:ext cx="10607040" cy="347472"/>
          </a:xfrm>
          <a:prstGeom prst="roundRect">
            <a:avLst>
              <a:gd name="adj" fmla="val 23684"/>
            </a:avLst>
          </a:prstGeom>
          <a:solidFill>
            <a:srgbClr val="241E33"/>
          </a:solidFill>
          <a:ln/>
        </p:spPr>
      </p:sp>
      <p:sp>
        <p:nvSpPr>
          <p:cNvPr id="66" name="Text 64"/>
          <p:cNvSpPr/>
          <p:nvPr/>
        </p:nvSpPr>
        <p:spPr>
          <a:xfrm>
            <a:off x="877824" y="6455664"/>
            <a:ext cx="10149840" cy="347472"/>
          </a:xfrm>
          <a:prstGeom prst="rect">
            <a:avLst/>
          </a:prstGeom>
          <a:noFill/>
          <a:ln/>
        </p:spPr>
        <p:txBody>
          <a:bodyPr wrap="square" lIns="0" tIns="0" rIns="0" bIns="0" rtlCol="0" anchor="ctr"/>
          <a:lstStyle/>
          <a:p>
            <a:pPr indent="0" marL="0">
              <a:buNone/>
            </a:pPr>
            <a:r>
              <a:rPr lang="en-US" sz="950" b="1" dirty="0">
                <a:solidFill>
                  <a:srgbClr val="F0B429"/>
                </a:solidFill>
                <a:latin typeface="Calibri" pitchFamily="34" charset="0"/>
                <a:ea typeface="Calibri" pitchFamily="34" charset="-122"/>
                <a:cs typeface="Calibri" pitchFamily="34" charset="-120"/>
              </a:rPr>
              <a:t>The order is deliberate.  </a:t>
            </a:r>
            <a:pPr indent="0" marL="0">
              <a:buNone/>
            </a:pPr>
            <a:r>
              <a:rPr lang="en-US" sz="950" dirty="0">
                <a:solidFill>
                  <a:srgbClr val="E3DCF2"/>
                </a:solidFill>
                <a:latin typeface="Calibri" pitchFamily="34" charset="0"/>
                <a:ea typeface="Calibri" pitchFamily="34" charset="-122"/>
                <a:cs typeface="Calibri" pitchFamily="34" charset="-120"/>
              </a:rPr>
              <a:t>Paid media is last because it multiplies whatever it is pointed at. Pointed at a product families do not return to, it multiplies a leak — which is the most common way a plan like this loses money.</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02336"/>
            <a:ext cx="7315200" cy="256032"/>
          </a:xfrm>
          <a:prstGeom prst="rect">
            <a:avLst/>
          </a:prstGeom>
          <a:noFill/>
          <a:ln/>
        </p:spPr>
        <p:txBody>
          <a:bodyPr wrap="square" lIns="0" tIns="0" rIns="0" bIns="0" rtlCol="0" anchor="ctr"/>
          <a:lstStyle/>
          <a:p>
            <a:pPr indent="0" marL="0">
              <a:buNone/>
            </a:pPr>
            <a:r>
              <a:rPr lang="en-US" sz="1150" b="1" spc="240" kern="0" dirty="0">
                <a:solidFill>
                  <a:srgbClr val="6C4FE0"/>
                </a:solidFill>
                <a:latin typeface="Calibri" pitchFamily="34" charset="0"/>
                <a:ea typeface="Calibri" pitchFamily="34" charset="-122"/>
                <a:cs typeface="Calibri" pitchFamily="34" charset="-120"/>
              </a:rPr>
              <a:t>ACQUISITION TARGETS</a:t>
            </a:r>
            <a:endParaRPr lang="en-US" sz="1150" dirty="0"/>
          </a:p>
        </p:txBody>
      </p:sp>
      <p:sp>
        <p:nvSpPr>
          <p:cNvPr id="3" name="Text 1"/>
          <p:cNvSpPr/>
          <p:nvPr/>
        </p:nvSpPr>
        <p:spPr>
          <a:xfrm>
            <a:off x="640080" y="694944"/>
            <a:ext cx="10607040" cy="749808"/>
          </a:xfrm>
          <a:prstGeom prst="rect">
            <a:avLst/>
          </a:prstGeom>
          <a:noFill/>
          <a:ln/>
        </p:spPr>
        <p:txBody>
          <a:bodyPr wrap="square" lIns="0" tIns="0" rIns="0" bIns="0" rtlCol="0" anchor="ctr"/>
          <a:lstStyle/>
          <a:p>
            <a:pPr indent="0" marL="0">
              <a:buNone/>
            </a:pPr>
            <a:r>
              <a:rPr lang="en-US" sz="2900" b="1" dirty="0">
                <a:solidFill>
                  <a:srgbClr val="241E33"/>
                </a:solidFill>
                <a:latin typeface="Cambria" pitchFamily="34" charset="0"/>
                <a:ea typeface="Cambria" pitchFamily="34" charset="-122"/>
                <a:cs typeface="Cambria" pitchFamily="34" charset="-120"/>
              </a:rPr>
              <a:t>Four a week, then earn the right to more</a:t>
            </a:r>
            <a:endParaRPr lang="en-US" sz="2900" dirty="0"/>
          </a:p>
        </p:txBody>
      </p:sp>
      <p:sp>
        <p:nvSpPr>
          <p:cNvPr id="4" name="Text 2"/>
          <p:cNvSpPr/>
          <p:nvPr/>
        </p:nvSpPr>
        <p:spPr>
          <a:xfrm>
            <a:off x="640080" y="1426464"/>
            <a:ext cx="10607040" cy="475488"/>
          </a:xfrm>
          <a:prstGeom prst="rect">
            <a:avLst/>
          </a:prstGeom>
          <a:noFill/>
          <a:ln/>
        </p:spPr>
        <p:txBody>
          <a:bodyPr wrap="square" lIns="0" tIns="0" rIns="0" bIns="0" rtlCol="0" anchor="ctr"/>
          <a:lstStyle/>
          <a:p>
            <a:pPr indent="0" marL="0">
              <a:buNone/>
            </a:pPr>
            <a:r>
              <a:rPr lang="en-US" sz="1400" dirty="0">
                <a:solidFill>
                  <a:srgbClr val="7A7291"/>
                </a:solidFill>
                <a:latin typeface="Calibri" pitchFamily="34" charset="0"/>
                <a:ea typeface="Calibri" pitchFamily="34" charset="-122"/>
                <a:cs typeface="Calibri" pitchFamily="34" charset="-120"/>
              </a:rPr>
              <a:t>The rate rises every year, but the growth MULTIPLE falls every year — 4.5×, then 2.9×, 2.2×, 1.7×. That deceleration is the honest shape of acquisition getting harder as the easy households are used up.</a:t>
            </a:r>
            <a:endParaRPr lang="en-US" sz="1400" dirty="0"/>
          </a:p>
        </p:txBody>
      </p:sp>
      <p:sp>
        <p:nvSpPr>
          <p:cNvPr id="5" name="Text 3"/>
          <p:cNvSpPr/>
          <p:nvPr/>
        </p:nvSpPr>
        <p:spPr>
          <a:xfrm>
            <a:off x="5029200" y="2011680"/>
            <a:ext cx="1188720" cy="274320"/>
          </a:xfrm>
          <a:prstGeom prst="rect">
            <a:avLst/>
          </a:prstGeom>
          <a:noFill/>
          <a:ln/>
        </p:spPr>
        <p:txBody>
          <a:bodyPr wrap="square" lIns="0" tIns="0" rIns="0" bIns="0" rtlCol="0" anchor="ctr"/>
          <a:lstStyle/>
          <a:p>
            <a:pPr algn="ctr" indent="0" marL="0">
              <a:buNone/>
            </a:pPr>
            <a:r>
              <a:rPr lang="en-US" sz="1050" b="1" dirty="0">
                <a:solidFill>
                  <a:srgbClr val="4A31B0"/>
                </a:solidFill>
                <a:latin typeface="Calibri" pitchFamily="34" charset="0"/>
                <a:ea typeface="Calibri" pitchFamily="34" charset="-122"/>
                <a:cs typeface="Calibri" pitchFamily="34" charset="-120"/>
              </a:rPr>
              <a:t>Year 1</a:t>
            </a:r>
            <a:endParaRPr lang="en-US" sz="1050" dirty="0"/>
          </a:p>
        </p:txBody>
      </p:sp>
      <p:sp>
        <p:nvSpPr>
          <p:cNvPr id="6" name="Text 4"/>
          <p:cNvSpPr/>
          <p:nvPr/>
        </p:nvSpPr>
        <p:spPr>
          <a:xfrm>
            <a:off x="6309360" y="2011680"/>
            <a:ext cx="1188720" cy="274320"/>
          </a:xfrm>
          <a:prstGeom prst="rect">
            <a:avLst/>
          </a:prstGeom>
          <a:noFill/>
          <a:ln/>
        </p:spPr>
        <p:txBody>
          <a:bodyPr wrap="square" lIns="0" tIns="0" rIns="0" bIns="0" rtlCol="0" anchor="ctr"/>
          <a:lstStyle/>
          <a:p>
            <a:pPr algn="ctr" indent="0" marL="0">
              <a:buNone/>
            </a:pPr>
            <a:r>
              <a:rPr lang="en-US" sz="1050" b="1" dirty="0">
                <a:solidFill>
                  <a:srgbClr val="4A31B0"/>
                </a:solidFill>
                <a:latin typeface="Calibri" pitchFamily="34" charset="0"/>
                <a:ea typeface="Calibri" pitchFamily="34" charset="-122"/>
                <a:cs typeface="Calibri" pitchFamily="34" charset="-120"/>
              </a:rPr>
              <a:t>Year 2</a:t>
            </a:r>
            <a:endParaRPr lang="en-US" sz="1050" dirty="0"/>
          </a:p>
        </p:txBody>
      </p:sp>
      <p:sp>
        <p:nvSpPr>
          <p:cNvPr id="7" name="Text 5"/>
          <p:cNvSpPr/>
          <p:nvPr/>
        </p:nvSpPr>
        <p:spPr>
          <a:xfrm>
            <a:off x="7589520" y="2011680"/>
            <a:ext cx="1188720" cy="274320"/>
          </a:xfrm>
          <a:prstGeom prst="rect">
            <a:avLst/>
          </a:prstGeom>
          <a:noFill/>
          <a:ln/>
        </p:spPr>
        <p:txBody>
          <a:bodyPr wrap="square" lIns="0" tIns="0" rIns="0" bIns="0" rtlCol="0" anchor="ctr"/>
          <a:lstStyle/>
          <a:p>
            <a:pPr algn="ctr" indent="0" marL="0">
              <a:buNone/>
            </a:pPr>
            <a:r>
              <a:rPr lang="en-US" sz="1050" b="1" dirty="0">
                <a:solidFill>
                  <a:srgbClr val="4A31B0"/>
                </a:solidFill>
                <a:latin typeface="Calibri" pitchFamily="34" charset="0"/>
                <a:ea typeface="Calibri" pitchFamily="34" charset="-122"/>
                <a:cs typeface="Calibri" pitchFamily="34" charset="-120"/>
              </a:rPr>
              <a:t>Year 3</a:t>
            </a:r>
            <a:endParaRPr lang="en-US" sz="1050" dirty="0"/>
          </a:p>
        </p:txBody>
      </p:sp>
      <p:sp>
        <p:nvSpPr>
          <p:cNvPr id="8" name="Text 6"/>
          <p:cNvSpPr/>
          <p:nvPr/>
        </p:nvSpPr>
        <p:spPr>
          <a:xfrm>
            <a:off x="8869680" y="2011680"/>
            <a:ext cx="1188720" cy="274320"/>
          </a:xfrm>
          <a:prstGeom prst="rect">
            <a:avLst/>
          </a:prstGeom>
          <a:noFill/>
          <a:ln/>
        </p:spPr>
        <p:txBody>
          <a:bodyPr wrap="square" lIns="0" tIns="0" rIns="0" bIns="0" rtlCol="0" anchor="ctr"/>
          <a:lstStyle/>
          <a:p>
            <a:pPr algn="ctr" indent="0" marL="0">
              <a:buNone/>
            </a:pPr>
            <a:r>
              <a:rPr lang="en-US" sz="1050" b="1" dirty="0">
                <a:solidFill>
                  <a:srgbClr val="4A31B0"/>
                </a:solidFill>
                <a:latin typeface="Calibri" pitchFamily="34" charset="0"/>
                <a:ea typeface="Calibri" pitchFamily="34" charset="-122"/>
                <a:cs typeface="Calibri" pitchFamily="34" charset="-120"/>
              </a:rPr>
              <a:t>Year 4</a:t>
            </a:r>
            <a:endParaRPr lang="en-US" sz="1050" dirty="0"/>
          </a:p>
        </p:txBody>
      </p:sp>
      <p:sp>
        <p:nvSpPr>
          <p:cNvPr id="9" name="Text 7"/>
          <p:cNvSpPr/>
          <p:nvPr/>
        </p:nvSpPr>
        <p:spPr>
          <a:xfrm>
            <a:off x="10149840" y="2011680"/>
            <a:ext cx="1188720" cy="274320"/>
          </a:xfrm>
          <a:prstGeom prst="rect">
            <a:avLst/>
          </a:prstGeom>
          <a:noFill/>
          <a:ln/>
        </p:spPr>
        <p:txBody>
          <a:bodyPr wrap="square" lIns="0" tIns="0" rIns="0" bIns="0" rtlCol="0" anchor="ctr"/>
          <a:lstStyle/>
          <a:p>
            <a:pPr algn="ctr" indent="0" marL="0">
              <a:buNone/>
            </a:pPr>
            <a:r>
              <a:rPr lang="en-US" sz="1050" b="1" dirty="0">
                <a:solidFill>
                  <a:srgbClr val="4A31B0"/>
                </a:solidFill>
                <a:latin typeface="Calibri" pitchFamily="34" charset="0"/>
                <a:ea typeface="Calibri" pitchFamily="34" charset="-122"/>
                <a:cs typeface="Calibri" pitchFamily="34" charset="-120"/>
              </a:rPr>
              <a:t>Year 5</a:t>
            </a:r>
            <a:endParaRPr lang="en-US" sz="1050" dirty="0"/>
          </a:p>
        </p:txBody>
      </p:sp>
      <p:sp>
        <p:nvSpPr>
          <p:cNvPr id="10" name="Shape 8"/>
          <p:cNvSpPr/>
          <p:nvPr/>
        </p:nvSpPr>
        <p:spPr>
          <a:xfrm>
            <a:off x="512064" y="2295144"/>
            <a:ext cx="10954512" cy="512064"/>
          </a:xfrm>
          <a:prstGeom prst="roundRect">
            <a:avLst>
              <a:gd name="adj" fmla="val 16071"/>
            </a:avLst>
          </a:prstGeom>
          <a:solidFill>
            <a:srgbClr val="EFEBF8"/>
          </a:solidFill>
          <a:ln/>
        </p:spPr>
      </p:sp>
      <p:sp>
        <p:nvSpPr>
          <p:cNvPr id="11" name="Text 9"/>
          <p:cNvSpPr/>
          <p:nvPr/>
        </p:nvSpPr>
        <p:spPr>
          <a:xfrm>
            <a:off x="640080" y="2322576"/>
            <a:ext cx="4206240" cy="274320"/>
          </a:xfrm>
          <a:prstGeom prst="rect">
            <a:avLst/>
          </a:prstGeom>
          <a:noFill/>
          <a:ln/>
        </p:spPr>
        <p:txBody>
          <a:bodyPr wrap="square" lIns="0" tIns="0" rIns="0" bIns="0" rtlCol="0" anchor="ctr"/>
          <a:lstStyle/>
          <a:p>
            <a:pPr indent="0" marL="0">
              <a:buNone/>
            </a:pPr>
            <a:r>
              <a:rPr lang="en-US" sz="1250" b="1" dirty="0">
                <a:solidFill>
                  <a:srgbClr val="6C4FE0"/>
                </a:solidFill>
                <a:latin typeface="Cambria" pitchFamily="34" charset="0"/>
                <a:ea typeface="Cambria" pitchFamily="34" charset="-122"/>
                <a:cs typeface="Cambria" pitchFamily="34" charset="-120"/>
              </a:rPr>
              <a:t>New paying households / week</a:t>
            </a:r>
            <a:endParaRPr lang="en-US" sz="1250" dirty="0"/>
          </a:p>
        </p:txBody>
      </p:sp>
      <p:sp>
        <p:nvSpPr>
          <p:cNvPr id="12" name="Text 10"/>
          <p:cNvSpPr/>
          <p:nvPr/>
        </p:nvSpPr>
        <p:spPr>
          <a:xfrm>
            <a:off x="640080" y="2560320"/>
            <a:ext cx="4206240" cy="219456"/>
          </a:xfrm>
          <a:prstGeom prst="rect">
            <a:avLst/>
          </a:prstGeom>
          <a:noFill/>
          <a:ln/>
        </p:spPr>
        <p:txBody>
          <a:bodyPr wrap="square" lIns="0" tIns="0" rIns="0" bIns="0" rtlCol="0" anchor="ctr"/>
          <a:lstStyle/>
          <a:p>
            <a:pPr indent="0" marL="0">
              <a:buNone/>
            </a:pPr>
            <a:r>
              <a:rPr lang="en-US" sz="800" i="1" dirty="0">
                <a:solidFill>
                  <a:srgbClr val="7A7291"/>
                </a:solidFill>
                <a:latin typeface="Calibri" pitchFamily="34" charset="0"/>
                <a:ea typeface="Calibri" pitchFamily="34" charset="-122"/>
                <a:cs typeface="Calibri" pitchFamily="34" charset="-120"/>
              </a:rPr>
              <a:t>The target the team is actually run against</a:t>
            </a:r>
            <a:endParaRPr lang="en-US" sz="800" dirty="0"/>
          </a:p>
        </p:txBody>
      </p:sp>
      <p:sp>
        <p:nvSpPr>
          <p:cNvPr id="13" name="Text 11"/>
          <p:cNvSpPr/>
          <p:nvPr/>
        </p:nvSpPr>
        <p:spPr>
          <a:xfrm>
            <a:off x="5029200" y="2340864"/>
            <a:ext cx="1188720" cy="420624"/>
          </a:xfrm>
          <a:prstGeom prst="rect">
            <a:avLst/>
          </a:prstGeom>
          <a:noFill/>
          <a:ln/>
        </p:spPr>
        <p:txBody>
          <a:bodyPr wrap="square" lIns="0" tIns="0" rIns="0" bIns="0" rtlCol="0" anchor="ctr"/>
          <a:lstStyle/>
          <a:p>
            <a:pPr algn="ctr" indent="0" marL="0">
              <a:buNone/>
            </a:pPr>
            <a:r>
              <a:rPr lang="en-US" sz="1400" b="1" dirty="0">
                <a:solidFill>
                  <a:srgbClr val="241E33"/>
                </a:solidFill>
                <a:latin typeface="Calibri" pitchFamily="34" charset="0"/>
                <a:ea typeface="Calibri" pitchFamily="34" charset="-122"/>
                <a:cs typeface="Calibri" pitchFamily="34" charset="-120"/>
              </a:rPr>
              <a:t>4</a:t>
            </a:r>
            <a:endParaRPr lang="en-US" sz="1400" dirty="0"/>
          </a:p>
        </p:txBody>
      </p:sp>
      <p:sp>
        <p:nvSpPr>
          <p:cNvPr id="14" name="Text 12"/>
          <p:cNvSpPr/>
          <p:nvPr/>
        </p:nvSpPr>
        <p:spPr>
          <a:xfrm>
            <a:off x="6309360" y="2340864"/>
            <a:ext cx="1188720" cy="420624"/>
          </a:xfrm>
          <a:prstGeom prst="rect">
            <a:avLst/>
          </a:prstGeom>
          <a:noFill/>
          <a:ln/>
        </p:spPr>
        <p:txBody>
          <a:bodyPr wrap="square" lIns="0" tIns="0" rIns="0" bIns="0" rtlCol="0" anchor="ctr"/>
          <a:lstStyle/>
          <a:p>
            <a:pPr algn="ctr" indent="0" marL="0">
              <a:buNone/>
            </a:pPr>
            <a:r>
              <a:rPr lang="en-US" sz="1400" b="1" dirty="0">
                <a:solidFill>
                  <a:srgbClr val="241E33"/>
                </a:solidFill>
                <a:latin typeface="Calibri" pitchFamily="34" charset="0"/>
                <a:ea typeface="Calibri" pitchFamily="34" charset="-122"/>
                <a:cs typeface="Calibri" pitchFamily="34" charset="-120"/>
              </a:rPr>
              <a:t>18</a:t>
            </a:r>
            <a:endParaRPr lang="en-US" sz="1400" dirty="0"/>
          </a:p>
        </p:txBody>
      </p:sp>
      <p:sp>
        <p:nvSpPr>
          <p:cNvPr id="15" name="Text 13"/>
          <p:cNvSpPr/>
          <p:nvPr/>
        </p:nvSpPr>
        <p:spPr>
          <a:xfrm>
            <a:off x="7589520" y="2340864"/>
            <a:ext cx="1188720" cy="420624"/>
          </a:xfrm>
          <a:prstGeom prst="rect">
            <a:avLst/>
          </a:prstGeom>
          <a:noFill/>
          <a:ln/>
        </p:spPr>
        <p:txBody>
          <a:bodyPr wrap="square" lIns="0" tIns="0" rIns="0" bIns="0" rtlCol="0" anchor="ctr"/>
          <a:lstStyle/>
          <a:p>
            <a:pPr algn="ctr" indent="0" marL="0">
              <a:buNone/>
            </a:pPr>
            <a:r>
              <a:rPr lang="en-US" sz="1400" b="1" dirty="0">
                <a:solidFill>
                  <a:srgbClr val="241E33"/>
                </a:solidFill>
                <a:latin typeface="Calibri" pitchFamily="34" charset="0"/>
                <a:ea typeface="Calibri" pitchFamily="34" charset="-122"/>
                <a:cs typeface="Calibri" pitchFamily="34" charset="-120"/>
              </a:rPr>
              <a:t>52</a:t>
            </a:r>
            <a:endParaRPr lang="en-US" sz="1400" dirty="0"/>
          </a:p>
        </p:txBody>
      </p:sp>
      <p:sp>
        <p:nvSpPr>
          <p:cNvPr id="16" name="Text 14"/>
          <p:cNvSpPr/>
          <p:nvPr/>
        </p:nvSpPr>
        <p:spPr>
          <a:xfrm>
            <a:off x="8869680" y="2340864"/>
            <a:ext cx="1188720" cy="420624"/>
          </a:xfrm>
          <a:prstGeom prst="rect">
            <a:avLst/>
          </a:prstGeom>
          <a:noFill/>
          <a:ln/>
        </p:spPr>
        <p:txBody>
          <a:bodyPr wrap="square" lIns="0" tIns="0" rIns="0" bIns="0" rtlCol="0" anchor="ctr"/>
          <a:lstStyle/>
          <a:p>
            <a:pPr algn="ctr" indent="0" marL="0">
              <a:buNone/>
            </a:pPr>
            <a:r>
              <a:rPr lang="en-US" sz="1400" b="1" dirty="0">
                <a:solidFill>
                  <a:srgbClr val="241E33"/>
                </a:solidFill>
                <a:latin typeface="Calibri" pitchFamily="34" charset="0"/>
                <a:ea typeface="Calibri" pitchFamily="34" charset="-122"/>
                <a:cs typeface="Calibri" pitchFamily="34" charset="-120"/>
              </a:rPr>
              <a:t>115</a:t>
            </a:r>
            <a:endParaRPr lang="en-US" sz="1400" dirty="0"/>
          </a:p>
        </p:txBody>
      </p:sp>
      <p:sp>
        <p:nvSpPr>
          <p:cNvPr id="17" name="Text 15"/>
          <p:cNvSpPr/>
          <p:nvPr/>
        </p:nvSpPr>
        <p:spPr>
          <a:xfrm>
            <a:off x="10149840" y="2340864"/>
            <a:ext cx="1188720" cy="420624"/>
          </a:xfrm>
          <a:prstGeom prst="rect">
            <a:avLst/>
          </a:prstGeom>
          <a:noFill/>
          <a:ln/>
        </p:spPr>
        <p:txBody>
          <a:bodyPr wrap="square" lIns="0" tIns="0" rIns="0" bIns="0" rtlCol="0" anchor="ctr"/>
          <a:lstStyle/>
          <a:p>
            <a:pPr algn="ctr" indent="0" marL="0">
              <a:buNone/>
            </a:pPr>
            <a:r>
              <a:rPr lang="en-US" sz="1400" b="1" dirty="0">
                <a:solidFill>
                  <a:srgbClr val="241E33"/>
                </a:solidFill>
                <a:latin typeface="Calibri" pitchFamily="34" charset="0"/>
                <a:ea typeface="Calibri" pitchFamily="34" charset="-122"/>
                <a:cs typeface="Calibri" pitchFamily="34" charset="-120"/>
              </a:rPr>
              <a:t>195</a:t>
            </a:r>
            <a:endParaRPr lang="en-US" sz="1400" dirty="0"/>
          </a:p>
        </p:txBody>
      </p:sp>
      <p:sp>
        <p:nvSpPr>
          <p:cNvPr id="18" name="Text 16"/>
          <p:cNvSpPr/>
          <p:nvPr/>
        </p:nvSpPr>
        <p:spPr>
          <a:xfrm>
            <a:off x="640080" y="2871216"/>
            <a:ext cx="4206240" cy="274320"/>
          </a:xfrm>
          <a:prstGeom prst="rect">
            <a:avLst/>
          </a:prstGeom>
          <a:noFill/>
          <a:ln/>
        </p:spPr>
        <p:txBody>
          <a:bodyPr wrap="square" lIns="0" tIns="0" rIns="0" bIns="0" rtlCol="0" anchor="ctr"/>
          <a:lstStyle/>
          <a:p>
            <a:pPr indent="0" marL="0">
              <a:buNone/>
            </a:pPr>
            <a:r>
              <a:rPr lang="en-US" sz="1100" dirty="0">
                <a:solidFill>
                  <a:srgbClr val="4A4360"/>
                </a:solidFill>
                <a:latin typeface="Calibri" pitchFamily="34" charset="0"/>
                <a:ea typeface="Calibri" pitchFamily="34" charset="-122"/>
                <a:cs typeface="Calibri" pitchFamily="34" charset="-120"/>
              </a:rPr>
              <a:t>Growth on the year before</a:t>
            </a:r>
            <a:endParaRPr lang="en-US" sz="1100" dirty="0"/>
          </a:p>
        </p:txBody>
      </p:sp>
      <p:sp>
        <p:nvSpPr>
          <p:cNvPr id="19" name="Text 17"/>
          <p:cNvSpPr/>
          <p:nvPr/>
        </p:nvSpPr>
        <p:spPr>
          <a:xfrm>
            <a:off x="640080" y="3108960"/>
            <a:ext cx="4206240" cy="219456"/>
          </a:xfrm>
          <a:prstGeom prst="rect">
            <a:avLst/>
          </a:prstGeom>
          <a:noFill/>
          <a:ln/>
        </p:spPr>
        <p:txBody>
          <a:bodyPr wrap="square" lIns="0" tIns="0" rIns="0" bIns="0" rtlCol="0" anchor="ctr"/>
          <a:lstStyle/>
          <a:p>
            <a:pPr indent="0" marL="0">
              <a:buNone/>
            </a:pPr>
            <a:r>
              <a:rPr lang="en-US" sz="800" i="1" dirty="0">
                <a:solidFill>
                  <a:srgbClr val="7A7291"/>
                </a:solidFill>
                <a:latin typeface="Calibri" pitchFamily="34" charset="0"/>
                <a:ea typeface="Calibri" pitchFamily="34" charset="-122"/>
                <a:cs typeface="Calibri" pitchFamily="34" charset="-120"/>
              </a:rPr>
              <a:t>Decelerating, because it should</a:t>
            </a:r>
            <a:endParaRPr lang="en-US" sz="800" dirty="0"/>
          </a:p>
        </p:txBody>
      </p:sp>
      <p:sp>
        <p:nvSpPr>
          <p:cNvPr id="20" name="Text 18"/>
          <p:cNvSpPr/>
          <p:nvPr/>
        </p:nvSpPr>
        <p:spPr>
          <a:xfrm>
            <a:off x="5029200" y="2889504"/>
            <a:ext cx="1188720" cy="420624"/>
          </a:xfrm>
          <a:prstGeom prst="rect">
            <a:avLst/>
          </a:prstGeom>
          <a:noFill/>
          <a:ln/>
        </p:spPr>
        <p:txBody>
          <a:bodyPr wrap="square" lIns="0" tIns="0" rIns="0" bIns="0" rtlCol="0" anchor="ctr"/>
          <a:lstStyle/>
          <a:p>
            <a:pPr algn="ctr" indent="0" marL="0">
              <a:buNone/>
            </a:pPr>
            <a:r>
              <a:rPr lang="en-US" sz="1150" dirty="0">
                <a:solidFill>
                  <a:srgbClr val="241E33"/>
                </a:solidFill>
                <a:latin typeface="Calibri" pitchFamily="34" charset="0"/>
                <a:ea typeface="Calibri" pitchFamily="34" charset="-122"/>
                <a:cs typeface="Calibri" pitchFamily="34" charset="-120"/>
              </a:rPr>
              <a:t>—</a:t>
            </a:r>
            <a:endParaRPr lang="en-US" sz="1150" dirty="0"/>
          </a:p>
        </p:txBody>
      </p:sp>
      <p:sp>
        <p:nvSpPr>
          <p:cNvPr id="21" name="Text 19"/>
          <p:cNvSpPr/>
          <p:nvPr/>
        </p:nvSpPr>
        <p:spPr>
          <a:xfrm>
            <a:off x="6309360" y="2889504"/>
            <a:ext cx="1188720" cy="420624"/>
          </a:xfrm>
          <a:prstGeom prst="rect">
            <a:avLst/>
          </a:prstGeom>
          <a:noFill/>
          <a:ln/>
        </p:spPr>
        <p:txBody>
          <a:bodyPr wrap="square" lIns="0" tIns="0" rIns="0" bIns="0" rtlCol="0" anchor="ctr"/>
          <a:lstStyle/>
          <a:p>
            <a:pPr algn="ctr" indent="0" marL="0">
              <a:buNone/>
            </a:pPr>
            <a:r>
              <a:rPr lang="en-US" sz="1150" dirty="0">
                <a:solidFill>
                  <a:srgbClr val="241E33"/>
                </a:solidFill>
                <a:latin typeface="Calibri" pitchFamily="34" charset="0"/>
                <a:ea typeface="Calibri" pitchFamily="34" charset="-122"/>
                <a:cs typeface="Calibri" pitchFamily="34" charset="-120"/>
              </a:rPr>
              <a:t>4.5×</a:t>
            </a:r>
            <a:endParaRPr lang="en-US" sz="1150" dirty="0"/>
          </a:p>
        </p:txBody>
      </p:sp>
      <p:sp>
        <p:nvSpPr>
          <p:cNvPr id="22" name="Text 20"/>
          <p:cNvSpPr/>
          <p:nvPr/>
        </p:nvSpPr>
        <p:spPr>
          <a:xfrm>
            <a:off x="7589520" y="2889504"/>
            <a:ext cx="1188720" cy="420624"/>
          </a:xfrm>
          <a:prstGeom prst="rect">
            <a:avLst/>
          </a:prstGeom>
          <a:noFill/>
          <a:ln/>
        </p:spPr>
        <p:txBody>
          <a:bodyPr wrap="square" lIns="0" tIns="0" rIns="0" bIns="0" rtlCol="0" anchor="ctr"/>
          <a:lstStyle/>
          <a:p>
            <a:pPr algn="ctr" indent="0" marL="0">
              <a:buNone/>
            </a:pPr>
            <a:r>
              <a:rPr lang="en-US" sz="1150" dirty="0">
                <a:solidFill>
                  <a:srgbClr val="241E33"/>
                </a:solidFill>
                <a:latin typeface="Calibri" pitchFamily="34" charset="0"/>
                <a:ea typeface="Calibri" pitchFamily="34" charset="-122"/>
                <a:cs typeface="Calibri" pitchFamily="34" charset="-120"/>
              </a:rPr>
              <a:t>2.9×</a:t>
            </a:r>
            <a:endParaRPr lang="en-US" sz="1150" dirty="0"/>
          </a:p>
        </p:txBody>
      </p:sp>
      <p:sp>
        <p:nvSpPr>
          <p:cNvPr id="23" name="Text 21"/>
          <p:cNvSpPr/>
          <p:nvPr/>
        </p:nvSpPr>
        <p:spPr>
          <a:xfrm>
            <a:off x="8869680" y="2889504"/>
            <a:ext cx="1188720" cy="420624"/>
          </a:xfrm>
          <a:prstGeom prst="rect">
            <a:avLst/>
          </a:prstGeom>
          <a:noFill/>
          <a:ln/>
        </p:spPr>
        <p:txBody>
          <a:bodyPr wrap="square" lIns="0" tIns="0" rIns="0" bIns="0" rtlCol="0" anchor="ctr"/>
          <a:lstStyle/>
          <a:p>
            <a:pPr algn="ctr" indent="0" marL="0">
              <a:buNone/>
            </a:pPr>
            <a:r>
              <a:rPr lang="en-US" sz="1150" dirty="0">
                <a:solidFill>
                  <a:srgbClr val="241E33"/>
                </a:solidFill>
                <a:latin typeface="Calibri" pitchFamily="34" charset="0"/>
                <a:ea typeface="Calibri" pitchFamily="34" charset="-122"/>
                <a:cs typeface="Calibri" pitchFamily="34" charset="-120"/>
              </a:rPr>
              <a:t>2.2×</a:t>
            </a:r>
            <a:endParaRPr lang="en-US" sz="1150" dirty="0"/>
          </a:p>
        </p:txBody>
      </p:sp>
      <p:sp>
        <p:nvSpPr>
          <p:cNvPr id="24" name="Text 22"/>
          <p:cNvSpPr/>
          <p:nvPr/>
        </p:nvSpPr>
        <p:spPr>
          <a:xfrm>
            <a:off x="10149840" y="2889504"/>
            <a:ext cx="1188720" cy="420624"/>
          </a:xfrm>
          <a:prstGeom prst="rect">
            <a:avLst/>
          </a:prstGeom>
          <a:noFill/>
          <a:ln/>
        </p:spPr>
        <p:txBody>
          <a:bodyPr wrap="square" lIns="0" tIns="0" rIns="0" bIns="0" rtlCol="0" anchor="ctr"/>
          <a:lstStyle/>
          <a:p>
            <a:pPr algn="ctr" indent="0" marL="0">
              <a:buNone/>
            </a:pPr>
            <a:r>
              <a:rPr lang="en-US" sz="1150" dirty="0">
                <a:solidFill>
                  <a:srgbClr val="241E33"/>
                </a:solidFill>
                <a:latin typeface="Calibri" pitchFamily="34" charset="0"/>
                <a:ea typeface="Calibri" pitchFamily="34" charset="-122"/>
                <a:cs typeface="Calibri" pitchFamily="34" charset="-120"/>
              </a:rPr>
              <a:t>1.7×</a:t>
            </a:r>
            <a:endParaRPr lang="en-US" sz="1150" dirty="0"/>
          </a:p>
        </p:txBody>
      </p:sp>
      <p:sp>
        <p:nvSpPr>
          <p:cNvPr id="25" name="Shape 23"/>
          <p:cNvSpPr/>
          <p:nvPr/>
        </p:nvSpPr>
        <p:spPr>
          <a:xfrm>
            <a:off x="512064" y="3392424"/>
            <a:ext cx="10954512" cy="512064"/>
          </a:xfrm>
          <a:prstGeom prst="roundRect">
            <a:avLst>
              <a:gd name="adj" fmla="val 16071"/>
            </a:avLst>
          </a:prstGeom>
          <a:solidFill>
            <a:srgbClr val="EFEBF8"/>
          </a:solidFill>
          <a:ln/>
        </p:spPr>
      </p:sp>
      <p:sp>
        <p:nvSpPr>
          <p:cNvPr id="26" name="Text 24"/>
          <p:cNvSpPr/>
          <p:nvPr/>
        </p:nvSpPr>
        <p:spPr>
          <a:xfrm>
            <a:off x="640080" y="3419856"/>
            <a:ext cx="4206240" cy="274320"/>
          </a:xfrm>
          <a:prstGeom prst="rect">
            <a:avLst/>
          </a:prstGeom>
          <a:noFill/>
          <a:ln/>
        </p:spPr>
        <p:txBody>
          <a:bodyPr wrap="square" lIns="0" tIns="0" rIns="0" bIns="0" rtlCol="0" anchor="ctr"/>
          <a:lstStyle/>
          <a:p>
            <a:pPr indent="0" marL="0">
              <a:buNone/>
            </a:pPr>
            <a:r>
              <a:rPr lang="en-US" sz="1100" dirty="0">
                <a:solidFill>
                  <a:srgbClr val="4A4360"/>
                </a:solidFill>
                <a:latin typeface="Calibri" pitchFamily="34" charset="0"/>
                <a:ea typeface="Calibri" pitchFamily="34" charset="-122"/>
                <a:cs typeface="Calibri" pitchFamily="34" charset="-120"/>
              </a:rPr>
              <a:t>New in the year</a:t>
            </a:r>
            <a:endParaRPr lang="en-US" sz="1100" dirty="0"/>
          </a:p>
        </p:txBody>
      </p:sp>
      <p:sp>
        <p:nvSpPr>
          <p:cNvPr id="27" name="Text 25"/>
          <p:cNvSpPr/>
          <p:nvPr/>
        </p:nvSpPr>
        <p:spPr>
          <a:xfrm>
            <a:off x="5029200" y="3438144"/>
            <a:ext cx="1188720" cy="420624"/>
          </a:xfrm>
          <a:prstGeom prst="rect">
            <a:avLst/>
          </a:prstGeom>
          <a:noFill/>
          <a:ln/>
        </p:spPr>
        <p:txBody>
          <a:bodyPr wrap="square" lIns="0" tIns="0" rIns="0" bIns="0" rtlCol="0" anchor="ctr"/>
          <a:lstStyle/>
          <a:p>
            <a:pPr algn="ctr" indent="0" marL="0">
              <a:buNone/>
            </a:pPr>
            <a:r>
              <a:rPr lang="en-US" sz="1150" dirty="0">
                <a:solidFill>
                  <a:srgbClr val="241E33"/>
                </a:solidFill>
                <a:latin typeface="Calibri" pitchFamily="34" charset="0"/>
                <a:ea typeface="Calibri" pitchFamily="34" charset="-122"/>
                <a:cs typeface="Calibri" pitchFamily="34" charset="-120"/>
              </a:rPr>
              <a:t>208</a:t>
            </a:r>
            <a:endParaRPr lang="en-US" sz="1150" dirty="0"/>
          </a:p>
        </p:txBody>
      </p:sp>
      <p:sp>
        <p:nvSpPr>
          <p:cNvPr id="28" name="Text 26"/>
          <p:cNvSpPr/>
          <p:nvPr/>
        </p:nvSpPr>
        <p:spPr>
          <a:xfrm>
            <a:off x="6309360" y="3438144"/>
            <a:ext cx="1188720" cy="420624"/>
          </a:xfrm>
          <a:prstGeom prst="rect">
            <a:avLst/>
          </a:prstGeom>
          <a:noFill/>
          <a:ln/>
        </p:spPr>
        <p:txBody>
          <a:bodyPr wrap="square" lIns="0" tIns="0" rIns="0" bIns="0" rtlCol="0" anchor="ctr"/>
          <a:lstStyle/>
          <a:p>
            <a:pPr algn="ctr" indent="0" marL="0">
              <a:buNone/>
            </a:pPr>
            <a:r>
              <a:rPr lang="en-US" sz="1150" dirty="0">
                <a:solidFill>
                  <a:srgbClr val="241E33"/>
                </a:solidFill>
                <a:latin typeface="Calibri" pitchFamily="34" charset="0"/>
                <a:ea typeface="Calibri" pitchFamily="34" charset="-122"/>
                <a:cs typeface="Calibri" pitchFamily="34" charset="-120"/>
              </a:rPr>
              <a:t>936</a:t>
            </a:r>
            <a:endParaRPr lang="en-US" sz="1150" dirty="0"/>
          </a:p>
        </p:txBody>
      </p:sp>
      <p:sp>
        <p:nvSpPr>
          <p:cNvPr id="29" name="Text 27"/>
          <p:cNvSpPr/>
          <p:nvPr/>
        </p:nvSpPr>
        <p:spPr>
          <a:xfrm>
            <a:off x="7589520" y="3438144"/>
            <a:ext cx="1188720" cy="420624"/>
          </a:xfrm>
          <a:prstGeom prst="rect">
            <a:avLst/>
          </a:prstGeom>
          <a:noFill/>
          <a:ln/>
        </p:spPr>
        <p:txBody>
          <a:bodyPr wrap="square" lIns="0" tIns="0" rIns="0" bIns="0" rtlCol="0" anchor="ctr"/>
          <a:lstStyle/>
          <a:p>
            <a:pPr algn="ctr" indent="0" marL="0">
              <a:buNone/>
            </a:pPr>
            <a:r>
              <a:rPr lang="en-US" sz="1150" dirty="0">
                <a:solidFill>
                  <a:srgbClr val="241E33"/>
                </a:solidFill>
                <a:latin typeface="Calibri" pitchFamily="34" charset="0"/>
                <a:ea typeface="Calibri" pitchFamily="34" charset="-122"/>
                <a:cs typeface="Calibri" pitchFamily="34" charset="-120"/>
              </a:rPr>
              <a:t>2,704</a:t>
            </a:r>
            <a:endParaRPr lang="en-US" sz="1150" dirty="0"/>
          </a:p>
        </p:txBody>
      </p:sp>
      <p:sp>
        <p:nvSpPr>
          <p:cNvPr id="30" name="Text 28"/>
          <p:cNvSpPr/>
          <p:nvPr/>
        </p:nvSpPr>
        <p:spPr>
          <a:xfrm>
            <a:off x="8869680" y="3438144"/>
            <a:ext cx="1188720" cy="420624"/>
          </a:xfrm>
          <a:prstGeom prst="rect">
            <a:avLst/>
          </a:prstGeom>
          <a:noFill/>
          <a:ln/>
        </p:spPr>
        <p:txBody>
          <a:bodyPr wrap="square" lIns="0" tIns="0" rIns="0" bIns="0" rtlCol="0" anchor="ctr"/>
          <a:lstStyle/>
          <a:p>
            <a:pPr algn="ctr" indent="0" marL="0">
              <a:buNone/>
            </a:pPr>
            <a:r>
              <a:rPr lang="en-US" sz="1150" dirty="0">
                <a:solidFill>
                  <a:srgbClr val="241E33"/>
                </a:solidFill>
                <a:latin typeface="Calibri" pitchFamily="34" charset="0"/>
                <a:ea typeface="Calibri" pitchFamily="34" charset="-122"/>
                <a:cs typeface="Calibri" pitchFamily="34" charset="-120"/>
              </a:rPr>
              <a:t>5,980</a:t>
            </a:r>
            <a:endParaRPr lang="en-US" sz="1150" dirty="0"/>
          </a:p>
        </p:txBody>
      </p:sp>
      <p:sp>
        <p:nvSpPr>
          <p:cNvPr id="31" name="Text 29"/>
          <p:cNvSpPr/>
          <p:nvPr/>
        </p:nvSpPr>
        <p:spPr>
          <a:xfrm>
            <a:off x="10149840" y="3438144"/>
            <a:ext cx="1188720" cy="420624"/>
          </a:xfrm>
          <a:prstGeom prst="rect">
            <a:avLst/>
          </a:prstGeom>
          <a:noFill/>
          <a:ln/>
        </p:spPr>
        <p:txBody>
          <a:bodyPr wrap="square" lIns="0" tIns="0" rIns="0" bIns="0" rtlCol="0" anchor="ctr"/>
          <a:lstStyle/>
          <a:p>
            <a:pPr algn="ctr" indent="0" marL="0">
              <a:buNone/>
            </a:pPr>
            <a:r>
              <a:rPr lang="en-US" sz="1150" dirty="0">
                <a:solidFill>
                  <a:srgbClr val="241E33"/>
                </a:solidFill>
                <a:latin typeface="Calibri" pitchFamily="34" charset="0"/>
                <a:ea typeface="Calibri" pitchFamily="34" charset="-122"/>
                <a:cs typeface="Calibri" pitchFamily="34" charset="-120"/>
              </a:rPr>
              <a:t>10,140</a:t>
            </a:r>
            <a:endParaRPr lang="en-US" sz="1150" dirty="0"/>
          </a:p>
        </p:txBody>
      </p:sp>
      <p:sp>
        <p:nvSpPr>
          <p:cNvPr id="32" name="Text 30"/>
          <p:cNvSpPr/>
          <p:nvPr/>
        </p:nvSpPr>
        <p:spPr>
          <a:xfrm>
            <a:off x="640080" y="3968496"/>
            <a:ext cx="4206240" cy="274320"/>
          </a:xfrm>
          <a:prstGeom prst="rect">
            <a:avLst/>
          </a:prstGeom>
          <a:noFill/>
          <a:ln/>
        </p:spPr>
        <p:txBody>
          <a:bodyPr wrap="square" lIns="0" tIns="0" rIns="0" bIns="0" rtlCol="0" anchor="ctr"/>
          <a:lstStyle/>
          <a:p>
            <a:pPr indent="0" marL="0">
              <a:buNone/>
            </a:pPr>
            <a:r>
              <a:rPr lang="en-US" sz="1100" dirty="0">
                <a:solidFill>
                  <a:srgbClr val="4A4360"/>
                </a:solidFill>
                <a:latin typeface="Calibri" pitchFamily="34" charset="0"/>
                <a:ea typeface="Calibri" pitchFamily="34" charset="-122"/>
                <a:cs typeface="Calibri" pitchFamily="34" charset="-120"/>
              </a:rPr>
              <a:t>Retained from prior year (70%)</a:t>
            </a:r>
            <a:endParaRPr lang="en-US" sz="1100" dirty="0"/>
          </a:p>
        </p:txBody>
      </p:sp>
      <p:sp>
        <p:nvSpPr>
          <p:cNvPr id="33" name="Text 31"/>
          <p:cNvSpPr/>
          <p:nvPr/>
        </p:nvSpPr>
        <p:spPr>
          <a:xfrm>
            <a:off x="640080" y="4206240"/>
            <a:ext cx="4206240" cy="219456"/>
          </a:xfrm>
          <a:prstGeom prst="rect">
            <a:avLst/>
          </a:prstGeom>
          <a:noFill/>
          <a:ln/>
        </p:spPr>
        <p:txBody>
          <a:bodyPr wrap="square" lIns="0" tIns="0" rIns="0" bIns="0" rtlCol="0" anchor="ctr"/>
          <a:lstStyle/>
          <a:p>
            <a:pPr indent="0" marL="0">
              <a:buNone/>
            </a:pPr>
            <a:r>
              <a:rPr lang="en-US" sz="800" i="1" dirty="0">
                <a:solidFill>
                  <a:srgbClr val="7A7291"/>
                </a:solidFill>
                <a:latin typeface="Calibri" pitchFamily="34" charset="0"/>
                <a:ea typeface="Calibri" pitchFamily="34" charset="-122"/>
                <a:cs typeface="Calibri" pitchFamily="34" charset="-120"/>
              </a:rPr>
              <a:t>30% annual churn taken off the front</a:t>
            </a:r>
            <a:endParaRPr lang="en-US" sz="800" dirty="0"/>
          </a:p>
        </p:txBody>
      </p:sp>
      <p:sp>
        <p:nvSpPr>
          <p:cNvPr id="34" name="Text 32"/>
          <p:cNvSpPr/>
          <p:nvPr/>
        </p:nvSpPr>
        <p:spPr>
          <a:xfrm>
            <a:off x="5029200" y="3986784"/>
            <a:ext cx="1188720" cy="420624"/>
          </a:xfrm>
          <a:prstGeom prst="rect">
            <a:avLst/>
          </a:prstGeom>
          <a:noFill/>
          <a:ln/>
        </p:spPr>
        <p:txBody>
          <a:bodyPr wrap="square" lIns="0" tIns="0" rIns="0" bIns="0" rtlCol="0" anchor="ctr"/>
          <a:lstStyle/>
          <a:p>
            <a:pPr algn="ctr" indent="0" marL="0">
              <a:buNone/>
            </a:pPr>
            <a:r>
              <a:rPr lang="en-US" sz="1150" dirty="0">
                <a:solidFill>
                  <a:srgbClr val="241E33"/>
                </a:solidFill>
                <a:latin typeface="Calibri" pitchFamily="34" charset="0"/>
                <a:ea typeface="Calibri" pitchFamily="34" charset="-122"/>
                <a:cs typeface="Calibri" pitchFamily="34" charset="-120"/>
              </a:rPr>
              <a:t>—</a:t>
            </a:r>
            <a:endParaRPr lang="en-US" sz="1150" dirty="0"/>
          </a:p>
        </p:txBody>
      </p:sp>
      <p:sp>
        <p:nvSpPr>
          <p:cNvPr id="35" name="Text 33"/>
          <p:cNvSpPr/>
          <p:nvPr/>
        </p:nvSpPr>
        <p:spPr>
          <a:xfrm>
            <a:off x="6309360" y="3986784"/>
            <a:ext cx="1188720" cy="420624"/>
          </a:xfrm>
          <a:prstGeom prst="rect">
            <a:avLst/>
          </a:prstGeom>
          <a:noFill/>
          <a:ln/>
        </p:spPr>
        <p:txBody>
          <a:bodyPr wrap="square" lIns="0" tIns="0" rIns="0" bIns="0" rtlCol="0" anchor="ctr"/>
          <a:lstStyle/>
          <a:p>
            <a:pPr algn="ctr" indent="0" marL="0">
              <a:buNone/>
            </a:pPr>
            <a:r>
              <a:rPr lang="en-US" sz="1150" dirty="0">
                <a:solidFill>
                  <a:srgbClr val="241E33"/>
                </a:solidFill>
                <a:latin typeface="Calibri" pitchFamily="34" charset="0"/>
                <a:ea typeface="Calibri" pitchFamily="34" charset="-122"/>
                <a:cs typeface="Calibri" pitchFamily="34" charset="-120"/>
              </a:rPr>
              <a:t>146</a:t>
            </a:r>
            <a:endParaRPr lang="en-US" sz="1150" dirty="0"/>
          </a:p>
        </p:txBody>
      </p:sp>
      <p:sp>
        <p:nvSpPr>
          <p:cNvPr id="36" name="Text 34"/>
          <p:cNvSpPr/>
          <p:nvPr/>
        </p:nvSpPr>
        <p:spPr>
          <a:xfrm>
            <a:off x="7589520" y="3986784"/>
            <a:ext cx="1188720" cy="420624"/>
          </a:xfrm>
          <a:prstGeom prst="rect">
            <a:avLst/>
          </a:prstGeom>
          <a:noFill/>
          <a:ln/>
        </p:spPr>
        <p:txBody>
          <a:bodyPr wrap="square" lIns="0" tIns="0" rIns="0" bIns="0" rtlCol="0" anchor="ctr"/>
          <a:lstStyle/>
          <a:p>
            <a:pPr algn="ctr" indent="0" marL="0">
              <a:buNone/>
            </a:pPr>
            <a:r>
              <a:rPr lang="en-US" sz="1150" dirty="0">
                <a:solidFill>
                  <a:srgbClr val="241E33"/>
                </a:solidFill>
                <a:latin typeface="Calibri" pitchFamily="34" charset="0"/>
                <a:ea typeface="Calibri" pitchFamily="34" charset="-122"/>
                <a:cs typeface="Calibri" pitchFamily="34" charset="-120"/>
              </a:rPr>
              <a:t>757</a:t>
            </a:r>
            <a:endParaRPr lang="en-US" sz="1150" dirty="0"/>
          </a:p>
        </p:txBody>
      </p:sp>
      <p:sp>
        <p:nvSpPr>
          <p:cNvPr id="37" name="Text 35"/>
          <p:cNvSpPr/>
          <p:nvPr/>
        </p:nvSpPr>
        <p:spPr>
          <a:xfrm>
            <a:off x="8869680" y="3986784"/>
            <a:ext cx="1188720" cy="420624"/>
          </a:xfrm>
          <a:prstGeom prst="rect">
            <a:avLst/>
          </a:prstGeom>
          <a:noFill/>
          <a:ln/>
        </p:spPr>
        <p:txBody>
          <a:bodyPr wrap="square" lIns="0" tIns="0" rIns="0" bIns="0" rtlCol="0" anchor="ctr"/>
          <a:lstStyle/>
          <a:p>
            <a:pPr algn="ctr" indent="0" marL="0">
              <a:buNone/>
            </a:pPr>
            <a:r>
              <a:rPr lang="en-US" sz="1150" dirty="0">
                <a:solidFill>
                  <a:srgbClr val="241E33"/>
                </a:solidFill>
                <a:latin typeface="Calibri" pitchFamily="34" charset="0"/>
                <a:ea typeface="Calibri" pitchFamily="34" charset="-122"/>
                <a:cs typeface="Calibri" pitchFamily="34" charset="-120"/>
              </a:rPr>
              <a:t>2,422</a:t>
            </a:r>
            <a:endParaRPr lang="en-US" sz="1150" dirty="0"/>
          </a:p>
        </p:txBody>
      </p:sp>
      <p:sp>
        <p:nvSpPr>
          <p:cNvPr id="38" name="Text 36"/>
          <p:cNvSpPr/>
          <p:nvPr/>
        </p:nvSpPr>
        <p:spPr>
          <a:xfrm>
            <a:off x="10149840" y="3986784"/>
            <a:ext cx="1188720" cy="420624"/>
          </a:xfrm>
          <a:prstGeom prst="rect">
            <a:avLst/>
          </a:prstGeom>
          <a:noFill/>
          <a:ln/>
        </p:spPr>
        <p:txBody>
          <a:bodyPr wrap="square" lIns="0" tIns="0" rIns="0" bIns="0" rtlCol="0" anchor="ctr"/>
          <a:lstStyle/>
          <a:p>
            <a:pPr algn="ctr" indent="0" marL="0">
              <a:buNone/>
            </a:pPr>
            <a:r>
              <a:rPr lang="en-US" sz="1150" dirty="0">
                <a:solidFill>
                  <a:srgbClr val="241E33"/>
                </a:solidFill>
                <a:latin typeface="Calibri" pitchFamily="34" charset="0"/>
                <a:ea typeface="Calibri" pitchFamily="34" charset="-122"/>
                <a:cs typeface="Calibri" pitchFamily="34" charset="-120"/>
              </a:rPr>
              <a:t>5,882</a:t>
            </a:r>
            <a:endParaRPr lang="en-US" sz="1150" dirty="0"/>
          </a:p>
        </p:txBody>
      </p:sp>
      <p:sp>
        <p:nvSpPr>
          <p:cNvPr id="39" name="Shape 37"/>
          <p:cNvSpPr/>
          <p:nvPr/>
        </p:nvSpPr>
        <p:spPr>
          <a:xfrm>
            <a:off x="512064" y="4489704"/>
            <a:ext cx="10954512" cy="512064"/>
          </a:xfrm>
          <a:prstGeom prst="roundRect">
            <a:avLst>
              <a:gd name="adj" fmla="val 16071"/>
            </a:avLst>
          </a:prstGeom>
          <a:solidFill>
            <a:srgbClr val="241E33"/>
          </a:solidFill>
          <a:ln/>
        </p:spPr>
      </p:sp>
      <p:sp>
        <p:nvSpPr>
          <p:cNvPr id="40" name="Text 38"/>
          <p:cNvSpPr/>
          <p:nvPr/>
        </p:nvSpPr>
        <p:spPr>
          <a:xfrm>
            <a:off x="640080" y="4517136"/>
            <a:ext cx="4206240" cy="274320"/>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Paying households, end of year</a:t>
            </a:r>
            <a:endParaRPr lang="en-US" sz="1250" dirty="0"/>
          </a:p>
        </p:txBody>
      </p:sp>
      <p:sp>
        <p:nvSpPr>
          <p:cNvPr id="41" name="Text 39"/>
          <p:cNvSpPr/>
          <p:nvPr/>
        </p:nvSpPr>
        <p:spPr>
          <a:xfrm>
            <a:off x="5029200" y="4535424"/>
            <a:ext cx="1188720"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208</a:t>
            </a:r>
            <a:endParaRPr lang="en-US" sz="1400" dirty="0"/>
          </a:p>
        </p:txBody>
      </p:sp>
      <p:sp>
        <p:nvSpPr>
          <p:cNvPr id="42" name="Text 40"/>
          <p:cNvSpPr/>
          <p:nvPr/>
        </p:nvSpPr>
        <p:spPr>
          <a:xfrm>
            <a:off x="6309360" y="4535424"/>
            <a:ext cx="1188720"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1,082</a:t>
            </a:r>
            <a:endParaRPr lang="en-US" sz="1400" dirty="0"/>
          </a:p>
        </p:txBody>
      </p:sp>
      <p:sp>
        <p:nvSpPr>
          <p:cNvPr id="43" name="Text 41"/>
          <p:cNvSpPr/>
          <p:nvPr/>
        </p:nvSpPr>
        <p:spPr>
          <a:xfrm>
            <a:off x="7589520" y="4535424"/>
            <a:ext cx="1188720"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3,461</a:t>
            </a:r>
            <a:endParaRPr lang="en-US" sz="1400" dirty="0"/>
          </a:p>
        </p:txBody>
      </p:sp>
      <p:sp>
        <p:nvSpPr>
          <p:cNvPr id="44" name="Text 42"/>
          <p:cNvSpPr/>
          <p:nvPr/>
        </p:nvSpPr>
        <p:spPr>
          <a:xfrm>
            <a:off x="8869680" y="4535424"/>
            <a:ext cx="1188720"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8,403</a:t>
            </a:r>
            <a:endParaRPr lang="en-US" sz="1400" dirty="0"/>
          </a:p>
        </p:txBody>
      </p:sp>
      <p:sp>
        <p:nvSpPr>
          <p:cNvPr id="45" name="Text 43"/>
          <p:cNvSpPr/>
          <p:nvPr/>
        </p:nvSpPr>
        <p:spPr>
          <a:xfrm>
            <a:off x="10149840" y="4535424"/>
            <a:ext cx="1188720" cy="420624"/>
          </a:xfrm>
          <a:prstGeom prst="rect">
            <a:avLst/>
          </a:prstGeom>
          <a:noFill/>
          <a:ln/>
        </p:spPr>
        <p:txBody>
          <a:bodyPr wrap="square" lIns="0" tIns="0" rIns="0" bIns="0" rtlCol="0" anchor="ctr"/>
          <a:lstStyle/>
          <a:p>
            <a:pPr algn="ctr" indent="0" marL="0">
              <a:buNone/>
            </a:pPr>
            <a:r>
              <a:rPr lang="en-US" sz="1400" b="1" dirty="0">
                <a:solidFill>
                  <a:srgbClr val="F0B429"/>
                </a:solidFill>
                <a:latin typeface="Calibri" pitchFamily="34" charset="0"/>
                <a:ea typeface="Calibri" pitchFamily="34" charset="-122"/>
                <a:cs typeface="Calibri" pitchFamily="34" charset="-120"/>
              </a:rPr>
              <a:t>16.0k</a:t>
            </a:r>
            <a:endParaRPr lang="en-US" sz="1400" dirty="0"/>
          </a:p>
        </p:txBody>
      </p:sp>
      <p:sp>
        <p:nvSpPr>
          <p:cNvPr id="46" name="Text 44"/>
          <p:cNvSpPr/>
          <p:nvPr/>
        </p:nvSpPr>
        <p:spPr>
          <a:xfrm>
            <a:off x="640080" y="5175504"/>
            <a:ext cx="6858000" cy="274320"/>
          </a:xfrm>
          <a:prstGeom prst="rect">
            <a:avLst/>
          </a:prstGeom>
          <a:noFill/>
          <a:ln/>
        </p:spPr>
        <p:txBody>
          <a:bodyPr wrap="square" lIns="0" tIns="0" rIns="0" bIns="0" rtlCol="0" anchor="ctr"/>
          <a:lstStyle/>
          <a:p>
            <a:pPr indent="0" marL="0">
              <a:buNone/>
            </a:pPr>
            <a:r>
              <a:rPr lang="en-US" sz="1400" b="1" dirty="0">
                <a:solidFill>
                  <a:srgbClr val="241E33"/>
                </a:solidFill>
                <a:latin typeface="Cambria" pitchFamily="34" charset="0"/>
                <a:ea typeface="Cambria" pitchFamily="34" charset="-122"/>
                <a:cs typeface="Cambria" pitchFamily="34" charset="-120"/>
              </a:rPr>
              <a:t>Of those households, how many can paid media actually buy?</a:t>
            </a:r>
            <a:endParaRPr lang="en-US" sz="1400" dirty="0"/>
          </a:p>
        </p:txBody>
      </p:sp>
      <p:sp>
        <p:nvSpPr>
          <p:cNvPr id="47" name="Shape 45"/>
          <p:cNvSpPr/>
          <p:nvPr/>
        </p:nvSpPr>
        <p:spPr>
          <a:xfrm>
            <a:off x="640080" y="5522976"/>
            <a:ext cx="1965960" cy="274320"/>
          </a:xfrm>
          <a:prstGeom prst="roundRect">
            <a:avLst>
              <a:gd name="adj" fmla="val 26667"/>
            </a:avLst>
          </a:prstGeom>
          <a:solidFill>
            <a:srgbClr val="E3DCF2"/>
          </a:solidFill>
          <a:ln/>
        </p:spPr>
      </p:sp>
      <p:sp>
        <p:nvSpPr>
          <p:cNvPr id="48" name="Shape 46"/>
          <p:cNvSpPr/>
          <p:nvPr/>
        </p:nvSpPr>
        <p:spPr>
          <a:xfrm>
            <a:off x="640080" y="5522976"/>
            <a:ext cx="340262" cy="274320"/>
          </a:xfrm>
          <a:prstGeom prst="roundRect">
            <a:avLst>
              <a:gd name="adj" fmla="val 26667"/>
            </a:avLst>
          </a:prstGeom>
          <a:solidFill>
            <a:srgbClr val="6C4FE0"/>
          </a:solidFill>
          <a:ln/>
        </p:spPr>
      </p:sp>
      <p:sp>
        <p:nvSpPr>
          <p:cNvPr id="49" name="Text 47"/>
          <p:cNvSpPr/>
          <p:nvPr/>
        </p:nvSpPr>
        <p:spPr>
          <a:xfrm>
            <a:off x="731520" y="5522976"/>
            <a:ext cx="1783080" cy="274320"/>
          </a:xfrm>
          <a:prstGeom prst="rect">
            <a:avLst/>
          </a:prstGeom>
          <a:noFill/>
          <a:ln/>
        </p:spPr>
        <p:txBody>
          <a:bodyPr wrap="square" lIns="0" tIns="0" rIns="0" bIns="0" rtlCol="0" anchor="ctr"/>
          <a:lstStyle/>
          <a:p>
            <a:pPr indent="0" marL="0">
              <a:buNone/>
            </a:pPr>
            <a:r>
              <a:rPr lang="en-US" sz="850" b="1" dirty="0">
                <a:solidFill>
                  <a:srgbClr val="241E33"/>
                </a:solidFill>
                <a:latin typeface="Calibri" pitchFamily="34" charset="0"/>
                <a:ea typeface="Calibri" pitchFamily="34" charset="-122"/>
                <a:cs typeface="Calibri" pitchFamily="34" charset="-120"/>
              </a:rPr>
              <a:t>Y1  17% paid</a:t>
            </a:r>
            <a:endParaRPr lang="en-US" sz="850" dirty="0"/>
          </a:p>
        </p:txBody>
      </p:sp>
      <p:sp>
        <p:nvSpPr>
          <p:cNvPr id="50" name="Text 48"/>
          <p:cNvSpPr/>
          <p:nvPr/>
        </p:nvSpPr>
        <p:spPr>
          <a:xfrm>
            <a:off x="640080" y="5815584"/>
            <a:ext cx="1965960" cy="237744"/>
          </a:xfrm>
          <a:prstGeom prst="rect">
            <a:avLst/>
          </a:prstGeom>
          <a:noFill/>
          <a:ln/>
        </p:spPr>
        <p:txBody>
          <a:bodyPr wrap="square" lIns="0" tIns="0" rIns="0" bIns="0" rtlCol="0" anchor="ctr"/>
          <a:lstStyle/>
          <a:p>
            <a:pPr indent="0" marL="0">
              <a:buNone/>
            </a:pPr>
            <a:r>
              <a:rPr lang="en-US" sz="750" dirty="0">
                <a:solidFill>
                  <a:srgbClr val="7A7291"/>
                </a:solidFill>
                <a:latin typeface="Calibri" pitchFamily="34" charset="0"/>
                <a:ea typeface="Calibri" pitchFamily="34" charset="-122"/>
                <a:cs typeface="Calibri" pitchFamily="34" charset="-120"/>
              </a:rPr>
              <a:t>36 bought · 172 earned</a:t>
            </a:r>
            <a:endParaRPr lang="en-US" sz="750" dirty="0"/>
          </a:p>
        </p:txBody>
      </p:sp>
      <p:sp>
        <p:nvSpPr>
          <p:cNvPr id="51" name="Shape 49"/>
          <p:cNvSpPr/>
          <p:nvPr/>
        </p:nvSpPr>
        <p:spPr>
          <a:xfrm>
            <a:off x="2788920" y="5522976"/>
            <a:ext cx="1965960" cy="274320"/>
          </a:xfrm>
          <a:prstGeom prst="roundRect">
            <a:avLst>
              <a:gd name="adj" fmla="val 26667"/>
            </a:avLst>
          </a:prstGeom>
          <a:solidFill>
            <a:srgbClr val="E3DCF2"/>
          </a:solidFill>
          <a:ln/>
        </p:spPr>
      </p:sp>
      <p:sp>
        <p:nvSpPr>
          <p:cNvPr id="52" name="Shape 50"/>
          <p:cNvSpPr/>
          <p:nvPr/>
        </p:nvSpPr>
        <p:spPr>
          <a:xfrm>
            <a:off x="2788920" y="5522976"/>
            <a:ext cx="462085" cy="274320"/>
          </a:xfrm>
          <a:prstGeom prst="roundRect">
            <a:avLst>
              <a:gd name="adj" fmla="val 26667"/>
            </a:avLst>
          </a:prstGeom>
          <a:solidFill>
            <a:srgbClr val="6C4FE0"/>
          </a:solidFill>
          <a:ln/>
        </p:spPr>
      </p:sp>
      <p:sp>
        <p:nvSpPr>
          <p:cNvPr id="53" name="Text 51"/>
          <p:cNvSpPr/>
          <p:nvPr/>
        </p:nvSpPr>
        <p:spPr>
          <a:xfrm>
            <a:off x="2880360" y="5522976"/>
            <a:ext cx="1783080" cy="274320"/>
          </a:xfrm>
          <a:prstGeom prst="rect">
            <a:avLst/>
          </a:prstGeom>
          <a:noFill/>
          <a:ln/>
        </p:spPr>
        <p:txBody>
          <a:bodyPr wrap="square" lIns="0" tIns="0" rIns="0" bIns="0" rtlCol="0" anchor="ctr"/>
          <a:lstStyle/>
          <a:p>
            <a:pPr indent="0" marL="0">
              <a:buNone/>
            </a:pPr>
            <a:r>
              <a:rPr lang="en-US" sz="850" b="1" dirty="0">
                <a:solidFill>
                  <a:srgbClr val="241E33"/>
                </a:solidFill>
                <a:latin typeface="Calibri" pitchFamily="34" charset="0"/>
                <a:ea typeface="Calibri" pitchFamily="34" charset="-122"/>
                <a:cs typeface="Calibri" pitchFamily="34" charset="-120"/>
              </a:rPr>
              <a:t>Y2  24% paid</a:t>
            </a:r>
            <a:endParaRPr lang="en-US" sz="850" dirty="0"/>
          </a:p>
        </p:txBody>
      </p:sp>
      <p:sp>
        <p:nvSpPr>
          <p:cNvPr id="54" name="Text 52"/>
          <p:cNvSpPr/>
          <p:nvPr/>
        </p:nvSpPr>
        <p:spPr>
          <a:xfrm>
            <a:off x="2788920" y="5815584"/>
            <a:ext cx="1965960" cy="237744"/>
          </a:xfrm>
          <a:prstGeom prst="rect">
            <a:avLst/>
          </a:prstGeom>
          <a:noFill/>
          <a:ln/>
        </p:spPr>
        <p:txBody>
          <a:bodyPr wrap="square" lIns="0" tIns="0" rIns="0" bIns="0" rtlCol="0" anchor="ctr"/>
          <a:lstStyle/>
          <a:p>
            <a:pPr indent="0" marL="0">
              <a:buNone/>
            </a:pPr>
            <a:r>
              <a:rPr lang="en-US" sz="750" dirty="0">
                <a:solidFill>
                  <a:srgbClr val="7A7291"/>
                </a:solidFill>
                <a:latin typeface="Calibri" pitchFamily="34" charset="0"/>
                <a:ea typeface="Calibri" pitchFamily="34" charset="-122"/>
                <a:cs typeface="Calibri" pitchFamily="34" charset="-120"/>
              </a:rPr>
              <a:t>220 bought · 716 earned</a:t>
            </a:r>
            <a:endParaRPr lang="en-US" sz="750" dirty="0"/>
          </a:p>
        </p:txBody>
      </p:sp>
      <p:sp>
        <p:nvSpPr>
          <p:cNvPr id="55" name="Shape 53"/>
          <p:cNvSpPr/>
          <p:nvPr/>
        </p:nvSpPr>
        <p:spPr>
          <a:xfrm>
            <a:off x="4937760" y="5522976"/>
            <a:ext cx="1965960" cy="274320"/>
          </a:xfrm>
          <a:prstGeom prst="roundRect">
            <a:avLst>
              <a:gd name="adj" fmla="val 26667"/>
            </a:avLst>
          </a:prstGeom>
          <a:solidFill>
            <a:srgbClr val="E3DCF2"/>
          </a:solidFill>
          <a:ln/>
        </p:spPr>
      </p:sp>
      <p:sp>
        <p:nvSpPr>
          <p:cNvPr id="56" name="Shape 54"/>
          <p:cNvSpPr/>
          <p:nvPr/>
        </p:nvSpPr>
        <p:spPr>
          <a:xfrm>
            <a:off x="4937760" y="5522976"/>
            <a:ext cx="604911" cy="274320"/>
          </a:xfrm>
          <a:prstGeom prst="roundRect">
            <a:avLst>
              <a:gd name="adj" fmla="val 26667"/>
            </a:avLst>
          </a:prstGeom>
          <a:solidFill>
            <a:srgbClr val="6C4FE0"/>
          </a:solidFill>
          <a:ln/>
        </p:spPr>
      </p:sp>
      <p:sp>
        <p:nvSpPr>
          <p:cNvPr id="57" name="Text 55"/>
          <p:cNvSpPr/>
          <p:nvPr/>
        </p:nvSpPr>
        <p:spPr>
          <a:xfrm>
            <a:off x="5029200" y="5522976"/>
            <a:ext cx="1783080" cy="274320"/>
          </a:xfrm>
          <a:prstGeom prst="rect">
            <a:avLst/>
          </a:prstGeom>
          <a:noFill/>
          <a:ln/>
        </p:spPr>
        <p:txBody>
          <a:bodyPr wrap="square" lIns="0" tIns="0" rIns="0" bIns="0" rtlCol="0" anchor="ctr"/>
          <a:lstStyle/>
          <a:p>
            <a:pPr indent="0" marL="0">
              <a:buNone/>
            </a:pPr>
            <a:r>
              <a:rPr lang="en-US" sz="850" b="1" dirty="0">
                <a:solidFill>
                  <a:srgbClr val="241E33"/>
                </a:solidFill>
                <a:latin typeface="Calibri" pitchFamily="34" charset="0"/>
                <a:ea typeface="Calibri" pitchFamily="34" charset="-122"/>
                <a:cs typeface="Calibri" pitchFamily="34" charset="-120"/>
              </a:rPr>
              <a:t>Y3  31% paid</a:t>
            </a:r>
            <a:endParaRPr lang="en-US" sz="850" dirty="0"/>
          </a:p>
        </p:txBody>
      </p:sp>
      <p:sp>
        <p:nvSpPr>
          <p:cNvPr id="58" name="Text 56"/>
          <p:cNvSpPr/>
          <p:nvPr/>
        </p:nvSpPr>
        <p:spPr>
          <a:xfrm>
            <a:off x="4937760" y="5815584"/>
            <a:ext cx="1965960" cy="237744"/>
          </a:xfrm>
          <a:prstGeom prst="rect">
            <a:avLst/>
          </a:prstGeom>
          <a:noFill/>
          <a:ln/>
        </p:spPr>
        <p:txBody>
          <a:bodyPr wrap="square" lIns="0" tIns="0" rIns="0" bIns="0" rtlCol="0" anchor="ctr"/>
          <a:lstStyle/>
          <a:p>
            <a:pPr indent="0" marL="0">
              <a:buNone/>
            </a:pPr>
            <a:r>
              <a:rPr lang="en-US" sz="750" dirty="0">
                <a:solidFill>
                  <a:srgbClr val="7A7291"/>
                </a:solidFill>
                <a:latin typeface="Calibri" pitchFamily="34" charset="0"/>
                <a:ea typeface="Calibri" pitchFamily="34" charset="-122"/>
                <a:cs typeface="Calibri" pitchFamily="34" charset="-120"/>
              </a:rPr>
              <a:t>832 bought · 1,872 earned</a:t>
            </a:r>
            <a:endParaRPr lang="en-US" sz="750" dirty="0"/>
          </a:p>
        </p:txBody>
      </p:sp>
      <p:sp>
        <p:nvSpPr>
          <p:cNvPr id="59" name="Shape 57"/>
          <p:cNvSpPr/>
          <p:nvPr/>
        </p:nvSpPr>
        <p:spPr>
          <a:xfrm>
            <a:off x="7086600" y="5522976"/>
            <a:ext cx="1965960" cy="274320"/>
          </a:xfrm>
          <a:prstGeom prst="roundRect">
            <a:avLst>
              <a:gd name="adj" fmla="val 26667"/>
            </a:avLst>
          </a:prstGeom>
          <a:solidFill>
            <a:srgbClr val="E3DCF2"/>
          </a:solidFill>
          <a:ln/>
        </p:spPr>
      </p:sp>
      <p:sp>
        <p:nvSpPr>
          <p:cNvPr id="60" name="Shape 58"/>
          <p:cNvSpPr/>
          <p:nvPr/>
        </p:nvSpPr>
        <p:spPr>
          <a:xfrm>
            <a:off x="7086600" y="5522976"/>
            <a:ext cx="706825" cy="274320"/>
          </a:xfrm>
          <a:prstGeom prst="roundRect">
            <a:avLst>
              <a:gd name="adj" fmla="val 26667"/>
            </a:avLst>
          </a:prstGeom>
          <a:solidFill>
            <a:srgbClr val="6C4FE0"/>
          </a:solidFill>
          <a:ln/>
        </p:spPr>
      </p:sp>
      <p:sp>
        <p:nvSpPr>
          <p:cNvPr id="61" name="Text 59"/>
          <p:cNvSpPr/>
          <p:nvPr/>
        </p:nvSpPr>
        <p:spPr>
          <a:xfrm>
            <a:off x="7178040" y="5522976"/>
            <a:ext cx="1783080" cy="274320"/>
          </a:xfrm>
          <a:prstGeom prst="rect">
            <a:avLst/>
          </a:prstGeom>
          <a:noFill/>
          <a:ln/>
        </p:spPr>
        <p:txBody>
          <a:bodyPr wrap="square" lIns="0" tIns="0" rIns="0" bIns="0" rtlCol="0" anchor="ctr"/>
          <a:lstStyle/>
          <a:p>
            <a:pPr indent="0" marL="0">
              <a:buNone/>
            </a:pPr>
            <a:r>
              <a:rPr lang="en-US" sz="850" b="1" dirty="0">
                <a:solidFill>
                  <a:srgbClr val="241E33"/>
                </a:solidFill>
                <a:latin typeface="Calibri" pitchFamily="34" charset="0"/>
                <a:ea typeface="Calibri" pitchFamily="34" charset="-122"/>
                <a:cs typeface="Calibri" pitchFamily="34" charset="-120"/>
              </a:rPr>
              <a:t>Y4  36% paid</a:t>
            </a:r>
            <a:endParaRPr lang="en-US" sz="850" dirty="0"/>
          </a:p>
        </p:txBody>
      </p:sp>
      <p:sp>
        <p:nvSpPr>
          <p:cNvPr id="62" name="Text 60"/>
          <p:cNvSpPr/>
          <p:nvPr/>
        </p:nvSpPr>
        <p:spPr>
          <a:xfrm>
            <a:off x="7086600" y="5815584"/>
            <a:ext cx="1965960" cy="237744"/>
          </a:xfrm>
          <a:prstGeom prst="rect">
            <a:avLst/>
          </a:prstGeom>
          <a:noFill/>
          <a:ln/>
        </p:spPr>
        <p:txBody>
          <a:bodyPr wrap="square" lIns="0" tIns="0" rIns="0" bIns="0" rtlCol="0" anchor="ctr"/>
          <a:lstStyle/>
          <a:p>
            <a:pPr indent="0" marL="0">
              <a:buNone/>
            </a:pPr>
            <a:r>
              <a:rPr lang="en-US" sz="750" dirty="0">
                <a:solidFill>
                  <a:srgbClr val="7A7291"/>
                </a:solidFill>
                <a:latin typeface="Calibri" pitchFamily="34" charset="0"/>
                <a:ea typeface="Calibri" pitchFamily="34" charset="-122"/>
                <a:cs typeface="Calibri" pitchFamily="34" charset="-120"/>
              </a:rPr>
              <a:t>2,150 bought · 3,830 earned</a:t>
            </a:r>
            <a:endParaRPr lang="en-US" sz="750" dirty="0"/>
          </a:p>
        </p:txBody>
      </p:sp>
      <p:sp>
        <p:nvSpPr>
          <p:cNvPr id="63" name="Shape 61"/>
          <p:cNvSpPr/>
          <p:nvPr/>
        </p:nvSpPr>
        <p:spPr>
          <a:xfrm>
            <a:off x="9235440" y="5522976"/>
            <a:ext cx="1965960" cy="274320"/>
          </a:xfrm>
          <a:prstGeom prst="roundRect">
            <a:avLst>
              <a:gd name="adj" fmla="val 26667"/>
            </a:avLst>
          </a:prstGeom>
          <a:solidFill>
            <a:srgbClr val="E3DCF2"/>
          </a:solidFill>
          <a:ln/>
        </p:spPr>
      </p:sp>
      <p:sp>
        <p:nvSpPr>
          <p:cNvPr id="64" name="Shape 62"/>
          <p:cNvSpPr/>
          <p:nvPr/>
        </p:nvSpPr>
        <p:spPr>
          <a:xfrm>
            <a:off x="9235440" y="5522976"/>
            <a:ext cx="829813" cy="274320"/>
          </a:xfrm>
          <a:prstGeom prst="roundRect">
            <a:avLst>
              <a:gd name="adj" fmla="val 26667"/>
            </a:avLst>
          </a:prstGeom>
          <a:solidFill>
            <a:srgbClr val="6C4FE0"/>
          </a:solidFill>
          <a:ln/>
        </p:spPr>
      </p:sp>
      <p:sp>
        <p:nvSpPr>
          <p:cNvPr id="65" name="Text 63"/>
          <p:cNvSpPr/>
          <p:nvPr/>
        </p:nvSpPr>
        <p:spPr>
          <a:xfrm>
            <a:off x="9326880" y="5522976"/>
            <a:ext cx="1783080" cy="274320"/>
          </a:xfrm>
          <a:prstGeom prst="rect">
            <a:avLst/>
          </a:prstGeom>
          <a:noFill/>
          <a:ln/>
        </p:spPr>
        <p:txBody>
          <a:bodyPr wrap="square" lIns="0" tIns="0" rIns="0" bIns="0" rtlCol="0" anchor="ctr"/>
          <a:lstStyle/>
          <a:p>
            <a:pPr indent="0" marL="0">
              <a:buNone/>
            </a:pPr>
            <a:r>
              <a:rPr lang="en-US" sz="850" b="1" dirty="0">
                <a:solidFill>
                  <a:srgbClr val="241E33"/>
                </a:solidFill>
                <a:latin typeface="Calibri" pitchFamily="34" charset="0"/>
                <a:ea typeface="Calibri" pitchFamily="34" charset="-122"/>
                <a:cs typeface="Calibri" pitchFamily="34" charset="-120"/>
              </a:rPr>
              <a:t>Y5  42% paid</a:t>
            </a:r>
            <a:endParaRPr lang="en-US" sz="850" dirty="0"/>
          </a:p>
        </p:txBody>
      </p:sp>
      <p:sp>
        <p:nvSpPr>
          <p:cNvPr id="66" name="Text 64"/>
          <p:cNvSpPr/>
          <p:nvPr/>
        </p:nvSpPr>
        <p:spPr>
          <a:xfrm>
            <a:off x="9235440" y="5815584"/>
            <a:ext cx="1965960" cy="237744"/>
          </a:xfrm>
          <a:prstGeom prst="rect">
            <a:avLst/>
          </a:prstGeom>
          <a:noFill/>
          <a:ln/>
        </p:spPr>
        <p:txBody>
          <a:bodyPr wrap="square" lIns="0" tIns="0" rIns="0" bIns="0" rtlCol="0" anchor="ctr"/>
          <a:lstStyle/>
          <a:p>
            <a:pPr indent="0" marL="0">
              <a:buNone/>
            </a:pPr>
            <a:r>
              <a:rPr lang="en-US" sz="750" dirty="0">
                <a:solidFill>
                  <a:srgbClr val="7A7291"/>
                </a:solidFill>
                <a:latin typeface="Calibri" pitchFamily="34" charset="0"/>
                <a:ea typeface="Calibri" pitchFamily="34" charset="-122"/>
                <a:cs typeface="Calibri" pitchFamily="34" charset="-120"/>
              </a:rPr>
              <a:t>4,280 bought · 5,860 earned</a:t>
            </a:r>
            <a:endParaRPr lang="en-US" sz="750" dirty="0"/>
          </a:p>
        </p:txBody>
      </p:sp>
      <p:sp>
        <p:nvSpPr>
          <p:cNvPr id="67" name="Text 65"/>
          <p:cNvSpPr/>
          <p:nvPr/>
        </p:nvSpPr>
        <p:spPr>
          <a:xfrm>
            <a:off x="640080" y="6144768"/>
            <a:ext cx="4572000" cy="256032"/>
          </a:xfrm>
          <a:prstGeom prst="rect">
            <a:avLst/>
          </a:prstGeom>
          <a:noFill/>
          <a:ln/>
        </p:spPr>
        <p:txBody>
          <a:bodyPr wrap="square" lIns="0" tIns="0" rIns="0" bIns="0" rtlCol="0" anchor="ctr"/>
          <a:lstStyle/>
          <a:p>
            <a:pPr indent="0" marL="0">
              <a:buNone/>
            </a:pPr>
            <a:r>
              <a:rPr lang="en-US" sz="950" b="1" spc="140" kern="0" dirty="0">
                <a:solidFill>
                  <a:srgbClr val="4A31B0"/>
                </a:solidFill>
                <a:latin typeface="Calibri" pitchFamily="34" charset="0"/>
                <a:ea typeface="Calibri" pitchFamily="34" charset="-122"/>
                <a:cs typeface="Calibri" pitchFamily="34" charset="-120"/>
              </a:rPr>
              <a:t>Year 5 split by market</a:t>
            </a:r>
            <a:endParaRPr lang="en-US" sz="950" dirty="0"/>
          </a:p>
        </p:txBody>
      </p:sp>
      <p:sp>
        <p:nvSpPr>
          <p:cNvPr id="68" name="Text 66"/>
          <p:cNvSpPr/>
          <p:nvPr/>
        </p:nvSpPr>
        <p:spPr>
          <a:xfrm>
            <a:off x="640080" y="6400800"/>
            <a:ext cx="1371600" cy="219456"/>
          </a:xfrm>
          <a:prstGeom prst="rect">
            <a:avLst/>
          </a:prstGeom>
          <a:noFill/>
          <a:ln/>
        </p:spPr>
        <p:txBody>
          <a:bodyPr wrap="square" lIns="0" tIns="0" rIns="0" bIns="0" rtlCol="0" anchor="ctr"/>
          <a:lstStyle/>
          <a:p>
            <a:pPr indent="0" marL="0">
              <a:buNone/>
            </a:pPr>
            <a:r>
              <a:rPr lang="en-US" sz="850" dirty="0">
                <a:solidFill>
                  <a:srgbClr val="7A7291"/>
                </a:solidFill>
                <a:latin typeface="Calibri" pitchFamily="34" charset="0"/>
                <a:ea typeface="Calibri" pitchFamily="34" charset="-122"/>
                <a:cs typeface="Calibri" pitchFamily="34" charset="-120"/>
              </a:rPr>
              <a:t>United States — </a:t>
            </a:r>
            <a:endParaRPr lang="en-US" sz="850" dirty="0"/>
          </a:p>
        </p:txBody>
      </p:sp>
      <p:sp>
        <p:nvSpPr>
          <p:cNvPr id="69" name="Text 67"/>
          <p:cNvSpPr/>
          <p:nvPr/>
        </p:nvSpPr>
        <p:spPr>
          <a:xfrm>
            <a:off x="2011680" y="6373368"/>
            <a:ext cx="594360" cy="256032"/>
          </a:xfrm>
          <a:prstGeom prst="rect">
            <a:avLst/>
          </a:prstGeom>
          <a:noFill/>
          <a:ln/>
        </p:spPr>
        <p:txBody>
          <a:bodyPr wrap="square" lIns="0" tIns="0" rIns="0" bIns="0" rtlCol="0" anchor="ctr"/>
          <a:lstStyle/>
          <a:p>
            <a:pPr indent="0" marL="0">
              <a:buNone/>
            </a:pPr>
            <a:r>
              <a:rPr lang="en-US" sz="1200" b="1" dirty="0">
                <a:solidFill>
                  <a:srgbClr val="6C4FE0"/>
                </a:solidFill>
                <a:latin typeface="Cambria" pitchFamily="34" charset="0"/>
                <a:ea typeface="Cambria" pitchFamily="34" charset="-122"/>
                <a:cs typeface="Cambria" pitchFamily="34" charset="-120"/>
              </a:rPr>
              <a:t>7.3k</a:t>
            </a:r>
            <a:endParaRPr lang="en-US" sz="1200" dirty="0"/>
          </a:p>
        </p:txBody>
      </p:sp>
      <p:sp>
        <p:nvSpPr>
          <p:cNvPr id="70" name="Text 68"/>
          <p:cNvSpPr/>
          <p:nvPr/>
        </p:nvSpPr>
        <p:spPr>
          <a:xfrm>
            <a:off x="640080" y="6583680"/>
            <a:ext cx="1920240" cy="201168"/>
          </a:xfrm>
          <a:prstGeom prst="rect">
            <a:avLst/>
          </a:prstGeom>
          <a:noFill/>
          <a:ln/>
        </p:spPr>
        <p:txBody>
          <a:bodyPr wrap="square" lIns="0" tIns="0" rIns="0" bIns="0" rtlCol="0" anchor="ctr"/>
          <a:lstStyle/>
          <a:p>
            <a:pPr indent="0" marL="0">
              <a:buNone/>
            </a:pPr>
            <a:r>
              <a:rPr lang="en-US" sz="750" i="1" dirty="0">
                <a:solidFill>
                  <a:srgbClr val="7A7291"/>
                </a:solidFill>
                <a:latin typeface="Calibri" pitchFamily="34" charset="0"/>
                <a:ea typeface="Calibri" pitchFamily="34" charset="-122"/>
                <a:cs typeface="Calibri" pitchFamily="34" charset="-120"/>
              </a:rPr>
              <a:t>of 520k households</a:t>
            </a:r>
            <a:endParaRPr lang="en-US" sz="750" dirty="0"/>
          </a:p>
        </p:txBody>
      </p:sp>
      <p:sp>
        <p:nvSpPr>
          <p:cNvPr id="71" name="Text 69"/>
          <p:cNvSpPr/>
          <p:nvPr/>
        </p:nvSpPr>
        <p:spPr>
          <a:xfrm>
            <a:off x="2788920" y="6400800"/>
            <a:ext cx="1371600" cy="219456"/>
          </a:xfrm>
          <a:prstGeom prst="rect">
            <a:avLst/>
          </a:prstGeom>
          <a:noFill/>
          <a:ln/>
        </p:spPr>
        <p:txBody>
          <a:bodyPr wrap="square" lIns="0" tIns="0" rIns="0" bIns="0" rtlCol="0" anchor="ctr"/>
          <a:lstStyle/>
          <a:p>
            <a:pPr indent="0" marL="0">
              <a:buNone/>
            </a:pPr>
            <a:r>
              <a:rPr lang="en-US" sz="850" dirty="0">
                <a:solidFill>
                  <a:srgbClr val="7A7291"/>
                </a:solidFill>
                <a:latin typeface="Calibri" pitchFamily="34" charset="0"/>
                <a:ea typeface="Calibri" pitchFamily="34" charset="-122"/>
                <a:cs typeface="Calibri" pitchFamily="34" charset="-120"/>
              </a:rPr>
              <a:t>United Kingdom — </a:t>
            </a:r>
            <a:endParaRPr lang="en-US" sz="850" dirty="0"/>
          </a:p>
        </p:txBody>
      </p:sp>
      <p:sp>
        <p:nvSpPr>
          <p:cNvPr id="72" name="Text 70"/>
          <p:cNvSpPr/>
          <p:nvPr/>
        </p:nvSpPr>
        <p:spPr>
          <a:xfrm>
            <a:off x="4160520" y="6373368"/>
            <a:ext cx="594360" cy="256032"/>
          </a:xfrm>
          <a:prstGeom prst="rect">
            <a:avLst/>
          </a:prstGeom>
          <a:noFill/>
          <a:ln/>
        </p:spPr>
        <p:txBody>
          <a:bodyPr wrap="square" lIns="0" tIns="0" rIns="0" bIns="0" rtlCol="0" anchor="ctr"/>
          <a:lstStyle/>
          <a:p>
            <a:pPr indent="0" marL="0">
              <a:buNone/>
            </a:pPr>
            <a:r>
              <a:rPr lang="en-US" sz="1200" b="1" dirty="0">
                <a:solidFill>
                  <a:srgbClr val="6C4FE0"/>
                </a:solidFill>
                <a:latin typeface="Cambria" pitchFamily="34" charset="0"/>
                <a:ea typeface="Cambria" pitchFamily="34" charset="-122"/>
                <a:cs typeface="Cambria" pitchFamily="34" charset="-120"/>
              </a:rPr>
              <a:t>2.0k</a:t>
            </a:r>
            <a:endParaRPr lang="en-US" sz="1200" dirty="0"/>
          </a:p>
        </p:txBody>
      </p:sp>
      <p:sp>
        <p:nvSpPr>
          <p:cNvPr id="73" name="Text 71"/>
          <p:cNvSpPr/>
          <p:nvPr/>
        </p:nvSpPr>
        <p:spPr>
          <a:xfrm>
            <a:off x="2788920" y="6583680"/>
            <a:ext cx="1920240" cy="201168"/>
          </a:xfrm>
          <a:prstGeom prst="rect">
            <a:avLst/>
          </a:prstGeom>
          <a:noFill/>
          <a:ln/>
        </p:spPr>
        <p:txBody>
          <a:bodyPr wrap="square" lIns="0" tIns="0" rIns="0" bIns="0" rtlCol="0" anchor="ctr"/>
          <a:lstStyle/>
          <a:p>
            <a:pPr indent="0" marL="0">
              <a:buNone/>
            </a:pPr>
            <a:r>
              <a:rPr lang="en-US" sz="750" i="1" dirty="0">
                <a:solidFill>
                  <a:srgbClr val="7A7291"/>
                </a:solidFill>
                <a:latin typeface="Calibri" pitchFamily="34" charset="0"/>
                <a:ea typeface="Calibri" pitchFamily="34" charset="-122"/>
                <a:cs typeface="Calibri" pitchFamily="34" charset="-120"/>
              </a:rPr>
              <a:t>of 190k</a:t>
            </a:r>
            <a:endParaRPr lang="en-US" sz="750" dirty="0"/>
          </a:p>
        </p:txBody>
      </p:sp>
      <p:sp>
        <p:nvSpPr>
          <p:cNvPr id="74" name="Text 72"/>
          <p:cNvSpPr/>
          <p:nvPr/>
        </p:nvSpPr>
        <p:spPr>
          <a:xfrm>
            <a:off x="4937760" y="6400800"/>
            <a:ext cx="1371600" cy="219456"/>
          </a:xfrm>
          <a:prstGeom prst="rect">
            <a:avLst/>
          </a:prstGeom>
          <a:noFill/>
          <a:ln/>
        </p:spPr>
        <p:txBody>
          <a:bodyPr wrap="square" lIns="0" tIns="0" rIns="0" bIns="0" rtlCol="0" anchor="ctr"/>
          <a:lstStyle/>
          <a:p>
            <a:pPr indent="0" marL="0">
              <a:buNone/>
            </a:pPr>
            <a:r>
              <a:rPr lang="en-US" sz="850" dirty="0">
                <a:solidFill>
                  <a:srgbClr val="7A7291"/>
                </a:solidFill>
                <a:latin typeface="Calibri" pitchFamily="34" charset="0"/>
                <a:ea typeface="Calibri" pitchFamily="34" charset="-122"/>
                <a:cs typeface="Calibri" pitchFamily="34" charset="-120"/>
              </a:rPr>
              <a:t>Canada &amp; Australia — </a:t>
            </a:r>
            <a:endParaRPr lang="en-US" sz="850" dirty="0"/>
          </a:p>
        </p:txBody>
      </p:sp>
      <p:sp>
        <p:nvSpPr>
          <p:cNvPr id="75" name="Text 73"/>
          <p:cNvSpPr/>
          <p:nvPr/>
        </p:nvSpPr>
        <p:spPr>
          <a:xfrm>
            <a:off x="6309360" y="6373368"/>
            <a:ext cx="594360" cy="256032"/>
          </a:xfrm>
          <a:prstGeom prst="rect">
            <a:avLst/>
          </a:prstGeom>
          <a:noFill/>
          <a:ln/>
        </p:spPr>
        <p:txBody>
          <a:bodyPr wrap="square" lIns="0" tIns="0" rIns="0" bIns="0" rtlCol="0" anchor="ctr"/>
          <a:lstStyle/>
          <a:p>
            <a:pPr indent="0" marL="0">
              <a:buNone/>
            </a:pPr>
            <a:r>
              <a:rPr lang="en-US" sz="1200" b="1" dirty="0">
                <a:solidFill>
                  <a:srgbClr val="6C4FE0"/>
                </a:solidFill>
                <a:latin typeface="Cambria" pitchFamily="34" charset="0"/>
                <a:ea typeface="Cambria" pitchFamily="34" charset="-122"/>
                <a:cs typeface="Cambria" pitchFamily="34" charset="-120"/>
              </a:rPr>
              <a:t>1.3k</a:t>
            </a:r>
            <a:endParaRPr lang="en-US" sz="1200" dirty="0"/>
          </a:p>
        </p:txBody>
      </p:sp>
      <p:sp>
        <p:nvSpPr>
          <p:cNvPr id="76" name="Text 74"/>
          <p:cNvSpPr/>
          <p:nvPr/>
        </p:nvSpPr>
        <p:spPr>
          <a:xfrm>
            <a:off x="4937760" y="6583680"/>
            <a:ext cx="1920240" cy="201168"/>
          </a:xfrm>
          <a:prstGeom prst="rect">
            <a:avLst/>
          </a:prstGeom>
          <a:noFill/>
          <a:ln/>
        </p:spPr>
        <p:txBody>
          <a:bodyPr wrap="square" lIns="0" tIns="0" rIns="0" bIns="0" rtlCol="0" anchor="ctr"/>
          <a:lstStyle/>
          <a:p>
            <a:pPr indent="0" marL="0">
              <a:buNone/>
            </a:pPr>
            <a:r>
              <a:rPr lang="en-US" sz="750" i="1" dirty="0">
                <a:solidFill>
                  <a:srgbClr val="7A7291"/>
                </a:solidFill>
                <a:latin typeface="Calibri" pitchFamily="34" charset="0"/>
                <a:ea typeface="Calibri" pitchFamily="34" charset="-122"/>
                <a:cs typeface="Calibri" pitchFamily="34" charset="-120"/>
              </a:rPr>
              <a:t>of 250k</a:t>
            </a:r>
            <a:endParaRPr lang="en-US" sz="750" dirty="0"/>
          </a:p>
        </p:txBody>
      </p:sp>
      <p:sp>
        <p:nvSpPr>
          <p:cNvPr id="77" name="Text 75"/>
          <p:cNvSpPr/>
          <p:nvPr/>
        </p:nvSpPr>
        <p:spPr>
          <a:xfrm>
            <a:off x="7086600" y="6400800"/>
            <a:ext cx="1371600" cy="219456"/>
          </a:xfrm>
          <a:prstGeom prst="rect">
            <a:avLst/>
          </a:prstGeom>
          <a:noFill/>
          <a:ln/>
        </p:spPr>
        <p:txBody>
          <a:bodyPr wrap="square" lIns="0" tIns="0" rIns="0" bIns="0" rtlCol="0" anchor="ctr"/>
          <a:lstStyle/>
          <a:p>
            <a:pPr indent="0" marL="0">
              <a:buNone/>
            </a:pPr>
            <a:r>
              <a:rPr lang="en-US" sz="850" dirty="0">
                <a:solidFill>
                  <a:srgbClr val="7A7291"/>
                </a:solidFill>
                <a:latin typeface="Calibri" pitchFamily="34" charset="0"/>
                <a:ea typeface="Calibri" pitchFamily="34" charset="-122"/>
                <a:cs typeface="Calibri" pitchFamily="34" charset="-120"/>
              </a:rPr>
              <a:t>Gulf — </a:t>
            </a:r>
            <a:endParaRPr lang="en-US" sz="850" dirty="0"/>
          </a:p>
        </p:txBody>
      </p:sp>
      <p:sp>
        <p:nvSpPr>
          <p:cNvPr id="78" name="Text 76"/>
          <p:cNvSpPr/>
          <p:nvPr/>
        </p:nvSpPr>
        <p:spPr>
          <a:xfrm>
            <a:off x="8458200" y="6373368"/>
            <a:ext cx="594360" cy="256032"/>
          </a:xfrm>
          <a:prstGeom prst="rect">
            <a:avLst/>
          </a:prstGeom>
          <a:noFill/>
          <a:ln/>
        </p:spPr>
        <p:txBody>
          <a:bodyPr wrap="square" lIns="0" tIns="0" rIns="0" bIns="0" rtlCol="0" anchor="ctr"/>
          <a:lstStyle/>
          <a:p>
            <a:pPr indent="0" marL="0">
              <a:buNone/>
            </a:pPr>
            <a:r>
              <a:rPr lang="en-US" sz="1200" b="1" dirty="0">
                <a:solidFill>
                  <a:srgbClr val="F0B429"/>
                </a:solidFill>
                <a:latin typeface="Cambria" pitchFamily="34" charset="0"/>
                <a:ea typeface="Cambria" pitchFamily="34" charset="-122"/>
                <a:cs typeface="Cambria" pitchFamily="34" charset="-120"/>
              </a:rPr>
              <a:t>0.6k</a:t>
            </a:r>
            <a:endParaRPr lang="en-US" sz="1200" dirty="0"/>
          </a:p>
        </p:txBody>
      </p:sp>
      <p:sp>
        <p:nvSpPr>
          <p:cNvPr id="79" name="Text 77"/>
          <p:cNvSpPr/>
          <p:nvPr/>
        </p:nvSpPr>
        <p:spPr>
          <a:xfrm>
            <a:off x="7086600" y="6583680"/>
            <a:ext cx="1920240" cy="201168"/>
          </a:xfrm>
          <a:prstGeom prst="rect">
            <a:avLst/>
          </a:prstGeom>
          <a:noFill/>
          <a:ln/>
        </p:spPr>
        <p:txBody>
          <a:bodyPr wrap="square" lIns="0" tIns="0" rIns="0" bIns="0" rtlCol="0" anchor="ctr"/>
          <a:lstStyle/>
          <a:p>
            <a:pPr indent="0" marL="0">
              <a:buNone/>
            </a:pPr>
            <a:r>
              <a:rPr lang="en-US" sz="750" i="1" dirty="0">
                <a:solidFill>
                  <a:srgbClr val="7A7291"/>
                </a:solidFill>
                <a:latin typeface="Calibri" pitchFamily="34" charset="0"/>
                <a:ea typeface="Calibri" pitchFamily="34" charset="-122"/>
                <a:cs typeface="Calibri" pitchFamily="34" charset="-120"/>
              </a:rPr>
              <a:t>of 350k</a:t>
            </a:r>
            <a:endParaRPr lang="en-US" sz="750" dirty="0"/>
          </a:p>
        </p:txBody>
      </p:sp>
      <p:sp>
        <p:nvSpPr>
          <p:cNvPr id="80" name="Text 78"/>
          <p:cNvSpPr/>
          <p:nvPr/>
        </p:nvSpPr>
        <p:spPr>
          <a:xfrm>
            <a:off x="9235440" y="6400800"/>
            <a:ext cx="1371600" cy="219456"/>
          </a:xfrm>
          <a:prstGeom prst="rect">
            <a:avLst/>
          </a:prstGeom>
          <a:noFill/>
          <a:ln/>
        </p:spPr>
        <p:txBody>
          <a:bodyPr wrap="square" lIns="0" tIns="0" rIns="0" bIns="0" rtlCol="0" anchor="ctr"/>
          <a:lstStyle/>
          <a:p>
            <a:pPr indent="0" marL="0">
              <a:buNone/>
            </a:pPr>
            <a:r>
              <a:rPr lang="en-US" sz="850" dirty="0">
                <a:solidFill>
                  <a:srgbClr val="7A7291"/>
                </a:solidFill>
                <a:latin typeface="Calibri" pitchFamily="34" charset="0"/>
                <a:ea typeface="Calibri" pitchFamily="34" charset="-122"/>
                <a:cs typeface="Calibri" pitchFamily="34" charset="-120"/>
              </a:rPr>
              <a:t>India — </a:t>
            </a:r>
            <a:endParaRPr lang="en-US" sz="850" dirty="0"/>
          </a:p>
        </p:txBody>
      </p:sp>
      <p:sp>
        <p:nvSpPr>
          <p:cNvPr id="81" name="Text 79"/>
          <p:cNvSpPr/>
          <p:nvPr/>
        </p:nvSpPr>
        <p:spPr>
          <a:xfrm>
            <a:off x="10607040" y="6373368"/>
            <a:ext cx="594360" cy="256032"/>
          </a:xfrm>
          <a:prstGeom prst="rect">
            <a:avLst/>
          </a:prstGeom>
          <a:noFill/>
          <a:ln/>
        </p:spPr>
        <p:txBody>
          <a:bodyPr wrap="square" lIns="0" tIns="0" rIns="0" bIns="0" rtlCol="0" anchor="ctr"/>
          <a:lstStyle/>
          <a:p>
            <a:pPr indent="0" marL="0">
              <a:buNone/>
            </a:pPr>
            <a:r>
              <a:rPr lang="en-US" sz="1200" b="1" dirty="0">
                <a:solidFill>
                  <a:srgbClr val="178A4C"/>
                </a:solidFill>
                <a:latin typeface="Cambria" pitchFamily="34" charset="0"/>
                <a:ea typeface="Cambria" pitchFamily="34" charset="-122"/>
                <a:cs typeface="Cambria" pitchFamily="34" charset="-120"/>
              </a:rPr>
              <a:t>4.8k</a:t>
            </a:r>
            <a:endParaRPr lang="en-US" sz="1200" dirty="0"/>
          </a:p>
        </p:txBody>
      </p:sp>
      <p:sp>
        <p:nvSpPr>
          <p:cNvPr id="82" name="Text 80"/>
          <p:cNvSpPr/>
          <p:nvPr/>
        </p:nvSpPr>
        <p:spPr>
          <a:xfrm>
            <a:off x="9235440" y="6583680"/>
            <a:ext cx="1920240" cy="201168"/>
          </a:xfrm>
          <a:prstGeom prst="rect">
            <a:avLst/>
          </a:prstGeom>
          <a:noFill/>
          <a:ln/>
        </p:spPr>
        <p:txBody>
          <a:bodyPr wrap="square" lIns="0" tIns="0" rIns="0" bIns="0" rtlCol="0" anchor="ctr"/>
          <a:lstStyle/>
          <a:p>
            <a:pPr indent="0" marL="0">
              <a:buNone/>
            </a:pPr>
            <a:r>
              <a:rPr lang="en-US" sz="750" i="1" dirty="0">
                <a:solidFill>
                  <a:srgbClr val="7A7291"/>
                </a:solidFill>
                <a:latin typeface="Calibri" pitchFamily="34" charset="0"/>
                <a:ea typeface="Calibri" pitchFamily="34" charset="-122"/>
                <a:cs typeface="Calibri" pitchFamily="34" charset="-120"/>
              </a:rPr>
              <a:t>of 6.0M</a:t>
            </a:r>
            <a:endParaRPr lang="en-US" sz="7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241E33"/>
        </a:solidFill>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indent="0" marL="0">
              <a:buNone/>
            </a:pPr>
            <a:r>
              <a:rPr lang="en-US" sz="1200" b="1" spc="300" kern="0" dirty="0">
                <a:solidFill>
                  <a:srgbClr val="F0B429"/>
                </a:solidFill>
                <a:latin typeface="Calibri" pitchFamily="34" charset="0"/>
                <a:ea typeface="Calibri" pitchFamily="34" charset="-122"/>
                <a:cs typeface="Calibri" pitchFamily="34" charset="-120"/>
              </a:rPr>
              <a:t>PAID MEDIA — WHAT IT WOULD TAKE</a:t>
            </a:r>
            <a:endParaRPr lang="en-US" sz="1200" dirty="0"/>
          </a:p>
        </p:txBody>
      </p:sp>
      <p:sp>
        <p:nvSpPr>
          <p:cNvPr id="3" name="Text 1"/>
          <p:cNvSpPr/>
          <p:nvPr/>
        </p:nvSpPr>
        <p:spPr>
          <a:xfrm>
            <a:off x="640080" y="822960"/>
            <a:ext cx="10424160" cy="932688"/>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The budget is not chosen. It is 18% of what came in last quarter.</a:t>
            </a:r>
            <a:endParaRPr lang="en-US" sz="2700" dirty="0"/>
          </a:p>
        </p:txBody>
      </p:sp>
      <p:sp>
        <p:nvSpPr>
          <p:cNvPr id="4" name="Text 2"/>
          <p:cNvSpPr/>
          <p:nvPr/>
        </p:nvSpPr>
        <p:spPr>
          <a:xfrm>
            <a:off x="640080" y="1810512"/>
            <a:ext cx="10424160" cy="384048"/>
          </a:xfrm>
          <a:prstGeom prst="rect">
            <a:avLst/>
          </a:prstGeom>
          <a:noFill/>
          <a:ln/>
        </p:spPr>
        <p:txBody>
          <a:bodyPr wrap="square" lIns="0" tIns="0" rIns="0" bIns="0" rtlCol="0" anchor="ctr"/>
          <a:lstStyle/>
          <a:p>
            <a:pPr indent="0" marL="0">
              <a:lnSpc>
                <a:spcPts val="1500"/>
              </a:lnSpc>
              <a:buNone/>
            </a:pPr>
            <a:r>
              <a:rPr lang="en-US" sz="1250" dirty="0">
                <a:solidFill>
                  <a:srgbClr val="E3DCF2"/>
                </a:solidFill>
                <a:latin typeface="Calibri" pitchFamily="34" charset="0"/>
                <a:ea typeface="Calibri" pitchFamily="34" charset="-122"/>
                <a:cs typeface="Calibri" pitchFamily="34" charset="-120"/>
              </a:rPr>
              <a:t>That is the whole discipline. It means paid media can never be the reason a month loses money — and it means we spend $4.7k in Year 1 and $556k in Year 5 without ever making a budget decision.</a:t>
            </a:r>
            <a:endParaRPr lang="en-US" sz="1250" dirty="0"/>
          </a:p>
        </p:txBody>
      </p:sp>
      <p:sp>
        <p:nvSpPr>
          <p:cNvPr id="5" name="Text 3"/>
          <p:cNvSpPr/>
          <p:nvPr/>
        </p:nvSpPr>
        <p:spPr>
          <a:xfrm>
            <a:off x="3566160" y="2231136"/>
            <a:ext cx="1234440" cy="237744"/>
          </a:xfrm>
          <a:prstGeom prst="rect">
            <a:avLst/>
          </a:prstGeom>
          <a:noFill/>
          <a:ln/>
        </p:spPr>
        <p:txBody>
          <a:bodyPr wrap="square" lIns="0" tIns="0" rIns="0" bIns="0" rtlCol="0" anchor="ctr"/>
          <a:lstStyle/>
          <a:p>
            <a:pPr algn="ctr" indent="0" marL="0">
              <a:buNone/>
            </a:pPr>
            <a:r>
              <a:rPr lang="en-US" sz="900" b="1" spc="120" kern="0" dirty="0">
                <a:solidFill>
                  <a:srgbClr val="F0B429"/>
                </a:solidFill>
                <a:latin typeface="Calibri" pitchFamily="34" charset="0"/>
                <a:ea typeface="Calibri" pitchFamily="34" charset="-122"/>
                <a:cs typeface="Calibri" pitchFamily="34" charset="-120"/>
              </a:rPr>
              <a:t>CPC</a:t>
            </a:r>
            <a:endParaRPr lang="en-US" sz="900" dirty="0"/>
          </a:p>
        </p:txBody>
      </p:sp>
      <p:sp>
        <p:nvSpPr>
          <p:cNvPr id="6" name="Text 4"/>
          <p:cNvSpPr/>
          <p:nvPr/>
        </p:nvSpPr>
        <p:spPr>
          <a:xfrm>
            <a:off x="4892040" y="2231136"/>
            <a:ext cx="1234440" cy="237744"/>
          </a:xfrm>
          <a:prstGeom prst="rect">
            <a:avLst/>
          </a:prstGeom>
          <a:noFill/>
          <a:ln/>
        </p:spPr>
        <p:txBody>
          <a:bodyPr wrap="square" lIns="0" tIns="0" rIns="0" bIns="0" rtlCol="0" anchor="ctr"/>
          <a:lstStyle/>
          <a:p>
            <a:pPr algn="ctr" indent="0" marL="0">
              <a:buNone/>
            </a:pPr>
            <a:r>
              <a:rPr lang="en-US" sz="900" b="1" spc="120" kern="0" dirty="0">
                <a:solidFill>
                  <a:srgbClr val="F0B429"/>
                </a:solidFill>
                <a:latin typeface="Calibri" pitchFamily="34" charset="0"/>
                <a:ea typeface="Calibri" pitchFamily="34" charset="-122"/>
                <a:cs typeface="Calibri" pitchFamily="34" charset="-120"/>
              </a:rPr>
              <a:t>CPL</a:t>
            </a:r>
            <a:endParaRPr lang="en-US" sz="900" dirty="0"/>
          </a:p>
        </p:txBody>
      </p:sp>
      <p:sp>
        <p:nvSpPr>
          <p:cNvPr id="7" name="Text 5"/>
          <p:cNvSpPr/>
          <p:nvPr/>
        </p:nvSpPr>
        <p:spPr>
          <a:xfrm>
            <a:off x="6217920" y="2231136"/>
            <a:ext cx="1234440" cy="237744"/>
          </a:xfrm>
          <a:prstGeom prst="rect">
            <a:avLst/>
          </a:prstGeom>
          <a:noFill/>
          <a:ln/>
        </p:spPr>
        <p:txBody>
          <a:bodyPr wrap="square" lIns="0" tIns="0" rIns="0" bIns="0" rtlCol="0" anchor="ctr"/>
          <a:lstStyle/>
          <a:p>
            <a:pPr algn="ctr" indent="0" marL="0">
              <a:buNone/>
            </a:pPr>
            <a:r>
              <a:rPr lang="en-US" sz="900" b="1" spc="120" kern="0" dirty="0">
                <a:solidFill>
                  <a:srgbClr val="F0B429"/>
                </a:solidFill>
                <a:latin typeface="Calibri" pitchFamily="34" charset="0"/>
                <a:ea typeface="Calibri" pitchFamily="34" charset="-122"/>
                <a:cs typeface="Calibri" pitchFamily="34" charset="-120"/>
              </a:rPr>
              <a:t>CAC</a:t>
            </a:r>
            <a:endParaRPr lang="en-US" sz="900" dirty="0"/>
          </a:p>
        </p:txBody>
      </p:sp>
      <p:sp>
        <p:nvSpPr>
          <p:cNvPr id="8" name="Text 6"/>
          <p:cNvSpPr/>
          <p:nvPr/>
        </p:nvSpPr>
        <p:spPr>
          <a:xfrm>
            <a:off x="7406640" y="2231136"/>
            <a:ext cx="1234440" cy="237744"/>
          </a:xfrm>
          <a:prstGeom prst="rect">
            <a:avLst/>
          </a:prstGeom>
          <a:noFill/>
          <a:ln/>
        </p:spPr>
        <p:txBody>
          <a:bodyPr wrap="square" lIns="0" tIns="0" rIns="0" bIns="0" rtlCol="0" anchor="ctr"/>
          <a:lstStyle/>
          <a:p>
            <a:pPr algn="ctr" indent="0" marL="0">
              <a:buNone/>
            </a:pPr>
            <a:r>
              <a:rPr lang="en-US" sz="900" b="1" spc="120" kern="0" dirty="0">
                <a:solidFill>
                  <a:srgbClr val="F0B429"/>
                </a:solidFill>
                <a:latin typeface="Calibri" pitchFamily="34" charset="0"/>
                <a:ea typeface="Calibri" pitchFamily="34" charset="-122"/>
                <a:cs typeface="Calibri" pitchFamily="34" charset="-120"/>
              </a:rPr>
              <a:t>YR-1 ROAS</a:t>
            </a:r>
            <a:endParaRPr lang="en-US" sz="900" dirty="0"/>
          </a:p>
        </p:txBody>
      </p:sp>
      <p:sp>
        <p:nvSpPr>
          <p:cNvPr id="9" name="Shape 7"/>
          <p:cNvSpPr/>
          <p:nvPr/>
        </p:nvSpPr>
        <p:spPr>
          <a:xfrm>
            <a:off x="512064" y="2459736"/>
            <a:ext cx="10954512" cy="585216"/>
          </a:xfrm>
          <a:prstGeom prst="roundRect">
            <a:avLst>
              <a:gd name="adj" fmla="val 14063"/>
            </a:avLst>
          </a:prstGeom>
          <a:solidFill>
            <a:srgbClr val="FFFFFF">
              <a:alpha val="6000"/>
            </a:srgbClr>
          </a:solidFill>
          <a:ln/>
        </p:spPr>
      </p:sp>
      <p:sp>
        <p:nvSpPr>
          <p:cNvPr id="10" name="Shape 8"/>
          <p:cNvSpPr/>
          <p:nvPr/>
        </p:nvSpPr>
        <p:spPr>
          <a:xfrm rot="5400000">
            <a:off x="640080" y="2642616"/>
            <a:ext cx="237744" cy="237744"/>
          </a:xfrm>
          <a:prstGeom prst="hexagon">
            <a:avLst/>
          </a:prstGeom>
          <a:solidFill>
            <a:srgbClr val="178A4C"/>
          </a:solidFill>
          <a:ln/>
        </p:spPr>
      </p:sp>
      <p:sp>
        <p:nvSpPr>
          <p:cNvPr id="11" name="Text 9"/>
          <p:cNvSpPr/>
          <p:nvPr/>
        </p:nvSpPr>
        <p:spPr>
          <a:xfrm>
            <a:off x="987552" y="2505456"/>
            <a:ext cx="2560320" cy="493776"/>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Google Search</a:t>
            </a:r>
            <a:endParaRPr lang="en-US" sz="1250" dirty="0"/>
          </a:p>
        </p:txBody>
      </p:sp>
      <p:sp>
        <p:nvSpPr>
          <p:cNvPr id="12" name="Text 10"/>
          <p:cNvSpPr/>
          <p:nvPr/>
        </p:nvSpPr>
        <p:spPr>
          <a:xfrm>
            <a:off x="3566160" y="2505456"/>
            <a:ext cx="1234440" cy="493776"/>
          </a:xfrm>
          <a:prstGeom prst="rect">
            <a:avLst/>
          </a:prstGeom>
          <a:noFill/>
          <a:ln/>
        </p:spPr>
        <p:txBody>
          <a:bodyPr wrap="square" lIns="0" tIns="0" rIns="0" bIns="0" rtlCol="0" anchor="ctr"/>
          <a:lstStyle/>
          <a:p>
            <a:pPr algn="ctr" indent="0" marL="0">
              <a:buNone/>
            </a:pPr>
            <a:r>
              <a:rPr lang="en-US" sz="1100" dirty="0">
                <a:solidFill>
                  <a:srgbClr val="E3DCF2"/>
                </a:solidFill>
                <a:latin typeface="Calibri" pitchFamily="34" charset="0"/>
                <a:ea typeface="Calibri" pitchFamily="34" charset="-122"/>
                <a:cs typeface="Calibri" pitchFamily="34" charset="-120"/>
              </a:rPr>
              <a:t>$1.80–3.50</a:t>
            </a:r>
            <a:endParaRPr lang="en-US" sz="1100" dirty="0"/>
          </a:p>
        </p:txBody>
      </p:sp>
      <p:sp>
        <p:nvSpPr>
          <p:cNvPr id="13" name="Text 11"/>
          <p:cNvSpPr/>
          <p:nvPr/>
        </p:nvSpPr>
        <p:spPr>
          <a:xfrm>
            <a:off x="4892040" y="2505456"/>
            <a:ext cx="1234440" cy="493776"/>
          </a:xfrm>
          <a:prstGeom prst="rect">
            <a:avLst/>
          </a:prstGeom>
          <a:noFill/>
          <a:ln/>
        </p:spPr>
        <p:txBody>
          <a:bodyPr wrap="square" lIns="0" tIns="0" rIns="0" bIns="0" rtlCol="0" anchor="ctr"/>
          <a:lstStyle/>
          <a:p>
            <a:pPr algn="ctr" indent="0" marL="0">
              <a:buNone/>
            </a:pPr>
            <a:r>
              <a:rPr lang="en-US" sz="1100" dirty="0">
                <a:solidFill>
                  <a:srgbClr val="E3DCF2"/>
                </a:solidFill>
                <a:latin typeface="Calibri" pitchFamily="34" charset="0"/>
                <a:ea typeface="Calibri" pitchFamily="34" charset="-122"/>
                <a:cs typeface="Calibri" pitchFamily="34" charset="-120"/>
              </a:rPr>
              <a:t>$10–16</a:t>
            </a:r>
            <a:endParaRPr lang="en-US" sz="1100" dirty="0"/>
          </a:p>
        </p:txBody>
      </p:sp>
      <p:sp>
        <p:nvSpPr>
          <p:cNvPr id="14" name="Text 12"/>
          <p:cNvSpPr/>
          <p:nvPr/>
        </p:nvSpPr>
        <p:spPr>
          <a:xfrm>
            <a:off x="6217920" y="2505456"/>
            <a:ext cx="1234440" cy="493776"/>
          </a:xfrm>
          <a:prstGeom prst="rect">
            <a:avLst/>
          </a:prstGeom>
          <a:noFill/>
          <a:ln/>
        </p:spPr>
        <p:txBody>
          <a:bodyPr wrap="square" lIns="0" tIns="0" rIns="0" bIns="0" rtlCol="0" anchor="ctr"/>
          <a:lstStyle/>
          <a:p>
            <a:pPr algn="ctr" indent="0" marL="0">
              <a:buNone/>
            </a:pPr>
            <a:r>
              <a:rPr lang="en-US" sz="1100" b="1" dirty="0">
                <a:solidFill>
                  <a:srgbClr val="E3DCF2"/>
                </a:solidFill>
                <a:latin typeface="Calibri" pitchFamily="34" charset="0"/>
                <a:ea typeface="Calibri" pitchFamily="34" charset="-122"/>
                <a:cs typeface="Calibri" pitchFamily="34" charset="-120"/>
              </a:rPr>
              <a:t>$100</a:t>
            </a:r>
            <a:endParaRPr lang="en-US" sz="1100" dirty="0"/>
          </a:p>
        </p:txBody>
      </p:sp>
      <p:sp>
        <p:nvSpPr>
          <p:cNvPr id="15" name="Text 13"/>
          <p:cNvSpPr/>
          <p:nvPr/>
        </p:nvSpPr>
        <p:spPr>
          <a:xfrm>
            <a:off x="7406640" y="2505456"/>
            <a:ext cx="1234440" cy="493776"/>
          </a:xfrm>
          <a:prstGeom prst="rect">
            <a:avLst/>
          </a:prstGeom>
          <a:noFill/>
          <a:ln/>
        </p:spPr>
        <p:txBody>
          <a:bodyPr wrap="square" lIns="0" tIns="0" rIns="0" bIns="0" rtlCol="0" anchor="ctr"/>
          <a:lstStyle/>
          <a:p>
            <a:pPr algn="ctr" indent="0" marL="0">
              <a:buNone/>
            </a:pPr>
            <a:r>
              <a:rPr lang="en-US" sz="1100" b="1" dirty="0">
                <a:solidFill>
                  <a:srgbClr val="178A4C"/>
                </a:solidFill>
                <a:latin typeface="Calibri" pitchFamily="34" charset="0"/>
                <a:ea typeface="Calibri" pitchFamily="34" charset="-122"/>
                <a:cs typeface="Calibri" pitchFamily="34" charset="-120"/>
              </a:rPr>
              <a:t>2.1×</a:t>
            </a:r>
            <a:endParaRPr lang="en-US" sz="1100" dirty="0"/>
          </a:p>
        </p:txBody>
      </p:sp>
      <p:sp>
        <p:nvSpPr>
          <p:cNvPr id="16" name="Text 14"/>
          <p:cNvSpPr/>
          <p:nvPr/>
        </p:nvSpPr>
        <p:spPr>
          <a:xfrm>
            <a:off x="8778240" y="2505456"/>
            <a:ext cx="2743200" cy="530352"/>
          </a:xfrm>
          <a:prstGeom prst="rect">
            <a:avLst/>
          </a:prstGeom>
          <a:noFill/>
          <a:ln/>
        </p:spPr>
        <p:txBody>
          <a:bodyPr wrap="square" lIns="0" tIns="0" rIns="0" bIns="0" rtlCol="0" anchor="ctr"/>
          <a:lstStyle/>
          <a:p>
            <a:pPr indent="0" marL="0">
              <a:lnSpc>
                <a:spcPts val="1100"/>
              </a:lnSpc>
              <a:buNone/>
            </a:pPr>
            <a:r>
              <a:rPr lang="en-US" sz="900" dirty="0">
                <a:solidFill>
                  <a:srgbClr val="E3DCF2"/>
                </a:solidFill>
                <a:latin typeface="Calibri" pitchFamily="34" charset="0"/>
                <a:ea typeface="Calibri" pitchFamily="34" charset="-122"/>
                <a:cs typeface="Calibri" pitchFamily="34" charset="-120"/>
              </a:rPr>
              <a:t>Highest intent: "spelling bee practice", "11+ verbal reasoning". Small volume, best economics. Start here.</a:t>
            </a:r>
            <a:endParaRPr lang="en-US" sz="900" dirty="0"/>
          </a:p>
        </p:txBody>
      </p:sp>
      <p:sp>
        <p:nvSpPr>
          <p:cNvPr id="17" name="Shape 15"/>
          <p:cNvSpPr/>
          <p:nvPr/>
        </p:nvSpPr>
        <p:spPr>
          <a:xfrm rot="5400000">
            <a:off x="640080" y="3273552"/>
            <a:ext cx="237744" cy="237744"/>
          </a:xfrm>
          <a:prstGeom prst="hexagon">
            <a:avLst/>
          </a:prstGeom>
          <a:solidFill>
            <a:srgbClr val="6C4FE0"/>
          </a:solidFill>
          <a:ln/>
        </p:spPr>
      </p:sp>
      <p:sp>
        <p:nvSpPr>
          <p:cNvPr id="18" name="Text 16"/>
          <p:cNvSpPr/>
          <p:nvPr/>
        </p:nvSpPr>
        <p:spPr>
          <a:xfrm>
            <a:off x="987552" y="3136392"/>
            <a:ext cx="2560320" cy="493776"/>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Meta</a:t>
            </a:r>
            <a:endParaRPr lang="en-US" sz="1250" dirty="0"/>
          </a:p>
        </p:txBody>
      </p:sp>
      <p:sp>
        <p:nvSpPr>
          <p:cNvPr id="19" name="Text 17"/>
          <p:cNvSpPr/>
          <p:nvPr/>
        </p:nvSpPr>
        <p:spPr>
          <a:xfrm>
            <a:off x="3566160" y="3136392"/>
            <a:ext cx="1234440" cy="493776"/>
          </a:xfrm>
          <a:prstGeom prst="rect">
            <a:avLst/>
          </a:prstGeom>
          <a:noFill/>
          <a:ln/>
        </p:spPr>
        <p:txBody>
          <a:bodyPr wrap="square" lIns="0" tIns="0" rIns="0" bIns="0" rtlCol="0" anchor="ctr"/>
          <a:lstStyle/>
          <a:p>
            <a:pPr algn="ctr" indent="0" marL="0">
              <a:buNone/>
            </a:pPr>
            <a:r>
              <a:rPr lang="en-US" sz="1100" dirty="0">
                <a:solidFill>
                  <a:srgbClr val="E3DCF2"/>
                </a:solidFill>
                <a:latin typeface="Calibri" pitchFamily="34" charset="0"/>
                <a:ea typeface="Calibri" pitchFamily="34" charset="-122"/>
                <a:cs typeface="Calibri" pitchFamily="34" charset="-120"/>
              </a:rPr>
              <a:t>$1.20–1.80</a:t>
            </a:r>
            <a:endParaRPr lang="en-US" sz="1100" dirty="0"/>
          </a:p>
        </p:txBody>
      </p:sp>
      <p:sp>
        <p:nvSpPr>
          <p:cNvPr id="20" name="Text 18"/>
          <p:cNvSpPr/>
          <p:nvPr/>
        </p:nvSpPr>
        <p:spPr>
          <a:xfrm>
            <a:off x="4892040" y="3136392"/>
            <a:ext cx="1234440" cy="493776"/>
          </a:xfrm>
          <a:prstGeom prst="rect">
            <a:avLst/>
          </a:prstGeom>
          <a:noFill/>
          <a:ln/>
        </p:spPr>
        <p:txBody>
          <a:bodyPr wrap="square" lIns="0" tIns="0" rIns="0" bIns="0" rtlCol="0" anchor="ctr"/>
          <a:lstStyle/>
          <a:p>
            <a:pPr algn="ctr" indent="0" marL="0">
              <a:buNone/>
            </a:pPr>
            <a:r>
              <a:rPr lang="en-US" sz="1100" dirty="0">
                <a:solidFill>
                  <a:srgbClr val="E3DCF2"/>
                </a:solidFill>
                <a:latin typeface="Calibri" pitchFamily="34" charset="0"/>
                <a:ea typeface="Calibri" pitchFamily="34" charset="-122"/>
                <a:cs typeface="Calibri" pitchFamily="34" charset="-120"/>
              </a:rPr>
              <a:t>$12–18</a:t>
            </a:r>
            <a:endParaRPr lang="en-US" sz="1100" dirty="0"/>
          </a:p>
        </p:txBody>
      </p:sp>
      <p:sp>
        <p:nvSpPr>
          <p:cNvPr id="21" name="Text 19"/>
          <p:cNvSpPr/>
          <p:nvPr/>
        </p:nvSpPr>
        <p:spPr>
          <a:xfrm>
            <a:off x="6217920" y="3136392"/>
            <a:ext cx="1234440" cy="493776"/>
          </a:xfrm>
          <a:prstGeom prst="rect">
            <a:avLst/>
          </a:prstGeom>
          <a:noFill/>
          <a:ln/>
        </p:spPr>
        <p:txBody>
          <a:bodyPr wrap="square" lIns="0" tIns="0" rIns="0" bIns="0" rtlCol="0" anchor="ctr"/>
          <a:lstStyle/>
          <a:p>
            <a:pPr algn="ctr" indent="0" marL="0">
              <a:buNone/>
            </a:pPr>
            <a:r>
              <a:rPr lang="en-US" sz="1100" b="1" dirty="0">
                <a:solidFill>
                  <a:srgbClr val="E3DCF2"/>
                </a:solidFill>
                <a:latin typeface="Calibri" pitchFamily="34" charset="0"/>
                <a:ea typeface="Calibri" pitchFamily="34" charset="-122"/>
                <a:cs typeface="Calibri" pitchFamily="34" charset="-120"/>
              </a:rPr>
              <a:t>$156</a:t>
            </a:r>
            <a:endParaRPr lang="en-US" sz="1100" dirty="0"/>
          </a:p>
        </p:txBody>
      </p:sp>
      <p:sp>
        <p:nvSpPr>
          <p:cNvPr id="22" name="Text 20"/>
          <p:cNvSpPr/>
          <p:nvPr/>
        </p:nvSpPr>
        <p:spPr>
          <a:xfrm>
            <a:off x="7406640" y="3136392"/>
            <a:ext cx="1234440" cy="493776"/>
          </a:xfrm>
          <a:prstGeom prst="rect">
            <a:avLst/>
          </a:prstGeom>
          <a:noFill/>
          <a:ln/>
        </p:spPr>
        <p:txBody>
          <a:bodyPr wrap="square" lIns="0" tIns="0" rIns="0" bIns="0" rtlCol="0" anchor="ctr"/>
          <a:lstStyle/>
          <a:p>
            <a:pPr algn="ctr" indent="0" marL="0">
              <a:buNone/>
            </a:pPr>
            <a:r>
              <a:rPr lang="en-US" sz="1100" b="1" dirty="0">
                <a:solidFill>
                  <a:srgbClr val="6C4FE0"/>
                </a:solidFill>
                <a:latin typeface="Calibri" pitchFamily="34" charset="0"/>
                <a:ea typeface="Calibri" pitchFamily="34" charset="-122"/>
                <a:cs typeface="Calibri" pitchFamily="34" charset="-120"/>
              </a:rPr>
              <a:t>1.3×</a:t>
            </a:r>
            <a:endParaRPr lang="en-US" sz="1100" dirty="0"/>
          </a:p>
        </p:txBody>
      </p:sp>
      <p:sp>
        <p:nvSpPr>
          <p:cNvPr id="23" name="Text 21"/>
          <p:cNvSpPr/>
          <p:nvPr/>
        </p:nvSpPr>
        <p:spPr>
          <a:xfrm>
            <a:off x="8778240" y="3136392"/>
            <a:ext cx="2743200" cy="530352"/>
          </a:xfrm>
          <a:prstGeom prst="rect">
            <a:avLst/>
          </a:prstGeom>
          <a:noFill/>
          <a:ln/>
        </p:spPr>
        <p:txBody>
          <a:bodyPr wrap="square" lIns="0" tIns="0" rIns="0" bIns="0" rtlCol="0" anchor="ctr"/>
          <a:lstStyle/>
          <a:p>
            <a:pPr indent="0" marL="0">
              <a:lnSpc>
                <a:spcPts val="1100"/>
              </a:lnSpc>
              <a:buNone/>
            </a:pPr>
            <a:r>
              <a:rPr lang="en-US" sz="900" dirty="0">
                <a:solidFill>
                  <a:srgbClr val="E3DCF2"/>
                </a:solidFill>
                <a:latin typeface="Calibri" pitchFamily="34" charset="0"/>
                <a:ea typeface="Calibri" pitchFamily="34" charset="-122"/>
                <a:cs typeface="Calibri" pitchFamily="34" charset="-120"/>
              </a:rPr>
              <a:t>Parent targeting and lookalikes off converters. Volume lives here; so does the waste.</a:t>
            </a:r>
            <a:endParaRPr lang="en-US" sz="900" dirty="0"/>
          </a:p>
        </p:txBody>
      </p:sp>
      <p:sp>
        <p:nvSpPr>
          <p:cNvPr id="24" name="Shape 22"/>
          <p:cNvSpPr/>
          <p:nvPr/>
        </p:nvSpPr>
        <p:spPr>
          <a:xfrm>
            <a:off x="512064" y="3721608"/>
            <a:ext cx="10954512" cy="585216"/>
          </a:xfrm>
          <a:prstGeom prst="roundRect">
            <a:avLst>
              <a:gd name="adj" fmla="val 14063"/>
            </a:avLst>
          </a:prstGeom>
          <a:solidFill>
            <a:srgbClr val="FFFFFF">
              <a:alpha val="6000"/>
            </a:srgbClr>
          </a:solidFill>
          <a:ln/>
        </p:spPr>
      </p:sp>
      <p:sp>
        <p:nvSpPr>
          <p:cNvPr id="25" name="Shape 23"/>
          <p:cNvSpPr/>
          <p:nvPr/>
        </p:nvSpPr>
        <p:spPr>
          <a:xfrm rot="5400000">
            <a:off x="640080" y="3904488"/>
            <a:ext cx="237744" cy="237744"/>
          </a:xfrm>
          <a:prstGeom prst="hexagon">
            <a:avLst/>
          </a:prstGeom>
          <a:solidFill>
            <a:srgbClr val="F0B429"/>
          </a:solidFill>
          <a:ln/>
        </p:spPr>
      </p:sp>
      <p:sp>
        <p:nvSpPr>
          <p:cNvPr id="26" name="Text 24"/>
          <p:cNvSpPr/>
          <p:nvPr/>
        </p:nvSpPr>
        <p:spPr>
          <a:xfrm>
            <a:off x="987552" y="3767328"/>
            <a:ext cx="2560320" cy="493776"/>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YouTube — own channel</a:t>
            </a:r>
            <a:endParaRPr lang="en-US" sz="1250" dirty="0"/>
          </a:p>
        </p:txBody>
      </p:sp>
      <p:sp>
        <p:nvSpPr>
          <p:cNvPr id="27" name="Text 25"/>
          <p:cNvSpPr/>
          <p:nvPr/>
        </p:nvSpPr>
        <p:spPr>
          <a:xfrm>
            <a:off x="3566160" y="3767328"/>
            <a:ext cx="1234440" cy="493776"/>
          </a:xfrm>
          <a:prstGeom prst="rect">
            <a:avLst/>
          </a:prstGeom>
          <a:noFill/>
          <a:ln/>
        </p:spPr>
        <p:txBody>
          <a:bodyPr wrap="square" lIns="0" tIns="0" rIns="0" bIns="0" rtlCol="0" anchor="ctr"/>
          <a:lstStyle/>
          <a:p>
            <a:pPr algn="ctr" indent="0" marL="0">
              <a:buNone/>
            </a:pPr>
            <a:r>
              <a:rPr lang="en-US" sz="1100" dirty="0">
                <a:solidFill>
                  <a:srgbClr val="E3DCF2"/>
                </a:solidFill>
                <a:latin typeface="Calibri" pitchFamily="34" charset="0"/>
                <a:ea typeface="Calibri" pitchFamily="34" charset="-122"/>
                <a:cs typeface="Calibri" pitchFamily="34" charset="-120"/>
              </a:rPr>
              <a:t>organic</a:t>
            </a:r>
            <a:endParaRPr lang="en-US" sz="1100" dirty="0"/>
          </a:p>
        </p:txBody>
      </p:sp>
      <p:sp>
        <p:nvSpPr>
          <p:cNvPr id="28" name="Text 26"/>
          <p:cNvSpPr/>
          <p:nvPr/>
        </p:nvSpPr>
        <p:spPr>
          <a:xfrm>
            <a:off x="4892040" y="3767328"/>
            <a:ext cx="1234440" cy="493776"/>
          </a:xfrm>
          <a:prstGeom prst="rect">
            <a:avLst/>
          </a:prstGeom>
          <a:noFill/>
          <a:ln/>
        </p:spPr>
        <p:txBody>
          <a:bodyPr wrap="square" lIns="0" tIns="0" rIns="0" bIns="0" rtlCol="0" anchor="ctr"/>
          <a:lstStyle/>
          <a:p>
            <a:pPr algn="ctr" indent="0" marL="0">
              <a:buNone/>
            </a:pPr>
            <a:r>
              <a:rPr lang="en-US" sz="1100" dirty="0">
                <a:solidFill>
                  <a:srgbClr val="E3DCF2"/>
                </a:solidFill>
                <a:latin typeface="Calibri" pitchFamily="34" charset="0"/>
                <a:ea typeface="Calibri" pitchFamily="34" charset="-122"/>
                <a:cs typeface="Calibri" pitchFamily="34" charset="-120"/>
              </a:rPr>
              <a:t>$2–6</a:t>
            </a:r>
            <a:endParaRPr lang="en-US" sz="1100" dirty="0"/>
          </a:p>
        </p:txBody>
      </p:sp>
      <p:sp>
        <p:nvSpPr>
          <p:cNvPr id="29" name="Text 27"/>
          <p:cNvSpPr/>
          <p:nvPr/>
        </p:nvSpPr>
        <p:spPr>
          <a:xfrm>
            <a:off x="6217920" y="3767328"/>
            <a:ext cx="1234440" cy="493776"/>
          </a:xfrm>
          <a:prstGeom prst="rect">
            <a:avLst/>
          </a:prstGeom>
          <a:noFill/>
          <a:ln/>
        </p:spPr>
        <p:txBody>
          <a:bodyPr wrap="square" lIns="0" tIns="0" rIns="0" bIns="0" rtlCol="0" anchor="ctr"/>
          <a:lstStyle/>
          <a:p>
            <a:pPr algn="ctr" indent="0" marL="0">
              <a:buNone/>
            </a:pPr>
            <a:r>
              <a:rPr lang="en-US" sz="1100" b="1" dirty="0">
                <a:solidFill>
                  <a:srgbClr val="E3DCF2"/>
                </a:solidFill>
                <a:latin typeface="Calibri" pitchFamily="34" charset="0"/>
                <a:ea typeface="Calibri" pitchFamily="34" charset="-122"/>
                <a:cs typeface="Calibri" pitchFamily="34" charset="-120"/>
              </a:rPr>
              <a:t>$25</a:t>
            </a:r>
            <a:endParaRPr lang="en-US" sz="1100" dirty="0"/>
          </a:p>
        </p:txBody>
      </p:sp>
      <p:sp>
        <p:nvSpPr>
          <p:cNvPr id="30" name="Text 28"/>
          <p:cNvSpPr/>
          <p:nvPr/>
        </p:nvSpPr>
        <p:spPr>
          <a:xfrm>
            <a:off x="7406640" y="3767328"/>
            <a:ext cx="1234440" cy="493776"/>
          </a:xfrm>
          <a:prstGeom prst="rect">
            <a:avLst/>
          </a:prstGeom>
          <a:noFill/>
          <a:ln/>
        </p:spPr>
        <p:txBody>
          <a:bodyPr wrap="square" lIns="0" tIns="0" rIns="0" bIns="0" rtlCol="0" anchor="ctr"/>
          <a:lstStyle/>
          <a:p>
            <a:pPr algn="ctr" indent="0" marL="0">
              <a:buNone/>
            </a:pPr>
            <a:r>
              <a:rPr lang="en-US" sz="1100" b="1" dirty="0">
                <a:solidFill>
                  <a:srgbClr val="F0B429"/>
                </a:solidFill>
                <a:latin typeface="Calibri" pitchFamily="34" charset="0"/>
                <a:ea typeface="Calibri" pitchFamily="34" charset="-122"/>
                <a:cs typeface="Calibri" pitchFamily="34" charset="-120"/>
              </a:rPr>
              <a:t>8.4×</a:t>
            </a:r>
            <a:endParaRPr lang="en-US" sz="1100" dirty="0"/>
          </a:p>
        </p:txBody>
      </p:sp>
      <p:sp>
        <p:nvSpPr>
          <p:cNvPr id="31" name="Text 29"/>
          <p:cNvSpPr/>
          <p:nvPr/>
        </p:nvSpPr>
        <p:spPr>
          <a:xfrm>
            <a:off x="8778240" y="3767328"/>
            <a:ext cx="2743200" cy="530352"/>
          </a:xfrm>
          <a:prstGeom prst="rect">
            <a:avLst/>
          </a:prstGeom>
          <a:noFill/>
          <a:ln/>
        </p:spPr>
        <p:txBody>
          <a:bodyPr wrap="square" lIns="0" tIns="0" rIns="0" bIns="0" rtlCol="0" anchor="ctr"/>
          <a:lstStyle/>
          <a:p>
            <a:pPr indent="0" marL="0">
              <a:lnSpc>
                <a:spcPts val="1100"/>
              </a:lnSpc>
              <a:buNone/>
            </a:pPr>
            <a:r>
              <a:rPr lang="en-US" sz="900" dirty="0">
                <a:solidFill>
                  <a:srgbClr val="E3DCF2"/>
                </a:solidFill>
                <a:latin typeface="Calibri" pitchFamily="34" charset="0"/>
                <a:ea typeface="Calibri" pitchFamily="34" charset="-122"/>
                <a:cs typeface="Calibri" pitchFamily="34" charset="-120"/>
              </a:rPr>
              <a:t>Amortised production cost per conversion, and it falls every year the back catalogue grows.</a:t>
            </a:r>
            <a:endParaRPr lang="en-US" sz="900" dirty="0"/>
          </a:p>
        </p:txBody>
      </p:sp>
      <p:sp>
        <p:nvSpPr>
          <p:cNvPr id="32" name="Shape 30"/>
          <p:cNvSpPr/>
          <p:nvPr/>
        </p:nvSpPr>
        <p:spPr>
          <a:xfrm rot="5400000">
            <a:off x="640080" y="4535424"/>
            <a:ext cx="237744" cy="237744"/>
          </a:xfrm>
          <a:prstGeom prst="hexagon">
            <a:avLst/>
          </a:prstGeom>
          <a:solidFill>
            <a:srgbClr val="E3B23C"/>
          </a:solidFill>
          <a:ln/>
        </p:spPr>
      </p:sp>
      <p:sp>
        <p:nvSpPr>
          <p:cNvPr id="33" name="Text 31"/>
          <p:cNvSpPr/>
          <p:nvPr/>
        </p:nvSpPr>
        <p:spPr>
          <a:xfrm>
            <a:off x="987552" y="4398264"/>
            <a:ext cx="2560320" cy="493776"/>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Events &amp; community</a:t>
            </a:r>
            <a:endParaRPr lang="en-US" sz="1250" dirty="0"/>
          </a:p>
        </p:txBody>
      </p:sp>
      <p:sp>
        <p:nvSpPr>
          <p:cNvPr id="34" name="Text 32"/>
          <p:cNvSpPr/>
          <p:nvPr/>
        </p:nvSpPr>
        <p:spPr>
          <a:xfrm>
            <a:off x="3566160" y="4398264"/>
            <a:ext cx="1234440" cy="493776"/>
          </a:xfrm>
          <a:prstGeom prst="rect">
            <a:avLst/>
          </a:prstGeom>
          <a:noFill/>
          <a:ln/>
        </p:spPr>
        <p:txBody>
          <a:bodyPr wrap="square" lIns="0" tIns="0" rIns="0" bIns="0" rtlCol="0" anchor="ctr"/>
          <a:lstStyle/>
          <a:p>
            <a:pPr algn="ctr" indent="0" marL="0">
              <a:buNone/>
            </a:pPr>
            <a:r>
              <a:rPr lang="en-US" sz="1100" dirty="0">
                <a:solidFill>
                  <a:srgbClr val="E3DCF2"/>
                </a:solidFill>
                <a:latin typeface="Calibri" pitchFamily="34" charset="0"/>
                <a:ea typeface="Calibri" pitchFamily="34" charset="-122"/>
                <a:cs typeface="Calibri" pitchFamily="34" charset="-120"/>
              </a:rPr>
              <a:t>n/a</a:t>
            </a:r>
            <a:endParaRPr lang="en-US" sz="1100" dirty="0"/>
          </a:p>
        </p:txBody>
      </p:sp>
      <p:sp>
        <p:nvSpPr>
          <p:cNvPr id="35" name="Text 33"/>
          <p:cNvSpPr/>
          <p:nvPr/>
        </p:nvSpPr>
        <p:spPr>
          <a:xfrm>
            <a:off x="4892040" y="4398264"/>
            <a:ext cx="1234440" cy="493776"/>
          </a:xfrm>
          <a:prstGeom prst="rect">
            <a:avLst/>
          </a:prstGeom>
          <a:noFill/>
          <a:ln/>
        </p:spPr>
        <p:txBody>
          <a:bodyPr wrap="square" lIns="0" tIns="0" rIns="0" bIns="0" rtlCol="0" anchor="ctr"/>
          <a:lstStyle/>
          <a:p>
            <a:pPr algn="ctr" indent="0" marL="0">
              <a:buNone/>
            </a:pPr>
            <a:r>
              <a:rPr lang="en-US" sz="1100" dirty="0">
                <a:solidFill>
                  <a:srgbClr val="E3DCF2"/>
                </a:solidFill>
                <a:latin typeface="Calibri" pitchFamily="34" charset="0"/>
                <a:ea typeface="Calibri" pitchFamily="34" charset="-122"/>
                <a:cs typeface="Calibri" pitchFamily="34" charset="-120"/>
              </a:rPr>
              <a:t>$25–50</a:t>
            </a:r>
            <a:endParaRPr lang="en-US" sz="1100" dirty="0"/>
          </a:p>
        </p:txBody>
      </p:sp>
      <p:sp>
        <p:nvSpPr>
          <p:cNvPr id="36" name="Text 34"/>
          <p:cNvSpPr/>
          <p:nvPr/>
        </p:nvSpPr>
        <p:spPr>
          <a:xfrm>
            <a:off x="6217920" y="4398264"/>
            <a:ext cx="1234440" cy="493776"/>
          </a:xfrm>
          <a:prstGeom prst="rect">
            <a:avLst/>
          </a:prstGeom>
          <a:noFill/>
          <a:ln/>
        </p:spPr>
        <p:txBody>
          <a:bodyPr wrap="square" lIns="0" tIns="0" rIns="0" bIns="0" rtlCol="0" anchor="ctr"/>
          <a:lstStyle/>
          <a:p>
            <a:pPr algn="ctr" indent="0" marL="0">
              <a:buNone/>
            </a:pPr>
            <a:r>
              <a:rPr lang="en-US" sz="1100" b="1" dirty="0">
                <a:solidFill>
                  <a:srgbClr val="E3DCF2"/>
                </a:solidFill>
                <a:latin typeface="Calibri" pitchFamily="34" charset="0"/>
                <a:ea typeface="Calibri" pitchFamily="34" charset="-122"/>
                <a:cs typeface="Calibri" pitchFamily="34" charset="-120"/>
              </a:rPr>
              <a:t>$70</a:t>
            </a:r>
            <a:endParaRPr lang="en-US" sz="1100" dirty="0"/>
          </a:p>
        </p:txBody>
      </p:sp>
      <p:sp>
        <p:nvSpPr>
          <p:cNvPr id="37" name="Text 35"/>
          <p:cNvSpPr/>
          <p:nvPr/>
        </p:nvSpPr>
        <p:spPr>
          <a:xfrm>
            <a:off x="7406640" y="4398264"/>
            <a:ext cx="1234440" cy="493776"/>
          </a:xfrm>
          <a:prstGeom prst="rect">
            <a:avLst/>
          </a:prstGeom>
          <a:noFill/>
          <a:ln/>
        </p:spPr>
        <p:txBody>
          <a:bodyPr wrap="square" lIns="0" tIns="0" rIns="0" bIns="0" rtlCol="0" anchor="ctr"/>
          <a:lstStyle/>
          <a:p>
            <a:pPr algn="ctr" indent="0" marL="0">
              <a:buNone/>
            </a:pPr>
            <a:r>
              <a:rPr lang="en-US" sz="1100" b="1" dirty="0">
                <a:solidFill>
                  <a:srgbClr val="E3B23C"/>
                </a:solidFill>
                <a:latin typeface="Calibri" pitchFamily="34" charset="0"/>
                <a:ea typeface="Calibri" pitchFamily="34" charset="-122"/>
                <a:cs typeface="Calibri" pitchFamily="34" charset="-120"/>
              </a:rPr>
              <a:t>3.0×</a:t>
            </a:r>
            <a:endParaRPr lang="en-US" sz="1100" dirty="0"/>
          </a:p>
        </p:txBody>
      </p:sp>
      <p:sp>
        <p:nvSpPr>
          <p:cNvPr id="38" name="Text 36"/>
          <p:cNvSpPr/>
          <p:nvPr/>
        </p:nvSpPr>
        <p:spPr>
          <a:xfrm>
            <a:off x="8778240" y="4398264"/>
            <a:ext cx="2743200" cy="530352"/>
          </a:xfrm>
          <a:prstGeom prst="rect">
            <a:avLst/>
          </a:prstGeom>
          <a:noFill/>
          <a:ln/>
        </p:spPr>
        <p:txBody>
          <a:bodyPr wrap="square" lIns="0" tIns="0" rIns="0" bIns="0" rtlCol="0" anchor="ctr"/>
          <a:lstStyle/>
          <a:p>
            <a:pPr indent="0" marL="0">
              <a:lnSpc>
                <a:spcPts val="1100"/>
              </a:lnSpc>
              <a:buNone/>
            </a:pPr>
            <a:r>
              <a:rPr lang="en-US" sz="900" dirty="0">
                <a:solidFill>
                  <a:srgbClr val="E3DCF2"/>
                </a:solidFill>
                <a:latin typeface="Calibri" pitchFamily="34" charset="0"/>
                <a:ea typeface="Calibri" pitchFamily="34" charset="-122"/>
                <a:cs typeface="Calibri" pitchFamily="34" charset="-120"/>
              </a:rPr>
              <a:t>Expensive per lead, converts three to four times better, and the LTV is longest.</a:t>
            </a:r>
            <a:endParaRPr lang="en-US" sz="900" dirty="0"/>
          </a:p>
        </p:txBody>
      </p:sp>
      <p:sp>
        <p:nvSpPr>
          <p:cNvPr id="39" name="Shape 37"/>
          <p:cNvSpPr/>
          <p:nvPr/>
        </p:nvSpPr>
        <p:spPr>
          <a:xfrm>
            <a:off x="512064" y="4983480"/>
            <a:ext cx="10954512" cy="585216"/>
          </a:xfrm>
          <a:prstGeom prst="roundRect">
            <a:avLst>
              <a:gd name="adj" fmla="val 14063"/>
            </a:avLst>
          </a:prstGeom>
          <a:solidFill>
            <a:srgbClr val="FFFFFF">
              <a:alpha val="6000"/>
            </a:srgbClr>
          </a:solidFill>
          <a:ln/>
        </p:spPr>
      </p:sp>
      <p:sp>
        <p:nvSpPr>
          <p:cNvPr id="40" name="Shape 38"/>
          <p:cNvSpPr/>
          <p:nvPr/>
        </p:nvSpPr>
        <p:spPr>
          <a:xfrm rot="5400000">
            <a:off x="640080" y="5166360"/>
            <a:ext cx="237744" cy="237744"/>
          </a:xfrm>
          <a:prstGeom prst="hexagon">
            <a:avLst/>
          </a:prstGeom>
          <a:solidFill>
            <a:srgbClr val="178A4C"/>
          </a:solidFill>
          <a:ln/>
        </p:spPr>
      </p:sp>
      <p:sp>
        <p:nvSpPr>
          <p:cNvPr id="41" name="Text 39"/>
          <p:cNvSpPr/>
          <p:nvPr/>
        </p:nvSpPr>
        <p:spPr>
          <a:xfrm>
            <a:off x="987552" y="5029200"/>
            <a:ext cx="2560320" cy="493776"/>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Referral &amp; WhatsApp</a:t>
            </a:r>
            <a:endParaRPr lang="en-US" sz="1250" dirty="0"/>
          </a:p>
        </p:txBody>
      </p:sp>
      <p:sp>
        <p:nvSpPr>
          <p:cNvPr id="42" name="Text 40"/>
          <p:cNvSpPr/>
          <p:nvPr/>
        </p:nvSpPr>
        <p:spPr>
          <a:xfrm>
            <a:off x="3566160" y="5029200"/>
            <a:ext cx="1234440" cy="493776"/>
          </a:xfrm>
          <a:prstGeom prst="rect">
            <a:avLst/>
          </a:prstGeom>
          <a:noFill/>
          <a:ln/>
        </p:spPr>
        <p:txBody>
          <a:bodyPr wrap="square" lIns="0" tIns="0" rIns="0" bIns="0" rtlCol="0" anchor="ctr"/>
          <a:lstStyle/>
          <a:p>
            <a:pPr algn="ctr" indent="0" marL="0">
              <a:buNone/>
            </a:pPr>
            <a:r>
              <a:rPr lang="en-US" sz="1100" dirty="0">
                <a:solidFill>
                  <a:srgbClr val="E3DCF2"/>
                </a:solidFill>
                <a:latin typeface="Calibri" pitchFamily="34" charset="0"/>
                <a:ea typeface="Calibri" pitchFamily="34" charset="-122"/>
                <a:cs typeface="Calibri" pitchFamily="34" charset="-120"/>
              </a:rPr>
              <a:t>~$0</a:t>
            </a:r>
            <a:endParaRPr lang="en-US" sz="1100" dirty="0"/>
          </a:p>
        </p:txBody>
      </p:sp>
      <p:sp>
        <p:nvSpPr>
          <p:cNvPr id="43" name="Text 41"/>
          <p:cNvSpPr/>
          <p:nvPr/>
        </p:nvSpPr>
        <p:spPr>
          <a:xfrm>
            <a:off x="4892040" y="5029200"/>
            <a:ext cx="1234440" cy="493776"/>
          </a:xfrm>
          <a:prstGeom prst="rect">
            <a:avLst/>
          </a:prstGeom>
          <a:noFill/>
          <a:ln/>
        </p:spPr>
        <p:txBody>
          <a:bodyPr wrap="square" lIns="0" tIns="0" rIns="0" bIns="0" rtlCol="0" anchor="ctr"/>
          <a:lstStyle/>
          <a:p>
            <a:pPr algn="ctr" indent="0" marL="0">
              <a:buNone/>
            </a:pPr>
            <a:r>
              <a:rPr lang="en-US" sz="1100" dirty="0">
                <a:solidFill>
                  <a:srgbClr val="E3DCF2"/>
                </a:solidFill>
                <a:latin typeface="Calibri" pitchFamily="34" charset="0"/>
                <a:ea typeface="Calibri" pitchFamily="34" charset="-122"/>
                <a:cs typeface="Calibri" pitchFamily="34" charset="-120"/>
              </a:rPr>
              <a:t>~$0</a:t>
            </a:r>
            <a:endParaRPr lang="en-US" sz="1100" dirty="0"/>
          </a:p>
        </p:txBody>
      </p:sp>
      <p:sp>
        <p:nvSpPr>
          <p:cNvPr id="44" name="Text 42"/>
          <p:cNvSpPr/>
          <p:nvPr/>
        </p:nvSpPr>
        <p:spPr>
          <a:xfrm>
            <a:off x="6217920" y="5029200"/>
            <a:ext cx="1234440" cy="493776"/>
          </a:xfrm>
          <a:prstGeom prst="rect">
            <a:avLst/>
          </a:prstGeom>
          <a:noFill/>
          <a:ln/>
        </p:spPr>
        <p:txBody>
          <a:bodyPr wrap="square" lIns="0" tIns="0" rIns="0" bIns="0" rtlCol="0" anchor="ctr"/>
          <a:lstStyle/>
          <a:p>
            <a:pPr algn="ctr" indent="0" marL="0">
              <a:buNone/>
            </a:pPr>
            <a:r>
              <a:rPr lang="en-US" sz="1100" b="1" dirty="0">
                <a:solidFill>
                  <a:srgbClr val="E3DCF2"/>
                </a:solidFill>
                <a:latin typeface="Calibri" pitchFamily="34" charset="0"/>
                <a:ea typeface="Calibri" pitchFamily="34" charset="-122"/>
                <a:cs typeface="Calibri" pitchFamily="34" charset="-120"/>
              </a:rPr>
              <a:t>$8</a:t>
            </a:r>
            <a:endParaRPr lang="en-US" sz="1100" dirty="0"/>
          </a:p>
        </p:txBody>
      </p:sp>
      <p:sp>
        <p:nvSpPr>
          <p:cNvPr id="45" name="Text 43"/>
          <p:cNvSpPr/>
          <p:nvPr/>
        </p:nvSpPr>
        <p:spPr>
          <a:xfrm>
            <a:off x="7406640" y="5029200"/>
            <a:ext cx="1234440" cy="493776"/>
          </a:xfrm>
          <a:prstGeom prst="rect">
            <a:avLst/>
          </a:prstGeom>
          <a:noFill/>
          <a:ln/>
        </p:spPr>
        <p:txBody>
          <a:bodyPr wrap="square" lIns="0" tIns="0" rIns="0" bIns="0" rtlCol="0" anchor="ctr"/>
          <a:lstStyle/>
          <a:p>
            <a:pPr algn="ctr" indent="0" marL="0">
              <a:buNone/>
            </a:pPr>
            <a:r>
              <a:rPr lang="en-US" sz="1100" b="1" dirty="0">
                <a:solidFill>
                  <a:srgbClr val="178A4C"/>
                </a:solidFill>
                <a:latin typeface="Calibri" pitchFamily="34" charset="0"/>
                <a:ea typeface="Calibri" pitchFamily="34" charset="-122"/>
                <a:cs typeface="Calibri" pitchFamily="34" charset="-120"/>
              </a:rPr>
              <a:t>26×</a:t>
            </a:r>
            <a:endParaRPr lang="en-US" sz="1100" dirty="0"/>
          </a:p>
        </p:txBody>
      </p:sp>
      <p:sp>
        <p:nvSpPr>
          <p:cNvPr id="46" name="Text 44"/>
          <p:cNvSpPr/>
          <p:nvPr/>
        </p:nvSpPr>
        <p:spPr>
          <a:xfrm>
            <a:off x="8778240" y="5029200"/>
            <a:ext cx="2743200" cy="530352"/>
          </a:xfrm>
          <a:prstGeom prst="rect">
            <a:avLst/>
          </a:prstGeom>
          <a:noFill/>
          <a:ln/>
        </p:spPr>
        <p:txBody>
          <a:bodyPr wrap="square" lIns="0" tIns="0" rIns="0" bIns="0" rtlCol="0" anchor="ctr"/>
          <a:lstStyle/>
          <a:p>
            <a:pPr indent="0" marL="0">
              <a:lnSpc>
                <a:spcPts val="1100"/>
              </a:lnSpc>
              <a:buNone/>
            </a:pPr>
            <a:r>
              <a:rPr lang="en-US" sz="900" dirty="0">
                <a:solidFill>
                  <a:srgbClr val="E3DCF2"/>
                </a:solidFill>
                <a:latin typeface="Calibri" pitchFamily="34" charset="0"/>
                <a:ea typeface="Calibri" pitchFamily="34" charset="-122"/>
                <a:cs typeface="Calibri" pitchFamily="34" charset="-120"/>
              </a:rPr>
              <a:t>The real diaspora channel. Cannot be bought, only earned — and it compounds.</a:t>
            </a:r>
            <a:endParaRPr lang="en-US" sz="900" dirty="0"/>
          </a:p>
        </p:txBody>
      </p:sp>
      <p:sp>
        <p:nvSpPr>
          <p:cNvPr id="47" name="Shape 45"/>
          <p:cNvSpPr/>
          <p:nvPr/>
        </p:nvSpPr>
        <p:spPr>
          <a:xfrm>
            <a:off x="640080" y="5742432"/>
            <a:ext cx="3401568" cy="969264"/>
          </a:xfrm>
          <a:prstGeom prst="roundRect">
            <a:avLst>
              <a:gd name="adj" fmla="val 11321"/>
            </a:avLst>
          </a:prstGeom>
          <a:solidFill>
            <a:srgbClr val="FFFFFF">
              <a:alpha val="8000"/>
            </a:srgbClr>
          </a:solidFill>
          <a:ln/>
        </p:spPr>
      </p:sp>
      <p:sp>
        <p:nvSpPr>
          <p:cNvPr id="48" name="Text 46"/>
          <p:cNvSpPr/>
          <p:nvPr/>
        </p:nvSpPr>
        <p:spPr>
          <a:xfrm>
            <a:off x="841248" y="5815584"/>
            <a:ext cx="1353312" cy="256032"/>
          </a:xfrm>
          <a:prstGeom prst="rect">
            <a:avLst/>
          </a:prstGeom>
          <a:noFill/>
          <a:ln/>
        </p:spPr>
        <p:txBody>
          <a:bodyPr wrap="square" lIns="0" tIns="0" rIns="0" bIns="0" rtlCol="0" anchor="ctr"/>
          <a:lstStyle/>
          <a:p>
            <a:pPr indent="0" marL="0">
              <a:buNone/>
            </a:pPr>
            <a:r>
              <a:rPr lang="en-US" sz="900" b="1" spc="120" kern="0" dirty="0">
                <a:solidFill>
                  <a:srgbClr val="F0B429"/>
                </a:solidFill>
                <a:latin typeface="Calibri" pitchFamily="34" charset="0"/>
                <a:ea typeface="Calibri" pitchFamily="34" charset="-122"/>
                <a:cs typeface="Calibri" pitchFamily="34" charset="-120"/>
              </a:rPr>
              <a:t>Blended CAC</a:t>
            </a:r>
            <a:endParaRPr lang="en-US" sz="900" dirty="0"/>
          </a:p>
        </p:txBody>
      </p:sp>
      <p:sp>
        <p:nvSpPr>
          <p:cNvPr id="49" name="Text 47"/>
          <p:cNvSpPr/>
          <p:nvPr/>
        </p:nvSpPr>
        <p:spPr>
          <a:xfrm>
            <a:off x="2240280" y="5788152"/>
            <a:ext cx="1645920" cy="292608"/>
          </a:xfrm>
          <a:prstGeom prst="rect">
            <a:avLst/>
          </a:prstGeom>
          <a:noFill/>
          <a:ln/>
        </p:spPr>
        <p:txBody>
          <a:bodyPr wrap="square" lIns="0" tIns="0" rIns="0" bIns="0" rtlCol="0" anchor="ctr"/>
          <a:lstStyle/>
          <a:p>
            <a:pPr algn="r" indent="0" marL="0">
              <a:buNone/>
            </a:pPr>
            <a:r>
              <a:rPr lang="en-US" sz="1500" b="1" dirty="0">
                <a:solidFill>
                  <a:srgbClr val="FFFFFF"/>
                </a:solidFill>
                <a:latin typeface="Cambria" pitchFamily="34" charset="0"/>
                <a:ea typeface="Cambria" pitchFamily="34" charset="-122"/>
                <a:cs typeface="Cambria" pitchFamily="34" charset="-120"/>
              </a:rPr>
              <a:t>$22 → $55</a:t>
            </a:r>
            <a:endParaRPr lang="en-US" sz="1500" dirty="0"/>
          </a:p>
        </p:txBody>
      </p:sp>
      <p:sp>
        <p:nvSpPr>
          <p:cNvPr id="50" name="Text 48"/>
          <p:cNvSpPr/>
          <p:nvPr/>
        </p:nvSpPr>
        <p:spPr>
          <a:xfrm>
            <a:off x="841248" y="6089904"/>
            <a:ext cx="3017520" cy="548640"/>
          </a:xfrm>
          <a:prstGeom prst="rect">
            <a:avLst/>
          </a:prstGeom>
          <a:noFill/>
          <a:ln/>
        </p:spPr>
        <p:txBody>
          <a:bodyPr wrap="square" lIns="0" tIns="0" rIns="0" bIns="0" rtlCol="0" anchor="ctr"/>
          <a:lstStyle/>
          <a:p>
            <a:pPr indent="0" marL="0">
              <a:lnSpc>
                <a:spcPts val="1000"/>
              </a:lnSpc>
              <a:buNone/>
            </a:pPr>
            <a:r>
              <a:rPr lang="en-US" sz="800" dirty="0">
                <a:solidFill>
                  <a:srgbClr val="E3DCF2"/>
                </a:solidFill>
                <a:latin typeface="Calibri" pitchFamily="34" charset="0"/>
                <a:ea typeface="Calibri" pitchFamily="34" charset="-122"/>
                <a:cs typeface="Calibri" pitchFamily="34" charset="-120"/>
              </a:rPr>
              <a:t>Total paid spend ÷ ALL new households. It rises as paid takes a larger share — from 17% of new households in Year 1 to 42% in Year 5.</a:t>
            </a:r>
            <a:endParaRPr lang="en-US" sz="800" dirty="0"/>
          </a:p>
        </p:txBody>
      </p:sp>
      <p:sp>
        <p:nvSpPr>
          <p:cNvPr id="51" name="Shape 49"/>
          <p:cNvSpPr/>
          <p:nvPr/>
        </p:nvSpPr>
        <p:spPr>
          <a:xfrm>
            <a:off x="4315968" y="5742432"/>
            <a:ext cx="3401568" cy="969264"/>
          </a:xfrm>
          <a:prstGeom prst="roundRect">
            <a:avLst>
              <a:gd name="adj" fmla="val 11321"/>
            </a:avLst>
          </a:prstGeom>
          <a:solidFill>
            <a:srgbClr val="FFFFFF">
              <a:alpha val="8000"/>
            </a:srgbClr>
          </a:solidFill>
          <a:ln/>
        </p:spPr>
      </p:sp>
      <p:sp>
        <p:nvSpPr>
          <p:cNvPr id="52" name="Text 50"/>
          <p:cNvSpPr/>
          <p:nvPr/>
        </p:nvSpPr>
        <p:spPr>
          <a:xfrm>
            <a:off x="4517136" y="5815584"/>
            <a:ext cx="1353312" cy="256032"/>
          </a:xfrm>
          <a:prstGeom prst="rect">
            <a:avLst/>
          </a:prstGeom>
          <a:noFill/>
          <a:ln/>
        </p:spPr>
        <p:txBody>
          <a:bodyPr wrap="square" lIns="0" tIns="0" rIns="0" bIns="0" rtlCol="0" anchor="ctr"/>
          <a:lstStyle/>
          <a:p>
            <a:pPr indent="0" marL="0">
              <a:buNone/>
            </a:pPr>
            <a:r>
              <a:rPr lang="en-US" sz="900" b="1" spc="120" kern="0" dirty="0">
                <a:solidFill>
                  <a:srgbClr val="F0B429"/>
                </a:solidFill>
                <a:latin typeface="Calibri" pitchFamily="34" charset="0"/>
                <a:ea typeface="Calibri" pitchFamily="34" charset="-122"/>
                <a:cs typeface="Calibri" pitchFamily="34" charset="-120"/>
              </a:rPr>
              <a:t>Payback</a:t>
            </a:r>
            <a:endParaRPr lang="en-US" sz="900" dirty="0"/>
          </a:p>
        </p:txBody>
      </p:sp>
      <p:sp>
        <p:nvSpPr>
          <p:cNvPr id="53" name="Text 51"/>
          <p:cNvSpPr/>
          <p:nvPr/>
        </p:nvSpPr>
        <p:spPr>
          <a:xfrm>
            <a:off x="5916168" y="5788152"/>
            <a:ext cx="1645920" cy="292608"/>
          </a:xfrm>
          <a:prstGeom prst="rect">
            <a:avLst/>
          </a:prstGeom>
          <a:noFill/>
          <a:ln/>
        </p:spPr>
        <p:txBody>
          <a:bodyPr wrap="square" lIns="0" tIns="0" rIns="0" bIns="0" rtlCol="0" anchor="ctr"/>
          <a:lstStyle/>
          <a:p>
            <a:pPr algn="r" indent="0" marL="0">
              <a:buNone/>
            </a:pPr>
            <a:r>
              <a:rPr lang="en-US" sz="1500" b="1" dirty="0">
                <a:solidFill>
                  <a:srgbClr val="FFFFFF"/>
                </a:solidFill>
                <a:latin typeface="Cambria" pitchFamily="34" charset="0"/>
                <a:ea typeface="Cambria" pitchFamily="34" charset="-122"/>
                <a:cs typeface="Cambria" pitchFamily="34" charset="-120"/>
              </a:rPr>
              <a:t>1.3 → 4.5 mo</a:t>
            </a:r>
            <a:endParaRPr lang="en-US" sz="1500" dirty="0"/>
          </a:p>
        </p:txBody>
      </p:sp>
      <p:sp>
        <p:nvSpPr>
          <p:cNvPr id="54" name="Text 52"/>
          <p:cNvSpPr/>
          <p:nvPr/>
        </p:nvSpPr>
        <p:spPr>
          <a:xfrm>
            <a:off x="4517136" y="6089904"/>
            <a:ext cx="3017520" cy="548640"/>
          </a:xfrm>
          <a:prstGeom prst="rect">
            <a:avLst/>
          </a:prstGeom>
          <a:noFill/>
          <a:ln/>
        </p:spPr>
        <p:txBody>
          <a:bodyPr wrap="square" lIns="0" tIns="0" rIns="0" bIns="0" rtlCol="0" anchor="ctr"/>
          <a:lstStyle/>
          <a:p>
            <a:pPr indent="0" marL="0">
              <a:lnSpc>
                <a:spcPts val="1000"/>
              </a:lnSpc>
              <a:buNone/>
            </a:pPr>
            <a:r>
              <a:rPr lang="en-US" sz="800" dirty="0">
                <a:solidFill>
                  <a:srgbClr val="E3DCF2"/>
                </a:solidFill>
                <a:latin typeface="Calibri" pitchFamily="34" charset="0"/>
                <a:ea typeface="Calibri" pitchFamily="34" charset="-122"/>
                <a:cs typeface="Calibri" pitchFamily="34" charset="-120"/>
              </a:rPr>
              <a:t>Against $250 ARPU at 85% gross margin. Annual billing means the cash is in on day one regardless; this is the accounting view.</a:t>
            </a:r>
            <a:endParaRPr lang="en-US" sz="800" dirty="0"/>
          </a:p>
        </p:txBody>
      </p:sp>
      <p:sp>
        <p:nvSpPr>
          <p:cNvPr id="55" name="Shape 53"/>
          <p:cNvSpPr/>
          <p:nvPr/>
        </p:nvSpPr>
        <p:spPr>
          <a:xfrm>
            <a:off x="7991856" y="5742432"/>
            <a:ext cx="3401568" cy="969264"/>
          </a:xfrm>
          <a:prstGeom prst="roundRect">
            <a:avLst>
              <a:gd name="adj" fmla="val 11321"/>
            </a:avLst>
          </a:prstGeom>
          <a:solidFill>
            <a:srgbClr val="FFFFFF">
              <a:alpha val="8000"/>
            </a:srgbClr>
          </a:solidFill>
          <a:ln/>
        </p:spPr>
      </p:sp>
      <p:sp>
        <p:nvSpPr>
          <p:cNvPr id="56" name="Text 54"/>
          <p:cNvSpPr/>
          <p:nvPr/>
        </p:nvSpPr>
        <p:spPr>
          <a:xfrm>
            <a:off x="8193024" y="5815584"/>
            <a:ext cx="1353312" cy="256032"/>
          </a:xfrm>
          <a:prstGeom prst="rect">
            <a:avLst/>
          </a:prstGeom>
          <a:noFill/>
          <a:ln/>
        </p:spPr>
        <p:txBody>
          <a:bodyPr wrap="square" lIns="0" tIns="0" rIns="0" bIns="0" rtlCol="0" anchor="ctr"/>
          <a:lstStyle/>
          <a:p>
            <a:pPr indent="0" marL="0">
              <a:buNone/>
            </a:pPr>
            <a:r>
              <a:rPr lang="en-US" sz="900" b="1" spc="120" kern="0" dirty="0">
                <a:solidFill>
                  <a:srgbClr val="F0B429"/>
                </a:solidFill>
                <a:latin typeface="Calibri" pitchFamily="34" charset="0"/>
                <a:ea typeface="Calibri" pitchFamily="34" charset="-122"/>
                <a:cs typeface="Calibri" pitchFamily="34" charset="-120"/>
              </a:rPr>
              <a:t>LTV : CAC</a:t>
            </a:r>
            <a:endParaRPr lang="en-US" sz="900" dirty="0"/>
          </a:p>
        </p:txBody>
      </p:sp>
      <p:sp>
        <p:nvSpPr>
          <p:cNvPr id="57" name="Text 55"/>
          <p:cNvSpPr/>
          <p:nvPr/>
        </p:nvSpPr>
        <p:spPr>
          <a:xfrm>
            <a:off x="9592056" y="5788152"/>
            <a:ext cx="1645920" cy="292608"/>
          </a:xfrm>
          <a:prstGeom prst="rect">
            <a:avLst/>
          </a:prstGeom>
          <a:noFill/>
          <a:ln/>
        </p:spPr>
        <p:txBody>
          <a:bodyPr wrap="square" lIns="0" tIns="0" rIns="0" bIns="0" rtlCol="0" anchor="ctr"/>
          <a:lstStyle/>
          <a:p>
            <a:pPr algn="r" indent="0" marL="0">
              <a:buNone/>
            </a:pPr>
            <a:r>
              <a:rPr lang="en-US" sz="1500" b="1" dirty="0">
                <a:solidFill>
                  <a:srgbClr val="FFFFFF"/>
                </a:solidFill>
                <a:latin typeface="Cambria" pitchFamily="34" charset="0"/>
                <a:ea typeface="Cambria" pitchFamily="34" charset="-122"/>
                <a:cs typeface="Cambria" pitchFamily="34" charset="-120"/>
              </a:rPr>
              <a:t>31 : 1 → 9 : 1</a:t>
            </a:r>
            <a:endParaRPr lang="en-US" sz="1500" dirty="0"/>
          </a:p>
        </p:txBody>
      </p:sp>
      <p:sp>
        <p:nvSpPr>
          <p:cNvPr id="58" name="Text 56"/>
          <p:cNvSpPr/>
          <p:nvPr/>
        </p:nvSpPr>
        <p:spPr>
          <a:xfrm>
            <a:off x="8193024" y="6089904"/>
            <a:ext cx="3017520" cy="548640"/>
          </a:xfrm>
          <a:prstGeom prst="rect">
            <a:avLst/>
          </a:prstGeom>
          <a:noFill/>
          <a:ln/>
        </p:spPr>
        <p:txBody>
          <a:bodyPr wrap="square" lIns="0" tIns="0" rIns="0" bIns="0" rtlCol="0" anchor="ctr"/>
          <a:lstStyle/>
          <a:p>
            <a:pPr indent="0" marL="0">
              <a:lnSpc>
                <a:spcPts val="1000"/>
              </a:lnSpc>
              <a:buNone/>
            </a:pPr>
            <a:r>
              <a:rPr lang="en-US" sz="800" dirty="0">
                <a:solidFill>
                  <a:srgbClr val="E3DCF2"/>
                </a:solidFill>
                <a:latin typeface="Calibri" pitchFamily="34" charset="0"/>
                <a:ea typeface="Calibri" pitchFamily="34" charset="-122"/>
                <a:cs typeface="Calibri" pitchFamily="34" charset="-120"/>
              </a:rPr>
              <a:t>$250 ÷ 30% churn × 85% = $708 LTV in Year 1, $488 by Year 5 as India dilutes ARPU. Three-to-one is the floor; we are far above it.</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02336"/>
            <a:ext cx="7315200" cy="256032"/>
          </a:xfrm>
          <a:prstGeom prst="rect">
            <a:avLst/>
          </a:prstGeom>
          <a:noFill/>
          <a:ln/>
        </p:spPr>
        <p:txBody>
          <a:bodyPr wrap="square" lIns="0" tIns="0" rIns="0" bIns="0" rtlCol="0" anchor="ctr"/>
          <a:lstStyle/>
          <a:p>
            <a:pPr indent="0" marL="0">
              <a:buNone/>
            </a:pPr>
            <a:r>
              <a:rPr lang="en-US" sz="1150" b="1" spc="240" kern="0" dirty="0">
                <a:solidFill>
                  <a:srgbClr val="6C4FE0"/>
                </a:solidFill>
                <a:latin typeface="Calibri" pitchFamily="34" charset="0"/>
                <a:ea typeface="Calibri" pitchFamily="34" charset="-122"/>
                <a:cs typeface="Calibri" pitchFamily="34" charset="-120"/>
              </a:rPr>
              <a:t>REVENUE MIX · BASE CASE</a:t>
            </a:r>
            <a:endParaRPr lang="en-US" sz="1150" dirty="0"/>
          </a:p>
        </p:txBody>
      </p:sp>
      <p:sp>
        <p:nvSpPr>
          <p:cNvPr id="3" name="Text 1"/>
          <p:cNvSpPr/>
          <p:nvPr/>
        </p:nvSpPr>
        <p:spPr>
          <a:xfrm>
            <a:off x="640080" y="694944"/>
            <a:ext cx="10607040" cy="749808"/>
          </a:xfrm>
          <a:prstGeom prst="rect">
            <a:avLst/>
          </a:prstGeom>
          <a:noFill/>
          <a:ln/>
        </p:spPr>
        <p:txBody>
          <a:bodyPr wrap="square" lIns="0" tIns="0" rIns="0" bIns="0" rtlCol="0" anchor="ctr"/>
          <a:lstStyle/>
          <a:p>
            <a:pPr indent="0" marL="0">
              <a:buNone/>
            </a:pPr>
            <a:r>
              <a:rPr lang="en-US" sz="2900" b="1" dirty="0">
                <a:solidFill>
                  <a:srgbClr val="241E33"/>
                </a:solidFill>
                <a:latin typeface="Cambria" pitchFamily="34" charset="0"/>
                <a:ea typeface="Cambria" pitchFamily="34" charset="-122"/>
                <a:cs typeface="Cambria" pitchFamily="34" charset="-120"/>
              </a:rPr>
              <a:t>Where the money comes from</a:t>
            </a:r>
            <a:endParaRPr lang="en-US" sz="2900" dirty="0"/>
          </a:p>
        </p:txBody>
      </p:sp>
      <p:sp>
        <p:nvSpPr>
          <p:cNvPr id="4" name="Text 2"/>
          <p:cNvSpPr/>
          <p:nvPr/>
        </p:nvSpPr>
        <p:spPr>
          <a:xfrm>
            <a:off x="640080" y="1444752"/>
            <a:ext cx="10607040" cy="475488"/>
          </a:xfrm>
          <a:prstGeom prst="rect">
            <a:avLst/>
          </a:prstGeom>
          <a:noFill/>
          <a:ln/>
        </p:spPr>
        <p:txBody>
          <a:bodyPr wrap="square" lIns="0" tIns="0" rIns="0" bIns="0" rtlCol="0" anchor="ctr"/>
          <a:lstStyle/>
          <a:p>
            <a:pPr indent="0" marL="0">
              <a:buNone/>
            </a:pPr>
            <a:r>
              <a:rPr lang="en-US" sz="1450" dirty="0">
                <a:solidFill>
                  <a:srgbClr val="7A7291"/>
                </a:solidFill>
                <a:latin typeface="Calibri" pitchFamily="34" charset="0"/>
                <a:ea typeface="Calibri" pitchFamily="34" charset="-122"/>
                <a:cs typeface="Calibri" pitchFamily="34" charset="-120"/>
              </a:rPr>
              <a:t>Subscription carries it. Everything else widens the margin, deepens the brand, or reaches an age the app cannot.</a:t>
            </a:r>
            <a:endParaRPr lang="en-US" sz="1450" dirty="0"/>
          </a:p>
        </p:txBody>
      </p:sp>
      <p:graphicFrame>
        <p:nvGraphicFramePr>
          <p:cNvPr id="5" name="Chart 0" descr=""/>
          <p:cNvGraphicFramePr/>
          <p:nvPr/>
        </p:nvGraphicFramePr>
        <p:xfrm>
          <a:off x="640080" y="2057400"/>
          <a:ext cx="6858000" cy="384048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772400" y="2121408"/>
            <a:ext cx="3474720" cy="1207008"/>
          </a:xfrm>
          <a:prstGeom prst="roundRect">
            <a:avLst>
              <a:gd name="adj" fmla="val 10606"/>
            </a:avLst>
          </a:prstGeom>
          <a:solidFill>
            <a:srgbClr val="EFEBF8"/>
          </a:solidFill>
          <a:ln/>
          <a:effectLst>
            <a:outerShdw sx="100000" sy="100000" kx="0" ky="0" algn="bl" rotWithShape="0" blurRad="127000" dist="25400" dir="5400000">
              <a:srgbClr val="241E33">
                <a:alpha val="10000"/>
              </a:srgbClr>
            </a:outerShdw>
          </a:effectLst>
        </p:spPr>
      </p:sp>
      <p:sp>
        <p:nvSpPr>
          <p:cNvPr id="7" name="Text 4"/>
          <p:cNvSpPr/>
          <p:nvPr/>
        </p:nvSpPr>
        <p:spPr>
          <a:xfrm>
            <a:off x="8010144" y="2249424"/>
            <a:ext cx="1005840" cy="256032"/>
          </a:xfrm>
          <a:prstGeom prst="rect">
            <a:avLst/>
          </a:prstGeom>
          <a:noFill/>
          <a:ln/>
        </p:spPr>
        <p:txBody>
          <a:bodyPr wrap="square" lIns="0" tIns="0" rIns="0" bIns="0" rtlCol="0" anchor="ctr"/>
          <a:lstStyle/>
          <a:p>
            <a:pPr indent="0" marL="0">
              <a:buNone/>
            </a:pPr>
            <a:r>
              <a:rPr lang="en-US" sz="1000" b="1" spc="140" kern="0" dirty="0">
                <a:solidFill>
                  <a:srgbClr val="7A7291"/>
                </a:solidFill>
                <a:latin typeface="Calibri" pitchFamily="34" charset="0"/>
                <a:ea typeface="Calibri" pitchFamily="34" charset="-122"/>
                <a:cs typeface="Calibri" pitchFamily="34" charset="-120"/>
              </a:rPr>
              <a:t>Year 1</a:t>
            </a:r>
            <a:endParaRPr lang="en-US" sz="1000" dirty="0"/>
          </a:p>
        </p:txBody>
      </p:sp>
      <p:sp>
        <p:nvSpPr>
          <p:cNvPr id="8" name="Text 5"/>
          <p:cNvSpPr/>
          <p:nvPr/>
        </p:nvSpPr>
        <p:spPr>
          <a:xfrm>
            <a:off x="9189720" y="2167128"/>
            <a:ext cx="1874520" cy="365760"/>
          </a:xfrm>
          <a:prstGeom prst="rect">
            <a:avLst/>
          </a:prstGeom>
          <a:noFill/>
          <a:ln/>
        </p:spPr>
        <p:txBody>
          <a:bodyPr wrap="square" lIns="0" tIns="0" rIns="0" bIns="0" rtlCol="0" anchor="ctr"/>
          <a:lstStyle/>
          <a:p>
            <a:pPr algn="r" indent="0" marL="0">
              <a:buNone/>
            </a:pPr>
            <a:r>
              <a:rPr lang="en-US" sz="2000" b="1" dirty="0">
                <a:solidFill>
                  <a:srgbClr val="6C4FE0"/>
                </a:solidFill>
                <a:latin typeface="Cambria" pitchFamily="34" charset="0"/>
                <a:ea typeface="Cambria" pitchFamily="34" charset="-122"/>
                <a:cs typeface="Cambria" pitchFamily="34" charset="-120"/>
              </a:rPr>
              <a:t>$26k</a:t>
            </a:r>
            <a:endParaRPr lang="en-US" sz="2000" dirty="0"/>
          </a:p>
        </p:txBody>
      </p:sp>
      <p:sp>
        <p:nvSpPr>
          <p:cNvPr id="9" name="Text 6"/>
          <p:cNvSpPr/>
          <p:nvPr/>
        </p:nvSpPr>
        <p:spPr>
          <a:xfrm>
            <a:off x="8010144" y="2551176"/>
            <a:ext cx="3017520" cy="694944"/>
          </a:xfrm>
          <a:prstGeom prst="rect">
            <a:avLst/>
          </a:prstGeom>
          <a:noFill/>
          <a:ln/>
        </p:spPr>
        <p:txBody>
          <a:bodyPr wrap="square" lIns="0" tIns="0" rIns="0" bIns="0" rtlCol="0" anchor="ctr"/>
          <a:lstStyle/>
          <a:p>
            <a:pPr indent="0" marL="0">
              <a:lnSpc>
                <a:spcPts val="1300"/>
              </a:lnSpc>
              <a:buNone/>
            </a:pPr>
            <a:r>
              <a:rPr lang="en-US" sz="1000" dirty="0">
                <a:solidFill>
                  <a:srgbClr val="4A4360"/>
                </a:solidFill>
                <a:latin typeface="Calibri" pitchFamily="34" charset="0"/>
                <a:ea typeface="Calibri" pitchFamily="34" charset="-122"/>
                <a:cs typeface="Calibri" pitchFamily="34" charset="-120"/>
              </a:rPr>
              <a:t>Subscription only. 208 households, most joining late in the year — which is why average, not ending, households drive revenue.</a:t>
            </a:r>
            <a:endParaRPr lang="en-US" sz="1000" dirty="0"/>
          </a:p>
        </p:txBody>
      </p:sp>
      <p:sp>
        <p:nvSpPr>
          <p:cNvPr id="10" name="Shape 7"/>
          <p:cNvSpPr/>
          <p:nvPr/>
        </p:nvSpPr>
        <p:spPr>
          <a:xfrm>
            <a:off x="7772400" y="3493008"/>
            <a:ext cx="3474720" cy="1207008"/>
          </a:xfrm>
          <a:prstGeom prst="roundRect">
            <a:avLst>
              <a:gd name="adj" fmla="val 10606"/>
            </a:avLst>
          </a:prstGeom>
          <a:solidFill>
            <a:srgbClr val="EFEBF8"/>
          </a:solidFill>
          <a:ln/>
          <a:effectLst>
            <a:outerShdw sx="100000" sy="100000" kx="0" ky="0" algn="bl" rotWithShape="0" blurRad="127000" dist="25400" dir="5400000">
              <a:srgbClr val="241E33">
                <a:alpha val="10000"/>
              </a:srgbClr>
            </a:outerShdw>
          </a:effectLst>
        </p:spPr>
      </p:sp>
      <p:sp>
        <p:nvSpPr>
          <p:cNvPr id="11" name="Text 8"/>
          <p:cNvSpPr/>
          <p:nvPr/>
        </p:nvSpPr>
        <p:spPr>
          <a:xfrm>
            <a:off x="8010144" y="3621024"/>
            <a:ext cx="1005840" cy="256032"/>
          </a:xfrm>
          <a:prstGeom prst="rect">
            <a:avLst/>
          </a:prstGeom>
          <a:noFill/>
          <a:ln/>
        </p:spPr>
        <p:txBody>
          <a:bodyPr wrap="square" lIns="0" tIns="0" rIns="0" bIns="0" rtlCol="0" anchor="ctr"/>
          <a:lstStyle/>
          <a:p>
            <a:pPr indent="0" marL="0">
              <a:buNone/>
            </a:pPr>
            <a:r>
              <a:rPr lang="en-US" sz="1000" b="1" spc="140" kern="0" dirty="0">
                <a:solidFill>
                  <a:srgbClr val="7A7291"/>
                </a:solidFill>
                <a:latin typeface="Calibri" pitchFamily="34" charset="0"/>
                <a:ea typeface="Calibri" pitchFamily="34" charset="-122"/>
                <a:cs typeface="Calibri" pitchFamily="34" charset="-120"/>
              </a:rPr>
              <a:t>Year 3</a:t>
            </a:r>
            <a:endParaRPr lang="en-US" sz="1000" dirty="0"/>
          </a:p>
        </p:txBody>
      </p:sp>
      <p:sp>
        <p:nvSpPr>
          <p:cNvPr id="12" name="Text 9"/>
          <p:cNvSpPr/>
          <p:nvPr/>
        </p:nvSpPr>
        <p:spPr>
          <a:xfrm>
            <a:off x="9189720" y="3538728"/>
            <a:ext cx="1874520" cy="365760"/>
          </a:xfrm>
          <a:prstGeom prst="rect">
            <a:avLst/>
          </a:prstGeom>
          <a:noFill/>
          <a:ln/>
        </p:spPr>
        <p:txBody>
          <a:bodyPr wrap="square" lIns="0" tIns="0" rIns="0" bIns="0" rtlCol="0" anchor="ctr"/>
          <a:lstStyle/>
          <a:p>
            <a:pPr algn="r" indent="0" marL="0">
              <a:buNone/>
            </a:pPr>
            <a:r>
              <a:rPr lang="en-US" sz="2000" b="1" dirty="0">
                <a:solidFill>
                  <a:srgbClr val="178A4C"/>
                </a:solidFill>
                <a:latin typeface="Cambria" pitchFamily="34" charset="0"/>
                <a:ea typeface="Cambria" pitchFamily="34" charset="-122"/>
                <a:cs typeface="Cambria" pitchFamily="34" charset="-120"/>
              </a:rPr>
              <a:t>$601k</a:t>
            </a:r>
            <a:endParaRPr lang="en-US" sz="2000" dirty="0"/>
          </a:p>
        </p:txBody>
      </p:sp>
      <p:sp>
        <p:nvSpPr>
          <p:cNvPr id="13" name="Text 10"/>
          <p:cNvSpPr/>
          <p:nvPr/>
        </p:nvSpPr>
        <p:spPr>
          <a:xfrm>
            <a:off x="8010144" y="3922776"/>
            <a:ext cx="3017520" cy="694944"/>
          </a:xfrm>
          <a:prstGeom prst="rect">
            <a:avLst/>
          </a:prstGeom>
          <a:noFill/>
          <a:ln/>
        </p:spPr>
        <p:txBody>
          <a:bodyPr wrap="square" lIns="0" tIns="0" rIns="0" bIns="0" rtlCol="0" anchor="ctr"/>
          <a:lstStyle/>
          <a:p>
            <a:pPr indent="0" marL="0">
              <a:lnSpc>
                <a:spcPts val="1300"/>
              </a:lnSpc>
              <a:buNone/>
            </a:pPr>
            <a:r>
              <a:rPr lang="en-US" sz="1000" dirty="0">
                <a:solidFill>
                  <a:srgbClr val="4A4360"/>
                </a:solidFill>
                <a:latin typeface="Calibri" pitchFamily="34" charset="0"/>
                <a:ea typeface="Calibri" pitchFamily="34" charset="-122"/>
                <a:cs typeface="Calibri" pitchFamily="34" charset="-120"/>
              </a:rPr>
              <a:t>Cohorts and physical arrive. Subscription still 79% of the line.</a:t>
            </a:r>
            <a:endParaRPr lang="en-US" sz="1000" dirty="0"/>
          </a:p>
        </p:txBody>
      </p:sp>
      <p:sp>
        <p:nvSpPr>
          <p:cNvPr id="14" name="Shape 11"/>
          <p:cNvSpPr/>
          <p:nvPr/>
        </p:nvSpPr>
        <p:spPr>
          <a:xfrm>
            <a:off x="7772400" y="4864608"/>
            <a:ext cx="3474720" cy="1207008"/>
          </a:xfrm>
          <a:prstGeom prst="roundRect">
            <a:avLst>
              <a:gd name="adj" fmla="val 10606"/>
            </a:avLst>
          </a:prstGeom>
          <a:solidFill>
            <a:srgbClr val="EFEBF8"/>
          </a:solidFill>
          <a:ln/>
          <a:effectLst>
            <a:outerShdw sx="100000" sy="100000" kx="0" ky="0" algn="bl" rotWithShape="0" blurRad="127000" dist="25400" dir="5400000">
              <a:srgbClr val="241E33">
                <a:alpha val="10000"/>
              </a:srgbClr>
            </a:outerShdw>
          </a:effectLst>
        </p:spPr>
      </p:sp>
      <p:sp>
        <p:nvSpPr>
          <p:cNvPr id="15" name="Text 12"/>
          <p:cNvSpPr/>
          <p:nvPr/>
        </p:nvSpPr>
        <p:spPr>
          <a:xfrm>
            <a:off x="8010144" y="4992624"/>
            <a:ext cx="1005840" cy="256032"/>
          </a:xfrm>
          <a:prstGeom prst="rect">
            <a:avLst/>
          </a:prstGeom>
          <a:noFill/>
          <a:ln/>
        </p:spPr>
        <p:txBody>
          <a:bodyPr wrap="square" lIns="0" tIns="0" rIns="0" bIns="0" rtlCol="0" anchor="ctr"/>
          <a:lstStyle/>
          <a:p>
            <a:pPr indent="0" marL="0">
              <a:buNone/>
            </a:pPr>
            <a:r>
              <a:rPr lang="en-US" sz="1000" b="1" spc="140" kern="0" dirty="0">
                <a:solidFill>
                  <a:srgbClr val="7A7291"/>
                </a:solidFill>
                <a:latin typeface="Calibri" pitchFamily="34" charset="0"/>
                <a:ea typeface="Calibri" pitchFamily="34" charset="-122"/>
                <a:cs typeface="Calibri" pitchFamily="34" charset="-120"/>
              </a:rPr>
              <a:t>Year 5</a:t>
            </a:r>
            <a:endParaRPr lang="en-US" sz="1000" dirty="0"/>
          </a:p>
        </p:txBody>
      </p:sp>
      <p:sp>
        <p:nvSpPr>
          <p:cNvPr id="16" name="Text 13"/>
          <p:cNvSpPr/>
          <p:nvPr/>
        </p:nvSpPr>
        <p:spPr>
          <a:xfrm>
            <a:off x="9189720" y="4910328"/>
            <a:ext cx="1874520" cy="365760"/>
          </a:xfrm>
          <a:prstGeom prst="rect">
            <a:avLst/>
          </a:prstGeom>
          <a:noFill/>
          <a:ln/>
        </p:spPr>
        <p:txBody>
          <a:bodyPr wrap="square" lIns="0" tIns="0" rIns="0" bIns="0" rtlCol="0" anchor="ctr"/>
          <a:lstStyle/>
          <a:p>
            <a:pPr algn="r" indent="0" marL="0">
              <a:buNone/>
            </a:pPr>
            <a:r>
              <a:rPr lang="en-US" sz="2000" b="1" dirty="0">
                <a:solidFill>
                  <a:srgbClr val="F0B429"/>
                </a:solidFill>
                <a:latin typeface="Cambria" pitchFamily="34" charset="0"/>
                <a:ea typeface="Cambria" pitchFamily="34" charset="-122"/>
                <a:cs typeface="Cambria" pitchFamily="34" charset="-120"/>
              </a:rPr>
              <a:t>$3.09M</a:t>
            </a:r>
            <a:endParaRPr lang="en-US" sz="2000" dirty="0"/>
          </a:p>
        </p:txBody>
      </p:sp>
      <p:sp>
        <p:nvSpPr>
          <p:cNvPr id="17" name="Text 14"/>
          <p:cNvSpPr/>
          <p:nvPr/>
        </p:nvSpPr>
        <p:spPr>
          <a:xfrm>
            <a:off x="8010144" y="5294376"/>
            <a:ext cx="3017520" cy="694944"/>
          </a:xfrm>
          <a:prstGeom prst="rect">
            <a:avLst/>
          </a:prstGeom>
          <a:noFill/>
          <a:ln/>
        </p:spPr>
        <p:txBody>
          <a:bodyPr wrap="square" lIns="0" tIns="0" rIns="0" bIns="0" rtlCol="0" anchor="ctr"/>
          <a:lstStyle/>
          <a:p>
            <a:pPr indent="0" marL="0">
              <a:lnSpc>
                <a:spcPts val="1300"/>
              </a:lnSpc>
              <a:buNone/>
            </a:pPr>
            <a:r>
              <a:rPr lang="en-US" sz="1000" dirty="0">
                <a:solidFill>
                  <a:srgbClr val="4A4360"/>
                </a:solidFill>
                <a:latin typeface="Calibri" pitchFamily="34" charset="0"/>
                <a:ea typeface="Calibri" pitchFamily="34" charset="-122"/>
                <a:cs typeface="Calibri" pitchFamily="34" charset="-120"/>
              </a:rPr>
              <a:t>Subscription 68%, cohorts 22%, physical and media 10%. Higher cohort pricing made that line matter more, not less.</a:t>
            </a:r>
            <a:endParaRPr lang="en-US" sz="1000" dirty="0"/>
          </a:p>
        </p:txBody>
      </p:sp>
      <p:sp>
        <p:nvSpPr>
          <p:cNvPr id="18" name="Text 15"/>
          <p:cNvSpPr/>
          <p:nvPr/>
        </p:nvSpPr>
        <p:spPr>
          <a:xfrm>
            <a:off x="640080" y="6272784"/>
            <a:ext cx="10607040" cy="365760"/>
          </a:xfrm>
          <a:prstGeom prst="rect">
            <a:avLst/>
          </a:prstGeom>
          <a:noFill/>
          <a:ln/>
        </p:spPr>
        <p:txBody>
          <a:bodyPr wrap="square" lIns="0" tIns="0" rIns="0" bIns="0" rtlCol="0" anchor="ctr"/>
          <a:lstStyle/>
          <a:p>
            <a:pPr indent="0" marL="0">
              <a:buNone/>
            </a:pPr>
            <a:r>
              <a:rPr lang="en-US" sz="1100" i="1" dirty="0">
                <a:solidFill>
                  <a:srgbClr val="7A7291"/>
                </a:solidFill>
                <a:latin typeface="Calibri" pitchFamily="34" charset="0"/>
                <a:ea typeface="Calibri" pitchFamily="34" charset="-122"/>
                <a:cs typeface="Calibri" pitchFamily="34" charset="-120"/>
              </a:rPr>
              <a:t>The aggressive case reaches $5.37M at Year 5 on the same mix shape — 1.7× the households, not a different business.</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241E3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104120" y="457200"/>
            <a:ext cx="1371600" cy="1371600"/>
          </a:xfrm>
          <a:prstGeom prst="rect">
            <a:avLst/>
          </a:prstGeom>
        </p:spPr>
      </p:pic>
      <p:sp>
        <p:nvSpPr>
          <p:cNvPr id="3" name="Text 0"/>
          <p:cNvSpPr/>
          <p:nvPr/>
        </p:nvSpPr>
        <p:spPr>
          <a:xfrm>
            <a:off x="640080" y="548640"/>
            <a:ext cx="7315200" cy="292608"/>
          </a:xfrm>
          <a:prstGeom prst="rect">
            <a:avLst/>
          </a:prstGeom>
          <a:noFill/>
          <a:ln/>
        </p:spPr>
        <p:txBody>
          <a:bodyPr wrap="square" lIns="0" tIns="0" rIns="0" bIns="0" rtlCol="0" anchor="ctr"/>
          <a:lstStyle/>
          <a:p>
            <a:pPr indent="0" marL="0">
              <a:buNone/>
            </a:pPr>
            <a:r>
              <a:rPr lang="en-US" sz="1200" b="1" spc="300" kern="0" dirty="0">
                <a:solidFill>
                  <a:srgbClr val="F0B429"/>
                </a:solidFill>
                <a:latin typeface="Calibri" pitchFamily="34" charset="0"/>
                <a:ea typeface="Calibri" pitchFamily="34" charset="-122"/>
                <a:cs typeface="Calibri" pitchFamily="34" charset="-120"/>
              </a:rPr>
              <a:t>THE CEILING</a:t>
            </a:r>
            <a:endParaRPr lang="en-US" sz="1200" dirty="0"/>
          </a:p>
        </p:txBody>
      </p:sp>
      <p:sp>
        <p:nvSpPr>
          <p:cNvPr id="4" name="Text 1"/>
          <p:cNvSpPr/>
          <p:nvPr/>
        </p:nvSpPr>
        <p:spPr>
          <a:xfrm>
            <a:off x="640080" y="914400"/>
            <a:ext cx="9326880" cy="896112"/>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Priced against the tutor, we need less of the market than any app would.</a:t>
            </a:r>
            <a:endParaRPr lang="en-US" sz="2500" dirty="0"/>
          </a:p>
        </p:txBody>
      </p:sp>
      <p:sp>
        <p:nvSpPr>
          <p:cNvPr id="5" name="Text 2"/>
          <p:cNvSpPr/>
          <p:nvPr/>
        </p:nvSpPr>
        <p:spPr>
          <a:xfrm>
            <a:off x="640080" y="1993392"/>
            <a:ext cx="4937760" cy="420624"/>
          </a:xfrm>
          <a:prstGeom prst="rect">
            <a:avLst/>
          </a:prstGeom>
          <a:noFill/>
          <a:ln/>
        </p:spPr>
        <p:txBody>
          <a:bodyPr wrap="square" lIns="0" tIns="0" rIns="0" bIns="0" rtlCol="0" anchor="ctr"/>
          <a:lstStyle/>
          <a:p>
            <a:pPr indent="0" marL="0">
              <a:buNone/>
            </a:pPr>
            <a:r>
              <a:rPr lang="en-US" sz="1150" dirty="0">
                <a:solidFill>
                  <a:srgbClr val="E3DCF2"/>
                </a:solidFill>
                <a:latin typeface="Calibri" pitchFamily="34" charset="0"/>
                <a:ea typeface="Calibri" pitchFamily="34" charset="-122"/>
                <a:cs typeface="Calibri" pitchFamily="34" charset="-120"/>
              </a:rPr>
              <a:t>Diaspora households with a child 4–16</a:t>
            </a:r>
            <a:endParaRPr lang="en-US" sz="1150" dirty="0"/>
          </a:p>
        </p:txBody>
      </p:sp>
      <p:sp>
        <p:nvSpPr>
          <p:cNvPr id="6" name="Shape 3"/>
          <p:cNvSpPr/>
          <p:nvPr/>
        </p:nvSpPr>
        <p:spPr>
          <a:xfrm>
            <a:off x="5760720" y="2075688"/>
            <a:ext cx="3840480" cy="256032"/>
          </a:xfrm>
          <a:prstGeom prst="roundRect">
            <a:avLst>
              <a:gd name="adj" fmla="val 50000"/>
            </a:avLst>
          </a:prstGeom>
          <a:solidFill>
            <a:srgbClr val="FFFFFF">
              <a:alpha val="10000"/>
            </a:srgbClr>
          </a:solidFill>
          <a:ln/>
        </p:spPr>
      </p:sp>
      <p:sp>
        <p:nvSpPr>
          <p:cNvPr id="7" name="Shape 4"/>
          <p:cNvSpPr/>
          <p:nvPr/>
        </p:nvSpPr>
        <p:spPr>
          <a:xfrm>
            <a:off x="5760720" y="2075688"/>
            <a:ext cx="3840480" cy="256032"/>
          </a:xfrm>
          <a:prstGeom prst="roundRect">
            <a:avLst>
              <a:gd name="adj" fmla="val 50000"/>
            </a:avLst>
          </a:prstGeom>
          <a:solidFill>
            <a:srgbClr val="F0B429"/>
          </a:solidFill>
          <a:ln/>
        </p:spPr>
      </p:sp>
      <p:sp>
        <p:nvSpPr>
          <p:cNvPr id="8" name="Text 5"/>
          <p:cNvSpPr/>
          <p:nvPr/>
        </p:nvSpPr>
        <p:spPr>
          <a:xfrm>
            <a:off x="9738360" y="1993392"/>
            <a:ext cx="1554480" cy="420624"/>
          </a:xfrm>
          <a:prstGeom prst="rect">
            <a:avLst/>
          </a:prstGeom>
          <a:noFill/>
          <a:ln/>
        </p:spPr>
        <p:txBody>
          <a:bodyPr wrap="square" lIns="0" tIns="0" rIns="0" bIns="0" rtlCol="0" anchor="ctr"/>
          <a:lstStyle/>
          <a:p>
            <a:pPr algn="r" indent="0" marL="0">
              <a:buNone/>
            </a:pPr>
            <a:r>
              <a:rPr lang="en-US" sz="1600" b="1" dirty="0">
                <a:solidFill>
                  <a:srgbClr val="F0B429"/>
                </a:solidFill>
                <a:latin typeface="Cambria" pitchFamily="34" charset="0"/>
                <a:ea typeface="Cambria" pitchFamily="34" charset="-122"/>
                <a:cs typeface="Cambria" pitchFamily="34" charset="-120"/>
              </a:rPr>
              <a:t>1.31M</a:t>
            </a:r>
            <a:endParaRPr lang="en-US" sz="1600" dirty="0"/>
          </a:p>
        </p:txBody>
      </p:sp>
      <p:sp>
        <p:nvSpPr>
          <p:cNvPr id="9" name="Text 6"/>
          <p:cNvSpPr/>
          <p:nvPr/>
        </p:nvSpPr>
        <p:spPr>
          <a:xfrm>
            <a:off x="640080" y="2587752"/>
            <a:ext cx="4937760" cy="420624"/>
          </a:xfrm>
          <a:prstGeom prst="rect">
            <a:avLst/>
          </a:prstGeom>
          <a:noFill/>
          <a:ln/>
        </p:spPr>
        <p:txBody>
          <a:bodyPr wrap="square" lIns="0" tIns="0" rIns="0" bIns="0" rtlCol="0" anchor="ctr"/>
          <a:lstStyle/>
          <a:p>
            <a:pPr indent="0" marL="0">
              <a:buNone/>
            </a:pPr>
            <a:r>
              <a:rPr lang="en-US" sz="1150" dirty="0">
                <a:solidFill>
                  <a:srgbClr val="E3DCF2"/>
                </a:solidFill>
                <a:latin typeface="Calibri" pitchFamily="34" charset="0"/>
                <a:ea typeface="Calibri" pitchFamily="34" charset="-122"/>
                <a:cs typeface="Calibri" pitchFamily="34" charset="-120"/>
              </a:rPr>
              <a:t>× $250 blended — the whole diaspora market</a:t>
            </a:r>
            <a:endParaRPr lang="en-US" sz="1150" dirty="0"/>
          </a:p>
        </p:txBody>
      </p:sp>
      <p:sp>
        <p:nvSpPr>
          <p:cNvPr id="10" name="Shape 7"/>
          <p:cNvSpPr/>
          <p:nvPr/>
        </p:nvSpPr>
        <p:spPr>
          <a:xfrm>
            <a:off x="5760720" y="2670048"/>
            <a:ext cx="3840480" cy="256032"/>
          </a:xfrm>
          <a:prstGeom prst="roundRect">
            <a:avLst>
              <a:gd name="adj" fmla="val 50000"/>
            </a:avLst>
          </a:prstGeom>
          <a:solidFill>
            <a:srgbClr val="FFFFFF">
              <a:alpha val="10000"/>
            </a:srgbClr>
          </a:solidFill>
          <a:ln/>
        </p:spPr>
      </p:sp>
      <p:sp>
        <p:nvSpPr>
          <p:cNvPr id="11" name="Shape 8"/>
          <p:cNvSpPr/>
          <p:nvPr/>
        </p:nvSpPr>
        <p:spPr>
          <a:xfrm>
            <a:off x="5760720" y="2670048"/>
            <a:ext cx="3840480" cy="256032"/>
          </a:xfrm>
          <a:prstGeom prst="roundRect">
            <a:avLst>
              <a:gd name="adj" fmla="val 50000"/>
            </a:avLst>
          </a:prstGeom>
          <a:solidFill>
            <a:srgbClr val="F0B429"/>
          </a:solidFill>
          <a:ln/>
        </p:spPr>
      </p:sp>
      <p:sp>
        <p:nvSpPr>
          <p:cNvPr id="12" name="Text 9"/>
          <p:cNvSpPr/>
          <p:nvPr/>
        </p:nvSpPr>
        <p:spPr>
          <a:xfrm>
            <a:off x="9738360" y="2587752"/>
            <a:ext cx="1554480" cy="420624"/>
          </a:xfrm>
          <a:prstGeom prst="rect">
            <a:avLst/>
          </a:prstGeom>
          <a:noFill/>
          <a:ln/>
        </p:spPr>
        <p:txBody>
          <a:bodyPr wrap="square" lIns="0" tIns="0" rIns="0" bIns="0" rtlCol="0" anchor="ctr"/>
          <a:lstStyle/>
          <a:p>
            <a:pPr algn="r" indent="0" marL="0">
              <a:buNone/>
            </a:pPr>
            <a:r>
              <a:rPr lang="en-US" sz="1600" b="1" dirty="0">
                <a:solidFill>
                  <a:srgbClr val="F0B429"/>
                </a:solidFill>
                <a:latin typeface="Cambria" pitchFamily="34" charset="0"/>
                <a:ea typeface="Cambria" pitchFamily="34" charset="-122"/>
                <a:cs typeface="Cambria" pitchFamily="34" charset="-120"/>
              </a:rPr>
              <a:t>$328M</a:t>
            </a:r>
            <a:endParaRPr lang="en-US" sz="1600" dirty="0"/>
          </a:p>
        </p:txBody>
      </p:sp>
      <p:sp>
        <p:nvSpPr>
          <p:cNvPr id="13" name="Text 10"/>
          <p:cNvSpPr/>
          <p:nvPr/>
        </p:nvSpPr>
        <p:spPr>
          <a:xfrm>
            <a:off x="640080" y="3182112"/>
            <a:ext cx="4937760" cy="420624"/>
          </a:xfrm>
          <a:prstGeom prst="rect">
            <a:avLst/>
          </a:prstGeom>
          <a:noFill/>
          <a:ln/>
        </p:spPr>
        <p:txBody>
          <a:bodyPr wrap="square" lIns="0" tIns="0" rIns="0" bIns="0" rtlCol="0" anchor="ctr"/>
          <a:lstStyle/>
          <a:p>
            <a:pPr indent="0" marL="0">
              <a:buNone/>
            </a:pPr>
            <a:r>
              <a:rPr lang="en-US" sz="1150" dirty="0">
                <a:solidFill>
                  <a:srgbClr val="E3DCF2"/>
                </a:solidFill>
                <a:latin typeface="Calibri" pitchFamily="34" charset="0"/>
                <a:ea typeface="Calibri" pitchFamily="34" charset="-122"/>
                <a:cs typeface="Calibri" pitchFamily="34" charset="-120"/>
              </a:rPr>
              <a:t>Year 5 base case — 16.0k households</a:t>
            </a:r>
            <a:endParaRPr lang="en-US" sz="1150" dirty="0"/>
          </a:p>
        </p:txBody>
      </p:sp>
      <p:sp>
        <p:nvSpPr>
          <p:cNvPr id="14" name="Shape 11"/>
          <p:cNvSpPr/>
          <p:nvPr/>
        </p:nvSpPr>
        <p:spPr>
          <a:xfrm>
            <a:off x="5760720" y="3264408"/>
            <a:ext cx="3840480" cy="256032"/>
          </a:xfrm>
          <a:prstGeom prst="roundRect">
            <a:avLst>
              <a:gd name="adj" fmla="val 50000"/>
            </a:avLst>
          </a:prstGeom>
          <a:solidFill>
            <a:srgbClr val="FFFFFF">
              <a:alpha val="10000"/>
            </a:srgbClr>
          </a:solidFill>
          <a:ln/>
        </p:spPr>
      </p:sp>
      <p:sp>
        <p:nvSpPr>
          <p:cNvPr id="15" name="Shape 12"/>
          <p:cNvSpPr/>
          <p:nvPr/>
        </p:nvSpPr>
        <p:spPr>
          <a:xfrm>
            <a:off x="5760720" y="3264408"/>
            <a:ext cx="237744" cy="256032"/>
          </a:xfrm>
          <a:prstGeom prst="roundRect">
            <a:avLst>
              <a:gd name="adj" fmla="val 53846"/>
            </a:avLst>
          </a:prstGeom>
          <a:solidFill>
            <a:srgbClr val="6C4FE0"/>
          </a:solidFill>
          <a:ln/>
        </p:spPr>
      </p:sp>
      <p:sp>
        <p:nvSpPr>
          <p:cNvPr id="16" name="Text 13"/>
          <p:cNvSpPr/>
          <p:nvPr/>
        </p:nvSpPr>
        <p:spPr>
          <a:xfrm>
            <a:off x="9738360" y="3182112"/>
            <a:ext cx="1554480" cy="420624"/>
          </a:xfrm>
          <a:prstGeom prst="rect">
            <a:avLst/>
          </a:prstGeom>
          <a:noFill/>
          <a:ln/>
        </p:spPr>
        <p:txBody>
          <a:bodyPr wrap="square" lIns="0" tIns="0" rIns="0" bIns="0" rtlCol="0" anchor="ctr"/>
          <a:lstStyle/>
          <a:p>
            <a:pPr algn="r" indent="0" marL="0">
              <a:buNone/>
            </a:pPr>
            <a:r>
              <a:rPr lang="en-US" sz="1600" b="1" dirty="0">
                <a:solidFill>
                  <a:srgbClr val="6C4FE0"/>
                </a:solidFill>
                <a:latin typeface="Cambria" pitchFamily="34" charset="0"/>
                <a:ea typeface="Cambria" pitchFamily="34" charset="-122"/>
                <a:cs typeface="Cambria" pitchFamily="34" charset="-120"/>
              </a:rPr>
              <a:t>0.9%</a:t>
            </a:r>
            <a:endParaRPr lang="en-US" sz="1600" dirty="0"/>
          </a:p>
        </p:txBody>
      </p:sp>
      <p:sp>
        <p:nvSpPr>
          <p:cNvPr id="17" name="Text 14"/>
          <p:cNvSpPr/>
          <p:nvPr/>
        </p:nvSpPr>
        <p:spPr>
          <a:xfrm>
            <a:off x="640080" y="3776472"/>
            <a:ext cx="4937760" cy="420624"/>
          </a:xfrm>
          <a:prstGeom prst="rect">
            <a:avLst/>
          </a:prstGeom>
          <a:noFill/>
          <a:ln/>
        </p:spPr>
        <p:txBody>
          <a:bodyPr wrap="square" lIns="0" tIns="0" rIns="0" bIns="0" rtlCol="0" anchor="ctr"/>
          <a:lstStyle/>
          <a:p>
            <a:pPr indent="0" marL="0">
              <a:buNone/>
            </a:pPr>
            <a:r>
              <a:rPr lang="en-US" sz="1150" dirty="0">
                <a:solidFill>
                  <a:srgbClr val="E3DCF2"/>
                </a:solidFill>
                <a:latin typeface="Calibri" pitchFamily="34" charset="0"/>
                <a:ea typeface="Calibri" pitchFamily="34" charset="-122"/>
                <a:cs typeface="Calibri" pitchFamily="34" charset="-120"/>
              </a:rPr>
              <a:t>At 5% penetration</a:t>
            </a:r>
            <a:endParaRPr lang="en-US" sz="1150" dirty="0"/>
          </a:p>
        </p:txBody>
      </p:sp>
      <p:sp>
        <p:nvSpPr>
          <p:cNvPr id="18" name="Shape 15"/>
          <p:cNvSpPr/>
          <p:nvPr/>
        </p:nvSpPr>
        <p:spPr>
          <a:xfrm>
            <a:off x="5760720" y="3858768"/>
            <a:ext cx="3840480" cy="256032"/>
          </a:xfrm>
          <a:prstGeom prst="roundRect">
            <a:avLst>
              <a:gd name="adj" fmla="val 50000"/>
            </a:avLst>
          </a:prstGeom>
          <a:solidFill>
            <a:srgbClr val="FFFFFF">
              <a:alpha val="10000"/>
            </a:srgbClr>
          </a:solidFill>
          <a:ln/>
        </p:spPr>
      </p:sp>
      <p:sp>
        <p:nvSpPr>
          <p:cNvPr id="19" name="Shape 16"/>
          <p:cNvSpPr/>
          <p:nvPr/>
        </p:nvSpPr>
        <p:spPr>
          <a:xfrm>
            <a:off x="5760720" y="3858768"/>
            <a:ext cx="768096" cy="256032"/>
          </a:xfrm>
          <a:prstGeom prst="roundRect">
            <a:avLst>
              <a:gd name="adj" fmla="val 50000"/>
            </a:avLst>
          </a:prstGeom>
          <a:solidFill>
            <a:srgbClr val="6C4FE0"/>
          </a:solidFill>
          <a:ln/>
        </p:spPr>
      </p:sp>
      <p:sp>
        <p:nvSpPr>
          <p:cNvPr id="20" name="Text 17"/>
          <p:cNvSpPr/>
          <p:nvPr/>
        </p:nvSpPr>
        <p:spPr>
          <a:xfrm>
            <a:off x="9738360" y="3776472"/>
            <a:ext cx="1554480" cy="420624"/>
          </a:xfrm>
          <a:prstGeom prst="rect">
            <a:avLst/>
          </a:prstGeom>
          <a:noFill/>
          <a:ln/>
        </p:spPr>
        <p:txBody>
          <a:bodyPr wrap="square" lIns="0" tIns="0" rIns="0" bIns="0" rtlCol="0" anchor="ctr"/>
          <a:lstStyle/>
          <a:p>
            <a:pPr algn="r" indent="0" marL="0">
              <a:buNone/>
            </a:pPr>
            <a:r>
              <a:rPr lang="en-US" sz="1600" b="1" dirty="0">
                <a:solidFill>
                  <a:srgbClr val="6C4FE0"/>
                </a:solidFill>
                <a:latin typeface="Cambria" pitchFamily="34" charset="0"/>
                <a:ea typeface="Cambria" pitchFamily="34" charset="-122"/>
                <a:cs typeface="Cambria" pitchFamily="34" charset="-120"/>
              </a:rPr>
              <a:t>$16.4M</a:t>
            </a:r>
            <a:endParaRPr lang="en-US" sz="1600" dirty="0"/>
          </a:p>
        </p:txBody>
      </p:sp>
      <p:sp>
        <p:nvSpPr>
          <p:cNvPr id="21" name="Text 18"/>
          <p:cNvSpPr/>
          <p:nvPr/>
        </p:nvSpPr>
        <p:spPr>
          <a:xfrm>
            <a:off x="640080" y="4370832"/>
            <a:ext cx="4937760" cy="420624"/>
          </a:xfrm>
          <a:prstGeom prst="rect">
            <a:avLst/>
          </a:prstGeom>
          <a:noFill/>
          <a:ln/>
        </p:spPr>
        <p:txBody>
          <a:bodyPr wrap="square" lIns="0" tIns="0" rIns="0" bIns="0" rtlCol="0" anchor="ctr"/>
          <a:lstStyle/>
          <a:p>
            <a:pPr indent="0" marL="0">
              <a:buNone/>
            </a:pPr>
            <a:r>
              <a:rPr lang="en-US" sz="1150" dirty="0">
                <a:solidFill>
                  <a:srgbClr val="E3DCF2"/>
                </a:solidFill>
                <a:latin typeface="Calibri" pitchFamily="34" charset="0"/>
                <a:ea typeface="Calibri" pitchFamily="34" charset="-122"/>
                <a:cs typeface="Calibri" pitchFamily="34" charset="-120"/>
              </a:rPr>
              <a:t>At 15% — category default, a decade in</a:t>
            </a:r>
            <a:endParaRPr lang="en-US" sz="1150" dirty="0"/>
          </a:p>
        </p:txBody>
      </p:sp>
      <p:sp>
        <p:nvSpPr>
          <p:cNvPr id="22" name="Shape 19"/>
          <p:cNvSpPr/>
          <p:nvPr/>
        </p:nvSpPr>
        <p:spPr>
          <a:xfrm>
            <a:off x="5760720" y="4453128"/>
            <a:ext cx="3840480" cy="256032"/>
          </a:xfrm>
          <a:prstGeom prst="roundRect">
            <a:avLst>
              <a:gd name="adj" fmla="val 50000"/>
            </a:avLst>
          </a:prstGeom>
          <a:solidFill>
            <a:srgbClr val="FFFFFF">
              <a:alpha val="10000"/>
            </a:srgbClr>
          </a:solidFill>
          <a:ln/>
        </p:spPr>
      </p:sp>
      <p:sp>
        <p:nvSpPr>
          <p:cNvPr id="23" name="Shape 20"/>
          <p:cNvSpPr/>
          <p:nvPr/>
        </p:nvSpPr>
        <p:spPr>
          <a:xfrm>
            <a:off x="5760720" y="4453128"/>
            <a:ext cx="2304288" cy="256032"/>
          </a:xfrm>
          <a:prstGeom prst="roundRect">
            <a:avLst>
              <a:gd name="adj" fmla="val 50000"/>
            </a:avLst>
          </a:prstGeom>
          <a:solidFill>
            <a:srgbClr val="6C4FE0"/>
          </a:solidFill>
          <a:ln/>
        </p:spPr>
      </p:sp>
      <p:sp>
        <p:nvSpPr>
          <p:cNvPr id="24" name="Text 21"/>
          <p:cNvSpPr/>
          <p:nvPr/>
        </p:nvSpPr>
        <p:spPr>
          <a:xfrm>
            <a:off x="9738360" y="4370832"/>
            <a:ext cx="1554480" cy="420624"/>
          </a:xfrm>
          <a:prstGeom prst="rect">
            <a:avLst/>
          </a:prstGeom>
          <a:noFill/>
          <a:ln/>
        </p:spPr>
        <p:txBody>
          <a:bodyPr wrap="square" lIns="0" tIns="0" rIns="0" bIns="0" rtlCol="0" anchor="ctr"/>
          <a:lstStyle/>
          <a:p>
            <a:pPr algn="r" indent="0" marL="0">
              <a:buNone/>
            </a:pPr>
            <a:r>
              <a:rPr lang="en-US" sz="1600" b="1" dirty="0">
                <a:solidFill>
                  <a:srgbClr val="6C4FE0"/>
                </a:solidFill>
                <a:latin typeface="Cambria" pitchFamily="34" charset="0"/>
                <a:ea typeface="Cambria" pitchFamily="34" charset="-122"/>
                <a:cs typeface="Cambria" pitchFamily="34" charset="-120"/>
              </a:rPr>
              <a:t>$49M</a:t>
            </a:r>
            <a:endParaRPr lang="en-US" sz="1600" dirty="0"/>
          </a:p>
        </p:txBody>
      </p:sp>
      <p:sp>
        <p:nvSpPr>
          <p:cNvPr id="25" name="Text 22"/>
          <p:cNvSpPr/>
          <p:nvPr/>
        </p:nvSpPr>
        <p:spPr>
          <a:xfrm>
            <a:off x="640080" y="4965192"/>
            <a:ext cx="4937760" cy="420624"/>
          </a:xfrm>
          <a:prstGeom prst="rect">
            <a:avLst/>
          </a:prstGeom>
          <a:noFill/>
          <a:ln/>
        </p:spPr>
        <p:txBody>
          <a:bodyPr wrap="square" lIns="0" tIns="0" rIns="0" bIns="0" rtlCol="0" anchor="ctr"/>
          <a:lstStyle/>
          <a:p>
            <a:pPr indent="0" marL="0">
              <a:buNone/>
            </a:pPr>
            <a:r>
              <a:rPr lang="en-US" sz="1150" dirty="0">
                <a:solidFill>
                  <a:srgbClr val="E3DCF2"/>
                </a:solidFill>
                <a:latin typeface="Calibri" pitchFamily="34" charset="0"/>
                <a:ea typeface="Calibri" pitchFamily="34" charset="-122"/>
                <a:cs typeface="Calibri" pitchFamily="34" charset="-120"/>
              </a:rPr>
              <a:t>India at 5% of 6.0M × $45</a:t>
            </a:r>
            <a:endParaRPr lang="en-US" sz="1150" dirty="0"/>
          </a:p>
        </p:txBody>
      </p:sp>
      <p:sp>
        <p:nvSpPr>
          <p:cNvPr id="26" name="Shape 23"/>
          <p:cNvSpPr/>
          <p:nvPr/>
        </p:nvSpPr>
        <p:spPr>
          <a:xfrm>
            <a:off x="5760720" y="5047488"/>
            <a:ext cx="3840480" cy="256032"/>
          </a:xfrm>
          <a:prstGeom prst="roundRect">
            <a:avLst>
              <a:gd name="adj" fmla="val 50000"/>
            </a:avLst>
          </a:prstGeom>
          <a:solidFill>
            <a:srgbClr val="FFFFFF">
              <a:alpha val="10000"/>
            </a:srgbClr>
          </a:solidFill>
          <a:ln/>
        </p:spPr>
      </p:sp>
      <p:sp>
        <p:nvSpPr>
          <p:cNvPr id="27" name="Shape 24"/>
          <p:cNvSpPr/>
          <p:nvPr/>
        </p:nvSpPr>
        <p:spPr>
          <a:xfrm>
            <a:off x="5760720" y="5047488"/>
            <a:ext cx="1459382" cy="256032"/>
          </a:xfrm>
          <a:prstGeom prst="roundRect">
            <a:avLst>
              <a:gd name="adj" fmla="val 50000"/>
            </a:avLst>
          </a:prstGeom>
          <a:solidFill>
            <a:srgbClr val="178A4C"/>
          </a:solidFill>
          <a:ln/>
        </p:spPr>
      </p:sp>
      <p:sp>
        <p:nvSpPr>
          <p:cNvPr id="28" name="Text 25"/>
          <p:cNvSpPr/>
          <p:nvPr/>
        </p:nvSpPr>
        <p:spPr>
          <a:xfrm>
            <a:off x="9738360" y="4965192"/>
            <a:ext cx="1554480" cy="420624"/>
          </a:xfrm>
          <a:prstGeom prst="rect">
            <a:avLst/>
          </a:prstGeom>
          <a:noFill/>
          <a:ln/>
        </p:spPr>
        <p:txBody>
          <a:bodyPr wrap="square" lIns="0" tIns="0" rIns="0" bIns="0" rtlCol="0" anchor="ctr"/>
          <a:lstStyle/>
          <a:p>
            <a:pPr algn="r" indent="0" marL="0">
              <a:buNone/>
            </a:pPr>
            <a:r>
              <a:rPr lang="en-US" sz="1600" b="1" dirty="0">
                <a:solidFill>
                  <a:srgbClr val="178A4C"/>
                </a:solidFill>
                <a:latin typeface="Cambria" pitchFamily="34" charset="0"/>
                <a:ea typeface="Cambria" pitchFamily="34" charset="-122"/>
                <a:cs typeface="Cambria" pitchFamily="34" charset="-120"/>
              </a:rPr>
              <a:t>$13.5M</a:t>
            </a:r>
            <a:endParaRPr lang="en-US" sz="1600" dirty="0"/>
          </a:p>
        </p:txBody>
      </p:sp>
      <p:sp>
        <p:nvSpPr>
          <p:cNvPr id="29" name="Shape 26"/>
          <p:cNvSpPr/>
          <p:nvPr/>
        </p:nvSpPr>
        <p:spPr>
          <a:xfrm>
            <a:off x="640080" y="5614416"/>
            <a:ext cx="10607040" cy="1115568"/>
          </a:xfrm>
          <a:prstGeom prst="roundRect">
            <a:avLst>
              <a:gd name="adj" fmla="val 9836"/>
            </a:avLst>
          </a:prstGeom>
          <a:solidFill>
            <a:srgbClr val="FFFFFF">
              <a:alpha val="7000"/>
            </a:srgbClr>
          </a:solidFill>
          <a:ln/>
        </p:spPr>
      </p:sp>
      <p:sp>
        <p:nvSpPr>
          <p:cNvPr id="30" name="Text 27"/>
          <p:cNvSpPr/>
          <p:nvPr/>
        </p:nvSpPr>
        <p:spPr>
          <a:xfrm>
            <a:off x="932688" y="5705856"/>
            <a:ext cx="3657600" cy="256032"/>
          </a:xfrm>
          <a:prstGeom prst="rect">
            <a:avLst/>
          </a:prstGeom>
          <a:noFill/>
          <a:ln/>
        </p:spPr>
        <p:txBody>
          <a:bodyPr wrap="square" lIns="0" tIns="0" rIns="0" bIns="0" rtlCol="0" anchor="ctr"/>
          <a:lstStyle/>
          <a:p>
            <a:pPr indent="0" marL="0">
              <a:buNone/>
            </a:pPr>
            <a:r>
              <a:rPr lang="en-US" sz="1000" b="1" spc="160" kern="0" dirty="0">
                <a:solidFill>
                  <a:srgbClr val="F0B429"/>
                </a:solidFill>
                <a:latin typeface="Calibri" pitchFamily="34" charset="0"/>
                <a:ea typeface="Calibri" pitchFamily="34" charset="-122"/>
                <a:cs typeface="Calibri" pitchFamily="34" charset="-120"/>
              </a:rPr>
              <a:t>The honest read</a:t>
            </a:r>
            <a:endParaRPr lang="en-US" sz="1000" dirty="0"/>
          </a:p>
        </p:txBody>
      </p:sp>
      <p:sp>
        <p:nvSpPr>
          <p:cNvPr id="31" name="Text 28"/>
          <p:cNvSpPr/>
          <p:nvPr/>
        </p:nvSpPr>
        <p:spPr>
          <a:xfrm>
            <a:off x="932688" y="5943600"/>
            <a:ext cx="10012680" cy="749808"/>
          </a:xfrm>
          <a:prstGeom prst="rect">
            <a:avLst/>
          </a:prstGeom>
          <a:noFill/>
          <a:ln/>
        </p:spPr>
        <p:txBody>
          <a:bodyPr wrap="square" lIns="0" tIns="0" rIns="0" bIns="0" rtlCol="0" anchor="ctr"/>
          <a:lstStyle/>
          <a:p>
            <a:pPr indent="0" marL="0">
              <a:lnSpc>
                <a:spcPts val="1350"/>
              </a:lnSpc>
              <a:buNone/>
            </a:pPr>
            <a:r>
              <a:rPr lang="en-US" sz="1050" dirty="0">
                <a:solidFill>
                  <a:srgbClr val="E3DCF2"/>
                </a:solidFill>
                <a:latin typeface="Calibri" pitchFamily="34" charset="0"/>
                <a:ea typeface="Calibri" pitchFamily="34" charset="-122"/>
                <a:cs typeface="Calibri" pitchFamily="34" charset="-120"/>
              </a:rPr>
              <a:t>At tutor-adjacent pricing the realistic ceiling as category leader is $45–90M of revenue. Year 5 needs 0.9% of the diaspora, which is the strongest fact on this slide: the plan does not require winning the market, only being findable in it. But the same cost rules that guarantee profit also cap the pace — 18% of revenue on media cannot outrun a competitor who raises $20M and spends it. We win slowly or not at all, and the deck should not pretend otherwise.</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02336"/>
            <a:ext cx="7315200" cy="256032"/>
          </a:xfrm>
          <a:prstGeom prst="rect">
            <a:avLst/>
          </a:prstGeom>
          <a:noFill/>
          <a:ln/>
        </p:spPr>
        <p:txBody>
          <a:bodyPr wrap="square" lIns="0" tIns="0" rIns="0" bIns="0" rtlCol="0" anchor="ctr"/>
          <a:lstStyle/>
          <a:p>
            <a:pPr indent="0" marL="0">
              <a:buNone/>
            </a:pPr>
            <a:r>
              <a:rPr lang="en-US" sz="1150" b="1" spc="240" kern="0" dirty="0">
                <a:solidFill>
                  <a:srgbClr val="6C4FE0"/>
                </a:solidFill>
                <a:latin typeface="Calibri" pitchFamily="34" charset="0"/>
                <a:ea typeface="Calibri" pitchFamily="34" charset="-122"/>
                <a:cs typeface="Calibri" pitchFamily="34" charset="-120"/>
              </a:rPr>
              <a:t>COST STRUCTURE · BASE CASE</a:t>
            </a:r>
            <a:endParaRPr lang="en-US" sz="1150" dirty="0"/>
          </a:p>
        </p:txBody>
      </p:sp>
      <p:sp>
        <p:nvSpPr>
          <p:cNvPr id="3" name="Text 1"/>
          <p:cNvSpPr/>
          <p:nvPr/>
        </p:nvSpPr>
        <p:spPr>
          <a:xfrm>
            <a:off x="640080" y="694944"/>
            <a:ext cx="10607040" cy="749808"/>
          </a:xfrm>
          <a:prstGeom prst="rect">
            <a:avLst/>
          </a:prstGeom>
          <a:noFill/>
          <a:ln/>
        </p:spPr>
        <p:txBody>
          <a:bodyPr wrap="square" lIns="0" tIns="0" rIns="0" bIns="0" rtlCol="0" anchor="ctr"/>
          <a:lstStyle/>
          <a:p>
            <a:pPr indent="0" marL="0">
              <a:buNone/>
            </a:pPr>
            <a:r>
              <a:rPr lang="en-US" sz="2900" b="1" dirty="0">
                <a:solidFill>
                  <a:srgbClr val="241E33"/>
                </a:solidFill>
                <a:latin typeface="Cambria" pitchFamily="34" charset="0"/>
                <a:ea typeface="Cambria" pitchFamily="34" charset="-122"/>
                <a:cs typeface="Cambria" pitchFamily="34" charset="-120"/>
              </a:rPr>
              <a:t>Costs are fractions, not budgets</a:t>
            </a:r>
            <a:endParaRPr lang="en-US" sz="2900" dirty="0"/>
          </a:p>
        </p:txBody>
      </p:sp>
      <p:sp>
        <p:nvSpPr>
          <p:cNvPr id="4" name="Text 2"/>
          <p:cNvSpPr/>
          <p:nvPr/>
        </p:nvSpPr>
        <p:spPr>
          <a:xfrm>
            <a:off x="640080" y="1426464"/>
            <a:ext cx="10607040" cy="475488"/>
          </a:xfrm>
          <a:prstGeom prst="rect">
            <a:avLst/>
          </a:prstGeom>
          <a:noFill/>
          <a:ln/>
        </p:spPr>
        <p:txBody>
          <a:bodyPr wrap="square" lIns="0" tIns="0" rIns="0" bIns="0" rtlCol="0" anchor="ctr"/>
          <a:lstStyle/>
          <a:p>
            <a:pPr indent="0" marL="0">
              <a:buNone/>
            </a:pPr>
            <a:r>
              <a:rPr lang="en-US" sz="1400" dirty="0">
                <a:solidFill>
                  <a:srgbClr val="7A7291"/>
                </a:solidFill>
                <a:latin typeface="Calibri" pitchFamily="34" charset="0"/>
                <a:ea typeface="Calibri" pitchFamily="34" charset="-122"/>
                <a:cs typeface="Calibri" pitchFamily="34" charset="-120"/>
              </a:rPr>
              <a:t>Only two lines are fixed, and together they are smaller than one week of Year 1 sales. Everything else moves with revenue by rule — which is the mechanism, not the forecast, behind never losing money.</a:t>
            </a:r>
            <a:endParaRPr lang="en-US" sz="1400" dirty="0"/>
          </a:p>
        </p:txBody>
      </p:sp>
      <p:sp>
        <p:nvSpPr>
          <p:cNvPr id="5" name="Text 3"/>
          <p:cNvSpPr/>
          <p:nvPr/>
        </p:nvSpPr>
        <p:spPr>
          <a:xfrm>
            <a:off x="6035040" y="2011680"/>
            <a:ext cx="932688" cy="256032"/>
          </a:xfrm>
          <a:prstGeom prst="rect">
            <a:avLst/>
          </a:prstGeom>
          <a:noFill/>
          <a:ln/>
        </p:spPr>
        <p:txBody>
          <a:bodyPr wrap="square" lIns="0" tIns="0" rIns="0" bIns="0" rtlCol="0" anchor="ctr"/>
          <a:lstStyle/>
          <a:p>
            <a:pPr algn="ctr" indent="0" marL="0">
              <a:buNone/>
            </a:pPr>
            <a:r>
              <a:rPr lang="en-US" sz="1050" b="1" dirty="0">
                <a:solidFill>
                  <a:srgbClr val="4A31B0"/>
                </a:solidFill>
                <a:latin typeface="Calibri" pitchFamily="34" charset="0"/>
                <a:ea typeface="Calibri" pitchFamily="34" charset="-122"/>
                <a:cs typeface="Calibri" pitchFamily="34" charset="-120"/>
              </a:rPr>
              <a:t>Y1</a:t>
            </a:r>
            <a:endParaRPr lang="en-US" sz="1050" dirty="0"/>
          </a:p>
        </p:txBody>
      </p:sp>
      <p:sp>
        <p:nvSpPr>
          <p:cNvPr id="6" name="Text 4"/>
          <p:cNvSpPr/>
          <p:nvPr/>
        </p:nvSpPr>
        <p:spPr>
          <a:xfrm>
            <a:off x="7059168" y="2011680"/>
            <a:ext cx="932688" cy="256032"/>
          </a:xfrm>
          <a:prstGeom prst="rect">
            <a:avLst/>
          </a:prstGeom>
          <a:noFill/>
          <a:ln/>
        </p:spPr>
        <p:txBody>
          <a:bodyPr wrap="square" lIns="0" tIns="0" rIns="0" bIns="0" rtlCol="0" anchor="ctr"/>
          <a:lstStyle/>
          <a:p>
            <a:pPr algn="ctr" indent="0" marL="0">
              <a:buNone/>
            </a:pPr>
            <a:r>
              <a:rPr lang="en-US" sz="1050" b="1" dirty="0">
                <a:solidFill>
                  <a:srgbClr val="4A31B0"/>
                </a:solidFill>
                <a:latin typeface="Calibri" pitchFamily="34" charset="0"/>
                <a:ea typeface="Calibri" pitchFamily="34" charset="-122"/>
                <a:cs typeface="Calibri" pitchFamily="34" charset="-120"/>
              </a:rPr>
              <a:t>Y2</a:t>
            </a:r>
            <a:endParaRPr lang="en-US" sz="1050" dirty="0"/>
          </a:p>
        </p:txBody>
      </p:sp>
      <p:sp>
        <p:nvSpPr>
          <p:cNvPr id="7" name="Text 5"/>
          <p:cNvSpPr/>
          <p:nvPr/>
        </p:nvSpPr>
        <p:spPr>
          <a:xfrm>
            <a:off x="8083296" y="2011680"/>
            <a:ext cx="932688" cy="256032"/>
          </a:xfrm>
          <a:prstGeom prst="rect">
            <a:avLst/>
          </a:prstGeom>
          <a:noFill/>
          <a:ln/>
        </p:spPr>
        <p:txBody>
          <a:bodyPr wrap="square" lIns="0" tIns="0" rIns="0" bIns="0" rtlCol="0" anchor="ctr"/>
          <a:lstStyle/>
          <a:p>
            <a:pPr algn="ctr" indent="0" marL="0">
              <a:buNone/>
            </a:pPr>
            <a:r>
              <a:rPr lang="en-US" sz="1050" b="1" dirty="0">
                <a:solidFill>
                  <a:srgbClr val="4A31B0"/>
                </a:solidFill>
                <a:latin typeface="Calibri" pitchFamily="34" charset="0"/>
                <a:ea typeface="Calibri" pitchFamily="34" charset="-122"/>
                <a:cs typeface="Calibri" pitchFamily="34" charset="-120"/>
              </a:rPr>
              <a:t>Y3</a:t>
            </a:r>
            <a:endParaRPr lang="en-US" sz="1050" dirty="0"/>
          </a:p>
        </p:txBody>
      </p:sp>
      <p:sp>
        <p:nvSpPr>
          <p:cNvPr id="8" name="Text 6"/>
          <p:cNvSpPr/>
          <p:nvPr/>
        </p:nvSpPr>
        <p:spPr>
          <a:xfrm>
            <a:off x="9107424" y="2011680"/>
            <a:ext cx="932688" cy="256032"/>
          </a:xfrm>
          <a:prstGeom prst="rect">
            <a:avLst/>
          </a:prstGeom>
          <a:noFill/>
          <a:ln/>
        </p:spPr>
        <p:txBody>
          <a:bodyPr wrap="square" lIns="0" tIns="0" rIns="0" bIns="0" rtlCol="0" anchor="ctr"/>
          <a:lstStyle/>
          <a:p>
            <a:pPr algn="ctr" indent="0" marL="0">
              <a:buNone/>
            </a:pPr>
            <a:r>
              <a:rPr lang="en-US" sz="1050" b="1" dirty="0">
                <a:solidFill>
                  <a:srgbClr val="4A31B0"/>
                </a:solidFill>
                <a:latin typeface="Calibri" pitchFamily="34" charset="0"/>
                <a:ea typeface="Calibri" pitchFamily="34" charset="-122"/>
                <a:cs typeface="Calibri" pitchFamily="34" charset="-120"/>
              </a:rPr>
              <a:t>Y4</a:t>
            </a:r>
            <a:endParaRPr lang="en-US" sz="1050" dirty="0"/>
          </a:p>
        </p:txBody>
      </p:sp>
      <p:sp>
        <p:nvSpPr>
          <p:cNvPr id="9" name="Text 7"/>
          <p:cNvSpPr/>
          <p:nvPr/>
        </p:nvSpPr>
        <p:spPr>
          <a:xfrm>
            <a:off x="10131552" y="2011680"/>
            <a:ext cx="932688" cy="256032"/>
          </a:xfrm>
          <a:prstGeom prst="rect">
            <a:avLst/>
          </a:prstGeom>
          <a:noFill/>
          <a:ln/>
        </p:spPr>
        <p:txBody>
          <a:bodyPr wrap="square" lIns="0" tIns="0" rIns="0" bIns="0" rtlCol="0" anchor="ctr"/>
          <a:lstStyle/>
          <a:p>
            <a:pPr algn="ctr" indent="0" marL="0">
              <a:buNone/>
            </a:pPr>
            <a:r>
              <a:rPr lang="en-US" sz="1050" b="1" dirty="0">
                <a:solidFill>
                  <a:srgbClr val="4A31B0"/>
                </a:solidFill>
                <a:latin typeface="Calibri" pitchFamily="34" charset="0"/>
                <a:ea typeface="Calibri" pitchFamily="34" charset="-122"/>
                <a:cs typeface="Calibri" pitchFamily="34" charset="-120"/>
              </a:rPr>
              <a:t>Y5</a:t>
            </a:r>
            <a:endParaRPr lang="en-US" sz="1050" dirty="0"/>
          </a:p>
        </p:txBody>
      </p:sp>
      <p:sp>
        <p:nvSpPr>
          <p:cNvPr id="10" name="Shape 8"/>
          <p:cNvSpPr/>
          <p:nvPr/>
        </p:nvSpPr>
        <p:spPr>
          <a:xfrm>
            <a:off x="512064" y="2249424"/>
            <a:ext cx="10954512" cy="475488"/>
          </a:xfrm>
          <a:prstGeom prst="roundRect">
            <a:avLst>
              <a:gd name="adj" fmla="val 17308"/>
            </a:avLst>
          </a:prstGeom>
          <a:solidFill>
            <a:srgbClr val="EFEBF8"/>
          </a:solidFill>
          <a:ln/>
        </p:spPr>
      </p:sp>
      <p:sp>
        <p:nvSpPr>
          <p:cNvPr id="11" name="Shape 9"/>
          <p:cNvSpPr/>
          <p:nvPr/>
        </p:nvSpPr>
        <p:spPr>
          <a:xfrm rot="5400000">
            <a:off x="640080" y="2359152"/>
            <a:ext cx="237744" cy="237744"/>
          </a:xfrm>
          <a:prstGeom prst="hexagon">
            <a:avLst/>
          </a:prstGeom>
          <a:solidFill>
            <a:srgbClr val="6C4FE0"/>
          </a:solidFill>
          <a:ln/>
        </p:spPr>
      </p:sp>
      <p:sp>
        <p:nvSpPr>
          <p:cNvPr id="12" name="Text 10"/>
          <p:cNvSpPr/>
          <p:nvPr/>
        </p:nvSpPr>
        <p:spPr>
          <a:xfrm>
            <a:off x="969264" y="2258568"/>
            <a:ext cx="2286000" cy="237744"/>
          </a:xfrm>
          <a:prstGeom prst="rect">
            <a:avLst/>
          </a:prstGeom>
          <a:noFill/>
          <a:ln/>
        </p:spPr>
        <p:txBody>
          <a:bodyPr wrap="square" lIns="0" tIns="0" rIns="0" bIns="0" rtlCol="0" anchor="ctr"/>
          <a:lstStyle/>
          <a:p>
            <a:pPr indent="0" marL="0">
              <a:buNone/>
            </a:pPr>
            <a:r>
              <a:rPr lang="en-US" sz="1150" b="1" dirty="0">
                <a:solidFill>
                  <a:srgbClr val="241E33"/>
                </a:solidFill>
                <a:latin typeface="Cambria" pitchFamily="34" charset="0"/>
                <a:ea typeface="Cambria" pitchFamily="34" charset="-122"/>
                <a:cs typeface="Cambria" pitchFamily="34" charset="-120"/>
              </a:rPr>
              <a:t>Paid media</a:t>
            </a:r>
            <a:endParaRPr lang="en-US" sz="1150" dirty="0"/>
          </a:p>
        </p:txBody>
      </p:sp>
      <p:sp>
        <p:nvSpPr>
          <p:cNvPr id="13" name="Shape 11"/>
          <p:cNvSpPr/>
          <p:nvPr/>
        </p:nvSpPr>
        <p:spPr>
          <a:xfrm>
            <a:off x="3291840" y="2304288"/>
            <a:ext cx="1298448" cy="219456"/>
          </a:xfrm>
          <a:prstGeom prst="roundRect">
            <a:avLst>
              <a:gd name="adj" fmla="val 50000"/>
            </a:avLst>
          </a:prstGeom>
          <a:solidFill>
            <a:srgbClr val="6C4FE0"/>
          </a:solidFill>
          <a:ln/>
        </p:spPr>
      </p:sp>
      <p:sp>
        <p:nvSpPr>
          <p:cNvPr id="14" name="Text 12"/>
          <p:cNvSpPr/>
          <p:nvPr/>
        </p:nvSpPr>
        <p:spPr>
          <a:xfrm>
            <a:off x="3291840" y="2304288"/>
            <a:ext cx="1298448"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18% of revenue</a:t>
            </a:r>
            <a:endParaRPr lang="en-US" sz="750" dirty="0"/>
          </a:p>
        </p:txBody>
      </p:sp>
      <p:sp>
        <p:nvSpPr>
          <p:cNvPr id="15" name="Text 13"/>
          <p:cNvSpPr/>
          <p:nvPr/>
        </p:nvSpPr>
        <p:spPr>
          <a:xfrm>
            <a:off x="969264" y="2487168"/>
            <a:ext cx="5029200" cy="256032"/>
          </a:xfrm>
          <a:prstGeom prst="rect">
            <a:avLst/>
          </a:prstGeom>
          <a:noFill/>
          <a:ln/>
        </p:spPr>
        <p:txBody>
          <a:bodyPr wrap="square" lIns="0" tIns="0" rIns="0" bIns="0" rtlCol="0" anchor="ctr"/>
          <a:lstStyle/>
          <a:p>
            <a:pPr indent="0" marL="0">
              <a:buNone/>
            </a:pPr>
            <a:r>
              <a:rPr lang="en-US" sz="800" dirty="0">
                <a:solidFill>
                  <a:srgbClr val="7A7291"/>
                </a:solidFill>
                <a:latin typeface="Calibri" pitchFamily="34" charset="0"/>
                <a:ea typeface="Calibri" pitchFamily="34" charset="-122"/>
                <a:cs typeface="Calibri" pitchFamily="34" charset="-120"/>
              </a:rPr>
              <a:t>Never a budget. Can be switched off in a week without breaking anything.</a:t>
            </a:r>
            <a:endParaRPr lang="en-US" sz="800" dirty="0"/>
          </a:p>
        </p:txBody>
      </p:sp>
      <p:sp>
        <p:nvSpPr>
          <p:cNvPr id="16" name="Text 14"/>
          <p:cNvSpPr/>
          <p:nvPr/>
        </p:nvSpPr>
        <p:spPr>
          <a:xfrm>
            <a:off x="6035040" y="2286000"/>
            <a:ext cx="932688" cy="420624"/>
          </a:xfrm>
          <a:prstGeom prst="rect">
            <a:avLst/>
          </a:prstGeom>
          <a:noFill/>
          <a:ln/>
        </p:spPr>
        <p:txBody>
          <a:bodyPr wrap="square" lIns="0" tIns="0" rIns="0" bIns="0" rtlCol="0" anchor="ctr"/>
          <a:lstStyle/>
          <a:p>
            <a:pPr algn="ctr" indent="0" marL="0">
              <a:buNone/>
            </a:pPr>
            <a:r>
              <a:rPr lang="en-US" sz="1050" dirty="0">
                <a:solidFill>
                  <a:srgbClr val="241E33"/>
                </a:solidFill>
                <a:latin typeface="Calibri" pitchFamily="34" charset="0"/>
                <a:ea typeface="Calibri" pitchFamily="34" charset="-122"/>
                <a:cs typeface="Calibri" pitchFamily="34" charset="-120"/>
              </a:rPr>
              <a:t>$4.7k</a:t>
            </a:r>
            <a:endParaRPr lang="en-US" sz="1050" dirty="0"/>
          </a:p>
        </p:txBody>
      </p:sp>
      <p:sp>
        <p:nvSpPr>
          <p:cNvPr id="17" name="Text 15"/>
          <p:cNvSpPr/>
          <p:nvPr/>
        </p:nvSpPr>
        <p:spPr>
          <a:xfrm>
            <a:off x="7059168" y="2286000"/>
            <a:ext cx="932688" cy="420624"/>
          </a:xfrm>
          <a:prstGeom prst="rect">
            <a:avLst/>
          </a:prstGeom>
          <a:noFill/>
          <a:ln/>
        </p:spPr>
        <p:txBody>
          <a:bodyPr wrap="square" lIns="0" tIns="0" rIns="0" bIns="0" rtlCol="0" anchor="ctr"/>
          <a:lstStyle/>
          <a:p>
            <a:pPr algn="ctr" indent="0" marL="0">
              <a:buNone/>
            </a:pPr>
            <a:r>
              <a:rPr lang="en-US" sz="1050" dirty="0">
                <a:solidFill>
                  <a:srgbClr val="241E33"/>
                </a:solidFill>
                <a:latin typeface="Calibri" pitchFamily="34" charset="0"/>
                <a:ea typeface="Calibri" pitchFamily="34" charset="-122"/>
                <a:cs typeface="Calibri" pitchFamily="34" charset="-120"/>
              </a:rPr>
              <a:t>$29k</a:t>
            </a:r>
            <a:endParaRPr lang="en-US" sz="1050" dirty="0"/>
          </a:p>
        </p:txBody>
      </p:sp>
      <p:sp>
        <p:nvSpPr>
          <p:cNvPr id="18" name="Text 16"/>
          <p:cNvSpPr/>
          <p:nvPr/>
        </p:nvSpPr>
        <p:spPr>
          <a:xfrm>
            <a:off x="8083296" y="2286000"/>
            <a:ext cx="932688" cy="420624"/>
          </a:xfrm>
          <a:prstGeom prst="rect">
            <a:avLst/>
          </a:prstGeom>
          <a:noFill/>
          <a:ln/>
        </p:spPr>
        <p:txBody>
          <a:bodyPr wrap="square" lIns="0" tIns="0" rIns="0" bIns="0" rtlCol="0" anchor="ctr"/>
          <a:lstStyle/>
          <a:p>
            <a:pPr algn="ctr" indent="0" marL="0">
              <a:buNone/>
            </a:pPr>
            <a:r>
              <a:rPr lang="en-US" sz="1050" dirty="0">
                <a:solidFill>
                  <a:srgbClr val="241E33"/>
                </a:solidFill>
                <a:latin typeface="Calibri" pitchFamily="34" charset="0"/>
                <a:ea typeface="Calibri" pitchFamily="34" charset="-122"/>
                <a:cs typeface="Calibri" pitchFamily="34" charset="-120"/>
              </a:rPr>
              <a:t>$108k</a:t>
            </a:r>
            <a:endParaRPr lang="en-US" sz="1050" dirty="0"/>
          </a:p>
        </p:txBody>
      </p:sp>
      <p:sp>
        <p:nvSpPr>
          <p:cNvPr id="19" name="Text 17"/>
          <p:cNvSpPr/>
          <p:nvPr/>
        </p:nvSpPr>
        <p:spPr>
          <a:xfrm>
            <a:off x="9107424" y="2286000"/>
            <a:ext cx="932688" cy="420624"/>
          </a:xfrm>
          <a:prstGeom prst="rect">
            <a:avLst/>
          </a:prstGeom>
          <a:noFill/>
          <a:ln/>
        </p:spPr>
        <p:txBody>
          <a:bodyPr wrap="square" lIns="0" tIns="0" rIns="0" bIns="0" rtlCol="0" anchor="ctr"/>
          <a:lstStyle/>
          <a:p>
            <a:pPr algn="ctr" indent="0" marL="0">
              <a:buNone/>
            </a:pPr>
            <a:r>
              <a:rPr lang="en-US" sz="1050" dirty="0">
                <a:solidFill>
                  <a:srgbClr val="241E33"/>
                </a:solidFill>
                <a:latin typeface="Calibri" pitchFamily="34" charset="0"/>
                <a:ea typeface="Calibri" pitchFamily="34" charset="-122"/>
                <a:cs typeface="Calibri" pitchFamily="34" charset="-120"/>
              </a:rPr>
              <a:t>$280k</a:t>
            </a:r>
            <a:endParaRPr lang="en-US" sz="1050" dirty="0"/>
          </a:p>
        </p:txBody>
      </p:sp>
      <p:sp>
        <p:nvSpPr>
          <p:cNvPr id="20" name="Text 18"/>
          <p:cNvSpPr/>
          <p:nvPr/>
        </p:nvSpPr>
        <p:spPr>
          <a:xfrm>
            <a:off x="10131552" y="2286000"/>
            <a:ext cx="932688" cy="420624"/>
          </a:xfrm>
          <a:prstGeom prst="rect">
            <a:avLst/>
          </a:prstGeom>
          <a:noFill/>
          <a:ln/>
        </p:spPr>
        <p:txBody>
          <a:bodyPr wrap="square" lIns="0" tIns="0" rIns="0" bIns="0" rtlCol="0" anchor="ctr"/>
          <a:lstStyle/>
          <a:p>
            <a:pPr algn="ctr" indent="0" marL="0">
              <a:buNone/>
            </a:pPr>
            <a:r>
              <a:rPr lang="en-US" sz="1050" dirty="0">
                <a:solidFill>
                  <a:srgbClr val="241E33"/>
                </a:solidFill>
                <a:latin typeface="Calibri" pitchFamily="34" charset="0"/>
                <a:ea typeface="Calibri" pitchFamily="34" charset="-122"/>
                <a:cs typeface="Calibri" pitchFamily="34" charset="-120"/>
              </a:rPr>
              <a:t>$556k</a:t>
            </a:r>
            <a:endParaRPr lang="en-US" sz="1050" dirty="0"/>
          </a:p>
        </p:txBody>
      </p:sp>
      <p:sp>
        <p:nvSpPr>
          <p:cNvPr id="21" name="Shape 19"/>
          <p:cNvSpPr/>
          <p:nvPr/>
        </p:nvSpPr>
        <p:spPr>
          <a:xfrm rot="5400000">
            <a:off x="640080" y="2871216"/>
            <a:ext cx="237744" cy="237744"/>
          </a:xfrm>
          <a:prstGeom prst="hexagon">
            <a:avLst/>
          </a:prstGeom>
          <a:solidFill>
            <a:srgbClr val="6C4FE0"/>
          </a:solidFill>
          <a:ln/>
        </p:spPr>
      </p:sp>
      <p:sp>
        <p:nvSpPr>
          <p:cNvPr id="22" name="Text 20"/>
          <p:cNvSpPr/>
          <p:nvPr/>
        </p:nvSpPr>
        <p:spPr>
          <a:xfrm>
            <a:off x="969264" y="2770632"/>
            <a:ext cx="2286000" cy="237744"/>
          </a:xfrm>
          <a:prstGeom prst="rect">
            <a:avLst/>
          </a:prstGeom>
          <a:noFill/>
          <a:ln/>
        </p:spPr>
        <p:txBody>
          <a:bodyPr wrap="square" lIns="0" tIns="0" rIns="0" bIns="0" rtlCol="0" anchor="ctr"/>
          <a:lstStyle/>
          <a:p>
            <a:pPr indent="0" marL="0">
              <a:buNone/>
            </a:pPr>
            <a:r>
              <a:rPr lang="en-US" sz="1150" b="1" dirty="0">
                <a:solidFill>
                  <a:srgbClr val="241E33"/>
                </a:solidFill>
                <a:latin typeface="Cambria" pitchFamily="34" charset="0"/>
                <a:ea typeface="Cambria" pitchFamily="34" charset="-122"/>
                <a:cs typeface="Cambria" pitchFamily="34" charset="-120"/>
              </a:rPr>
              <a:t>Content &amp; tools</a:t>
            </a:r>
            <a:endParaRPr lang="en-US" sz="1150" dirty="0"/>
          </a:p>
        </p:txBody>
      </p:sp>
      <p:sp>
        <p:nvSpPr>
          <p:cNvPr id="23" name="Shape 21"/>
          <p:cNvSpPr/>
          <p:nvPr/>
        </p:nvSpPr>
        <p:spPr>
          <a:xfrm>
            <a:off x="3291840" y="2816352"/>
            <a:ext cx="1298448" cy="219456"/>
          </a:xfrm>
          <a:prstGeom prst="roundRect">
            <a:avLst>
              <a:gd name="adj" fmla="val 50000"/>
            </a:avLst>
          </a:prstGeom>
          <a:solidFill>
            <a:srgbClr val="6C4FE0"/>
          </a:solidFill>
          <a:ln/>
        </p:spPr>
      </p:sp>
      <p:sp>
        <p:nvSpPr>
          <p:cNvPr id="24" name="Text 22"/>
          <p:cNvSpPr/>
          <p:nvPr/>
        </p:nvSpPr>
        <p:spPr>
          <a:xfrm>
            <a:off x="3291840" y="2816352"/>
            <a:ext cx="1298448"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12%, floored</a:t>
            </a:r>
            <a:endParaRPr lang="en-US" sz="750" dirty="0"/>
          </a:p>
        </p:txBody>
      </p:sp>
      <p:sp>
        <p:nvSpPr>
          <p:cNvPr id="25" name="Text 23"/>
          <p:cNvSpPr/>
          <p:nvPr/>
        </p:nvSpPr>
        <p:spPr>
          <a:xfrm>
            <a:off x="969264" y="2999232"/>
            <a:ext cx="5029200" cy="256032"/>
          </a:xfrm>
          <a:prstGeom prst="rect">
            <a:avLst/>
          </a:prstGeom>
          <a:noFill/>
          <a:ln/>
        </p:spPr>
        <p:txBody>
          <a:bodyPr wrap="square" lIns="0" tIns="0" rIns="0" bIns="0" rtlCol="0" anchor="ctr"/>
          <a:lstStyle/>
          <a:p>
            <a:pPr indent="0" marL="0">
              <a:buNone/>
            </a:pPr>
            <a:r>
              <a:rPr lang="en-US" sz="800" dirty="0">
                <a:solidFill>
                  <a:srgbClr val="7A7291"/>
                </a:solidFill>
                <a:latin typeface="Calibri" pitchFamily="34" charset="0"/>
                <a:ea typeface="Calibri" pitchFamily="34" charset="-122"/>
                <a:cs typeface="Calibri" pitchFamily="34" charset="-120"/>
              </a:rPr>
              <a:t>AI credits, art, audio, contract writers. Floored in Y1–Y2 because some spend is real even at tiny revenue.</a:t>
            </a:r>
            <a:endParaRPr lang="en-US" sz="800" dirty="0"/>
          </a:p>
        </p:txBody>
      </p:sp>
      <p:sp>
        <p:nvSpPr>
          <p:cNvPr id="26" name="Text 24"/>
          <p:cNvSpPr/>
          <p:nvPr/>
        </p:nvSpPr>
        <p:spPr>
          <a:xfrm>
            <a:off x="6035040" y="2798064"/>
            <a:ext cx="932688" cy="420624"/>
          </a:xfrm>
          <a:prstGeom prst="rect">
            <a:avLst/>
          </a:prstGeom>
          <a:noFill/>
          <a:ln/>
        </p:spPr>
        <p:txBody>
          <a:bodyPr wrap="square" lIns="0" tIns="0" rIns="0" bIns="0" rtlCol="0" anchor="ctr"/>
          <a:lstStyle/>
          <a:p>
            <a:pPr algn="ctr" indent="0" marL="0">
              <a:buNone/>
            </a:pPr>
            <a:r>
              <a:rPr lang="en-US" sz="1050" dirty="0">
                <a:solidFill>
                  <a:srgbClr val="241E33"/>
                </a:solidFill>
                <a:latin typeface="Calibri" pitchFamily="34" charset="0"/>
                <a:ea typeface="Calibri" pitchFamily="34" charset="-122"/>
                <a:cs typeface="Calibri" pitchFamily="34" charset="-120"/>
              </a:rPr>
              <a:t>$11k</a:t>
            </a:r>
            <a:endParaRPr lang="en-US" sz="1050" dirty="0"/>
          </a:p>
        </p:txBody>
      </p:sp>
      <p:sp>
        <p:nvSpPr>
          <p:cNvPr id="27" name="Text 25"/>
          <p:cNvSpPr/>
          <p:nvPr/>
        </p:nvSpPr>
        <p:spPr>
          <a:xfrm>
            <a:off x="7059168" y="2798064"/>
            <a:ext cx="932688" cy="420624"/>
          </a:xfrm>
          <a:prstGeom prst="rect">
            <a:avLst/>
          </a:prstGeom>
          <a:noFill/>
          <a:ln/>
        </p:spPr>
        <p:txBody>
          <a:bodyPr wrap="square" lIns="0" tIns="0" rIns="0" bIns="0" rtlCol="0" anchor="ctr"/>
          <a:lstStyle/>
          <a:p>
            <a:pPr algn="ctr" indent="0" marL="0">
              <a:buNone/>
            </a:pPr>
            <a:r>
              <a:rPr lang="en-US" sz="1050" dirty="0">
                <a:solidFill>
                  <a:srgbClr val="241E33"/>
                </a:solidFill>
                <a:latin typeface="Calibri" pitchFamily="34" charset="0"/>
                <a:ea typeface="Calibri" pitchFamily="34" charset="-122"/>
                <a:cs typeface="Calibri" pitchFamily="34" charset="-120"/>
              </a:rPr>
              <a:t>$34k</a:t>
            </a:r>
            <a:endParaRPr lang="en-US" sz="1050" dirty="0"/>
          </a:p>
        </p:txBody>
      </p:sp>
      <p:sp>
        <p:nvSpPr>
          <p:cNvPr id="28" name="Text 26"/>
          <p:cNvSpPr/>
          <p:nvPr/>
        </p:nvSpPr>
        <p:spPr>
          <a:xfrm>
            <a:off x="8083296" y="2798064"/>
            <a:ext cx="932688" cy="420624"/>
          </a:xfrm>
          <a:prstGeom prst="rect">
            <a:avLst/>
          </a:prstGeom>
          <a:noFill/>
          <a:ln/>
        </p:spPr>
        <p:txBody>
          <a:bodyPr wrap="square" lIns="0" tIns="0" rIns="0" bIns="0" rtlCol="0" anchor="ctr"/>
          <a:lstStyle/>
          <a:p>
            <a:pPr algn="ctr" indent="0" marL="0">
              <a:buNone/>
            </a:pPr>
            <a:r>
              <a:rPr lang="en-US" sz="1050" dirty="0">
                <a:solidFill>
                  <a:srgbClr val="241E33"/>
                </a:solidFill>
                <a:latin typeface="Calibri" pitchFamily="34" charset="0"/>
                <a:ea typeface="Calibri" pitchFamily="34" charset="-122"/>
                <a:cs typeface="Calibri" pitchFamily="34" charset="-120"/>
              </a:rPr>
              <a:t>$72k</a:t>
            </a:r>
            <a:endParaRPr lang="en-US" sz="1050" dirty="0"/>
          </a:p>
        </p:txBody>
      </p:sp>
      <p:sp>
        <p:nvSpPr>
          <p:cNvPr id="29" name="Text 27"/>
          <p:cNvSpPr/>
          <p:nvPr/>
        </p:nvSpPr>
        <p:spPr>
          <a:xfrm>
            <a:off x="9107424" y="2798064"/>
            <a:ext cx="932688" cy="420624"/>
          </a:xfrm>
          <a:prstGeom prst="rect">
            <a:avLst/>
          </a:prstGeom>
          <a:noFill/>
          <a:ln/>
        </p:spPr>
        <p:txBody>
          <a:bodyPr wrap="square" lIns="0" tIns="0" rIns="0" bIns="0" rtlCol="0" anchor="ctr"/>
          <a:lstStyle/>
          <a:p>
            <a:pPr algn="ctr" indent="0" marL="0">
              <a:buNone/>
            </a:pPr>
            <a:r>
              <a:rPr lang="en-US" sz="1050" dirty="0">
                <a:solidFill>
                  <a:srgbClr val="241E33"/>
                </a:solidFill>
                <a:latin typeface="Calibri" pitchFamily="34" charset="0"/>
                <a:ea typeface="Calibri" pitchFamily="34" charset="-122"/>
                <a:cs typeface="Calibri" pitchFamily="34" charset="-120"/>
              </a:rPr>
              <a:t>$186k</a:t>
            </a:r>
            <a:endParaRPr lang="en-US" sz="1050" dirty="0"/>
          </a:p>
        </p:txBody>
      </p:sp>
      <p:sp>
        <p:nvSpPr>
          <p:cNvPr id="30" name="Text 28"/>
          <p:cNvSpPr/>
          <p:nvPr/>
        </p:nvSpPr>
        <p:spPr>
          <a:xfrm>
            <a:off x="10131552" y="2798064"/>
            <a:ext cx="932688" cy="420624"/>
          </a:xfrm>
          <a:prstGeom prst="rect">
            <a:avLst/>
          </a:prstGeom>
          <a:noFill/>
          <a:ln/>
        </p:spPr>
        <p:txBody>
          <a:bodyPr wrap="square" lIns="0" tIns="0" rIns="0" bIns="0" rtlCol="0" anchor="ctr"/>
          <a:lstStyle/>
          <a:p>
            <a:pPr algn="ctr" indent="0" marL="0">
              <a:buNone/>
            </a:pPr>
            <a:r>
              <a:rPr lang="en-US" sz="1050" dirty="0">
                <a:solidFill>
                  <a:srgbClr val="241E33"/>
                </a:solidFill>
                <a:latin typeface="Calibri" pitchFamily="34" charset="0"/>
                <a:ea typeface="Calibri" pitchFamily="34" charset="-122"/>
                <a:cs typeface="Calibri" pitchFamily="34" charset="-120"/>
              </a:rPr>
              <a:t>$371k</a:t>
            </a:r>
            <a:endParaRPr lang="en-US" sz="1050" dirty="0"/>
          </a:p>
        </p:txBody>
      </p:sp>
      <p:sp>
        <p:nvSpPr>
          <p:cNvPr id="31" name="Shape 29"/>
          <p:cNvSpPr/>
          <p:nvPr/>
        </p:nvSpPr>
        <p:spPr>
          <a:xfrm>
            <a:off x="512064" y="3273552"/>
            <a:ext cx="10954512" cy="475488"/>
          </a:xfrm>
          <a:prstGeom prst="roundRect">
            <a:avLst>
              <a:gd name="adj" fmla="val 17308"/>
            </a:avLst>
          </a:prstGeom>
          <a:solidFill>
            <a:srgbClr val="EFEBF8"/>
          </a:solidFill>
          <a:ln/>
        </p:spPr>
      </p:sp>
      <p:sp>
        <p:nvSpPr>
          <p:cNvPr id="32" name="Shape 30"/>
          <p:cNvSpPr/>
          <p:nvPr/>
        </p:nvSpPr>
        <p:spPr>
          <a:xfrm rot="5400000">
            <a:off x="640080" y="3383280"/>
            <a:ext cx="237744" cy="237744"/>
          </a:xfrm>
          <a:prstGeom prst="hexagon">
            <a:avLst/>
          </a:prstGeom>
          <a:solidFill>
            <a:srgbClr val="C4453C"/>
          </a:solidFill>
          <a:ln/>
        </p:spPr>
      </p:sp>
      <p:sp>
        <p:nvSpPr>
          <p:cNvPr id="33" name="Text 31"/>
          <p:cNvSpPr/>
          <p:nvPr/>
        </p:nvSpPr>
        <p:spPr>
          <a:xfrm>
            <a:off x="969264" y="3282696"/>
            <a:ext cx="2286000" cy="237744"/>
          </a:xfrm>
          <a:prstGeom prst="rect">
            <a:avLst/>
          </a:prstGeom>
          <a:noFill/>
          <a:ln/>
        </p:spPr>
        <p:txBody>
          <a:bodyPr wrap="square" lIns="0" tIns="0" rIns="0" bIns="0" rtlCol="0" anchor="ctr"/>
          <a:lstStyle/>
          <a:p>
            <a:pPr indent="0" marL="0">
              <a:buNone/>
            </a:pPr>
            <a:r>
              <a:rPr lang="en-US" sz="1150" b="1" dirty="0">
                <a:solidFill>
                  <a:srgbClr val="241E33"/>
                </a:solidFill>
                <a:latin typeface="Cambria" pitchFamily="34" charset="0"/>
                <a:ea typeface="Cambria" pitchFamily="34" charset="-122"/>
                <a:cs typeface="Cambria" pitchFamily="34" charset="-120"/>
              </a:rPr>
              <a:t>People</a:t>
            </a:r>
            <a:endParaRPr lang="en-US" sz="1150" dirty="0"/>
          </a:p>
        </p:txBody>
      </p:sp>
      <p:sp>
        <p:nvSpPr>
          <p:cNvPr id="34" name="Shape 32"/>
          <p:cNvSpPr/>
          <p:nvPr/>
        </p:nvSpPr>
        <p:spPr>
          <a:xfrm>
            <a:off x="3291840" y="3328416"/>
            <a:ext cx="1298448" cy="219456"/>
          </a:xfrm>
          <a:prstGeom prst="roundRect">
            <a:avLst>
              <a:gd name="adj" fmla="val 50000"/>
            </a:avLst>
          </a:prstGeom>
          <a:solidFill>
            <a:srgbClr val="C4453C"/>
          </a:solidFill>
          <a:ln/>
        </p:spPr>
      </p:sp>
      <p:sp>
        <p:nvSpPr>
          <p:cNvPr id="35" name="Text 33"/>
          <p:cNvSpPr/>
          <p:nvPr/>
        </p:nvSpPr>
        <p:spPr>
          <a:xfrm>
            <a:off x="3291840" y="3328416"/>
            <a:ext cx="1298448"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capped at 20%</a:t>
            </a:r>
            <a:endParaRPr lang="en-US" sz="750" dirty="0"/>
          </a:p>
        </p:txBody>
      </p:sp>
      <p:sp>
        <p:nvSpPr>
          <p:cNvPr id="36" name="Text 34"/>
          <p:cNvSpPr/>
          <p:nvPr/>
        </p:nvSpPr>
        <p:spPr>
          <a:xfrm>
            <a:off x="969264" y="3511296"/>
            <a:ext cx="5029200" cy="256032"/>
          </a:xfrm>
          <a:prstGeom prst="rect">
            <a:avLst/>
          </a:prstGeom>
          <a:noFill/>
          <a:ln/>
        </p:spPr>
        <p:txBody>
          <a:bodyPr wrap="square" lIns="0" tIns="0" rIns="0" bIns="0" rtlCol="0" anchor="ctr"/>
          <a:lstStyle/>
          <a:p>
            <a:pPr indent="0" marL="0">
              <a:buNone/>
            </a:pPr>
            <a:r>
              <a:rPr lang="en-US" sz="800" dirty="0">
                <a:solidFill>
                  <a:srgbClr val="7A7291"/>
                </a:solidFill>
                <a:latin typeface="Calibri" pitchFamily="34" charset="0"/>
                <a:ea typeface="Calibri" pitchFamily="34" charset="-122"/>
                <a:cs typeface="Calibri" pitchFamily="34" charset="-120"/>
              </a:rPr>
              <a:t>Founders unpaid until Year 3 — until then EBITDA IS founder pay. First hire Y2 part-time; six by Y5.</a:t>
            </a:r>
            <a:endParaRPr lang="en-US" sz="800" dirty="0"/>
          </a:p>
        </p:txBody>
      </p:sp>
      <p:sp>
        <p:nvSpPr>
          <p:cNvPr id="37" name="Text 35"/>
          <p:cNvSpPr/>
          <p:nvPr/>
        </p:nvSpPr>
        <p:spPr>
          <a:xfrm>
            <a:off x="6035040" y="3310128"/>
            <a:ext cx="932688" cy="420624"/>
          </a:xfrm>
          <a:prstGeom prst="rect">
            <a:avLst/>
          </a:prstGeom>
          <a:noFill/>
          <a:ln/>
        </p:spPr>
        <p:txBody>
          <a:bodyPr wrap="square" lIns="0" tIns="0" rIns="0" bIns="0" rtlCol="0" anchor="ctr"/>
          <a:lstStyle/>
          <a:p>
            <a:pPr algn="ctr" indent="0" marL="0">
              <a:buNone/>
            </a:pPr>
            <a:r>
              <a:rPr lang="en-US" sz="1050" dirty="0">
                <a:solidFill>
                  <a:srgbClr val="E3DCF2"/>
                </a:solidFill>
                <a:latin typeface="Calibri" pitchFamily="34" charset="0"/>
                <a:ea typeface="Calibri" pitchFamily="34" charset="-122"/>
                <a:cs typeface="Calibri" pitchFamily="34" charset="-120"/>
              </a:rPr>
              <a:t>—</a:t>
            </a:r>
            <a:endParaRPr lang="en-US" sz="1050" dirty="0"/>
          </a:p>
        </p:txBody>
      </p:sp>
      <p:sp>
        <p:nvSpPr>
          <p:cNvPr id="38" name="Text 36"/>
          <p:cNvSpPr/>
          <p:nvPr/>
        </p:nvSpPr>
        <p:spPr>
          <a:xfrm>
            <a:off x="7059168" y="3310128"/>
            <a:ext cx="932688" cy="420624"/>
          </a:xfrm>
          <a:prstGeom prst="rect">
            <a:avLst/>
          </a:prstGeom>
          <a:noFill/>
          <a:ln/>
        </p:spPr>
        <p:txBody>
          <a:bodyPr wrap="square" lIns="0" tIns="0" rIns="0" bIns="0" rtlCol="0" anchor="ctr"/>
          <a:lstStyle/>
          <a:p>
            <a:pPr algn="ctr" indent="0" marL="0">
              <a:buNone/>
            </a:pPr>
            <a:r>
              <a:rPr lang="en-US" sz="1050" dirty="0">
                <a:solidFill>
                  <a:srgbClr val="241E33"/>
                </a:solidFill>
                <a:latin typeface="Calibri" pitchFamily="34" charset="0"/>
                <a:ea typeface="Calibri" pitchFamily="34" charset="-122"/>
                <a:cs typeface="Calibri" pitchFamily="34" charset="-120"/>
              </a:rPr>
              <a:t>$24k</a:t>
            </a:r>
            <a:endParaRPr lang="en-US" sz="1050" dirty="0"/>
          </a:p>
        </p:txBody>
      </p:sp>
      <p:sp>
        <p:nvSpPr>
          <p:cNvPr id="39" name="Text 37"/>
          <p:cNvSpPr/>
          <p:nvPr/>
        </p:nvSpPr>
        <p:spPr>
          <a:xfrm>
            <a:off x="8083296" y="3310128"/>
            <a:ext cx="932688" cy="420624"/>
          </a:xfrm>
          <a:prstGeom prst="rect">
            <a:avLst/>
          </a:prstGeom>
          <a:noFill/>
          <a:ln/>
        </p:spPr>
        <p:txBody>
          <a:bodyPr wrap="square" lIns="0" tIns="0" rIns="0" bIns="0" rtlCol="0" anchor="ctr"/>
          <a:lstStyle/>
          <a:p>
            <a:pPr algn="ctr" indent="0" marL="0">
              <a:buNone/>
            </a:pPr>
            <a:r>
              <a:rPr lang="en-US" sz="1050" dirty="0">
                <a:solidFill>
                  <a:srgbClr val="241E33"/>
                </a:solidFill>
                <a:latin typeface="Calibri" pitchFamily="34" charset="0"/>
                <a:ea typeface="Calibri" pitchFamily="34" charset="-122"/>
                <a:cs typeface="Calibri" pitchFamily="34" charset="-120"/>
              </a:rPr>
              <a:t>$96k</a:t>
            </a:r>
            <a:endParaRPr lang="en-US" sz="1050" dirty="0"/>
          </a:p>
        </p:txBody>
      </p:sp>
      <p:sp>
        <p:nvSpPr>
          <p:cNvPr id="40" name="Text 38"/>
          <p:cNvSpPr/>
          <p:nvPr/>
        </p:nvSpPr>
        <p:spPr>
          <a:xfrm>
            <a:off x="9107424" y="3310128"/>
            <a:ext cx="932688" cy="420624"/>
          </a:xfrm>
          <a:prstGeom prst="rect">
            <a:avLst/>
          </a:prstGeom>
          <a:noFill/>
          <a:ln/>
        </p:spPr>
        <p:txBody>
          <a:bodyPr wrap="square" lIns="0" tIns="0" rIns="0" bIns="0" rtlCol="0" anchor="ctr"/>
          <a:lstStyle/>
          <a:p>
            <a:pPr algn="ctr" indent="0" marL="0">
              <a:buNone/>
            </a:pPr>
            <a:r>
              <a:rPr lang="en-US" sz="1050" dirty="0">
                <a:solidFill>
                  <a:srgbClr val="241E33"/>
                </a:solidFill>
                <a:latin typeface="Calibri" pitchFamily="34" charset="0"/>
                <a:ea typeface="Calibri" pitchFamily="34" charset="-122"/>
                <a:cs typeface="Calibri" pitchFamily="34" charset="-120"/>
              </a:rPr>
              <a:t>$300k</a:t>
            </a:r>
            <a:endParaRPr lang="en-US" sz="1050" dirty="0"/>
          </a:p>
        </p:txBody>
      </p:sp>
      <p:sp>
        <p:nvSpPr>
          <p:cNvPr id="41" name="Text 39"/>
          <p:cNvSpPr/>
          <p:nvPr/>
        </p:nvSpPr>
        <p:spPr>
          <a:xfrm>
            <a:off x="10131552" y="3310128"/>
            <a:ext cx="932688" cy="420624"/>
          </a:xfrm>
          <a:prstGeom prst="rect">
            <a:avLst/>
          </a:prstGeom>
          <a:noFill/>
          <a:ln/>
        </p:spPr>
        <p:txBody>
          <a:bodyPr wrap="square" lIns="0" tIns="0" rIns="0" bIns="0" rtlCol="0" anchor="ctr"/>
          <a:lstStyle/>
          <a:p>
            <a:pPr algn="ctr" indent="0" marL="0">
              <a:buNone/>
            </a:pPr>
            <a:r>
              <a:rPr lang="en-US" sz="1050" dirty="0">
                <a:solidFill>
                  <a:srgbClr val="241E33"/>
                </a:solidFill>
                <a:latin typeface="Calibri" pitchFamily="34" charset="0"/>
                <a:ea typeface="Calibri" pitchFamily="34" charset="-122"/>
                <a:cs typeface="Calibri" pitchFamily="34" charset="-120"/>
              </a:rPr>
              <a:t>$620k</a:t>
            </a:r>
            <a:endParaRPr lang="en-US" sz="1050" dirty="0"/>
          </a:p>
        </p:txBody>
      </p:sp>
      <p:sp>
        <p:nvSpPr>
          <p:cNvPr id="42" name="Shape 40"/>
          <p:cNvSpPr/>
          <p:nvPr/>
        </p:nvSpPr>
        <p:spPr>
          <a:xfrm rot="5400000">
            <a:off x="640080" y="3895344"/>
            <a:ext cx="237744" cy="237744"/>
          </a:xfrm>
          <a:prstGeom prst="hexagon">
            <a:avLst/>
          </a:prstGeom>
          <a:solidFill>
            <a:srgbClr val="178A4C"/>
          </a:solidFill>
          <a:ln/>
        </p:spPr>
      </p:sp>
      <p:sp>
        <p:nvSpPr>
          <p:cNvPr id="43" name="Text 41"/>
          <p:cNvSpPr/>
          <p:nvPr/>
        </p:nvSpPr>
        <p:spPr>
          <a:xfrm>
            <a:off x="969264" y="3794760"/>
            <a:ext cx="2286000" cy="237744"/>
          </a:xfrm>
          <a:prstGeom prst="rect">
            <a:avLst/>
          </a:prstGeom>
          <a:noFill/>
          <a:ln/>
        </p:spPr>
        <p:txBody>
          <a:bodyPr wrap="square" lIns="0" tIns="0" rIns="0" bIns="0" rtlCol="0" anchor="ctr"/>
          <a:lstStyle/>
          <a:p>
            <a:pPr indent="0" marL="0">
              <a:buNone/>
            </a:pPr>
            <a:r>
              <a:rPr lang="en-US" sz="1150" b="1" dirty="0">
                <a:solidFill>
                  <a:srgbClr val="241E33"/>
                </a:solidFill>
                <a:latin typeface="Cambria" pitchFamily="34" charset="0"/>
                <a:ea typeface="Cambria" pitchFamily="34" charset="-122"/>
                <a:cs typeface="Cambria" pitchFamily="34" charset="-120"/>
              </a:rPr>
              <a:t>Mentors &amp; live delivery</a:t>
            </a:r>
            <a:endParaRPr lang="en-US" sz="1150" dirty="0"/>
          </a:p>
        </p:txBody>
      </p:sp>
      <p:sp>
        <p:nvSpPr>
          <p:cNvPr id="44" name="Shape 42"/>
          <p:cNvSpPr/>
          <p:nvPr/>
        </p:nvSpPr>
        <p:spPr>
          <a:xfrm>
            <a:off x="3291840" y="3840480"/>
            <a:ext cx="1298448" cy="219456"/>
          </a:xfrm>
          <a:prstGeom prst="roundRect">
            <a:avLst>
              <a:gd name="adj" fmla="val 50000"/>
            </a:avLst>
          </a:prstGeom>
          <a:solidFill>
            <a:srgbClr val="178A4C"/>
          </a:solidFill>
          <a:ln/>
        </p:spPr>
      </p:sp>
      <p:sp>
        <p:nvSpPr>
          <p:cNvPr id="45" name="Text 43"/>
          <p:cNvSpPr/>
          <p:nvPr/>
        </p:nvSpPr>
        <p:spPr>
          <a:xfrm>
            <a:off x="3291840" y="3840480"/>
            <a:ext cx="1298448"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50% of cohort rev</a:t>
            </a:r>
            <a:endParaRPr lang="en-US" sz="750" dirty="0"/>
          </a:p>
        </p:txBody>
      </p:sp>
      <p:sp>
        <p:nvSpPr>
          <p:cNvPr id="46" name="Text 44"/>
          <p:cNvSpPr/>
          <p:nvPr/>
        </p:nvSpPr>
        <p:spPr>
          <a:xfrm>
            <a:off x="969264" y="4023360"/>
            <a:ext cx="5029200" cy="256032"/>
          </a:xfrm>
          <a:prstGeom prst="rect">
            <a:avLst/>
          </a:prstGeom>
          <a:noFill/>
          <a:ln/>
        </p:spPr>
        <p:txBody>
          <a:bodyPr wrap="square" lIns="0" tIns="0" rIns="0" bIns="0" rtlCol="0" anchor="ctr"/>
          <a:lstStyle/>
          <a:p>
            <a:pPr indent="0" marL="0">
              <a:buNone/>
            </a:pPr>
            <a:r>
              <a:rPr lang="en-US" sz="800" dirty="0">
                <a:solidFill>
                  <a:srgbClr val="7A7291"/>
                </a:solidFill>
                <a:latin typeface="Calibri" pitchFamily="34" charset="0"/>
                <a:ea typeface="Calibri" pitchFamily="34" charset="-122"/>
                <a:cs typeface="Calibri" pitchFamily="34" charset="-120"/>
              </a:rPr>
              <a:t>A true cost of goods. It exists only when a cohort has already been sold.</a:t>
            </a:r>
            <a:endParaRPr lang="en-US" sz="800" dirty="0"/>
          </a:p>
        </p:txBody>
      </p:sp>
      <p:sp>
        <p:nvSpPr>
          <p:cNvPr id="47" name="Text 45"/>
          <p:cNvSpPr/>
          <p:nvPr/>
        </p:nvSpPr>
        <p:spPr>
          <a:xfrm>
            <a:off x="6035040" y="3822192"/>
            <a:ext cx="932688" cy="420624"/>
          </a:xfrm>
          <a:prstGeom prst="rect">
            <a:avLst/>
          </a:prstGeom>
          <a:noFill/>
          <a:ln/>
        </p:spPr>
        <p:txBody>
          <a:bodyPr wrap="square" lIns="0" tIns="0" rIns="0" bIns="0" rtlCol="0" anchor="ctr"/>
          <a:lstStyle/>
          <a:p>
            <a:pPr algn="ctr" indent="0" marL="0">
              <a:buNone/>
            </a:pPr>
            <a:r>
              <a:rPr lang="en-US" sz="1050" dirty="0">
                <a:solidFill>
                  <a:srgbClr val="E3DCF2"/>
                </a:solidFill>
                <a:latin typeface="Calibri" pitchFamily="34" charset="0"/>
                <a:ea typeface="Calibri" pitchFamily="34" charset="-122"/>
                <a:cs typeface="Calibri" pitchFamily="34" charset="-120"/>
              </a:rPr>
              <a:t>—</a:t>
            </a:r>
            <a:endParaRPr lang="en-US" sz="1050" dirty="0"/>
          </a:p>
        </p:txBody>
      </p:sp>
      <p:sp>
        <p:nvSpPr>
          <p:cNvPr id="48" name="Text 46"/>
          <p:cNvSpPr/>
          <p:nvPr/>
        </p:nvSpPr>
        <p:spPr>
          <a:xfrm>
            <a:off x="7059168" y="3822192"/>
            <a:ext cx="932688" cy="420624"/>
          </a:xfrm>
          <a:prstGeom prst="rect">
            <a:avLst/>
          </a:prstGeom>
          <a:noFill/>
          <a:ln/>
        </p:spPr>
        <p:txBody>
          <a:bodyPr wrap="square" lIns="0" tIns="0" rIns="0" bIns="0" rtlCol="0" anchor="ctr"/>
          <a:lstStyle/>
          <a:p>
            <a:pPr algn="ctr" indent="0" marL="0">
              <a:buNone/>
            </a:pPr>
            <a:r>
              <a:rPr lang="en-US" sz="1050" dirty="0">
                <a:solidFill>
                  <a:srgbClr val="E3DCF2"/>
                </a:solidFill>
                <a:latin typeface="Calibri" pitchFamily="34" charset="0"/>
                <a:ea typeface="Calibri" pitchFamily="34" charset="-122"/>
                <a:cs typeface="Calibri" pitchFamily="34" charset="-120"/>
              </a:rPr>
              <a:t>—</a:t>
            </a:r>
            <a:endParaRPr lang="en-US" sz="1050" dirty="0"/>
          </a:p>
        </p:txBody>
      </p:sp>
      <p:sp>
        <p:nvSpPr>
          <p:cNvPr id="49" name="Text 47"/>
          <p:cNvSpPr/>
          <p:nvPr/>
        </p:nvSpPr>
        <p:spPr>
          <a:xfrm>
            <a:off x="8083296" y="3822192"/>
            <a:ext cx="932688" cy="420624"/>
          </a:xfrm>
          <a:prstGeom prst="rect">
            <a:avLst/>
          </a:prstGeom>
          <a:noFill/>
          <a:ln/>
        </p:spPr>
        <p:txBody>
          <a:bodyPr wrap="square" lIns="0" tIns="0" rIns="0" bIns="0" rtlCol="0" anchor="ctr"/>
          <a:lstStyle/>
          <a:p>
            <a:pPr algn="ctr" indent="0" marL="0">
              <a:buNone/>
            </a:pPr>
            <a:r>
              <a:rPr lang="en-US" sz="1050" dirty="0">
                <a:solidFill>
                  <a:srgbClr val="241E33"/>
                </a:solidFill>
                <a:latin typeface="Calibri" pitchFamily="34" charset="0"/>
                <a:ea typeface="Calibri" pitchFamily="34" charset="-122"/>
                <a:cs typeface="Calibri" pitchFamily="34" charset="-120"/>
              </a:rPr>
              <a:t>$39k</a:t>
            </a:r>
            <a:endParaRPr lang="en-US" sz="1050" dirty="0"/>
          </a:p>
        </p:txBody>
      </p:sp>
      <p:sp>
        <p:nvSpPr>
          <p:cNvPr id="50" name="Text 48"/>
          <p:cNvSpPr/>
          <p:nvPr/>
        </p:nvSpPr>
        <p:spPr>
          <a:xfrm>
            <a:off x="9107424" y="3822192"/>
            <a:ext cx="932688" cy="420624"/>
          </a:xfrm>
          <a:prstGeom prst="rect">
            <a:avLst/>
          </a:prstGeom>
          <a:noFill/>
          <a:ln/>
        </p:spPr>
        <p:txBody>
          <a:bodyPr wrap="square" lIns="0" tIns="0" rIns="0" bIns="0" rtlCol="0" anchor="ctr"/>
          <a:lstStyle/>
          <a:p>
            <a:pPr algn="ctr" indent="0" marL="0">
              <a:buNone/>
            </a:pPr>
            <a:r>
              <a:rPr lang="en-US" sz="1050" dirty="0">
                <a:solidFill>
                  <a:srgbClr val="241E33"/>
                </a:solidFill>
                <a:latin typeface="Calibri" pitchFamily="34" charset="0"/>
                <a:ea typeface="Calibri" pitchFamily="34" charset="-122"/>
                <a:cs typeface="Calibri" pitchFamily="34" charset="-120"/>
              </a:rPr>
              <a:t>$148k</a:t>
            </a:r>
            <a:endParaRPr lang="en-US" sz="1050" dirty="0"/>
          </a:p>
        </p:txBody>
      </p:sp>
      <p:sp>
        <p:nvSpPr>
          <p:cNvPr id="51" name="Text 49"/>
          <p:cNvSpPr/>
          <p:nvPr/>
        </p:nvSpPr>
        <p:spPr>
          <a:xfrm>
            <a:off x="10131552" y="3822192"/>
            <a:ext cx="932688" cy="420624"/>
          </a:xfrm>
          <a:prstGeom prst="rect">
            <a:avLst/>
          </a:prstGeom>
          <a:noFill/>
          <a:ln/>
        </p:spPr>
        <p:txBody>
          <a:bodyPr wrap="square" lIns="0" tIns="0" rIns="0" bIns="0" rtlCol="0" anchor="ctr"/>
          <a:lstStyle/>
          <a:p>
            <a:pPr algn="ctr" indent="0" marL="0">
              <a:buNone/>
            </a:pPr>
            <a:r>
              <a:rPr lang="en-US" sz="1050" dirty="0">
                <a:solidFill>
                  <a:srgbClr val="241E33"/>
                </a:solidFill>
                <a:latin typeface="Calibri" pitchFamily="34" charset="0"/>
                <a:ea typeface="Calibri" pitchFamily="34" charset="-122"/>
                <a:cs typeface="Calibri" pitchFamily="34" charset="-120"/>
              </a:rPr>
              <a:t>$340k</a:t>
            </a:r>
            <a:endParaRPr lang="en-US" sz="1050" dirty="0"/>
          </a:p>
        </p:txBody>
      </p:sp>
      <p:sp>
        <p:nvSpPr>
          <p:cNvPr id="52" name="Shape 50"/>
          <p:cNvSpPr/>
          <p:nvPr/>
        </p:nvSpPr>
        <p:spPr>
          <a:xfrm>
            <a:off x="512064" y="4297680"/>
            <a:ext cx="10954512" cy="475488"/>
          </a:xfrm>
          <a:prstGeom prst="roundRect">
            <a:avLst>
              <a:gd name="adj" fmla="val 17308"/>
            </a:avLst>
          </a:prstGeom>
          <a:solidFill>
            <a:srgbClr val="EFEBF8"/>
          </a:solidFill>
          <a:ln/>
        </p:spPr>
      </p:sp>
      <p:sp>
        <p:nvSpPr>
          <p:cNvPr id="53" name="Shape 51"/>
          <p:cNvSpPr/>
          <p:nvPr/>
        </p:nvSpPr>
        <p:spPr>
          <a:xfrm rot="5400000">
            <a:off x="640080" y="4407408"/>
            <a:ext cx="237744" cy="237744"/>
          </a:xfrm>
          <a:prstGeom prst="hexagon">
            <a:avLst/>
          </a:prstGeom>
          <a:solidFill>
            <a:srgbClr val="F0B429"/>
          </a:solidFill>
          <a:ln/>
        </p:spPr>
      </p:sp>
      <p:sp>
        <p:nvSpPr>
          <p:cNvPr id="54" name="Text 52"/>
          <p:cNvSpPr/>
          <p:nvPr/>
        </p:nvSpPr>
        <p:spPr>
          <a:xfrm>
            <a:off x="969264" y="4306824"/>
            <a:ext cx="2286000" cy="237744"/>
          </a:xfrm>
          <a:prstGeom prst="rect">
            <a:avLst/>
          </a:prstGeom>
          <a:noFill/>
          <a:ln/>
        </p:spPr>
        <p:txBody>
          <a:bodyPr wrap="square" lIns="0" tIns="0" rIns="0" bIns="0" rtlCol="0" anchor="ctr"/>
          <a:lstStyle/>
          <a:p>
            <a:pPr indent="0" marL="0">
              <a:buNone/>
            </a:pPr>
            <a:r>
              <a:rPr lang="en-US" sz="1150" b="1" dirty="0">
                <a:solidFill>
                  <a:srgbClr val="241E33"/>
                </a:solidFill>
                <a:latin typeface="Cambria" pitchFamily="34" charset="0"/>
                <a:ea typeface="Cambria" pitchFamily="34" charset="-122"/>
                <a:cs typeface="Cambria" pitchFamily="34" charset="-120"/>
              </a:rPr>
              <a:t>Physical COGS</a:t>
            </a:r>
            <a:endParaRPr lang="en-US" sz="1150" dirty="0"/>
          </a:p>
        </p:txBody>
      </p:sp>
      <p:sp>
        <p:nvSpPr>
          <p:cNvPr id="55" name="Shape 53"/>
          <p:cNvSpPr/>
          <p:nvPr/>
        </p:nvSpPr>
        <p:spPr>
          <a:xfrm>
            <a:off x="3291840" y="4352544"/>
            <a:ext cx="1298448" cy="219456"/>
          </a:xfrm>
          <a:prstGeom prst="roundRect">
            <a:avLst>
              <a:gd name="adj" fmla="val 50000"/>
            </a:avLst>
          </a:prstGeom>
          <a:solidFill>
            <a:srgbClr val="F0B429"/>
          </a:solidFill>
          <a:ln/>
        </p:spPr>
      </p:sp>
      <p:sp>
        <p:nvSpPr>
          <p:cNvPr id="56" name="Text 54"/>
          <p:cNvSpPr/>
          <p:nvPr/>
        </p:nvSpPr>
        <p:spPr>
          <a:xfrm>
            <a:off x="3291840" y="4352544"/>
            <a:ext cx="1298448" cy="219456"/>
          </a:xfrm>
          <a:prstGeom prst="rect">
            <a:avLst/>
          </a:prstGeom>
          <a:noFill/>
          <a:ln/>
        </p:spPr>
        <p:txBody>
          <a:bodyPr wrap="square" lIns="0" tIns="0" rIns="0" bIns="0" rtlCol="0" anchor="ctr"/>
          <a:lstStyle/>
          <a:p>
            <a:pPr algn="ctr" indent="0" marL="0">
              <a:buNone/>
            </a:pPr>
            <a:r>
              <a:rPr lang="en-US" sz="750" b="1" dirty="0">
                <a:solidFill>
                  <a:srgbClr val="241E33"/>
                </a:solidFill>
                <a:latin typeface="Calibri" pitchFamily="34" charset="0"/>
                <a:ea typeface="Calibri" pitchFamily="34" charset="-122"/>
                <a:cs typeface="Calibri" pitchFamily="34" charset="-120"/>
              </a:rPr>
              <a:t>55% of physical rev</a:t>
            </a:r>
            <a:endParaRPr lang="en-US" sz="750" dirty="0"/>
          </a:p>
        </p:txBody>
      </p:sp>
      <p:sp>
        <p:nvSpPr>
          <p:cNvPr id="57" name="Text 55"/>
          <p:cNvSpPr/>
          <p:nvPr/>
        </p:nvSpPr>
        <p:spPr>
          <a:xfrm>
            <a:off x="969264" y="4535424"/>
            <a:ext cx="5029200" cy="256032"/>
          </a:xfrm>
          <a:prstGeom prst="rect">
            <a:avLst/>
          </a:prstGeom>
          <a:noFill/>
          <a:ln/>
        </p:spPr>
        <p:txBody>
          <a:bodyPr wrap="square" lIns="0" tIns="0" rIns="0" bIns="0" rtlCol="0" anchor="ctr"/>
          <a:lstStyle/>
          <a:p>
            <a:pPr indent="0" marL="0">
              <a:buNone/>
            </a:pPr>
            <a:r>
              <a:rPr lang="en-US" sz="800" dirty="0">
                <a:solidFill>
                  <a:srgbClr val="7A7291"/>
                </a:solidFill>
                <a:latin typeface="Calibri" pitchFamily="34" charset="0"/>
                <a:ea typeface="Calibri" pitchFamily="34" charset="-122"/>
                <a:cs typeface="Calibri" pitchFamily="34" charset="-120"/>
              </a:rPr>
              <a:t>Print-on-demand. We never hold stock we have not already sold.</a:t>
            </a:r>
            <a:endParaRPr lang="en-US" sz="800" dirty="0"/>
          </a:p>
        </p:txBody>
      </p:sp>
      <p:sp>
        <p:nvSpPr>
          <p:cNvPr id="58" name="Text 56"/>
          <p:cNvSpPr/>
          <p:nvPr/>
        </p:nvSpPr>
        <p:spPr>
          <a:xfrm>
            <a:off x="6035040" y="4334256"/>
            <a:ext cx="932688" cy="420624"/>
          </a:xfrm>
          <a:prstGeom prst="rect">
            <a:avLst/>
          </a:prstGeom>
          <a:noFill/>
          <a:ln/>
        </p:spPr>
        <p:txBody>
          <a:bodyPr wrap="square" lIns="0" tIns="0" rIns="0" bIns="0" rtlCol="0" anchor="ctr"/>
          <a:lstStyle/>
          <a:p>
            <a:pPr algn="ctr" indent="0" marL="0">
              <a:buNone/>
            </a:pPr>
            <a:r>
              <a:rPr lang="en-US" sz="1050" dirty="0">
                <a:solidFill>
                  <a:srgbClr val="E3DCF2"/>
                </a:solidFill>
                <a:latin typeface="Calibri" pitchFamily="34" charset="0"/>
                <a:ea typeface="Calibri" pitchFamily="34" charset="-122"/>
                <a:cs typeface="Calibri" pitchFamily="34" charset="-120"/>
              </a:rPr>
              <a:t>—</a:t>
            </a:r>
            <a:endParaRPr lang="en-US" sz="1050" dirty="0"/>
          </a:p>
        </p:txBody>
      </p:sp>
      <p:sp>
        <p:nvSpPr>
          <p:cNvPr id="59" name="Text 57"/>
          <p:cNvSpPr/>
          <p:nvPr/>
        </p:nvSpPr>
        <p:spPr>
          <a:xfrm>
            <a:off x="7059168" y="4334256"/>
            <a:ext cx="932688" cy="420624"/>
          </a:xfrm>
          <a:prstGeom prst="rect">
            <a:avLst/>
          </a:prstGeom>
          <a:noFill/>
          <a:ln/>
        </p:spPr>
        <p:txBody>
          <a:bodyPr wrap="square" lIns="0" tIns="0" rIns="0" bIns="0" rtlCol="0" anchor="ctr"/>
          <a:lstStyle/>
          <a:p>
            <a:pPr algn="ctr" indent="0" marL="0">
              <a:buNone/>
            </a:pPr>
            <a:r>
              <a:rPr lang="en-US" sz="1050" dirty="0">
                <a:solidFill>
                  <a:srgbClr val="241E33"/>
                </a:solidFill>
                <a:latin typeface="Calibri" pitchFamily="34" charset="0"/>
                <a:ea typeface="Calibri" pitchFamily="34" charset="-122"/>
                <a:cs typeface="Calibri" pitchFamily="34" charset="-120"/>
              </a:rPr>
              <a:t>$4.4k</a:t>
            </a:r>
            <a:endParaRPr lang="en-US" sz="1050" dirty="0"/>
          </a:p>
        </p:txBody>
      </p:sp>
      <p:sp>
        <p:nvSpPr>
          <p:cNvPr id="60" name="Text 58"/>
          <p:cNvSpPr/>
          <p:nvPr/>
        </p:nvSpPr>
        <p:spPr>
          <a:xfrm>
            <a:off x="8083296" y="4334256"/>
            <a:ext cx="932688" cy="420624"/>
          </a:xfrm>
          <a:prstGeom prst="rect">
            <a:avLst/>
          </a:prstGeom>
          <a:noFill/>
          <a:ln/>
        </p:spPr>
        <p:txBody>
          <a:bodyPr wrap="square" lIns="0" tIns="0" rIns="0" bIns="0" rtlCol="0" anchor="ctr"/>
          <a:lstStyle/>
          <a:p>
            <a:pPr algn="ctr" indent="0" marL="0">
              <a:buNone/>
            </a:pPr>
            <a:r>
              <a:rPr lang="en-US" sz="1050" dirty="0">
                <a:solidFill>
                  <a:srgbClr val="241E33"/>
                </a:solidFill>
                <a:latin typeface="Calibri" pitchFamily="34" charset="0"/>
                <a:ea typeface="Calibri" pitchFamily="34" charset="-122"/>
                <a:cs typeface="Calibri" pitchFamily="34" charset="-120"/>
              </a:rPr>
              <a:t>$26k</a:t>
            </a:r>
            <a:endParaRPr lang="en-US" sz="1050" dirty="0"/>
          </a:p>
        </p:txBody>
      </p:sp>
      <p:sp>
        <p:nvSpPr>
          <p:cNvPr id="61" name="Text 59"/>
          <p:cNvSpPr/>
          <p:nvPr/>
        </p:nvSpPr>
        <p:spPr>
          <a:xfrm>
            <a:off x="9107424" y="4334256"/>
            <a:ext cx="932688" cy="420624"/>
          </a:xfrm>
          <a:prstGeom prst="rect">
            <a:avLst/>
          </a:prstGeom>
          <a:noFill/>
          <a:ln/>
        </p:spPr>
        <p:txBody>
          <a:bodyPr wrap="square" lIns="0" tIns="0" rIns="0" bIns="0" rtlCol="0" anchor="ctr"/>
          <a:lstStyle/>
          <a:p>
            <a:pPr algn="ctr" indent="0" marL="0">
              <a:buNone/>
            </a:pPr>
            <a:r>
              <a:rPr lang="en-US" sz="1050" dirty="0">
                <a:solidFill>
                  <a:srgbClr val="241E33"/>
                </a:solidFill>
                <a:latin typeface="Calibri" pitchFamily="34" charset="0"/>
                <a:ea typeface="Calibri" pitchFamily="34" charset="-122"/>
                <a:cs typeface="Calibri" pitchFamily="34" charset="-120"/>
              </a:rPr>
              <a:t>$77k</a:t>
            </a:r>
            <a:endParaRPr lang="en-US" sz="1050" dirty="0"/>
          </a:p>
        </p:txBody>
      </p:sp>
      <p:sp>
        <p:nvSpPr>
          <p:cNvPr id="62" name="Text 60"/>
          <p:cNvSpPr/>
          <p:nvPr/>
        </p:nvSpPr>
        <p:spPr>
          <a:xfrm>
            <a:off x="10131552" y="4334256"/>
            <a:ext cx="932688" cy="420624"/>
          </a:xfrm>
          <a:prstGeom prst="rect">
            <a:avLst/>
          </a:prstGeom>
          <a:noFill/>
          <a:ln/>
        </p:spPr>
        <p:txBody>
          <a:bodyPr wrap="square" lIns="0" tIns="0" rIns="0" bIns="0" rtlCol="0" anchor="ctr"/>
          <a:lstStyle/>
          <a:p>
            <a:pPr algn="ctr" indent="0" marL="0">
              <a:buNone/>
            </a:pPr>
            <a:r>
              <a:rPr lang="en-US" sz="1050" dirty="0">
                <a:solidFill>
                  <a:srgbClr val="241E33"/>
                </a:solidFill>
                <a:latin typeface="Calibri" pitchFamily="34" charset="0"/>
                <a:ea typeface="Calibri" pitchFamily="34" charset="-122"/>
                <a:cs typeface="Calibri" pitchFamily="34" charset="-120"/>
              </a:rPr>
              <a:t>$170k</a:t>
            </a:r>
            <a:endParaRPr lang="en-US" sz="1050" dirty="0"/>
          </a:p>
        </p:txBody>
      </p:sp>
      <p:sp>
        <p:nvSpPr>
          <p:cNvPr id="63" name="Shape 61"/>
          <p:cNvSpPr/>
          <p:nvPr/>
        </p:nvSpPr>
        <p:spPr>
          <a:xfrm rot="5400000">
            <a:off x="640080" y="4919472"/>
            <a:ext cx="237744" cy="237744"/>
          </a:xfrm>
          <a:prstGeom prst="hexagon">
            <a:avLst/>
          </a:prstGeom>
          <a:solidFill>
            <a:srgbClr val="178A4C"/>
          </a:solidFill>
          <a:ln/>
        </p:spPr>
      </p:sp>
      <p:sp>
        <p:nvSpPr>
          <p:cNvPr id="64" name="Text 62"/>
          <p:cNvSpPr/>
          <p:nvPr/>
        </p:nvSpPr>
        <p:spPr>
          <a:xfrm>
            <a:off x="969264" y="4818888"/>
            <a:ext cx="2286000" cy="237744"/>
          </a:xfrm>
          <a:prstGeom prst="rect">
            <a:avLst/>
          </a:prstGeom>
          <a:noFill/>
          <a:ln/>
        </p:spPr>
        <p:txBody>
          <a:bodyPr wrap="square" lIns="0" tIns="0" rIns="0" bIns="0" rtlCol="0" anchor="ctr"/>
          <a:lstStyle/>
          <a:p>
            <a:pPr indent="0" marL="0">
              <a:buNone/>
            </a:pPr>
            <a:r>
              <a:rPr lang="en-US" sz="1150" b="1" dirty="0">
                <a:solidFill>
                  <a:srgbClr val="241E33"/>
                </a:solidFill>
                <a:latin typeface="Cambria" pitchFamily="34" charset="0"/>
                <a:ea typeface="Cambria" pitchFamily="34" charset="-122"/>
                <a:cs typeface="Cambria" pitchFamily="34" charset="-120"/>
              </a:rPr>
              <a:t>Payment fees &amp; hosting</a:t>
            </a:r>
            <a:endParaRPr lang="en-US" sz="1150" dirty="0"/>
          </a:p>
        </p:txBody>
      </p:sp>
      <p:sp>
        <p:nvSpPr>
          <p:cNvPr id="65" name="Shape 63"/>
          <p:cNvSpPr/>
          <p:nvPr/>
        </p:nvSpPr>
        <p:spPr>
          <a:xfrm>
            <a:off x="3291840" y="4864608"/>
            <a:ext cx="1298448" cy="219456"/>
          </a:xfrm>
          <a:prstGeom prst="roundRect">
            <a:avLst>
              <a:gd name="adj" fmla="val 50000"/>
            </a:avLst>
          </a:prstGeom>
          <a:solidFill>
            <a:srgbClr val="178A4C"/>
          </a:solidFill>
          <a:ln/>
        </p:spPr>
      </p:sp>
      <p:sp>
        <p:nvSpPr>
          <p:cNvPr id="66" name="Text 64"/>
          <p:cNvSpPr/>
          <p:nvPr/>
        </p:nvSpPr>
        <p:spPr>
          <a:xfrm>
            <a:off x="3291840" y="4864608"/>
            <a:ext cx="1298448"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3.9% of revenue</a:t>
            </a:r>
            <a:endParaRPr lang="en-US" sz="750" dirty="0"/>
          </a:p>
        </p:txBody>
      </p:sp>
      <p:sp>
        <p:nvSpPr>
          <p:cNvPr id="67" name="Text 65"/>
          <p:cNvSpPr/>
          <p:nvPr/>
        </p:nvSpPr>
        <p:spPr>
          <a:xfrm>
            <a:off x="969264" y="5047488"/>
            <a:ext cx="5029200" cy="256032"/>
          </a:xfrm>
          <a:prstGeom prst="rect">
            <a:avLst/>
          </a:prstGeom>
          <a:noFill/>
          <a:ln/>
        </p:spPr>
        <p:txBody>
          <a:bodyPr wrap="square" lIns="0" tIns="0" rIns="0" bIns="0" rtlCol="0" anchor="ctr"/>
          <a:lstStyle/>
          <a:p>
            <a:pPr indent="0" marL="0">
              <a:buNone/>
            </a:pPr>
            <a:r>
              <a:rPr lang="en-US" sz="800" dirty="0">
                <a:solidFill>
                  <a:srgbClr val="7A7291"/>
                </a:solidFill>
                <a:latin typeface="Calibri" pitchFamily="34" charset="0"/>
                <a:ea typeface="Calibri" pitchFamily="34" charset="-122"/>
                <a:cs typeface="Calibri" pitchFamily="34" charset="-120"/>
              </a:rPr>
              <a:t>Stripe, plus a statically hosted offline-first app. Genuinely small, and it stays small.</a:t>
            </a:r>
            <a:endParaRPr lang="en-US" sz="800" dirty="0"/>
          </a:p>
        </p:txBody>
      </p:sp>
      <p:sp>
        <p:nvSpPr>
          <p:cNvPr id="68" name="Text 66"/>
          <p:cNvSpPr/>
          <p:nvPr/>
        </p:nvSpPr>
        <p:spPr>
          <a:xfrm>
            <a:off x="6035040" y="4846320"/>
            <a:ext cx="932688" cy="420624"/>
          </a:xfrm>
          <a:prstGeom prst="rect">
            <a:avLst/>
          </a:prstGeom>
          <a:noFill/>
          <a:ln/>
        </p:spPr>
        <p:txBody>
          <a:bodyPr wrap="square" lIns="0" tIns="0" rIns="0" bIns="0" rtlCol="0" anchor="ctr"/>
          <a:lstStyle/>
          <a:p>
            <a:pPr algn="ctr" indent="0" marL="0">
              <a:buNone/>
            </a:pPr>
            <a:r>
              <a:rPr lang="en-US" sz="1050" dirty="0">
                <a:solidFill>
                  <a:srgbClr val="241E33"/>
                </a:solidFill>
                <a:latin typeface="Calibri" pitchFamily="34" charset="0"/>
                <a:ea typeface="Calibri" pitchFamily="34" charset="-122"/>
                <a:cs typeface="Calibri" pitchFamily="34" charset="-120"/>
              </a:rPr>
              <a:t>$1.0k</a:t>
            </a:r>
            <a:endParaRPr lang="en-US" sz="1050" dirty="0"/>
          </a:p>
        </p:txBody>
      </p:sp>
      <p:sp>
        <p:nvSpPr>
          <p:cNvPr id="69" name="Text 67"/>
          <p:cNvSpPr/>
          <p:nvPr/>
        </p:nvSpPr>
        <p:spPr>
          <a:xfrm>
            <a:off x="7059168" y="4846320"/>
            <a:ext cx="932688" cy="420624"/>
          </a:xfrm>
          <a:prstGeom prst="rect">
            <a:avLst/>
          </a:prstGeom>
          <a:noFill/>
          <a:ln/>
        </p:spPr>
        <p:txBody>
          <a:bodyPr wrap="square" lIns="0" tIns="0" rIns="0" bIns="0" rtlCol="0" anchor="ctr"/>
          <a:lstStyle/>
          <a:p>
            <a:pPr algn="ctr" indent="0" marL="0">
              <a:buNone/>
            </a:pPr>
            <a:r>
              <a:rPr lang="en-US" sz="1050" dirty="0">
                <a:solidFill>
                  <a:srgbClr val="241E33"/>
                </a:solidFill>
                <a:latin typeface="Calibri" pitchFamily="34" charset="0"/>
                <a:ea typeface="Calibri" pitchFamily="34" charset="-122"/>
                <a:cs typeface="Calibri" pitchFamily="34" charset="-120"/>
              </a:rPr>
              <a:t>$6.2k</a:t>
            </a:r>
            <a:endParaRPr lang="en-US" sz="1050" dirty="0"/>
          </a:p>
        </p:txBody>
      </p:sp>
      <p:sp>
        <p:nvSpPr>
          <p:cNvPr id="70" name="Text 68"/>
          <p:cNvSpPr/>
          <p:nvPr/>
        </p:nvSpPr>
        <p:spPr>
          <a:xfrm>
            <a:off x="8083296" y="4846320"/>
            <a:ext cx="932688" cy="420624"/>
          </a:xfrm>
          <a:prstGeom prst="rect">
            <a:avLst/>
          </a:prstGeom>
          <a:noFill/>
          <a:ln/>
        </p:spPr>
        <p:txBody>
          <a:bodyPr wrap="square" lIns="0" tIns="0" rIns="0" bIns="0" rtlCol="0" anchor="ctr"/>
          <a:lstStyle/>
          <a:p>
            <a:pPr algn="ctr" indent="0" marL="0">
              <a:buNone/>
            </a:pPr>
            <a:r>
              <a:rPr lang="en-US" sz="1050" dirty="0">
                <a:solidFill>
                  <a:srgbClr val="241E33"/>
                </a:solidFill>
                <a:latin typeface="Calibri" pitchFamily="34" charset="0"/>
                <a:ea typeface="Calibri" pitchFamily="34" charset="-122"/>
                <a:cs typeface="Calibri" pitchFamily="34" charset="-120"/>
              </a:rPr>
              <a:t>$23k</a:t>
            </a:r>
            <a:endParaRPr lang="en-US" sz="1050" dirty="0"/>
          </a:p>
        </p:txBody>
      </p:sp>
      <p:sp>
        <p:nvSpPr>
          <p:cNvPr id="71" name="Text 69"/>
          <p:cNvSpPr/>
          <p:nvPr/>
        </p:nvSpPr>
        <p:spPr>
          <a:xfrm>
            <a:off x="9107424" y="4846320"/>
            <a:ext cx="932688" cy="420624"/>
          </a:xfrm>
          <a:prstGeom prst="rect">
            <a:avLst/>
          </a:prstGeom>
          <a:noFill/>
          <a:ln/>
        </p:spPr>
        <p:txBody>
          <a:bodyPr wrap="square" lIns="0" tIns="0" rIns="0" bIns="0" rtlCol="0" anchor="ctr"/>
          <a:lstStyle/>
          <a:p>
            <a:pPr algn="ctr" indent="0" marL="0">
              <a:buNone/>
            </a:pPr>
            <a:r>
              <a:rPr lang="en-US" sz="1050" dirty="0">
                <a:solidFill>
                  <a:srgbClr val="241E33"/>
                </a:solidFill>
                <a:latin typeface="Calibri" pitchFamily="34" charset="0"/>
                <a:ea typeface="Calibri" pitchFamily="34" charset="-122"/>
                <a:cs typeface="Calibri" pitchFamily="34" charset="-120"/>
              </a:rPr>
              <a:t>$61k</a:t>
            </a:r>
            <a:endParaRPr lang="en-US" sz="1050" dirty="0"/>
          </a:p>
        </p:txBody>
      </p:sp>
      <p:sp>
        <p:nvSpPr>
          <p:cNvPr id="72" name="Text 70"/>
          <p:cNvSpPr/>
          <p:nvPr/>
        </p:nvSpPr>
        <p:spPr>
          <a:xfrm>
            <a:off x="10131552" y="4846320"/>
            <a:ext cx="932688" cy="420624"/>
          </a:xfrm>
          <a:prstGeom prst="rect">
            <a:avLst/>
          </a:prstGeom>
          <a:noFill/>
          <a:ln/>
        </p:spPr>
        <p:txBody>
          <a:bodyPr wrap="square" lIns="0" tIns="0" rIns="0" bIns="0" rtlCol="0" anchor="ctr"/>
          <a:lstStyle/>
          <a:p>
            <a:pPr algn="ctr" indent="0" marL="0">
              <a:buNone/>
            </a:pPr>
            <a:r>
              <a:rPr lang="en-US" sz="1050" dirty="0">
                <a:solidFill>
                  <a:srgbClr val="241E33"/>
                </a:solidFill>
                <a:latin typeface="Calibri" pitchFamily="34" charset="0"/>
                <a:ea typeface="Calibri" pitchFamily="34" charset="-122"/>
                <a:cs typeface="Calibri" pitchFamily="34" charset="-120"/>
              </a:rPr>
              <a:t>$121k</a:t>
            </a:r>
            <a:endParaRPr lang="en-US" sz="1050" dirty="0"/>
          </a:p>
        </p:txBody>
      </p:sp>
      <p:sp>
        <p:nvSpPr>
          <p:cNvPr id="73" name="Shape 71"/>
          <p:cNvSpPr/>
          <p:nvPr/>
        </p:nvSpPr>
        <p:spPr>
          <a:xfrm>
            <a:off x="512064" y="5321808"/>
            <a:ext cx="10954512" cy="475488"/>
          </a:xfrm>
          <a:prstGeom prst="roundRect">
            <a:avLst>
              <a:gd name="adj" fmla="val 17308"/>
            </a:avLst>
          </a:prstGeom>
          <a:solidFill>
            <a:srgbClr val="EFEBF8"/>
          </a:solidFill>
          <a:ln/>
        </p:spPr>
      </p:sp>
      <p:sp>
        <p:nvSpPr>
          <p:cNvPr id="74" name="Shape 72"/>
          <p:cNvSpPr/>
          <p:nvPr/>
        </p:nvSpPr>
        <p:spPr>
          <a:xfrm rot="5400000">
            <a:off x="640080" y="5431536"/>
            <a:ext cx="237744" cy="237744"/>
          </a:xfrm>
          <a:prstGeom prst="hexagon">
            <a:avLst/>
          </a:prstGeom>
          <a:solidFill>
            <a:srgbClr val="F0B429"/>
          </a:solidFill>
          <a:ln/>
        </p:spPr>
      </p:sp>
      <p:sp>
        <p:nvSpPr>
          <p:cNvPr id="75" name="Text 73"/>
          <p:cNvSpPr/>
          <p:nvPr/>
        </p:nvSpPr>
        <p:spPr>
          <a:xfrm>
            <a:off x="969264" y="5330952"/>
            <a:ext cx="2286000" cy="237744"/>
          </a:xfrm>
          <a:prstGeom prst="rect">
            <a:avLst/>
          </a:prstGeom>
          <a:noFill/>
          <a:ln/>
        </p:spPr>
        <p:txBody>
          <a:bodyPr wrap="square" lIns="0" tIns="0" rIns="0" bIns="0" rtlCol="0" anchor="ctr"/>
          <a:lstStyle/>
          <a:p>
            <a:pPr indent="0" marL="0">
              <a:buNone/>
            </a:pPr>
            <a:r>
              <a:rPr lang="en-US" sz="1150" b="1" dirty="0">
                <a:solidFill>
                  <a:srgbClr val="241E33"/>
                </a:solidFill>
                <a:latin typeface="Cambria" pitchFamily="34" charset="0"/>
                <a:ea typeface="Cambria" pitchFamily="34" charset="-122"/>
                <a:cs typeface="Cambria" pitchFamily="34" charset="-120"/>
              </a:rPr>
              <a:t>G&amp;A — the only fixed line</a:t>
            </a:r>
            <a:endParaRPr lang="en-US" sz="1150" dirty="0"/>
          </a:p>
        </p:txBody>
      </p:sp>
      <p:sp>
        <p:nvSpPr>
          <p:cNvPr id="76" name="Shape 74"/>
          <p:cNvSpPr/>
          <p:nvPr/>
        </p:nvSpPr>
        <p:spPr>
          <a:xfrm>
            <a:off x="3291840" y="5376672"/>
            <a:ext cx="1298448" cy="219456"/>
          </a:xfrm>
          <a:prstGeom prst="roundRect">
            <a:avLst>
              <a:gd name="adj" fmla="val 50000"/>
            </a:avLst>
          </a:prstGeom>
          <a:solidFill>
            <a:srgbClr val="F0B429"/>
          </a:solidFill>
          <a:ln/>
        </p:spPr>
      </p:sp>
      <p:sp>
        <p:nvSpPr>
          <p:cNvPr id="77" name="Text 75"/>
          <p:cNvSpPr/>
          <p:nvPr/>
        </p:nvSpPr>
        <p:spPr>
          <a:xfrm>
            <a:off x="3291840" y="5376672"/>
            <a:ext cx="1298448" cy="219456"/>
          </a:xfrm>
          <a:prstGeom prst="rect">
            <a:avLst/>
          </a:prstGeom>
          <a:noFill/>
          <a:ln/>
        </p:spPr>
        <p:txBody>
          <a:bodyPr wrap="square" lIns="0" tIns="0" rIns="0" bIns="0" rtlCol="0" anchor="ctr"/>
          <a:lstStyle/>
          <a:p>
            <a:pPr algn="ctr" indent="0" marL="0">
              <a:buNone/>
            </a:pPr>
            <a:r>
              <a:rPr lang="en-US" sz="750" b="1" dirty="0">
                <a:solidFill>
                  <a:srgbClr val="241E33"/>
                </a:solidFill>
                <a:latin typeface="Calibri" pitchFamily="34" charset="0"/>
                <a:ea typeface="Calibri" pitchFamily="34" charset="-122"/>
                <a:cs typeface="Calibri" pitchFamily="34" charset="-120"/>
              </a:rPr>
              <a:t>fixed</a:t>
            </a:r>
            <a:endParaRPr lang="en-US" sz="750" dirty="0"/>
          </a:p>
        </p:txBody>
      </p:sp>
      <p:sp>
        <p:nvSpPr>
          <p:cNvPr id="78" name="Text 76"/>
          <p:cNvSpPr/>
          <p:nvPr/>
        </p:nvSpPr>
        <p:spPr>
          <a:xfrm>
            <a:off x="969264" y="5559552"/>
            <a:ext cx="5029200" cy="256032"/>
          </a:xfrm>
          <a:prstGeom prst="rect">
            <a:avLst/>
          </a:prstGeom>
          <a:noFill/>
          <a:ln/>
        </p:spPr>
        <p:txBody>
          <a:bodyPr wrap="square" lIns="0" tIns="0" rIns="0" bIns="0" rtlCol="0" anchor="ctr"/>
          <a:lstStyle/>
          <a:p>
            <a:pPr indent="0" marL="0">
              <a:buNone/>
            </a:pPr>
            <a:r>
              <a:rPr lang="en-US" sz="800" dirty="0">
                <a:solidFill>
                  <a:srgbClr val="7A7291"/>
                </a:solidFill>
                <a:latin typeface="Calibri" pitchFamily="34" charset="0"/>
                <a:ea typeface="Calibri" pitchFamily="34" charset="-122"/>
                <a:cs typeface="Calibri" pitchFamily="34" charset="-120"/>
              </a:rPr>
              <a:t>Entity, filings, accounting, insurance, background checks. $40 a week in Year 1.</a:t>
            </a:r>
            <a:endParaRPr lang="en-US" sz="800" dirty="0"/>
          </a:p>
        </p:txBody>
      </p:sp>
      <p:sp>
        <p:nvSpPr>
          <p:cNvPr id="79" name="Text 77"/>
          <p:cNvSpPr/>
          <p:nvPr/>
        </p:nvSpPr>
        <p:spPr>
          <a:xfrm>
            <a:off x="6035040" y="5358384"/>
            <a:ext cx="932688" cy="420624"/>
          </a:xfrm>
          <a:prstGeom prst="rect">
            <a:avLst/>
          </a:prstGeom>
          <a:noFill/>
          <a:ln/>
        </p:spPr>
        <p:txBody>
          <a:bodyPr wrap="square" lIns="0" tIns="0" rIns="0" bIns="0" rtlCol="0" anchor="ctr"/>
          <a:lstStyle/>
          <a:p>
            <a:pPr algn="ctr" indent="0" marL="0">
              <a:buNone/>
            </a:pPr>
            <a:r>
              <a:rPr lang="en-US" sz="1050" dirty="0">
                <a:solidFill>
                  <a:srgbClr val="241E33"/>
                </a:solidFill>
                <a:latin typeface="Calibri" pitchFamily="34" charset="0"/>
                <a:ea typeface="Calibri" pitchFamily="34" charset="-122"/>
                <a:cs typeface="Calibri" pitchFamily="34" charset="-120"/>
              </a:rPr>
              <a:t>$2.1k</a:t>
            </a:r>
            <a:endParaRPr lang="en-US" sz="1050" dirty="0"/>
          </a:p>
        </p:txBody>
      </p:sp>
      <p:sp>
        <p:nvSpPr>
          <p:cNvPr id="80" name="Text 78"/>
          <p:cNvSpPr/>
          <p:nvPr/>
        </p:nvSpPr>
        <p:spPr>
          <a:xfrm>
            <a:off x="7059168" y="5358384"/>
            <a:ext cx="932688" cy="420624"/>
          </a:xfrm>
          <a:prstGeom prst="rect">
            <a:avLst/>
          </a:prstGeom>
          <a:noFill/>
          <a:ln/>
        </p:spPr>
        <p:txBody>
          <a:bodyPr wrap="square" lIns="0" tIns="0" rIns="0" bIns="0" rtlCol="0" anchor="ctr"/>
          <a:lstStyle/>
          <a:p>
            <a:pPr algn="ctr" indent="0" marL="0">
              <a:buNone/>
            </a:pPr>
            <a:r>
              <a:rPr lang="en-US" sz="1050" dirty="0">
                <a:solidFill>
                  <a:srgbClr val="241E33"/>
                </a:solidFill>
                <a:latin typeface="Calibri" pitchFamily="34" charset="0"/>
                <a:ea typeface="Calibri" pitchFamily="34" charset="-122"/>
                <a:cs typeface="Calibri" pitchFamily="34" charset="-120"/>
              </a:rPr>
              <a:t>$9.0k</a:t>
            </a:r>
            <a:endParaRPr lang="en-US" sz="1050" dirty="0"/>
          </a:p>
        </p:txBody>
      </p:sp>
      <p:sp>
        <p:nvSpPr>
          <p:cNvPr id="81" name="Text 79"/>
          <p:cNvSpPr/>
          <p:nvPr/>
        </p:nvSpPr>
        <p:spPr>
          <a:xfrm>
            <a:off x="8083296" y="5358384"/>
            <a:ext cx="932688" cy="420624"/>
          </a:xfrm>
          <a:prstGeom prst="rect">
            <a:avLst/>
          </a:prstGeom>
          <a:noFill/>
          <a:ln/>
        </p:spPr>
        <p:txBody>
          <a:bodyPr wrap="square" lIns="0" tIns="0" rIns="0" bIns="0" rtlCol="0" anchor="ctr"/>
          <a:lstStyle/>
          <a:p>
            <a:pPr algn="ctr" indent="0" marL="0">
              <a:buNone/>
            </a:pPr>
            <a:r>
              <a:rPr lang="en-US" sz="1050" dirty="0">
                <a:solidFill>
                  <a:srgbClr val="241E33"/>
                </a:solidFill>
                <a:latin typeface="Calibri" pitchFamily="34" charset="0"/>
                <a:ea typeface="Calibri" pitchFamily="34" charset="-122"/>
                <a:cs typeface="Calibri" pitchFamily="34" charset="-120"/>
              </a:rPr>
              <a:t>$26k</a:t>
            </a:r>
            <a:endParaRPr lang="en-US" sz="1050" dirty="0"/>
          </a:p>
        </p:txBody>
      </p:sp>
      <p:sp>
        <p:nvSpPr>
          <p:cNvPr id="82" name="Text 80"/>
          <p:cNvSpPr/>
          <p:nvPr/>
        </p:nvSpPr>
        <p:spPr>
          <a:xfrm>
            <a:off x="9107424" y="5358384"/>
            <a:ext cx="932688" cy="420624"/>
          </a:xfrm>
          <a:prstGeom prst="rect">
            <a:avLst/>
          </a:prstGeom>
          <a:noFill/>
          <a:ln/>
        </p:spPr>
        <p:txBody>
          <a:bodyPr wrap="square" lIns="0" tIns="0" rIns="0" bIns="0" rtlCol="0" anchor="ctr"/>
          <a:lstStyle/>
          <a:p>
            <a:pPr algn="ctr" indent="0" marL="0">
              <a:buNone/>
            </a:pPr>
            <a:r>
              <a:rPr lang="en-US" sz="1050" dirty="0">
                <a:solidFill>
                  <a:srgbClr val="241E33"/>
                </a:solidFill>
                <a:latin typeface="Calibri" pitchFamily="34" charset="0"/>
                <a:ea typeface="Calibri" pitchFamily="34" charset="-122"/>
                <a:cs typeface="Calibri" pitchFamily="34" charset="-120"/>
              </a:rPr>
              <a:t>$52k</a:t>
            </a:r>
            <a:endParaRPr lang="en-US" sz="1050" dirty="0"/>
          </a:p>
        </p:txBody>
      </p:sp>
      <p:sp>
        <p:nvSpPr>
          <p:cNvPr id="83" name="Text 81"/>
          <p:cNvSpPr/>
          <p:nvPr/>
        </p:nvSpPr>
        <p:spPr>
          <a:xfrm>
            <a:off x="10131552" y="5358384"/>
            <a:ext cx="932688" cy="420624"/>
          </a:xfrm>
          <a:prstGeom prst="rect">
            <a:avLst/>
          </a:prstGeom>
          <a:noFill/>
          <a:ln/>
        </p:spPr>
        <p:txBody>
          <a:bodyPr wrap="square" lIns="0" tIns="0" rIns="0" bIns="0" rtlCol="0" anchor="ctr"/>
          <a:lstStyle/>
          <a:p>
            <a:pPr algn="ctr" indent="0" marL="0">
              <a:buNone/>
            </a:pPr>
            <a:r>
              <a:rPr lang="en-US" sz="1050" dirty="0">
                <a:solidFill>
                  <a:srgbClr val="241E33"/>
                </a:solidFill>
                <a:latin typeface="Calibri" pitchFamily="34" charset="0"/>
                <a:ea typeface="Calibri" pitchFamily="34" charset="-122"/>
                <a:cs typeface="Calibri" pitchFamily="34" charset="-120"/>
              </a:rPr>
              <a:t>$84k</a:t>
            </a:r>
            <a:endParaRPr lang="en-US" sz="1050" dirty="0"/>
          </a:p>
        </p:txBody>
      </p:sp>
      <p:sp>
        <p:nvSpPr>
          <p:cNvPr id="84" name="Shape 82"/>
          <p:cNvSpPr/>
          <p:nvPr/>
        </p:nvSpPr>
        <p:spPr>
          <a:xfrm>
            <a:off x="512064" y="5833872"/>
            <a:ext cx="10954512" cy="475488"/>
          </a:xfrm>
          <a:prstGeom prst="roundRect">
            <a:avLst>
              <a:gd name="adj" fmla="val 17308"/>
            </a:avLst>
          </a:prstGeom>
          <a:solidFill>
            <a:srgbClr val="241E33"/>
          </a:solidFill>
          <a:ln/>
        </p:spPr>
      </p:sp>
      <p:sp>
        <p:nvSpPr>
          <p:cNvPr id="85" name="Text 83"/>
          <p:cNvSpPr/>
          <p:nvPr/>
        </p:nvSpPr>
        <p:spPr>
          <a:xfrm>
            <a:off x="969264" y="5870448"/>
            <a:ext cx="3657600" cy="420624"/>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Total operating cost</a:t>
            </a:r>
            <a:endParaRPr lang="en-US" sz="1250" dirty="0"/>
          </a:p>
        </p:txBody>
      </p:sp>
      <p:sp>
        <p:nvSpPr>
          <p:cNvPr id="86" name="Text 84"/>
          <p:cNvSpPr/>
          <p:nvPr/>
        </p:nvSpPr>
        <p:spPr>
          <a:xfrm>
            <a:off x="6035040" y="5870448"/>
            <a:ext cx="932688"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$19k</a:t>
            </a:r>
            <a:endParaRPr lang="en-US" sz="1100" dirty="0"/>
          </a:p>
        </p:txBody>
      </p:sp>
      <p:sp>
        <p:nvSpPr>
          <p:cNvPr id="87" name="Text 85"/>
          <p:cNvSpPr/>
          <p:nvPr/>
        </p:nvSpPr>
        <p:spPr>
          <a:xfrm>
            <a:off x="7059168" y="5870448"/>
            <a:ext cx="932688"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$106k</a:t>
            </a:r>
            <a:endParaRPr lang="en-US" sz="1100" dirty="0"/>
          </a:p>
        </p:txBody>
      </p:sp>
      <p:sp>
        <p:nvSpPr>
          <p:cNvPr id="88" name="Text 86"/>
          <p:cNvSpPr/>
          <p:nvPr/>
        </p:nvSpPr>
        <p:spPr>
          <a:xfrm>
            <a:off x="8083296" y="5870448"/>
            <a:ext cx="932688"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$391k</a:t>
            </a:r>
            <a:endParaRPr lang="en-US" sz="1100" dirty="0"/>
          </a:p>
        </p:txBody>
      </p:sp>
      <p:sp>
        <p:nvSpPr>
          <p:cNvPr id="89" name="Text 87"/>
          <p:cNvSpPr/>
          <p:nvPr/>
        </p:nvSpPr>
        <p:spPr>
          <a:xfrm>
            <a:off x="9107424" y="5870448"/>
            <a:ext cx="932688"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$1.10M</a:t>
            </a:r>
            <a:endParaRPr lang="en-US" sz="1100" dirty="0"/>
          </a:p>
        </p:txBody>
      </p:sp>
      <p:sp>
        <p:nvSpPr>
          <p:cNvPr id="90" name="Text 88"/>
          <p:cNvSpPr/>
          <p:nvPr/>
        </p:nvSpPr>
        <p:spPr>
          <a:xfrm>
            <a:off x="10131552" y="5870448"/>
            <a:ext cx="932688" cy="420624"/>
          </a:xfrm>
          <a:prstGeom prst="rect">
            <a:avLst/>
          </a:prstGeom>
          <a:noFill/>
          <a:ln/>
        </p:spPr>
        <p:txBody>
          <a:bodyPr wrap="square" lIns="0" tIns="0" rIns="0" bIns="0" rtlCol="0" anchor="ctr"/>
          <a:lstStyle/>
          <a:p>
            <a:pPr algn="ctr" indent="0" marL="0">
              <a:buNone/>
            </a:pPr>
            <a:r>
              <a:rPr lang="en-US" sz="1100" b="1" dirty="0">
                <a:solidFill>
                  <a:srgbClr val="F0B429"/>
                </a:solidFill>
                <a:latin typeface="Calibri" pitchFamily="34" charset="0"/>
                <a:ea typeface="Calibri" pitchFamily="34" charset="-122"/>
                <a:cs typeface="Calibri" pitchFamily="34" charset="-120"/>
              </a:rPr>
              <a:t>$2.26M</a:t>
            </a:r>
            <a:endParaRPr lang="en-US" sz="1100" dirty="0"/>
          </a:p>
        </p:txBody>
      </p:sp>
      <p:sp>
        <p:nvSpPr>
          <p:cNvPr id="91" name="Shape 89"/>
          <p:cNvSpPr/>
          <p:nvPr/>
        </p:nvSpPr>
        <p:spPr>
          <a:xfrm>
            <a:off x="640080" y="6345936"/>
            <a:ext cx="10607040" cy="402336"/>
          </a:xfrm>
          <a:prstGeom prst="roundRect">
            <a:avLst>
              <a:gd name="adj" fmla="val 22727"/>
            </a:avLst>
          </a:prstGeom>
          <a:solidFill>
            <a:srgbClr val="E8F4EC"/>
          </a:solidFill>
          <a:ln/>
        </p:spPr>
      </p:sp>
      <p:sp>
        <p:nvSpPr>
          <p:cNvPr id="92" name="Text 90"/>
          <p:cNvSpPr/>
          <p:nvPr/>
        </p:nvSpPr>
        <p:spPr>
          <a:xfrm>
            <a:off x="877824" y="6345936"/>
            <a:ext cx="10149840" cy="402336"/>
          </a:xfrm>
          <a:prstGeom prst="rect">
            <a:avLst/>
          </a:prstGeom>
          <a:noFill/>
          <a:ln/>
        </p:spPr>
        <p:txBody>
          <a:bodyPr wrap="square" lIns="0" tIns="0" rIns="0" bIns="0" rtlCol="0" anchor="ctr"/>
          <a:lstStyle/>
          <a:p>
            <a:pPr indent="0" marL="0">
              <a:lnSpc>
                <a:spcPts val="1150"/>
              </a:lnSpc>
              <a:buNone/>
            </a:pPr>
            <a:r>
              <a:rPr lang="en-US" sz="950" b="1" dirty="0">
                <a:solidFill>
                  <a:srgbClr val="1F4A33"/>
                </a:solidFill>
                <a:latin typeface="Calibri" pitchFamily="34" charset="0"/>
                <a:ea typeface="Calibri" pitchFamily="34" charset="-122"/>
                <a:cs typeface="Calibri" pitchFamily="34" charset="-120"/>
              </a:rPr>
              <a:t>Why this cannot produce a loss:  </a:t>
            </a:r>
            <a:pPr indent="0" marL="0">
              <a:lnSpc>
                <a:spcPts val="1150"/>
              </a:lnSpc>
              <a:buNone/>
            </a:pPr>
            <a:r>
              <a:rPr lang="en-US" sz="950" dirty="0">
                <a:solidFill>
                  <a:srgbClr val="1F4A33"/>
                </a:solidFill>
                <a:latin typeface="Calibri" pitchFamily="34" charset="0"/>
                <a:ea typeface="Calibri" pitchFamily="34" charset="-122"/>
                <a:cs typeface="Calibri" pitchFamily="34" charset="-120"/>
              </a:rPr>
              <a:t>the rule-driven lines sum to 33.9% of revenue plus 50% of cohort and 55% of physical revenue — about 42% blended. The only way to lose money is for the two fixed lines, People and G&amp;A, to exceed the remaining 58%. Both are set annually, in arrears, from revenue already banked.</a:t>
            </a:r>
            <a:endParaRPr lang="en-US" sz="9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02336"/>
            <a:ext cx="7315200" cy="256032"/>
          </a:xfrm>
          <a:prstGeom prst="rect">
            <a:avLst/>
          </a:prstGeom>
          <a:noFill/>
          <a:ln/>
        </p:spPr>
        <p:txBody>
          <a:bodyPr wrap="square" lIns="0" tIns="0" rIns="0" bIns="0" rtlCol="0" anchor="ctr"/>
          <a:lstStyle/>
          <a:p>
            <a:pPr indent="0" marL="0">
              <a:buNone/>
            </a:pPr>
            <a:r>
              <a:rPr lang="en-US" sz="1150" b="1" spc="240" kern="0" dirty="0">
                <a:solidFill>
                  <a:srgbClr val="6C4FE0"/>
                </a:solidFill>
                <a:latin typeface="Calibri" pitchFamily="34" charset="0"/>
                <a:ea typeface="Calibri" pitchFamily="34" charset="-122"/>
                <a:cs typeface="Calibri" pitchFamily="34" charset="-120"/>
              </a:rPr>
              <a:t>SUMMARY · STRESS TESTED</a:t>
            </a:r>
            <a:endParaRPr lang="en-US" sz="1150" dirty="0"/>
          </a:p>
        </p:txBody>
      </p:sp>
      <p:sp>
        <p:nvSpPr>
          <p:cNvPr id="3" name="Text 1"/>
          <p:cNvSpPr/>
          <p:nvPr/>
        </p:nvSpPr>
        <p:spPr>
          <a:xfrm>
            <a:off x="640080" y="694944"/>
            <a:ext cx="10607040" cy="749808"/>
          </a:xfrm>
          <a:prstGeom prst="rect">
            <a:avLst/>
          </a:prstGeom>
          <a:noFill/>
          <a:ln/>
        </p:spPr>
        <p:txBody>
          <a:bodyPr wrap="square" lIns="0" tIns="0" rIns="0" bIns="0" rtlCol="0" anchor="ctr"/>
          <a:lstStyle/>
          <a:p>
            <a:pPr indent="0" marL="0">
              <a:buNone/>
            </a:pPr>
            <a:r>
              <a:rPr lang="en-US" sz="2900" b="1" dirty="0">
                <a:solidFill>
                  <a:srgbClr val="241E33"/>
                </a:solidFill>
                <a:latin typeface="Cambria" pitchFamily="34" charset="0"/>
                <a:ea typeface="Cambria" pitchFamily="34" charset="-122"/>
                <a:cs typeface="Cambria" pitchFamily="34" charset="-120"/>
              </a:rPr>
              <a:t>Five-year P&amp;L, and what breaks it</a:t>
            </a:r>
            <a:endParaRPr lang="en-US" sz="2900" dirty="0"/>
          </a:p>
        </p:txBody>
      </p:sp>
      <p:sp>
        <p:nvSpPr>
          <p:cNvPr id="4" name="Shape 2"/>
          <p:cNvSpPr/>
          <p:nvPr/>
        </p:nvSpPr>
        <p:spPr>
          <a:xfrm>
            <a:off x="512064" y="1371600"/>
            <a:ext cx="9509760" cy="274320"/>
          </a:xfrm>
          <a:prstGeom prst="roundRect">
            <a:avLst>
              <a:gd name="adj" fmla="val 30000"/>
            </a:avLst>
          </a:prstGeom>
          <a:solidFill>
            <a:srgbClr val="6C4FE0"/>
          </a:solidFill>
          <a:ln/>
        </p:spPr>
      </p:sp>
      <p:sp>
        <p:nvSpPr>
          <p:cNvPr id="5" name="Text 3"/>
          <p:cNvSpPr/>
          <p:nvPr/>
        </p:nvSpPr>
        <p:spPr>
          <a:xfrm>
            <a:off x="694944" y="1371600"/>
            <a:ext cx="3017520" cy="274320"/>
          </a:xfrm>
          <a:prstGeom prst="rect">
            <a:avLst/>
          </a:prstGeom>
          <a:noFill/>
          <a:ln/>
        </p:spPr>
        <p:txBody>
          <a:bodyPr wrap="square" lIns="0" tIns="0" rIns="0" bIns="0" rtlCol="0" anchor="ctr"/>
          <a:lstStyle/>
          <a:p>
            <a:pPr indent="0" marL="0">
              <a:buNone/>
            </a:pPr>
            <a:r>
              <a:rPr lang="en-US" sz="950" b="1" spc="160" kern="0" dirty="0">
                <a:solidFill>
                  <a:srgbClr val="FFFFFF"/>
                </a:solidFill>
                <a:latin typeface="Calibri" pitchFamily="34" charset="0"/>
                <a:ea typeface="Calibri" pitchFamily="34" charset="-122"/>
                <a:cs typeface="Calibri" pitchFamily="34" charset="-120"/>
              </a:rPr>
              <a:t>BASE CASE — 4 / 18 / 52 / 115 / 195 per week</a:t>
            </a:r>
            <a:endParaRPr lang="en-US" sz="950" dirty="0"/>
          </a:p>
        </p:txBody>
      </p:sp>
      <p:sp>
        <p:nvSpPr>
          <p:cNvPr id="6" name="Text 4"/>
          <p:cNvSpPr/>
          <p:nvPr/>
        </p:nvSpPr>
        <p:spPr>
          <a:xfrm>
            <a:off x="3794760" y="1371600"/>
            <a:ext cx="11887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Y1</a:t>
            </a:r>
            <a:endParaRPr lang="en-US" sz="900" dirty="0"/>
          </a:p>
        </p:txBody>
      </p:sp>
      <p:sp>
        <p:nvSpPr>
          <p:cNvPr id="7" name="Text 5"/>
          <p:cNvSpPr/>
          <p:nvPr/>
        </p:nvSpPr>
        <p:spPr>
          <a:xfrm>
            <a:off x="5029200" y="1371600"/>
            <a:ext cx="11887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Y2</a:t>
            </a:r>
            <a:endParaRPr lang="en-US" sz="900" dirty="0"/>
          </a:p>
        </p:txBody>
      </p:sp>
      <p:sp>
        <p:nvSpPr>
          <p:cNvPr id="8" name="Text 6"/>
          <p:cNvSpPr/>
          <p:nvPr/>
        </p:nvSpPr>
        <p:spPr>
          <a:xfrm>
            <a:off x="6263640" y="1371600"/>
            <a:ext cx="11887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Y3</a:t>
            </a:r>
            <a:endParaRPr lang="en-US" sz="900" dirty="0"/>
          </a:p>
        </p:txBody>
      </p:sp>
      <p:sp>
        <p:nvSpPr>
          <p:cNvPr id="9" name="Text 7"/>
          <p:cNvSpPr/>
          <p:nvPr/>
        </p:nvSpPr>
        <p:spPr>
          <a:xfrm>
            <a:off x="7498080" y="1371600"/>
            <a:ext cx="11887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Y4</a:t>
            </a:r>
            <a:endParaRPr lang="en-US" sz="900" dirty="0"/>
          </a:p>
        </p:txBody>
      </p:sp>
      <p:sp>
        <p:nvSpPr>
          <p:cNvPr id="10" name="Text 8"/>
          <p:cNvSpPr/>
          <p:nvPr/>
        </p:nvSpPr>
        <p:spPr>
          <a:xfrm>
            <a:off x="8732520" y="1371600"/>
            <a:ext cx="11887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Y5</a:t>
            </a:r>
            <a:endParaRPr lang="en-US" sz="900" dirty="0"/>
          </a:p>
        </p:txBody>
      </p:sp>
      <p:sp>
        <p:nvSpPr>
          <p:cNvPr id="11" name="Text 9"/>
          <p:cNvSpPr/>
          <p:nvPr/>
        </p:nvSpPr>
        <p:spPr>
          <a:xfrm>
            <a:off x="640080" y="1664208"/>
            <a:ext cx="3017520" cy="292608"/>
          </a:xfrm>
          <a:prstGeom prst="rect">
            <a:avLst/>
          </a:prstGeom>
          <a:noFill/>
          <a:ln/>
        </p:spPr>
        <p:txBody>
          <a:bodyPr wrap="square" lIns="0" tIns="0" rIns="0" bIns="0" rtlCol="0" anchor="ctr"/>
          <a:lstStyle/>
          <a:p>
            <a:pPr indent="0" marL="0">
              <a:buNone/>
            </a:pPr>
            <a:r>
              <a:rPr lang="en-US" sz="1050" dirty="0">
                <a:solidFill>
                  <a:srgbClr val="4A4360"/>
                </a:solidFill>
                <a:latin typeface="Calibri" pitchFamily="34" charset="0"/>
                <a:ea typeface="Calibri" pitchFamily="34" charset="-122"/>
                <a:cs typeface="Calibri" pitchFamily="34" charset="-120"/>
              </a:rPr>
              <a:t>Paying households</a:t>
            </a:r>
            <a:endParaRPr lang="en-US" sz="1050" dirty="0"/>
          </a:p>
        </p:txBody>
      </p:sp>
      <p:sp>
        <p:nvSpPr>
          <p:cNvPr id="12" name="Text 10"/>
          <p:cNvSpPr/>
          <p:nvPr/>
        </p:nvSpPr>
        <p:spPr>
          <a:xfrm>
            <a:off x="3794760" y="1664208"/>
            <a:ext cx="1188720" cy="292608"/>
          </a:xfrm>
          <a:prstGeom prst="rect">
            <a:avLst/>
          </a:prstGeom>
          <a:noFill/>
          <a:ln/>
        </p:spPr>
        <p:txBody>
          <a:bodyPr wrap="square" lIns="0" tIns="0" rIns="0" bIns="0" rtlCol="0" anchor="ctr"/>
          <a:lstStyle/>
          <a:p>
            <a:pPr algn="ctr" indent="0" marL="0">
              <a:buNone/>
            </a:pPr>
            <a:r>
              <a:rPr lang="en-US" sz="1000" dirty="0">
                <a:solidFill>
                  <a:srgbClr val="4A4360"/>
                </a:solidFill>
                <a:latin typeface="Calibri" pitchFamily="34" charset="0"/>
                <a:ea typeface="Calibri" pitchFamily="34" charset="-122"/>
                <a:cs typeface="Calibri" pitchFamily="34" charset="-120"/>
              </a:rPr>
              <a:t>208</a:t>
            </a:r>
            <a:endParaRPr lang="en-US" sz="1000" dirty="0"/>
          </a:p>
        </p:txBody>
      </p:sp>
      <p:sp>
        <p:nvSpPr>
          <p:cNvPr id="13" name="Text 11"/>
          <p:cNvSpPr/>
          <p:nvPr/>
        </p:nvSpPr>
        <p:spPr>
          <a:xfrm>
            <a:off x="5029200" y="1664208"/>
            <a:ext cx="1188720" cy="292608"/>
          </a:xfrm>
          <a:prstGeom prst="rect">
            <a:avLst/>
          </a:prstGeom>
          <a:noFill/>
          <a:ln/>
        </p:spPr>
        <p:txBody>
          <a:bodyPr wrap="square" lIns="0" tIns="0" rIns="0" bIns="0" rtlCol="0" anchor="ctr"/>
          <a:lstStyle/>
          <a:p>
            <a:pPr algn="ctr" indent="0" marL="0">
              <a:buNone/>
            </a:pPr>
            <a:r>
              <a:rPr lang="en-US" sz="1000" dirty="0">
                <a:solidFill>
                  <a:srgbClr val="4A4360"/>
                </a:solidFill>
                <a:latin typeface="Calibri" pitchFamily="34" charset="0"/>
                <a:ea typeface="Calibri" pitchFamily="34" charset="-122"/>
                <a:cs typeface="Calibri" pitchFamily="34" charset="-120"/>
              </a:rPr>
              <a:t>1,082</a:t>
            </a:r>
            <a:endParaRPr lang="en-US" sz="1000" dirty="0"/>
          </a:p>
        </p:txBody>
      </p:sp>
      <p:sp>
        <p:nvSpPr>
          <p:cNvPr id="14" name="Text 12"/>
          <p:cNvSpPr/>
          <p:nvPr/>
        </p:nvSpPr>
        <p:spPr>
          <a:xfrm>
            <a:off x="6263640" y="1664208"/>
            <a:ext cx="1188720" cy="292608"/>
          </a:xfrm>
          <a:prstGeom prst="rect">
            <a:avLst/>
          </a:prstGeom>
          <a:noFill/>
          <a:ln/>
        </p:spPr>
        <p:txBody>
          <a:bodyPr wrap="square" lIns="0" tIns="0" rIns="0" bIns="0" rtlCol="0" anchor="ctr"/>
          <a:lstStyle/>
          <a:p>
            <a:pPr algn="ctr" indent="0" marL="0">
              <a:buNone/>
            </a:pPr>
            <a:r>
              <a:rPr lang="en-US" sz="1000" dirty="0">
                <a:solidFill>
                  <a:srgbClr val="4A4360"/>
                </a:solidFill>
                <a:latin typeface="Calibri" pitchFamily="34" charset="0"/>
                <a:ea typeface="Calibri" pitchFamily="34" charset="-122"/>
                <a:cs typeface="Calibri" pitchFamily="34" charset="-120"/>
              </a:rPr>
              <a:t>3,461</a:t>
            </a:r>
            <a:endParaRPr lang="en-US" sz="1000" dirty="0"/>
          </a:p>
        </p:txBody>
      </p:sp>
      <p:sp>
        <p:nvSpPr>
          <p:cNvPr id="15" name="Text 13"/>
          <p:cNvSpPr/>
          <p:nvPr/>
        </p:nvSpPr>
        <p:spPr>
          <a:xfrm>
            <a:off x="7498080" y="1664208"/>
            <a:ext cx="1188720" cy="292608"/>
          </a:xfrm>
          <a:prstGeom prst="rect">
            <a:avLst/>
          </a:prstGeom>
          <a:noFill/>
          <a:ln/>
        </p:spPr>
        <p:txBody>
          <a:bodyPr wrap="square" lIns="0" tIns="0" rIns="0" bIns="0" rtlCol="0" anchor="ctr"/>
          <a:lstStyle/>
          <a:p>
            <a:pPr algn="ctr" indent="0" marL="0">
              <a:buNone/>
            </a:pPr>
            <a:r>
              <a:rPr lang="en-US" sz="1000" dirty="0">
                <a:solidFill>
                  <a:srgbClr val="4A4360"/>
                </a:solidFill>
                <a:latin typeface="Calibri" pitchFamily="34" charset="0"/>
                <a:ea typeface="Calibri" pitchFamily="34" charset="-122"/>
                <a:cs typeface="Calibri" pitchFamily="34" charset="-120"/>
              </a:rPr>
              <a:t>8,403</a:t>
            </a:r>
            <a:endParaRPr lang="en-US" sz="1000" dirty="0"/>
          </a:p>
        </p:txBody>
      </p:sp>
      <p:sp>
        <p:nvSpPr>
          <p:cNvPr id="16" name="Text 14"/>
          <p:cNvSpPr/>
          <p:nvPr/>
        </p:nvSpPr>
        <p:spPr>
          <a:xfrm>
            <a:off x="8732520" y="1664208"/>
            <a:ext cx="1188720" cy="292608"/>
          </a:xfrm>
          <a:prstGeom prst="rect">
            <a:avLst/>
          </a:prstGeom>
          <a:noFill/>
          <a:ln/>
        </p:spPr>
        <p:txBody>
          <a:bodyPr wrap="square" lIns="0" tIns="0" rIns="0" bIns="0" rtlCol="0" anchor="ctr"/>
          <a:lstStyle/>
          <a:p>
            <a:pPr algn="ctr" indent="0" marL="0">
              <a:buNone/>
            </a:pPr>
            <a:r>
              <a:rPr lang="en-US" sz="1000" dirty="0">
                <a:solidFill>
                  <a:srgbClr val="4A4360"/>
                </a:solidFill>
                <a:latin typeface="Calibri" pitchFamily="34" charset="0"/>
                <a:ea typeface="Calibri" pitchFamily="34" charset="-122"/>
                <a:cs typeface="Calibri" pitchFamily="34" charset="-120"/>
              </a:rPr>
              <a:t>16.0k</a:t>
            </a:r>
            <a:endParaRPr lang="en-US" sz="1000" dirty="0"/>
          </a:p>
        </p:txBody>
      </p:sp>
      <p:sp>
        <p:nvSpPr>
          <p:cNvPr id="17" name="Text 15"/>
          <p:cNvSpPr/>
          <p:nvPr/>
        </p:nvSpPr>
        <p:spPr>
          <a:xfrm>
            <a:off x="640080" y="1993392"/>
            <a:ext cx="3017520" cy="292608"/>
          </a:xfrm>
          <a:prstGeom prst="rect">
            <a:avLst/>
          </a:prstGeom>
          <a:noFill/>
          <a:ln/>
        </p:spPr>
        <p:txBody>
          <a:bodyPr wrap="square" lIns="0" tIns="0" rIns="0" bIns="0" rtlCol="0" anchor="ctr"/>
          <a:lstStyle/>
          <a:p>
            <a:pPr indent="0" marL="0">
              <a:buNone/>
            </a:pPr>
            <a:r>
              <a:rPr lang="en-US" sz="1150" b="1" dirty="0">
                <a:solidFill>
                  <a:srgbClr val="241E33"/>
                </a:solidFill>
                <a:latin typeface="Cambria" pitchFamily="34" charset="0"/>
                <a:ea typeface="Cambria" pitchFamily="34" charset="-122"/>
                <a:cs typeface="Cambria" pitchFamily="34" charset="-120"/>
              </a:rPr>
              <a:t>Revenue</a:t>
            </a:r>
            <a:endParaRPr lang="en-US" sz="1150" dirty="0"/>
          </a:p>
        </p:txBody>
      </p:sp>
      <p:sp>
        <p:nvSpPr>
          <p:cNvPr id="18" name="Text 16"/>
          <p:cNvSpPr/>
          <p:nvPr/>
        </p:nvSpPr>
        <p:spPr>
          <a:xfrm>
            <a:off x="3794760" y="1993392"/>
            <a:ext cx="1188720" cy="292608"/>
          </a:xfrm>
          <a:prstGeom prst="rect">
            <a:avLst/>
          </a:prstGeom>
          <a:noFill/>
          <a:ln/>
        </p:spPr>
        <p:txBody>
          <a:bodyPr wrap="square" lIns="0" tIns="0" rIns="0" bIns="0" rtlCol="0" anchor="ctr"/>
          <a:lstStyle/>
          <a:p>
            <a:pPr algn="ctr" indent="0" marL="0">
              <a:buNone/>
            </a:pPr>
            <a:r>
              <a:rPr lang="en-US" sz="1100" b="1" dirty="0">
                <a:solidFill>
                  <a:srgbClr val="241E33"/>
                </a:solidFill>
                <a:latin typeface="Calibri" pitchFamily="34" charset="0"/>
                <a:ea typeface="Calibri" pitchFamily="34" charset="-122"/>
                <a:cs typeface="Calibri" pitchFamily="34" charset="-120"/>
              </a:rPr>
              <a:t>$26k</a:t>
            </a:r>
            <a:endParaRPr lang="en-US" sz="1100" dirty="0"/>
          </a:p>
        </p:txBody>
      </p:sp>
      <p:sp>
        <p:nvSpPr>
          <p:cNvPr id="19" name="Text 17"/>
          <p:cNvSpPr/>
          <p:nvPr/>
        </p:nvSpPr>
        <p:spPr>
          <a:xfrm>
            <a:off x="5029200" y="1993392"/>
            <a:ext cx="1188720" cy="292608"/>
          </a:xfrm>
          <a:prstGeom prst="rect">
            <a:avLst/>
          </a:prstGeom>
          <a:noFill/>
          <a:ln/>
        </p:spPr>
        <p:txBody>
          <a:bodyPr wrap="square" lIns="0" tIns="0" rIns="0" bIns="0" rtlCol="0" anchor="ctr"/>
          <a:lstStyle/>
          <a:p>
            <a:pPr algn="ctr" indent="0" marL="0">
              <a:buNone/>
            </a:pPr>
            <a:r>
              <a:rPr lang="en-US" sz="1100" b="1" dirty="0">
                <a:solidFill>
                  <a:srgbClr val="241E33"/>
                </a:solidFill>
                <a:latin typeface="Calibri" pitchFamily="34" charset="0"/>
                <a:ea typeface="Calibri" pitchFamily="34" charset="-122"/>
                <a:cs typeface="Calibri" pitchFamily="34" charset="-120"/>
              </a:rPr>
              <a:t>$159k</a:t>
            </a:r>
            <a:endParaRPr lang="en-US" sz="1100" dirty="0"/>
          </a:p>
        </p:txBody>
      </p:sp>
      <p:sp>
        <p:nvSpPr>
          <p:cNvPr id="20" name="Text 18"/>
          <p:cNvSpPr/>
          <p:nvPr/>
        </p:nvSpPr>
        <p:spPr>
          <a:xfrm>
            <a:off x="6263640" y="1993392"/>
            <a:ext cx="1188720" cy="292608"/>
          </a:xfrm>
          <a:prstGeom prst="rect">
            <a:avLst/>
          </a:prstGeom>
          <a:noFill/>
          <a:ln/>
        </p:spPr>
        <p:txBody>
          <a:bodyPr wrap="square" lIns="0" tIns="0" rIns="0" bIns="0" rtlCol="0" anchor="ctr"/>
          <a:lstStyle/>
          <a:p>
            <a:pPr algn="ctr" indent="0" marL="0">
              <a:buNone/>
            </a:pPr>
            <a:r>
              <a:rPr lang="en-US" sz="1100" b="1" dirty="0">
                <a:solidFill>
                  <a:srgbClr val="241E33"/>
                </a:solidFill>
                <a:latin typeface="Calibri" pitchFamily="34" charset="0"/>
                <a:ea typeface="Calibri" pitchFamily="34" charset="-122"/>
                <a:cs typeface="Calibri" pitchFamily="34" charset="-120"/>
              </a:rPr>
              <a:t>$601k</a:t>
            </a:r>
            <a:endParaRPr lang="en-US" sz="1100" dirty="0"/>
          </a:p>
        </p:txBody>
      </p:sp>
      <p:sp>
        <p:nvSpPr>
          <p:cNvPr id="21" name="Text 19"/>
          <p:cNvSpPr/>
          <p:nvPr/>
        </p:nvSpPr>
        <p:spPr>
          <a:xfrm>
            <a:off x="7498080" y="1993392"/>
            <a:ext cx="1188720" cy="292608"/>
          </a:xfrm>
          <a:prstGeom prst="rect">
            <a:avLst/>
          </a:prstGeom>
          <a:noFill/>
          <a:ln/>
        </p:spPr>
        <p:txBody>
          <a:bodyPr wrap="square" lIns="0" tIns="0" rIns="0" bIns="0" rtlCol="0" anchor="ctr"/>
          <a:lstStyle/>
          <a:p>
            <a:pPr algn="ctr" indent="0" marL="0">
              <a:buNone/>
            </a:pPr>
            <a:r>
              <a:rPr lang="en-US" sz="1100" b="1" dirty="0">
                <a:solidFill>
                  <a:srgbClr val="241E33"/>
                </a:solidFill>
                <a:latin typeface="Calibri" pitchFamily="34" charset="0"/>
                <a:ea typeface="Calibri" pitchFamily="34" charset="-122"/>
                <a:cs typeface="Calibri" pitchFamily="34" charset="-120"/>
              </a:rPr>
              <a:t>$1.55M</a:t>
            </a:r>
            <a:endParaRPr lang="en-US" sz="1100" dirty="0"/>
          </a:p>
        </p:txBody>
      </p:sp>
      <p:sp>
        <p:nvSpPr>
          <p:cNvPr id="22" name="Text 20"/>
          <p:cNvSpPr/>
          <p:nvPr/>
        </p:nvSpPr>
        <p:spPr>
          <a:xfrm>
            <a:off x="8732520" y="1993392"/>
            <a:ext cx="1188720" cy="292608"/>
          </a:xfrm>
          <a:prstGeom prst="rect">
            <a:avLst/>
          </a:prstGeom>
          <a:noFill/>
          <a:ln/>
        </p:spPr>
        <p:txBody>
          <a:bodyPr wrap="square" lIns="0" tIns="0" rIns="0" bIns="0" rtlCol="0" anchor="ctr"/>
          <a:lstStyle/>
          <a:p>
            <a:pPr algn="ctr" indent="0" marL="0">
              <a:buNone/>
            </a:pPr>
            <a:r>
              <a:rPr lang="en-US" sz="1100" b="1" dirty="0">
                <a:solidFill>
                  <a:srgbClr val="241E33"/>
                </a:solidFill>
                <a:latin typeface="Calibri" pitchFamily="34" charset="0"/>
                <a:ea typeface="Calibri" pitchFamily="34" charset="-122"/>
                <a:cs typeface="Calibri" pitchFamily="34" charset="-120"/>
              </a:rPr>
              <a:t>$3.09M</a:t>
            </a:r>
            <a:endParaRPr lang="en-US" sz="1100" dirty="0"/>
          </a:p>
        </p:txBody>
      </p:sp>
      <p:sp>
        <p:nvSpPr>
          <p:cNvPr id="23" name="Text 21"/>
          <p:cNvSpPr/>
          <p:nvPr/>
        </p:nvSpPr>
        <p:spPr>
          <a:xfrm>
            <a:off x="640080" y="2322576"/>
            <a:ext cx="3017520" cy="292608"/>
          </a:xfrm>
          <a:prstGeom prst="rect">
            <a:avLst/>
          </a:prstGeom>
          <a:noFill/>
          <a:ln/>
        </p:spPr>
        <p:txBody>
          <a:bodyPr wrap="square" lIns="0" tIns="0" rIns="0" bIns="0" rtlCol="0" anchor="ctr"/>
          <a:lstStyle/>
          <a:p>
            <a:pPr indent="0" marL="0">
              <a:buNone/>
            </a:pPr>
            <a:r>
              <a:rPr lang="en-US" sz="1050" dirty="0">
                <a:solidFill>
                  <a:srgbClr val="4A4360"/>
                </a:solidFill>
                <a:latin typeface="Calibri" pitchFamily="34" charset="0"/>
                <a:ea typeface="Calibri" pitchFamily="34" charset="-122"/>
                <a:cs typeface="Calibri" pitchFamily="34" charset="-120"/>
              </a:rPr>
              <a:t>Operating cost</a:t>
            </a:r>
            <a:endParaRPr lang="en-US" sz="1050" dirty="0"/>
          </a:p>
        </p:txBody>
      </p:sp>
      <p:sp>
        <p:nvSpPr>
          <p:cNvPr id="24" name="Text 22"/>
          <p:cNvSpPr/>
          <p:nvPr/>
        </p:nvSpPr>
        <p:spPr>
          <a:xfrm>
            <a:off x="3794760" y="2322576"/>
            <a:ext cx="1188720" cy="292608"/>
          </a:xfrm>
          <a:prstGeom prst="rect">
            <a:avLst/>
          </a:prstGeom>
          <a:noFill/>
          <a:ln/>
        </p:spPr>
        <p:txBody>
          <a:bodyPr wrap="square" lIns="0" tIns="0" rIns="0" bIns="0" rtlCol="0" anchor="ctr"/>
          <a:lstStyle/>
          <a:p>
            <a:pPr algn="ctr" indent="0" marL="0">
              <a:buNone/>
            </a:pPr>
            <a:r>
              <a:rPr lang="en-US" sz="1000" dirty="0">
                <a:solidFill>
                  <a:srgbClr val="4A4360"/>
                </a:solidFill>
                <a:latin typeface="Calibri" pitchFamily="34" charset="0"/>
                <a:ea typeface="Calibri" pitchFamily="34" charset="-122"/>
                <a:cs typeface="Calibri" pitchFamily="34" charset="-120"/>
              </a:rPr>
              <a:t>$19k</a:t>
            </a:r>
            <a:endParaRPr lang="en-US" sz="1000" dirty="0"/>
          </a:p>
        </p:txBody>
      </p:sp>
      <p:sp>
        <p:nvSpPr>
          <p:cNvPr id="25" name="Text 23"/>
          <p:cNvSpPr/>
          <p:nvPr/>
        </p:nvSpPr>
        <p:spPr>
          <a:xfrm>
            <a:off x="5029200" y="2322576"/>
            <a:ext cx="1188720" cy="292608"/>
          </a:xfrm>
          <a:prstGeom prst="rect">
            <a:avLst/>
          </a:prstGeom>
          <a:noFill/>
          <a:ln/>
        </p:spPr>
        <p:txBody>
          <a:bodyPr wrap="square" lIns="0" tIns="0" rIns="0" bIns="0" rtlCol="0" anchor="ctr"/>
          <a:lstStyle/>
          <a:p>
            <a:pPr algn="ctr" indent="0" marL="0">
              <a:buNone/>
            </a:pPr>
            <a:r>
              <a:rPr lang="en-US" sz="1000" dirty="0">
                <a:solidFill>
                  <a:srgbClr val="4A4360"/>
                </a:solidFill>
                <a:latin typeface="Calibri" pitchFamily="34" charset="0"/>
                <a:ea typeface="Calibri" pitchFamily="34" charset="-122"/>
                <a:cs typeface="Calibri" pitchFamily="34" charset="-120"/>
              </a:rPr>
              <a:t>$106k</a:t>
            </a:r>
            <a:endParaRPr lang="en-US" sz="1000" dirty="0"/>
          </a:p>
        </p:txBody>
      </p:sp>
      <p:sp>
        <p:nvSpPr>
          <p:cNvPr id="26" name="Text 24"/>
          <p:cNvSpPr/>
          <p:nvPr/>
        </p:nvSpPr>
        <p:spPr>
          <a:xfrm>
            <a:off x="6263640" y="2322576"/>
            <a:ext cx="1188720" cy="292608"/>
          </a:xfrm>
          <a:prstGeom prst="rect">
            <a:avLst/>
          </a:prstGeom>
          <a:noFill/>
          <a:ln/>
        </p:spPr>
        <p:txBody>
          <a:bodyPr wrap="square" lIns="0" tIns="0" rIns="0" bIns="0" rtlCol="0" anchor="ctr"/>
          <a:lstStyle/>
          <a:p>
            <a:pPr algn="ctr" indent="0" marL="0">
              <a:buNone/>
            </a:pPr>
            <a:r>
              <a:rPr lang="en-US" sz="1000" dirty="0">
                <a:solidFill>
                  <a:srgbClr val="4A4360"/>
                </a:solidFill>
                <a:latin typeface="Calibri" pitchFamily="34" charset="0"/>
                <a:ea typeface="Calibri" pitchFamily="34" charset="-122"/>
                <a:cs typeface="Calibri" pitchFamily="34" charset="-120"/>
              </a:rPr>
              <a:t>$391k</a:t>
            </a:r>
            <a:endParaRPr lang="en-US" sz="1000" dirty="0"/>
          </a:p>
        </p:txBody>
      </p:sp>
      <p:sp>
        <p:nvSpPr>
          <p:cNvPr id="27" name="Text 25"/>
          <p:cNvSpPr/>
          <p:nvPr/>
        </p:nvSpPr>
        <p:spPr>
          <a:xfrm>
            <a:off x="7498080" y="2322576"/>
            <a:ext cx="1188720" cy="292608"/>
          </a:xfrm>
          <a:prstGeom prst="rect">
            <a:avLst/>
          </a:prstGeom>
          <a:noFill/>
          <a:ln/>
        </p:spPr>
        <p:txBody>
          <a:bodyPr wrap="square" lIns="0" tIns="0" rIns="0" bIns="0" rtlCol="0" anchor="ctr"/>
          <a:lstStyle/>
          <a:p>
            <a:pPr algn="ctr" indent="0" marL="0">
              <a:buNone/>
            </a:pPr>
            <a:r>
              <a:rPr lang="en-US" sz="1000" dirty="0">
                <a:solidFill>
                  <a:srgbClr val="4A4360"/>
                </a:solidFill>
                <a:latin typeface="Calibri" pitchFamily="34" charset="0"/>
                <a:ea typeface="Calibri" pitchFamily="34" charset="-122"/>
                <a:cs typeface="Calibri" pitchFamily="34" charset="-120"/>
              </a:rPr>
              <a:t>$1.10M</a:t>
            </a:r>
            <a:endParaRPr lang="en-US" sz="1000" dirty="0"/>
          </a:p>
        </p:txBody>
      </p:sp>
      <p:sp>
        <p:nvSpPr>
          <p:cNvPr id="28" name="Text 26"/>
          <p:cNvSpPr/>
          <p:nvPr/>
        </p:nvSpPr>
        <p:spPr>
          <a:xfrm>
            <a:off x="8732520" y="2322576"/>
            <a:ext cx="1188720" cy="292608"/>
          </a:xfrm>
          <a:prstGeom prst="rect">
            <a:avLst/>
          </a:prstGeom>
          <a:noFill/>
          <a:ln/>
        </p:spPr>
        <p:txBody>
          <a:bodyPr wrap="square" lIns="0" tIns="0" rIns="0" bIns="0" rtlCol="0" anchor="ctr"/>
          <a:lstStyle/>
          <a:p>
            <a:pPr algn="ctr" indent="0" marL="0">
              <a:buNone/>
            </a:pPr>
            <a:r>
              <a:rPr lang="en-US" sz="1000" dirty="0">
                <a:solidFill>
                  <a:srgbClr val="4A4360"/>
                </a:solidFill>
                <a:latin typeface="Calibri" pitchFamily="34" charset="0"/>
                <a:ea typeface="Calibri" pitchFamily="34" charset="-122"/>
                <a:cs typeface="Calibri" pitchFamily="34" charset="-120"/>
              </a:rPr>
              <a:t>$2.26M</a:t>
            </a:r>
            <a:endParaRPr lang="en-US" sz="1000" dirty="0"/>
          </a:p>
        </p:txBody>
      </p:sp>
      <p:sp>
        <p:nvSpPr>
          <p:cNvPr id="29" name="Text 27"/>
          <p:cNvSpPr/>
          <p:nvPr/>
        </p:nvSpPr>
        <p:spPr>
          <a:xfrm>
            <a:off x="640080" y="2651760"/>
            <a:ext cx="3017520" cy="292608"/>
          </a:xfrm>
          <a:prstGeom prst="rect">
            <a:avLst/>
          </a:prstGeom>
          <a:noFill/>
          <a:ln/>
        </p:spPr>
        <p:txBody>
          <a:bodyPr wrap="square" lIns="0" tIns="0" rIns="0" bIns="0" rtlCol="0" anchor="ctr"/>
          <a:lstStyle/>
          <a:p>
            <a:pPr indent="0" marL="0">
              <a:buNone/>
            </a:pPr>
            <a:r>
              <a:rPr lang="en-US" sz="1150" b="1" dirty="0">
                <a:solidFill>
                  <a:srgbClr val="241E33"/>
                </a:solidFill>
                <a:latin typeface="Cambria" pitchFamily="34" charset="0"/>
                <a:ea typeface="Cambria" pitchFamily="34" charset="-122"/>
                <a:cs typeface="Cambria" pitchFamily="34" charset="-120"/>
              </a:rPr>
              <a:t>EBITDA</a:t>
            </a:r>
            <a:endParaRPr lang="en-US" sz="1150" dirty="0"/>
          </a:p>
        </p:txBody>
      </p:sp>
      <p:sp>
        <p:nvSpPr>
          <p:cNvPr id="30" name="Text 28"/>
          <p:cNvSpPr/>
          <p:nvPr/>
        </p:nvSpPr>
        <p:spPr>
          <a:xfrm>
            <a:off x="3794760" y="2651760"/>
            <a:ext cx="1188720" cy="292608"/>
          </a:xfrm>
          <a:prstGeom prst="rect">
            <a:avLst/>
          </a:prstGeom>
          <a:noFill/>
          <a:ln/>
        </p:spPr>
        <p:txBody>
          <a:bodyPr wrap="square" lIns="0" tIns="0" rIns="0" bIns="0" rtlCol="0" anchor="ctr"/>
          <a:lstStyle/>
          <a:p>
            <a:pPr algn="ctr" indent="0" marL="0">
              <a:buNone/>
            </a:pPr>
            <a:r>
              <a:rPr lang="en-US" sz="1100" b="1" dirty="0">
                <a:solidFill>
                  <a:srgbClr val="241E33"/>
                </a:solidFill>
                <a:latin typeface="Calibri" pitchFamily="34" charset="0"/>
                <a:ea typeface="Calibri" pitchFamily="34" charset="-122"/>
                <a:cs typeface="Calibri" pitchFamily="34" charset="-120"/>
              </a:rPr>
              <a:t>$7k</a:t>
            </a:r>
            <a:endParaRPr lang="en-US" sz="1100" dirty="0"/>
          </a:p>
        </p:txBody>
      </p:sp>
      <p:sp>
        <p:nvSpPr>
          <p:cNvPr id="31" name="Text 29"/>
          <p:cNvSpPr/>
          <p:nvPr/>
        </p:nvSpPr>
        <p:spPr>
          <a:xfrm>
            <a:off x="5029200" y="2651760"/>
            <a:ext cx="1188720" cy="292608"/>
          </a:xfrm>
          <a:prstGeom prst="rect">
            <a:avLst/>
          </a:prstGeom>
          <a:noFill/>
          <a:ln/>
        </p:spPr>
        <p:txBody>
          <a:bodyPr wrap="square" lIns="0" tIns="0" rIns="0" bIns="0" rtlCol="0" anchor="ctr"/>
          <a:lstStyle/>
          <a:p>
            <a:pPr algn="ctr" indent="0" marL="0">
              <a:buNone/>
            </a:pPr>
            <a:r>
              <a:rPr lang="en-US" sz="1100" b="1" dirty="0">
                <a:solidFill>
                  <a:srgbClr val="241E33"/>
                </a:solidFill>
                <a:latin typeface="Calibri" pitchFamily="34" charset="0"/>
                <a:ea typeface="Calibri" pitchFamily="34" charset="-122"/>
                <a:cs typeface="Calibri" pitchFamily="34" charset="-120"/>
              </a:rPr>
              <a:t>$53k</a:t>
            </a:r>
            <a:endParaRPr lang="en-US" sz="1100" dirty="0"/>
          </a:p>
        </p:txBody>
      </p:sp>
      <p:sp>
        <p:nvSpPr>
          <p:cNvPr id="32" name="Text 30"/>
          <p:cNvSpPr/>
          <p:nvPr/>
        </p:nvSpPr>
        <p:spPr>
          <a:xfrm>
            <a:off x="6263640" y="2651760"/>
            <a:ext cx="1188720" cy="292608"/>
          </a:xfrm>
          <a:prstGeom prst="rect">
            <a:avLst/>
          </a:prstGeom>
          <a:noFill/>
          <a:ln/>
        </p:spPr>
        <p:txBody>
          <a:bodyPr wrap="square" lIns="0" tIns="0" rIns="0" bIns="0" rtlCol="0" anchor="ctr"/>
          <a:lstStyle/>
          <a:p>
            <a:pPr algn="ctr" indent="0" marL="0">
              <a:buNone/>
            </a:pPr>
            <a:r>
              <a:rPr lang="en-US" sz="1100" b="1" dirty="0">
                <a:solidFill>
                  <a:srgbClr val="241E33"/>
                </a:solidFill>
                <a:latin typeface="Calibri" pitchFamily="34" charset="0"/>
                <a:ea typeface="Calibri" pitchFamily="34" charset="-122"/>
                <a:cs typeface="Calibri" pitchFamily="34" charset="-120"/>
              </a:rPr>
              <a:t>$210k</a:t>
            </a:r>
            <a:endParaRPr lang="en-US" sz="1100" dirty="0"/>
          </a:p>
        </p:txBody>
      </p:sp>
      <p:sp>
        <p:nvSpPr>
          <p:cNvPr id="33" name="Text 31"/>
          <p:cNvSpPr/>
          <p:nvPr/>
        </p:nvSpPr>
        <p:spPr>
          <a:xfrm>
            <a:off x="7498080" y="2651760"/>
            <a:ext cx="1188720" cy="292608"/>
          </a:xfrm>
          <a:prstGeom prst="rect">
            <a:avLst/>
          </a:prstGeom>
          <a:noFill/>
          <a:ln/>
        </p:spPr>
        <p:txBody>
          <a:bodyPr wrap="square" lIns="0" tIns="0" rIns="0" bIns="0" rtlCol="0" anchor="ctr"/>
          <a:lstStyle/>
          <a:p>
            <a:pPr algn="ctr" indent="0" marL="0">
              <a:buNone/>
            </a:pPr>
            <a:r>
              <a:rPr lang="en-US" sz="1100" b="1" dirty="0">
                <a:solidFill>
                  <a:srgbClr val="241E33"/>
                </a:solidFill>
                <a:latin typeface="Calibri" pitchFamily="34" charset="0"/>
                <a:ea typeface="Calibri" pitchFamily="34" charset="-122"/>
                <a:cs typeface="Calibri" pitchFamily="34" charset="-120"/>
              </a:rPr>
              <a:t>$450k</a:t>
            </a:r>
            <a:endParaRPr lang="en-US" sz="1100" dirty="0"/>
          </a:p>
        </p:txBody>
      </p:sp>
      <p:sp>
        <p:nvSpPr>
          <p:cNvPr id="34" name="Text 32"/>
          <p:cNvSpPr/>
          <p:nvPr/>
        </p:nvSpPr>
        <p:spPr>
          <a:xfrm>
            <a:off x="8732520" y="2651760"/>
            <a:ext cx="1188720" cy="292608"/>
          </a:xfrm>
          <a:prstGeom prst="rect">
            <a:avLst/>
          </a:prstGeom>
          <a:noFill/>
          <a:ln/>
        </p:spPr>
        <p:txBody>
          <a:bodyPr wrap="square" lIns="0" tIns="0" rIns="0" bIns="0" rtlCol="0" anchor="ctr"/>
          <a:lstStyle/>
          <a:p>
            <a:pPr algn="ctr" indent="0" marL="0">
              <a:buNone/>
            </a:pPr>
            <a:r>
              <a:rPr lang="en-US" sz="1100" b="1" dirty="0">
                <a:solidFill>
                  <a:srgbClr val="241E33"/>
                </a:solidFill>
                <a:latin typeface="Calibri" pitchFamily="34" charset="0"/>
                <a:ea typeface="Calibri" pitchFamily="34" charset="-122"/>
                <a:cs typeface="Calibri" pitchFamily="34" charset="-120"/>
              </a:rPr>
              <a:t>$829k</a:t>
            </a:r>
            <a:endParaRPr lang="en-US" sz="1100" dirty="0"/>
          </a:p>
        </p:txBody>
      </p:sp>
      <p:sp>
        <p:nvSpPr>
          <p:cNvPr id="35" name="Shape 33"/>
          <p:cNvSpPr/>
          <p:nvPr/>
        </p:nvSpPr>
        <p:spPr>
          <a:xfrm>
            <a:off x="512064" y="3017520"/>
            <a:ext cx="9509760" cy="274320"/>
          </a:xfrm>
          <a:prstGeom prst="roundRect">
            <a:avLst>
              <a:gd name="adj" fmla="val 30000"/>
            </a:avLst>
          </a:prstGeom>
          <a:solidFill>
            <a:srgbClr val="178A4C"/>
          </a:solidFill>
          <a:ln/>
        </p:spPr>
      </p:sp>
      <p:sp>
        <p:nvSpPr>
          <p:cNvPr id="36" name="Text 34"/>
          <p:cNvSpPr/>
          <p:nvPr/>
        </p:nvSpPr>
        <p:spPr>
          <a:xfrm>
            <a:off x="694944" y="3017520"/>
            <a:ext cx="3017520" cy="274320"/>
          </a:xfrm>
          <a:prstGeom prst="rect">
            <a:avLst/>
          </a:prstGeom>
          <a:noFill/>
          <a:ln/>
        </p:spPr>
        <p:txBody>
          <a:bodyPr wrap="square" lIns="0" tIns="0" rIns="0" bIns="0" rtlCol="0" anchor="ctr"/>
          <a:lstStyle/>
          <a:p>
            <a:pPr indent="0" marL="0">
              <a:buNone/>
            </a:pPr>
            <a:r>
              <a:rPr lang="en-US" sz="950" b="1" spc="160" kern="0" dirty="0">
                <a:solidFill>
                  <a:srgbClr val="FFFFFF"/>
                </a:solidFill>
                <a:latin typeface="Calibri" pitchFamily="34" charset="0"/>
                <a:ea typeface="Calibri" pitchFamily="34" charset="-122"/>
                <a:cs typeface="Calibri" pitchFamily="34" charset="-120"/>
              </a:rPr>
              <a:t>AGGRESSIVE CASE — 6 / 30 / 90 / 200 / 340 per week</a:t>
            </a:r>
            <a:endParaRPr lang="en-US" sz="950" dirty="0"/>
          </a:p>
        </p:txBody>
      </p:sp>
      <p:sp>
        <p:nvSpPr>
          <p:cNvPr id="37" name="Text 35"/>
          <p:cNvSpPr/>
          <p:nvPr/>
        </p:nvSpPr>
        <p:spPr>
          <a:xfrm>
            <a:off x="3794760" y="3017520"/>
            <a:ext cx="11887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Y1</a:t>
            </a:r>
            <a:endParaRPr lang="en-US" sz="900" dirty="0"/>
          </a:p>
        </p:txBody>
      </p:sp>
      <p:sp>
        <p:nvSpPr>
          <p:cNvPr id="38" name="Text 36"/>
          <p:cNvSpPr/>
          <p:nvPr/>
        </p:nvSpPr>
        <p:spPr>
          <a:xfrm>
            <a:off x="5029200" y="3017520"/>
            <a:ext cx="11887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Y2</a:t>
            </a:r>
            <a:endParaRPr lang="en-US" sz="900" dirty="0"/>
          </a:p>
        </p:txBody>
      </p:sp>
      <p:sp>
        <p:nvSpPr>
          <p:cNvPr id="39" name="Text 37"/>
          <p:cNvSpPr/>
          <p:nvPr/>
        </p:nvSpPr>
        <p:spPr>
          <a:xfrm>
            <a:off x="6263640" y="3017520"/>
            <a:ext cx="11887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Y3</a:t>
            </a:r>
            <a:endParaRPr lang="en-US" sz="900" dirty="0"/>
          </a:p>
        </p:txBody>
      </p:sp>
      <p:sp>
        <p:nvSpPr>
          <p:cNvPr id="40" name="Text 38"/>
          <p:cNvSpPr/>
          <p:nvPr/>
        </p:nvSpPr>
        <p:spPr>
          <a:xfrm>
            <a:off x="7498080" y="3017520"/>
            <a:ext cx="11887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Y4</a:t>
            </a:r>
            <a:endParaRPr lang="en-US" sz="900" dirty="0"/>
          </a:p>
        </p:txBody>
      </p:sp>
      <p:sp>
        <p:nvSpPr>
          <p:cNvPr id="41" name="Text 39"/>
          <p:cNvSpPr/>
          <p:nvPr/>
        </p:nvSpPr>
        <p:spPr>
          <a:xfrm>
            <a:off x="8732520" y="3017520"/>
            <a:ext cx="11887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Y5</a:t>
            </a:r>
            <a:endParaRPr lang="en-US" sz="900" dirty="0"/>
          </a:p>
        </p:txBody>
      </p:sp>
      <p:sp>
        <p:nvSpPr>
          <p:cNvPr id="42" name="Text 40"/>
          <p:cNvSpPr/>
          <p:nvPr/>
        </p:nvSpPr>
        <p:spPr>
          <a:xfrm>
            <a:off x="640080" y="3310128"/>
            <a:ext cx="3017520" cy="292608"/>
          </a:xfrm>
          <a:prstGeom prst="rect">
            <a:avLst/>
          </a:prstGeom>
          <a:noFill/>
          <a:ln/>
        </p:spPr>
        <p:txBody>
          <a:bodyPr wrap="square" lIns="0" tIns="0" rIns="0" bIns="0" rtlCol="0" anchor="ctr"/>
          <a:lstStyle/>
          <a:p>
            <a:pPr indent="0" marL="0">
              <a:buNone/>
            </a:pPr>
            <a:r>
              <a:rPr lang="en-US" sz="1050" dirty="0">
                <a:solidFill>
                  <a:srgbClr val="4A4360"/>
                </a:solidFill>
                <a:latin typeface="Calibri" pitchFamily="34" charset="0"/>
                <a:ea typeface="Calibri" pitchFamily="34" charset="-122"/>
                <a:cs typeface="Calibri" pitchFamily="34" charset="-120"/>
              </a:rPr>
              <a:t>Paying households</a:t>
            </a:r>
            <a:endParaRPr lang="en-US" sz="1050" dirty="0"/>
          </a:p>
        </p:txBody>
      </p:sp>
      <p:sp>
        <p:nvSpPr>
          <p:cNvPr id="43" name="Text 41"/>
          <p:cNvSpPr/>
          <p:nvPr/>
        </p:nvSpPr>
        <p:spPr>
          <a:xfrm>
            <a:off x="3794760" y="3310128"/>
            <a:ext cx="1188720" cy="292608"/>
          </a:xfrm>
          <a:prstGeom prst="rect">
            <a:avLst/>
          </a:prstGeom>
          <a:noFill/>
          <a:ln/>
        </p:spPr>
        <p:txBody>
          <a:bodyPr wrap="square" lIns="0" tIns="0" rIns="0" bIns="0" rtlCol="0" anchor="ctr"/>
          <a:lstStyle/>
          <a:p>
            <a:pPr algn="ctr" indent="0" marL="0">
              <a:buNone/>
            </a:pPr>
            <a:r>
              <a:rPr lang="en-US" sz="1000" dirty="0">
                <a:solidFill>
                  <a:srgbClr val="4A4360"/>
                </a:solidFill>
                <a:latin typeface="Calibri" pitchFamily="34" charset="0"/>
                <a:ea typeface="Calibri" pitchFamily="34" charset="-122"/>
                <a:cs typeface="Calibri" pitchFamily="34" charset="-120"/>
              </a:rPr>
              <a:t>312</a:t>
            </a:r>
            <a:endParaRPr lang="en-US" sz="1000" dirty="0"/>
          </a:p>
        </p:txBody>
      </p:sp>
      <p:sp>
        <p:nvSpPr>
          <p:cNvPr id="44" name="Text 42"/>
          <p:cNvSpPr/>
          <p:nvPr/>
        </p:nvSpPr>
        <p:spPr>
          <a:xfrm>
            <a:off x="5029200" y="3310128"/>
            <a:ext cx="1188720" cy="292608"/>
          </a:xfrm>
          <a:prstGeom prst="rect">
            <a:avLst/>
          </a:prstGeom>
          <a:noFill/>
          <a:ln/>
        </p:spPr>
        <p:txBody>
          <a:bodyPr wrap="square" lIns="0" tIns="0" rIns="0" bIns="0" rtlCol="0" anchor="ctr"/>
          <a:lstStyle/>
          <a:p>
            <a:pPr algn="ctr" indent="0" marL="0">
              <a:buNone/>
            </a:pPr>
            <a:r>
              <a:rPr lang="en-US" sz="1000" dirty="0">
                <a:solidFill>
                  <a:srgbClr val="4A4360"/>
                </a:solidFill>
                <a:latin typeface="Calibri" pitchFamily="34" charset="0"/>
                <a:ea typeface="Calibri" pitchFamily="34" charset="-122"/>
                <a:cs typeface="Calibri" pitchFamily="34" charset="-120"/>
              </a:rPr>
              <a:t>1,778</a:t>
            </a:r>
            <a:endParaRPr lang="en-US" sz="1000" dirty="0"/>
          </a:p>
        </p:txBody>
      </p:sp>
      <p:sp>
        <p:nvSpPr>
          <p:cNvPr id="45" name="Text 43"/>
          <p:cNvSpPr/>
          <p:nvPr/>
        </p:nvSpPr>
        <p:spPr>
          <a:xfrm>
            <a:off x="6263640" y="3310128"/>
            <a:ext cx="1188720" cy="292608"/>
          </a:xfrm>
          <a:prstGeom prst="rect">
            <a:avLst/>
          </a:prstGeom>
          <a:noFill/>
          <a:ln/>
        </p:spPr>
        <p:txBody>
          <a:bodyPr wrap="square" lIns="0" tIns="0" rIns="0" bIns="0" rtlCol="0" anchor="ctr"/>
          <a:lstStyle/>
          <a:p>
            <a:pPr algn="ctr" indent="0" marL="0">
              <a:buNone/>
            </a:pPr>
            <a:r>
              <a:rPr lang="en-US" sz="1000" dirty="0">
                <a:solidFill>
                  <a:srgbClr val="4A4360"/>
                </a:solidFill>
                <a:latin typeface="Calibri" pitchFamily="34" charset="0"/>
                <a:ea typeface="Calibri" pitchFamily="34" charset="-122"/>
                <a:cs typeface="Calibri" pitchFamily="34" charset="-120"/>
              </a:rPr>
              <a:t>5,925</a:t>
            </a:r>
            <a:endParaRPr lang="en-US" sz="1000" dirty="0"/>
          </a:p>
        </p:txBody>
      </p:sp>
      <p:sp>
        <p:nvSpPr>
          <p:cNvPr id="46" name="Text 44"/>
          <p:cNvSpPr/>
          <p:nvPr/>
        </p:nvSpPr>
        <p:spPr>
          <a:xfrm>
            <a:off x="7498080" y="3310128"/>
            <a:ext cx="1188720" cy="292608"/>
          </a:xfrm>
          <a:prstGeom prst="rect">
            <a:avLst/>
          </a:prstGeom>
          <a:noFill/>
          <a:ln/>
        </p:spPr>
        <p:txBody>
          <a:bodyPr wrap="square" lIns="0" tIns="0" rIns="0" bIns="0" rtlCol="0" anchor="ctr"/>
          <a:lstStyle/>
          <a:p>
            <a:pPr algn="ctr" indent="0" marL="0">
              <a:buNone/>
            </a:pPr>
            <a:r>
              <a:rPr lang="en-US" sz="1000" dirty="0">
                <a:solidFill>
                  <a:srgbClr val="4A4360"/>
                </a:solidFill>
                <a:latin typeface="Calibri" pitchFamily="34" charset="0"/>
                <a:ea typeface="Calibri" pitchFamily="34" charset="-122"/>
                <a:cs typeface="Calibri" pitchFamily="34" charset="-120"/>
              </a:rPr>
              <a:t>14.5k</a:t>
            </a:r>
            <a:endParaRPr lang="en-US" sz="1000" dirty="0"/>
          </a:p>
        </p:txBody>
      </p:sp>
      <p:sp>
        <p:nvSpPr>
          <p:cNvPr id="47" name="Text 45"/>
          <p:cNvSpPr/>
          <p:nvPr/>
        </p:nvSpPr>
        <p:spPr>
          <a:xfrm>
            <a:off x="8732520" y="3310128"/>
            <a:ext cx="1188720" cy="292608"/>
          </a:xfrm>
          <a:prstGeom prst="rect">
            <a:avLst/>
          </a:prstGeom>
          <a:noFill/>
          <a:ln/>
        </p:spPr>
        <p:txBody>
          <a:bodyPr wrap="square" lIns="0" tIns="0" rIns="0" bIns="0" rtlCol="0" anchor="ctr"/>
          <a:lstStyle/>
          <a:p>
            <a:pPr algn="ctr" indent="0" marL="0">
              <a:buNone/>
            </a:pPr>
            <a:r>
              <a:rPr lang="en-US" sz="1000" dirty="0">
                <a:solidFill>
                  <a:srgbClr val="4A4360"/>
                </a:solidFill>
                <a:latin typeface="Calibri" pitchFamily="34" charset="0"/>
                <a:ea typeface="Calibri" pitchFamily="34" charset="-122"/>
                <a:cs typeface="Calibri" pitchFamily="34" charset="-120"/>
              </a:rPr>
              <a:t>27.9k</a:t>
            </a:r>
            <a:endParaRPr lang="en-US" sz="1000" dirty="0"/>
          </a:p>
        </p:txBody>
      </p:sp>
      <p:sp>
        <p:nvSpPr>
          <p:cNvPr id="48" name="Text 46"/>
          <p:cNvSpPr/>
          <p:nvPr/>
        </p:nvSpPr>
        <p:spPr>
          <a:xfrm>
            <a:off x="640080" y="3639312"/>
            <a:ext cx="3017520" cy="292608"/>
          </a:xfrm>
          <a:prstGeom prst="rect">
            <a:avLst/>
          </a:prstGeom>
          <a:noFill/>
          <a:ln/>
        </p:spPr>
        <p:txBody>
          <a:bodyPr wrap="square" lIns="0" tIns="0" rIns="0" bIns="0" rtlCol="0" anchor="ctr"/>
          <a:lstStyle/>
          <a:p>
            <a:pPr indent="0" marL="0">
              <a:buNone/>
            </a:pPr>
            <a:r>
              <a:rPr lang="en-US" sz="1150" b="1" dirty="0">
                <a:solidFill>
                  <a:srgbClr val="241E33"/>
                </a:solidFill>
                <a:latin typeface="Cambria" pitchFamily="34" charset="0"/>
                <a:ea typeface="Cambria" pitchFamily="34" charset="-122"/>
                <a:cs typeface="Cambria" pitchFamily="34" charset="-120"/>
              </a:rPr>
              <a:t>Revenue</a:t>
            </a:r>
            <a:endParaRPr lang="en-US" sz="1150" dirty="0"/>
          </a:p>
        </p:txBody>
      </p:sp>
      <p:sp>
        <p:nvSpPr>
          <p:cNvPr id="49" name="Text 47"/>
          <p:cNvSpPr/>
          <p:nvPr/>
        </p:nvSpPr>
        <p:spPr>
          <a:xfrm>
            <a:off x="3794760" y="3639312"/>
            <a:ext cx="1188720" cy="292608"/>
          </a:xfrm>
          <a:prstGeom prst="rect">
            <a:avLst/>
          </a:prstGeom>
          <a:noFill/>
          <a:ln/>
        </p:spPr>
        <p:txBody>
          <a:bodyPr wrap="square" lIns="0" tIns="0" rIns="0" bIns="0" rtlCol="0" anchor="ctr"/>
          <a:lstStyle/>
          <a:p>
            <a:pPr algn="ctr" indent="0" marL="0">
              <a:buNone/>
            </a:pPr>
            <a:r>
              <a:rPr lang="en-US" sz="1100" b="1" dirty="0">
                <a:solidFill>
                  <a:srgbClr val="241E33"/>
                </a:solidFill>
                <a:latin typeface="Calibri" pitchFamily="34" charset="0"/>
                <a:ea typeface="Calibri" pitchFamily="34" charset="-122"/>
                <a:cs typeface="Calibri" pitchFamily="34" charset="-120"/>
              </a:rPr>
              <a:t>$39k</a:t>
            </a:r>
            <a:endParaRPr lang="en-US" sz="1100" dirty="0"/>
          </a:p>
        </p:txBody>
      </p:sp>
      <p:sp>
        <p:nvSpPr>
          <p:cNvPr id="50" name="Text 48"/>
          <p:cNvSpPr/>
          <p:nvPr/>
        </p:nvSpPr>
        <p:spPr>
          <a:xfrm>
            <a:off x="5029200" y="3639312"/>
            <a:ext cx="1188720" cy="292608"/>
          </a:xfrm>
          <a:prstGeom prst="rect">
            <a:avLst/>
          </a:prstGeom>
          <a:noFill/>
          <a:ln/>
        </p:spPr>
        <p:txBody>
          <a:bodyPr wrap="square" lIns="0" tIns="0" rIns="0" bIns="0" rtlCol="0" anchor="ctr"/>
          <a:lstStyle/>
          <a:p>
            <a:pPr algn="ctr" indent="0" marL="0">
              <a:buNone/>
            </a:pPr>
            <a:r>
              <a:rPr lang="en-US" sz="1100" b="1" dirty="0">
                <a:solidFill>
                  <a:srgbClr val="241E33"/>
                </a:solidFill>
                <a:latin typeface="Calibri" pitchFamily="34" charset="0"/>
                <a:ea typeface="Calibri" pitchFamily="34" charset="-122"/>
                <a:cs typeface="Calibri" pitchFamily="34" charset="-120"/>
              </a:rPr>
              <a:t>$257k</a:t>
            </a:r>
            <a:endParaRPr lang="en-US" sz="1100" dirty="0"/>
          </a:p>
        </p:txBody>
      </p:sp>
      <p:sp>
        <p:nvSpPr>
          <p:cNvPr id="51" name="Text 49"/>
          <p:cNvSpPr/>
          <p:nvPr/>
        </p:nvSpPr>
        <p:spPr>
          <a:xfrm>
            <a:off x="6263640" y="3639312"/>
            <a:ext cx="1188720" cy="292608"/>
          </a:xfrm>
          <a:prstGeom prst="rect">
            <a:avLst/>
          </a:prstGeom>
          <a:noFill/>
          <a:ln/>
        </p:spPr>
        <p:txBody>
          <a:bodyPr wrap="square" lIns="0" tIns="0" rIns="0" bIns="0" rtlCol="0" anchor="ctr"/>
          <a:lstStyle/>
          <a:p>
            <a:pPr algn="ctr" indent="0" marL="0">
              <a:buNone/>
            </a:pPr>
            <a:r>
              <a:rPr lang="en-US" sz="1100" b="1" dirty="0">
                <a:solidFill>
                  <a:srgbClr val="241E33"/>
                </a:solidFill>
                <a:latin typeface="Calibri" pitchFamily="34" charset="0"/>
                <a:ea typeface="Calibri" pitchFamily="34" charset="-122"/>
                <a:cs typeface="Calibri" pitchFamily="34" charset="-120"/>
              </a:rPr>
              <a:t>$1.02M</a:t>
            </a:r>
            <a:endParaRPr lang="en-US" sz="1100" dirty="0"/>
          </a:p>
        </p:txBody>
      </p:sp>
      <p:sp>
        <p:nvSpPr>
          <p:cNvPr id="52" name="Text 50"/>
          <p:cNvSpPr/>
          <p:nvPr/>
        </p:nvSpPr>
        <p:spPr>
          <a:xfrm>
            <a:off x="7498080" y="3639312"/>
            <a:ext cx="1188720" cy="292608"/>
          </a:xfrm>
          <a:prstGeom prst="rect">
            <a:avLst/>
          </a:prstGeom>
          <a:noFill/>
          <a:ln/>
        </p:spPr>
        <p:txBody>
          <a:bodyPr wrap="square" lIns="0" tIns="0" rIns="0" bIns="0" rtlCol="0" anchor="ctr"/>
          <a:lstStyle/>
          <a:p>
            <a:pPr algn="ctr" indent="0" marL="0">
              <a:buNone/>
            </a:pPr>
            <a:r>
              <a:rPr lang="en-US" sz="1100" b="1" dirty="0">
                <a:solidFill>
                  <a:srgbClr val="241E33"/>
                </a:solidFill>
                <a:latin typeface="Calibri" pitchFamily="34" charset="0"/>
                <a:ea typeface="Calibri" pitchFamily="34" charset="-122"/>
                <a:cs typeface="Calibri" pitchFamily="34" charset="-120"/>
              </a:rPr>
              <a:t>$2.68M</a:t>
            </a:r>
            <a:endParaRPr lang="en-US" sz="1100" dirty="0"/>
          </a:p>
        </p:txBody>
      </p:sp>
      <p:sp>
        <p:nvSpPr>
          <p:cNvPr id="53" name="Text 51"/>
          <p:cNvSpPr/>
          <p:nvPr/>
        </p:nvSpPr>
        <p:spPr>
          <a:xfrm>
            <a:off x="8732520" y="3639312"/>
            <a:ext cx="1188720" cy="292608"/>
          </a:xfrm>
          <a:prstGeom prst="rect">
            <a:avLst/>
          </a:prstGeom>
          <a:noFill/>
          <a:ln/>
        </p:spPr>
        <p:txBody>
          <a:bodyPr wrap="square" lIns="0" tIns="0" rIns="0" bIns="0" rtlCol="0" anchor="ctr"/>
          <a:lstStyle/>
          <a:p>
            <a:pPr algn="ctr" indent="0" marL="0">
              <a:buNone/>
            </a:pPr>
            <a:r>
              <a:rPr lang="en-US" sz="1100" b="1" dirty="0">
                <a:solidFill>
                  <a:srgbClr val="241E33"/>
                </a:solidFill>
                <a:latin typeface="Calibri" pitchFamily="34" charset="0"/>
                <a:ea typeface="Calibri" pitchFamily="34" charset="-122"/>
                <a:cs typeface="Calibri" pitchFamily="34" charset="-120"/>
              </a:rPr>
              <a:t>$5.37M</a:t>
            </a:r>
            <a:endParaRPr lang="en-US" sz="1100" dirty="0"/>
          </a:p>
        </p:txBody>
      </p:sp>
      <p:sp>
        <p:nvSpPr>
          <p:cNvPr id="54" name="Text 52"/>
          <p:cNvSpPr/>
          <p:nvPr/>
        </p:nvSpPr>
        <p:spPr>
          <a:xfrm>
            <a:off x="640080" y="3968496"/>
            <a:ext cx="3017520" cy="292608"/>
          </a:xfrm>
          <a:prstGeom prst="rect">
            <a:avLst/>
          </a:prstGeom>
          <a:noFill/>
          <a:ln/>
        </p:spPr>
        <p:txBody>
          <a:bodyPr wrap="square" lIns="0" tIns="0" rIns="0" bIns="0" rtlCol="0" anchor="ctr"/>
          <a:lstStyle/>
          <a:p>
            <a:pPr indent="0" marL="0">
              <a:buNone/>
            </a:pPr>
            <a:r>
              <a:rPr lang="en-US" sz="1050" dirty="0">
                <a:solidFill>
                  <a:srgbClr val="4A4360"/>
                </a:solidFill>
                <a:latin typeface="Calibri" pitchFamily="34" charset="0"/>
                <a:ea typeface="Calibri" pitchFamily="34" charset="-122"/>
                <a:cs typeface="Calibri" pitchFamily="34" charset="-120"/>
              </a:rPr>
              <a:t>Operating cost</a:t>
            </a:r>
            <a:endParaRPr lang="en-US" sz="1050" dirty="0"/>
          </a:p>
        </p:txBody>
      </p:sp>
      <p:sp>
        <p:nvSpPr>
          <p:cNvPr id="55" name="Text 53"/>
          <p:cNvSpPr/>
          <p:nvPr/>
        </p:nvSpPr>
        <p:spPr>
          <a:xfrm>
            <a:off x="3794760" y="3968496"/>
            <a:ext cx="1188720" cy="292608"/>
          </a:xfrm>
          <a:prstGeom prst="rect">
            <a:avLst/>
          </a:prstGeom>
          <a:noFill/>
          <a:ln/>
        </p:spPr>
        <p:txBody>
          <a:bodyPr wrap="square" lIns="0" tIns="0" rIns="0" bIns="0" rtlCol="0" anchor="ctr"/>
          <a:lstStyle/>
          <a:p>
            <a:pPr algn="ctr" indent="0" marL="0">
              <a:buNone/>
            </a:pPr>
            <a:r>
              <a:rPr lang="en-US" sz="1000" dirty="0">
                <a:solidFill>
                  <a:srgbClr val="4A4360"/>
                </a:solidFill>
                <a:latin typeface="Calibri" pitchFamily="34" charset="0"/>
                <a:ea typeface="Calibri" pitchFamily="34" charset="-122"/>
                <a:cs typeface="Calibri" pitchFamily="34" charset="-120"/>
              </a:rPr>
              <a:t>$21k</a:t>
            </a:r>
            <a:endParaRPr lang="en-US" sz="1000" dirty="0"/>
          </a:p>
        </p:txBody>
      </p:sp>
      <p:sp>
        <p:nvSpPr>
          <p:cNvPr id="56" name="Text 54"/>
          <p:cNvSpPr/>
          <p:nvPr/>
        </p:nvSpPr>
        <p:spPr>
          <a:xfrm>
            <a:off x="5029200" y="3968496"/>
            <a:ext cx="1188720" cy="292608"/>
          </a:xfrm>
          <a:prstGeom prst="rect">
            <a:avLst/>
          </a:prstGeom>
          <a:noFill/>
          <a:ln/>
        </p:spPr>
        <p:txBody>
          <a:bodyPr wrap="square" lIns="0" tIns="0" rIns="0" bIns="0" rtlCol="0" anchor="ctr"/>
          <a:lstStyle/>
          <a:p>
            <a:pPr algn="ctr" indent="0" marL="0">
              <a:buNone/>
            </a:pPr>
            <a:r>
              <a:rPr lang="en-US" sz="1000" dirty="0">
                <a:solidFill>
                  <a:srgbClr val="4A4360"/>
                </a:solidFill>
                <a:latin typeface="Calibri" pitchFamily="34" charset="0"/>
                <a:ea typeface="Calibri" pitchFamily="34" charset="-122"/>
                <a:cs typeface="Calibri" pitchFamily="34" charset="-120"/>
              </a:rPr>
              <a:t>$142k</a:t>
            </a:r>
            <a:endParaRPr lang="en-US" sz="1000" dirty="0"/>
          </a:p>
        </p:txBody>
      </p:sp>
      <p:sp>
        <p:nvSpPr>
          <p:cNvPr id="57" name="Text 55"/>
          <p:cNvSpPr/>
          <p:nvPr/>
        </p:nvSpPr>
        <p:spPr>
          <a:xfrm>
            <a:off x="6263640" y="3968496"/>
            <a:ext cx="1188720" cy="292608"/>
          </a:xfrm>
          <a:prstGeom prst="rect">
            <a:avLst/>
          </a:prstGeom>
          <a:noFill/>
          <a:ln/>
        </p:spPr>
        <p:txBody>
          <a:bodyPr wrap="square" lIns="0" tIns="0" rIns="0" bIns="0" rtlCol="0" anchor="ctr"/>
          <a:lstStyle/>
          <a:p>
            <a:pPr algn="ctr" indent="0" marL="0">
              <a:buNone/>
            </a:pPr>
            <a:r>
              <a:rPr lang="en-US" sz="1000" dirty="0">
                <a:solidFill>
                  <a:srgbClr val="4A4360"/>
                </a:solidFill>
                <a:latin typeface="Calibri" pitchFamily="34" charset="0"/>
                <a:ea typeface="Calibri" pitchFamily="34" charset="-122"/>
                <a:cs typeface="Calibri" pitchFamily="34" charset="-120"/>
              </a:rPr>
              <a:t>$633k</a:t>
            </a:r>
            <a:endParaRPr lang="en-US" sz="1000" dirty="0"/>
          </a:p>
        </p:txBody>
      </p:sp>
      <p:sp>
        <p:nvSpPr>
          <p:cNvPr id="58" name="Text 56"/>
          <p:cNvSpPr/>
          <p:nvPr/>
        </p:nvSpPr>
        <p:spPr>
          <a:xfrm>
            <a:off x="7498080" y="3968496"/>
            <a:ext cx="1188720" cy="292608"/>
          </a:xfrm>
          <a:prstGeom prst="rect">
            <a:avLst/>
          </a:prstGeom>
          <a:noFill/>
          <a:ln/>
        </p:spPr>
        <p:txBody>
          <a:bodyPr wrap="square" lIns="0" tIns="0" rIns="0" bIns="0" rtlCol="0" anchor="ctr"/>
          <a:lstStyle/>
          <a:p>
            <a:pPr algn="ctr" indent="0" marL="0">
              <a:buNone/>
            </a:pPr>
            <a:r>
              <a:rPr lang="en-US" sz="1000" dirty="0">
                <a:solidFill>
                  <a:srgbClr val="4A4360"/>
                </a:solidFill>
                <a:latin typeface="Calibri" pitchFamily="34" charset="0"/>
                <a:ea typeface="Calibri" pitchFamily="34" charset="-122"/>
                <a:cs typeface="Calibri" pitchFamily="34" charset="-120"/>
              </a:rPr>
              <a:t>$1.82M</a:t>
            </a:r>
            <a:endParaRPr lang="en-US" sz="1000" dirty="0"/>
          </a:p>
        </p:txBody>
      </p:sp>
      <p:sp>
        <p:nvSpPr>
          <p:cNvPr id="59" name="Text 57"/>
          <p:cNvSpPr/>
          <p:nvPr/>
        </p:nvSpPr>
        <p:spPr>
          <a:xfrm>
            <a:off x="8732520" y="3968496"/>
            <a:ext cx="1188720" cy="292608"/>
          </a:xfrm>
          <a:prstGeom prst="rect">
            <a:avLst/>
          </a:prstGeom>
          <a:noFill/>
          <a:ln/>
        </p:spPr>
        <p:txBody>
          <a:bodyPr wrap="square" lIns="0" tIns="0" rIns="0" bIns="0" rtlCol="0" anchor="ctr"/>
          <a:lstStyle/>
          <a:p>
            <a:pPr algn="ctr" indent="0" marL="0">
              <a:buNone/>
            </a:pPr>
            <a:r>
              <a:rPr lang="en-US" sz="1000" dirty="0">
                <a:solidFill>
                  <a:srgbClr val="4A4360"/>
                </a:solidFill>
                <a:latin typeface="Calibri" pitchFamily="34" charset="0"/>
                <a:ea typeface="Calibri" pitchFamily="34" charset="-122"/>
                <a:cs typeface="Calibri" pitchFamily="34" charset="-120"/>
              </a:rPr>
              <a:t>$3.75M</a:t>
            </a:r>
            <a:endParaRPr lang="en-US" sz="1000" dirty="0"/>
          </a:p>
        </p:txBody>
      </p:sp>
      <p:sp>
        <p:nvSpPr>
          <p:cNvPr id="60" name="Text 58"/>
          <p:cNvSpPr/>
          <p:nvPr/>
        </p:nvSpPr>
        <p:spPr>
          <a:xfrm>
            <a:off x="640080" y="4297680"/>
            <a:ext cx="3017520" cy="292608"/>
          </a:xfrm>
          <a:prstGeom prst="rect">
            <a:avLst/>
          </a:prstGeom>
          <a:noFill/>
          <a:ln/>
        </p:spPr>
        <p:txBody>
          <a:bodyPr wrap="square" lIns="0" tIns="0" rIns="0" bIns="0" rtlCol="0" anchor="ctr"/>
          <a:lstStyle/>
          <a:p>
            <a:pPr indent="0" marL="0">
              <a:buNone/>
            </a:pPr>
            <a:r>
              <a:rPr lang="en-US" sz="1150" b="1" dirty="0">
                <a:solidFill>
                  <a:srgbClr val="241E33"/>
                </a:solidFill>
                <a:latin typeface="Cambria" pitchFamily="34" charset="0"/>
                <a:ea typeface="Cambria" pitchFamily="34" charset="-122"/>
                <a:cs typeface="Cambria" pitchFamily="34" charset="-120"/>
              </a:rPr>
              <a:t>EBITDA</a:t>
            </a:r>
            <a:endParaRPr lang="en-US" sz="1150" dirty="0"/>
          </a:p>
        </p:txBody>
      </p:sp>
      <p:sp>
        <p:nvSpPr>
          <p:cNvPr id="61" name="Text 59"/>
          <p:cNvSpPr/>
          <p:nvPr/>
        </p:nvSpPr>
        <p:spPr>
          <a:xfrm>
            <a:off x="3794760" y="4297680"/>
            <a:ext cx="1188720" cy="292608"/>
          </a:xfrm>
          <a:prstGeom prst="rect">
            <a:avLst/>
          </a:prstGeom>
          <a:noFill/>
          <a:ln/>
        </p:spPr>
        <p:txBody>
          <a:bodyPr wrap="square" lIns="0" tIns="0" rIns="0" bIns="0" rtlCol="0" anchor="ctr"/>
          <a:lstStyle/>
          <a:p>
            <a:pPr algn="ctr" indent="0" marL="0">
              <a:buNone/>
            </a:pPr>
            <a:r>
              <a:rPr lang="en-US" sz="1100" b="1" dirty="0">
                <a:solidFill>
                  <a:srgbClr val="241E33"/>
                </a:solidFill>
                <a:latin typeface="Calibri" pitchFamily="34" charset="0"/>
                <a:ea typeface="Calibri" pitchFamily="34" charset="-122"/>
                <a:cs typeface="Calibri" pitchFamily="34" charset="-120"/>
              </a:rPr>
              <a:t>$18k</a:t>
            </a:r>
            <a:endParaRPr lang="en-US" sz="1100" dirty="0"/>
          </a:p>
        </p:txBody>
      </p:sp>
      <p:sp>
        <p:nvSpPr>
          <p:cNvPr id="62" name="Text 60"/>
          <p:cNvSpPr/>
          <p:nvPr/>
        </p:nvSpPr>
        <p:spPr>
          <a:xfrm>
            <a:off x="5029200" y="4297680"/>
            <a:ext cx="1188720" cy="292608"/>
          </a:xfrm>
          <a:prstGeom prst="rect">
            <a:avLst/>
          </a:prstGeom>
          <a:noFill/>
          <a:ln/>
        </p:spPr>
        <p:txBody>
          <a:bodyPr wrap="square" lIns="0" tIns="0" rIns="0" bIns="0" rtlCol="0" anchor="ctr"/>
          <a:lstStyle/>
          <a:p>
            <a:pPr algn="ctr" indent="0" marL="0">
              <a:buNone/>
            </a:pPr>
            <a:r>
              <a:rPr lang="en-US" sz="1100" b="1" dirty="0">
                <a:solidFill>
                  <a:srgbClr val="241E33"/>
                </a:solidFill>
                <a:latin typeface="Calibri" pitchFamily="34" charset="0"/>
                <a:ea typeface="Calibri" pitchFamily="34" charset="-122"/>
                <a:cs typeface="Calibri" pitchFamily="34" charset="-120"/>
              </a:rPr>
              <a:t>$115k</a:t>
            </a:r>
            <a:endParaRPr lang="en-US" sz="1100" dirty="0"/>
          </a:p>
        </p:txBody>
      </p:sp>
      <p:sp>
        <p:nvSpPr>
          <p:cNvPr id="63" name="Text 61"/>
          <p:cNvSpPr/>
          <p:nvPr/>
        </p:nvSpPr>
        <p:spPr>
          <a:xfrm>
            <a:off x="6263640" y="4297680"/>
            <a:ext cx="1188720" cy="292608"/>
          </a:xfrm>
          <a:prstGeom prst="rect">
            <a:avLst/>
          </a:prstGeom>
          <a:noFill/>
          <a:ln/>
        </p:spPr>
        <p:txBody>
          <a:bodyPr wrap="square" lIns="0" tIns="0" rIns="0" bIns="0" rtlCol="0" anchor="ctr"/>
          <a:lstStyle/>
          <a:p>
            <a:pPr algn="ctr" indent="0" marL="0">
              <a:buNone/>
            </a:pPr>
            <a:r>
              <a:rPr lang="en-US" sz="1100" b="1" dirty="0">
                <a:solidFill>
                  <a:srgbClr val="241E33"/>
                </a:solidFill>
                <a:latin typeface="Calibri" pitchFamily="34" charset="0"/>
                <a:ea typeface="Calibri" pitchFamily="34" charset="-122"/>
                <a:cs typeface="Calibri" pitchFamily="34" charset="-120"/>
              </a:rPr>
              <a:t>$387k</a:t>
            </a:r>
            <a:endParaRPr lang="en-US" sz="1100" dirty="0"/>
          </a:p>
        </p:txBody>
      </p:sp>
      <p:sp>
        <p:nvSpPr>
          <p:cNvPr id="64" name="Text 62"/>
          <p:cNvSpPr/>
          <p:nvPr/>
        </p:nvSpPr>
        <p:spPr>
          <a:xfrm>
            <a:off x="7498080" y="4297680"/>
            <a:ext cx="1188720" cy="292608"/>
          </a:xfrm>
          <a:prstGeom prst="rect">
            <a:avLst/>
          </a:prstGeom>
          <a:noFill/>
          <a:ln/>
        </p:spPr>
        <p:txBody>
          <a:bodyPr wrap="square" lIns="0" tIns="0" rIns="0" bIns="0" rtlCol="0" anchor="ctr"/>
          <a:lstStyle/>
          <a:p>
            <a:pPr algn="ctr" indent="0" marL="0">
              <a:buNone/>
            </a:pPr>
            <a:r>
              <a:rPr lang="en-US" sz="1100" b="1" dirty="0">
                <a:solidFill>
                  <a:srgbClr val="241E33"/>
                </a:solidFill>
                <a:latin typeface="Calibri" pitchFamily="34" charset="0"/>
                <a:ea typeface="Calibri" pitchFamily="34" charset="-122"/>
                <a:cs typeface="Calibri" pitchFamily="34" charset="-120"/>
              </a:rPr>
              <a:t>$862k</a:t>
            </a:r>
            <a:endParaRPr lang="en-US" sz="1100" dirty="0"/>
          </a:p>
        </p:txBody>
      </p:sp>
      <p:sp>
        <p:nvSpPr>
          <p:cNvPr id="65" name="Text 63"/>
          <p:cNvSpPr/>
          <p:nvPr/>
        </p:nvSpPr>
        <p:spPr>
          <a:xfrm>
            <a:off x="8732520" y="4297680"/>
            <a:ext cx="1188720" cy="292608"/>
          </a:xfrm>
          <a:prstGeom prst="rect">
            <a:avLst/>
          </a:prstGeom>
          <a:noFill/>
          <a:ln/>
        </p:spPr>
        <p:txBody>
          <a:bodyPr wrap="square" lIns="0" tIns="0" rIns="0" bIns="0" rtlCol="0" anchor="ctr"/>
          <a:lstStyle/>
          <a:p>
            <a:pPr algn="ctr" indent="0" marL="0">
              <a:buNone/>
            </a:pPr>
            <a:r>
              <a:rPr lang="en-US" sz="1100" b="1" dirty="0">
                <a:solidFill>
                  <a:srgbClr val="241E33"/>
                </a:solidFill>
                <a:latin typeface="Calibri" pitchFamily="34" charset="0"/>
                <a:ea typeface="Calibri" pitchFamily="34" charset="-122"/>
                <a:cs typeface="Calibri" pitchFamily="34" charset="-120"/>
              </a:rPr>
              <a:t>$1.62M</a:t>
            </a:r>
            <a:endParaRPr lang="en-US" sz="1100" dirty="0"/>
          </a:p>
        </p:txBody>
      </p:sp>
      <p:sp>
        <p:nvSpPr>
          <p:cNvPr id="66" name="Shape 64"/>
          <p:cNvSpPr/>
          <p:nvPr/>
        </p:nvSpPr>
        <p:spPr>
          <a:xfrm>
            <a:off x="10076688" y="1371600"/>
            <a:ext cx="1243584" cy="3346704"/>
          </a:xfrm>
          <a:prstGeom prst="roundRect">
            <a:avLst>
              <a:gd name="adj" fmla="val 8824"/>
            </a:avLst>
          </a:prstGeom>
          <a:solidFill>
            <a:srgbClr val="E8F4EC"/>
          </a:solidFill>
          <a:ln/>
        </p:spPr>
      </p:sp>
      <p:sp>
        <p:nvSpPr>
          <p:cNvPr id="67" name="Text 65"/>
          <p:cNvSpPr/>
          <p:nvPr/>
        </p:nvSpPr>
        <p:spPr>
          <a:xfrm>
            <a:off x="10076688" y="1481328"/>
            <a:ext cx="1243584" cy="420624"/>
          </a:xfrm>
          <a:prstGeom prst="rect">
            <a:avLst/>
          </a:prstGeom>
          <a:noFill/>
          <a:ln/>
        </p:spPr>
        <p:txBody>
          <a:bodyPr wrap="square" lIns="0" tIns="0" rIns="0" bIns="0" rtlCol="0" anchor="ctr"/>
          <a:lstStyle/>
          <a:p>
            <a:pPr algn="ctr" indent="0" marL="0">
              <a:lnSpc>
                <a:spcPts val="1000"/>
              </a:lnSpc>
              <a:buNone/>
            </a:pPr>
            <a:r>
              <a:rPr lang="en-US" sz="800" b="1" dirty="0">
                <a:solidFill>
                  <a:srgbClr val="1F4A33"/>
                </a:solidFill>
                <a:latin typeface="Calibri" pitchFamily="34" charset="0"/>
                <a:ea typeface="Calibri" pitchFamily="34" charset="-122"/>
                <a:cs typeface="Calibri" pitchFamily="34" charset="-120"/>
              </a:rPr>
              <a:t>PEAK CASH</a:t>
            </a:r>
            <a:endParaRPr lang="en-US" sz="800" dirty="0"/>
          </a:p>
          <a:p>
            <a:pPr algn="ctr" indent="0" marL="0">
              <a:lnSpc>
                <a:spcPts val="1000"/>
              </a:lnSpc>
              <a:buNone/>
            </a:pPr>
            <a:r>
              <a:rPr lang="en-US" sz="800" b="1" dirty="0">
                <a:solidFill>
                  <a:srgbClr val="1F4A33"/>
                </a:solidFill>
                <a:latin typeface="Calibri" pitchFamily="34" charset="0"/>
                <a:ea typeface="Calibri" pitchFamily="34" charset="-122"/>
                <a:cs typeface="Calibri" pitchFamily="34" charset="-120"/>
              </a:rPr>
              <a:t>NEED</a:t>
            </a:r>
            <a:endParaRPr lang="en-US" sz="800" dirty="0"/>
          </a:p>
        </p:txBody>
      </p:sp>
      <p:sp>
        <p:nvSpPr>
          <p:cNvPr id="68" name="Text 66"/>
          <p:cNvSpPr/>
          <p:nvPr/>
        </p:nvSpPr>
        <p:spPr>
          <a:xfrm>
            <a:off x="10076688" y="1901952"/>
            <a:ext cx="1243584" cy="457200"/>
          </a:xfrm>
          <a:prstGeom prst="rect">
            <a:avLst/>
          </a:prstGeom>
          <a:noFill/>
          <a:ln/>
        </p:spPr>
        <p:txBody>
          <a:bodyPr wrap="square" lIns="0" tIns="0" rIns="0" bIns="0" rtlCol="0" anchor="ctr"/>
          <a:lstStyle/>
          <a:p>
            <a:pPr algn="ctr" indent="0" marL="0">
              <a:buNone/>
            </a:pPr>
            <a:r>
              <a:rPr lang="en-US" sz="2600" b="1" dirty="0">
                <a:solidFill>
                  <a:srgbClr val="178A4C"/>
                </a:solidFill>
                <a:latin typeface="Cambria" pitchFamily="34" charset="0"/>
                <a:ea typeface="Cambria" pitchFamily="34" charset="-122"/>
                <a:cs typeface="Cambria" pitchFamily="34" charset="-120"/>
              </a:rPr>
              <a:t>$0</a:t>
            </a:r>
            <a:endParaRPr lang="en-US" sz="2600" dirty="0"/>
          </a:p>
        </p:txBody>
      </p:sp>
      <p:sp>
        <p:nvSpPr>
          <p:cNvPr id="69" name="Text 67"/>
          <p:cNvSpPr/>
          <p:nvPr/>
        </p:nvSpPr>
        <p:spPr>
          <a:xfrm>
            <a:off x="10076688" y="2359152"/>
            <a:ext cx="1243584" cy="402336"/>
          </a:xfrm>
          <a:prstGeom prst="rect">
            <a:avLst/>
          </a:prstGeom>
          <a:noFill/>
          <a:ln/>
        </p:spPr>
        <p:txBody>
          <a:bodyPr wrap="square" lIns="0" tIns="0" rIns="0" bIns="0" rtlCol="0" anchor="ctr"/>
          <a:lstStyle/>
          <a:p>
            <a:pPr algn="ctr" indent="0" marL="0">
              <a:lnSpc>
                <a:spcPts val="1000"/>
              </a:lnSpc>
              <a:buNone/>
            </a:pPr>
            <a:r>
              <a:rPr lang="en-US" sz="800" dirty="0">
                <a:solidFill>
                  <a:srgbClr val="1F4A33"/>
                </a:solidFill>
                <a:latin typeface="Calibri" pitchFamily="34" charset="0"/>
                <a:ea typeface="Calibri" pitchFamily="34" charset="-122"/>
                <a:cs typeface="Calibri" pitchFamily="34" charset="-120"/>
              </a:rPr>
              <a:t>in both cases,</a:t>
            </a:r>
            <a:endParaRPr lang="en-US" sz="800" dirty="0"/>
          </a:p>
          <a:p>
            <a:pPr algn="ctr" indent="0" marL="0">
              <a:lnSpc>
                <a:spcPts val="1000"/>
              </a:lnSpc>
              <a:buNone/>
            </a:pPr>
            <a:r>
              <a:rPr lang="en-US" sz="800" dirty="0">
                <a:solidFill>
                  <a:srgbClr val="1F4A33"/>
                </a:solidFill>
                <a:latin typeface="Calibri" pitchFamily="34" charset="0"/>
                <a:ea typeface="Calibri" pitchFamily="34" charset="-122"/>
                <a:cs typeface="Calibri" pitchFamily="34" charset="-120"/>
              </a:rPr>
              <a:t>in every month</a:t>
            </a:r>
            <a:endParaRPr lang="en-US" sz="800" dirty="0"/>
          </a:p>
        </p:txBody>
      </p:sp>
      <p:sp>
        <p:nvSpPr>
          <p:cNvPr id="70" name="Text 68"/>
          <p:cNvSpPr/>
          <p:nvPr/>
        </p:nvSpPr>
        <p:spPr>
          <a:xfrm>
            <a:off x="10076688" y="2889504"/>
            <a:ext cx="1243584" cy="219456"/>
          </a:xfrm>
          <a:prstGeom prst="rect">
            <a:avLst/>
          </a:prstGeom>
          <a:noFill/>
          <a:ln/>
        </p:spPr>
        <p:txBody>
          <a:bodyPr wrap="square" lIns="0" tIns="0" rIns="0" bIns="0" rtlCol="0" anchor="ctr"/>
          <a:lstStyle/>
          <a:p>
            <a:pPr algn="ctr" indent="0" marL="0">
              <a:buNone/>
            </a:pPr>
            <a:r>
              <a:rPr lang="en-US" sz="800" b="1" dirty="0">
                <a:solidFill>
                  <a:srgbClr val="1F4A33"/>
                </a:solidFill>
                <a:latin typeface="Calibri" pitchFamily="34" charset="0"/>
                <a:ea typeface="Calibri" pitchFamily="34" charset="-122"/>
                <a:cs typeface="Calibri" pitchFamily="34" charset="-120"/>
              </a:rPr>
              <a:t>BREAK-EVEN</a:t>
            </a:r>
            <a:endParaRPr lang="en-US" sz="800" dirty="0"/>
          </a:p>
        </p:txBody>
      </p:sp>
      <p:sp>
        <p:nvSpPr>
          <p:cNvPr id="71" name="Text 69"/>
          <p:cNvSpPr/>
          <p:nvPr/>
        </p:nvSpPr>
        <p:spPr>
          <a:xfrm>
            <a:off x="10076688" y="3108960"/>
            <a:ext cx="1243584" cy="310896"/>
          </a:xfrm>
          <a:prstGeom prst="rect">
            <a:avLst/>
          </a:prstGeom>
          <a:noFill/>
          <a:ln/>
        </p:spPr>
        <p:txBody>
          <a:bodyPr wrap="square" lIns="0" tIns="0" rIns="0" bIns="0" rtlCol="0" anchor="ctr"/>
          <a:lstStyle/>
          <a:p>
            <a:pPr algn="ctr" indent="0" marL="0">
              <a:buNone/>
            </a:pPr>
            <a:r>
              <a:rPr lang="en-US" sz="1700" b="1" dirty="0">
                <a:solidFill>
                  <a:srgbClr val="178A4C"/>
                </a:solidFill>
                <a:latin typeface="Cambria" pitchFamily="34" charset="0"/>
                <a:ea typeface="Cambria" pitchFamily="34" charset="-122"/>
                <a:cs typeface="Cambria" pitchFamily="34" charset="-120"/>
              </a:rPr>
              <a:t>Week 1</a:t>
            </a:r>
            <a:endParaRPr lang="en-US" sz="1700" dirty="0"/>
          </a:p>
        </p:txBody>
      </p:sp>
      <p:sp>
        <p:nvSpPr>
          <p:cNvPr id="72" name="Text 70"/>
          <p:cNvSpPr/>
          <p:nvPr/>
        </p:nvSpPr>
        <p:spPr>
          <a:xfrm>
            <a:off x="10076688" y="3529584"/>
            <a:ext cx="1243584" cy="274320"/>
          </a:xfrm>
          <a:prstGeom prst="rect">
            <a:avLst/>
          </a:prstGeom>
          <a:noFill/>
          <a:ln/>
        </p:spPr>
        <p:txBody>
          <a:bodyPr wrap="square" lIns="0" tIns="0" rIns="0" bIns="0" rtlCol="0" anchor="ctr"/>
          <a:lstStyle/>
          <a:p>
            <a:pPr algn="ctr" indent="0" marL="0">
              <a:buNone/>
            </a:pPr>
            <a:r>
              <a:rPr lang="en-US" sz="1300" b="1" dirty="0">
                <a:solidFill>
                  <a:srgbClr val="6C4FE0"/>
                </a:solidFill>
                <a:latin typeface="Cambria" pitchFamily="34" charset="0"/>
                <a:ea typeface="Cambria" pitchFamily="34" charset="-122"/>
                <a:cs typeface="Cambria" pitchFamily="34" charset="-120"/>
              </a:rPr>
              <a:t>27% / 30%</a:t>
            </a:r>
            <a:endParaRPr lang="en-US" sz="1300" dirty="0"/>
          </a:p>
        </p:txBody>
      </p:sp>
      <p:sp>
        <p:nvSpPr>
          <p:cNvPr id="73" name="Text 71"/>
          <p:cNvSpPr/>
          <p:nvPr/>
        </p:nvSpPr>
        <p:spPr>
          <a:xfrm>
            <a:off x="10076688" y="3803904"/>
            <a:ext cx="1243584" cy="329184"/>
          </a:xfrm>
          <a:prstGeom prst="rect">
            <a:avLst/>
          </a:prstGeom>
          <a:noFill/>
          <a:ln/>
        </p:spPr>
        <p:txBody>
          <a:bodyPr wrap="square" lIns="0" tIns="0" rIns="0" bIns="0" rtlCol="0" anchor="ctr"/>
          <a:lstStyle/>
          <a:p>
            <a:pPr algn="ctr" indent="0" marL="0">
              <a:lnSpc>
                <a:spcPts val="900"/>
              </a:lnSpc>
              <a:buNone/>
            </a:pPr>
            <a:r>
              <a:rPr lang="en-US" sz="750" dirty="0">
                <a:solidFill>
                  <a:srgbClr val="7A7291"/>
                </a:solidFill>
                <a:latin typeface="Calibri" pitchFamily="34" charset="0"/>
                <a:ea typeface="Calibri" pitchFamily="34" charset="-122"/>
                <a:cs typeface="Calibri" pitchFamily="34" charset="-120"/>
              </a:rPr>
              <a:t>Y5 EBITDA margin,</a:t>
            </a:r>
            <a:endParaRPr lang="en-US" sz="750" dirty="0"/>
          </a:p>
          <a:p>
            <a:pPr algn="ctr" indent="0" marL="0">
              <a:lnSpc>
                <a:spcPts val="900"/>
              </a:lnSpc>
              <a:buNone/>
            </a:pPr>
            <a:r>
              <a:rPr lang="en-US" sz="750" dirty="0">
                <a:solidFill>
                  <a:srgbClr val="7A7291"/>
                </a:solidFill>
                <a:latin typeface="Calibri" pitchFamily="34" charset="0"/>
                <a:ea typeface="Calibri" pitchFamily="34" charset="-122"/>
                <a:cs typeface="Calibri" pitchFamily="34" charset="-120"/>
              </a:rPr>
              <a:t>base / aggressive</a:t>
            </a:r>
            <a:endParaRPr lang="en-US" sz="750" dirty="0"/>
          </a:p>
        </p:txBody>
      </p:sp>
      <p:sp>
        <p:nvSpPr>
          <p:cNvPr id="74" name="Text 72"/>
          <p:cNvSpPr/>
          <p:nvPr/>
        </p:nvSpPr>
        <p:spPr>
          <a:xfrm>
            <a:off x="10076688" y="4169664"/>
            <a:ext cx="1243584" cy="292608"/>
          </a:xfrm>
          <a:prstGeom prst="rect">
            <a:avLst/>
          </a:prstGeom>
          <a:noFill/>
          <a:ln/>
        </p:spPr>
        <p:txBody>
          <a:bodyPr wrap="square" lIns="0" tIns="0" rIns="0" bIns="0" rtlCol="0" anchor="ctr"/>
          <a:lstStyle/>
          <a:p>
            <a:pPr algn="ctr" indent="0" marL="0">
              <a:buNone/>
            </a:pPr>
            <a:r>
              <a:rPr lang="en-US" sz="1400" b="1" dirty="0">
                <a:solidFill>
                  <a:srgbClr val="8A5B00"/>
                </a:solidFill>
                <a:latin typeface="Cambria" pitchFamily="34" charset="0"/>
                <a:ea typeface="Cambria" pitchFamily="34" charset="-122"/>
                <a:cs typeface="Cambria" pitchFamily="34" charset="-120"/>
              </a:rPr>
              <a:t>$1.55M</a:t>
            </a:r>
            <a:endParaRPr lang="en-US" sz="1400" dirty="0"/>
          </a:p>
        </p:txBody>
      </p:sp>
      <p:sp>
        <p:nvSpPr>
          <p:cNvPr id="75" name="Text 73"/>
          <p:cNvSpPr/>
          <p:nvPr/>
        </p:nvSpPr>
        <p:spPr>
          <a:xfrm>
            <a:off x="10076688" y="4443984"/>
            <a:ext cx="1243584" cy="310896"/>
          </a:xfrm>
          <a:prstGeom prst="rect">
            <a:avLst/>
          </a:prstGeom>
          <a:noFill/>
          <a:ln/>
        </p:spPr>
        <p:txBody>
          <a:bodyPr wrap="square" lIns="0" tIns="0" rIns="0" bIns="0" rtlCol="0" anchor="ctr"/>
          <a:lstStyle/>
          <a:p>
            <a:pPr algn="ctr" indent="0" marL="0">
              <a:lnSpc>
                <a:spcPts val="900"/>
              </a:lnSpc>
              <a:buNone/>
            </a:pPr>
            <a:r>
              <a:rPr lang="en-US" sz="750" dirty="0">
                <a:solidFill>
                  <a:srgbClr val="7A7291"/>
                </a:solidFill>
                <a:latin typeface="Calibri" pitchFamily="34" charset="0"/>
                <a:ea typeface="Calibri" pitchFamily="34" charset="-122"/>
                <a:cs typeface="Calibri" pitchFamily="34" charset="-120"/>
              </a:rPr>
              <a:t>cumulative EBITDA,</a:t>
            </a:r>
            <a:endParaRPr lang="en-US" sz="750" dirty="0"/>
          </a:p>
          <a:p>
            <a:pPr algn="ctr" indent="0" marL="0">
              <a:lnSpc>
                <a:spcPts val="900"/>
              </a:lnSpc>
              <a:buNone/>
            </a:pPr>
            <a:r>
              <a:rPr lang="en-US" sz="750" dirty="0">
                <a:solidFill>
                  <a:srgbClr val="7A7291"/>
                </a:solidFill>
                <a:latin typeface="Calibri" pitchFamily="34" charset="0"/>
                <a:ea typeface="Calibri" pitchFamily="34" charset="-122"/>
                <a:cs typeface="Calibri" pitchFamily="34" charset="-120"/>
              </a:rPr>
              <a:t>base, Y1–Y5</a:t>
            </a:r>
            <a:endParaRPr lang="en-US" sz="750" dirty="0"/>
          </a:p>
        </p:txBody>
      </p:sp>
      <p:sp>
        <p:nvSpPr>
          <p:cNvPr id="76" name="Text 74"/>
          <p:cNvSpPr/>
          <p:nvPr/>
        </p:nvSpPr>
        <p:spPr>
          <a:xfrm>
            <a:off x="640080" y="4828032"/>
            <a:ext cx="7315200" cy="292608"/>
          </a:xfrm>
          <a:prstGeom prst="rect">
            <a:avLst/>
          </a:prstGeom>
          <a:noFill/>
          <a:ln/>
        </p:spPr>
        <p:txBody>
          <a:bodyPr wrap="square" lIns="0" tIns="0" rIns="0" bIns="0" rtlCol="0" anchor="ctr"/>
          <a:lstStyle/>
          <a:p>
            <a:pPr indent="0" marL="0">
              <a:buNone/>
            </a:pPr>
            <a:r>
              <a:rPr lang="en-US" sz="1450" b="1" dirty="0">
                <a:solidFill>
                  <a:srgbClr val="241E33"/>
                </a:solidFill>
                <a:latin typeface="Cambria" pitchFamily="34" charset="0"/>
                <a:ea typeface="Cambria" pitchFamily="34" charset="-122"/>
                <a:cs typeface="Cambria" pitchFamily="34" charset="-120"/>
              </a:rPr>
              <a:t>Stress tests — none of them produce a loss, and that is the point</a:t>
            </a:r>
            <a:endParaRPr lang="en-US" sz="1450" dirty="0"/>
          </a:p>
        </p:txBody>
      </p:sp>
      <p:sp>
        <p:nvSpPr>
          <p:cNvPr id="77" name="Shape 75"/>
          <p:cNvSpPr/>
          <p:nvPr/>
        </p:nvSpPr>
        <p:spPr>
          <a:xfrm>
            <a:off x="640080" y="5193792"/>
            <a:ext cx="5074920" cy="603504"/>
          </a:xfrm>
          <a:prstGeom prst="roundRect">
            <a:avLst>
              <a:gd name="adj" fmla="val 15152"/>
            </a:avLst>
          </a:prstGeom>
          <a:solidFill>
            <a:srgbClr val="E8F4EC"/>
          </a:solidFill>
          <a:ln/>
        </p:spPr>
      </p:sp>
      <p:sp>
        <p:nvSpPr>
          <p:cNvPr id="78" name="Text 76"/>
          <p:cNvSpPr/>
          <p:nvPr/>
        </p:nvSpPr>
        <p:spPr>
          <a:xfrm>
            <a:off x="822960" y="5230368"/>
            <a:ext cx="4709160" cy="219456"/>
          </a:xfrm>
          <a:prstGeom prst="rect">
            <a:avLst/>
          </a:prstGeom>
          <a:noFill/>
          <a:ln/>
        </p:spPr>
        <p:txBody>
          <a:bodyPr wrap="square" lIns="0" tIns="0" rIns="0" bIns="0" rtlCol="0" anchor="ctr"/>
          <a:lstStyle/>
          <a:p>
            <a:pPr indent="0" marL="0">
              <a:buNone/>
            </a:pPr>
            <a:r>
              <a:rPr lang="en-US" sz="1000" b="1" dirty="0">
                <a:solidFill>
                  <a:srgbClr val="1F4A33"/>
                </a:solidFill>
                <a:latin typeface="Calibri" pitchFamily="34" charset="0"/>
                <a:ea typeface="Calibri" pitchFamily="34" charset="-122"/>
                <a:cs typeface="Calibri" pitchFamily="34" charset="-120"/>
              </a:rPr>
              <a:t>We only ever hit 2 a week, not 4</a:t>
            </a:r>
            <a:endParaRPr lang="en-US" sz="1000" dirty="0"/>
          </a:p>
        </p:txBody>
      </p:sp>
      <p:sp>
        <p:nvSpPr>
          <p:cNvPr id="79" name="Text 77"/>
          <p:cNvSpPr/>
          <p:nvPr/>
        </p:nvSpPr>
        <p:spPr>
          <a:xfrm>
            <a:off x="822960" y="5440680"/>
            <a:ext cx="4709160" cy="329184"/>
          </a:xfrm>
          <a:prstGeom prst="rect">
            <a:avLst/>
          </a:prstGeom>
          <a:noFill/>
          <a:ln/>
        </p:spPr>
        <p:txBody>
          <a:bodyPr wrap="square" lIns="0" tIns="0" rIns="0" bIns="0" rtlCol="0" anchor="ctr"/>
          <a:lstStyle/>
          <a:p>
            <a:pPr indent="0" marL="0">
              <a:lnSpc>
                <a:spcPts val="1050"/>
              </a:lnSpc>
              <a:buNone/>
            </a:pPr>
            <a:r>
              <a:rPr lang="en-US" sz="850" dirty="0">
                <a:solidFill>
                  <a:srgbClr val="1F4A33"/>
                </a:solidFill>
                <a:latin typeface="Calibri" pitchFamily="34" charset="0"/>
                <a:ea typeface="Calibri" pitchFamily="34" charset="-122"/>
                <a:cs typeface="Calibri" pitchFamily="34" charset="-120"/>
              </a:rPr>
              <a:t>Year 1 revenue halves to $13k — and so do the four cost lines that are fractions of it. EBITDA stays positive at ~$1.5k. Slower, never underwater.</a:t>
            </a:r>
            <a:endParaRPr lang="en-US" sz="850" dirty="0"/>
          </a:p>
        </p:txBody>
      </p:sp>
      <p:sp>
        <p:nvSpPr>
          <p:cNvPr id="80" name="Shape 78"/>
          <p:cNvSpPr/>
          <p:nvPr/>
        </p:nvSpPr>
        <p:spPr>
          <a:xfrm>
            <a:off x="6035040" y="5193792"/>
            <a:ext cx="5074920" cy="603504"/>
          </a:xfrm>
          <a:prstGeom prst="roundRect">
            <a:avLst>
              <a:gd name="adj" fmla="val 15152"/>
            </a:avLst>
          </a:prstGeom>
          <a:solidFill>
            <a:srgbClr val="E8F4EC"/>
          </a:solidFill>
          <a:ln/>
        </p:spPr>
      </p:sp>
      <p:sp>
        <p:nvSpPr>
          <p:cNvPr id="81" name="Text 79"/>
          <p:cNvSpPr/>
          <p:nvPr/>
        </p:nvSpPr>
        <p:spPr>
          <a:xfrm>
            <a:off x="6217920" y="5230368"/>
            <a:ext cx="4709160" cy="219456"/>
          </a:xfrm>
          <a:prstGeom prst="rect">
            <a:avLst/>
          </a:prstGeom>
          <a:noFill/>
          <a:ln/>
        </p:spPr>
        <p:txBody>
          <a:bodyPr wrap="square" lIns="0" tIns="0" rIns="0" bIns="0" rtlCol="0" anchor="ctr"/>
          <a:lstStyle/>
          <a:p>
            <a:pPr indent="0" marL="0">
              <a:buNone/>
            </a:pPr>
            <a:r>
              <a:rPr lang="en-US" sz="1000" b="1" dirty="0">
                <a:solidFill>
                  <a:srgbClr val="1F4A33"/>
                </a:solidFill>
                <a:latin typeface="Calibri" pitchFamily="34" charset="0"/>
                <a:ea typeface="Calibri" pitchFamily="34" charset="-122"/>
                <a:cs typeface="Calibri" pitchFamily="34" charset="-120"/>
              </a:rPr>
              <a:t>Churn 30% → 45%</a:t>
            </a:r>
            <a:endParaRPr lang="en-US" sz="1000" dirty="0"/>
          </a:p>
        </p:txBody>
      </p:sp>
      <p:sp>
        <p:nvSpPr>
          <p:cNvPr id="82" name="Text 80"/>
          <p:cNvSpPr/>
          <p:nvPr/>
        </p:nvSpPr>
        <p:spPr>
          <a:xfrm>
            <a:off x="6217920" y="5440680"/>
            <a:ext cx="4709160" cy="329184"/>
          </a:xfrm>
          <a:prstGeom prst="rect">
            <a:avLst/>
          </a:prstGeom>
          <a:noFill/>
          <a:ln/>
        </p:spPr>
        <p:txBody>
          <a:bodyPr wrap="square" lIns="0" tIns="0" rIns="0" bIns="0" rtlCol="0" anchor="ctr"/>
          <a:lstStyle/>
          <a:p>
            <a:pPr indent="0" marL="0">
              <a:lnSpc>
                <a:spcPts val="1050"/>
              </a:lnSpc>
              <a:buNone/>
            </a:pPr>
            <a:r>
              <a:rPr lang="en-US" sz="850" dirty="0">
                <a:solidFill>
                  <a:srgbClr val="1F4A33"/>
                </a:solidFill>
                <a:latin typeface="Calibri" pitchFamily="34" charset="0"/>
                <a:ea typeface="Calibri" pitchFamily="34" charset="-122"/>
                <a:cs typeface="Calibri" pitchFamily="34" charset="-120"/>
              </a:rPr>
              <a:t>LTV falls to $472 and Year 5 revenue drops about 21%. Costs fall with it. Margin holds within two points.</a:t>
            </a:r>
            <a:endParaRPr lang="en-US" sz="850" dirty="0"/>
          </a:p>
        </p:txBody>
      </p:sp>
      <p:sp>
        <p:nvSpPr>
          <p:cNvPr id="83" name="Shape 81"/>
          <p:cNvSpPr/>
          <p:nvPr/>
        </p:nvSpPr>
        <p:spPr>
          <a:xfrm>
            <a:off x="640080" y="5870448"/>
            <a:ext cx="5074920" cy="603504"/>
          </a:xfrm>
          <a:prstGeom prst="roundRect">
            <a:avLst>
              <a:gd name="adj" fmla="val 15152"/>
            </a:avLst>
          </a:prstGeom>
          <a:solidFill>
            <a:srgbClr val="FBF3E0"/>
          </a:solidFill>
          <a:ln/>
        </p:spPr>
      </p:sp>
      <p:sp>
        <p:nvSpPr>
          <p:cNvPr id="84" name="Text 82"/>
          <p:cNvSpPr/>
          <p:nvPr/>
        </p:nvSpPr>
        <p:spPr>
          <a:xfrm>
            <a:off x="822960" y="5907024"/>
            <a:ext cx="4709160" cy="219456"/>
          </a:xfrm>
          <a:prstGeom prst="rect">
            <a:avLst/>
          </a:prstGeom>
          <a:noFill/>
          <a:ln/>
        </p:spPr>
        <p:txBody>
          <a:bodyPr wrap="square" lIns="0" tIns="0" rIns="0" bIns="0" rtlCol="0" anchor="ctr"/>
          <a:lstStyle/>
          <a:p>
            <a:pPr indent="0" marL="0">
              <a:buNone/>
            </a:pPr>
            <a:r>
              <a:rPr lang="en-US" sz="1000" b="1" dirty="0">
                <a:solidFill>
                  <a:srgbClr val="8A5B00"/>
                </a:solidFill>
                <a:latin typeface="Calibri" pitchFamily="34" charset="0"/>
                <a:ea typeface="Calibri" pitchFamily="34" charset="-122"/>
                <a:cs typeface="Calibri" pitchFamily="34" charset="-120"/>
              </a:rPr>
              <a:t>Bee Plus $149 → $99</a:t>
            </a:r>
            <a:endParaRPr lang="en-US" sz="1000" dirty="0"/>
          </a:p>
        </p:txBody>
      </p:sp>
      <p:sp>
        <p:nvSpPr>
          <p:cNvPr id="85" name="Text 83"/>
          <p:cNvSpPr/>
          <p:nvPr/>
        </p:nvSpPr>
        <p:spPr>
          <a:xfrm>
            <a:off x="822960" y="6117336"/>
            <a:ext cx="4709160" cy="329184"/>
          </a:xfrm>
          <a:prstGeom prst="rect">
            <a:avLst/>
          </a:prstGeom>
          <a:noFill/>
          <a:ln/>
        </p:spPr>
        <p:txBody>
          <a:bodyPr wrap="square" lIns="0" tIns="0" rIns="0" bIns="0" rtlCol="0" anchor="ctr"/>
          <a:lstStyle/>
          <a:p>
            <a:pPr indent="0" marL="0">
              <a:lnSpc>
                <a:spcPts val="1050"/>
              </a:lnSpc>
              <a:buNone/>
            </a:pPr>
            <a:r>
              <a:rPr lang="en-US" sz="850" dirty="0">
                <a:solidFill>
                  <a:srgbClr val="8A5B00"/>
                </a:solidFill>
                <a:latin typeface="Calibri" pitchFamily="34" charset="0"/>
                <a:ea typeface="Calibri" pitchFamily="34" charset="-122"/>
                <a:cs typeface="Calibri" pitchFamily="34" charset="-120"/>
              </a:rPr>
              <a:t>ARPU falls to $190. This is the one that genuinely hurts: Year 5 EBITDA roughly halves. The pricing decision IS the plan.</a:t>
            </a:r>
            <a:endParaRPr lang="en-US" sz="850" dirty="0"/>
          </a:p>
        </p:txBody>
      </p:sp>
      <p:sp>
        <p:nvSpPr>
          <p:cNvPr id="86" name="Shape 84"/>
          <p:cNvSpPr/>
          <p:nvPr/>
        </p:nvSpPr>
        <p:spPr>
          <a:xfrm>
            <a:off x="6035040" y="5870448"/>
            <a:ext cx="5074920" cy="603504"/>
          </a:xfrm>
          <a:prstGeom prst="roundRect">
            <a:avLst>
              <a:gd name="adj" fmla="val 15152"/>
            </a:avLst>
          </a:prstGeom>
          <a:solidFill>
            <a:srgbClr val="FBF3E0"/>
          </a:solidFill>
          <a:ln/>
        </p:spPr>
      </p:sp>
      <p:sp>
        <p:nvSpPr>
          <p:cNvPr id="87" name="Text 85"/>
          <p:cNvSpPr/>
          <p:nvPr/>
        </p:nvSpPr>
        <p:spPr>
          <a:xfrm>
            <a:off x="6217920" y="5907024"/>
            <a:ext cx="4709160" cy="219456"/>
          </a:xfrm>
          <a:prstGeom prst="rect">
            <a:avLst/>
          </a:prstGeom>
          <a:noFill/>
          <a:ln/>
        </p:spPr>
        <p:txBody>
          <a:bodyPr wrap="square" lIns="0" tIns="0" rIns="0" bIns="0" rtlCol="0" anchor="ctr"/>
          <a:lstStyle/>
          <a:p>
            <a:pPr indent="0" marL="0">
              <a:buNone/>
            </a:pPr>
            <a:r>
              <a:rPr lang="en-US" sz="1000" b="1" dirty="0">
                <a:solidFill>
                  <a:srgbClr val="8A5B00"/>
                </a:solidFill>
                <a:latin typeface="Calibri" pitchFamily="34" charset="0"/>
                <a:ea typeface="Calibri" pitchFamily="34" charset="-122"/>
                <a:cs typeface="Calibri" pitchFamily="34" charset="-120"/>
              </a:rPr>
              <a:t>India stalls entirely</a:t>
            </a:r>
            <a:endParaRPr lang="en-US" sz="1000" dirty="0"/>
          </a:p>
        </p:txBody>
      </p:sp>
      <p:sp>
        <p:nvSpPr>
          <p:cNvPr id="88" name="Text 86"/>
          <p:cNvSpPr/>
          <p:nvPr/>
        </p:nvSpPr>
        <p:spPr>
          <a:xfrm>
            <a:off x="6217920" y="6117336"/>
            <a:ext cx="4709160" cy="329184"/>
          </a:xfrm>
          <a:prstGeom prst="rect">
            <a:avLst/>
          </a:prstGeom>
          <a:noFill/>
          <a:ln/>
        </p:spPr>
        <p:txBody>
          <a:bodyPr wrap="square" lIns="0" tIns="0" rIns="0" bIns="0" rtlCol="0" anchor="ctr"/>
          <a:lstStyle/>
          <a:p>
            <a:pPr indent="0" marL="0">
              <a:lnSpc>
                <a:spcPts val="1050"/>
              </a:lnSpc>
              <a:buNone/>
            </a:pPr>
            <a:r>
              <a:rPr lang="en-US" sz="850" dirty="0">
                <a:solidFill>
                  <a:srgbClr val="8A5B00"/>
                </a:solidFill>
                <a:latin typeface="Calibri" pitchFamily="34" charset="0"/>
                <a:ea typeface="Calibri" pitchFamily="34" charset="-122"/>
                <a:cs typeface="Calibri" pitchFamily="34" charset="-120"/>
              </a:rPr>
              <a:t>Year 5 revenue −$830k, about 27% — but blended ARPU RISES to $250 and margin improves. India is volume, not profit.</a:t>
            </a:r>
            <a:endParaRPr lang="en-US" sz="850" dirty="0"/>
          </a:p>
        </p:txBody>
      </p:sp>
      <p:sp>
        <p:nvSpPr>
          <p:cNvPr id="89" name="Shape 87"/>
          <p:cNvSpPr/>
          <p:nvPr/>
        </p:nvSpPr>
        <p:spPr>
          <a:xfrm>
            <a:off x="640080" y="6583680"/>
            <a:ext cx="10607040" cy="274320"/>
          </a:xfrm>
          <a:prstGeom prst="roundRect">
            <a:avLst>
              <a:gd name="adj" fmla="val 26667"/>
            </a:avLst>
          </a:prstGeom>
          <a:solidFill>
            <a:srgbClr val="EFEBF8"/>
          </a:solidFill>
          <a:ln/>
        </p:spPr>
      </p:sp>
      <p:sp>
        <p:nvSpPr>
          <p:cNvPr id="90" name="Text 88"/>
          <p:cNvSpPr/>
          <p:nvPr/>
        </p:nvSpPr>
        <p:spPr>
          <a:xfrm>
            <a:off x="859536" y="6583680"/>
            <a:ext cx="10149840" cy="274320"/>
          </a:xfrm>
          <a:prstGeom prst="rect">
            <a:avLst/>
          </a:prstGeom>
          <a:noFill/>
          <a:ln/>
        </p:spPr>
        <p:txBody>
          <a:bodyPr wrap="square" lIns="0" tIns="0" rIns="0" bIns="0" rtlCol="0" anchor="ctr"/>
          <a:lstStyle/>
          <a:p>
            <a:pPr indent="0" marL="0">
              <a:buNone/>
            </a:pPr>
            <a:r>
              <a:rPr lang="en-US" sz="800" b="1" dirty="0">
                <a:solidFill>
                  <a:srgbClr val="4A4360"/>
                </a:solidFill>
                <a:latin typeface="Calibri" pitchFamily="34" charset="0"/>
                <a:ea typeface="Calibri" pitchFamily="34" charset="-122"/>
                <a:cs typeface="Calibri" pitchFamily="34" charset="-120"/>
              </a:rPr>
              <a:t>Assumptions:  </a:t>
            </a:r>
            <a:pPr indent="0" marL="0">
              <a:buNone/>
            </a:pPr>
            <a:r>
              <a:rPr lang="en-US" sz="800" dirty="0">
                <a:solidFill>
                  <a:srgbClr val="4A4360"/>
                </a:solidFill>
                <a:latin typeface="Calibri" pitchFamily="34" charset="0"/>
                <a:ea typeface="Calibri" pitchFamily="34" charset="-122"/>
                <a:cs typeface="Calibri" pitchFamily="34" charset="-120"/>
              </a:rPr>
              <a:t>ARPU $250 diaspora / $45 India, blended falling $250→$172 as India grows · churn 30% · annual upfront billing · paid media 18% of revenue, content 12%, mentors 50% of cohort, COGS 55% of physical, fees &amp; hosting 3.9% · founders unpaid to Y3 · cohorts from Y3 at $999. Computed by strategy/model.py, which asserts positive EBITDA in every year and in week one.</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241E33"/>
        </a:solidFill>
      </p:bgPr>
    </p:bg>
    <p:spTree>
      <p:nvGrpSpPr>
        <p:cNvPr id="1" name=""/>
        <p:cNvGrpSpPr/>
        <p:nvPr/>
      </p:nvGrpSpPr>
      <p:grpSpPr>
        <a:xfrm>
          <a:off x="0" y="0"/>
          <a:ext cx="0" cy="0"/>
          <a:chOff x="0" y="0"/>
          <a:chExt cx="0" cy="0"/>
        </a:xfrm>
      </p:grpSpPr>
      <p:sp>
        <p:nvSpPr>
          <p:cNvPr id="2" name="Shape 0"/>
          <p:cNvSpPr/>
          <p:nvPr/>
        </p:nvSpPr>
        <p:spPr>
          <a:xfrm rot="5400000">
            <a:off x="9006840" y="4069080"/>
            <a:ext cx="731520" cy="731520"/>
          </a:xfrm>
          <a:prstGeom prst="hexagon">
            <a:avLst/>
          </a:prstGeom>
          <a:solidFill>
            <a:srgbClr val="F0B429">
              <a:alpha val="18000"/>
            </a:srgbClr>
          </a:solidFill>
          <a:ln/>
        </p:spPr>
      </p:sp>
      <p:sp>
        <p:nvSpPr>
          <p:cNvPr id="3" name="Shape 1"/>
          <p:cNvSpPr/>
          <p:nvPr/>
        </p:nvSpPr>
        <p:spPr>
          <a:xfrm rot="5400000">
            <a:off x="9921240" y="4069080"/>
            <a:ext cx="731520" cy="731520"/>
          </a:xfrm>
          <a:prstGeom prst="hexagon">
            <a:avLst/>
          </a:prstGeom>
          <a:solidFill>
            <a:srgbClr val="F0B429">
              <a:alpha val="18000"/>
            </a:srgbClr>
          </a:solidFill>
          <a:ln/>
        </p:spPr>
      </p:sp>
      <p:sp>
        <p:nvSpPr>
          <p:cNvPr id="4" name="Shape 2"/>
          <p:cNvSpPr/>
          <p:nvPr/>
        </p:nvSpPr>
        <p:spPr>
          <a:xfrm rot="5400000">
            <a:off x="10835640" y="4069080"/>
            <a:ext cx="731520" cy="731520"/>
          </a:xfrm>
          <a:prstGeom prst="hexagon">
            <a:avLst/>
          </a:prstGeom>
          <a:solidFill>
            <a:srgbClr val="F0B429">
              <a:alpha val="18000"/>
            </a:srgbClr>
          </a:solidFill>
          <a:ln/>
        </p:spPr>
      </p:sp>
      <p:sp>
        <p:nvSpPr>
          <p:cNvPr id="5" name="Shape 3"/>
          <p:cNvSpPr/>
          <p:nvPr/>
        </p:nvSpPr>
        <p:spPr>
          <a:xfrm rot="5400000">
            <a:off x="9464040" y="4855464"/>
            <a:ext cx="731520" cy="731520"/>
          </a:xfrm>
          <a:prstGeom prst="hexagon">
            <a:avLst/>
          </a:prstGeom>
          <a:solidFill>
            <a:srgbClr val="F0B429">
              <a:alpha val="18000"/>
            </a:srgbClr>
          </a:solidFill>
          <a:ln/>
        </p:spPr>
      </p:sp>
      <p:sp>
        <p:nvSpPr>
          <p:cNvPr id="6" name="Shape 4"/>
          <p:cNvSpPr/>
          <p:nvPr/>
        </p:nvSpPr>
        <p:spPr>
          <a:xfrm rot="5400000">
            <a:off x="10378440" y="4855464"/>
            <a:ext cx="731520" cy="731520"/>
          </a:xfrm>
          <a:prstGeom prst="hexagon">
            <a:avLst/>
          </a:prstGeom>
          <a:solidFill>
            <a:srgbClr val="F0B429">
              <a:alpha val="18000"/>
            </a:srgbClr>
          </a:solidFill>
          <a:ln/>
        </p:spPr>
      </p:sp>
      <p:sp>
        <p:nvSpPr>
          <p:cNvPr id="7" name="Shape 5"/>
          <p:cNvSpPr/>
          <p:nvPr/>
        </p:nvSpPr>
        <p:spPr>
          <a:xfrm rot="5400000">
            <a:off x="11292840" y="4855464"/>
            <a:ext cx="731520" cy="731520"/>
          </a:xfrm>
          <a:prstGeom prst="hexagon">
            <a:avLst/>
          </a:prstGeom>
          <a:solidFill>
            <a:srgbClr val="F0B429">
              <a:alpha val="18000"/>
            </a:srgbClr>
          </a:solidFill>
          <a:ln/>
        </p:spPr>
      </p:sp>
      <p:sp>
        <p:nvSpPr>
          <p:cNvPr id="8" name="Text 6"/>
          <p:cNvSpPr/>
          <p:nvPr/>
        </p:nvSpPr>
        <p:spPr>
          <a:xfrm>
            <a:off x="640080" y="685800"/>
            <a:ext cx="7315200" cy="292608"/>
          </a:xfrm>
          <a:prstGeom prst="rect">
            <a:avLst/>
          </a:prstGeom>
          <a:noFill/>
          <a:ln/>
        </p:spPr>
        <p:txBody>
          <a:bodyPr wrap="square" lIns="0" tIns="0" rIns="0" bIns="0" rtlCol="0" anchor="ctr"/>
          <a:lstStyle/>
          <a:p>
            <a:pPr indent="0" marL="0">
              <a:buNone/>
            </a:pPr>
            <a:r>
              <a:rPr lang="en-US" sz="1200" b="1" spc="300" kern="0" dirty="0">
                <a:solidFill>
                  <a:srgbClr val="F0B429"/>
                </a:solidFill>
                <a:latin typeface="Calibri" pitchFamily="34" charset="0"/>
                <a:ea typeface="Calibri" pitchFamily="34" charset="-122"/>
                <a:cs typeface="Calibri" pitchFamily="34" charset="-120"/>
              </a:rPr>
              <a:t>WHAT WE DECIDE NEXT</a:t>
            </a:r>
            <a:endParaRPr lang="en-US" sz="1200" dirty="0"/>
          </a:p>
        </p:txBody>
      </p:sp>
      <p:sp>
        <p:nvSpPr>
          <p:cNvPr id="9" name="Text 7"/>
          <p:cNvSpPr/>
          <p:nvPr/>
        </p:nvSpPr>
        <p:spPr>
          <a:xfrm>
            <a:off x="640080" y="1051560"/>
            <a:ext cx="10607040" cy="685800"/>
          </a:xfrm>
          <a:prstGeom prst="rect">
            <a:avLst/>
          </a:prstGeom>
          <a:noFill/>
          <a:ln/>
        </p:spPr>
        <p:txBody>
          <a:bodyPr wrap="square" lIns="0" tIns="0" rIns="0" bIns="0" rtlCol="0" anchor="ctr"/>
          <a:lstStyle/>
          <a:p>
            <a:pPr indent="0" marL="0">
              <a:buNone/>
            </a:pPr>
            <a:r>
              <a:rPr lang="en-US" sz="2900" b="1" dirty="0">
                <a:solidFill>
                  <a:srgbClr val="FFFFFF"/>
                </a:solidFill>
                <a:latin typeface="Cambria" pitchFamily="34" charset="0"/>
                <a:ea typeface="Cambria" pitchFamily="34" charset="-122"/>
                <a:cs typeface="Cambria" pitchFamily="34" charset="-120"/>
              </a:rPr>
              <a:t>Four open questions, in the order they block work.</a:t>
            </a:r>
            <a:endParaRPr lang="en-US" sz="2900" dirty="0"/>
          </a:p>
        </p:txBody>
      </p:sp>
      <p:sp>
        <p:nvSpPr>
          <p:cNvPr id="10" name="Shape 8"/>
          <p:cNvSpPr/>
          <p:nvPr/>
        </p:nvSpPr>
        <p:spPr>
          <a:xfrm rot="5400000">
            <a:off x="640080" y="2084832"/>
            <a:ext cx="384048" cy="384048"/>
          </a:xfrm>
          <a:prstGeom prst="hexagon">
            <a:avLst/>
          </a:prstGeom>
          <a:solidFill>
            <a:srgbClr val="F0B429"/>
          </a:solidFill>
          <a:ln/>
        </p:spPr>
      </p:sp>
      <p:sp>
        <p:nvSpPr>
          <p:cNvPr id="11" name="Text 9"/>
          <p:cNvSpPr/>
          <p:nvPr/>
        </p:nvSpPr>
        <p:spPr>
          <a:xfrm>
            <a:off x="640080" y="2084832"/>
            <a:ext cx="384048" cy="384048"/>
          </a:xfrm>
          <a:prstGeom prst="rect">
            <a:avLst/>
          </a:prstGeom>
          <a:noFill/>
          <a:ln/>
        </p:spPr>
        <p:txBody>
          <a:bodyPr wrap="square" lIns="0" tIns="0" rIns="0" bIns="0" rtlCol="0" anchor="ctr"/>
          <a:lstStyle/>
          <a:p>
            <a:pPr algn="ctr" indent="0" marL="0">
              <a:buNone/>
            </a:pPr>
            <a:r>
              <a:rPr lang="en-US" sz="1300" b="1" dirty="0">
                <a:solidFill>
                  <a:srgbClr val="241E33"/>
                </a:solidFill>
                <a:latin typeface="Cambria" pitchFamily="34" charset="0"/>
                <a:ea typeface="Cambria" pitchFamily="34" charset="-122"/>
                <a:cs typeface="Cambria" pitchFamily="34" charset="-120"/>
              </a:rPr>
              <a:t>1</a:t>
            </a:r>
            <a:endParaRPr lang="en-US" sz="1300" dirty="0"/>
          </a:p>
        </p:txBody>
      </p:sp>
      <p:sp>
        <p:nvSpPr>
          <p:cNvPr id="12" name="Text 10"/>
          <p:cNvSpPr/>
          <p:nvPr/>
        </p:nvSpPr>
        <p:spPr>
          <a:xfrm>
            <a:off x="1207008" y="2011680"/>
            <a:ext cx="2377440" cy="38404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Brand axis</a:t>
            </a:r>
            <a:endParaRPr lang="en-US" sz="1600" dirty="0"/>
          </a:p>
        </p:txBody>
      </p:sp>
      <p:sp>
        <p:nvSpPr>
          <p:cNvPr id="13" name="Text 11"/>
          <p:cNvSpPr/>
          <p:nvPr/>
        </p:nvSpPr>
        <p:spPr>
          <a:xfrm>
            <a:off x="3657600" y="2011680"/>
            <a:ext cx="7863840" cy="658368"/>
          </a:xfrm>
          <a:prstGeom prst="rect">
            <a:avLst/>
          </a:prstGeom>
          <a:noFill/>
          <a:ln/>
        </p:spPr>
        <p:txBody>
          <a:bodyPr wrap="square" lIns="0" tIns="0" rIns="0" bIns="0" rtlCol="0" anchor="ctr"/>
          <a:lstStyle/>
          <a:p>
            <a:pPr indent="0" marL="0">
              <a:lnSpc>
                <a:spcPts val="1700"/>
              </a:lnSpc>
              <a:buNone/>
            </a:pPr>
            <a:r>
              <a:rPr lang="en-US" sz="1250" dirty="0">
                <a:solidFill>
                  <a:srgbClr val="E3DCF2"/>
                </a:solidFill>
                <a:latin typeface="Calibri" pitchFamily="34" charset="0"/>
                <a:ea typeface="Calibri" pitchFamily="34" charset="-122"/>
                <a:cs typeface="Calibri" pitchFamily="34" charset="-120"/>
              </a:rPr>
              <a:t>Are the sub-brands subjects or geographies? Everything downstream — domains, marks, roadmap naming — waits on this.</a:t>
            </a:r>
            <a:endParaRPr lang="en-US" sz="1250" dirty="0"/>
          </a:p>
        </p:txBody>
      </p:sp>
      <p:sp>
        <p:nvSpPr>
          <p:cNvPr id="14" name="Shape 12"/>
          <p:cNvSpPr/>
          <p:nvPr/>
        </p:nvSpPr>
        <p:spPr>
          <a:xfrm rot="5400000">
            <a:off x="640080" y="3054096"/>
            <a:ext cx="384048" cy="384048"/>
          </a:xfrm>
          <a:prstGeom prst="hexagon">
            <a:avLst/>
          </a:prstGeom>
          <a:solidFill>
            <a:srgbClr val="F0B429"/>
          </a:solidFill>
          <a:ln/>
        </p:spPr>
      </p:sp>
      <p:sp>
        <p:nvSpPr>
          <p:cNvPr id="15" name="Text 13"/>
          <p:cNvSpPr/>
          <p:nvPr/>
        </p:nvSpPr>
        <p:spPr>
          <a:xfrm>
            <a:off x="640080" y="3054096"/>
            <a:ext cx="384048" cy="384048"/>
          </a:xfrm>
          <a:prstGeom prst="rect">
            <a:avLst/>
          </a:prstGeom>
          <a:noFill/>
          <a:ln/>
        </p:spPr>
        <p:txBody>
          <a:bodyPr wrap="square" lIns="0" tIns="0" rIns="0" bIns="0" rtlCol="0" anchor="ctr"/>
          <a:lstStyle/>
          <a:p>
            <a:pPr algn="ctr" indent="0" marL="0">
              <a:buNone/>
            </a:pPr>
            <a:r>
              <a:rPr lang="en-US" sz="1300" b="1" dirty="0">
                <a:solidFill>
                  <a:srgbClr val="241E33"/>
                </a:solidFill>
                <a:latin typeface="Cambria" pitchFamily="34" charset="0"/>
                <a:ea typeface="Cambria" pitchFamily="34" charset="-122"/>
                <a:cs typeface="Cambria" pitchFamily="34" charset="-120"/>
              </a:rPr>
              <a:t>2</a:t>
            </a:r>
            <a:endParaRPr lang="en-US" sz="1300" dirty="0"/>
          </a:p>
        </p:txBody>
      </p:sp>
      <p:sp>
        <p:nvSpPr>
          <p:cNvPr id="16" name="Text 14"/>
          <p:cNvSpPr/>
          <p:nvPr/>
        </p:nvSpPr>
        <p:spPr>
          <a:xfrm>
            <a:off x="1207008" y="2980944"/>
            <a:ext cx="2377440" cy="38404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Second product</a:t>
            </a:r>
            <a:endParaRPr lang="en-US" sz="1600" dirty="0"/>
          </a:p>
        </p:txBody>
      </p:sp>
      <p:sp>
        <p:nvSpPr>
          <p:cNvPr id="17" name="Text 15"/>
          <p:cNvSpPr/>
          <p:nvPr/>
        </p:nvSpPr>
        <p:spPr>
          <a:xfrm>
            <a:off x="3657600" y="2980944"/>
            <a:ext cx="7863840" cy="658368"/>
          </a:xfrm>
          <a:prstGeom prst="rect">
            <a:avLst/>
          </a:prstGeom>
          <a:noFill/>
          <a:ln/>
        </p:spPr>
        <p:txBody>
          <a:bodyPr wrap="square" lIns="0" tIns="0" rIns="0" bIns="0" rtlCol="0" anchor="ctr"/>
          <a:lstStyle/>
          <a:p>
            <a:pPr indent="0" marL="0">
              <a:lnSpc>
                <a:spcPts val="1700"/>
              </a:lnSpc>
              <a:buNone/>
            </a:pPr>
            <a:r>
              <a:rPr lang="en-US" sz="1250" dirty="0">
                <a:solidFill>
                  <a:srgbClr val="E3DCF2"/>
                </a:solidFill>
                <a:latin typeface="Calibri" pitchFamily="34" charset="0"/>
                <a:ea typeface="Calibri" pitchFamily="34" charset="-122"/>
                <a:cs typeface="Calibri" pitchFamily="34" charset="-120"/>
              </a:rPr>
              <a:t>Bizzing Eleven is the fastest to ship because the engine already does it. Bizzing Bhasha is the more valuable business. Which first?</a:t>
            </a:r>
            <a:endParaRPr lang="en-US" sz="1250" dirty="0"/>
          </a:p>
        </p:txBody>
      </p:sp>
      <p:sp>
        <p:nvSpPr>
          <p:cNvPr id="18" name="Shape 16"/>
          <p:cNvSpPr/>
          <p:nvPr/>
        </p:nvSpPr>
        <p:spPr>
          <a:xfrm rot="5400000">
            <a:off x="640080" y="4023360"/>
            <a:ext cx="384048" cy="384048"/>
          </a:xfrm>
          <a:prstGeom prst="hexagon">
            <a:avLst/>
          </a:prstGeom>
          <a:solidFill>
            <a:srgbClr val="F0B429"/>
          </a:solidFill>
          <a:ln/>
        </p:spPr>
      </p:sp>
      <p:sp>
        <p:nvSpPr>
          <p:cNvPr id="19" name="Text 17"/>
          <p:cNvSpPr/>
          <p:nvPr/>
        </p:nvSpPr>
        <p:spPr>
          <a:xfrm>
            <a:off x="640080" y="4023360"/>
            <a:ext cx="384048" cy="384048"/>
          </a:xfrm>
          <a:prstGeom prst="rect">
            <a:avLst/>
          </a:prstGeom>
          <a:noFill/>
          <a:ln/>
        </p:spPr>
        <p:txBody>
          <a:bodyPr wrap="square" lIns="0" tIns="0" rIns="0" bIns="0" rtlCol="0" anchor="ctr"/>
          <a:lstStyle/>
          <a:p>
            <a:pPr algn="ctr" indent="0" marL="0">
              <a:buNone/>
            </a:pPr>
            <a:r>
              <a:rPr lang="en-US" sz="1300" b="1" dirty="0">
                <a:solidFill>
                  <a:srgbClr val="241E33"/>
                </a:solidFill>
                <a:latin typeface="Cambria" pitchFamily="34" charset="0"/>
                <a:ea typeface="Cambria" pitchFamily="34" charset="-122"/>
                <a:cs typeface="Cambria" pitchFamily="34" charset="-120"/>
              </a:rPr>
              <a:t>3</a:t>
            </a:r>
            <a:endParaRPr lang="en-US" sz="1300" dirty="0"/>
          </a:p>
        </p:txBody>
      </p:sp>
      <p:sp>
        <p:nvSpPr>
          <p:cNvPr id="20" name="Text 18"/>
          <p:cNvSpPr/>
          <p:nvPr/>
        </p:nvSpPr>
        <p:spPr>
          <a:xfrm>
            <a:off x="1207008" y="3950208"/>
            <a:ext cx="2377440" cy="38404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Monetisation shape</a:t>
            </a:r>
            <a:endParaRPr lang="en-US" sz="1600" dirty="0"/>
          </a:p>
        </p:txBody>
      </p:sp>
      <p:sp>
        <p:nvSpPr>
          <p:cNvPr id="21" name="Text 19"/>
          <p:cNvSpPr/>
          <p:nvPr/>
        </p:nvSpPr>
        <p:spPr>
          <a:xfrm>
            <a:off x="3657600" y="3950208"/>
            <a:ext cx="7863840" cy="658368"/>
          </a:xfrm>
          <a:prstGeom prst="rect">
            <a:avLst/>
          </a:prstGeom>
          <a:noFill/>
          <a:ln/>
        </p:spPr>
        <p:txBody>
          <a:bodyPr wrap="square" lIns="0" tIns="0" rIns="0" bIns="0" rtlCol="0" anchor="ctr"/>
          <a:lstStyle/>
          <a:p>
            <a:pPr indent="0" marL="0">
              <a:lnSpc>
                <a:spcPts val="1700"/>
              </a:lnSpc>
              <a:buNone/>
            </a:pPr>
            <a:r>
              <a:rPr lang="en-US" sz="1250" dirty="0">
                <a:solidFill>
                  <a:srgbClr val="E3DCF2"/>
                </a:solidFill>
                <a:latin typeface="Calibri" pitchFamily="34" charset="0"/>
                <a:ea typeface="Calibri" pitchFamily="34" charset="-122"/>
                <a:cs typeface="Calibri" pitchFamily="34" charset="-120"/>
              </a:rPr>
              <a:t>One subscription across the house, or a price per product? Decide before the second product exists, not after.</a:t>
            </a:r>
            <a:endParaRPr lang="en-US" sz="1250" dirty="0"/>
          </a:p>
        </p:txBody>
      </p:sp>
      <p:sp>
        <p:nvSpPr>
          <p:cNvPr id="22" name="Shape 20"/>
          <p:cNvSpPr/>
          <p:nvPr/>
        </p:nvSpPr>
        <p:spPr>
          <a:xfrm rot="5400000">
            <a:off x="640080" y="4992624"/>
            <a:ext cx="384048" cy="384048"/>
          </a:xfrm>
          <a:prstGeom prst="hexagon">
            <a:avLst/>
          </a:prstGeom>
          <a:solidFill>
            <a:srgbClr val="F0B429"/>
          </a:solidFill>
          <a:ln/>
        </p:spPr>
      </p:sp>
      <p:sp>
        <p:nvSpPr>
          <p:cNvPr id="23" name="Text 21"/>
          <p:cNvSpPr/>
          <p:nvPr/>
        </p:nvSpPr>
        <p:spPr>
          <a:xfrm>
            <a:off x="640080" y="4992624"/>
            <a:ext cx="384048" cy="384048"/>
          </a:xfrm>
          <a:prstGeom prst="rect">
            <a:avLst/>
          </a:prstGeom>
          <a:noFill/>
          <a:ln/>
        </p:spPr>
        <p:txBody>
          <a:bodyPr wrap="square" lIns="0" tIns="0" rIns="0" bIns="0" rtlCol="0" anchor="ctr"/>
          <a:lstStyle/>
          <a:p>
            <a:pPr algn="ctr" indent="0" marL="0">
              <a:buNone/>
            </a:pPr>
            <a:r>
              <a:rPr lang="en-US" sz="1300" b="1" dirty="0">
                <a:solidFill>
                  <a:srgbClr val="241E33"/>
                </a:solidFill>
                <a:latin typeface="Cambria" pitchFamily="34" charset="0"/>
                <a:ea typeface="Cambria" pitchFamily="34" charset="-122"/>
                <a:cs typeface="Cambria" pitchFamily="34" charset="-120"/>
              </a:rPr>
              <a:t>4</a:t>
            </a:r>
            <a:endParaRPr lang="en-US" sz="1300" dirty="0"/>
          </a:p>
        </p:txBody>
      </p:sp>
      <p:sp>
        <p:nvSpPr>
          <p:cNvPr id="24" name="Text 22"/>
          <p:cNvSpPr/>
          <p:nvPr/>
        </p:nvSpPr>
        <p:spPr>
          <a:xfrm>
            <a:off x="1207008" y="4919472"/>
            <a:ext cx="2377440" cy="38404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Entity &amp; filings</a:t>
            </a:r>
            <a:endParaRPr lang="en-US" sz="1600" dirty="0"/>
          </a:p>
        </p:txBody>
      </p:sp>
      <p:sp>
        <p:nvSpPr>
          <p:cNvPr id="25" name="Text 23"/>
          <p:cNvSpPr/>
          <p:nvPr/>
        </p:nvSpPr>
        <p:spPr>
          <a:xfrm>
            <a:off x="3657600" y="4919472"/>
            <a:ext cx="7863840" cy="658368"/>
          </a:xfrm>
          <a:prstGeom prst="rect">
            <a:avLst/>
          </a:prstGeom>
          <a:noFill/>
          <a:ln/>
        </p:spPr>
        <p:txBody>
          <a:bodyPr wrap="square" lIns="0" tIns="0" rIns="0" bIns="0" rtlCol="0" anchor="ctr"/>
          <a:lstStyle/>
          <a:p>
            <a:pPr indent="0" marL="0">
              <a:lnSpc>
                <a:spcPts val="1700"/>
              </a:lnSpc>
              <a:buNone/>
            </a:pPr>
            <a:r>
              <a:rPr lang="en-US" sz="1250" dirty="0">
                <a:solidFill>
                  <a:srgbClr val="E3DCF2"/>
                </a:solidFill>
                <a:latin typeface="Calibri" pitchFamily="34" charset="0"/>
                <a:ea typeface="Calibri" pitchFamily="34" charset="-122"/>
                <a:cs typeface="Calibri" pitchFamily="34" charset="-120"/>
              </a:rPr>
              <a:t>LLC, trademark filings, and the child-performer question before any paid appearance by the CKO.</a:t>
            </a:r>
            <a:endParaRPr lang="en-US" sz="1250" dirty="0"/>
          </a:p>
        </p:txBody>
      </p:sp>
      <p:sp>
        <p:nvSpPr>
          <p:cNvPr id="26" name="Text 24"/>
          <p:cNvSpPr/>
          <p:nvPr/>
        </p:nvSpPr>
        <p:spPr>
          <a:xfrm>
            <a:off x="640080" y="6035040"/>
            <a:ext cx="5486400" cy="274320"/>
          </a:xfrm>
          <a:prstGeom prst="rect">
            <a:avLst/>
          </a:prstGeom>
          <a:noFill/>
          <a:ln/>
        </p:spPr>
        <p:txBody>
          <a:bodyPr wrap="square" lIns="0" tIns="0" rIns="0" bIns="0" rtlCol="0" anchor="ctr"/>
          <a:lstStyle/>
          <a:p>
            <a:pPr indent="0" marL="0">
              <a:buNone/>
            </a:pPr>
            <a:r>
              <a:rPr lang="en-US" sz="1100" dirty="0">
                <a:solidFill>
                  <a:srgbClr val="7A7291"/>
                </a:solidFill>
                <a:latin typeface="Calibri" pitchFamily="34" charset="0"/>
                <a:ea typeface="Calibri" pitchFamily="34" charset="-122"/>
                <a:cs typeface="Calibri" pitchFamily="34" charset="-120"/>
              </a:rPr>
              <a:t>Bizzing · bizzingbee.com</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Bizzing — Vision, Strategy &amp; Organisation</dc:title>
  <dc:subject>PptxGenJS Presentation</dc:subject>
  <dc:creator>Bizzing</dc:creator>
  <cp:lastModifiedBy>Bizzing</cp:lastModifiedBy>
  <cp:revision>1</cp:revision>
  <dcterms:created xsi:type="dcterms:W3CDTF">2026-08-23T02:00:06Z</dcterms:created>
  <dcterms:modified xsi:type="dcterms:W3CDTF">2026-08-23T02:00:06Z</dcterms:modified>
</cp:coreProperties>
</file>