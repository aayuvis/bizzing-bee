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Bromic keeps its promise — Extend The Moment. This campaign supplies the argument underneath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single concept in the bank — it does the price reframe and the gag in one frame. Bunnings in AUS, Home Depot in US: the object is identical and instantly readable in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Pizza ovens are an epidemic in both markets. Painfully recognisable, zero cultural translation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Snowbirds in the US, the winter run to Queensland in AUS — same behaviour, same joke, swap the destination plate. The most extreme possible statement of the price reframe, and it lands hardest at the 55–70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US: Super Bowl Sunday, February. AUS: the Grand Final, September. Identical shot, opposite hemisphere, opposite month — one film ships to both markets with a single supered date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concept that dramatises Bromic's actual technical differentiator — wind-resistant infrared, which the main US competitor cannot answer at all. Byron and Mornington in AUS; Cape Cod, the Hamptons and coastal California in the US. Put this one in front of architects.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trade-tier workhorse — LinkedIn, trade press, rep leave-behind. Keeps the endline and shifts the victim to the specifier's competence, the only currency that moves that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States the argument as arithmetic in the customer's own numbers. The heater is the smallest line on a list they wrote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hundred dollars at framing against six thousand after handover. It hands the builder a defensible upsell they can quote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Capacity, not comfort. Forty covers times average spend times the nights you cannot currently sell them. The payback fits on one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cost of ownership — the argument that wins procurement. Ten years of disposable heaters costs more than installing permanent ones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image" Target="../media/image-27-4.jpg"/><Relationship Id="rId5" Type="http://schemas.openxmlformats.org/officeDocument/2006/relationships/image" Target="../media/image-27-5.jpg"/><Relationship Id="rId6" Type="http://schemas.openxmlformats.org/officeDocument/2006/relationships/image" Target="../media/image-27-6.jpg"/><Relationship Id="rId7" Type="http://schemas.openxmlformats.org/officeDocument/2006/relationships/image" Target="../media/image-27-7.jpg"/><Relationship Id="rId8" Type="http://schemas.openxmlformats.org/officeDocument/2006/relationships/image" Target="../media/image-2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4" Type="http://schemas.openxmlformats.org/officeDocument/2006/relationships/image" Target="../media/image-28-4.jpg"/><Relationship Id="rId5" Type="http://schemas.openxmlformats.org/officeDocument/2006/relationships/image" Target="../media/image-28-5.jpg"/><Relationship Id="rId6" Type="http://schemas.openxmlformats.org/officeDocument/2006/relationships/image" Target="../media/image-28-6.jpg"/><Relationship Id="rId7" Type="http://schemas.openxmlformats.org/officeDocument/2006/relationships/image" Target="../media/image-28-7.jpg"/><Relationship Id="rId8" Type="http://schemas.openxmlformats.org/officeDocument/2006/relationships/image" Target="../media/image-28-8.jpg"/><Relationship Id="rId9" Type="http://schemas.openxmlformats.org/officeDocument/2006/relationships/image" Target="../media/image-2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image" Target="../media/image-29-4.jpg"/><Relationship Id="rId5" Type="http://schemas.openxmlformats.org/officeDocument/2006/relationships/image" Target="../media/image-29-5.jpg"/><Relationship Id="rId6" Type="http://schemas.openxmlformats.org/officeDocument/2006/relationships/image" Target="../media/image-29-6.jpg"/><Relationship Id="rId7" Type="http://schemas.openxmlformats.org/officeDocument/2006/relationships/image" Target="../media/image-29-7.jpg"/><Relationship Id="rId8" Type="http://schemas.openxmlformats.org/officeDocument/2006/relationships/image" Target="../media/image-29-8.jpg"/><Relationship Id="rId9" Type="http://schemas.openxmlformats.org/officeDocument/2006/relationships/image" Target="../media/image-2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image" Target="../media/image-30-4.jpg"/><Relationship Id="rId5" Type="http://schemas.openxmlformats.org/officeDocument/2006/relationships/image" Target="../media/image-30-5.jpg"/><Relationship Id="rId6" Type="http://schemas.openxmlformats.org/officeDocument/2006/relationships/image" Target="../media/image-30-6.jpg"/><Relationship Id="rId7" Type="http://schemas.openxmlformats.org/officeDocument/2006/relationships/image" Target="../media/image-30-7.jpg"/><Relationship Id="rId8" Type="http://schemas.openxmlformats.org/officeDocument/2006/relationships/image" Target="../media/image-30-8.jpg"/><Relationship Id="rId9" Type="http://schemas.openxmlformats.org/officeDocument/2006/relationships/image" Target="../media/image-3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image" Target="../media/image-31-3.jpg"/><Relationship Id="rId4" Type="http://schemas.openxmlformats.org/officeDocument/2006/relationships/image" Target="../media/image-31-4.jpg"/><Relationship Id="rId5" Type="http://schemas.openxmlformats.org/officeDocument/2006/relationships/image" Target="../media/image-31-5.jpg"/><Relationship Id="rId6" Type="http://schemas.openxmlformats.org/officeDocument/2006/relationships/image" Target="../media/image-31-6.jpg"/><Relationship Id="rId7" Type="http://schemas.openxmlformats.org/officeDocument/2006/relationships/image" Target="../media/image-31-7.jpg"/><Relationship Id="rId8" Type="http://schemas.openxmlformats.org/officeDocument/2006/relationships/image" Target="../media/image-3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image" Target="../media/image-32-3.jpg"/><Relationship Id="rId4" Type="http://schemas.openxmlformats.org/officeDocument/2006/relationships/image" Target="../media/image-32-4.jpg"/><Relationship Id="rId5" Type="http://schemas.openxmlformats.org/officeDocument/2006/relationships/image" Target="../media/image-32-5.jp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419100"/>
            <a:ext cx="971550" cy="285750"/>
          </a:xfrm>
          <a:prstGeom prst="rect">
            <a:avLst/>
          </a:prstGeom>
        </p:spPr>
      </p:pic>
      <p:pic>
        <p:nvPicPr>
          <p:cNvPr id="3" name="Image 1" descr="/tmp/claude-0/-home-user-Bizzing-Bee/4e23cfba-e7d7-5db3-a77c-4dd0a1079ba5/ds/powerpoint-handover/assets/bromic-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9470" y="1428750"/>
            <a:ext cx="2219325" cy="342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42900" y="16192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6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</a:t>
            </a:r>
            <a:endParaRPr lang="en-US" sz="6200" dirty="0"/>
          </a:p>
        </p:txBody>
      </p:sp>
      <p:sp>
        <p:nvSpPr>
          <p:cNvPr id="5" name="Shape 1"/>
          <p:cNvSpPr/>
          <p:nvPr/>
        </p:nvSpPr>
        <p:spPr>
          <a:xfrm>
            <a:off x="342900" y="4305300"/>
            <a:ext cx="5095875" cy="38100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6" name="Text 2"/>
          <p:cNvSpPr/>
          <p:nvPr/>
        </p:nvSpPr>
        <p:spPr>
          <a:xfrm>
            <a:off x="342900" y="45148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brand campaign for outdoor heating.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Humour is the only unclaimed territory in this category.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342900" y="619125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CONCEPTS · 6 FILMS · 4 RECEIPTS · 4 PRICED SCENES · US + AUS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2385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42900" y="1600200"/>
            <a:ext cx="10287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 in this category</a:t>
            </a:r>
            <a:endParaRPr lang="en-US" sz="4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pPr indent="0" marL="0">
              <a:lnSpc>
                <a:spcPct val="106000"/>
              </a:lnSpc>
              <a:buNone/>
            </a:pPr>
            <a:r>
              <a:rPr lang="en-US" sz="46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ad.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42900" y="3733800"/>
            <a:ext cx="838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hour. Infinity pool. Cashmere throw. Two glasses of wine nobody drinks.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2900" y="4171950"/>
            <a:ext cx="5095875" cy="28575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" y="4476750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once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900" y="47244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decision. One chance to be the name.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52900" y="4476750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Considered slowly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52900" y="47244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between the first thought and the quote.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62900" y="4476750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at a counter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62900" y="47244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recommends the brand they remember.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900" y="5715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Humour is the only unclaimed territory here.</a:t>
            </a:r>
            <a:endParaRPr lang="en-US" sz="1700" dirty="0"/>
          </a:p>
        </p:txBody>
      </p:sp>
      <p:pic>
        <p:nvPicPr>
          <p:cNvPr id="13" name="Image 0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2a_pizza_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1">
              <a:alpha val="6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2114550"/>
            <a:ext cx="1714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342900" y="3105150"/>
            <a:ext cx="952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films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42900" y="3848100"/>
            <a:ext cx="5095875" cy="28575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7" name="Text 4"/>
          <p:cNvSpPr/>
          <p:nvPr/>
        </p:nvSpPr>
        <p:spPr>
          <a:xfrm>
            <a:off x="342900" y="4019550"/>
            <a:ext cx="7810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plates. One shoot, both hemispheres. Cold misery held straight-faced for twenty-five seconds — then the heat comes on and the space fills.</a:t>
            </a:r>
            <a:endParaRPr lang="en-US" sz="1300" dirty="0"/>
          </a:p>
        </p:txBody>
      </p:sp>
      <p:pic>
        <p:nvPicPr>
          <p:cNvPr id="8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1a_mushroom_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000500"/>
            <a:ext cx="12191695" cy="2857500"/>
          </a:xfrm>
          <a:prstGeom prst="rect">
            <a:avLst/>
          </a:prstGeom>
          <a:solidFill>
            <a:srgbClr val="0E0F11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0F11">
              <a:alpha val="5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323850"/>
            <a:ext cx="723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MUSHROOM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95795" y="3238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  ·   ASSET   ·   :30   ·   REMODEL   ·   FAME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42900" y="4667250"/>
            <a:ext cx="876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Seventy thousand dollars of outdoor kitchen. Heated by an eighty-nine dollar mushroom.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42900" y="5943600"/>
            <a:ext cx="838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$70,000 alfresco build. Dead centre of it, one cheap mushroom heater standing like a traffic cone. Three adults pressed shoulder to shoulder inside its one-metre radius while the outdoor kitchen, the twelve-seat table and the built-in sofa sit empty around them.</a:t>
            </a:r>
            <a:endParaRPr lang="en-US" sz="1050" dirty="0"/>
          </a:p>
        </p:txBody>
      </p:sp>
      <p:pic>
        <p:nvPicPr>
          <p:cNvPr id="9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1b_mushroom_af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7750"/>
            <a:ext cx="12191695" cy="2000250"/>
          </a:xfrm>
          <a:prstGeom prst="rect">
            <a:avLst/>
          </a:prstGeom>
          <a:solidFill>
            <a:srgbClr val="0E0F11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54292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Moment.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42900" y="525780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6" name="Text 3"/>
          <p:cNvSpPr/>
          <p:nvPr/>
        </p:nvSpPr>
        <p:spPr>
          <a:xfrm>
            <a:off x="8991295" y="55245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TURN</a:t>
            </a:r>
            <a:endParaRPr lang="en-US" sz="850" dirty="0"/>
          </a:p>
        </p:txBody>
      </p:sp>
      <p:pic>
        <p:nvPicPr>
          <p:cNvPr id="7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2a_pizza_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000500"/>
            <a:ext cx="12191695" cy="2857500"/>
          </a:xfrm>
          <a:prstGeom prst="rect">
            <a:avLst/>
          </a:prstGeom>
          <a:solidFill>
            <a:srgbClr val="0E0F11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0F11">
              <a:alpha val="5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323850"/>
            <a:ext cx="723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PIZZA OVEN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95795" y="3238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  ·   SUNKCOST   ·   :30   ·   ADDON   ·   FAME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42900" y="4667250"/>
            <a:ext cx="876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times a year.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42900" y="5943600"/>
            <a:ext cx="838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$9,000 wood-fired oven. He fires it, tends it, peels the pizza — beautiful. Everyone takes a slice and goes inside. He stands alone in the dark in a puffer, holding the peel, beside the most expensive appliance he has ever bought.</a:t>
            </a:r>
            <a:endParaRPr lang="en-US" sz="1050" dirty="0"/>
          </a:p>
        </p:txBody>
      </p:sp>
      <p:pic>
        <p:nvPicPr>
          <p:cNvPr id="9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2b_pizza_af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7750"/>
            <a:ext cx="12191695" cy="2000250"/>
          </a:xfrm>
          <a:prstGeom prst="rect">
            <a:avLst/>
          </a:prstGeom>
          <a:solidFill>
            <a:srgbClr val="0E0F11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54292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Moment.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42900" y="525780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6" name="Text 3"/>
          <p:cNvSpPr/>
          <p:nvPr/>
        </p:nvSpPr>
        <p:spPr>
          <a:xfrm>
            <a:off x="8991295" y="55245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TURN</a:t>
            </a:r>
            <a:endParaRPr lang="en-US" sz="850" dirty="0"/>
          </a:p>
        </p:txBody>
      </p:sp>
      <p:pic>
        <p:nvPicPr>
          <p:cNvPr id="7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3a_snowbird_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000500"/>
            <a:ext cx="12191695" cy="2857500"/>
          </a:xfrm>
          <a:prstGeom prst="rect">
            <a:avLst/>
          </a:prstGeom>
          <a:solidFill>
            <a:srgbClr val="0E0F11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0F11">
              <a:alpha val="5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323850"/>
            <a:ext cx="723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SNOWBIRDS / THE QUEENSLAND RUN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95795" y="3238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  ·   ASSET   ·   :30   ·   REMODEL   ·   FAME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42900" y="4667250"/>
            <a:ext cx="876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Wilsons solved their outdoor heating problem. It cost four hundred thousand dollars.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42900" y="5943600"/>
            <a:ext cx="838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retired couple's entire plan was the terrace. Instead, every year, they pack the car and drive five hours north for five months. Cut to the second property.</a:t>
            </a:r>
            <a:endParaRPr lang="en-US" sz="1050" dirty="0"/>
          </a:p>
        </p:txBody>
      </p:sp>
      <p:pic>
        <p:nvPicPr>
          <p:cNvPr id="9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3b_snowbird_af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7750"/>
            <a:ext cx="12191695" cy="2000250"/>
          </a:xfrm>
          <a:prstGeom prst="rect">
            <a:avLst/>
          </a:prstGeom>
          <a:solidFill>
            <a:srgbClr val="0E0F11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54292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Moment.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42900" y="525780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6" name="Text 3"/>
          <p:cNvSpPr/>
          <p:nvPr/>
        </p:nvSpPr>
        <p:spPr>
          <a:xfrm>
            <a:off x="8991295" y="55245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TURN</a:t>
            </a:r>
            <a:endParaRPr lang="en-US" sz="850" dirty="0"/>
          </a:p>
        </p:txBody>
      </p:sp>
      <p:pic>
        <p:nvPicPr>
          <p:cNvPr id="7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4a_biggame_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000500"/>
            <a:ext cx="12191695" cy="2857500"/>
          </a:xfrm>
          <a:prstGeom prst="rect">
            <a:avLst/>
          </a:prstGeom>
          <a:solidFill>
            <a:srgbClr val="0E0F11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0F11">
              <a:alpha val="5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323850"/>
            <a:ext cx="723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BIG GAME / THE GRAND FINAL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95795" y="3238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  ·   ASSET   ·   :30   ·   ADDON   ·   FAME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42900" y="4667250"/>
            <a:ext cx="876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outdoor TV cost six thousand dollars. Everyone is watching the small one.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42900" y="5943600"/>
            <a:ext cx="838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Twenty-two people crammed into a living room around a modest screen. Push through the glass behind them to reveal the outdoor lounge, the bar and its own 85-inch television — dark, dry under the roof, completely empty.</a:t>
            </a:r>
            <a:endParaRPr lang="en-US" sz="1050" dirty="0"/>
          </a:p>
        </p:txBody>
      </p:sp>
      <p:pic>
        <p:nvPicPr>
          <p:cNvPr id="9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4b_biggame_af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7750"/>
            <a:ext cx="12191695" cy="2000250"/>
          </a:xfrm>
          <a:prstGeom prst="rect">
            <a:avLst/>
          </a:prstGeom>
          <a:solidFill>
            <a:srgbClr val="0E0F11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54292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Moment.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42900" y="525780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6" name="Text 3"/>
          <p:cNvSpPr/>
          <p:nvPr/>
        </p:nvSpPr>
        <p:spPr>
          <a:xfrm>
            <a:off x="8991295" y="55245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TURN</a:t>
            </a:r>
            <a:endParaRPr lang="en-US" sz="850" dirty="0"/>
          </a:p>
        </p:txBody>
      </p:sp>
      <p:pic>
        <p:nvPicPr>
          <p:cNvPr id="7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5a_coastal_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000500"/>
            <a:ext cx="12191695" cy="2857500"/>
          </a:xfrm>
          <a:prstGeom prst="rect">
            <a:avLst/>
          </a:prstGeom>
          <a:solidFill>
            <a:srgbClr val="0E0F11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0F11">
              <a:alpha val="5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323850"/>
            <a:ext cx="723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THE COASTAL BREEZE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95795" y="3238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  ·   ASSET   ·   :30   ·   NEWBUILD   ·   CONSIDER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42900" y="4667250"/>
            <a:ext cx="876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view. Emptied by the breeze.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42900" y="5943600"/>
            <a:ext cx="838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beach house. Flawless. Every evening at five past five the wind arrives and the deck empties in under a minute — plates lifted, napkins gone, everyone in. Time-lapsed across a week until it becomes a rhythm.</a:t>
            </a:r>
            <a:endParaRPr lang="en-US" sz="1050" dirty="0"/>
          </a:p>
        </p:txBody>
      </p:sp>
      <p:pic>
        <p:nvPicPr>
          <p:cNvPr id="9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5b_coastal_af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7750"/>
            <a:ext cx="12191695" cy="2000250"/>
          </a:xfrm>
          <a:prstGeom prst="rect">
            <a:avLst/>
          </a:prstGeom>
          <a:solidFill>
            <a:srgbClr val="0E0F11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54292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Moment.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42900" y="525780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6" name="Text 3"/>
          <p:cNvSpPr/>
          <p:nvPr/>
        </p:nvSpPr>
        <p:spPr>
          <a:xfrm>
            <a:off x="8991295" y="55245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THE TURN</a:t>
            </a:r>
            <a:endParaRPr lang="en-US" sz="850" dirty="0"/>
          </a:p>
        </p:txBody>
      </p:sp>
      <p:pic>
        <p:nvPicPr>
          <p:cNvPr id="7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6a_spec_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000500"/>
            <a:ext cx="12191695" cy="2857500"/>
          </a:xfrm>
          <a:prstGeom prst="rect">
            <a:avLst/>
          </a:prstGeom>
          <a:solidFill>
            <a:srgbClr val="0E0F11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0F11">
              <a:alpha val="5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323850"/>
            <a:ext cx="723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THE SPECIFICATION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95795" y="3238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  ·   ASSET   ·   :30   ·   TRADE   ·   CONSIDER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42900" y="4667250"/>
            <a:ext cx="876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the season. Not just the space.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42900" y="5943600"/>
            <a:ext cx="838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architect presents a gorgeous render — golden light, people, wine. The client studies it, then points. “And in November?” (AUS: “And in July?”) The architect opens their mouth. Nothing comes out. Hold on it.</a:t>
            </a:r>
            <a:endParaRPr lang="en-US" sz="1050" dirty="0"/>
          </a:p>
        </p:txBody>
      </p:sp>
      <p:pic>
        <p:nvPicPr>
          <p:cNvPr id="9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6b_spec_af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7750"/>
            <a:ext cx="12191695" cy="2000250"/>
          </a:xfrm>
          <a:prstGeom prst="rect">
            <a:avLst/>
          </a:prstGeom>
          <a:solidFill>
            <a:srgbClr val="0E0F11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54292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Moment.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42900" y="525780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6" name="Text 3"/>
          <p:cNvSpPr/>
          <p:nvPr/>
        </p:nvSpPr>
        <p:spPr>
          <a:xfrm>
            <a:off x="8991295" y="55245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THE TURN</a:t>
            </a:r>
            <a:endParaRPr lang="en-US" sz="850" dirty="0"/>
          </a:p>
        </p:txBody>
      </p:sp>
      <p:pic>
        <p:nvPicPr>
          <p:cNvPr id="7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3a_snowbird_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1">
              <a:alpha val="6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2114550"/>
            <a:ext cx="1714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342900" y="3105150"/>
            <a:ext cx="952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Receipt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42900" y="3848100"/>
            <a:ext cx="5095875" cy="28575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7" name="Text 4"/>
          <p:cNvSpPr/>
          <p:nvPr/>
        </p:nvSpPr>
        <p:spPr>
          <a:xfrm>
            <a:off x="342900" y="4019550"/>
            <a:ext cx="7810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argument, stated as arithmetic. A stack of itemised prices — then the ending inverts, because the thing that unlocks the backyard is the cheapest line on the list.</a:t>
            </a:r>
            <a:endParaRPr lang="en-US" sz="1300" dirty="0"/>
          </a:p>
        </p:txBody>
      </p:sp>
      <p:pic>
        <p:nvPicPr>
          <p:cNvPr id="8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572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· HOMEOWNER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3400" y="666750"/>
            <a:ext cx="723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Backyard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3400" y="14287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sofa and dining 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72150" y="14287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3400" y="181927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18669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Pergola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72150" y="18669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3400" y="225742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" y="23050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kitchen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72150" y="23050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3400" y="269557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4" name="Text 12"/>
          <p:cNvSpPr/>
          <p:nvPr/>
        </p:nvSpPr>
        <p:spPr>
          <a:xfrm>
            <a:off x="533400" y="27432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Wood-fired oven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72150" y="27432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3400" y="313372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7" name="Text 15"/>
          <p:cNvSpPr/>
          <p:nvPr/>
        </p:nvSpPr>
        <p:spPr>
          <a:xfrm>
            <a:off x="533400" y="31813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Landscaping and lighting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72150" y="31813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3400" y="357187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20" name="Text 18"/>
          <p:cNvSpPr/>
          <p:nvPr/>
        </p:nvSpPr>
        <p:spPr>
          <a:xfrm>
            <a:off x="533400" y="36766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772150" y="36766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$101,400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3400" y="4114800"/>
            <a:ext cx="7239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33400" y="4305300"/>
            <a:ext cx="5143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able to sit in any of it in October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581650" y="4305300"/>
            <a:ext cx="2190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33400" y="60579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Moment.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48295" y="1524000"/>
            <a:ext cx="4000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has ever added up what their outdoor room cost and set it against the days they use it.</a:t>
            </a:r>
            <a:endParaRPr lang="en-US" sz="1050" dirty="0"/>
          </a:p>
        </p:txBody>
      </p:sp>
      <p:pic>
        <p:nvPicPr>
          <p:cNvPr id="27" name="Image 0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572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· CUSTOM BUILDER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3400" y="666750"/>
            <a:ext cx="723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Rough-In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3400" y="14287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Cedar-lined ceiling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72150" y="14287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3400" y="181927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18669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 paving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72150" y="18669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3400" y="225742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" y="23050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lighting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72150" y="23050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3400" y="269557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4" name="Text 12"/>
          <p:cNvSpPr/>
          <p:nvPr/>
        </p:nvSpPr>
        <p:spPr>
          <a:xfrm>
            <a:off x="533400" y="27432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all of it open later to run a circuit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72150" y="27432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3400" y="313372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7" name="Text 15"/>
          <p:cNvSpPr/>
          <p:nvPr/>
        </p:nvSpPr>
        <p:spPr>
          <a:xfrm>
            <a:off x="533400" y="3238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change order costs everyone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72150" y="32385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3400" y="3676650"/>
            <a:ext cx="7239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3400" y="3867150"/>
            <a:ext cx="5143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Roughing it in at framing, before any of it exists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581650" y="3867150"/>
            <a:ext cx="2190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33400" y="60579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Moment.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48295" y="1524000"/>
            <a:ext cx="4000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 is the most expensive way to add outdoor heat and the most common, because nobody ran the circuit.</a:t>
            </a:r>
            <a:endParaRPr lang="en-US" sz="1050" dirty="0"/>
          </a:p>
        </p:txBody>
      </p:sp>
      <p:pic>
        <p:nvPicPr>
          <p:cNvPr id="24" name="Image 0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572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· HOSPITALITY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3400" y="666750"/>
            <a:ext cx="723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3400" y="14287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Terrace fit-out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72150" y="14287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$54,000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3400" y="181927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18669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Furniture, planters and screens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72150" y="18669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$46,000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3400" y="225742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" y="23050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covers, sold every night in February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72150" y="23050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$312,000 / yr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3400" y="269557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4" name="Text 12"/>
          <p:cNvSpPr/>
          <p:nvPr/>
        </p:nvSpPr>
        <p:spPr>
          <a:xfrm>
            <a:off x="533400" y="27432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covers, sold every night in May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72150" y="27432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3400" y="313372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7" name="Text 15"/>
          <p:cNvSpPr/>
          <p:nvPr/>
        </p:nvSpPr>
        <p:spPr>
          <a:xfrm>
            <a:off x="533400" y="3238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currently left on the terrace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72150" y="32385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$—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3400" y="3676650"/>
            <a:ext cx="7239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3400" y="3867150"/>
            <a:ext cx="5143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May sellable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581650" y="3867150"/>
            <a:ext cx="2190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33400" y="60579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Moment.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48295" y="1524000"/>
            <a:ext cx="4000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operator knows their cover count and revenue per cover to the dollar, and has never applied it to the terrace.</a:t>
            </a:r>
            <a:endParaRPr lang="en-US" sz="1050" dirty="0"/>
          </a:p>
        </p:txBody>
      </p:sp>
      <p:pic>
        <p:nvPicPr>
          <p:cNvPr id="24" name="Image 0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572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· PROCUREMENT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3400" y="666750"/>
            <a:ext cx="723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It Twice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3400" y="14287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Patio heater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72150" y="14287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3400" y="181927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18669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Patio heater, again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72150" y="18669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3400" y="225742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" y="23050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Patio heater, again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72150" y="23050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3400" y="269557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4" name="Text 12"/>
          <p:cNvSpPr/>
          <p:nvPr/>
        </p:nvSpPr>
        <p:spPr>
          <a:xfrm>
            <a:off x="533400" y="27432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eleven more over ten years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72150" y="27432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$979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3400" y="313372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17" name="Text 15"/>
          <p:cNvSpPr/>
          <p:nvPr/>
        </p:nvSpPr>
        <p:spPr>
          <a:xfrm>
            <a:off x="533400" y="31813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Gas, ten years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72150" y="31813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3400" y="357187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20" name="Text 18"/>
          <p:cNvSpPr/>
          <p:nvPr/>
        </p:nvSpPr>
        <p:spPr>
          <a:xfrm>
            <a:off x="533400" y="3619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hours spent moving bottles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72150" y="36195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3400" y="4010025"/>
            <a:ext cx="7239000" cy="9525"/>
          </a:xfrm>
          <a:prstGeom prst="rect">
            <a:avLst/>
          </a:prstGeom>
          <a:solidFill>
            <a:srgbClr val="2A2C2F"/>
          </a:solidFill>
          <a:ln/>
        </p:spPr>
      </p:sp>
      <p:sp>
        <p:nvSpPr>
          <p:cNvPr id="23" name="Text 21"/>
          <p:cNvSpPr/>
          <p:nvPr/>
        </p:nvSpPr>
        <p:spPr>
          <a:xfrm>
            <a:off x="533400" y="41148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years of not solving 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72150" y="41148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$23,346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3400" y="4552950"/>
            <a:ext cx="7239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3400" y="4743450"/>
            <a:ext cx="5143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it once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581650" y="4743450"/>
            <a:ext cx="2190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33400" y="60579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Moment.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48295" y="1524000"/>
            <a:ext cx="4000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venue has a storeroom of dead heaters and nobody has ever totalled it.</a:t>
            </a:r>
            <a:endParaRPr lang="en-US" sz="1050" dirty="0"/>
          </a:p>
        </p:txBody>
      </p:sp>
      <p:pic>
        <p:nvPicPr>
          <p:cNvPr id="30" name="Image 0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PL1_backyard_col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1">
              <a:alpha val="6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2114550"/>
            <a:ext cx="1714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342900" y="3105150"/>
            <a:ext cx="952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scenes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42900" y="3848100"/>
            <a:ext cx="5095875" cy="28575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7" name="Text 4"/>
          <p:cNvSpPr/>
          <p:nvPr/>
        </p:nvSpPr>
        <p:spPr>
          <a:xfrm>
            <a:off x="342900" y="4019550"/>
            <a:ext cx="7810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Receipt told as photography. Every object wears its price like a showroom tag — then the last tag lands on the only thing nobody costed, and it is the cheapest number on screen.</a:t>
            </a:r>
            <a:endParaRPr lang="en-US" sz="1300" dirty="0"/>
          </a:p>
        </p:txBody>
      </p:sp>
      <p:pic>
        <p:nvPicPr>
          <p:cNvPr id="8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PL1_backyard_col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0F11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3238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· HOMEOWNER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2900" y="4953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Priced Backyard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071183" y="2310765"/>
            <a:ext cx="2857500" cy="590550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8" name="Text 5"/>
          <p:cNvSpPr/>
          <p:nvPr/>
        </p:nvSpPr>
        <p:spPr>
          <a:xfrm>
            <a:off x="7185483" y="2367915"/>
            <a:ext cx="2628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able to use any of it in October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185483" y="2539365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$4,200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097253" y="319087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211553" y="324802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Planting + landscape lighting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211553" y="341947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$16,000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552609" y="401383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666909" y="407098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Sectional + coffee table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666909" y="424243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$11,400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869031" y="172021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983331" y="177736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Pergola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983331" y="194881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063536" y="360235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177836" y="365950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kitchen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177836" y="383095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$41,000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884643" y="298513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8998943" y="304228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Wood-fired oven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998943" y="321373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381363" y="552259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495663" y="557974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 paving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495663" y="575119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0" y="6134100"/>
            <a:ext cx="12191695" cy="723900"/>
          </a:xfrm>
          <a:prstGeom prst="rect">
            <a:avLst/>
          </a:prstGeom>
          <a:solidFill>
            <a:srgbClr val="0E0F11">
              <a:alpha val="7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342900" y="6210300"/>
            <a:ext cx="895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object in this photograph is priced except the one that decides whether the photograph ever has people in it.</a:t>
            </a:r>
            <a:endParaRPr lang="en-US" sz="1050" dirty="0"/>
          </a:p>
        </p:txBody>
      </p:sp>
      <p:pic>
        <p:nvPicPr>
          <p:cNvPr id="30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PL2_terrace_col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0F11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3238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· HOSPITALITY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2900" y="4953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Priced Terrace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750680" y="1076325"/>
            <a:ext cx="2857500" cy="590550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8" name="Text 5"/>
          <p:cNvSpPr/>
          <p:nvPr/>
        </p:nvSpPr>
        <p:spPr>
          <a:xfrm>
            <a:off x="2864980" y="1133475"/>
            <a:ext cx="2628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those forty covers sellable in May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864980" y="1304925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584920" y="250507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699220" y="256222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Planters + timber screens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699220" y="273367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$14,000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552609" y="401383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666909" y="407098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chairs, glassware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666909" y="424243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$46,000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990948" y="1752600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105248" y="1809750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Festoon + downlighting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105248" y="19812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153141" y="401383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267441" y="407098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station + fit-out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67441" y="424243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$54,000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381363" y="5581650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495663" y="5638800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covers, roped off till spring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495663" y="581025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0" y="6134100"/>
            <a:ext cx="12191695" cy="723900"/>
          </a:xfrm>
          <a:prstGeom prst="rect">
            <a:avLst/>
          </a:prstGeom>
          <a:solidFill>
            <a:srgbClr val="0E0F11">
              <a:alpha val="7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342900" y="6210300"/>
            <a:ext cx="895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rope is the only line item that costs nothing and takes everything.</a:t>
            </a:r>
            <a:endParaRPr lang="en-US" sz="1050" dirty="0"/>
          </a:p>
        </p:txBody>
      </p:sp>
      <p:pic>
        <p:nvPicPr>
          <p:cNvPr id="27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PL3_covers_col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0F11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3238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· HOSPITALITY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2900" y="4953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Covers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095848" y="990600"/>
            <a:ext cx="2857500" cy="590550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8" name="Text 5"/>
          <p:cNvSpPr/>
          <p:nvPr/>
        </p:nvSpPr>
        <p:spPr>
          <a:xfrm>
            <a:off x="6210148" y="1047750"/>
            <a:ext cx="2628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those forty covers sellable in May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210148" y="1219200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821107" y="360235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935407" y="365950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covers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35407" y="383095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055888" y="360235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170188" y="365950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covers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170188" y="383095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918359" y="209359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032659" y="215074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covers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032659" y="232219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$312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958636" y="209359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072936" y="215074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covers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072936" y="232219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$312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990948" y="265747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105248" y="271462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24 covers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105248" y="288607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$1,872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990948" y="524827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105248" y="530542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Roped off until spring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105248" y="547687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0" y="6134100"/>
            <a:ext cx="12191695" cy="723900"/>
          </a:xfrm>
          <a:prstGeom prst="rect">
            <a:avLst/>
          </a:prstGeom>
          <a:solidFill>
            <a:srgbClr val="0E0F11">
              <a:alpha val="7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342900" y="6210300"/>
            <a:ext cx="895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seats, priced at what one night of them earns. The rope is the only line item that costs nothing and takes everything.</a:t>
            </a:r>
            <a:endParaRPr lang="en-US" sz="1050" dirty="0"/>
          </a:p>
        </p:txBody>
      </p:sp>
      <p:pic>
        <p:nvPicPr>
          <p:cNvPr id="30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PL4_graveyard_col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0F11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3238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4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· PROCUREMENT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2900" y="4953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It Twice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667098" y="1762125"/>
            <a:ext cx="2857500" cy="590550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8" name="Text 5"/>
          <p:cNvSpPr/>
          <p:nvPr/>
        </p:nvSpPr>
        <p:spPr>
          <a:xfrm>
            <a:off x="4781398" y="1819275"/>
            <a:ext cx="2628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it once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81398" y="1990725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341086" y="373951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455386" y="379666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Patio heater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455386" y="396811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064941" y="434911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179241" y="440626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179241" y="457771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771778" y="373951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886078" y="379666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886078" y="396811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78615" y="434911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592915" y="440626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592915" y="457771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185453" y="373951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299753" y="379666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eleven more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299753" y="396811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$979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153141" y="4349115"/>
            <a:ext cx="2209800" cy="476250"/>
          </a:xfrm>
          <a:prstGeom prst="rect">
            <a:avLst/>
          </a:prstGeom>
          <a:solidFill>
            <a:srgbClr val="0E0F11">
              <a:alpha val="8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8267441" y="4406265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+ staff hours, ten years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267441" y="457771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$22,100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0" y="6134100"/>
            <a:ext cx="12191695" cy="723900"/>
          </a:xfrm>
          <a:prstGeom prst="rect">
            <a:avLst/>
          </a:prstGeom>
          <a:solidFill>
            <a:srgbClr val="0E0F11">
              <a:alpha val="7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342900" y="6210300"/>
            <a:ext cx="895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in this building has ever added up what is in this room. It took ten years and fifteen decisions to not solve one problem.</a:t>
            </a:r>
            <a:endParaRPr lang="en-US" sz="1050" dirty="0"/>
          </a:p>
        </p:txBody>
      </p:sp>
      <p:pic>
        <p:nvPicPr>
          <p:cNvPr id="30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8_firepi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1">
              <a:alpha val="6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2114550"/>
            <a:ext cx="1714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342900" y="3105150"/>
            <a:ext cx="952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 bank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42900" y="3848100"/>
            <a:ext cx="5095875" cy="28575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7" name="Text 4"/>
          <p:cNvSpPr/>
          <p:nvPr/>
        </p:nvSpPr>
        <p:spPr>
          <a:xfrm>
            <a:off x="342900" y="4019550"/>
            <a:ext cx="7810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concepts for the US and Australia, plus 12 for builders, architects and commercial operators. Every one carries four registers — deadpan, dry, absurd and dark.</a:t>
            </a:r>
            <a:endParaRPr lang="en-US" sz="1300" dirty="0"/>
          </a:p>
        </p:txBody>
      </p:sp>
      <p:pic>
        <p:nvPicPr>
          <p:cNvPr id="8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395" y="6419850"/>
            <a:ext cx="647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238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wasted asset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467295" y="361950"/>
            <a:ext cx="438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Jokes only a premium, specified brand can tell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2900" y="70485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pic>
        <p:nvPicPr>
          <p:cNvPr id="5" name="Image 0" descr="/home/user/Bizzing-Bee/bromic/boards/01a_mushroom_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" y="914400"/>
            <a:ext cx="2776461" cy="156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9600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Mushroom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Seventy thousand dollars of outdoor kitchen. Heated by an eighty-nine dollar mushroom.</a:t>
            </a:r>
            <a:endParaRPr lang="en-US" sz="900" dirty="0"/>
          </a:p>
        </p:txBody>
      </p:sp>
      <p:pic>
        <p:nvPicPr>
          <p:cNvPr id="9" name="Image 1" descr="/home/user/Bizzing-Bee/bromic/boards/02a_pizza_befor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52711" y="914400"/>
            <a:ext cx="2776461" cy="156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52711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519411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Pizza Oven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252711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times a year.</a:t>
            </a:r>
            <a:endParaRPr lang="en-US" sz="900" dirty="0"/>
          </a:p>
        </p:txBody>
      </p:sp>
      <p:pic>
        <p:nvPicPr>
          <p:cNvPr id="13" name="Image 2" descr="/home/user/Bizzing-Bee/bromic/boards/03a_snowbird_befor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62523" y="914400"/>
            <a:ext cx="2776461" cy="15617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62523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429223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Snowbirds / The Queensland Run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162523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solved their outdoor heating problem. It cost four hundred thousand dollars.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9072334" y="914400"/>
            <a:ext cx="2776461" cy="1561759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18" name="Text 13"/>
          <p:cNvSpPr/>
          <p:nvPr/>
        </p:nvSpPr>
        <p:spPr>
          <a:xfrm>
            <a:off x="9072334" y="914400"/>
            <a:ext cx="2776461" cy="1561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20" kern="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TO BE SHOT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9072334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339034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Reno Show Reveal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072334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“Alfresco. Big tick.” … “Can we go back inside?”</a:t>
            </a:r>
            <a:endParaRPr lang="en-US" sz="900" dirty="0"/>
          </a:p>
        </p:txBody>
      </p:sp>
      <p:pic>
        <p:nvPicPr>
          <p:cNvPr id="22" name="Image 3" descr="/home/user/Bizzing-Bee/bromic/boards/05a_coastal_befor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2900" y="3542959"/>
            <a:ext cx="2776461" cy="156175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42900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09600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Coastal Breeze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342900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view. Emptied by the breeze.</a:t>
            </a:r>
            <a:endParaRPr lang="en-US" sz="900" dirty="0"/>
          </a:p>
        </p:txBody>
      </p:sp>
      <p:pic>
        <p:nvPicPr>
          <p:cNvPr id="26" name="Image 4" descr="/home/user/Bizzing-Bee/bromic/boards/08_firepit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252711" y="3542959"/>
            <a:ext cx="2776461" cy="15617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252711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3519411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Fire Pit Rotisserie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252711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outdoor sofa cost eleven thousand dollars. Everyone is sitting on a log.</a:t>
            </a:r>
            <a:endParaRPr lang="en-US" sz="900" dirty="0"/>
          </a:p>
        </p:txBody>
      </p:sp>
      <p:pic>
        <p:nvPicPr>
          <p:cNvPr id="30" name="Image 5" descr="/home/user/Bizzing-Bee/bromic/boards/07_blanket_basket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62523" y="3542959"/>
            <a:ext cx="2776461" cy="156175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162523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6429223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Blanket Basket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162523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Erected in memory of the outdoor season.</a:t>
            </a:r>
            <a:endParaRPr lang="en-US" sz="900" dirty="0"/>
          </a:p>
        </p:txBody>
      </p:sp>
      <p:pic>
        <p:nvPicPr>
          <p:cNvPr id="34" name="Image 6" descr="/home/user/Bizzing-Bee/bromic/boards/11_group_chat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72334" y="3542959"/>
            <a:ext cx="2776461" cy="1561759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072334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9339034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Chat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9072334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“Still on for tonight?” · “Yes! Though it's meant to drop to nine.” · “…indoors?” · “Indoors 👍”</a:t>
            </a:r>
            <a:endParaRPr lang="en-US" sz="900" dirty="0"/>
          </a:p>
        </p:txBody>
      </p:sp>
      <p:pic>
        <p:nvPicPr>
          <p:cNvPr id="38" name="Image 7" descr="/tmp/claude-0/-home-user-Bizzing-Bee/4e23cfba-e7d7-5db3-a77c-4dd0a1079ba5/ds/powerpoint-handover/assets/bromic-logo-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82045" y="6534150"/>
            <a:ext cx="4762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238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season, the house, the habit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467295" y="361950"/>
            <a:ext cx="438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09–16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2900" y="70485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pic>
        <p:nvPicPr>
          <p:cNvPr id="5" name="Image 0" descr="/home/user/Bizzing-Bee/bromic/boards/14_open_ho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" y="914400"/>
            <a:ext cx="2776461" cy="156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9600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Home / The Listing Photo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“Seamless indoor-outdoor living.”</a:t>
            </a:r>
            <a:endParaRPr lang="en-US" sz="900" dirty="0"/>
          </a:p>
        </p:txBody>
      </p:sp>
      <p:pic>
        <p:nvPicPr>
          <p:cNvPr id="9" name="Image 1" descr="/home/user/Bizzing-Bee/bromic/boards/15_not_that_col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52711" y="914400"/>
            <a:ext cx="2776461" cy="156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52711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519411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That Cold / She'll Be Right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252711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actually really nice out here.” / “She'll be right.”</a:t>
            </a:r>
            <a:endParaRPr lang="en-US" sz="900" dirty="0"/>
          </a:p>
        </p:txBody>
      </p:sp>
      <p:pic>
        <p:nvPicPr>
          <p:cNvPr id="13" name="Image 2" descr="/home/user/Bizzing-Bee/bromic/boards/16_melbourn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62523" y="914400"/>
            <a:ext cx="2776461" cy="15617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62523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429223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Melbourne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162523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Melbourne.</a:t>
            </a:r>
            <a:endParaRPr lang="en-US" sz="900" dirty="0"/>
          </a:p>
        </p:txBody>
      </p:sp>
      <p:pic>
        <p:nvPicPr>
          <p:cNvPr id="17" name="Image 3" descr="/home/user/Bizzing-Bee/bromic/boards/10_alfresco_static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72334" y="914400"/>
            <a:ext cx="2776461" cy="15617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72334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9339034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Alfresco (n.)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9072334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Alfresco (n.) — Italian: “in the open air.” Australian: “the bit near the barbecue nobody uses after…</a:t>
            </a:r>
            <a:endParaRPr lang="en-US" sz="900" dirty="0"/>
          </a:p>
        </p:txBody>
      </p:sp>
      <p:pic>
        <p:nvPicPr>
          <p:cNvPr id="21" name="Image 4" descr="/home/user/Bizzing-Bee/bromic/boards/17_labor_day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42900" y="3542959"/>
            <a:ext cx="2776461" cy="156175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2900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09600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Day / Easter — The Closing Ceremony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342900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Petersons observe the end of summer. It is seventy-eight degrees.</a:t>
            </a:r>
            <a:endParaRPr lang="en-US" sz="900" dirty="0"/>
          </a:p>
        </p:txBody>
      </p:sp>
      <p:pic>
        <p:nvPicPr>
          <p:cNvPr id="25" name="Image 5" descr="/home/user/Bizzing-Bee/bromic/boards/04a_biggame_before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252711" y="3542959"/>
            <a:ext cx="2776461" cy="156175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252711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3519411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Game / The Grand Final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3252711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outdoor TV cost six thousand dollars. Everyone is watching the small one.</a:t>
            </a:r>
            <a:endParaRPr lang="en-US" sz="900" dirty="0"/>
          </a:p>
        </p:txBody>
      </p:sp>
      <p:pic>
        <p:nvPicPr>
          <p:cNvPr id="29" name="Image 6" descr="/home/user/Bizzing-Bee/bromic/boards/12_housewarming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62523" y="3542959"/>
            <a:ext cx="2776461" cy="156175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162523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6429223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Housewarming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6162523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should not need equipment to attend a dinner party.</a:t>
            </a:r>
            <a:endParaRPr lang="en-US" sz="900" dirty="0"/>
          </a:p>
        </p:txBody>
      </p:sp>
      <p:pic>
        <p:nvPicPr>
          <p:cNvPr id="33" name="Image 7" descr="/home/user/Bizzing-Bee/bromic/boards/18_grand_designs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72334" y="3542959"/>
            <a:ext cx="2776461" cy="1561759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72334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9339034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Designs — The Year After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9072334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“And how are you finding the terrace?”</a:t>
            </a:r>
            <a:endParaRPr lang="en-US" sz="900" dirty="0"/>
          </a:p>
        </p:txBody>
      </p:sp>
      <p:pic>
        <p:nvPicPr>
          <p:cNvPr id="37" name="Image 8" descr="/tmp/claude-0/-home-user-Bizzing-Bee/4e23cfba-e7d7-5db3-a77c-4dd0a1079ba5/ds/powerpoint-handover/assets/bromic-logo-d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82045" y="6534150"/>
            <a:ext cx="4762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238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Pushed harder on comedy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467295" y="361950"/>
            <a:ext cx="438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17–24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2900" y="70485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pic>
        <p:nvPicPr>
          <p:cNvPr id="5" name="Image 0" descr="/home/user/Bizzing-Bee/bromic/boards/06a_spec_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" y="914400"/>
            <a:ext cx="2776461" cy="156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9600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the season. Not just the space.</a:t>
            </a:r>
            <a:endParaRPr lang="en-US" sz="900" dirty="0"/>
          </a:p>
        </p:txBody>
      </p:sp>
      <p:pic>
        <p:nvPicPr>
          <p:cNvPr id="9" name="Image 1" descr="/home/user/Bizzing-Bee/bromic/boards/19_two_hour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52711" y="914400"/>
            <a:ext cx="2776461" cy="156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52711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519411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Hours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252711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terrace has an opening time and a closing time. You never agreed to either.</a:t>
            </a:r>
            <a:endParaRPr lang="en-US" sz="900" dirty="0"/>
          </a:p>
        </p:txBody>
      </p:sp>
      <p:pic>
        <p:nvPicPr>
          <p:cNvPr id="13" name="Image 2" descr="/home/user/Bizzing-Bee/bromic/boards/20_kids_tab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62523" y="914400"/>
            <a:ext cx="2776461" cy="15617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62523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429223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Kids' Table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162523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better solution.</a:t>
            </a:r>
            <a:endParaRPr lang="en-US" sz="900" dirty="0"/>
          </a:p>
        </p:txBody>
      </p:sp>
      <p:pic>
        <p:nvPicPr>
          <p:cNvPr id="17" name="Image 3" descr="/home/user/Bizzing-Bee/bromic/boards/09_the_deck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72334" y="914400"/>
            <a:ext cx="2776461" cy="15617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72334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9339034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Deck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9072334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Beautifully maintained. Entirely unused.</a:t>
            </a:r>
            <a:endParaRPr lang="en-US" sz="900" dirty="0"/>
          </a:p>
        </p:txBody>
      </p:sp>
      <p:pic>
        <p:nvPicPr>
          <p:cNvPr id="21" name="Image 4" descr="/home/user/Bizzing-Bee/bromic/boards/N21_hostage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42900" y="3542959"/>
            <a:ext cx="2776461" cy="156175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2900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09600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Hostage Negotiation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342900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Negotiations broke down at 7:40pm.</a:t>
            </a:r>
            <a:endParaRPr lang="en-US" sz="900" dirty="0"/>
          </a:p>
        </p:txBody>
      </p:sp>
      <p:pic>
        <p:nvPicPr>
          <p:cNvPr id="25" name="Image 5" descr="/home/user/Bizzing-Bee/bromic/boards/N22_rusty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252711" y="3542959"/>
            <a:ext cx="2776461" cy="156175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252711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3519411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Rusty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3252711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Rusty is the only member of this family getting any value from the outdoor kitchen.</a:t>
            </a:r>
            <a:endParaRPr lang="en-US" sz="900" dirty="0"/>
          </a:p>
        </p:txBody>
      </p:sp>
      <p:pic>
        <p:nvPicPr>
          <p:cNvPr id="29" name="Image 6" descr="/home/user/Bizzing-Bee/bromic/boards/N23_safety_briefing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62523" y="3542959"/>
            <a:ext cx="2776461" cy="156175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162523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6429223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Safety Briefing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6162523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“Tonight's outdoor portion of the evening is expected to last approximately eleven minutes.”</a:t>
            </a:r>
            <a:endParaRPr lang="en-US" sz="900" dirty="0"/>
          </a:p>
        </p:txBody>
      </p:sp>
      <p:pic>
        <p:nvPicPr>
          <p:cNvPr id="33" name="Image 7" descr="/home/user/Bizzing-Bee/bromic/boards/N24_valuation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72334" y="3542959"/>
            <a:ext cx="2776461" cy="1561759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72334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9339034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Valuation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9072334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“And how often would you say you use it?” … “I'll put ‘as new’.”</a:t>
            </a:r>
            <a:endParaRPr lang="en-US" sz="900" dirty="0"/>
          </a:p>
        </p:txBody>
      </p:sp>
      <p:pic>
        <p:nvPicPr>
          <p:cNvPr id="37" name="Image 8" descr="/tmp/claude-0/-home-user-Bizzing-Bee/4e23cfba-e7d7-5db3-a77c-4dd0a1079ba5/ds/powerpoint-handover/assets/bromic-logo-d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82045" y="6534150"/>
            <a:ext cx="4762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238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tail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467295" y="361950"/>
            <a:ext cx="438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25–32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2900" y="70485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pic>
        <p:nvPicPr>
          <p:cNvPr id="5" name="Image 0" descr="/home/user/Bizzing-Bee/bromic/boards/N25_gy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" y="914400"/>
            <a:ext cx="2776461" cy="156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9600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Gym Membership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expensive thing you own and don't use isn't your gym membership.</a:t>
            </a:r>
            <a:endParaRPr lang="en-US" sz="900" dirty="0"/>
          </a:p>
        </p:txBody>
      </p:sp>
      <p:pic>
        <p:nvPicPr>
          <p:cNvPr id="9" name="Image 1" descr="/home/user/Bizzing-Bee/bromic/boards/N26_missin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52711" y="914400"/>
            <a:ext cx="2776461" cy="156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52711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519411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Persons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252711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SEEN: MARCH. IF YOU HAVE ANY INFORMATION—</a:t>
            </a:r>
            <a:endParaRPr lang="en-US" sz="900" dirty="0"/>
          </a:p>
        </p:txBody>
      </p:sp>
      <p:pic>
        <p:nvPicPr>
          <p:cNvPr id="13" name="Image 2" descr="/home/user/Bizzing-Bee/bromic/boards/N27_support_grou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62523" y="914400"/>
            <a:ext cx="2776461" cy="15617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62523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429223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Group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162523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“Hi. I'm Dave. I've owned a wood-fired oven for four years.” … “Hi, Dave.”</a:t>
            </a:r>
            <a:endParaRPr lang="en-US" sz="900" dirty="0"/>
          </a:p>
        </p:txBody>
      </p:sp>
      <p:pic>
        <p:nvPicPr>
          <p:cNvPr id="17" name="Image 3" descr="/home/user/Bizzing-Bee/bromic/boards/N28_out_of_offic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72334" y="914400"/>
            <a:ext cx="2776461" cy="15617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72334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9339034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Office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9072334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terrace is currently out of office and will return in May.</a:t>
            </a:r>
            <a:endParaRPr lang="en-US" sz="900" dirty="0"/>
          </a:p>
        </p:txBody>
      </p:sp>
      <p:pic>
        <p:nvPicPr>
          <p:cNvPr id="21" name="Image 4" descr="/home/user/Bizzing-Bee/bromic/boards/N29_archaeologist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42900" y="3542959"/>
            <a:ext cx="2776461" cy="156175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2900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09600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Archaeologist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342900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“Evidence of a civilisation that gathered outdoors — briefly, and only in February.”</a:t>
            </a:r>
            <a:endParaRPr lang="en-US" sz="900" dirty="0"/>
          </a:p>
        </p:txBody>
      </p:sp>
      <p:pic>
        <p:nvPicPr>
          <p:cNvPr id="25" name="Image 5" descr="/home/user/Bizzing-Bee/bromic/boards/N30_reunion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252711" y="3542959"/>
            <a:ext cx="2776461" cy="156175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252711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3519411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Reunion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3252711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months is a long time.</a:t>
            </a:r>
            <a:endParaRPr lang="en-US" sz="900" dirty="0"/>
          </a:p>
        </p:txBody>
      </p:sp>
      <p:pic>
        <p:nvPicPr>
          <p:cNvPr id="29" name="Image 6" descr="/home/user/Bizzing-Bee/bromic/boards/N31_therapy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62523" y="3542959"/>
            <a:ext cx="2776461" cy="156175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162523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6429223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Couples Therapy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6162523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the pergola.”</a:t>
            </a:r>
            <a:endParaRPr lang="en-US" sz="900" dirty="0"/>
          </a:p>
        </p:txBody>
      </p:sp>
      <p:pic>
        <p:nvPicPr>
          <p:cNvPr id="33" name="Image 7" descr="/home/user/Bizzing-Bee/bromic/boards/N32_auction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72334" y="3542959"/>
            <a:ext cx="2776461" cy="1561759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72334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9339034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Auction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9072334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“Lot 42. Outdoor kitchen. One careful owner. Sixty-two hours' use.”</a:t>
            </a:r>
            <a:endParaRPr lang="en-US" sz="900" dirty="0"/>
          </a:p>
        </p:txBody>
      </p:sp>
      <p:pic>
        <p:nvPicPr>
          <p:cNvPr id="37" name="Image 8" descr="/tmp/claude-0/-home-user-Bizzing-Bee/4e23cfba-e7d7-5db3-a77c-4dd0a1079ba5/ds/powerpoint-handover/assets/bromic-logo-d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82045" y="6534150"/>
            <a:ext cx="4762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238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Builders, architects, remodellers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467295" y="361950"/>
            <a:ext cx="438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currency is reputation, callbacks and referral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2900" y="70485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pic>
        <p:nvPicPr>
          <p:cNvPr id="5" name="Image 0" descr="/home/user/Bizzing-Bee/bromic/boards/B1_punch_li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" y="914400"/>
            <a:ext cx="2776461" cy="156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9600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Punch List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item on every punch list is the one you didn’t quote for.</a:t>
            </a:r>
            <a:endParaRPr lang="en-US" sz="900" dirty="0"/>
          </a:p>
        </p:txBody>
      </p:sp>
      <p:pic>
        <p:nvPicPr>
          <p:cNvPr id="9" name="Image 1" descr="/home/user/Bizzing-Bee/bromic/boards/B2_referra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52711" y="914400"/>
            <a:ext cx="2776461" cy="156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52711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519411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Referral That Never Came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252711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built yours?” … “We love it. We’re inside a lot.”</a:t>
            </a:r>
            <a:endParaRPr lang="en-US" sz="900" dirty="0"/>
          </a:p>
        </p:txBody>
      </p:sp>
      <p:pic>
        <p:nvPicPr>
          <p:cNvPr id="13" name="Image 2" descr="/home/user/Bizzing-Bee/bromic/boards/B3_change_orde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62523" y="914400"/>
            <a:ext cx="2776461" cy="15617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62523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429223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 Order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162523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 it in now. Or cut it open later.</a:t>
            </a:r>
            <a:endParaRPr lang="en-US" sz="900" dirty="0"/>
          </a:p>
        </p:txBody>
      </p:sp>
      <p:pic>
        <p:nvPicPr>
          <p:cNvPr id="17" name="Image 3" descr="/home/user/Bizzing-Bee/bromic/boards/B4_portfolio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72334" y="914400"/>
            <a:ext cx="2776461" cy="15617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72334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9339034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Portfolio Shot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9072334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we get one with people in it?”</a:t>
            </a:r>
            <a:endParaRPr lang="en-US" sz="900" dirty="0"/>
          </a:p>
        </p:txBody>
      </p:sp>
      <p:pic>
        <p:nvPicPr>
          <p:cNvPr id="21" name="Image 4" descr="/home/user/Bizzing-Bee/bromic/boards/B5_square_footage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42900" y="3542959"/>
            <a:ext cx="2776461" cy="156175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2900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09600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Hundred Square Feet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342900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sold them 4,200 square feet. You built them 4,800 — for five months a year.</a:t>
            </a:r>
            <a:endParaRPr lang="en-US" sz="900" dirty="0"/>
          </a:p>
        </p:txBody>
      </p:sp>
      <p:pic>
        <p:nvPicPr>
          <p:cNvPr id="25" name="Image 5" descr="/home/user/Bizzing-Bee/bromic/boards/N33_linkedin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252711" y="3542959"/>
            <a:ext cx="2776461" cy="156175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252711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B6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3519411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LinkedIn Post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3252711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 likes. Nobody has stood in it since.</a:t>
            </a:r>
            <a:endParaRPr lang="en-US" sz="900" dirty="0"/>
          </a:p>
        </p:txBody>
      </p:sp>
      <p:pic>
        <p:nvPicPr>
          <p:cNvPr id="29" name="Image 6" descr="/home/user/Bizzing-Bee/bromic/boards/N34_handover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62523" y="3542959"/>
            <a:ext cx="2776461" cy="156175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162523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B7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6429223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Handover Pack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6162523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Appliance warranties. Paint codes. Maintenance schedules. “Terrace — see Spring.”</a:t>
            </a:r>
            <a:endParaRPr lang="en-US" sz="900" dirty="0"/>
          </a:p>
        </p:txBody>
      </p:sp>
      <p:pic>
        <p:nvPicPr>
          <p:cNvPr id="33" name="Image 7" descr="/tmp/claude-0/-home-user-Bizzing-Bee/4e23cfba-e7d7-5db3-a77c-4dd0a1079ba5/ds/powerpoint-handover/assets/bromic-logo-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82045" y="6534150"/>
            <a:ext cx="4762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238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operators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467295" y="361950"/>
            <a:ext cx="438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9C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currency is covers, reviews and labour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2900" y="704850"/>
            <a:ext cx="1905000" cy="28575"/>
          </a:xfrm>
          <a:prstGeom prst="rect">
            <a:avLst/>
          </a:prstGeom>
          <a:solidFill>
            <a:srgbClr val="EF4123"/>
          </a:solidFill>
          <a:ln/>
        </p:spPr>
      </p:sp>
      <p:pic>
        <p:nvPicPr>
          <p:cNvPr id="5" name="Image 0" descr="/home/user/Bizzing-Bee/bromic/boards/C1_forty_cover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" y="914400"/>
            <a:ext cx="2776461" cy="156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9600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Covers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covers. Closed for the season.</a:t>
            </a:r>
            <a:endParaRPr lang="en-US" sz="900" dirty="0"/>
          </a:p>
        </p:txBody>
      </p:sp>
      <p:pic>
        <p:nvPicPr>
          <p:cNvPr id="9" name="Image 1" descr="/home/user/Bizzing-Bee/bromic/boards/C2_re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52711" y="914400"/>
            <a:ext cx="2776461" cy="156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52711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519411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Two-Star Review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252711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terrace is writing your reviews.</a:t>
            </a:r>
            <a:endParaRPr lang="en-US" sz="900" dirty="0"/>
          </a:p>
        </p:txBody>
      </p:sp>
      <p:pic>
        <p:nvPicPr>
          <p:cNvPr id="13" name="Image 2" descr="/home/user/Bizzing-Bee/bromic/boards/C3_weather_ap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62523" y="914400"/>
            <a:ext cx="2776461" cy="15617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62523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429223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Meteorologist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162523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booking calendar should not have a meteorologist.</a:t>
            </a:r>
            <a:endParaRPr lang="en-US" sz="900" dirty="0"/>
          </a:p>
        </p:txBody>
      </p:sp>
      <p:pic>
        <p:nvPicPr>
          <p:cNvPr id="17" name="Image 3" descr="/home/user/Bizzing-Bee/bromic/boards/C4_heater_graveyard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72334" y="914400"/>
            <a:ext cx="2776461" cy="15617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72334" y="255235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9339034" y="253330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Heater Graveyard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9072334" y="289525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years of solving it. Ten thousand dollars of not solving it.</a:t>
            </a:r>
            <a:endParaRPr lang="en-US" sz="900" dirty="0"/>
          </a:p>
        </p:txBody>
      </p:sp>
      <p:pic>
        <p:nvPicPr>
          <p:cNvPr id="21" name="Image 4" descr="/home/user/Bizzing-Bee/bromic/boards/C5_gas_bottles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42900" y="3542959"/>
            <a:ext cx="2776461" cy="156175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2900" y="5180919"/>
            <a:ext cx="247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09600" y="5161869"/>
            <a:ext cx="2509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Hours a Week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342900" y="5523819"/>
            <a:ext cx="2776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hours a week. Moving gas bottles.</a:t>
            </a:r>
            <a:endParaRPr lang="en-US" sz="900" dirty="0"/>
          </a:p>
        </p:txBody>
      </p:sp>
      <p:pic>
        <p:nvPicPr>
          <p:cNvPr id="25" name="Image 5" descr="/tmp/claude-0/-home-user-Bizzing-Bee/4e23cfba-e7d7-5db3-a77c-4dd0a1079ba5/ds/powerpoint-handover/assets/bromic-logo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2045" y="6534150"/>
            <a:ext cx="4762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izzing-Bee/bromic/boards/01b_mushroom_af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1">
              <a:alpha val="45000"/>
            </a:srgbClr>
          </a:solidFill>
          <a:ln/>
        </p:spPr>
      </p:sp>
      <p:pic>
        <p:nvPicPr>
          <p:cNvPr id="4" name="Image 1" descr="/tmp/claude-0/-home-user-Bizzing-Bee/4e23cfba-e7d7-5db3-a77c-4dd0a1079ba5/ds/powerpoint-handover/assets/bromic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19100"/>
            <a:ext cx="9715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2900" y="2152650"/>
            <a:ext cx="100965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heater is 4% of the build</a:t>
            </a:r>
            <a:endParaRPr lang="en-US" sz="3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difference between</a:t>
            </a:r>
            <a:endParaRPr lang="en-US" sz="3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600" b="1" dirty="0">
                <a:solidFill>
                  <a:srgbClr val="EF4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months and two.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342900" y="4400550"/>
            <a:ext cx="5095875" cy="38100"/>
          </a:xfrm>
          <a:prstGeom prst="rect">
            <a:avLst/>
          </a:prstGeom>
          <a:solidFill>
            <a:srgbClr val="EF4123"/>
          </a:solidFill>
          <a:ln/>
        </p:spPr>
      </p:sp>
      <p:sp>
        <p:nvSpPr>
          <p:cNvPr id="7" name="Text 3"/>
          <p:cNvSpPr/>
          <p:nvPr/>
        </p:nvSpPr>
        <p:spPr>
          <a:xfrm>
            <a:off x="342900" y="46482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Moment.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 The Moment — brand campaign</dc:title>
  <dc:subject>PptxGenJS Presentation</dc:subject>
  <dc:creator>Bromic Heating</dc:creator>
  <cp:lastModifiedBy>Bromic Heating</cp:lastModifiedBy>
  <cp:revision>1</cp:revision>
  <dcterms:created xsi:type="dcterms:W3CDTF">2026-08-18T21:39:15Z</dcterms:created>
  <dcterms:modified xsi:type="dcterms:W3CDTF">2026-08-18T21:39:15Z</dcterms:modified>
</cp:coreProperties>
</file>