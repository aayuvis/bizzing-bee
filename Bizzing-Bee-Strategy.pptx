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$k</c:v>
                </c:pt>
              </c:strCache>
            </c:strRef>
          </c:tx>
          <c:spPr>
            <a:solidFill>
              <a:srgbClr val="E8A4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11D1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United States</c:v>
                  </c:pt>
                  <c:pt idx="1">
                    <c:v>Canada</c:v>
                  </c:pt>
                  <c:pt idx="2">
                    <c:v>India</c:v>
                  </c:pt>
                  <c:pt idx="3">
                    <c:v>SE Asia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27.7</c:v>
                </c:pt>
                <c:pt idx="1">
                  <c:v>6.2</c:v>
                </c:pt>
                <c:pt idx="2">
                  <c:v>6.6</c:v>
                </c:pt>
                <c:pt idx="3">
                  <c:v>5.1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11D1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23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CAC $</c:v>
                </c:pt>
              </c:strCache>
            </c:strRef>
          </c:tx>
          <c:spPr>
            <a:solidFill>
              <a:srgbClr val="2E9E63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9E6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9E6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9E6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67E4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6304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Coach / community BD</c:v>
                  </c:pt>
                  <c:pt idx="1">
                    <c:v>Referral (share-cards)</c:v>
                  </c:pt>
                  <c:pt idx="2">
                    <c:v>Content / SEO</c:v>
                  </c:pt>
                  <c:pt idx="3">
                    <c:v>Influencer</c:v>
                  </c:pt>
                  <c:pt idx="4">
                    <c:v>Paid ads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9</c:v>
                </c:pt>
                <c:pt idx="2">
                  <c:v>8</c:v>
                </c:pt>
                <c:pt idx="3">
                  <c:v>35</c:v>
                </c:pt>
                <c:pt idx="4">
                  <c:v>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D8CFB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$k</c:v>
                </c:pt>
              </c:strCache>
            </c:strRef>
          </c:tx>
          <c:spPr>
            <a:solidFill>
              <a:srgbClr val="E8A4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211D1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</c:v>
                </c:pt>
                <c:pt idx="1">
                  <c:v>137</c:v>
                </c:pt>
                <c:pt idx="2">
                  <c:v>273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211D1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A423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1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Bizzing Bee alpha strategy and business case. High-margin, distribution-limited niche built on the Indian-diaspora competitive-spelling wedge.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audience is defined by a real cultural investment in competitive spelling, concentrated and reachable through community.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proof points, tied to the persona scores. Voice, safety, and ease are the highest-rated axes.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Nobody combines bee-grade word/etymology depth, genuine arcade engagement, and a parent progress loop, offline and ad-free.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 and Canada diaspora first for revenue; India for reach at PPP pricing; SE Asia mid-tier.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 / Plus / Family plus India PPP. Family tier captures siblings, a real diaspora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Managed services keep ops and cost trivial; the important decision is child-data minimization, already built into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concentrates in North America; India is volume/reach at PPP. Blended ARPU ~$60.7 per family per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LTV:CAC must clear 3:1. NA LTV supports some paid spend; India must be organic. This sets the whole acquisition strategy.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funnel is the honest reality: distribution is the constraint. This motivates the acquisition strategy that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central insight: at this LTV, cold paid acquisition loses or barely breaks even. The economics force a community-led motion.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recommended route exploits the audience decision behavior and assets the product already has: coach trust, share cards, and the word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commercial channel matrix: what each channel does, where it plays, its cost per acquired family, and its role. Low-CAC channels dominate by design; paid is last.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sequence: coaches and community first (Q1), referral and content switched on (Q2), scale plus India (Q3), paid retargeting and SE Asia last (Q4). CAC declines as compounding channels take 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 margin, CAC-dominated cost structure, credible growth path. Be honest that venture scale needs more than the niche.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Phases 0-4 from COMMERCIALIZATION.md plus the CRM loop, then an invite-only alpha sourced from coaches.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Risks are dominated by distribution; the ask is a concrete set of go/no-go decisions to green-light the alpha.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2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548640"/>
            <a:ext cx="566928" cy="640080"/>
          </a:xfrm>
          <a:prstGeom prst="hexagon">
            <a:avLst/>
          </a:prstGeom>
          <a:solidFill>
            <a:srgbClr val="2A2114"/>
          </a:solidFill>
          <a:ln w="12700">
            <a:solidFill>
              <a:srgbClr val="B67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658600" y="896112"/>
            <a:ext cx="566928" cy="640080"/>
          </a:xfrm>
          <a:prstGeom prst="hexagon">
            <a:avLst/>
          </a:prstGeom>
          <a:solidFill>
            <a:srgbClr val="E8A400"/>
          </a:solidFill>
          <a:ln w="12700">
            <a:solidFill>
              <a:srgbClr val="B67B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64240" y="1243584"/>
            <a:ext cx="566928" cy="640080"/>
          </a:xfrm>
          <a:prstGeom prst="hexagon">
            <a:avLst/>
          </a:prstGeom>
          <a:solidFill>
            <a:srgbClr val="2A2114"/>
          </a:solidFill>
          <a:ln w="12700">
            <a:solidFill>
              <a:srgbClr val="B67B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69880" y="896112"/>
            <a:ext cx="566928" cy="640080"/>
          </a:xfrm>
          <a:prstGeom prst="hexagon">
            <a:avLst/>
          </a:prstGeom>
          <a:solidFill>
            <a:srgbClr val="E8A400"/>
          </a:solidFill>
          <a:ln w="12700">
            <a:solidFill>
              <a:srgbClr val="B67B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58600" y="1591056"/>
            <a:ext cx="566928" cy="640080"/>
          </a:xfrm>
          <a:prstGeom prst="hexagon">
            <a:avLst/>
          </a:prstGeom>
          <a:solidFill>
            <a:srgbClr val="2A2114"/>
          </a:solidFill>
          <a:ln w="12700">
            <a:solidFill>
              <a:srgbClr val="B67B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64240" y="1938528"/>
            <a:ext cx="566928" cy="640080"/>
          </a:xfrm>
          <a:prstGeom prst="hexagon">
            <a:avLst/>
          </a:prstGeom>
          <a:solidFill>
            <a:srgbClr val="E8A400"/>
          </a:solidFill>
          <a:ln w="12700">
            <a:solidFill>
              <a:srgbClr val="B67B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STRATEGY  ·  BUSINESS CASE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Bizzing Bee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D8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spelling-bee trainer for the diaspora that takes the bee seriously.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0080" y="5029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9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 ·  Data &amp; CRM infrastructure  ·  First-principles unit economics  ·  Customer acquisition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6172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24 Jul 2026  ·  Companion to COMMERCIALIZATION.md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6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concentrated, high-intent, under-served audience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two decades the Scripps National Spelling Bee has been dominated by Indian-American children, with a parallel ecosystem — North South Foundation, the South Asian Spelling Bee, regional bees — of families who invest early and heavily in competitive spelling. Mass-market apps do not serve them.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25603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926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5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~1.7M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41248" y="36118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South-Asian households in the US alone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01568" y="2743200"/>
            <a:ext cx="25603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926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6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 of thousands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02736" y="36118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in NSF / regional bees each year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63056" y="2743200"/>
            <a:ext cx="25603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64224" y="2926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8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8.4 / 10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64224" y="36118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persona UAT score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924544" y="2743200"/>
            <a:ext cx="256032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25712" y="29260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9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~$11.6/mo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125712" y="361188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willingness to pay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4892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6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 is cultural, not just pedagogical — which is exactly why word-of-mouth and coach endorsement out-perform advertising here.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6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prep tool kids ask to play — and a parent loop that retains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47672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BEFC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476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6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783080" y="1911096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Offline-first, ad-free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83080" y="231343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 no network; nothing to distract or monetize kids with ads.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3035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947672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BEFC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9476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6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0" y="1911096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clear neural voice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0" y="231343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41,000-word Google-TTS library — the top-rated axis (9.0/10).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53035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364992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BEFC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3649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6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783080" y="3328416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arcade engines + Word Coach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83080" y="373075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→ test → revise, plus a vocabulary builder and saga mode.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108960"/>
            <a:ext cx="53035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3364992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BEFC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3649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6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315200" y="3328416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 economy kids chase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0" y="373075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Avatars, badges, streaks — and shareable celebration cards.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526280"/>
            <a:ext cx="53035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4782312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BEFCF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7823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6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783080" y="4745736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 progress loop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783080" y="514807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weekly email a parent can act on — the retention flywheel.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72200" y="4526280"/>
            <a:ext cx="53035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4782312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BEFCF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47823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6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315200" y="4745736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by design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315200" y="514807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gates, purchase confirms, minimized child data (9.1/10 trust).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6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own bee-grade depth + engagement + the parent loop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6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38328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6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766560" y="16916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6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21040" y="1691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6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we fill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048256"/>
            <a:ext cx="11002975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1214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VocabularySpellingCity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74720" y="21214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word lists, teacher tool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0" y="212140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~$5/mo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412480" y="21214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bee-specific; low game depth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2798064"/>
            <a:ext cx="11002975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287121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Eggs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474720" y="287121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early literacy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0" y="287121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~$10/mo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12480" y="287121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Younger skew; not competitive prep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4360" y="3547872"/>
            <a:ext cx="11002975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362102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Spelling Bee Ninja / SpellQuiz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474720" y="362102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lists, web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58000" y="362102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412480" y="362102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engagement + weak parent loop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94360" y="4297680"/>
            <a:ext cx="11002975" cy="676656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1520" y="43708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Scripps Word Club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474720" y="43708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study lists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858000" y="437083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low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412480" y="43708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Reference, not a daily habit engine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94360" y="5047488"/>
            <a:ext cx="11002975" cy="676656"/>
          </a:xfrm>
          <a:prstGeom prst="roundRect">
            <a:avLst>
              <a:gd name="adj" fmla="val 12162"/>
            </a:avLst>
          </a:prstGeom>
          <a:solidFill>
            <a:srgbClr val="FBEFCF"/>
          </a:solidFill>
          <a:ln w="12700">
            <a:solidFill>
              <a:srgbClr val="E8A400"/>
            </a:solidFill>
            <a:prstDash val="solid"/>
          </a:ln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1520" y="5120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6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Bizzing Bee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3474720" y="5120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depth + arcade + parent loop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858000" y="5120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$8–13/mo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412480" y="5120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our lane —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6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by intent density, then payment &amp; consent complexity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43000" y="1691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6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246120" y="1691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6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segment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1228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6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41080" y="1691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6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law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378440" y="1691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6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2011680"/>
            <a:ext cx="11002975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" y="2276856"/>
            <a:ext cx="457200" cy="502920"/>
          </a:xfrm>
          <a:prstGeom prst="hexagon">
            <a:avLst/>
          </a:prstGeom>
          <a:solidFill>
            <a:srgbClr val="7C5CFF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27685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2084832"/>
            <a:ext cx="1993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United States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46120" y="2084832"/>
            <a:ext cx="34564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&amp; South-Asian diaspora; NSF/Scripps circuit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12280" y="2084832"/>
            <a:ext cx="1719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41080" y="2084832"/>
            <a:ext cx="1627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78440" y="2084832"/>
            <a:ext cx="14447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USD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2971800"/>
            <a:ext cx="11002975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8368" y="3236976"/>
            <a:ext cx="457200" cy="502920"/>
          </a:xfrm>
          <a:prstGeom prst="hexagon">
            <a:avLst/>
          </a:prstGeom>
          <a:solidFill>
            <a:srgbClr val="7C5CFF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23697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3044952"/>
            <a:ext cx="1993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Canada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246120" y="3044952"/>
            <a:ext cx="34564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Diaspora; regional bees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12280" y="3044952"/>
            <a:ext cx="1719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41080" y="3044952"/>
            <a:ext cx="1627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PIPEDA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378440" y="3044952"/>
            <a:ext cx="14447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USD/CAD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" y="3931920"/>
            <a:ext cx="11002975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8368" y="4197096"/>
            <a:ext cx="457200" cy="502920"/>
          </a:xfrm>
          <a:prstGeom prst="hexagon">
            <a:avLst/>
          </a:prstGeom>
          <a:solidFill>
            <a:srgbClr val="B67B00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419709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43000" y="4005072"/>
            <a:ext cx="1993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246120" y="4005072"/>
            <a:ext cx="34564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Urban, English-medium, exam-oriented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12280" y="4005072"/>
            <a:ext cx="1719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(UPI)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41080" y="4005072"/>
            <a:ext cx="1627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378440" y="4005072"/>
            <a:ext cx="14447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PPP (INR)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94360" y="4892040"/>
            <a:ext cx="11002975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8368" y="5157216"/>
            <a:ext cx="457200" cy="502920"/>
          </a:xfrm>
          <a:prstGeom prst="hexagon">
            <a:avLst/>
          </a:prstGeom>
          <a:solidFill>
            <a:srgbClr val="1E8A9E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" y="515721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43000" y="4965192"/>
            <a:ext cx="1993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Asia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3246120" y="4965192"/>
            <a:ext cx="34564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Diaspora in SG/MY + English-medium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12280" y="4965192"/>
            <a:ext cx="17190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+ local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641080" y="4965192"/>
            <a:ext cx="16276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PDPA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378440" y="4965192"/>
            <a:ext cx="14447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Mid-tier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6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is a reach &amp; brand play (low ARPU), not a Year-1 revenue play — it feeds the North-American diaspora referral loop.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6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TIERS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useful free tier for the funnel; monetize depth, siblings &amp; the parent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7472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9339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A61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of funnel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child · core practice · daily word cap · basic lists · ad-free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47472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199339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6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17720" y="25146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$7.99/mo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17720" y="3108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$59.99 / yr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35661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lists (incl. NSF) · all 14 games · Word Coach + vocab · progress email · printables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474720" cy="2880360"/>
          </a:xfrm>
          <a:prstGeom prst="roundRect">
            <a:avLst>
              <a:gd name="adj" fmla="val 2857"/>
            </a:avLst>
          </a:prstGeom>
          <a:solidFill>
            <a:srgbClr val="211D17"/>
          </a:solidFill>
          <a:ln w="12700">
            <a:solidFill>
              <a:srgbClr val="E8A400"/>
            </a:solidFill>
            <a:prstDash val="solid"/>
          </a:ln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21040" y="199339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21040" y="25146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$12.99/mo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321040" y="3108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$99.99 / yr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21040" y="35661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C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Plus · up to 4 children · full parent dashboard · priority support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892040"/>
            <a:ext cx="10911535" cy="1234440"/>
          </a:xfrm>
          <a:prstGeom prst="roundRect">
            <a:avLst>
              <a:gd name="adj" fmla="val 6667"/>
            </a:avLst>
          </a:prstGeom>
          <a:solidFill>
            <a:srgbClr val="FBEFCF"/>
          </a:solidFill>
          <a:ln w="12700">
            <a:solidFill>
              <a:srgbClr val="E8A400"/>
            </a:solidFill>
            <a:prstDash val="solid"/>
          </a:ln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5029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6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 (PPP · Razorpay)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539496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1D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 ₹1,799/yr (~$21.6)      ·      Family  ₹2,999/yr (~$36)      ·      geo-gated so it never cannibalizes USD revenue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635508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is the hero (~37% cheaper, retains better). 7-day free trial. No ads, ever — it is a trust pillar.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6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CRM INFRASTRUCTURE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Consent-first, child-data-minimized, high-margin managed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47672"/>
            <a:ext cx="146304" cy="1042416"/>
          </a:xfrm>
          <a:prstGeom prst="roundRect">
            <a:avLst>
              <a:gd name="adj" fmla="val 31250"/>
            </a:avLst>
          </a:prstGeom>
          <a:solidFill>
            <a:srgbClr val="1E8A9E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91109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Profiles &amp; progress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88720" y="2313432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 · Row-Level Security per parent. Child data minimized: first name + age band only — no birthdate, email, photo or location.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30352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28232" y="1947672"/>
            <a:ext cx="146304" cy="1042416"/>
          </a:xfrm>
          <a:prstGeom prst="roundRect">
            <a:avLst>
              <a:gd name="adj" fmla="val 31250"/>
            </a:avLst>
          </a:prstGeom>
          <a:solidFill>
            <a:srgbClr val="7C5CFF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91109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 identity &amp; email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720840" y="2313432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= the auth user. Transactional progress email vs opt-in marketing kept separate. We email the adult, never the child.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530352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96112" y="3685032"/>
            <a:ext cx="146304" cy="1042416"/>
          </a:xfrm>
          <a:prstGeom prst="roundRect">
            <a:avLst>
              <a:gd name="adj" fmla="val 31250"/>
            </a:avLst>
          </a:prstGeom>
          <a:solidFill>
            <a:srgbClr val="B67B00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364845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Progress-email / CRM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88720" y="4050792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Supabase cron aggregates the child’s week → Resend sends the progress email; Loops runs onboarding / upgrade / win-back journeys.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3429000"/>
            <a:ext cx="530352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28232" y="3685032"/>
            <a:ext cx="146304" cy="1042416"/>
          </a:xfrm>
          <a:prstGeom prst="roundRect">
            <a:avLst>
              <a:gd name="adj" fmla="val 31250"/>
            </a:avLst>
          </a:prstGeom>
          <a:solidFill>
            <a:srgbClr val="2E9E63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364845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 &amp; entitlements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720840" y="4050792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(US/CA/SEA) + Razorpay (India / UPI). Entitlements are server-authoritative — the client never grants paid access.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2578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6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Compliance: COPPA · India DPDP 2023 · PIPEDA · PDPA — data minimization + lawyer-reviewed consent + signed DPAs. No ad-network SDKs.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58521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~1,000 families the entire stack runs ~$3–4k/year — infrastructure is a rounding error against revenue.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6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· REVENUE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 kids ≈ 750 paying families ≈ ~$46k ARR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4048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kids (Year-1 target)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7C5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~750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35021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families (~1.35 kids each)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977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B6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$45.5k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40080" y="45994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ARR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5074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E9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40080" y="56967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16916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1D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contribution by market ($k/yr)</a:t>
            </a:r>
            <a:endParaRPr lang="en-US" sz="13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663440" y="2057400"/>
          <a:ext cx="68580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4663440" y="55321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6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+ Canada = ~74% of revenue on ~55% of families. India adds reach &amp; referrals, not Year-1 dollars.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6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bottom-up — the model works on low-CAC channels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8745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6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~$60.7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41248" y="245059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ARPU / family / yr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01568" y="173736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02736" y="18745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8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~1.8 yr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02736" y="245059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subscription life (base)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63056" y="173736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64224" y="18745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5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~$96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364224" y="245059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LTV (88% margin)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24544" y="173736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25712" y="18745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9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4 mo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25712" y="2450592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payback (annual plan)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429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LTV is regional — and it decides who you can pay to acquire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3977640"/>
            <a:ext cx="10911535" cy="566928"/>
          </a:xfrm>
          <a:prstGeom prst="roundRect">
            <a:avLst>
              <a:gd name="adj" fmla="val 14516"/>
            </a:avLst>
          </a:prstGeom>
          <a:solidFill>
            <a:srgbClr val="E9F5EE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39776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1D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North-American family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94960" y="39776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040880" y="397764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paid acquisition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636008"/>
            <a:ext cx="10911535" cy="566928"/>
          </a:xfrm>
          <a:prstGeom prst="roundRect">
            <a:avLst>
              <a:gd name="adj" fmla="val 14516"/>
            </a:avLst>
          </a:prstGeom>
          <a:solidFill>
            <a:srgbClr val="FBEFC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463600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1D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463600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6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$96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040880" y="463600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on organic/referral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294376"/>
            <a:ext cx="10911535" cy="566928"/>
          </a:xfrm>
          <a:prstGeom prst="roundRect">
            <a:avLst>
              <a:gd name="adj" fmla="val 14516"/>
            </a:avLst>
          </a:prstGeom>
          <a:solidFill>
            <a:srgbClr val="FCEEE6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14400" y="529437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1D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family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529437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7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$47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040880" y="5294376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&amp; referral ONLY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6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FIRST-PRINCIPLES CHECK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actually takes to reach 1,000 kids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backward from 750 paying families at realistic conversion rates: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BEFCF"/>
          </a:solidFill>
          <a:ln w="12700">
            <a:solidFill>
              <a:srgbClr val="B67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9572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~43,000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931920" y="23774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relevant visitors / year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931920" y="27889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~3,600 / month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148840" y="3520440"/>
            <a:ext cx="7863840" cy="960120"/>
          </a:xfrm>
          <a:prstGeom prst="roundRect">
            <a:avLst>
              <a:gd name="adj" fmla="val 7619"/>
            </a:avLst>
          </a:prstGeom>
          <a:solidFill>
            <a:srgbClr val="F0C24D"/>
          </a:solidFill>
          <a:ln w="12700">
            <a:solidFill>
              <a:srgbClr val="B67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363016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~9,400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40680" y="3611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sign-ups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40680" y="4023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visitor → signup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977640" y="475488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E8A400"/>
          </a:solidFill>
          <a:ln w="12700">
            <a:solidFill>
              <a:srgbClr val="B67B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48646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~750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269480" y="4846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paying families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69480" y="5257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BE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free → paid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608076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B6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1,000 kids is feasible but execution-gated on distribution — you must build a ~3,600-warm-visitor/month engine. That is not "build it and they come."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2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CAC REALITY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Paid ads can’t be the engine. Community can.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CAC per paying family, against ~$96 blended LTV (3:1 target → CAC must stay under ~$32):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05740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955280" y="210312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241C10"/>
          </a:solidFill>
          <a:ln w="12700">
            <a:solidFill>
              <a:srgbClr val="E8A400"/>
            </a:solidFill>
            <a:prstDash val="solid"/>
          </a:ln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183880" y="22402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C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: CAC on paid ads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83880" y="254203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1.5 : 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183880" y="30358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9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3:1 bar — and negative for India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955280" y="352044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12210F"/>
          </a:solidFill>
          <a:ln w="12700">
            <a:solidFill>
              <a:srgbClr val="2E9E63"/>
            </a:solidFill>
            <a:prstDash val="solid"/>
          </a:ln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183880" y="36576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C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: CAC on community mix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183880" y="395935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E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5 : 1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183880" y="44531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79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+ referral + content blended ~$11–20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955280" y="4937760"/>
            <a:ext cx="3566160" cy="1143000"/>
          </a:xfrm>
          <a:prstGeom prst="roundRect">
            <a:avLst>
              <a:gd name="adj" fmla="val 7200"/>
            </a:avLst>
          </a:prstGeom>
          <a:solidFill>
            <a:srgbClr val="201A0E"/>
          </a:solidFill>
          <a:ln w="12700">
            <a:solidFill>
              <a:srgbClr val="E8A400"/>
            </a:solidFill>
            <a:prstDash val="solid"/>
          </a:ln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183880" y="50292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BE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paid ads earn their place only to RE-TARGET warm traffic or scale a proven funnel — never as the front door.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6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ACQUISITION ROUTE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Coach-led landing → referral flywheel → compounding content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11535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57400"/>
            <a:ext cx="685800" cy="658368"/>
          </a:xfrm>
          <a:prstGeom prst="hexagon">
            <a:avLst/>
          </a:prstGeom>
          <a:solidFill>
            <a:srgbClr val="7C5CFF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057400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783080" y="192024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 — Coach &amp; community BD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83080" y="2304288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5–15 bee coaches / NSF organizers / tutoring centers. Give free access + a co-branded coach code + roster view. Their endorsement transfers trust; each brings 20–100 families.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509760" y="22860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~$2–10  ·  first ~300 families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10911535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96112" y="3474720"/>
            <a:ext cx="685800" cy="658368"/>
          </a:xfrm>
          <a:prstGeom prst="hexagon">
            <a:avLst/>
          </a:prstGeom>
          <a:solidFill>
            <a:srgbClr val="B67B00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474720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783080" y="333756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 — Referral flywheel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783080" y="3721608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the share-cards the app already generates + “give a month, get a month.” Diaspora networks are dense and high-trust, so referral compounds. Seed via coaches’ groups, never cold.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509760" y="37033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B6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~$5–12, declining  ·  to 1,000+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10911535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6112" y="4892040"/>
            <a:ext cx="685800" cy="658368"/>
          </a:xfrm>
          <a:prstGeom prst="hexagon">
            <a:avLst/>
          </a:prstGeom>
          <a:solidFill>
            <a:srgbClr val="2E9E63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4892040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783080" y="475488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Compound — Content / SEO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783080" y="5138928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NSF/Scripps word lists &amp; etymology guides powered by the 41k-word library. Owns the search intent; CAC amortizes toward zero; a durable moat.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509760" y="51206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→ ~$0 over time  ·  durable inbound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61722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B6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ads sit AFTER this — used only to retarget warm visitors and amplify what already converts.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6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PLAYBOOK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channel, its tactic, its market — and its cost per family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B6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2971800" y="162763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B6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/ tactic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15200" y="162763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B6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732520" y="1627632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B6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875520" y="16276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B6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1892808"/>
            <a:ext cx="11002975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2057400"/>
            <a:ext cx="109728" cy="402336"/>
          </a:xfrm>
          <a:prstGeom prst="roundRect">
            <a:avLst>
              <a:gd name="adj" fmla="val 33333"/>
            </a:avLst>
          </a:prstGeom>
          <a:solidFill>
            <a:srgbClr val="7C5CFF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1911096"/>
            <a:ext cx="2075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Coach &amp; organizer partnerships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27832" y="1911096"/>
            <a:ext cx="4233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Co-branded coach codes, free coach seats + roster view; land NSF / regional-bee coaches &amp; tutoring centers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571232" y="1911096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· CA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988552" y="1911096"/>
            <a:ext cx="10332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$2–10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131552" y="1911096"/>
            <a:ext cx="1536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5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land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2615184"/>
            <a:ext cx="11002975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2779776"/>
            <a:ext cx="109728" cy="402336"/>
          </a:xfrm>
          <a:prstGeom prst="roundRect">
            <a:avLst>
              <a:gd name="adj" fmla="val 33333"/>
            </a:avLst>
          </a:prstGeom>
          <a:solidFill>
            <a:srgbClr val="1E8A9E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2633472"/>
            <a:ext cx="2075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seeding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227832" y="2633472"/>
            <a:ext cx="4233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Value-first posts in diaspora WhatsApp / Facebook parent groups, temple &amp; association newsletters — via partners, never cold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571232" y="2633472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· CA · SEA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988552" y="2633472"/>
            <a:ext cx="10332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$0–8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131552" y="2633472"/>
            <a:ext cx="1536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8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" y="3337560"/>
            <a:ext cx="11002975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" y="3502152"/>
            <a:ext cx="109728" cy="402336"/>
          </a:xfrm>
          <a:prstGeom prst="roundRect">
            <a:avLst>
              <a:gd name="adj" fmla="val 33333"/>
            </a:avLst>
          </a:prstGeom>
          <a:solidFill>
            <a:srgbClr val="B67B00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" y="3355848"/>
            <a:ext cx="2075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Referral program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227832" y="3355848"/>
            <a:ext cx="4233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share-cards + “give a month, get a month”; cohort leaderboards run through coaches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571232" y="3355848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988552" y="3355848"/>
            <a:ext cx="10332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6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$5–12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131552" y="3355848"/>
            <a:ext cx="1536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6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loop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" y="4059936"/>
            <a:ext cx="11002975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5800" y="4224528"/>
            <a:ext cx="109728" cy="402336"/>
          </a:xfrm>
          <a:prstGeom prst="roundRect">
            <a:avLst>
              <a:gd name="adj" fmla="val 33333"/>
            </a:avLst>
          </a:prstGeom>
          <a:solidFill>
            <a:srgbClr val="2E9E63"/>
          </a:solidFill>
          <a:ln/>
        </p:spPr>
      </p:sp>
      <p:sp>
        <p:nvSpPr>
          <p:cNvPr id="32" name="Text 30"/>
          <p:cNvSpPr/>
          <p:nvPr/>
        </p:nvSpPr>
        <p:spPr>
          <a:xfrm>
            <a:off x="896112" y="4078224"/>
            <a:ext cx="2075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&amp; SEO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227832" y="4078224"/>
            <a:ext cx="4233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NSF/Scripps word-list &amp; etymology hub built on the 41k-word library — owns the prep search intent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571232" y="4078224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(esp. India)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988552" y="4078224"/>
            <a:ext cx="10332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~$0*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131552" y="4078224"/>
            <a:ext cx="1536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inbound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94360" y="4782312"/>
            <a:ext cx="11002975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85800" y="4946904"/>
            <a:ext cx="109728" cy="402336"/>
          </a:xfrm>
          <a:prstGeom prst="roundRect">
            <a:avLst>
              <a:gd name="adj" fmla="val 33333"/>
            </a:avLst>
          </a:prstGeom>
          <a:solidFill>
            <a:srgbClr val="E67E45"/>
          </a:solidFill>
          <a:ln/>
        </p:spPr>
      </p:sp>
      <p:sp>
        <p:nvSpPr>
          <p:cNvPr id="39" name="Text 37"/>
          <p:cNvSpPr/>
          <p:nvPr/>
        </p:nvSpPr>
        <p:spPr>
          <a:xfrm>
            <a:off x="896112" y="4800600"/>
            <a:ext cx="2075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Creator / influencer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3227832" y="4800600"/>
            <a:ext cx="4233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posts with desi parenting YouTubers &amp; Instagram creators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571232" y="4800600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· CA · IN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988552" y="4800600"/>
            <a:ext cx="10332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$20–50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131552" y="4800600"/>
            <a:ext cx="1536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7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bursts (test)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94360" y="5504688"/>
            <a:ext cx="11002975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85800" y="5669280"/>
            <a:ext cx="109728" cy="402336"/>
          </a:xfrm>
          <a:prstGeom prst="roundRect">
            <a:avLst>
              <a:gd name="adj" fmla="val 33333"/>
            </a:avLst>
          </a:prstGeom>
          <a:solidFill>
            <a:srgbClr val="D6304F"/>
          </a:solidFill>
          <a:ln/>
        </p:spPr>
      </p:sp>
      <p:sp>
        <p:nvSpPr>
          <p:cNvPr id="46" name="Text 44"/>
          <p:cNvSpPr/>
          <p:nvPr/>
        </p:nvSpPr>
        <p:spPr>
          <a:xfrm>
            <a:off x="896112" y="5522976"/>
            <a:ext cx="2075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Paid retargeting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3227832" y="5522976"/>
            <a:ext cx="4233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/ Google retargeting of warm visitors + lookalikes of converters — only once the funnel is proven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571232" y="5522976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· CA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988552" y="5522976"/>
            <a:ext cx="10332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$30–60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131552" y="5522976"/>
            <a:ext cx="1536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Amplify, last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40080" y="6382512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6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*Content CAC amortizes toward zero as pages compound.   Blended CAC across the mix ≈ $11–20 → LTV:CAC ≈ 5:1.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6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12-MONTH GTM MOTION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channels on in sequence; CAC falls as referral &amp; content compound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78608" cy="342900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02536"/>
            <a:ext cx="1051560" cy="457200"/>
          </a:xfrm>
          <a:prstGeom prst="roundRect">
            <a:avLst>
              <a:gd name="adj" fmla="val 20000"/>
            </a:avLst>
          </a:prstGeom>
          <a:solidFill>
            <a:srgbClr val="7C5CFF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00253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11680" y="202082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96112" y="2715768"/>
            <a:ext cx="91440" cy="9144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60604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5–8 coaches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96112" y="3282696"/>
            <a:ext cx="91440" cy="9144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17296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alpha: 100–300 families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96112" y="3849624"/>
            <a:ext cx="91440" cy="9144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739896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share-cards + referral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448056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paying families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41248" y="470916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5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~150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401568" y="1783080"/>
            <a:ext cx="2578608" cy="342900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02736" y="2002536"/>
            <a:ext cx="1051560" cy="457200"/>
          </a:xfrm>
          <a:prstGeom prst="roundRect">
            <a:avLst>
              <a:gd name="adj" fmla="val 20000"/>
            </a:avLst>
          </a:prstGeom>
          <a:solidFill>
            <a:srgbClr val="B67B00"/>
          </a:solidFill>
          <a:ln/>
        </p:spPr>
      </p:sp>
      <p:sp>
        <p:nvSpPr>
          <p:cNvPr id="18" name="Text 16"/>
          <p:cNvSpPr/>
          <p:nvPr/>
        </p:nvSpPr>
        <p:spPr>
          <a:xfrm>
            <a:off x="3602736" y="200253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73168" y="202082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57600" y="2715768"/>
            <a:ext cx="91440" cy="91440"/>
          </a:xfrm>
          <a:prstGeom prst="ellipse">
            <a:avLst/>
          </a:prstGeom>
          <a:solidFill>
            <a:srgbClr val="B67B00"/>
          </a:solidFill>
          <a:ln/>
        </p:spPr>
      </p:sp>
      <p:sp>
        <p:nvSpPr>
          <p:cNvPr id="21" name="Text 19"/>
          <p:cNvSpPr/>
          <p:nvPr/>
        </p:nvSpPr>
        <p:spPr>
          <a:xfrm>
            <a:off x="3858768" y="260604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incentive live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0" y="3282696"/>
            <a:ext cx="91440" cy="91440"/>
          </a:xfrm>
          <a:prstGeom prst="ellipse">
            <a:avLst/>
          </a:prstGeom>
          <a:solidFill>
            <a:srgbClr val="B67B00"/>
          </a:solidFill>
          <a:ln/>
        </p:spPr>
      </p:sp>
      <p:sp>
        <p:nvSpPr>
          <p:cNvPr id="23" name="Text 21"/>
          <p:cNvSpPr/>
          <p:nvPr/>
        </p:nvSpPr>
        <p:spPr>
          <a:xfrm>
            <a:off x="3858768" y="317296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hub: 10–20 word-list pages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0" y="3849624"/>
            <a:ext cx="91440" cy="91440"/>
          </a:xfrm>
          <a:prstGeom prst="ellipse">
            <a:avLst/>
          </a:prstGeom>
          <a:solidFill>
            <a:srgbClr val="B67B00"/>
          </a:solidFill>
          <a:ln/>
        </p:spPr>
      </p:sp>
      <p:sp>
        <p:nvSpPr>
          <p:cNvPr id="25" name="Text 23"/>
          <p:cNvSpPr/>
          <p:nvPr/>
        </p:nvSpPr>
        <p:spPr>
          <a:xfrm>
            <a:off x="3858768" y="3739896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creator tests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02736" y="448056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paying families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02736" y="470916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6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~350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163056" y="1783080"/>
            <a:ext cx="2578608" cy="342900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64224" y="2002536"/>
            <a:ext cx="1051560" cy="457200"/>
          </a:xfrm>
          <a:prstGeom prst="roundRect">
            <a:avLst>
              <a:gd name="adj" fmla="val 20000"/>
            </a:avLst>
          </a:prstGeom>
          <a:solidFill>
            <a:srgbClr val="1E8A9E"/>
          </a:solidFill>
          <a:ln/>
        </p:spPr>
      </p:sp>
      <p:sp>
        <p:nvSpPr>
          <p:cNvPr id="30" name="Text 28"/>
          <p:cNvSpPr/>
          <p:nvPr/>
        </p:nvSpPr>
        <p:spPr>
          <a:xfrm>
            <a:off x="6364224" y="200253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534656" y="202082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19088" y="2715768"/>
            <a:ext cx="91440" cy="91440"/>
          </a:xfrm>
          <a:prstGeom prst="ellipse">
            <a:avLst/>
          </a:prstGeom>
          <a:solidFill>
            <a:srgbClr val="1E8A9E"/>
          </a:solidFill>
          <a:ln/>
        </p:spPr>
      </p:sp>
      <p:sp>
        <p:nvSpPr>
          <p:cNvPr id="33" name="Text 31"/>
          <p:cNvSpPr/>
          <p:nvPr/>
        </p:nvSpPr>
        <p:spPr>
          <a:xfrm>
            <a:off x="6620256" y="260604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to ~15 coaches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19088" y="3282696"/>
            <a:ext cx="91440" cy="91440"/>
          </a:xfrm>
          <a:prstGeom prst="ellipse">
            <a:avLst/>
          </a:prstGeom>
          <a:solidFill>
            <a:srgbClr val="1E8A9E"/>
          </a:solidFill>
          <a:ln/>
        </p:spPr>
      </p:sp>
      <p:sp>
        <p:nvSpPr>
          <p:cNvPr id="35" name="Text 33"/>
          <p:cNvSpPr/>
          <p:nvPr/>
        </p:nvSpPr>
        <p:spPr>
          <a:xfrm>
            <a:off x="6620256" y="317296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begins ranking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19088" y="3849624"/>
            <a:ext cx="91440" cy="91440"/>
          </a:xfrm>
          <a:prstGeom prst="ellipse">
            <a:avLst/>
          </a:prstGeom>
          <a:solidFill>
            <a:srgbClr val="1E8A9E"/>
          </a:solidFill>
          <a:ln/>
        </p:spPr>
      </p:sp>
      <p:sp>
        <p:nvSpPr>
          <p:cNvPr id="37" name="Text 35"/>
          <p:cNvSpPr/>
          <p:nvPr/>
        </p:nvSpPr>
        <p:spPr>
          <a:xfrm>
            <a:off x="6620256" y="3739896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PPP launch (Razorpay)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64224" y="448056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paying families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64224" y="470916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8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~550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8924544" y="1783080"/>
            <a:ext cx="2578608" cy="342900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125712" y="2002536"/>
            <a:ext cx="1051560" cy="457200"/>
          </a:xfrm>
          <a:prstGeom prst="roundRect">
            <a:avLst>
              <a:gd name="adj" fmla="val 20000"/>
            </a:avLst>
          </a:prstGeom>
          <a:solidFill>
            <a:srgbClr val="2E9E63"/>
          </a:solidFill>
          <a:ln/>
        </p:spPr>
      </p:sp>
      <p:sp>
        <p:nvSpPr>
          <p:cNvPr id="42" name="Text 40"/>
          <p:cNvSpPr/>
          <p:nvPr/>
        </p:nvSpPr>
        <p:spPr>
          <a:xfrm>
            <a:off x="9125712" y="200253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0296144" y="202082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Compound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180576" y="2715768"/>
            <a:ext cx="91440" cy="91440"/>
          </a:xfrm>
          <a:prstGeom prst="ellipse">
            <a:avLst/>
          </a:prstGeom>
          <a:solidFill>
            <a:srgbClr val="2E9E63"/>
          </a:solidFill>
          <a:ln/>
        </p:spPr>
      </p:sp>
      <p:sp>
        <p:nvSpPr>
          <p:cNvPr id="45" name="Text 43"/>
          <p:cNvSpPr/>
          <p:nvPr/>
        </p:nvSpPr>
        <p:spPr>
          <a:xfrm>
            <a:off x="9381744" y="2606040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retargeting on warm traffic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180576" y="3282696"/>
            <a:ext cx="91440" cy="91440"/>
          </a:xfrm>
          <a:prstGeom prst="ellipse">
            <a:avLst/>
          </a:prstGeom>
          <a:solidFill>
            <a:srgbClr val="2E9E63"/>
          </a:solidFill>
          <a:ln/>
        </p:spPr>
      </p:sp>
      <p:sp>
        <p:nvSpPr>
          <p:cNvPr id="47" name="Text 45"/>
          <p:cNvSpPr/>
          <p:nvPr/>
        </p:nvSpPr>
        <p:spPr>
          <a:xfrm>
            <a:off x="9381744" y="317296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/ renewal push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180576" y="3849624"/>
            <a:ext cx="91440" cy="91440"/>
          </a:xfrm>
          <a:prstGeom prst="ellipse">
            <a:avLst/>
          </a:prstGeom>
          <a:solidFill>
            <a:srgbClr val="2E9E63"/>
          </a:solidFill>
          <a:ln/>
        </p:spPr>
      </p:sp>
      <p:sp>
        <p:nvSpPr>
          <p:cNvPr id="49" name="Text 47"/>
          <p:cNvSpPr/>
          <p:nvPr/>
        </p:nvSpPr>
        <p:spPr>
          <a:xfrm>
            <a:off x="9381744" y="3739896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Asia opens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125712" y="448056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paying families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9125712" y="470916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9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~800–1,000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640080" y="5440680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FBEFCF"/>
          </a:solidFill>
          <a:ln w="12700">
            <a:solidFill>
              <a:srgbClr val="E8A400"/>
            </a:solidFill>
            <a:prstDash val="solid"/>
          </a:ln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914400" y="55595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6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Blended CAC trend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914400" y="5870448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11D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  →  $15  →  $12  →  $10   as coach-sourced referral and evergreen content take over from founder-led outreach.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6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Year-1 P&amp;L and a 3-year sketch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Year-1 P&amp;L @ 1,000 kids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12064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14884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1D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revenue (ARR)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297680" y="21488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$45.5k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512064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269748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1D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processing (~3.5%)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297680" y="269748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A61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–$1.6k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246120"/>
            <a:ext cx="512064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" y="324612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1D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+ email/CRM + tools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297680" y="324612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A61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–$2.5k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5120640" cy="475488"/>
          </a:xfrm>
          <a:prstGeom prst="roundRect">
            <a:avLst>
              <a:gd name="adj" fmla="val 17308"/>
            </a:avLst>
          </a:prstGeom>
          <a:solidFill>
            <a:srgbClr val="FBEFCF"/>
          </a:solidFill>
          <a:ln w="12700">
            <a:solidFill>
              <a:srgbClr val="E8A400"/>
            </a:solidFill>
            <a:prstDash val="solid"/>
          </a:ln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" y="379476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1D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(~90%)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297680" y="379476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9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$41.4k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343400"/>
            <a:ext cx="512064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248" y="434340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1D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 (blended ~$20)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297680" y="434340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67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–$15k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4892040"/>
            <a:ext cx="5120640" cy="475488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1248" y="489204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1D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(amortized, one-time)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297680" y="48920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A615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–$2.5k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5440680"/>
            <a:ext cx="5120640" cy="475488"/>
          </a:xfrm>
          <a:prstGeom prst="roundRect">
            <a:avLst>
              <a:gd name="adj" fmla="val 17308"/>
            </a:avLst>
          </a:prstGeom>
          <a:solidFill>
            <a:srgbClr val="FBEFCF"/>
          </a:solidFill>
          <a:ln w="12700">
            <a:solidFill>
              <a:srgbClr val="E8A400"/>
            </a:solidFill>
            <a:prstDash val="solid"/>
          </a:ln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41248" y="544068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1D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before founder comp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297680" y="544068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6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~$23k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603504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6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is the single largest cost line — which is why the channel mix must stay low-CAC.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309360" y="16916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 trajectory ($k)</a:t>
            </a:r>
            <a:endParaRPr lang="en-US" sz="15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309360" y="2148840"/>
          <a:ext cx="52120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6309360" y="544068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→ 3,000 → 6,000 kids as the wedge widens into general English-medium markets. Bootstrappable; venture-scale needs a B2B2C / coach motion on top.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6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TO ALPHA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the seam, stand up the loop, invite the community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0352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93392"/>
            <a:ext cx="566928" cy="530352"/>
          </a:xfrm>
          <a:prstGeom prst="hexagon">
            <a:avLst/>
          </a:prstGeom>
          <a:solidFill>
            <a:srgbClr val="E8A40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9339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920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&amp; rails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26771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Entity, domain, Stripe + Razorpay, Supabase, lawyer-reviewed consent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30352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993392"/>
            <a:ext cx="566928" cy="530352"/>
          </a:xfrm>
          <a:prstGeom prst="hexagon">
            <a:avLst/>
          </a:prstGeom>
          <a:solidFill>
            <a:srgbClr val="E8A40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99339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0" y="1920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seam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0" y="226771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 adapter: sync vs device-local split, schema versioning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880360"/>
            <a:ext cx="530352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136392"/>
            <a:ext cx="566928" cy="530352"/>
          </a:xfrm>
          <a:prstGeom prst="hexagon">
            <a:avLst/>
          </a:prstGeom>
          <a:solidFill>
            <a:srgbClr val="E8A40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13639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3063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 auth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341071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auth; migrate existing local users on first login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2880360"/>
            <a:ext cx="530352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3136392"/>
            <a:ext cx="566928" cy="530352"/>
          </a:xfrm>
          <a:prstGeom prst="hexagon">
            <a:avLst/>
          </a:prstGeom>
          <a:solidFill>
            <a:srgbClr val="E8A4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13639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32320" y="3063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sync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32320" y="341071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per family; activity log feeding the weekly aggregation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023360"/>
            <a:ext cx="530352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4279392"/>
            <a:ext cx="566928" cy="530352"/>
          </a:xfrm>
          <a:prstGeom prst="hexagon">
            <a:avLst/>
          </a:prstGeom>
          <a:solidFill>
            <a:srgbClr val="E8A400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27939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00200" y="4206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600200" y="455371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+ Razorpay entitlements, server-authoritative gate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72200" y="4023360"/>
            <a:ext cx="530352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4279392"/>
            <a:ext cx="566928" cy="530352"/>
          </a:xfrm>
          <a:prstGeom prst="hexagon">
            <a:avLst/>
          </a:prstGeom>
          <a:solidFill>
            <a:srgbClr val="E8A400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427939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132320" y="4206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 loop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32320" y="455371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progress email + Loops onboarding journey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5166360"/>
            <a:ext cx="530352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68680" y="5422392"/>
            <a:ext cx="566928" cy="530352"/>
          </a:xfrm>
          <a:prstGeom prst="hexagon">
            <a:avLst/>
          </a:prstGeom>
          <a:solidFill>
            <a:srgbClr val="E8A400"/>
          </a:solidFill>
          <a:ln/>
        </p:spPr>
      </p:sp>
      <p:sp>
        <p:nvSpPr>
          <p:cNvPr id="36" name="Text 34"/>
          <p:cNvSpPr/>
          <p:nvPr/>
        </p:nvSpPr>
        <p:spPr>
          <a:xfrm>
            <a:off x="868680" y="542239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600200" y="5349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D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Invite alpha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600200" y="569671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100–300 families via 3–5 coaches — measure retention, iterate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40080" y="63093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6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exit: RLS proven · weekly-email open rate ≥ 40% · a clean payment per region rail · healthy W4 kid retention · ≥ 10 testimonials.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12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 ·  THE ASK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is the whole game — de-risk it first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0" cy="694944"/>
          </a:xfrm>
          <a:prstGeom prst="roundRect">
            <a:avLst>
              <a:gd name="adj" fmla="val 11842"/>
            </a:avLst>
          </a:prstGeom>
          <a:solidFill>
            <a:srgbClr val="241C10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465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/ CAC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8680" y="2020824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C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3–5 coach partners BEFORE building billing — validate reach first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478024"/>
            <a:ext cx="5486400" cy="694944"/>
          </a:xfrm>
          <a:prstGeom prst="roundRect">
            <a:avLst>
              <a:gd name="adj" fmla="val 11842"/>
            </a:avLst>
          </a:prstGeom>
          <a:solidFill>
            <a:srgbClr val="241C10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5328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Kids-data compliance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2807208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C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Minimization is already in the model; lawyer-reviewed consent, no ad SDKs, DPAs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264408"/>
            <a:ext cx="5486400" cy="694944"/>
          </a:xfrm>
          <a:prstGeom prst="roundRect">
            <a:avLst>
              <a:gd name="adj" fmla="val 11842"/>
            </a:avLst>
          </a:prstGeom>
          <a:solidFill>
            <a:srgbClr val="241C10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3192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 India ARPU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68680" y="3593592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C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India as reach + referral fuel, not Year-1 revenue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050792"/>
            <a:ext cx="5486400" cy="694944"/>
          </a:xfrm>
          <a:prstGeom prst="roundRect">
            <a:avLst>
              <a:gd name="adj" fmla="val 11842"/>
            </a:avLst>
          </a:prstGeom>
          <a:solidFill>
            <a:srgbClr val="241C10"/>
          </a:solidFill>
          <a:ln/>
          <a:effectLst>
            <a:outerShdw sx="100000" sy="100000" kx="0" ky="0" algn="bl" rotWithShape="0" blurRad="114300" dist="38100" dir="5400000">
              <a:srgbClr val="D8CFBE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41056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Seasonality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68680" y="4379976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C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Weekly-email habit loop + off-season vocab/saga to flatten churn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1600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this deck asks for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92240" y="205740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E8A400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2057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9440" y="202082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pricing: Free / Plus / Family + India PPP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92240" y="2624328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E8A4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2624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49440" y="25877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data stack: Supabase + Stripe + Razorpay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92240" y="3191256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E8A400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3191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49440" y="3154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CRM: Resend (progress) + Loops (lifecycle)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92240" y="3758184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E8A400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3758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49440" y="372160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market order: US/CA → India → SE Asia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92240" y="4325112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E8A400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4325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49440" y="428853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coach-led acquisition motion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92240" y="489204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E8A400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4892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49440" y="485546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game: bootstrapped niche vs venture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92240" y="56235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8A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Bizzing Bee — high margin, community-led, ready for an invite-only alpha.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Bizzing Bee</dc:creator>
  <cp:lastModifiedBy>Bizzing Bee</cp:lastModifiedBy>
  <cp:revision>1</cp:revision>
  <dcterms:created xsi:type="dcterms:W3CDTF">2026-07-24T16:33:00Z</dcterms:created>
  <dcterms:modified xsi:type="dcterms:W3CDTF">2026-07-24T16:33:00Z</dcterms:modified>
</cp:coreProperties>
</file>